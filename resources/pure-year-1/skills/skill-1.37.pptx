
<file path=[Content_Types].xml><?xml version="1.0" encoding="utf-8"?>
<ns0:Types xmlns:ns0="http://schemas.openxmlformats.org/package/2006/content-types">
  <ns0:Default Extension="png" ContentType="image/png"/>
  <ns0:Default Extension="rels" ContentType="application/vnd.openxmlformats-package.relationships+xml"/>
  <ns0:Default Extension="xml" ContentType="application/xml"/>
  <ns0:Override PartName="/ppt/c13/ppt/slideMasters/slideMaster1.xml" ContentType="application/vnd.openxmlformats-officedocument.presentationml.slideMaster+xml"/>
  <ns0:Override PartName="/ppt/c13/ppt/slides/slide19.xml" ContentType="application/vnd.openxmlformats-officedocument.presentationml.slide+xml"/>
  <ns0:Override PartName="/ppt/c13/ppt/slides/slide20.xml" ContentType="application/vnd.openxmlformats-officedocument.presentationml.slide+xml"/>
  <ns0:Override PartName="/ppt/c13/ppt/slides/slide21.xml" ContentType="application/vnd.openxmlformats-officedocument.presentationml.slide+xml"/>
  <ns0:Override PartName="/ppt/c13/ppt/slides/slide22.xml" ContentType="application/vnd.openxmlformats-officedocument.presentationml.slide+xml"/>
  <ns0:Override PartName="/ppt/c13/ppt/slides/slide23.xml" ContentType="application/vnd.openxmlformats-officedocument.presentationml.slide+xml"/>
  <ns0:Override PartName="/ppt/c13/ppt/slides/slide24.xml" ContentType="application/vnd.openxmlformats-officedocument.presentationml.slide+xml"/>
  <ns0:Override PartName="/ppt/c13/ppt/slides/slide25.xml" ContentType="application/vnd.openxmlformats-officedocument.presentationml.slide+xml"/>
  <ns0:Override PartName="/ppt/c13/ppt/slides/slide26.xml" ContentType="application/vnd.openxmlformats-officedocument.presentationml.slide+xml"/>
  <ns0:Override PartName="/ppt/c13/ppt/slides/slide27.xml" ContentType="application/vnd.openxmlformats-officedocument.presentationml.slide+xml"/>
  <ns0:Override PartName="/ppt/c13/ppt/slides/slide28.xml" ContentType="application/vnd.openxmlformats-officedocument.presentationml.slide+xml"/>
  <ns0:Override PartName="/ppt/c13/ppt/slides/slide29.xml" ContentType="application/vnd.openxmlformats-officedocument.presentationml.slide+xml"/>
  <ns0:Override PartName="/ppt/c13/ppt/slides/slide30.xml" ContentType="application/vnd.openxmlformats-officedocument.presentationml.slide+xml"/>
  <ns0:Override PartName="/ppt/c13/ppt/slides/slide31.xml" ContentType="application/vnd.openxmlformats-officedocument.presentationml.slide+xml"/>
  <ns0:Override PartName="/ppt/c13/ppt/slides/slide32.xml" ContentType="application/vnd.openxmlformats-officedocument.presentationml.slide+xml"/>
  <ns0:Override PartName="/ppt/c13/ppt/slides/slide33.xml" ContentType="application/vnd.openxmlformats-officedocument.presentationml.slide+xml"/>
  <ns0:Override PartName="/ppt/c13/ppt/slides/slide34.xml" ContentType="application/vnd.openxmlformats-officedocument.presentationml.slide+xml"/>
  <ns0:Override PartName="/ppt/c13/ppt/slides/slide35.xml" ContentType="application/vnd.openxmlformats-officedocument.presentationml.slide+xml"/>
  <ns0:Override PartName="/ppt/c13/ppt/slides/slide36.xml" ContentType="application/vnd.openxmlformats-officedocument.presentationml.slide+xml"/>
  <ns0:Override PartName="/ppt/c13/ppt/slides/slide37.xml" ContentType="application/vnd.openxmlformats-officedocument.presentationml.slide+xml"/>
  <ns0:Override PartName="/ppt/c13/ppt/slides/slide38.xml" ContentType="application/vnd.openxmlformats-officedocument.presentationml.slide+xml"/>
  <ns0:Override PartName="/ppt/c13/ppt/slides/slide39.xml" ContentType="application/vnd.openxmlformats-officedocument.presentationml.slide+xml"/>
  <ns0:Override PartName="/ppt/c13/ppt/slides/slide40.xml" ContentType="application/vnd.openxmlformats-officedocument.presentationml.slide+xml"/>
  <ns0:Override PartName="/ppt/c13/ppt/slides/slide41.xml" ContentType="application/vnd.openxmlformats-officedocument.presentationml.slide+xml"/>
  <ns0:Override PartName="/ppt/c13/ppt/slides/slide42.xml" ContentType="application/vnd.openxmlformats-officedocument.presentationml.slide+xml"/>
  <ns0:Override PartName="/ppt/c13/ppt/slides/slide43.xml" ContentType="application/vnd.openxmlformats-officedocument.presentationml.slide+xml"/>
  <ns0:Override PartName="/ppt/c13/ppt/slides/slide44.xml" ContentType="application/vnd.openxmlformats-officedocument.presentationml.slide+xml"/>
  <ns0:Override PartName="/ppt/c13/ppt/slides/slide45.xml" ContentType="application/vnd.openxmlformats-officedocument.presentationml.slide+xml"/>
  <ns0:Override PartName="/ppt/c13/ppt/slides/slide46.xml" ContentType="application/vnd.openxmlformats-officedocument.presentationml.slide+xml"/>
  <ns0:Override PartName="/ppt/c13/ppt/notesMasters/notesMaster1.xml" ContentType="application/vnd.openxmlformats-officedocument.presentationml.notesMaster+xml"/>
  <ns0:Override PartName="/ppt/c13/ppt/theme/theme1.xml" ContentType="application/vnd.openxmlformats-officedocument.theme+xml"/>
  <ns0:Override PartName="/ppt/c13/ppt/slideLayouts/slideLayout1.xml" ContentType="application/vnd.openxmlformats-officedocument.presentationml.slideLayout+xml"/>
  <ns0:Override PartName="/ppt/c13/ppt/slideLayouts/slideLayout2.xml" ContentType="application/vnd.openxmlformats-officedocument.presentationml.slideLayout+xml"/>
  <ns0:Override PartName="/ppt/c13/ppt/theme/theme2.xml" ContentType="application/vnd.openxmlformats-officedocument.theme+xml"/>
  <ns0:Override PartName="/ppt/c13/ppt/theme/themeOverride1.xml" ContentType="application/vnd.openxmlformats-officedocument.themeOverride+xml"/>
  <ns0:Override PartName="/ppt/c13/ppt/theme/themeOverride2.xml" ContentType="application/vnd.openxmlformats-officedocument.themeOverride+xml"/>
  <ns0:Override PartName="/ppt/presentation.xml" ContentType="application/vnd.openxmlformats-officedocument.presentationml.presentation.main+xml"/>
</ns0: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saveSubsetFonts="1">
  <p:sldMasterIdLst>
    <p:sldMasterId id="2147484948" r:id="rId29"/>
  </p:sldMasterIdLst>
  <p:notesMasterIdLst>
    <p:notesMasterId r:id="rId30"/>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 Target="c13/ppt/slides/slide19.xml" /><ns0:Relationship Id="rId2" Type="http://schemas.openxmlformats.org/officeDocument/2006/relationships/slide" Target="c13/ppt/slides/slide20.xml" /><ns0:Relationship Id="rId3" Type="http://schemas.openxmlformats.org/officeDocument/2006/relationships/slide" Target="c13/ppt/slides/slide21.xml" /><ns0:Relationship Id="rId4" Type="http://schemas.openxmlformats.org/officeDocument/2006/relationships/slide" Target="c13/ppt/slides/slide22.xml" /><ns0:Relationship Id="rId5" Type="http://schemas.openxmlformats.org/officeDocument/2006/relationships/slide" Target="c13/ppt/slides/slide23.xml" /><ns0:Relationship Id="rId6" Type="http://schemas.openxmlformats.org/officeDocument/2006/relationships/slide" Target="c13/ppt/slides/slide24.xml" /><ns0:Relationship Id="rId7" Type="http://schemas.openxmlformats.org/officeDocument/2006/relationships/slide" Target="c13/ppt/slides/slide25.xml" /><ns0:Relationship Id="rId8" Type="http://schemas.openxmlformats.org/officeDocument/2006/relationships/slide" Target="c13/ppt/slides/slide26.xml" /><ns0:Relationship Id="rId9" Type="http://schemas.openxmlformats.org/officeDocument/2006/relationships/slide" Target="c13/ppt/slides/slide27.xml" /><ns0:Relationship Id="rId10" Type="http://schemas.openxmlformats.org/officeDocument/2006/relationships/slide" Target="c13/ppt/slides/slide28.xml" /><ns0:Relationship Id="rId11" Type="http://schemas.openxmlformats.org/officeDocument/2006/relationships/slide" Target="c13/ppt/slides/slide29.xml" /><ns0:Relationship Id="rId12" Type="http://schemas.openxmlformats.org/officeDocument/2006/relationships/slide" Target="c13/ppt/slides/slide30.xml" /><ns0:Relationship Id="rId13" Type="http://schemas.openxmlformats.org/officeDocument/2006/relationships/slide" Target="c13/ppt/slides/slide31.xml" /><ns0:Relationship Id="rId14" Type="http://schemas.openxmlformats.org/officeDocument/2006/relationships/slide" Target="c13/ppt/slides/slide32.xml" /><ns0:Relationship Id="rId15" Type="http://schemas.openxmlformats.org/officeDocument/2006/relationships/slide" Target="c13/ppt/slides/slide33.xml" /><ns0:Relationship Id="rId16" Type="http://schemas.openxmlformats.org/officeDocument/2006/relationships/slide" Target="c13/ppt/slides/slide34.xml" /><ns0:Relationship Id="rId17" Type="http://schemas.openxmlformats.org/officeDocument/2006/relationships/slide" Target="c13/ppt/slides/slide35.xml" /><ns0:Relationship Id="rId18" Type="http://schemas.openxmlformats.org/officeDocument/2006/relationships/slide" Target="c13/ppt/slides/slide36.xml" /><ns0:Relationship Id="rId19" Type="http://schemas.openxmlformats.org/officeDocument/2006/relationships/slide" Target="c13/ppt/slides/slide37.xml" /><ns0:Relationship Id="rId20" Type="http://schemas.openxmlformats.org/officeDocument/2006/relationships/slide" Target="c13/ppt/slides/slide38.xml" /><ns0:Relationship Id="rId21" Type="http://schemas.openxmlformats.org/officeDocument/2006/relationships/slide" Target="c13/ppt/slides/slide39.xml" /><ns0:Relationship Id="rId22" Type="http://schemas.openxmlformats.org/officeDocument/2006/relationships/slide" Target="c13/ppt/slides/slide40.xml" /><ns0:Relationship Id="rId23" Type="http://schemas.openxmlformats.org/officeDocument/2006/relationships/slide" Target="c13/ppt/slides/slide41.xml" /><ns0:Relationship Id="rId24" Type="http://schemas.openxmlformats.org/officeDocument/2006/relationships/slide" Target="c13/ppt/slides/slide42.xml" /><ns0:Relationship Id="rId25" Type="http://schemas.openxmlformats.org/officeDocument/2006/relationships/slide" Target="c13/ppt/slides/slide43.xml" /><ns0:Relationship Id="rId26" Type="http://schemas.openxmlformats.org/officeDocument/2006/relationships/slide" Target="c13/ppt/slides/slide44.xml" /><ns0:Relationship Id="rId27" Type="http://schemas.openxmlformats.org/officeDocument/2006/relationships/slide" Target="c13/ppt/slides/slide45.xml" /><ns0:Relationship Id="rId28" Type="http://schemas.openxmlformats.org/officeDocument/2006/relationships/slide" Target="c13/ppt/slides/slide46.xml" /><ns0:Relationship Id="rId29" Type="http://schemas.openxmlformats.org/officeDocument/2006/relationships/slideMaster" Target="c13/ppt/slideMasters/slideMaster1.xml" /><ns0:Relationship Id="rId30" Type="http://schemas.openxmlformats.org/officeDocument/2006/relationships/notesMaster" Target="c13/ppt/notesMasters/notesMaster1.xml" /></ns0:Relationships>
</file>

<file path=ppt/c13/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c13/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10/01/2024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dirty="0"/>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c13/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c13/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c13/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10/01/2024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5" name="Slide Number Placeholder 1">
            <a:extLst>
              <a:ext uri="{FF2B5EF4-FFF2-40B4-BE49-F238E27FC236}">
                <a16:creationId xmlns:a16="http://schemas.microsoft.com/office/drawing/2014/main" id="{2BBE1FFC-0839-4EEF-A732-FC1D95326913}"/>
              </a:ext>
            </a:extLst>
          </p:cNvPr>
          <p:cNvSpPr txBox="1">
            <a:spLocks/>
          </p:cNvSpPr>
          <p:nvPr userDrawn="1"/>
        </p:nvSpPr>
        <p:spPr>
          <a:xfrm>
            <a:off x="0" y="0"/>
            <a:ext cx="12192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dirty="0">
              <a:solidFill>
                <a:schemeClr val="bg1"/>
              </a:solidFill>
            </a:endParaRPr>
          </a:p>
        </p:txBody>
      </p:sp>
    </p:spTree>
    <p:extLst>
      <p:ext uri="{BB962C8B-B14F-4D97-AF65-F5344CB8AC3E}">
        <p14:creationId xmlns:p14="http://schemas.microsoft.com/office/powerpoint/2010/main" val="179336913"/>
      </p:ext>
    </p:extLst>
  </p:cSld>
  <p:clrMapOvr>
    <a:masterClrMapping/>
  </p:clrMapOvr>
</p:sldLayout>
</file>

<file path=ppt/c13/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1"/>
            <a:ext cx="10363200" cy="1470025"/>
          </a:xfrm>
        </p:spPr>
        <p:txBody>
          <a:bodyPr>
            <a:noAutofit/>
          </a:bodyPr>
          <a:lstStyle>
            <a:lvl1pPr>
              <a:defRPr sz="1898"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4135535025"/>
      </p:ext>
    </p:extLst>
  </p:cSld>
  <p:clrMapOvr>
    <a:masterClrMapping/>
  </p:clrMapOvr>
</p:sldLayout>
</file>

<file path=ppt/c13/ppt/slideMasters/_rels/slideMaster1.xml.rels><?xml version='1.0' encoding='utf-8'?>
<ns0:Relationships xmlns:ns0="http://schemas.openxmlformats.org/package/2006/relationships"><ns0:Relationship Id="rId3" Type="http://schemas.openxmlformats.org/officeDocument/2006/relationships/theme" Target="../theme/theme1.xml" /><ns0:Relationship Id="rId2" Type="http://schemas.openxmlformats.org/officeDocument/2006/relationships/slideLayout" Target="../slideLayouts/slideLayout2.xml" /><ns0:Relationship Id="rId1" Type="http://schemas.openxmlformats.org/officeDocument/2006/relationships/slideLayout" Target="../slideLayouts/slideLayout1.xml" /></ns0:Relationships>
</file>

<file path=ppt/c13/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10/01/2024</a:t>
            </a:fld>
            <a:endParaRPr lang="en-GB"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509700" r:id="rId1"/>
    <p:sldLayoutId id="2147509701"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c13/ppt/slides/_rels/slide19.xml.rels><?xml version='1.0' encoding='utf-8'?>
<ns0:Relationships xmlns:ns0="http://schemas.openxmlformats.org/package/2006/relationships"><ns0:Relationship Id="rId8" Type="http://schemas.openxmlformats.org/officeDocument/2006/relationships/image" Target="../media/image97.png" /><ns0:Relationship Id="rId13" Type="http://schemas.openxmlformats.org/officeDocument/2006/relationships/image" Target="../media/image102.png" /><ns0:Relationship Id="rId3" Type="http://schemas.openxmlformats.org/officeDocument/2006/relationships/image" Target="../media/image92.png" /><ns0:Relationship Id="rId7" Type="http://schemas.openxmlformats.org/officeDocument/2006/relationships/image" Target="../media/image96.png" /><ns0:Relationship Id="rId12" Type="http://schemas.openxmlformats.org/officeDocument/2006/relationships/image" Target="../media/image101.png" /><ns0:Relationship Id="rId2" Type="http://schemas.openxmlformats.org/officeDocument/2006/relationships/image" Target="../media/image91.png" /><ns0:Relationship Id="rId1" Type="http://schemas.openxmlformats.org/officeDocument/2006/relationships/slideLayout" Target="../slideLayouts/slideLayout1.xml" /><ns0:Relationship Id="rId6" Type="http://schemas.openxmlformats.org/officeDocument/2006/relationships/image" Target="../media/image95.png" /><ns0:Relationship Id="rId11" Type="http://schemas.openxmlformats.org/officeDocument/2006/relationships/image" Target="../media/image100.png" /><ns0:Relationship Id="rId5" Type="http://schemas.openxmlformats.org/officeDocument/2006/relationships/image" Target="../media/image94.png" /><ns0:Relationship Id="rId10" Type="http://schemas.openxmlformats.org/officeDocument/2006/relationships/image" Target="../media/image99.png" /><ns0:Relationship Id="rId4" Type="http://schemas.openxmlformats.org/officeDocument/2006/relationships/image" Target="../media/image93.png" /><ns0:Relationship Id="rId9" Type="http://schemas.openxmlformats.org/officeDocument/2006/relationships/image" Target="../media/image98.png" /><ns0:Relationship Id="rId14" Type="http://schemas.openxmlformats.org/officeDocument/2006/relationships/image" Target="../media/image103.png" /></ns0:Relationships>
</file>

<file path=ppt/c13/ppt/slides/_rels/slide20.xml.rels><?xml version='1.0' encoding='utf-8'?>
<ns0:Relationships xmlns:ns0="http://schemas.openxmlformats.org/package/2006/relationships"><ns0:Relationship Id="rId3" Type="http://schemas.openxmlformats.org/officeDocument/2006/relationships/image" Target="../media/image105.png" /><ns0:Relationship Id="rId2" Type="http://schemas.openxmlformats.org/officeDocument/2006/relationships/image" Target="../media/image104.png" /><ns0:Relationship Id="rId1" Type="http://schemas.openxmlformats.org/officeDocument/2006/relationships/slideLayout" Target="../slideLayouts/slideLayout1.xml" /><ns0:Relationship Id="rId4" Type="http://schemas.openxmlformats.org/officeDocument/2006/relationships/image" Target="../media/image106.png" /></ns0:Relationships>
</file>

<file path=ppt/c13/ppt/slides/_rels/slide21.xml.rels><?xml version='1.0' encoding='utf-8'?>
<ns0:Relationships xmlns:ns0="http://schemas.openxmlformats.org/package/2006/relationships"><ns0:Relationship Id="rId3" Type="http://schemas.openxmlformats.org/officeDocument/2006/relationships/image" Target="../media/image108.png" /><ns0:Relationship Id="rId2" Type="http://schemas.openxmlformats.org/officeDocument/2006/relationships/image" Target="../media/image107.png" /><ns0:Relationship Id="rId1" Type="http://schemas.openxmlformats.org/officeDocument/2006/relationships/slideLayout" Target="../slideLayouts/slideLayout1.xml" /><ns0:Relationship Id="rId4" Type="http://schemas.openxmlformats.org/officeDocument/2006/relationships/image" Target="../media/image109.png" /></ns0:Relationships>
</file>

<file path=ppt/c13/ppt/slides/_rels/slide22.xml.rels><?xml version='1.0' encoding='utf-8'?>
<ns0:Relationships xmlns:ns0="http://schemas.openxmlformats.org/package/2006/relationships"><ns0:Relationship Id="rId3" Type="http://schemas.openxmlformats.org/officeDocument/2006/relationships/image" Target="../media/image111.png" /><ns0:Relationship Id="rId2" Type="http://schemas.openxmlformats.org/officeDocument/2006/relationships/image" Target="../media/image110.png" /><ns0:Relationship Id="rId1" Type="http://schemas.openxmlformats.org/officeDocument/2006/relationships/slideLayout" Target="../slideLayouts/slideLayout1.xml" /><ns0:Relationship Id="rId5" Type="http://schemas.openxmlformats.org/officeDocument/2006/relationships/image" Target="../media/image113.png" /><ns0:Relationship Id="rId4" Type="http://schemas.openxmlformats.org/officeDocument/2006/relationships/image" Target="../media/image112.png" /></ns0:Relationships>
</file>

<file path=ppt/c13/ppt/slides/_rels/slide23.xml.rels><?xml version='1.0' encoding='utf-8'?>
<ns0:Relationships xmlns:ns0="http://schemas.openxmlformats.org/package/2006/relationships"><ns0:Relationship Id="rId8" Type="http://schemas.openxmlformats.org/officeDocument/2006/relationships/image" Target="../media/image120.png" /><ns0:Relationship Id="rId3" Type="http://schemas.openxmlformats.org/officeDocument/2006/relationships/image" Target="../media/image115.png" /><ns0:Relationship Id="rId7" Type="http://schemas.openxmlformats.org/officeDocument/2006/relationships/image" Target="../media/image119.png" /><ns0:Relationship Id="rId2" Type="http://schemas.openxmlformats.org/officeDocument/2006/relationships/image" Target="../media/image114.png" /><ns0:Relationship Id="rId1" Type="http://schemas.openxmlformats.org/officeDocument/2006/relationships/slideLayout" Target="../slideLayouts/slideLayout1.xml" /><ns0:Relationship Id="rId6" Type="http://schemas.openxmlformats.org/officeDocument/2006/relationships/image" Target="../media/image118.png" /><ns0:Relationship Id="rId5" Type="http://schemas.openxmlformats.org/officeDocument/2006/relationships/image" Target="../media/image117.png" /><ns0:Relationship Id="rId4" Type="http://schemas.openxmlformats.org/officeDocument/2006/relationships/image" Target="../media/image116.png" /><ns0:Relationship Id="rId9" Type="http://schemas.openxmlformats.org/officeDocument/2006/relationships/image" Target="../media/image121.png" /></ns0:Relationships>
</file>

<file path=ppt/c13/ppt/slides/_rels/slide24.xml.rels><?xml version='1.0' encoding='utf-8'?>
<ns0:Relationships xmlns:ns0="http://schemas.openxmlformats.org/package/2006/relationships"><ns0:Relationship Id="rId3" Type="http://schemas.openxmlformats.org/officeDocument/2006/relationships/image" Target="../media/image123.png" /><ns0:Relationship Id="rId2" Type="http://schemas.openxmlformats.org/officeDocument/2006/relationships/image" Target="../media/image122.png" /><ns0:Relationship Id="rId1" Type="http://schemas.openxmlformats.org/officeDocument/2006/relationships/slideLayout" Target="../slideLayouts/slideLayout1.xml" /></ns0:Relationships>
</file>

<file path=ppt/c13/ppt/slides/_rels/slide25.xml.rels><?xml version='1.0' encoding='utf-8'?>
<ns0:Relationships xmlns:ns0="http://schemas.openxmlformats.org/package/2006/relationships"><ns0:Relationship Id="rId3" Type="http://schemas.openxmlformats.org/officeDocument/2006/relationships/image" Target="../media/image125.png" /><ns0:Relationship Id="rId2" Type="http://schemas.openxmlformats.org/officeDocument/2006/relationships/image" Target="../media/image124.png" /><ns0:Relationship Id="rId1" Type="http://schemas.openxmlformats.org/officeDocument/2006/relationships/slideLayout" Target="../slideLayouts/slideLayout1.xml" /></ns0:Relationships>
</file>

<file path=ppt/c13/ppt/slides/_rels/slide26.xml.rels><?xml version='1.0' encoding='utf-8'?>
<ns0:Relationships xmlns:ns0="http://schemas.openxmlformats.org/package/2006/relationships"><ns0:Relationship Id="rId8" Type="http://schemas.openxmlformats.org/officeDocument/2006/relationships/image" Target="../media/image129.png" /><ns0:Relationship Id="rId13" Type="http://schemas.openxmlformats.org/officeDocument/2006/relationships/image" Target="../media/image134.png" /><ns0:Relationship Id="rId3" Type="http://schemas.openxmlformats.org/officeDocument/2006/relationships/image" Target="../media/image126.png" /><ns0:Relationship Id="rId7" Type="http://schemas.openxmlformats.org/officeDocument/2006/relationships/image" Target="../media/image128.png" /><ns0:Relationship Id="rId12" Type="http://schemas.openxmlformats.org/officeDocument/2006/relationships/image" Target="../media/image133.png" /><ns0:Relationship Id="rId2" Type="http://schemas.openxmlformats.org/officeDocument/2006/relationships/slideLayout" Target="../slideLayouts/slideLayout1.xml" /><ns0:Relationship Id="rId1" Type="http://schemas.openxmlformats.org/officeDocument/2006/relationships/themeOverride" Target="../theme/themeOverride1.xml" /><ns0:Relationship Id="rId6" Type="http://schemas.openxmlformats.org/officeDocument/2006/relationships/image" Target="../media/image92.png" /><ns0:Relationship Id="rId11" Type="http://schemas.openxmlformats.org/officeDocument/2006/relationships/image" Target="../media/image132.png" /><ns0:Relationship Id="rId5" Type="http://schemas.openxmlformats.org/officeDocument/2006/relationships/image" Target="../media/image96.png" /><ns0:Relationship Id="rId15" Type="http://schemas.openxmlformats.org/officeDocument/2006/relationships/image" Target="../media/image136.png" /><ns0:Relationship Id="rId10" Type="http://schemas.openxmlformats.org/officeDocument/2006/relationships/image" Target="../media/image131.png" /><ns0:Relationship Id="rId4" Type="http://schemas.openxmlformats.org/officeDocument/2006/relationships/image" Target="../media/image127.png" /><ns0:Relationship Id="rId9" Type="http://schemas.openxmlformats.org/officeDocument/2006/relationships/image" Target="../media/image130.png" /><ns0:Relationship Id="rId14" Type="http://schemas.openxmlformats.org/officeDocument/2006/relationships/image" Target="../media/image135.png" /></ns0:Relationships>
</file>

<file path=ppt/c13/ppt/slides/_rels/slide27.xml.rels><?xml version='1.0' encoding='utf-8'?>
<ns0:Relationships xmlns:ns0="http://schemas.openxmlformats.org/package/2006/relationships"><ns0:Relationship Id="rId8" Type="http://schemas.openxmlformats.org/officeDocument/2006/relationships/image" Target="../media/image142.png" /><ns0:Relationship Id="rId3" Type="http://schemas.openxmlformats.org/officeDocument/2006/relationships/image" Target="../media/image137.png" /><ns0:Relationship Id="rId7" Type="http://schemas.openxmlformats.org/officeDocument/2006/relationships/image" Target="../media/image141.png" /><ns0:Relationship Id="rId2" Type="http://schemas.openxmlformats.org/officeDocument/2006/relationships/slideLayout" Target="../slideLayouts/slideLayout1.xml" /><ns0:Relationship Id="rId1" Type="http://schemas.openxmlformats.org/officeDocument/2006/relationships/themeOverride" Target="../theme/themeOverride2.xml" /><ns0:Relationship Id="rId6" Type="http://schemas.openxmlformats.org/officeDocument/2006/relationships/image" Target="../media/image140.png" /><ns0:Relationship Id="rId5" Type="http://schemas.openxmlformats.org/officeDocument/2006/relationships/image" Target="../media/image139.png" /><ns0:Relationship Id="rId4" Type="http://schemas.openxmlformats.org/officeDocument/2006/relationships/image" Target="../media/image138.png" /><ns0:Relationship Id="rId9" Type="http://schemas.openxmlformats.org/officeDocument/2006/relationships/image" Target="../media/image143.png" /></ns0:Relationships>
</file>

<file path=ppt/c13/ppt/slides/_rels/slide28.xml.rels><?xml version='1.0' encoding='utf-8'?>
<ns0:Relationships xmlns:ns0="http://schemas.openxmlformats.org/package/2006/relationships"><ns0:Relationship Id="rId8" Type="http://schemas.openxmlformats.org/officeDocument/2006/relationships/image" Target="../media/image150.png" /><ns0:Relationship Id="rId13" Type="http://schemas.openxmlformats.org/officeDocument/2006/relationships/image" Target="../media/image155.png" /><ns0:Relationship Id="rId3" Type="http://schemas.openxmlformats.org/officeDocument/2006/relationships/image" Target="../media/image145.png" /><ns0:Relationship Id="rId7" Type="http://schemas.openxmlformats.org/officeDocument/2006/relationships/image" Target="../media/image149.png" /><ns0:Relationship Id="rId12" Type="http://schemas.openxmlformats.org/officeDocument/2006/relationships/image" Target="../media/image154.png" /><ns0:Relationship Id="rId2" Type="http://schemas.openxmlformats.org/officeDocument/2006/relationships/image" Target="../media/image144.png" /><ns0:Relationship Id="rId1" Type="http://schemas.openxmlformats.org/officeDocument/2006/relationships/slideLayout" Target="../slideLayouts/slideLayout1.xml" /><ns0:Relationship Id="rId6" Type="http://schemas.openxmlformats.org/officeDocument/2006/relationships/image" Target="../media/image148.png" /><ns0:Relationship Id="rId11" Type="http://schemas.openxmlformats.org/officeDocument/2006/relationships/image" Target="../media/image153.png" /><ns0:Relationship Id="rId5" Type="http://schemas.openxmlformats.org/officeDocument/2006/relationships/image" Target="../media/image147.png" /><ns0:Relationship Id="rId10" Type="http://schemas.openxmlformats.org/officeDocument/2006/relationships/image" Target="../media/image152.png" /><ns0:Relationship Id="rId4" Type="http://schemas.openxmlformats.org/officeDocument/2006/relationships/image" Target="../media/image146.png" /><ns0:Relationship Id="rId9" Type="http://schemas.openxmlformats.org/officeDocument/2006/relationships/image" Target="../media/image151.png" /><ns0:Relationship Id="rId14" Type="http://schemas.openxmlformats.org/officeDocument/2006/relationships/image" Target="../media/image156.png" /></ns0:Relationships>
</file>

<file path=ppt/c13/ppt/slides/_rels/slide29.xml.rels><?xml version='1.0' encoding='utf-8'?>
<ns0:Relationships xmlns:ns0="http://schemas.openxmlformats.org/package/2006/relationships"><ns0:Relationship Id="rId2" Type="http://schemas.openxmlformats.org/officeDocument/2006/relationships/image" Target="../media/image157.png" /><ns0:Relationship Id="rId1" Type="http://schemas.openxmlformats.org/officeDocument/2006/relationships/slideLayout" Target="../slideLayouts/slideLayout1.xml" /></ns0:Relationships>
</file>

<file path=ppt/c13/ppt/slides/_rels/slide30.xml.rels><?xml version='1.0' encoding='utf-8'?>
<ns0:Relationships xmlns:ns0="http://schemas.openxmlformats.org/package/2006/relationships"><ns0:Relationship Id="rId3" Type="http://schemas.openxmlformats.org/officeDocument/2006/relationships/image" Target="../media/image159.png" /><ns0:Relationship Id="rId2" Type="http://schemas.openxmlformats.org/officeDocument/2006/relationships/image" Target="../media/image158.png" /><ns0:Relationship Id="rId1" Type="http://schemas.openxmlformats.org/officeDocument/2006/relationships/slideLayout" Target="../slideLayouts/slideLayout1.xml" /><ns0:Relationship Id="rId5" Type="http://schemas.openxmlformats.org/officeDocument/2006/relationships/image" Target="../media/image161.png" /><ns0:Relationship Id="rId4" Type="http://schemas.openxmlformats.org/officeDocument/2006/relationships/image" Target="../media/image160.png" /></ns0:Relationships>
</file>

<file path=ppt/c13/ppt/slides/_rels/slide31.xml.rels><?xml version='1.0' encoding='utf-8'?>
<ns0:Relationships xmlns:ns0="http://schemas.openxmlformats.org/package/2006/relationships"><ns0:Relationship Id="rId3" Type="http://schemas.openxmlformats.org/officeDocument/2006/relationships/image" Target="../media/image163.png" /><ns0:Relationship Id="rId2" Type="http://schemas.openxmlformats.org/officeDocument/2006/relationships/image" Target="../media/image162.png" /><ns0:Relationship Id="rId1" Type="http://schemas.openxmlformats.org/officeDocument/2006/relationships/slideLayout" Target="../slideLayouts/slideLayout1.xml" /></ns0:Relationships>
</file>

<file path=ppt/c13/ppt/slides/_rels/slide32.xml.rels><?xml version='1.0' encoding='utf-8'?>
<ns0:Relationships xmlns:ns0="http://schemas.openxmlformats.org/package/2006/relationships"><ns0:Relationship Id="rId3" Type="http://schemas.openxmlformats.org/officeDocument/2006/relationships/image" Target="../media/image165.png" /><ns0:Relationship Id="rId2" Type="http://schemas.openxmlformats.org/officeDocument/2006/relationships/image" Target="../media/image164.png" /><ns0:Relationship Id="rId1" Type="http://schemas.openxmlformats.org/officeDocument/2006/relationships/slideLayout" Target="../slideLayouts/slideLayout1.xml" /><ns0:Relationship Id="rId4" Type="http://schemas.openxmlformats.org/officeDocument/2006/relationships/image" Target="../media/image166.png" /></ns0:Relationships>
</file>

<file path=ppt/c13/ppt/slides/_rels/slide33.xml.rels><?xml version='1.0' encoding='utf-8'?>
<ns0:Relationships xmlns:ns0="http://schemas.openxmlformats.org/package/2006/relationships"><ns0:Relationship Id="rId8" Type="http://schemas.openxmlformats.org/officeDocument/2006/relationships/image" Target="../media/image1280.png" /><ns0:Relationship Id="rId3" Type="http://schemas.openxmlformats.org/officeDocument/2006/relationships/image" Target="../media/image168.png" /><ns0:Relationship Id="rId7" Type="http://schemas.openxmlformats.org/officeDocument/2006/relationships/image" Target="../media/image1270.png" /><ns0:Relationship Id="rId2" Type="http://schemas.openxmlformats.org/officeDocument/2006/relationships/image" Target="../media/image167.png" /><ns0:Relationship Id="rId1" Type="http://schemas.openxmlformats.org/officeDocument/2006/relationships/slideLayout" Target="../slideLayouts/slideLayout1.xml" /><ns0:Relationship Id="rId6" Type="http://schemas.openxmlformats.org/officeDocument/2006/relationships/image" Target="../media/image1260.png" /><ns0:Relationship Id="rId11" Type="http://schemas.openxmlformats.org/officeDocument/2006/relationships/image" Target="../media/image170.png" /><ns0:Relationship Id="rId5" Type="http://schemas.openxmlformats.org/officeDocument/2006/relationships/image" Target="../media/image1250.png" /><ns0:Relationship Id="rId10" Type="http://schemas.openxmlformats.org/officeDocument/2006/relationships/image" Target="../media/image169.png" /><ns0:Relationship Id="rId4" Type="http://schemas.openxmlformats.org/officeDocument/2006/relationships/image" Target="../media/image1240.png" /><ns0:Relationship Id="rId9" Type="http://schemas.openxmlformats.org/officeDocument/2006/relationships/image" Target="../media/image1290.png" /></ns0:Relationships>
</file>

<file path=ppt/c13/ppt/slides/_rels/slide34.xml.rels><?xml version='1.0' encoding='utf-8'?>
<ns0:Relationships xmlns:ns0="http://schemas.openxmlformats.org/package/2006/relationships"><ns0:Relationship Id="rId8" Type="http://schemas.openxmlformats.org/officeDocument/2006/relationships/image" Target="../media/image177.png" /><ns0:Relationship Id="rId3" Type="http://schemas.openxmlformats.org/officeDocument/2006/relationships/image" Target="../media/image172.png" /><ns0:Relationship Id="rId7" Type="http://schemas.openxmlformats.org/officeDocument/2006/relationships/image" Target="../media/image176.png" /><ns0:Relationship Id="rId2" Type="http://schemas.openxmlformats.org/officeDocument/2006/relationships/image" Target="../media/image171.png" /><ns0:Relationship Id="rId1" Type="http://schemas.openxmlformats.org/officeDocument/2006/relationships/slideLayout" Target="../slideLayouts/slideLayout1.xml" /><ns0:Relationship Id="rId6" Type="http://schemas.openxmlformats.org/officeDocument/2006/relationships/image" Target="../media/image175.png" /><ns0:Relationship Id="rId5" Type="http://schemas.openxmlformats.org/officeDocument/2006/relationships/image" Target="../media/image174.png" /><ns0:Relationship Id="rId4" Type="http://schemas.openxmlformats.org/officeDocument/2006/relationships/image" Target="../media/image173.png" /></ns0:Relationships>
</file>

<file path=ppt/c13/ppt/slides/_rels/slide35.xml.rels><?xml version='1.0' encoding='utf-8'?>
<ns0:Relationships xmlns:ns0="http://schemas.openxmlformats.org/package/2006/relationships"><ns0:Relationship Id="rId3" Type="http://schemas.openxmlformats.org/officeDocument/2006/relationships/image" Target="../media/image179.png" /><ns0:Relationship Id="rId2" Type="http://schemas.openxmlformats.org/officeDocument/2006/relationships/image" Target="../media/image178.png" /><ns0:Relationship Id="rId1" Type="http://schemas.openxmlformats.org/officeDocument/2006/relationships/slideLayout" Target="../slideLayouts/slideLayout1.xml" /></ns0:Relationships>
</file>

<file path=ppt/c13/ppt/slides/_rels/slide36.xml.rels><?xml version='1.0' encoding='utf-8'?>
<ns0:Relationships xmlns:ns0="http://schemas.openxmlformats.org/package/2006/relationships"><ns0:Relationship Id="rId3" Type="http://schemas.openxmlformats.org/officeDocument/2006/relationships/image" Target="../media/image181.png" /><ns0:Relationship Id="rId2" Type="http://schemas.openxmlformats.org/officeDocument/2006/relationships/image" Target="../media/image180.png" /><ns0:Relationship Id="rId1" Type="http://schemas.openxmlformats.org/officeDocument/2006/relationships/slideLayout" Target="../slideLayouts/slideLayout1.xml" /><ns0:Relationship Id="rId5" Type="http://schemas.openxmlformats.org/officeDocument/2006/relationships/image" Target="../media/image183.png" /><ns0:Relationship Id="rId4" Type="http://schemas.openxmlformats.org/officeDocument/2006/relationships/image" Target="../media/image182.png" /></ns0:Relationships>
</file>

<file path=ppt/c13/ppt/slides/_rels/slide37.xml.rels><?xml version='1.0' encoding='utf-8'?>
<ns0:Relationships xmlns:ns0="http://schemas.openxmlformats.org/package/2006/relationships"><ns0:Relationship Id="rId8" Type="http://schemas.openxmlformats.org/officeDocument/2006/relationships/image" Target="../media/image190.png" /><ns0:Relationship Id="rId3" Type="http://schemas.openxmlformats.org/officeDocument/2006/relationships/image" Target="../media/image185.png" /><ns0:Relationship Id="rId7" Type="http://schemas.openxmlformats.org/officeDocument/2006/relationships/image" Target="../media/image189.png" /><ns0:Relationship Id="rId2" Type="http://schemas.openxmlformats.org/officeDocument/2006/relationships/image" Target="../media/image184.png" /><ns0:Relationship Id="rId1" Type="http://schemas.openxmlformats.org/officeDocument/2006/relationships/slideLayout" Target="../slideLayouts/slideLayout1.xml" /><ns0:Relationship Id="rId6" Type="http://schemas.openxmlformats.org/officeDocument/2006/relationships/image" Target="../media/image188.png" /><ns0:Relationship Id="rId5" Type="http://schemas.openxmlformats.org/officeDocument/2006/relationships/image" Target="../media/image187.png" /><ns0:Relationship Id="rId10" Type="http://schemas.openxmlformats.org/officeDocument/2006/relationships/image" Target="../media/image192.png" /><ns0:Relationship Id="rId4" Type="http://schemas.openxmlformats.org/officeDocument/2006/relationships/image" Target="../media/image186.png" /><ns0:Relationship Id="rId9" Type="http://schemas.openxmlformats.org/officeDocument/2006/relationships/image" Target="../media/image191.png" /></ns0:Relationships>
</file>

<file path=ppt/c13/ppt/slides/_rels/slide38.xml.rels><?xml version='1.0' encoding='utf-8'?>
<ns0:Relationships xmlns:ns0="http://schemas.openxmlformats.org/package/2006/relationships"><ns0:Relationship Id="rId8" Type="http://schemas.openxmlformats.org/officeDocument/2006/relationships/image" Target="../media/image199.png" /><ns0:Relationship Id="rId3" Type="http://schemas.openxmlformats.org/officeDocument/2006/relationships/image" Target="../media/image194.png" /><ns0:Relationship Id="rId7" Type="http://schemas.openxmlformats.org/officeDocument/2006/relationships/image" Target="../media/image198.png" /><ns0:Relationship Id="rId2" Type="http://schemas.openxmlformats.org/officeDocument/2006/relationships/image" Target="../media/image193.png" /><ns0:Relationship Id="rId1" Type="http://schemas.openxmlformats.org/officeDocument/2006/relationships/slideLayout" Target="../slideLayouts/slideLayout1.xml" /><ns0:Relationship Id="rId6" Type="http://schemas.openxmlformats.org/officeDocument/2006/relationships/image" Target="../media/image197.png" /><ns0:Relationship Id="rId11" Type="http://schemas.openxmlformats.org/officeDocument/2006/relationships/image" Target="../media/image202.png" /><ns0:Relationship Id="rId5" Type="http://schemas.openxmlformats.org/officeDocument/2006/relationships/image" Target="../media/image196.png" /><ns0:Relationship Id="rId10" Type="http://schemas.openxmlformats.org/officeDocument/2006/relationships/image" Target="../media/image201.png" /><ns0:Relationship Id="rId4" Type="http://schemas.openxmlformats.org/officeDocument/2006/relationships/image" Target="../media/image195.png" /><ns0:Relationship Id="rId9" Type="http://schemas.openxmlformats.org/officeDocument/2006/relationships/image" Target="../media/image200.png" /></ns0:Relationships>
</file>

<file path=ppt/c13/ppt/slides/_rels/slide39.xml.rels><?xml version='1.0' encoding='utf-8'?>
<ns0:Relationships xmlns:ns0="http://schemas.openxmlformats.org/package/2006/relationships"><ns0:Relationship Id="rId3" Type="http://schemas.openxmlformats.org/officeDocument/2006/relationships/image" Target="../media/image204.png" /><ns0:Relationship Id="rId2" Type="http://schemas.openxmlformats.org/officeDocument/2006/relationships/image" Target="../media/image203.png" /><ns0:Relationship Id="rId1" Type="http://schemas.openxmlformats.org/officeDocument/2006/relationships/slideLayout" Target="../slideLayouts/slideLayout1.xml" /></ns0:Relationships>
</file>

<file path=ppt/c13/ppt/slides/_rels/slide40.xml.rels><?xml version='1.0' encoding='utf-8'?>
<ns0:Relationships xmlns:ns0="http://schemas.openxmlformats.org/package/2006/relationships"><ns0:Relationship Id="rId8" Type="http://schemas.openxmlformats.org/officeDocument/2006/relationships/image" Target="../media/image211.png" /><ns0:Relationship Id="rId3" Type="http://schemas.openxmlformats.org/officeDocument/2006/relationships/image" Target="../media/image206.png" /><ns0:Relationship Id="rId7" Type="http://schemas.openxmlformats.org/officeDocument/2006/relationships/image" Target="../media/image210.png" /><ns0:Relationship Id="rId2" Type="http://schemas.openxmlformats.org/officeDocument/2006/relationships/image" Target="../media/image205.png" /><ns0:Relationship Id="rId1" Type="http://schemas.openxmlformats.org/officeDocument/2006/relationships/slideLayout" Target="../slideLayouts/slideLayout1.xml" /><ns0:Relationship Id="rId6" Type="http://schemas.openxmlformats.org/officeDocument/2006/relationships/image" Target="../media/image209.png" /><ns0:Relationship Id="rId5" Type="http://schemas.openxmlformats.org/officeDocument/2006/relationships/image" Target="../media/image208.png" /><ns0:Relationship Id="rId4" Type="http://schemas.openxmlformats.org/officeDocument/2006/relationships/image" Target="../media/image207.png" /></ns0:Relationships>
</file>

<file path=ppt/c13/ppt/slides/_rels/slide41.xml.rels><?xml version='1.0' encoding='utf-8'?>
<ns0:Relationships xmlns:ns0="http://schemas.openxmlformats.org/package/2006/relationships"><ns0:Relationship Id="rId8" Type="http://schemas.openxmlformats.org/officeDocument/2006/relationships/image" Target="../media/image218.png" /><ns0:Relationship Id="rId3" Type="http://schemas.openxmlformats.org/officeDocument/2006/relationships/image" Target="../media/image213.png" /><ns0:Relationship Id="rId7" Type="http://schemas.openxmlformats.org/officeDocument/2006/relationships/image" Target="../media/image217.png" /><ns0:Relationship Id="rId2" Type="http://schemas.openxmlformats.org/officeDocument/2006/relationships/image" Target="../media/image212.png" /><ns0:Relationship Id="rId1" Type="http://schemas.openxmlformats.org/officeDocument/2006/relationships/slideLayout" Target="../slideLayouts/slideLayout1.xml" /><ns0:Relationship Id="rId6" Type="http://schemas.openxmlformats.org/officeDocument/2006/relationships/image" Target="../media/image216.png" /><ns0:Relationship Id="rId5" Type="http://schemas.openxmlformats.org/officeDocument/2006/relationships/image" Target="../media/image215.png" /><ns0:Relationship Id="rId10" Type="http://schemas.openxmlformats.org/officeDocument/2006/relationships/image" Target="../media/image220.png" /><ns0:Relationship Id="rId4" Type="http://schemas.openxmlformats.org/officeDocument/2006/relationships/image" Target="../media/image214.png" /><ns0:Relationship Id="rId9" Type="http://schemas.openxmlformats.org/officeDocument/2006/relationships/image" Target="../media/image219.png" /></ns0:Relationships>
</file>

<file path=ppt/c13/ppt/slides/_rels/slide42.xml.rels><?xml version='1.0' encoding='utf-8'?>
<ns0:Relationships xmlns:ns0="http://schemas.openxmlformats.org/package/2006/relationships"><ns0:Relationship Id="rId3" Type="http://schemas.openxmlformats.org/officeDocument/2006/relationships/image" Target="../media/image222.png" /><ns0:Relationship Id="rId2" Type="http://schemas.openxmlformats.org/officeDocument/2006/relationships/image" Target="../media/image221.png" /><ns0:Relationship Id="rId1" Type="http://schemas.openxmlformats.org/officeDocument/2006/relationships/slideLayout" Target="../slideLayouts/slideLayout1.xml" /><ns0:Relationship Id="rId5" Type="http://schemas.openxmlformats.org/officeDocument/2006/relationships/image" Target="../media/image224.png" /><ns0:Relationship Id="rId4" Type="http://schemas.openxmlformats.org/officeDocument/2006/relationships/image" Target="../media/image223.png" /></ns0:Relationships>
</file>

<file path=ppt/c13/ppt/slides/_rels/slide43.xml.rels><?xml version='1.0' encoding='utf-8'?>
<ns0:Relationships xmlns:ns0="http://schemas.openxmlformats.org/package/2006/relationships"><ns0:Relationship Id="rId3" Type="http://schemas.openxmlformats.org/officeDocument/2006/relationships/image" Target="../media/image226.png" /><ns0:Relationship Id="rId2" Type="http://schemas.openxmlformats.org/officeDocument/2006/relationships/image" Target="../media/image225.png" /><ns0:Relationship Id="rId1" Type="http://schemas.openxmlformats.org/officeDocument/2006/relationships/slideLayout" Target="../slideLayouts/slideLayout1.xml" /><ns0:Relationship Id="rId4" Type="http://schemas.openxmlformats.org/officeDocument/2006/relationships/image" Target="../media/image227.png" /></ns0:Relationships>
</file>

<file path=ppt/c13/ppt/slides/_rels/slide44.xml.rels><?xml version='1.0' encoding='utf-8'?>
<ns0:Relationships xmlns:ns0="http://schemas.openxmlformats.org/package/2006/relationships"><ns0:Relationship Id="rId3" Type="http://schemas.openxmlformats.org/officeDocument/2006/relationships/image" Target="../media/image229.png" /><ns0:Relationship Id="rId2" Type="http://schemas.openxmlformats.org/officeDocument/2006/relationships/image" Target="../media/image228.png" /><ns0:Relationship Id="rId1" Type="http://schemas.openxmlformats.org/officeDocument/2006/relationships/slideLayout" Target="../slideLayouts/slideLayout1.xml" /><ns0:Relationship Id="rId5" Type="http://schemas.openxmlformats.org/officeDocument/2006/relationships/image" Target="../media/image231.png" /><ns0:Relationship Id="rId4" Type="http://schemas.openxmlformats.org/officeDocument/2006/relationships/image" Target="../media/image230.png" /></ns0:Relationships>
</file>

<file path=ppt/c13/ppt/slides/_rels/slide45.xml.rels><?xml version='1.0' encoding='utf-8'?>
<ns0:Relationships xmlns:ns0="http://schemas.openxmlformats.org/package/2006/relationships"><ns0:Relationship Id="rId3" Type="http://schemas.openxmlformats.org/officeDocument/2006/relationships/image" Target="../media/image233.png" /><ns0:Relationship Id="rId2" Type="http://schemas.openxmlformats.org/officeDocument/2006/relationships/image" Target="../media/image232.png" /><ns0:Relationship Id="rId1" Type="http://schemas.openxmlformats.org/officeDocument/2006/relationships/slideLayout" Target="../slideLayouts/slideLayout1.xml" /><ns0:Relationship Id="rId6" Type="http://schemas.openxmlformats.org/officeDocument/2006/relationships/image" Target="../media/image236.png" /><ns0:Relationship Id="rId5" Type="http://schemas.openxmlformats.org/officeDocument/2006/relationships/image" Target="../media/image235.png" /><ns0:Relationship Id="rId4" Type="http://schemas.openxmlformats.org/officeDocument/2006/relationships/image" Target="../media/image234.png" /></ns0:Relationships>
</file>

<file path=ppt/c13/ppt/slides/_rels/slide46.xml.rels><?xml version='1.0' encoding='utf-8'?>
<ns0:Relationships xmlns:ns0="http://schemas.openxmlformats.org/package/2006/relationships"><ns0:Relationship Id="rId3" Type="http://schemas.openxmlformats.org/officeDocument/2006/relationships/image" Target="../media/image238.png" /><ns0:Relationship Id="rId2" Type="http://schemas.openxmlformats.org/officeDocument/2006/relationships/image" Target="../media/image237.png" /><ns0:Relationship Id="rId1" Type="http://schemas.openxmlformats.org/officeDocument/2006/relationships/slideLayout" Target="../slideLayouts/slideLayout1.xml" /></ns0:Relationships>
</file>

<file path=ppt/c13/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Shape 14"/>
          <p:cNvSpPr/>
          <p:nvPr/>
        </p:nvSpPr>
        <p:spPr>
          <a:xfrm>
            <a:off x="8396289" y="2219326"/>
            <a:ext cx="1266825" cy="923925"/>
          </a:xfrm>
          <a:custGeom>
            <a:avLst/>
            <a:gdLst>
              <a:gd name="connsiteX0" fmla="*/ 0 w 1266825"/>
              <a:gd name="connsiteY0" fmla="*/ 919163 h 923925"/>
              <a:gd name="connsiteX1" fmla="*/ 257175 w 1266825"/>
              <a:gd name="connsiteY1" fmla="*/ 461963 h 923925"/>
              <a:gd name="connsiteX2" fmla="*/ 381000 w 1266825"/>
              <a:gd name="connsiteY2" fmla="*/ 276225 h 923925"/>
              <a:gd name="connsiteX3" fmla="*/ 452437 w 1266825"/>
              <a:gd name="connsiteY3" fmla="*/ 176213 h 923925"/>
              <a:gd name="connsiteX4" fmla="*/ 547687 w 1266825"/>
              <a:gd name="connsiteY4" fmla="*/ 80963 h 923925"/>
              <a:gd name="connsiteX5" fmla="*/ 604837 w 1266825"/>
              <a:gd name="connsiteY5" fmla="*/ 28575 h 923925"/>
              <a:gd name="connsiteX6" fmla="*/ 666750 w 1266825"/>
              <a:gd name="connsiteY6" fmla="*/ 0 h 923925"/>
              <a:gd name="connsiteX7" fmla="*/ 714375 w 1266825"/>
              <a:gd name="connsiteY7" fmla="*/ 0 h 923925"/>
              <a:gd name="connsiteX8" fmla="*/ 762000 w 1266825"/>
              <a:gd name="connsiteY8" fmla="*/ 19050 h 923925"/>
              <a:gd name="connsiteX9" fmla="*/ 823912 w 1266825"/>
              <a:gd name="connsiteY9" fmla="*/ 66675 h 923925"/>
              <a:gd name="connsiteX10" fmla="*/ 871537 w 1266825"/>
              <a:gd name="connsiteY10" fmla="*/ 123825 h 923925"/>
              <a:gd name="connsiteX11" fmla="*/ 933450 w 1266825"/>
              <a:gd name="connsiteY11" fmla="*/ 200025 h 923925"/>
              <a:gd name="connsiteX12" fmla="*/ 1009650 w 1266825"/>
              <a:gd name="connsiteY12" fmla="*/ 323850 h 923925"/>
              <a:gd name="connsiteX13" fmla="*/ 1081087 w 1266825"/>
              <a:gd name="connsiteY13" fmla="*/ 409575 h 923925"/>
              <a:gd name="connsiteX14" fmla="*/ 1166812 w 1266825"/>
              <a:gd name="connsiteY14" fmla="*/ 461963 h 923925"/>
              <a:gd name="connsiteX15" fmla="*/ 1266825 w 1266825"/>
              <a:gd name="connsiteY15" fmla="*/ 509588 h 923925"/>
              <a:gd name="connsiteX16" fmla="*/ 1262062 w 1266825"/>
              <a:gd name="connsiteY16" fmla="*/ 923925 h 923925"/>
              <a:gd name="connsiteX17" fmla="*/ 0 w 1266825"/>
              <a:gd name="connsiteY17" fmla="*/ 919163 h 92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6825" h="923925">
                <a:moveTo>
                  <a:pt x="0" y="919163"/>
                </a:moveTo>
                <a:lnTo>
                  <a:pt x="257175" y="461963"/>
                </a:lnTo>
                <a:lnTo>
                  <a:pt x="381000" y="276225"/>
                </a:lnTo>
                <a:lnTo>
                  <a:pt x="452437" y="176213"/>
                </a:lnTo>
                <a:lnTo>
                  <a:pt x="547687" y="80963"/>
                </a:lnTo>
                <a:lnTo>
                  <a:pt x="604837" y="28575"/>
                </a:lnTo>
                <a:lnTo>
                  <a:pt x="666750" y="0"/>
                </a:lnTo>
                <a:lnTo>
                  <a:pt x="714375" y="0"/>
                </a:lnTo>
                <a:lnTo>
                  <a:pt x="762000" y="19050"/>
                </a:lnTo>
                <a:lnTo>
                  <a:pt x="823912" y="66675"/>
                </a:lnTo>
                <a:lnTo>
                  <a:pt x="871537" y="123825"/>
                </a:lnTo>
                <a:lnTo>
                  <a:pt x="933450" y="200025"/>
                </a:lnTo>
                <a:lnTo>
                  <a:pt x="1009650" y="323850"/>
                </a:lnTo>
                <a:lnTo>
                  <a:pt x="1081087" y="409575"/>
                </a:lnTo>
                <a:lnTo>
                  <a:pt x="1166812" y="461963"/>
                </a:lnTo>
                <a:lnTo>
                  <a:pt x="1266825" y="509588"/>
                </a:lnTo>
                <a:cubicBezTo>
                  <a:pt x="1265237" y="647700"/>
                  <a:pt x="1263650" y="785813"/>
                  <a:pt x="1262062" y="923925"/>
                </a:cubicBezTo>
                <a:lnTo>
                  <a:pt x="0" y="919163"/>
                </a:lnTo>
                <a:close/>
              </a:path>
            </a:pathLst>
          </a:custGeom>
          <a:solidFill>
            <a:schemeClr val="accent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Definite Integration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775520" y="764705"/>
                <a:ext cx="6234608" cy="2800767"/>
              </a:xfrm>
              <a:prstGeom prst="rect">
                <a:avLst/>
              </a:prstGeom>
              <a:noFill/>
            </p:spPr>
            <p:txBody>
              <a:bodyPr wrap="square" rtlCol="0">
                <a:spAutoFit/>
              </a:bodyPr>
              <a:lstStyle/>
              <a:p>
                <a:r>
                  <a:rPr lang="en-GB" sz="1600" dirty="0"/>
                  <a:t>So far we’ve seen integration as ‘</a:t>
                </a:r>
                <a:r>
                  <a:rPr lang="en-GB" sz="1600" b="1" dirty="0"/>
                  <a:t>the opposite of differentiation</a:t>
                </a:r>
                <a:r>
                  <a:rPr lang="en-GB" sz="1600" dirty="0"/>
                  <a:t>’, allowing us to find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when we know the gradient function </a:t>
                </a:r>
                <a:br>
                  <a:rPr lang="en-GB" sz="1600" i="1" dirty="0">
                    <a:latin typeface="Cambria Math" panose="02040503050406030204" pitchFamily="18" charset="0"/>
                  </a:rPr>
                </a:b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𝑓</m:t>
                        </m:r>
                      </m:e>
                      <m:sup>
                        <m:r>
                          <a:rPr lang="en-GB" sz="1600" i="1">
                            <a:latin typeface="Cambria Math" panose="02040503050406030204" pitchFamily="18" charset="0"/>
                          </a:rPr>
                          <m:t>′</m:t>
                        </m:r>
                      </m:sup>
                    </m:sSup>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a:t>
                </a:r>
              </a:p>
              <a:p>
                <a:endParaRPr lang="en-GB" sz="1600" dirty="0"/>
              </a:p>
              <a:p>
                <a:r>
                  <a:rPr lang="en-GB" sz="1600" dirty="0"/>
                  <a:t>In practical settings however the most useful use of integration is that </a:t>
                </a:r>
                <a:r>
                  <a:rPr lang="en-GB" sz="1600" b="1" dirty="0"/>
                  <a:t>it finds the area under a graph</a:t>
                </a:r>
                <a:r>
                  <a:rPr lang="en-GB" sz="1600" dirty="0"/>
                  <a:t>. Remember at GCSE for example when you estimated the area under a speed-time graph, using trapeziums, to get the distance?</a:t>
                </a:r>
              </a:p>
              <a:p>
                <a:r>
                  <a:rPr lang="en-GB" sz="1600" dirty="0"/>
                  <a:t>If you knew the equation of the curve, you could get the exact area!</a:t>
                </a:r>
              </a:p>
              <a:p>
                <a:endParaRPr lang="en-GB" sz="1600" dirty="0"/>
              </a:p>
              <a:p>
                <a:r>
                  <a:rPr lang="en-GB" sz="1600" dirty="0"/>
                  <a:t>Before we do this, we need to understand how to find a </a:t>
                </a:r>
                <a:r>
                  <a:rPr lang="en-GB" sz="1600" b="1" dirty="0"/>
                  <a:t>definite integral</a:t>
                </a:r>
                <a:r>
                  <a:rPr lang="en-GB" sz="16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775520" y="764705"/>
                <a:ext cx="6234608" cy="2800767"/>
              </a:xfrm>
              <a:prstGeom prst="rect">
                <a:avLst/>
              </a:prstGeom>
              <a:blipFill>
                <a:blip r:embed="rId2"/>
                <a:stretch>
                  <a:fillRect l="-489" t="-652" r="-196" b="-1739"/>
                </a:stretch>
              </a:blipFill>
            </p:spPr>
            <p:txBody>
              <a:bodyPr/>
              <a:lstStyle/>
              <a:p>
                <a:r>
                  <a:rPr lang="en-GB">
                    <a:noFill/>
                  </a:rPr>
                  <a:t> </a:t>
                </a:r>
              </a:p>
            </p:txBody>
          </p:sp>
        </mc:Fallback>
      </mc:AlternateContent>
      <p:cxnSp>
        <p:nvCxnSpPr>
          <p:cNvPr id="7" name="Straight Arrow Connector 6"/>
          <p:cNvCxnSpPr/>
          <p:nvPr/>
        </p:nvCxnSpPr>
        <p:spPr>
          <a:xfrm flipV="1">
            <a:off x="8400256" y="1988840"/>
            <a:ext cx="0" cy="1152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8400256" y="3140968"/>
            <a:ext cx="17281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rot="16200000">
            <a:off x="7680811" y="2410311"/>
            <a:ext cx="1048762" cy="369332"/>
          </a:xfrm>
          <a:prstGeom prst="rect">
            <a:avLst/>
          </a:prstGeom>
          <a:noFill/>
        </p:spPr>
        <p:txBody>
          <a:bodyPr wrap="square" rtlCol="0">
            <a:spAutoFit/>
          </a:bodyPr>
          <a:lstStyle/>
          <a:p>
            <a:pPr algn="ctr"/>
            <a:r>
              <a:rPr lang="en-GB" dirty="0">
                <a:latin typeface="+mj-lt"/>
              </a:rPr>
              <a:t>speed</a:t>
            </a:r>
            <a:endParaRPr lang="en-GB" dirty="0"/>
          </a:p>
        </p:txBody>
      </p:sp>
      <p:sp>
        <p:nvSpPr>
          <p:cNvPr id="12" name="TextBox 11"/>
          <p:cNvSpPr txBox="1"/>
          <p:nvPr/>
        </p:nvSpPr>
        <p:spPr>
          <a:xfrm>
            <a:off x="8631505" y="3154551"/>
            <a:ext cx="1048762" cy="369332"/>
          </a:xfrm>
          <a:prstGeom prst="rect">
            <a:avLst/>
          </a:prstGeom>
          <a:noFill/>
        </p:spPr>
        <p:txBody>
          <a:bodyPr wrap="square" rtlCol="0">
            <a:spAutoFit/>
          </a:bodyPr>
          <a:lstStyle/>
          <a:p>
            <a:pPr algn="ctr"/>
            <a:r>
              <a:rPr lang="en-GB" dirty="0">
                <a:latin typeface="+mj-lt"/>
              </a:rPr>
              <a:t>time</a:t>
            </a:r>
            <a:endParaRPr lang="en-GB" dirty="0"/>
          </a:p>
        </p:txBody>
      </p:sp>
      <p:sp>
        <p:nvSpPr>
          <p:cNvPr id="13" name="Freeform: Shape 12"/>
          <p:cNvSpPr/>
          <p:nvPr/>
        </p:nvSpPr>
        <p:spPr>
          <a:xfrm>
            <a:off x="8394700" y="2212394"/>
            <a:ext cx="1511300" cy="924507"/>
          </a:xfrm>
          <a:custGeom>
            <a:avLst/>
            <a:gdLst>
              <a:gd name="connsiteX0" fmla="*/ 0 w 1511300"/>
              <a:gd name="connsiteY0" fmla="*/ 924507 h 924507"/>
              <a:gd name="connsiteX1" fmla="*/ 647700 w 1511300"/>
              <a:gd name="connsiteY1" fmla="*/ 10107 h 924507"/>
              <a:gd name="connsiteX2" fmla="*/ 1117600 w 1511300"/>
              <a:gd name="connsiteY2" fmla="*/ 441907 h 924507"/>
              <a:gd name="connsiteX3" fmla="*/ 1511300 w 1511300"/>
              <a:gd name="connsiteY3" fmla="*/ 543507 h 924507"/>
            </a:gdLst>
            <a:ahLst/>
            <a:cxnLst>
              <a:cxn ang="0">
                <a:pos x="connsiteX0" y="connsiteY0"/>
              </a:cxn>
              <a:cxn ang="0">
                <a:pos x="connsiteX1" y="connsiteY1"/>
              </a:cxn>
              <a:cxn ang="0">
                <a:pos x="connsiteX2" y="connsiteY2"/>
              </a:cxn>
              <a:cxn ang="0">
                <a:pos x="connsiteX3" y="connsiteY3"/>
              </a:cxn>
            </a:cxnLst>
            <a:rect l="l" t="t" r="r" b="b"/>
            <a:pathLst>
              <a:path w="1511300" h="924507">
                <a:moveTo>
                  <a:pt x="0" y="924507"/>
                </a:moveTo>
                <a:cubicBezTo>
                  <a:pt x="230716" y="507523"/>
                  <a:pt x="461433" y="90540"/>
                  <a:pt x="647700" y="10107"/>
                </a:cubicBezTo>
                <a:cubicBezTo>
                  <a:pt x="833967" y="-70326"/>
                  <a:pt x="973667" y="353007"/>
                  <a:pt x="1117600" y="441907"/>
                </a:cubicBezTo>
                <a:cubicBezTo>
                  <a:pt x="1261533" y="530807"/>
                  <a:pt x="1386416" y="537157"/>
                  <a:pt x="1511300" y="5435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6" name="TextBox 15"/>
              <p:cNvSpPr txBox="1"/>
              <p:nvPr/>
            </p:nvSpPr>
            <p:spPr>
              <a:xfrm>
                <a:off x="8469784" y="2761878"/>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i="1">
                          <a:solidFill>
                            <a:schemeClr val="bg1"/>
                          </a:solidFill>
                          <a:latin typeface="Cambria Math" panose="02040503050406030204" pitchFamily="18" charset="0"/>
                        </a:rPr>
                        <m:t>𝐴𝑟𝑒𝑎</m:t>
                      </m:r>
                      <m:r>
                        <a:rPr lang="en-GB" sz="1100" i="1">
                          <a:solidFill>
                            <a:schemeClr val="bg1"/>
                          </a:solidFill>
                          <a:latin typeface="Cambria Math" panose="02040503050406030204" pitchFamily="18" charset="0"/>
                        </a:rPr>
                        <m:t>=</m:t>
                      </m:r>
                      <m:r>
                        <a:rPr lang="en-GB" sz="1100" i="1">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8469784" y="2761878"/>
                <a:ext cx="1317154" cy="26161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964711" y="4647058"/>
                <a:ext cx="2296491" cy="10645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nary>
                        <m:naryPr>
                          <m:ctrlPr>
                            <a:rPr lang="en-GB" sz="2800" i="1">
                              <a:latin typeface="Cambria Math" panose="02040503050406030204" pitchFamily="18" charset="0"/>
                            </a:rPr>
                          </m:ctrlPr>
                        </m:naryPr>
                        <m:sub>
                          <m:r>
                            <a:rPr lang="en-GB" sz="2800" i="1">
                              <a:latin typeface="Cambria Math" panose="02040503050406030204" pitchFamily="18" charset="0"/>
                            </a:rPr>
                            <m:t>1</m:t>
                          </m:r>
                        </m:sub>
                        <m:sup>
                          <m:r>
                            <a:rPr lang="en-GB" sz="2800" i="1">
                              <a:latin typeface="Cambria Math" panose="02040503050406030204" pitchFamily="18" charset="0"/>
                            </a:rPr>
                            <m:t>5</m:t>
                          </m:r>
                        </m:sup>
                        <m:e>
                          <m:r>
                            <a:rPr lang="en-GB" sz="2800" i="1">
                              <a:latin typeface="Cambria Math" panose="02040503050406030204" pitchFamily="18" charset="0"/>
                            </a:rPr>
                            <m:t>4</m:t>
                          </m:r>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3</m:t>
                              </m:r>
                            </m:sup>
                          </m:sSup>
                          <m:r>
                            <a:rPr lang="en-GB" sz="2800" i="1">
                              <a:latin typeface="Cambria Math" panose="02040503050406030204" pitchFamily="18" charset="0"/>
                            </a:rPr>
                            <m:t> </m:t>
                          </m:r>
                          <m:r>
                            <a:rPr lang="en-GB" sz="2800" i="1">
                              <a:latin typeface="Cambria Math" panose="02040503050406030204" pitchFamily="18" charset="0"/>
                            </a:rPr>
                            <m:t>𝑑𝑥</m:t>
                          </m:r>
                        </m:e>
                      </m:nary>
                      <m:r>
                        <a:rPr lang="en-GB" sz="2800" i="1">
                          <a:latin typeface="Cambria Math" panose="02040503050406030204" pitchFamily="18" charset="0"/>
                        </a:rPr>
                        <m:t>=</m:t>
                      </m:r>
                    </m:oMath>
                  </m:oMathPara>
                </a14:m>
                <a:endParaRPr lang="en-GB" sz="28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964711" y="4647058"/>
                <a:ext cx="2296491" cy="106458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740901" y="3591255"/>
                <a:ext cx="3386922" cy="52322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These are known as </a:t>
                </a:r>
                <a:r>
                  <a:rPr lang="en-GB" sz="1400" b="1" dirty="0"/>
                  <a:t>limits</a:t>
                </a:r>
                <a:r>
                  <a:rPr lang="en-GB" sz="1400" dirty="0"/>
                  <a:t>, which give the values of </a:t>
                </a:r>
                <a14:m>
                  <m:oMath xmlns:m="http://schemas.openxmlformats.org/officeDocument/2006/math">
                    <m:r>
                      <a:rPr lang="en-GB" sz="1400" i="1">
                        <a:latin typeface="Cambria Math" panose="02040503050406030204" pitchFamily="18" charset="0"/>
                      </a:rPr>
                      <m:t>𝑥</m:t>
                    </m:r>
                  </m:oMath>
                </a14:m>
                <a:r>
                  <a:rPr lang="en-GB" sz="1400" dirty="0"/>
                  <a:t> we’re finding the area between.</a:t>
                </a:r>
              </a:p>
            </p:txBody>
          </p:sp>
        </mc:Choice>
        <mc:Fallback xmlns="">
          <p:sp>
            <p:nvSpPr>
              <p:cNvPr id="18" name="TextBox 17"/>
              <p:cNvSpPr txBox="1">
                <a:spLocks noRot="1" noChangeAspect="1" noMove="1" noResize="1" noEditPoints="1" noAdjustHandles="1" noChangeArrowheads="1" noChangeShapeType="1" noTextEdit="1"/>
              </p:cNvSpPr>
              <p:nvPr/>
            </p:nvSpPr>
            <p:spPr>
              <a:xfrm>
                <a:off x="2740901" y="3591255"/>
                <a:ext cx="3386922" cy="523220"/>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20" name="Straight Arrow Connector 19"/>
          <p:cNvCxnSpPr/>
          <p:nvPr/>
        </p:nvCxnSpPr>
        <p:spPr>
          <a:xfrm flipV="1">
            <a:off x="8151231" y="4642236"/>
            <a:ext cx="0" cy="1152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8151231" y="5794364"/>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7965186" y="4320758"/>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7965186" y="4320758"/>
                <a:ext cx="392406" cy="307777"/>
              </a:xfrm>
              <a:prstGeom prst="rect">
                <a:avLst/>
              </a:prstGeom>
              <a:blipFill>
                <a:blip r:embed="rId6"/>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9792180" y="5636498"/>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9792180" y="5636498"/>
                <a:ext cx="377816"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8220759" y="5415274"/>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i="1">
                          <a:solidFill>
                            <a:schemeClr val="bg1"/>
                          </a:solidFill>
                          <a:latin typeface="Cambria Math" panose="02040503050406030204" pitchFamily="18" charset="0"/>
                        </a:rPr>
                        <m:t>𝐴𝑟𝑒𝑎</m:t>
                      </m:r>
                      <m:r>
                        <a:rPr lang="en-GB" sz="1100" i="1">
                          <a:solidFill>
                            <a:schemeClr val="bg1"/>
                          </a:solidFill>
                          <a:latin typeface="Cambria Math" panose="02040503050406030204" pitchFamily="18" charset="0"/>
                        </a:rPr>
                        <m:t>=</m:t>
                      </m:r>
                      <m:r>
                        <a:rPr lang="en-GB" sz="1100" i="1">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8220759" y="5415274"/>
                <a:ext cx="1317154" cy="261610"/>
              </a:xfrm>
              <a:prstGeom prst="rect">
                <a:avLst/>
              </a:prstGeom>
              <a:blipFill>
                <a:blip r:embed="rId3"/>
                <a:stretch>
                  <a:fillRect/>
                </a:stretch>
              </a:blipFill>
            </p:spPr>
            <p:txBody>
              <a:bodyPr/>
              <a:lstStyle/>
              <a:p>
                <a:r>
                  <a:rPr lang="en-GB">
                    <a:noFill/>
                  </a:rPr>
                  <a:t> </a:t>
                </a:r>
              </a:p>
            </p:txBody>
          </p:sp>
        </mc:Fallback>
      </mc:AlternateContent>
      <p:sp>
        <p:nvSpPr>
          <p:cNvPr id="26" name="Freeform: Shape 25"/>
          <p:cNvSpPr/>
          <p:nvPr/>
        </p:nvSpPr>
        <p:spPr>
          <a:xfrm>
            <a:off x="8153401" y="4533900"/>
            <a:ext cx="1457325" cy="1257300"/>
          </a:xfrm>
          <a:custGeom>
            <a:avLst/>
            <a:gdLst>
              <a:gd name="connsiteX0" fmla="*/ 0 w 1457325"/>
              <a:gd name="connsiteY0" fmla="*/ 1257300 h 1257300"/>
              <a:gd name="connsiteX1" fmla="*/ 552450 w 1457325"/>
              <a:gd name="connsiteY1" fmla="*/ 990600 h 1257300"/>
              <a:gd name="connsiteX2" fmla="*/ 1066800 w 1457325"/>
              <a:gd name="connsiteY2" fmla="*/ 590550 h 1257300"/>
              <a:gd name="connsiteX3" fmla="*/ 1457325 w 1457325"/>
              <a:gd name="connsiteY3" fmla="*/ 0 h 1257300"/>
            </a:gdLst>
            <a:ahLst/>
            <a:cxnLst>
              <a:cxn ang="0">
                <a:pos x="connsiteX0" y="connsiteY0"/>
              </a:cxn>
              <a:cxn ang="0">
                <a:pos x="connsiteX1" y="connsiteY1"/>
              </a:cxn>
              <a:cxn ang="0">
                <a:pos x="connsiteX2" y="connsiteY2"/>
              </a:cxn>
              <a:cxn ang="0">
                <a:pos x="connsiteX3" y="connsiteY3"/>
              </a:cxn>
            </a:cxnLst>
            <a:rect l="l" t="t" r="r" b="b"/>
            <a:pathLst>
              <a:path w="1457325" h="1257300">
                <a:moveTo>
                  <a:pt x="0" y="1257300"/>
                </a:moveTo>
                <a:cubicBezTo>
                  <a:pt x="187325" y="1179512"/>
                  <a:pt x="374650" y="1101725"/>
                  <a:pt x="552450" y="990600"/>
                </a:cubicBezTo>
                <a:cubicBezTo>
                  <a:pt x="730250" y="879475"/>
                  <a:pt x="915988" y="755650"/>
                  <a:pt x="1066800" y="590550"/>
                </a:cubicBezTo>
                <a:cubicBezTo>
                  <a:pt x="1217612" y="425450"/>
                  <a:pt x="1337468" y="212725"/>
                  <a:pt x="14573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reeform: Shape 26"/>
          <p:cNvSpPr/>
          <p:nvPr/>
        </p:nvSpPr>
        <p:spPr>
          <a:xfrm>
            <a:off x="8715375" y="4724400"/>
            <a:ext cx="800100" cy="1066800"/>
          </a:xfrm>
          <a:custGeom>
            <a:avLst/>
            <a:gdLst>
              <a:gd name="connsiteX0" fmla="*/ 0 w 800100"/>
              <a:gd name="connsiteY0" fmla="*/ 1066800 h 1066800"/>
              <a:gd name="connsiteX1" fmla="*/ 0 w 800100"/>
              <a:gd name="connsiteY1" fmla="*/ 809625 h 1066800"/>
              <a:gd name="connsiteX2" fmla="*/ 257175 w 800100"/>
              <a:gd name="connsiteY2" fmla="*/ 619125 h 1066800"/>
              <a:gd name="connsiteX3" fmla="*/ 457200 w 800100"/>
              <a:gd name="connsiteY3" fmla="*/ 447675 h 1066800"/>
              <a:gd name="connsiteX4" fmla="*/ 609600 w 800100"/>
              <a:gd name="connsiteY4" fmla="*/ 285750 h 1066800"/>
              <a:gd name="connsiteX5" fmla="*/ 800100 w 800100"/>
              <a:gd name="connsiteY5" fmla="*/ 0 h 1066800"/>
              <a:gd name="connsiteX6" fmla="*/ 800100 w 800100"/>
              <a:gd name="connsiteY6" fmla="*/ 1066800 h 1066800"/>
              <a:gd name="connsiteX7" fmla="*/ 0 w 800100"/>
              <a:gd name="connsiteY7"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100" h="1066800">
                <a:moveTo>
                  <a:pt x="0" y="1066800"/>
                </a:moveTo>
                <a:lnTo>
                  <a:pt x="0" y="809625"/>
                </a:lnTo>
                <a:lnTo>
                  <a:pt x="257175" y="619125"/>
                </a:lnTo>
                <a:lnTo>
                  <a:pt x="457200" y="447675"/>
                </a:lnTo>
                <a:lnTo>
                  <a:pt x="609600" y="285750"/>
                </a:lnTo>
                <a:lnTo>
                  <a:pt x="800100" y="0"/>
                </a:lnTo>
                <a:lnTo>
                  <a:pt x="800100" y="1066800"/>
                </a:lnTo>
                <a:lnTo>
                  <a:pt x="0" y="1066800"/>
                </a:lnTo>
                <a:close/>
              </a:path>
            </a:pathLst>
          </a:cu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8" name="TextBox 27"/>
              <p:cNvSpPr txBox="1"/>
              <p:nvPr/>
            </p:nvSpPr>
            <p:spPr>
              <a:xfrm>
                <a:off x="8543157" y="579038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1</m:t>
                      </m:r>
                    </m:oMath>
                  </m:oMathPara>
                </a14:m>
                <a:endParaRPr lang="en-GB"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8543157" y="5790386"/>
                <a:ext cx="377816" cy="3077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9315320" y="579038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5</m:t>
                      </m:r>
                    </m:oMath>
                  </m:oMathPara>
                </a14:m>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9315320" y="5790386"/>
                <a:ext cx="377816" cy="30777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9610725" y="4451836"/>
                <a:ext cx="856064"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=4</m:t>
                      </m:r>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3</m:t>
                          </m:r>
                        </m:sup>
                      </m:sSup>
                    </m:oMath>
                  </m:oMathPara>
                </a14:m>
                <a:endParaRPr lang="en-GB" sz="1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9610725" y="4451836"/>
                <a:ext cx="856064" cy="307777"/>
              </a:xfrm>
              <a:prstGeom prst="rect">
                <a:avLst/>
              </a:prstGeom>
              <a:blipFill>
                <a:blip r:embed="rId10"/>
                <a:stretch>
                  <a:fillRect b="-196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780004" y="5331592"/>
                <a:ext cx="70226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i="1">
                          <a:solidFill>
                            <a:schemeClr val="bg1"/>
                          </a:solidFill>
                          <a:latin typeface="Cambria Math" panose="02040503050406030204" pitchFamily="18" charset="0"/>
                        </a:rPr>
                        <m:t>?</m:t>
                      </m:r>
                    </m:oMath>
                  </m:oMathPara>
                </a14:m>
                <a:endParaRPr lang="en-GB" sz="1100" dirty="0">
                  <a:solidFill>
                    <a:schemeClr val="bg1"/>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780004" y="5331592"/>
                <a:ext cx="702260" cy="400110"/>
              </a:xfrm>
              <a:prstGeom prst="rect">
                <a:avLst/>
              </a:prstGeom>
              <a:blipFill>
                <a:blip r:embed="rId11"/>
                <a:stretch>
                  <a:fillRect/>
                </a:stretch>
              </a:blipFill>
            </p:spPr>
            <p:txBody>
              <a:bodyPr/>
              <a:lstStyle/>
              <a:p>
                <a:r>
                  <a:rPr lang="en-GB">
                    <a:noFill/>
                  </a:rPr>
                  <a:t> </a:t>
                </a:r>
              </a:p>
            </p:txBody>
          </p:sp>
        </mc:Fallback>
      </mc:AlternateContent>
      <p:cxnSp>
        <p:nvCxnSpPr>
          <p:cNvPr id="33" name="Straight Arrow Connector 32"/>
          <p:cNvCxnSpPr/>
          <p:nvPr/>
        </p:nvCxnSpPr>
        <p:spPr>
          <a:xfrm>
            <a:off x="2884969" y="4114802"/>
            <a:ext cx="372139" cy="5741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6127898" y="3785190"/>
            <a:ext cx="2902688" cy="361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p:cNvSpPr txBox="1"/>
          <p:nvPr/>
        </p:nvSpPr>
        <p:spPr>
          <a:xfrm>
            <a:off x="3799368" y="4140574"/>
            <a:ext cx="3902148" cy="73866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We integrate as normal, but put expression in </a:t>
            </a:r>
            <a:r>
              <a:rPr lang="en-GB" sz="1400" b="1" dirty="0"/>
              <a:t>square brackets</a:t>
            </a:r>
            <a:r>
              <a:rPr lang="en-GB" sz="1400" dirty="0"/>
              <a:t>, meaning </a:t>
            </a:r>
            <a:r>
              <a:rPr lang="en-GB" sz="1400" b="1" dirty="0"/>
              <a:t>we still need to evaluate the integrated expression using the limits</a:t>
            </a:r>
            <a:r>
              <a:rPr lang="en-GB" sz="1400" dirty="0"/>
              <a:t>.</a:t>
            </a:r>
          </a:p>
        </p:txBody>
      </p:sp>
      <p:cxnSp>
        <p:nvCxnSpPr>
          <p:cNvPr id="44" name="Straight Arrow Connector 43"/>
          <p:cNvCxnSpPr/>
          <p:nvPr/>
        </p:nvCxnSpPr>
        <p:spPr>
          <a:xfrm>
            <a:off x="2853070" y="4136065"/>
            <a:ext cx="233916" cy="11802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flipH="1">
            <a:off x="6000307" y="4890977"/>
            <a:ext cx="606056" cy="2339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a:off x="6142736" y="6182213"/>
                <a:ext cx="3902148" cy="52322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Write </a:t>
                </a:r>
                <a14:m>
                  <m:oMath xmlns:m="http://schemas.openxmlformats.org/officeDocument/2006/math">
                    <m:d>
                      <m:dPr>
                        <m:ctrlPr>
                          <a:rPr lang="en-GB" sz="1400" i="1">
                            <a:latin typeface="Cambria Math" panose="02040503050406030204" pitchFamily="18" charset="0"/>
                          </a:rPr>
                        </m:ctrlPr>
                      </m:dPr>
                      <m:e>
                        <m:r>
                          <a:rPr lang="en-GB" sz="1400" i="1">
                            <a:latin typeface="Cambria Math" panose="02040503050406030204" pitchFamily="18" charset="0"/>
                          </a:rPr>
                          <m:t>…</m:t>
                        </m:r>
                      </m:e>
                    </m:d>
                    <m:r>
                      <a:rPr lang="en-GB" sz="1400" i="1">
                        <a:latin typeface="Cambria Math" panose="02040503050406030204" pitchFamily="18" charset="0"/>
                      </a:rPr>
                      <m:t>−(…)</m:t>
                    </m:r>
                  </m:oMath>
                </a14:m>
                <a:r>
                  <a:rPr lang="en-GB" sz="1400" dirty="0"/>
                  <a:t> and evaluate the expression for each of the limits, top one first.</a:t>
                </a:r>
              </a:p>
            </p:txBody>
          </p:sp>
        </mc:Choice>
        <mc:Fallback xmlns="">
          <p:sp>
            <p:nvSpPr>
              <p:cNvPr id="49" name="TextBox 48"/>
              <p:cNvSpPr txBox="1">
                <a:spLocks noRot="1" noChangeAspect="1" noMove="1" noResize="1" noEditPoints="1" noAdjustHandles="1" noChangeArrowheads="1" noChangeShapeType="1" noTextEdit="1"/>
              </p:cNvSpPr>
              <p:nvPr/>
            </p:nvSpPr>
            <p:spPr>
              <a:xfrm>
                <a:off x="6142736" y="6182213"/>
                <a:ext cx="3902148" cy="523220"/>
              </a:xfrm>
              <a:prstGeom prst="rect">
                <a:avLst/>
              </a:prstGeom>
              <a:blipFill>
                <a:blip r:embed="rId1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51" name="Straight Arrow Connector 50"/>
          <p:cNvCxnSpPr/>
          <p:nvPr/>
        </p:nvCxnSpPr>
        <p:spPr>
          <a:xfrm flipH="1" flipV="1">
            <a:off x="6914708" y="5869173"/>
            <a:ext cx="690559" cy="3130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3" name="TextBox 52"/>
              <p:cNvSpPr txBox="1"/>
              <p:nvPr/>
            </p:nvSpPr>
            <p:spPr>
              <a:xfrm>
                <a:off x="4983621" y="4934629"/>
                <a:ext cx="1196738" cy="53700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Sup>
                        <m:sSubSupPr>
                          <m:ctrlPr>
                            <a:rPr lang="en-GB" sz="2800" i="1">
                              <a:latin typeface="Cambria Math" panose="02040503050406030204" pitchFamily="18" charset="0"/>
                            </a:rPr>
                          </m:ctrlPr>
                        </m:sSubSupPr>
                        <m:e>
                          <m:d>
                            <m:dPr>
                              <m:begChr m:val="["/>
                              <m:endChr m:val="]"/>
                              <m:ctrlPr>
                                <a:rPr lang="en-GB" sz="2800" i="1">
                                  <a:latin typeface="Cambria Math" panose="02040503050406030204" pitchFamily="18" charset="0"/>
                                </a:rPr>
                              </m:ctrlPr>
                            </m:dPr>
                            <m:e>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4</m:t>
                                  </m:r>
                                </m:sup>
                              </m:sSup>
                            </m:e>
                          </m:d>
                        </m:e>
                        <m:sub>
                          <m:r>
                            <a:rPr lang="en-GB" sz="2800" i="1">
                              <a:latin typeface="Cambria Math" panose="02040503050406030204" pitchFamily="18" charset="0"/>
                            </a:rPr>
                            <m:t>1</m:t>
                          </m:r>
                        </m:sub>
                        <m:sup>
                          <m:r>
                            <a:rPr lang="en-GB" sz="2800" i="1">
                              <a:latin typeface="Cambria Math" panose="02040503050406030204" pitchFamily="18" charset="0"/>
                            </a:rPr>
                            <m:t>5</m:t>
                          </m:r>
                        </m:sup>
                      </m:sSubSup>
                    </m:oMath>
                  </m:oMathPara>
                </a14:m>
                <a:br>
                  <a:rPr lang="en-GB" sz="2800" dirty="0"/>
                </a:br>
                <a:endParaRPr lang="en-GB" sz="2800" dirty="0"/>
              </a:p>
            </p:txBody>
          </p:sp>
        </mc:Choice>
        <mc:Fallback xmlns="">
          <p:sp>
            <p:nvSpPr>
              <p:cNvPr id="53" name="TextBox 52"/>
              <p:cNvSpPr txBox="1">
                <a:spLocks noRot="1" noChangeAspect="1" noMove="1" noResize="1" noEditPoints="1" noAdjustHandles="1" noChangeArrowheads="1" noChangeShapeType="1" noTextEdit="1"/>
              </p:cNvSpPr>
              <p:nvPr/>
            </p:nvSpPr>
            <p:spPr>
              <a:xfrm>
                <a:off x="4983621" y="4934629"/>
                <a:ext cx="1196738" cy="537006"/>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4564632" y="5403384"/>
                <a:ext cx="2721036" cy="95410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2800" i="1">
                          <a:latin typeface="Cambria Math" panose="02040503050406030204" pitchFamily="18" charset="0"/>
                        </a:rPr>
                        <m:t>=</m:t>
                      </m:r>
                      <m:d>
                        <m:dPr>
                          <m:ctrlPr>
                            <a:rPr lang="en-GB" sz="2800" i="1">
                              <a:latin typeface="Cambria Math" panose="02040503050406030204" pitchFamily="18" charset="0"/>
                            </a:rPr>
                          </m:ctrlPr>
                        </m:dPr>
                        <m:e>
                          <m:sSup>
                            <m:sSupPr>
                              <m:ctrlPr>
                                <a:rPr lang="en-GB" sz="2800" i="1">
                                  <a:latin typeface="Cambria Math" panose="02040503050406030204" pitchFamily="18" charset="0"/>
                                </a:rPr>
                              </m:ctrlPr>
                            </m:sSupPr>
                            <m:e>
                              <m:r>
                                <a:rPr lang="en-GB" sz="2800" i="1">
                                  <a:latin typeface="Cambria Math" panose="02040503050406030204" pitchFamily="18" charset="0"/>
                                </a:rPr>
                                <m:t>5</m:t>
                              </m:r>
                            </m:e>
                            <m:sup>
                              <m:r>
                                <a:rPr lang="en-GB" sz="2800" i="1">
                                  <a:latin typeface="Cambria Math" panose="02040503050406030204" pitchFamily="18" charset="0"/>
                                </a:rPr>
                                <m:t>4</m:t>
                              </m:r>
                            </m:sup>
                          </m:sSup>
                        </m:e>
                      </m:d>
                      <m:r>
                        <a:rPr lang="en-GB" sz="2800" i="1">
                          <a:latin typeface="Cambria Math" panose="02040503050406030204" pitchFamily="18" charset="0"/>
                        </a:rPr>
                        <m:t>−</m:t>
                      </m:r>
                      <m:d>
                        <m:dPr>
                          <m:ctrlPr>
                            <a:rPr lang="en-GB" sz="2800" i="1">
                              <a:latin typeface="Cambria Math" panose="02040503050406030204" pitchFamily="18" charset="0"/>
                            </a:rPr>
                          </m:ctrlPr>
                        </m:dPr>
                        <m:e>
                          <m:sSup>
                            <m:sSupPr>
                              <m:ctrlPr>
                                <a:rPr lang="en-GB" sz="2800" i="1">
                                  <a:latin typeface="Cambria Math" panose="02040503050406030204" pitchFamily="18" charset="0"/>
                                </a:rPr>
                              </m:ctrlPr>
                            </m:sSupPr>
                            <m:e>
                              <m:r>
                                <a:rPr lang="en-GB" sz="2800" i="1">
                                  <a:latin typeface="Cambria Math" panose="02040503050406030204" pitchFamily="18" charset="0"/>
                                </a:rPr>
                                <m:t>1</m:t>
                              </m:r>
                            </m:e>
                            <m:sup>
                              <m:r>
                                <a:rPr lang="en-GB" sz="2800" i="1">
                                  <a:latin typeface="Cambria Math" panose="02040503050406030204" pitchFamily="18" charset="0"/>
                                </a:rPr>
                                <m:t>4</m:t>
                              </m:r>
                            </m:sup>
                          </m:sSup>
                        </m:e>
                      </m:d>
                    </m:oMath>
                    <m:oMath xmlns:m="http://schemas.openxmlformats.org/officeDocument/2006/math">
                      <m:r>
                        <a:rPr lang="en-GB" sz="2800" i="1">
                          <a:latin typeface="Cambria Math" panose="02040503050406030204" pitchFamily="18" charset="0"/>
                        </a:rPr>
                        <m:t>=624</m:t>
                      </m:r>
                    </m:oMath>
                  </m:oMathPara>
                </a14:m>
                <a:endParaRPr lang="en-GB" sz="2800" dirty="0"/>
              </a:p>
            </p:txBody>
          </p:sp>
        </mc:Choice>
        <mc:Fallback xmlns="">
          <p:sp>
            <p:nvSpPr>
              <p:cNvPr id="54" name="TextBox 53"/>
              <p:cNvSpPr txBox="1">
                <a:spLocks noRot="1" noChangeAspect="1" noMove="1" noResize="1" noEditPoints="1" noAdjustHandles="1" noChangeArrowheads="1" noChangeShapeType="1" noTextEdit="1"/>
              </p:cNvSpPr>
              <p:nvPr/>
            </p:nvSpPr>
            <p:spPr>
              <a:xfrm>
                <a:off x="4564632" y="5403384"/>
                <a:ext cx="2721036" cy="954107"/>
              </a:xfrm>
              <a:prstGeom prst="rect">
                <a:avLst/>
              </a:prstGeom>
              <a:blipFill>
                <a:blip r:embed="rId1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0605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500"/>
                                        <p:tgtEl>
                                          <p:spTgt spid="53"/>
                                        </p:tgtEl>
                                      </p:cBhvr>
                                    </p:animEffect>
                                  </p:childTnLst>
                                </p:cTn>
                              </p:par>
                            </p:childTnLst>
                          </p:cTn>
                        </p:par>
                        <p:par>
                          <p:cTn id="59" fill="hold">
                            <p:stCondLst>
                              <p:cond delay="500"/>
                            </p:stCondLst>
                            <p:childTnLst>
                              <p:par>
                                <p:cTn id="60" presetID="10" presetClass="entr" presetSubtype="0" fill="hold" nodeType="after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50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500"/>
                                        <p:tgtEl>
                                          <p:spTgt spid="4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500"/>
                                        <p:tgtEl>
                                          <p:spTgt spid="54"/>
                                        </p:tgtEl>
                                      </p:cBhvr>
                                    </p:animEffect>
                                  </p:childTnLst>
                                </p:cTn>
                              </p:par>
                            </p:childTnLst>
                          </p:cTn>
                        </p:par>
                        <p:par>
                          <p:cTn id="71" fill="hold">
                            <p:stCondLst>
                              <p:cond delay="500"/>
                            </p:stCondLst>
                            <p:childTnLst>
                              <p:par>
                                <p:cTn id="72" presetID="10" presetClass="entr" presetSubtype="0" fill="hold" nodeType="after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500"/>
                                        <p:tgtEl>
                                          <p:spTgt spid="5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22" grpId="0"/>
      <p:bldP spid="23" grpId="0"/>
      <p:bldP spid="25" grpId="0"/>
      <p:bldP spid="26" grpId="0" animBg="1"/>
      <p:bldP spid="27" grpId="0" animBg="1"/>
      <p:bldP spid="28" grpId="0"/>
      <p:bldP spid="29" grpId="0"/>
      <p:bldP spid="30" grpId="0"/>
      <p:bldP spid="31" grpId="0"/>
      <p:bldP spid="41" grpId="0" animBg="1"/>
      <p:bldP spid="49" grpId="0" animBg="1"/>
      <p:bldP spid="53" grpId="0"/>
      <p:bldP spid="54" grpId="0"/>
    </p:bldLst>
  </p:timing>
</p:sld>
</file>

<file path=ppt/c13/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Another 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2167268" y="1106416"/>
                <a:ext cx="5236537" cy="333661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nary>
                        <m:naryPr>
                          <m:ctrlPr>
                            <a:rPr lang="en-GB" sz="2800" i="1">
                              <a:latin typeface="Cambria Math" panose="02040503050406030204" pitchFamily="18" charset="0"/>
                            </a:rPr>
                          </m:ctrlPr>
                        </m:naryPr>
                        <m:sub>
                          <m:r>
                            <m:rPr>
                              <m:brk m:alnAt="23"/>
                            </m:rPr>
                            <a:rPr lang="en-GB" sz="2800" i="1">
                              <a:latin typeface="Cambria Math" panose="02040503050406030204" pitchFamily="18" charset="0"/>
                            </a:rPr>
                            <m:t>−</m:t>
                          </m:r>
                          <m:r>
                            <a:rPr lang="en-GB" sz="2800" i="1">
                              <a:latin typeface="Cambria Math" panose="02040503050406030204" pitchFamily="18" charset="0"/>
                            </a:rPr>
                            <m:t>3</m:t>
                          </m:r>
                        </m:sub>
                        <m:sup>
                          <m:r>
                            <a:rPr lang="en-GB" sz="2800" i="1">
                              <a:latin typeface="Cambria Math" panose="02040503050406030204" pitchFamily="18" charset="0"/>
                            </a:rPr>
                            <m:t>3</m:t>
                          </m:r>
                        </m:sup>
                        <m:e>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2</m:t>
                              </m:r>
                            </m:sup>
                          </m:sSup>
                          <m:r>
                            <a:rPr lang="en-GB" sz="2800" i="1">
                              <a:latin typeface="Cambria Math" panose="02040503050406030204" pitchFamily="18" charset="0"/>
                            </a:rPr>
                            <m:t>+1 </m:t>
                          </m:r>
                          <m:r>
                            <a:rPr lang="en-GB" sz="2800" i="1">
                              <a:latin typeface="Cambria Math" panose="02040503050406030204" pitchFamily="18" charset="0"/>
                            </a:rPr>
                            <m:t>𝑑𝑥</m:t>
                          </m:r>
                        </m:e>
                      </m:nary>
                      <m:r>
                        <a:rPr lang="en-GB" sz="2800" i="1">
                          <a:latin typeface="Cambria Math" panose="02040503050406030204" pitchFamily="18" charset="0"/>
                        </a:rPr>
                        <m:t>=</m:t>
                      </m:r>
                      <m:sSubSup>
                        <m:sSubSupPr>
                          <m:ctrlPr>
                            <a:rPr lang="en-GB" sz="2800" i="1">
                              <a:latin typeface="Cambria Math" panose="02040503050406030204" pitchFamily="18" charset="0"/>
                            </a:rPr>
                          </m:ctrlPr>
                        </m:sSubSupPr>
                        <m:e>
                          <m:d>
                            <m:dPr>
                              <m:begChr m:val="["/>
                              <m:endChr m:val="]"/>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3</m:t>
                                  </m:r>
                                </m:den>
                              </m:f>
                              <m:sSup>
                                <m:sSupPr>
                                  <m:ctrlPr>
                                    <a:rPr lang="en-GB" sz="2800" i="1">
                                      <a:latin typeface="Cambria Math" panose="02040503050406030204" pitchFamily="18" charset="0"/>
                                    </a:rPr>
                                  </m:ctrlPr>
                                </m:sSupPr>
                                <m:e>
                                  <m:r>
                                    <a:rPr lang="en-GB" sz="2800" i="1">
                                      <a:latin typeface="Cambria Math" panose="02040503050406030204" pitchFamily="18" charset="0"/>
                                    </a:rPr>
                                    <m:t>𝑥</m:t>
                                  </m:r>
                                </m:e>
                                <m:sup>
                                  <m:r>
                                    <a:rPr lang="en-GB" sz="2800" i="1">
                                      <a:latin typeface="Cambria Math" panose="02040503050406030204" pitchFamily="18" charset="0"/>
                                    </a:rPr>
                                    <m:t>3</m:t>
                                  </m:r>
                                </m:sup>
                              </m:sSup>
                              <m:r>
                                <a:rPr lang="en-GB" sz="2800" i="1">
                                  <a:latin typeface="Cambria Math" panose="02040503050406030204" pitchFamily="18" charset="0"/>
                                </a:rPr>
                                <m:t>+</m:t>
                              </m:r>
                              <m:r>
                                <a:rPr lang="en-GB" sz="2800" i="1">
                                  <a:latin typeface="Cambria Math" panose="02040503050406030204" pitchFamily="18" charset="0"/>
                                </a:rPr>
                                <m:t>𝑥</m:t>
                              </m:r>
                            </m:e>
                          </m:d>
                        </m:e>
                        <m:sub>
                          <m:r>
                            <a:rPr lang="en-GB" sz="2800" i="1">
                              <a:latin typeface="Cambria Math" panose="02040503050406030204" pitchFamily="18" charset="0"/>
                            </a:rPr>
                            <m:t>−3</m:t>
                          </m:r>
                        </m:sub>
                        <m:sup>
                          <m:r>
                            <a:rPr lang="en-GB" sz="2800" i="1">
                              <a:latin typeface="Cambria Math" panose="02040503050406030204" pitchFamily="18" charset="0"/>
                            </a:rPr>
                            <m:t>3</m:t>
                          </m:r>
                        </m:sup>
                      </m:sSubSup>
                    </m:oMath>
                    <m:oMath xmlns:m="http://schemas.openxmlformats.org/officeDocument/2006/math">
                      <m:r>
                        <a:rPr lang="en-GB" sz="2800" i="1">
                          <a:latin typeface="Cambria Math" panose="02040503050406030204" pitchFamily="18" charset="0"/>
                        </a:rPr>
                        <m:t>                   =</m:t>
                      </m:r>
                      <m:d>
                        <m:dPr>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3</m:t>
                              </m:r>
                            </m:den>
                          </m:f>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3</m:t>
                                  </m:r>
                                </m:e>
                              </m:d>
                            </m:e>
                            <m:sup>
                              <m:r>
                                <a:rPr lang="en-GB" sz="2800" i="1">
                                  <a:latin typeface="Cambria Math" panose="02040503050406030204" pitchFamily="18" charset="0"/>
                                </a:rPr>
                                <m:t>3</m:t>
                              </m:r>
                            </m:sup>
                          </m:sSup>
                          <m:r>
                            <a:rPr lang="en-GB" sz="2800" i="1">
                              <a:latin typeface="Cambria Math" panose="02040503050406030204" pitchFamily="18" charset="0"/>
                            </a:rPr>
                            <m:t>+3</m:t>
                          </m:r>
                        </m:e>
                      </m:d>
                      <m:r>
                        <a:rPr lang="en-GB" sz="2800" i="1">
                          <a:latin typeface="Cambria Math" panose="02040503050406030204" pitchFamily="18" charset="0"/>
                        </a:rPr>
                        <m:t>−</m:t>
                      </m:r>
                      <m:d>
                        <m:dPr>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3</m:t>
                              </m:r>
                            </m:den>
                          </m:f>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−3</m:t>
                                  </m:r>
                                </m:e>
                              </m:d>
                            </m:e>
                            <m:sup>
                              <m:r>
                                <a:rPr lang="en-GB" sz="2800" i="1">
                                  <a:latin typeface="Cambria Math" panose="02040503050406030204" pitchFamily="18" charset="0"/>
                                </a:rPr>
                                <m:t>3</m:t>
                              </m:r>
                            </m:sup>
                          </m:sSup>
                          <m:r>
                            <a:rPr lang="en-GB" sz="2800" i="1">
                              <a:latin typeface="Cambria Math" panose="02040503050406030204" pitchFamily="18" charset="0"/>
                            </a:rPr>
                            <m:t>−3</m:t>
                          </m:r>
                        </m:e>
                      </m:d>
                    </m:oMath>
                    <m:oMath xmlns:m="http://schemas.openxmlformats.org/officeDocument/2006/math">
                      <m:r>
                        <a:rPr lang="en-GB" sz="2800" i="1">
                          <a:latin typeface="Cambria Math" panose="02040503050406030204" pitchFamily="18" charset="0"/>
                        </a:rPr>
                        <m:t>=12−−12</m:t>
                      </m:r>
                    </m:oMath>
                    <m:oMath xmlns:m="http://schemas.openxmlformats.org/officeDocument/2006/math">
                      <m:r>
                        <a:rPr lang="en-GB" sz="2800" i="1">
                          <a:latin typeface="Cambria Math" panose="02040503050406030204" pitchFamily="18" charset="0"/>
                        </a:rPr>
                        <m:t>=24</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167268" y="1106416"/>
                <a:ext cx="5236537" cy="3336619"/>
              </a:xfrm>
              <a:prstGeom prst="rect">
                <a:avLst/>
              </a:prstGeom>
              <a:blipFill>
                <a:blip r:embed="rId2"/>
                <a:stretch>
                  <a:fillRect/>
                </a:stretch>
              </a:blipFill>
            </p:spPr>
            <p:txBody>
              <a:bodyPr/>
              <a:lstStyle/>
              <a:p>
                <a:r>
                  <a:rPr lang="en-GB">
                    <a:noFill/>
                  </a:rPr>
                  <a:t> </a:t>
                </a:r>
              </a:p>
            </p:txBody>
          </p:sp>
        </mc:Fallback>
      </mc:AlternateContent>
      <p:sp>
        <p:nvSpPr>
          <p:cNvPr id="7" name="TextBox 6"/>
          <p:cNvSpPr txBox="1"/>
          <p:nvPr/>
        </p:nvSpPr>
        <p:spPr>
          <a:xfrm>
            <a:off x="7959995" y="1189553"/>
            <a:ext cx="2232248" cy="1323439"/>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dirty="0"/>
              <a:t>We </a:t>
            </a:r>
            <a:r>
              <a:rPr lang="en-GB" sz="1600" b="1" dirty="0"/>
              <a:t>DON’T have a constant of integration </a:t>
            </a:r>
            <a:r>
              <a:rPr lang="en-GB" sz="1600" dirty="0"/>
              <a:t>when doing definite integration. I’ll explain why later.</a:t>
            </a:r>
          </a:p>
        </p:txBody>
      </p:sp>
      <p:cxnSp>
        <p:nvCxnSpPr>
          <p:cNvPr id="9" name="Straight Arrow Connector 8"/>
          <p:cNvCxnSpPr>
            <a:stCxn id="7" idx="1"/>
          </p:cNvCxnSpPr>
          <p:nvPr/>
        </p:nvCxnSpPr>
        <p:spPr>
          <a:xfrm flipH="1" flipV="1">
            <a:off x="6946605" y="1573620"/>
            <a:ext cx="1013390" cy="2776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7890119" y="3496396"/>
                <a:ext cx="2232248" cy="1569660"/>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1600" dirty="0"/>
                  <a:t>Write out you working EXACTLY as seen here. The </a:t>
                </a:r>
                <a14:m>
                  <m:oMath xmlns:m="http://schemas.openxmlformats.org/officeDocument/2006/math">
                    <m:d>
                      <m:dPr>
                        <m:ctrlPr>
                          <a:rPr lang="en-GB" sz="1600" i="1">
                            <a:latin typeface="Cambria Math" panose="02040503050406030204" pitchFamily="18" charset="0"/>
                          </a:rPr>
                        </m:ctrlPr>
                      </m:dPr>
                      <m:e>
                        <m:r>
                          <a:rPr lang="en-GB" sz="1600" i="1">
                            <a:latin typeface="Cambria Math" panose="02040503050406030204" pitchFamily="18" charset="0"/>
                          </a:rPr>
                          <m:t>…</m:t>
                        </m:r>
                      </m:e>
                    </m:d>
                    <m:r>
                      <a:rPr lang="en-GB" sz="1600" i="1">
                        <a:latin typeface="Cambria Math" panose="02040503050406030204" pitchFamily="18" charset="0"/>
                      </a:rPr>
                      <m:t>−(…)</m:t>
                    </m:r>
                  </m:oMath>
                </a14:m>
                <a:r>
                  <a:rPr lang="en-GB" sz="1600" dirty="0"/>
                  <a:t> brackets are particularly crucial as you’ll otherwise likely make a sign error.</a:t>
                </a:r>
              </a:p>
            </p:txBody>
          </p:sp>
        </mc:Choice>
        <mc:Fallback xmlns="">
          <p:sp>
            <p:nvSpPr>
              <p:cNvPr id="10" name="TextBox 9"/>
              <p:cNvSpPr txBox="1">
                <a:spLocks noRot="1" noChangeAspect="1" noMove="1" noResize="1" noEditPoints="1" noAdjustHandles="1" noChangeArrowheads="1" noChangeShapeType="1" noTextEdit="1"/>
              </p:cNvSpPr>
              <p:nvPr/>
            </p:nvSpPr>
            <p:spPr>
              <a:xfrm>
                <a:off x="7890119" y="3496396"/>
                <a:ext cx="2232248" cy="1569660"/>
              </a:xfrm>
              <a:prstGeom prst="rect">
                <a:avLst/>
              </a:prstGeom>
              <a:blipFill>
                <a:blip r:embed="rId3"/>
                <a:stretch>
                  <a:fillRect/>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2" name="Rectangle 11"/>
          <p:cNvSpPr/>
          <p:nvPr/>
        </p:nvSpPr>
        <p:spPr>
          <a:xfrm>
            <a:off x="4644829" y="1074258"/>
            <a:ext cx="2004064" cy="11373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2612240" y="2359082"/>
            <a:ext cx="4632076" cy="11373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2612240" y="3501968"/>
            <a:ext cx="4632076" cy="95307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cxnSp>
        <p:nvCxnSpPr>
          <p:cNvPr id="15" name="Straight Arrow Connector 14"/>
          <p:cNvCxnSpPr/>
          <p:nvPr/>
        </p:nvCxnSpPr>
        <p:spPr>
          <a:xfrm flipH="1" flipV="1">
            <a:off x="7456968" y="3444950"/>
            <a:ext cx="439233" cy="1030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4160874" y="5442805"/>
                <a:ext cx="5188539" cy="9996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You can use the </a:t>
                </a:r>
                <a14:m>
                  <m:oMath xmlns:m="http://schemas.openxmlformats.org/officeDocument/2006/math">
                    <m:d>
                      <m:dPr>
                        <m:begChr m:val="⟦"/>
                        <m:endChr m:val="⟧"/>
                        <m:ctrlPr>
                          <a:rPr lang="en-GB" i="1">
                            <a:latin typeface="Cambria Math" panose="02040503050406030204" pitchFamily="18" charset="0"/>
                          </a:rPr>
                        </m:ctrlPr>
                      </m:dPr>
                      <m:e>
                        <m:nary>
                          <m:naryPr>
                            <m:ctrlPr>
                              <a:rPr lang="en-GB" i="1">
                                <a:latin typeface="Cambria Math" panose="02040503050406030204" pitchFamily="18" charset="0"/>
                              </a:rPr>
                            </m:ctrlPr>
                          </m:naryPr>
                          <m:sub>
                            <m:r>
                              <a:rPr lang="en-GB" i="1">
                                <a:latin typeface="Cambria Math" panose="02040503050406030204" pitchFamily="18" charset="0"/>
                              </a:rPr>
                              <m:t>𝑏</m:t>
                            </m:r>
                          </m:sub>
                          <m:sup>
                            <m:r>
                              <a:rPr lang="en-GB" i="1">
                                <a:latin typeface="Cambria Math" panose="02040503050406030204" pitchFamily="18" charset="0"/>
                              </a:rPr>
                              <m:t>𝑎</m:t>
                            </m:r>
                          </m:sup>
                          <m:e>
                            <m:r>
                              <a:rPr lang="en-GB" i="1">
                                <a:latin typeface="Cambria Math" panose="02040503050406030204" pitchFamily="18" charset="0"/>
                              </a:rPr>
                              <m:t>□</m:t>
                            </m:r>
                          </m:e>
                        </m:nary>
                      </m:e>
                    </m:d>
                  </m:oMath>
                </a14:m>
                <a:r>
                  <a:rPr lang="en-GB" dirty="0"/>
                  <a:t> button on your calculator to evaluate definite integrals. </a:t>
                </a:r>
              </a:p>
              <a:p>
                <a:r>
                  <a:rPr lang="en-GB" u="sng" dirty="0"/>
                  <a:t>But only use it to check your answer.</a:t>
                </a:r>
              </a:p>
            </p:txBody>
          </p:sp>
        </mc:Choice>
        <mc:Fallback xmlns="">
          <p:sp>
            <p:nvSpPr>
              <p:cNvPr id="18" name="TextBox 17"/>
              <p:cNvSpPr txBox="1">
                <a:spLocks noRot="1" noChangeAspect="1" noMove="1" noResize="1" noEditPoints="1" noAdjustHandles="1" noChangeArrowheads="1" noChangeShapeType="1" noTextEdit="1"/>
              </p:cNvSpPr>
              <p:nvPr/>
            </p:nvSpPr>
            <p:spPr>
              <a:xfrm>
                <a:off x="4160874" y="5442805"/>
                <a:ext cx="5188539" cy="999697"/>
              </a:xfrm>
              <a:prstGeom prst="rect">
                <a:avLst/>
              </a:prstGeom>
              <a:blipFill>
                <a:blip r:embed="rId4"/>
                <a:stretch>
                  <a:fillRect l="-819" t="-48810" b="-22619"/>
                </a:stretch>
              </a:blipFill>
            </p:spPr>
            <p:txBody>
              <a:bodyPr/>
              <a:lstStyle/>
              <a:p>
                <a:r>
                  <a:rPr lang="en-GB">
                    <a:noFill/>
                  </a:rPr>
                  <a:t> </a:t>
                </a:r>
              </a:p>
            </p:txBody>
          </p:sp>
        </mc:Fallback>
      </mc:AlternateContent>
    </p:spTree>
    <p:extLst>
      <p:ext uri="{BB962C8B-B14F-4D97-AF65-F5344CB8AC3E}">
        <p14:creationId xmlns:p14="http://schemas.microsoft.com/office/powerpoint/2010/main" val="172393636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nextCondLst>
                <p:cond evt="onClick" delay="0">
                  <p:tgtEl>
                    <p:spTgt spid="12"/>
                  </p:tgtEl>
                </p:cond>
              </p:nextCondLst>
            </p:seq>
            <p:seq concurrent="1" nextAc="seek">
              <p:cTn id="15" restart="whenNotActive" fill="hold" evtFilter="cancelBubble" nodeType="interactiveSeq">
                <p:stCondLst>
                  <p:cond evt="onClick" delay="0">
                    <p:tgtEl>
                      <p:spTgt spid="13"/>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13"/>
                                        </p:tgtEl>
                                      </p:cBhvr>
                                    </p:animEffect>
                                    <p:set>
                                      <p:cBhvr>
                                        <p:cTn id="20" dur="1" fill="hold">
                                          <p:stCondLst>
                                            <p:cond delay="499"/>
                                          </p:stCondLst>
                                        </p:cTn>
                                        <p:tgtEl>
                                          <p:spTgt spid="13"/>
                                        </p:tgtEl>
                                        <p:attrNameLst>
                                          <p:attrName>style.visibility</p:attrName>
                                        </p:attrNameLst>
                                      </p:cBhvr>
                                      <p:to>
                                        <p:strVal val="hidden"/>
                                      </p:to>
                                    </p:se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nextCondLst>
                <p:cond evt="onClick" delay="0">
                  <p:tgtEl>
                    <p:spTgt spid="13"/>
                  </p:tgtEl>
                </p:cond>
              </p:nextCondLst>
            </p:seq>
            <p:seq concurrent="1" nextAc="seek">
              <p:cTn id="28" restart="whenNotActive" fill="hold" evtFilter="cancelBubble" nodeType="interactiveSeq">
                <p:stCondLst>
                  <p:cond evt="onClick" delay="0">
                    <p:tgtEl>
                      <p:spTgt spid="14"/>
                    </p:tgtEl>
                  </p:cond>
                </p:stCondLst>
                <p:endSync evt="end" delay="0">
                  <p:rtn val="all"/>
                </p:endSync>
                <p:childTnLst>
                  <p:par>
                    <p:cTn id="29" fill="hold">
                      <p:stCondLst>
                        <p:cond delay="0"/>
                      </p:stCondLst>
                      <p:childTnLst>
                        <p:par>
                          <p:cTn id="30" fill="hold">
                            <p:stCondLst>
                              <p:cond delay="0"/>
                            </p:stCondLst>
                            <p:childTnLst>
                              <p:par>
                                <p:cTn id="31" presetID="10" presetClass="exit" presetSubtype="0" fill="hold" grpId="0" nodeType="clickEffect">
                                  <p:stCondLst>
                                    <p:cond delay="0"/>
                                  </p:stCondLst>
                                  <p:childTnLst>
                                    <p:animEffect transition="out" filter="fade">
                                      <p:cBhvr>
                                        <p:cTn id="32" dur="500"/>
                                        <p:tgtEl>
                                          <p:spTgt spid="14"/>
                                        </p:tgtEl>
                                      </p:cBhvr>
                                    </p:animEffect>
                                    <p:set>
                                      <p:cBhvr>
                                        <p:cTn id="3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7" grpId="0" animBg="1"/>
      <p:bldP spid="10" grpId="0" animBg="1"/>
      <p:bldP spid="12" grpId="0" animBg="1"/>
      <p:bldP spid="13" grpId="0" animBg="1"/>
      <p:bldP spid="14" grpId="0" animBg="1"/>
    </p:bldLst>
  </p:timing>
</p:sld>
</file>

<file path=ppt/c13/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Problem Solving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063552" y="908721"/>
                <a:ext cx="7734898" cy="74770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Given that </a:t>
                </a:r>
                <a14:m>
                  <m:oMath xmlns:m="http://schemas.openxmlformats.org/officeDocument/2006/math">
                    <m:r>
                      <a:rPr lang="en-GB" i="1">
                        <a:latin typeface="Cambria Math" panose="02040503050406030204" pitchFamily="18" charset="0"/>
                      </a:rPr>
                      <m:t>𝑃</m:t>
                    </m:r>
                  </m:oMath>
                </a14:m>
                <a:r>
                  <a:rPr lang="en-GB" dirty="0"/>
                  <a:t> is a constant and </a:t>
                </a:r>
                <a14:m>
                  <m:oMath xmlns:m="http://schemas.openxmlformats.org/officeDocument/2006/math">
                    <m:nary>
                      <m:naryPr>
                        <m:ctrlPr>
                          <a:rPr lang="en-GB" i="1">
                            <a:latin typeface="Cambria Math" panose="02040503050406030204" pitchFamily="18" charset="0"/>
                          </a:rPr>
                        </m:ctrlPr>
                      </m:naryPr>
                      <m:sub>
                        <m:r>
                          <a:rPr lang="en-GB" i="1">
                            <a:latin typeface="Cambria Math" panose="02040503050406030204" pitchFamily="18" charset="0"/>
                          </a:rPr>
                          <m:t>1</m:t>
                        </m:r>
                      </m:sub>
                      <m:sup>
                        <m:r>
                          <a:rPr lang="en-GB" i="1">
                            <a:latin typeface="Cambria Math" panose="02040503050406030204" pitchFamily="18" charset="0"/>
                          </a:rPr>
                          <m:t>5</m:t>
                        </m:r>
                      </m:sup>
                      <m:e>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𝑃𝑥</m:t>
                            </m:r>
                            <m:r>
                              <a:rPr lang="en-GB" i="1">
                                <a:latin typeface="Cambria Math" panose="02040503050406030204" pitchFamily="18" charset="0"/>
                              </a:rPr>
                              <m:t>+7</m:t>
                            </m:r>
                          </m:e>
                        </m:d>
                        <m:r>
                          <a:rPr lang="en-GB" i="1">
                            <a:latin typeface="Cambria Math" panose="02040503050406030204" pitchFamily="18" charset="0"/>
                          </a:rPr>
                          <m:t> </m:t>
                        </m:r>
                        <m:r>
                          <a:rPr lang="en-GB" i="1">
                            <a:latin typeface="Cambria Math" panose="02040503050406030204" pitchFamily="18" charset="0"/>
                          </a:rPr>
                          <m:t>𝑑𝑥</m:t>
                        </m:r>
                      </m:e>
                    </m:nary>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𝑃</m:t>
                        </m:r>
                      </m:e>
                      <m:sup>
                        <m:r>
                          <a:rPr lang="en-GB" i="1">
                            <a:latin typeface="Cambria Math" panose="02040503050406030204" pitchFamily="18" charset="0"/>
                          </a:rPr>
                          <m:t>2</m:t>
                        </m:r>
                      </m:sup>
                    </m:sSup>
                  </m:oMath>
                </a14:m>
                <a:r>
                  <a:rPr lang="en-GB" dirty="0"/>
                  <a:t>, show that there are two possible values for </a:t>
                </a:r>
                <a14:m>
                  <m:oMath xmlns:m="http://schemas.openxmlformats.org/officeDocument/2006/math">
                    <m:r>
                      <a:rPr lang="en-GB" i="1">
                        <a:latin typeface="Cambria Math" panose="02040503050406030204" pitchFamily="18" charset="0"/>
                      </a:rPr>
                      <m:t>𝑃</m:t>
                    </m:r>
                  </m:oMath>
                </a14:m>
                <a:r>
                  <a:rPr lang="en-GB" dirty="0"/>
                  <a:t> and find these values.</a:t>
                </a:r>
              </a:p>
            </p:txBody>
          </p:sp>
        </mc:Choice>
        <mc:Fallback xmlns="">
          <p:sp>
            <p:nvSpPr>
              <p:cNvPr id="5" name="TextBox 4"/>
              <p:cNvSpPr txBox="1">
                <a:spLocks noRot="1" noChangeAspect="1" noMove="1" noResize="1" noEditPoints="1" noAdjustHandles="1" noChangeArrowheads="1" noChangeShapeType="1" noTextEdit="1"/>
              </p:cNvSpPr>
              <p:nvPr/>
            </p:nvSpPr>
            <p:spPr>
              <a:xfrm>
                <a:off x="2063552" y="908721"/>
                <a:ext cx="7734898" cy="747705"/>
              </a:xfrm>
              <a:prstGeom prst="rect">
                <a:avLst/>
              </a:prstGeom>
              <a:blipFill>
                <a:blip r:embed="rId2"/>
                <a:stretch>
                  <a:fillRect t="-46259" b="-4966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567608" y="2060849"/>
                <a:ext cx="5256584" cy="26563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nary>
                        <m:naryPr>
                          <m:ctrlPr>
                            <a:rPr lang="en-GB" i="1">
                              <a:latin typeface="Cambria Math" panose="02040503050406030204" pitchFamily="18" charset="0"/>
                            </a:rPr>
                          </m:ctrlPr>
                        </m:naryPr>
                        <m:sub>
                          <m:r>
                            <a:rPr lang="en-GB" i="1">
                              <a:latin typeface="Cambria Math" panose="02040503050406030204" pitchFamily="18" charset="0"/>
                            </a:rPr>
                            <m:t>1</m:t>
                          </m:r>
                        </m:sub>
                        <m:sup>
                          <m:r>
                            <a:rPr lang="en-GB" i="1">
                              <a:latin typeface="Cambria Math" panose="02040503050406030204" pitchFamily="18" charset="0"/>
                            </a:rPr>
                            <m:t>5</m:t>
                          </m:r>
                        </m:sup>
                        <m:e>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𝑃𝑥</m:t>
                              </m:r>
                              <m:r>
                                <a:rPr lang="en-GB" i="1">
                                  <a:latin typeface="Cambria Math" panose="02040503050406030204" pitchFamily="18" charset="0"/>
                                </a:rPr>
                                <m:t>+7</m:t>
                              </m:r>
                            </m:e>
                          </m:d>
                          <m:r>
                            <a:rPr lang="en-GB" i="1">
                              <a:latin typeface="Cambria Math" panose="02040503050406030204" pitchFamily="18" charset="0"/>
                            </a:rPr>
                            <m:t> </m:t>
                          </m:r>
                          <m:r>
                            <a:rPr lang="en-GB" i="1">
                              <a:latin typeface="Cambria Math" panose="02040503050406030204" pitchFamily="18" charset="0"/>
                            </a:rPr>
                            <m:t>𝑑𝑥</m:t>
                          </m:r>
                        </m:e>
                      </m:nary>
                      <m:r>
                        <a:rPr lang="en-GB" i="1">
                          <a:latin typeface="Cambria Math" panose="02040503050406030204" pitchFamily="18" charset="0"/>
                        </a:rPr>
                        <m:t>=</m:t>
                      </m:r>
                      <m:sSubSup>
                        <m:sSubSupPr>
                          <m:ctrlPr>
                            <a:rPr lang="en-GB" i="1">
                              <a:latin typeface="Cambria Math" panose="02040503050406030204" pitchFamily="18" charset="0"/>
                            </a:rPr>
                          </m:ctrlPr>
                        </m:sSubSupPr>
                        <m:e>
                          <m:d>
                            <m:dPr>
                              <m:begChr m:val="["/>
                              <m:endChr m:val="]"/>
                              <m:ctrlPr>
                                <a:rPr lang="en-GB" i="1">
                                  <a:latin typeface="Cambria Math" panose="02040503050406030204" pitchFamily="18" charset="0"/>
                                </a:rPr>
                              </m:ctrlPr>
                            </m:dPr>
                            <m:e>
                              <m:r>
                                <a:rPr lang="en-GB" i="1">
                                  <a:latin typeface="Cambria Math" panose="02040503050406030204" pitchFamily="18" charset="0"/>
                                </a:rPr>
                                <m:t>𝑃</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+7</m:t>
                              </m:r>
                              <m:r>
                                <a:rPr lang="en-GB" i="1">
                                  <a:latin typeface="Cambria Math" panose="02040503050406030204" pitchFamily="18" charset="0"/>
                                </a:rPr>
                                <m:t>𝑥</m:t>
                              </m:r>
                            </m:e>
                          </m:d>
                        </m:e>
                        <m:sub>
                          <m:r>
                            <a:rPr lang="en-GB" i="1">
                              <a:latin typeface="Cambria Math" panose="02040503050406030204" pitchFamily="18" charset="0"/>
                            </a:rPr>
                            <m:t>1</m:t>
                          </m:r>
                        </m:sub>
                        <m:sup>
                          <m:r>
                            <a:rPr lang="en-GB" i="1">
                              <a:latin typeface="Cambria Math" panose="02040503050406030204" pitchFamily="18" charset="0"/>
                            </a:rPr>
                            <m:t>5</m:t>
                          </m:r>
                        </m:sup>
                      </m:sSubSup>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25</m:t>
                          </m:r>
                          <m:r>
                            <a:rPr lang="en-GB" i="1">
                              <a:latin typeface="Cambria Math" panose="02040503050406030204" pitchFamily="18" charset="0"/>
                            </a:rPr>
                            <m:t>𝑃</m:t>
                          </m:r>
                          <m:r>
                            <a:rPr lang="en-GB" i="1">
                              <a:latin typeface="Cambria Math" panose="02040503050406030204" pitchFamily="18" charset="0"/>
                            </a:rPr>
                            <m:t>+35</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𝑃</m:t>
                          </m:r>
                          <m:r>
                            <a:rPr lang="en-GB" i="1">
                              <a:latin typeface="Cambria Math" panose="02040503050406030204" pitchFamily="18" charset="0"/>
                            </a:rPr>
                            <m:t>+7</m:t>
                          </m:r>
                        </m:e>
                      </m:d>
                    </m:oMath>
                    <m:oMath xmlns:m="http://schemas.openxmlformats.org/officeDocument/2006/math">
                      <m:r>
                        <a:rPr lang="en-GB" i="1">
                          <a:latin typeface="Cambria Math" panose="02040503050406030204" pitchFamily="18" charset="0"/>
                        </a:rPr>
                        <m:t>                                =24</m:t>
                      </m:r>
                      <m:r>
                        <a:rPr lang="en-GB" i="1">
                          <a:latin typeface="Cambria Math" panose="02040503050406030204" pitchFamily="18" charset="0"/>
                        </a:rPr>
                        <m:t>𝑃</m:t>
                      </m:r>
                      <m:r>
                        <a:rPr lang="en-GB" i="1">
                          <a:latin typeface="Cambria Math" panose="02040503050406030204" pitchFamily="18" charset="0"/>
                        </a:rPr>
                        <m:t>+28</m:t>
                      </m:r>
                    </m:oMath>
                  </m:oMathPara>
                </a14:m>
                <a:endParaRPr lang="en-GB" dirty="0"/>
              </a:p>
              <a:p>
                <a:endParaRPr lang="en-GB" dirty="0"/>
              </a:p>
              <a:p>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∴24</m:t>
                      </m:r>
                      <m:r>
                        <a:rPr lang="en-GB" i="1">
                          <a:latin typeface="Cambria Math" panose="02040503050406030204" pitchFamily="18" charset="0"/>
                        </a:rPr>
                        <m:t>𝑃</m:t>
                      </m:r>
                      <m:r>
                        <a:rPr lang="en-GB" i="1">
                          <a:latin typeface="Cambria Math" panose="02040503050406030204" pitchFamily="18" charset="0"/>
                        </a:rPr>
                        <m:t>+28=4</m:t>
                      </m:r>
                      <m:sSup>
                        <m:sSupPr>
                          <m:ctrlPr>
                            <a:rPr lang="en-GB" i="1">
                              <a:latin typeface="Cambria Math" panose="02040503050406030204" pitchFamily="18" charset="0"/>
                            </a:rPr>
                          </m:ctrlPr>
                        </m:sSupPr>
                        <m:e>
                          <m:r>
                            <a:rPr lang="en-GB" i="1">
                              <a:latin typeface="Cambria Math" panose="02040503050406030204" pitchFamily="18" charset="0"/>
                            </a:rPr>
                            <m:t>𝑃</m:t>
                          </m:r>
                        </m:e>
                        <m:sup>
                          <m:r>
                            <a:rPr lang="en-GB" i="1">
                              <a:latin typeface="Cambria Math" panose="02040503050406030204" pitchFamily="18" charset="0"/>
                            </a:rPr>
                            <m:t>2</m:t>
                          </m:r>
                        </m:sup>
                      </m:sSup>
                    </m:oMath>
                    <m:oMath xmlns:m="http://schemas.openxmlformats.org/officeDocument/2006/math">
                      <m:r>
                        <a:rPr lang="en-GB" i="1">
                          <a:latin typeface="Cambria Math" panose="02040503050406030204" pitchFamily="18" charset="0"/>
                        </a:rPr>
                        <m:t>    </m:t>
                      </m:r>
                      <m:sSup>
                        <m:sSupPr>
                          <m:ctrlPr>
                            <a:rPr lang="en-GB" i="1">
                              <a:latin typeface="Cambria Math" panose="02040503050406030204" pitchFamily="18" charset="0"/>
                            </a:rPr>
                          </m:ctrlPr>
                        </m:sSupPr>
                        <m:e>
                          <m:r>
                            <a:rPr lang="en-GB" i="1">
                              <a:latin typeface="Cambria Math" panose="02040503050406030204" pitchFamily="18" charset="0"/>
                            </a:rPr>
                            <m:t>𝑃</m:t>
                          </m:r>
                        </m:e>
                        <m:sup>
                          <m:r>
                            <a:rPr lang="en-GB" i="1">
                              <a:latin typeface="Cambria Math" panose="02040503050406030204" pitchFamily="18" charset="0"/>
                            </a:rPr>
                            <m:t>2</m:t>
                          </m:r>
                        </m:sup>
                      </m:sSup>
                      <m:r>
                        <a:rPr lang="en-GB" i="1">
                          <a:latin typeface="Cambria Math" panose="02040503050406030204" pitchFamily="18" charset="0"/>
                        </a:rPr>
                        <m:t>−6</m:t>
                      </m:r>
                      <m:r>
                        <a:rPr lang="en-GB" i="1">
                          <a:latin typeface="Cambria Math" panose="02040503050406030204" pitchFamily="18" charset="0"/>
                        </a:rPr>
                        <m:t>𝑃</m:t>
                      </m:r>
                      <m:r>
                        <a:rPr lang="en-GB" i="1">
                          <a:latin typeface="Cambria Math" panose="02040503050406030204" pitchFamily="18" charset="0"/>
                        </a:rPr>
                        <m:t>−7=0</m:t>
                      </m:r>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r>
                            <a:rPr lang="en-GB" i="1">
                              <a:latin typeface="Cambria Math" panose="02040503050406030204" pitchFamily="18" charset="0"/>
                            </a:rPr>
                            <m:t>𝑃</m:t>
                          </m:r>
                          <m:r>
                            <a:rPr lang="en-GB" i="1">
                              <a:latin typeface="Cambria Math" panose="02040503050406030204" pitchFamily="18" charset="0"/>
                            </a:rPr>
                            <m:t>+1</m:t>
                          </m:r>
                        </m:e>
                      </m:d>
                      <m:d>
                        <m:dPr>
                          <m:ctrlPr>
                            <a:rPr lang="en-GB" i="1">
                              <a:latin typeface="Cambria Math" panose="02040503050406030204" pitchFamily="18" charset="0"/>
                            </a:rPr>
                          </m:ctrlPr>
                        </m:dPr>
                        <m:e>
                          <m:r>
                            <a:rPr lang="en-GB" i="1">
                              <a:latin typeface="Cambria Math" panose="02040503050406030204" pitchFamily="18" charset="0"/>
                            </a:rPr>
                            <m:t>𝑃</m:t>
                          </m:r>
                          <m:r>
                            <a:rPr lang="en-GB" i="1">
                              <a:latin typeface="Cambria Math" panose="02040503050406030204" pitchFamily="18" charset="0"/>
                            </a:rPr>
                            <m:t>−7</m:t>
                          </m:r>
                        </m:e>
                      </m:d>
                      <m:r>
                        <a:rPr lang="en-GB" i="1">
                          <a:latin typeface="Cambria Math" panose="02040503050406030204" pitchFamily="18" charset="0"/>
                        </a:rPr>
                        <m:t>=0</m:t>
                      </m:r>
                    </m:oMath>
                    <m:oMath xmlns:m="http://schemas.openxmlformats.org/officeDocument/2006/math">
                      <m:r>
                        <a:rPr lang="en-GB" i="1">
                          <a:latin typeface="Cambria Math" panose="02040503050406030204" pitchFamily="18" charset="0"/>
                        </a:rPr>
                        <m:t>    </m:t>
                      </m:r>
                      <m:r>
                        <a:rPr lang="en-GB" i="1">
                          <a:latin typeface="Cambria Math" panose="02040503050406030204" pitchFamily="18" charset="0"/>
                        </a:rPr>
                        <m:t>𝑃</m:t>
                      </m:r>
                      <m:r>
                        <a:rPr lang="en-GB" i="1">
                          <a:latin typeface="Cambria Math" panose="02040503050406030204" pitchFamily="18" charset="0"/>
                        </a:rPr>
                        <m:t>=−1 </m:t>
                      </m:r>
                      <m:r>
                        <a:rPr lang="en-GB" i="1">
                          <a:latin typeface="Cambria Math" panose="02040503050406030204" pitchFamily="18" charset="0"/>
                        </a:rPr>
                        <m:t>𝑜𝑟</m:t>
                      </m:r>
                      <m:r>
                        <a:rPr lang="en-GB" i="1">
                          <a:latin typeface="Cambria Math" panose="02040503050406030204" pitchFamily="18" charset="0"/>
                        </a:rPr>
                        <m:t> 7</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567608" y="2060849"/>
                <a:ext cx="5256584" cy="2656305"/>
              </a:xfrm>
              <a:prstGeom prst="rect">
                <a:avLst/>
              </a:prstGeom>
              <a:blipFill>
                <a:blip r:embed="rId3"/>
                <a:stretch>
                  <a:fillRect/>
                </a:stretch>
              </a:blipFill>
            </p:spPr>
            <p:txBody>
              <a:bodyPr/>
              <a:lstStyle/>
              <a:p>
                <a:r>
                  <a:rPr lang="en-GB">
                    <a:noFill/>
                  </a:rPr>
                  <a:t> </a:t>
                </a:r>
              </a:p>
            </p:txBody>
          </p:sp>
        </mc:Fallback>
      </mc:AlternateContent>
      <p:sp>
        <p:nvSpPr>
          <p:cNvPr id="7" name="Rectangle 6"/>
          <p:cNvSpPr/>
          <p:nvPr/>
        </p:nvSpPr>
        <p:spPr>
          <a:xfrm>
            <a:off x="2495600" y="1966019"/>
            <a:ext cx="4824536" cy="275113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8" name="TextBox 7"/>
              <p:cNvSpPr txBox="1"/>
              <p:nvPr/>
            </p:nvSpPr>
            <p:spPr>
              <a:xfrm>
                <a:off x="7962416" y="2028951"/>
                <a:ext cx="2232248" cy="830997"/>
              </a:xfrm>
              <a:prstGeom prst="rect">
                <a:avLst/>
              </a:prstGeom>
              <a:noFill/>
            </p:spPr>
            <p:txBody>
              <a:bodyPr wrap="square" rtlCol="0">
                <a:spAutoFit/>
              </a:bodyPr>
              <a:lstStyle/>
              <a:p>
                <a:r>
                  <a:rPr lang="en-GB" sz="1600" dirty="0"/>
                  <a:t>Remember: </a:t>
                </a:r>
                <a14:m>
                  <m:oMath xmlns:m="http://schemas.openxmlformats.org/officeDocument/2006/math">
                    <m:r>
                      <a:rPr lang="en-GB" sz="1600" i="1">
                        <a:latin typeface="Cambria Math" panose="02040503050406030204" pitchFamily="18" charset="0"/>
                      </a:rPr>
                      <m:t>𝑃</m:t>
                    </m:r>
                  </m:oMath>
                </a14:m>
                <a:r>
                  <a:rPr lang="en-GB" sz="1600" dirty="0"/>
                  <a:t> is a constant, so just treat it as a number.</a:t>
                </a:r>
              </a:p>
            </p:txBody>
          </p:sp>
        </mc:Choice>
        <mc:Fallback xmlns="">
          <p:sp>
            <p:nvSpPr>
              <p:cNvPr id="8" name="TextBox 7"/>
              <p:cNvSpPr txBox="1">
                <a:spLocks noRot="1" noChangeAspect="1" noMove="1" noResize="1" noEditPoints="1" noAdjustHandles="1" noChangeArrowheads="1" noChangeShapeType="1" noTextEdit="1"/>
              </p:cNvSpPr>
              <p:nvPr/>
            </p:nvSpPr>
            <p:spPr>
              <a:xfrm>
                <a:off x="7962416" y="2028951"/>
                <a:ext cx="2232248" cy="830997"/>
              </a:xfrm>
              <a:prstGeom prst="rect">
                <a:avLst/>
              </a:prstGeom>
              <a:blipFill>
                <a:blip r:embed="rId4"/>
                <a:stretch>
                  <a:fillRect l="-1366" t="-2206" b="-8824"/>
                </a:stretch>
              </a:blipFill>
            </p:spPr>
            <p:txBody>
              <a:bodyPr/>
              <a:lstStyle/>
              <a:p>
                <a:r>
                  <a:rPr lang="en-GB">
                    <a:noFill/>
                  </a:rPr>
                  <a:t> </a:t>
                </a:r>
              </a:p>
            </p:txBody>
          </p:sp>
        </mc:Fallback>
      </mc:AlternateContent>
    </p:spTree>
    <p:extLst>
      <p:ext uri="{BB962C8B-B14F-4D97-AF65-F5344CB8AC3E}">
        <p14:creationId xmlns:p14="http://schemas.microsoft.com/office/powerpoint/2010/main" val="2095109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Lst>
  </p:timing>
</p:sld>
</file>

<file path=ppt/c13/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13D – Y1 page 297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7" name="Group 16">
            <a:extLst>
              <a:ext uri="{FF2B5EF4-FFF2-40B4-BE49-F238E27FC236}">
                <a16:creationId xmlns:a16="http://schemas.microsoft.com/office/drawing/2014/main" id="{3AA98D94-66A7-9AB5-69CA-611AC1C3850A}"/>
              </a:ext>
            </a:extLst>
          </p:cNvPr>
          <p:cNvGrpSpPr/>
          <p:nvPr/>
        </p:nvGrpSpPr>
        <p:grpSpPr>
          <a:xfrm>
            <a:off x="1524000" y="601639"/>
            <a:ext cx="7772400" cy="620698"/>
            <a:chOff x="685800" y="3274029"/>
            <a:chExt cx="7772400" cy="620698"/>
          </a:xfrm>
        </p:grpSpPr>
        <p:pic>
          <p:nvPicPr>
            <p:cNvPr id="15" name="Picture 14">
              <a:extLst>
                <a:ext uri="{FF2B5EF4-FFF2-40B4-BE49-F238E27FC236}">
                  <a16:creationId xmlns:a16="http://schemas.microsoft.com/office/drawing/2014/main" id="{9778EF39-D40C-30ED-A472-80E5CB34714F}"/>
                </a:ext>
              </a:extLst>
            </p:cNvPr>
            <p:cNvPicPr>
              <a:picLocks noChangeAspect="1"/>
            </p:cNvPicPr>
            <p:nvPr/>
          </p:nvPicPr>
          <p:blipFill>
            <a:blip r:embed="rId2"/>
            <a:stretch>
              <a:fillRect/>
            </a:stretch>
          </p:blipFill>
          <p:spPr>
            <a:xfrm>
              <a:off x="685800" y="3274029"/>
              <a:ext cx="7772400" cy="309942"/>
            </a:xfrm>
            <a:prstGeom prst="rect">
              <a:avLst/>
            </a:prstGeom>
          </p:spPr>
        </p:pic>
        <p:pic>
          <p:nvPicPr>
            <p:cNvPr id="16" name="Picture 15">
              <a:extLst>
                <a:ext uri="{FF2B5EF4-FFF2-40B4-BE49-F238E27FC236}">
                  <a16:creationId xmlns:a16="http://schemas.microsoft.com/office/drawing/2014/main" id="{B0BC186C-EB26-EDE3-802E-BCFD8107F579}"/>
                </a:ext>
              </a:extLst>
            </p:cNvPr>
            <p:cNvPicPr>
              <a:picLocks noChangeAspect="1"/>
            </p:cNvPicPr>
            <p:nvPr/>
          </p:nvPicPr>
          <p:blipFill>
            <a:blip r:embed="rId3"/>
            <a:stretch>
              <a:fillRect/>
            </a:stretch>
          </p:blipFill>
          <p:spPr>
            <a:xfrm>
              <a:off x="899592" y="3583971"/>
              <a:ext cx="1944216" cy="310756"/>
            </a:xfrm>
            <a:prstGeom prst="rect">
              <a:avLst/>
            </a:prstGeom>
          </p:spPr>
        </p:pic>
      </p:grpSp>
      <p:pic>
        <p:nvPicPr>
          <p:cNvPr id="6" name="Picture 5">
            <a:extLst>
              <a:ext uri="{FF2B5EF4-FFF2-40B4-BE49-F238E27FC236}">
                <a16:creationId xmlns:a16="http://schemas.microsoft.com/office/drawing/2014/main" id="{A9DDCA8E-013D-96E0-189F-207155C4E4B5}"/>
              </a:ext>
            </a:extLst>
          </p:cNvPr>
          <p:cNvPicPr>
            <a:picLocks noChangeAspect="1"/>
          </p:cNvPicPr>
          <p:nvPr/>
        </p:nvPicPr>
        <p:blipFill>
          <a:blip r:embed="rId4"/>
          <a:stretch>
            <a:fillRect/>
          </a:stretch>
        </p:blipFill>
        <p:spPr>
          <a:xfrm>
            <a:off x="2567608" y="1844824"/>
            <a:ext cx="2593893" cy="2376264"/>
          </a:xfrm>
          <a:prstGeom prst="rect">
            <a:avLst/>
          </a:prstGeom>
        </p:spPr>
      </p:pic>
      <p:pic>
        <p:nvPicPr>
          <p:cNvPr id="8" name="Picture 7">
            <a:extLst>
              <a:ext uri="{FF2B5EF4-FFF2-40B4-BE49-F238E27FC236}">
                <a16:creationId xmlns:a16="http://schemas.microsoft.com/office/drawing/2014/main" id="{73E18308-A037-2961-63CD-8C9E95B15811}"/>
              </a:ext>
            </a:extLst>
          </p:cNvPr>
          <p:cNvPicPr>
            <a:picLocks noChangeAspect="1"/>
          </p:cNvPicPr>
          <p:nvPr/>
        </p:nvPicPr>
        <p:blipFill>
          <a:blip r:embed="rId5"/>
          <a:stretch>
            <a:fillRect/>
          </a:stretch>
        </p:blipFill>
        <p:spPr>
          <a:xfrm>
            <a:off x="5951985" y="1931453"/>
            <a:ext cx="3037071" cy="2262785"/>
          </a:xfrm>
          <a:prstGeom prst="rect">
            <a:avLst/>
          </a:prstGeom>
        </p:spPr>
      </p:pic>
      <p:cxnSp>
        <p:nvCxnSpPr>
          <p:cNvPr id="10" name="Straight Connector 9">
            <a:extLst>
              <a:ext uri="{FF2B5EF4-FFF2-40B4-BE49-F238E27FC236}">
                <a16:creationId xmlns:a16="http://schemas.microsoft.com/office/drawing/2014/main" id="{1E8E5799-0800-179D-67AE-752F082EF1E4}"/>
              </a:ext>
            </a:extLst>
          </p:cNvPr>
          <p:cNvCxnSpPr/>
          <p:nvPr/>
        </p:nvCxnSpPr>
        <p:spPr>
          <a:xfrm>
            <a:off x="5735960" y="1916832"/>
            <a:ext cx="0" cy="2232248"/>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C0D4A67-9025-25E1-7DE3-EEF55F7BC8E8}"/>
              </a:ext>
            </a:extLst>
          </p:cNvPr>
          <p:cNvSpPr/>
          <p:nvPr/>
        </p:nvSpPr>
        <p:spPr>
          <a:xfrm>
            <a:off x="2423592" y="1474664"/>
            <a:ext cx="6768752" cy="38598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17604884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1" grpId="0" animBg="1"/>
    </p:bldLst>
  </p:timing>
</p:sld>
</file>

<file path=ppt/c13/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13D – Y1 page 297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4BA0EB58-B087-A628-F135-03ECD9022B3E}"/>
              </a:ext>
            </a:extLst>
          </p:cNvPr>
          <p:cNvPicPr>
            <a:picLocks noChangeAspect="1"/>
          </p:cNvPicPr>
          <p:nvPr/>
        </p:nvPicPr>
        <p:blipFill>
          <a:blip r:embed="rId2"/>
          <a:stretch>
            <a:fillRect/>
          </a:stretch>
        </p:blipFill>
        <p:spPr>
          <a:xfrm>
            <a:off x="1559496" y="3203514"/>
            <a:ext cx="7772400" cy="513518"/>
          </a:xfrm>
          <a:prstGeom prst="rect">
            <a:avLst/>
          </a:prstGeom>
        </p:spPr>
      </p:pic>
      <p:pic>
        <p:nvPicPr>
          <p:cNvPr id="6" name="Picture 5">
            <a:extLst>
              <a:ext uri="{FF2B5EF4-FFF2-40B4-BE49-F238E27FC236}">
                <a16:creationId xmlns:a16="http://schemas.microsoft.com/office/drawing/2014/main" id="{05FFC0E6-A151-896C-4B68-C04DA87EC7C3}"/>
              </a:ext>
            </a:extLst>
          </p:cNvPr>
          <p:cNvPicPr>
            <a:picLocks noChangeAspect="1"/>
          </p:cNvPicPr>
          <p:nvPr/>
        </p:nvPicPr>
        <p:blipFill>
          <a:blip r:embed="rId3"/>
          <a:stretch>
            <a:fillRect/>
          </a:stretch>
        </p:blipFill>
        <p:spPr>
          <a:xfrm>
            <a:off x="1524000" y="597476"/>
            <a:ext cx="4466828" cy="419300"/>
          </a:xfrm>
          <a:prstGeom prst="rect">
            <a:avLst/>
          </a:prstGeom>
        </p:spPr>
      </p:pic>
      <p:pic>
        <p:nvPicPr>
          <p:cNvPr id="8" name="Picture 7">
            <a:extLst>
              <a:ext uri="{FF2B5EF4-FFF2-40B4-BE49-F238E27FC236}">
                <a16:creationId xmlns:a16="http://schemas.microsoft.com/office/drawing/2014/main" id="{645596D5-7154-1DB6-5D08-F82793FD7D68}"/>
              </a:ext>
            </a:extLst>
          </p:cNvPr>
          <p:cNvPicPr>
            <a:picLocks noChangeAspect="1"/>
          </p:cNvPicPr>
          <p:nvPr/>
        </p:nvPicPr>
        <p:blipFill>
          <a:blip r:embed="rId4"/>
          <a:stretch>
            <a:fillRect/>
          </a:stretch>
        </p:blipFill>
        <p:spPr>
          <a:xfrm>
            <a:off x="2783632" y="1089397"/>
            <a:ext cx="2731840" cy="2010222"/>
          </a:xfrm>
          <a:prstGeom prst="rect">
            <a:avLst/>
          </a:prstGeom>
        </p:spPr>
      </p:pic>
      <p:pic>
        <p:nvPicPr>
          <p:cNvPr id="10" name="Picture 9">
            <a:extLst>
              <a:ext uri="{FF2B5EF4-FFF2-40B4-BE49-F238E27FC236}">
                <a16:creationId xmlns:a16="http://schemas.microsoft.com/office/drawing/2014/main" id="{402BAD03-39BE-E427-D4F6-7A3414622A93}"/>
              </a:ext>
            </a:extLst>
          </p:cNvPr>
          <p:cNvPicPr>
            <a:picLocks noChangeAspect="1"/>
          </p:cNvPicPr>
          <p:nvPr/>
        </p:nvPicPr>
        <p:blipFill>
          <a:blip r:embed="rId5"/>
          <a:stretch>
            <a:fillRect/>
          </a:stretch>
        </p:blipFill>
        <p:spPr>
          <a:xfrm>
            <a:off x="5956449" y="1120672"/>
            <a:ext cx="3829584" cy="1190791"/>
          </a:xfrm>
          <a:prstGeom prst="rect">
            <a:avLst/>
          </a:prstGeom>
        </p:spPr>
      </p:pic>
      <p:cxnSp>
        <p:nvCxnSpPr>
          <p:cNvPr id="12" name="Straight Connector 11">
            <a:extLst>
              <a:ext uri="{FF2B5EF4-FFF2-40B4-BE49-F238E27FC236}">
                <a16:creationId xmlns:a16="http://schemas.microsoft.com/office/drawing/2014/main" id="{CF745612-48D4-5E6B-5D57-8086B0A963D2}"/>
              </a:ext>
            </a:extLst>
          </p:cNvPr>
          <p:cNvCxnSpPr/>
          <p:nvPr/>
        </p:nvCxnSpPr>
        <p:spPr>
          <a:xfrm>
            <a:off x="5735960" y="1097101"/>
            <a:ext cx="0" cy="2002519"/>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944C7DC-FF3E-F9DA-E3B8-923BFDF62A67}"/>
              </a:ext>
            </a:extLst>
          </p:cNvPr>
          <p:cNvSpPr/>
          <p:nvPr/>
        </p:nvSpPr>
        <p:spPr>
          <a:xfrm>
            <a:off x="2405968" y="1016776"/>
            <a:ext cx="7506457" cy="208284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grpSp>
        <p:nvGrpSpPr>
          <p:cNvPr id="20" name="Group 19">
            <a:extLst>
              <a:ext uri="{FF2B5EF4-FFF2-40B4-BE49-F238E27FC236}">
                <a16:creationId xmlns:a16="http://schemas.microsoft.com/office/drawing/2014/main" id="{C643CFE0-5DF4-E2D7-6F16-614F07AB257A}"/>
              </a:ext>
            </a:extLst>
          </p:cNvPr>
          <p:cNvGrpSpPr/>
          <p:nvPr/>
        </p:nvGrpSpPr>
        <p:grpSpPr>
          <a:xfrm>
            <a:off x="2711052" y="3717032"/>
            <a:ext cx="4695576" cy="1667108"/>
            <a:chOff x="1187052" y="3717032"/>
            <a:chExt cx="4695576" cy="1667108"/>
          </a:xfrm>
        </p:grpSpPr>
        <p:pic>
          <p:nvPicPr>
            <p:cNvPr id="15" name="Picture 14">
              <a:extLst>
                <a:ext uri="{FF2B5EF4-FFF2-40B4-BE49-F238E27FC236}">
                  <a16:creationId xmlns:a16="http://schemas.microsoft.com/office/drawing/2014/main" id="{77F75572-5851-F848-09DD-DB6A7810661C}"/>
                </a:ext>
              </a:extLst>
            </p:cNvPr>
            <p:cNvPicPr>
              <a:picLocks noChangeAspect="1"/>
            </p:cNvPicPr>
            <p:nvPr/>
          </p:nvPicPr>
          <p:blipFill>
            <a:blip r:embed="rId6"/>
            <a:stretch>
              <a:fillRect/>
            </a:stretch>
          </p:blipFill>
          <p:spPr>
            <a:xfrm>
              <a:off x="1187052" y="3717032"/>
              <a:ext cx="2267266" cy="1667108"/>
            </a:xfrm>
            <a:prstGeom prst="rect">
              <a:avLst/>
            </a:prstGeom>
          </p:spPr>
        </p:pic>
        <p:pic>
          <p:nvPicPr>
            <p:cNvPr id="17" name="Picture 16">
              <a:extLst>
                <a:ext uri="{FF2B5EF4-FFF2-40B4-BE49-F238E27FC236}">
                  <a16:creationId xmlns:a16="http://schemas.microsoft.com/office/drawing/2014/main" id="{FA933DA4-E00F-8C0D-832F-0ACF94D98B76}"/>
                </a:ext>
              </a:extLst>
            </p:cNvPr>
            <p:cNvPicPr>
              <a:picLocks noChangeAspect="1"/>
            </p:cNvPicPr>
            <p:nvPr/>
          </p:nvPicPr>
          <p:blipFill>
            <a:blip r:embed="rId7"/>
            <a:stretch>
              <a:fillRect/>
            </a:stretch>
          </p:blipFill>
          <p:spPr>
            <a:xfrm>
              <a:off x="3091413" y="4476620"/>
              <a:ext cx="914528" cy="752580"/>
            </a:xfrm>
            <a:prstGeom prst="rect">
              <a:avLst/>
            </a:prstGeom>
          </p:spPr>
        </p:pic>
        <p:pic>
          <p:nvPicPr>
            <p:cNvPr id="19" name="Picture 18">
              <a:extLst>
                <a:ext uri="{FF2B5EF4-FFF2-40B4-BE49-F238E27FC236}">
                  <a16:creationId xmlns:a16="http://schemas.microsoft.com/office/drawing/2014/main" id="{661DE366-6B1A-D115-AE2E-41317BC3D89E}"/>
                </a:ext>
              </a:extLst>
            </p:cNvPr>
            <p:cNvPicPr>
              <a:picLocks noChangeAspect="1"/>
            </p:cNvPicPr>
            <p:nvPr/>
          </p:nvPicPr>
          <p:blipFill>
            <a:blip r:embed="rId8"/>
            <a:stretch>
              <a:fillRect/>
            </a:stretch>
          </p:blipFill>
          <p:spPr>
            <a:xfrm>
              <a:off x="4005941" y="4500436"/>
              <a:ext cx="1876687" cy="704948"/>
            </a:xfrm>
            <a:prstGeom prst="rect">
              <a:avLst/>
            </a:prstGeom>
          </p:spPr>
        </p:pic>
      </p:grpSp>
      <p:pic>
        <p:nvPicPr>
          <p:cNvPr id="22" name="Picture 21">
            <a:extLst>
              <a:ext uri="{FF2B5EF4-FFF2-40B4-BE49-F238E27FC236}">
                <a16:creationId xmlns:a16="http://schemas.microsoft.com/office/drawing/2014/main" id="{0B0596C9-4299-273B-622E-D323745FF6FC}"/>
              </a:ext>
            </a:extLst>
          </p:cNvPr>
          <p:cNvPicPr>
            <a:picLocks noChangeAspect="1"/>
          </p:cNvPicPr>
          <p:nvPr/>
        </p:nvPicPr>
        <p:blipFill>
          <a:blip r:embed="rId9"/>
          <a:stretch>
            <a:fillRect/>
          </a:stretch>
        </p:blipFill>
        <p:spPr>
          <a:xfrm>
            <a:off x="3757415" y="5517233"/>
            <a:ext cx="1181265" cy="1076475"/>
          </a:xfrm>
          <a:prstGeom prst="rect">
            <a:avLst/>
          </a:prstGeom>
        </p:spPr>
      </p:pic>
      <p:sp>
        <p:nvSpPr>
          <p:cNvPr id="23" name="Rectangle 22">
            <a:extLst>
              <a:ext uri="{FF2B5EF4-FFF2-40B4-BE49-F238E27FC236}">
                <a16:creationId xmlns:a16="http://schemas.microsoft.com/office/drawing/2014/main" id="{05A743DD-3D28-6283-6A59-89FC8197C02A}"/>
              </a:ext>
            </a:extLst>
          </p:cNvPr>
          <p:cNvSpPr/>
          <p:nvPr/>
        </p:nvSpPr>
        <p:spPr>
          <a:xfrm>
            <a:off x="2405967" y="3811488"/>
            <a:ext cx="7506457" cy="278221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6432574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3" grpId="0" animBg="1"/>
      <p:bldP spid="23" grpId="0" animBg="1"/>
    </p:bldLst>
  </p:timing>
</p:sld>
</file>

<file path=ppt/c13/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13D – Y1 page 297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8E6DCBD9-C48C-44B1-9D38-9B4E3A4755AB}"/>
              </a:ext>
            </a:extLst>
          </p:cNvPr>
          <p:cNvPicPr>
            <a:picLocks noChangeAspect="1"/>
          </p:cNvPicPr>
          <p:nvPr/>
        </p:nvPicPr>
        <p:blipFill>
          <a:blip r:embed="rId2"/>
          <a:stretch>
            <a:fillRect/>
          </a:stretch>
        </p:blipFill>
        <p:spPr>
          <a:xfrm>
            <a:off x="1523782" y="599127"/>
            <a:ext cx="5508322" cy="693796"/>
          </a:xfrm>
          <a:prstGeom prst="rect">
            <a:avLst/>
          </a:prstGeom>
        </p:spPr>
      </p:pic>
      <p:pic>
        <p:nvPicPr>
          <p:cNvPr id="7" name="Picture 6">
            <a:extLst>
              <a:ext uri="{FF2B5EF4-FFF2-40B4-BE49-F238E27FC236}">
                <a16:creationId xmlns:a16="http://schemas.microsoft.com/office/drawing/2014/main" id="{0D53E5A5-9BB1-41D2-C2F7-13C6F655066A}"/>
              </a:ext>
            </a:extLst>
          </p:cNvPr>
          <p:cNvPicPr>
            <a:picLocks noChangeAspect="1"/>
          </p:cNvPicPr>
          <p:nvPr/>
        </p:nvPicPr>
        <p:blipFill>
          <a:blip r:embed="rId3"/>
          <a:stretch>
            <a:fillRect/>
          </a:stretch>
        </p:blipFill>
        <p:spPr>
          <a:xfrm>
            <a:off x="4943873" y="1412777"/>
            <a:ext cx="1794595" cy="5096651"/>
          </a:xfrm>
          <a:prstGeom prst="rect">
            <a:avLst/>
          </a:prstGeom>
        </p:spPr>
      </p:pic>
      <p:sp>
        <p:nvSpPr>
          <p:cNvPr id="8" name="Rectangle 7">
            <a:extLst>
              <a:ext uri="{FF2B5EF4-FFF2-40B4-BE49-F238E27FC236}">
                <a16:creationId xmlns:a16="http://schemas.microsoft.com/office/drawing/2014/main" id="{D39B3C85-F653-DCD0-E7FB-7DAF438B8712}"/>
              </a:ext>
            </a:extLst>
          </p:cNvPr>
          <p:cNvSpPr/>
          <p:nvPr/>
        </p:nvSpPr>
        <p:spPr>
          <a:xfrm>
            <a:off x="3071664" y="1412776"/>
            <a:ext cx="5760640" cy="50966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193516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8" grpId="0" animBg="1"/>
    </p:bldLst>
  </p:timing>
</p:sld>
</file>

<file path=ppt/c13/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9" name="TextBox 8"/>
              <p:cNvSpPr txBox="1"/>
              <p:nvPr/>
            </p:nvSpPr>
            <p:spPr>
              <a:xfrm>
                <a:off x="1952612" y="1134037"/>
                <a:ext cx="3888432" cy="3782639"/>
              </a:xfrm>
              <a:prstGeom prst="rect">
                <a:avLst/>
              </a:prstGeom>
              <a:noFill/>
            </p:spPr>
            <p:txBody>
              <a:bodyPr wrap="square" rtlCol="0">
                <a:spAutoFit/>
              </a:bodyPr>
              <a:lstStyle/>
              <a:p>
                <a:r>
                  <a:rPr lang="en-GB" i="1" dirty="0"/>
                  <a:t>[MAT 2009 1A] </a:t>
                </a:r>
                <a:r>
                  <a:rPr lang="en-GB" dirty="0"/>
                  <a:t>The smallest value of</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𝐼</m:t>
                      </m:r>
                      <m:d>
                        <m:dPr>
                          <m:ctrlPr>
                            <a:rPr lang="en-GB" i="1">
                              <a:latin typeface="Cambria Math" panose="02040503050406030204" pitchFamily="18" charset="0"/>
                            </a:rPr>
                          </m:ctrlPr>
                        </m:dPr>
                        <m:e>
                          <m:r>
                            <a:rPr lang="en-GB" i="1">
                              <a:latin typeface="Cambria Math" panose="02040503050406030204" pitchFamily="18" charset="0"/>
                            </a:rPr>
                            <m:t>𝑎</m:t>
                          </m:r>
                        </m:e>
                      </m:d>
                      <m:r>
                        <a:rPr lang="en-GB" i="1">
                          <a:latin typeface="Cambria Math" panose="02040503050406030204" pitchFamily="18" charset="0"/>
                        </a:rPr>
                        <m:t>=</m:t>
                      </m:r>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1</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r>
                                    <a:rPr lang="en-GB" i="1">
                                      <a:latin typeface="Cambria Math" panose="02040503050406030204" pitchFamily="18" charset="0"/>
                                    </a:rPr>
                                    <m:t>𝑎</m:t>
                                  </m:r>
                                </m:e>
                              </m:d>
                            </m:e>
                            <m:sup>
                              <m:r>
                                <a:rPr lang="en-GB" i="1">
                                  <a:latin typeface="Cambria Math" panose="02040503050406030204" pitchFamily="18" charset="0"/>
                                </a:rPr>
                                <m:t>2</m:t>
                              </m:r>
                            </m:sup>
                          </m:sSup>
                          <m:r>
                            <a:rPr lang="en-GB" i="1">
                              <a:latin typeface="Cambria Math" panose="02040503050406030204" pitchFamily="18" charset="0"/>
                            </a:rPr>
                            <m:t> </m:t>
                          </m:r>
                          <m:r>
                            <a:rPr lang="en-GB" i="1">
                              <a:latin typeface="Cambria Math" panose="02040503050406030204" pitchFamily="18" charset="0"/>
                            </a:rPr>
                            <m:t>𝑑𝑥</m:t>
                          </m:r>
                        </m:e>
                      </m:nary>
                    </m:oMath>
                  </m:oMathPara>
                </a14:m>
                <a:endParaRPr lang="en-GB" dirty="0"/>
              </a:p>
              <a:p>
                <a:r>
                  <a:rPr lang="en-GB" dirty="0"/>
                  <a:t>as </a:t>
                </a:r>
                <a14:m>
                  <m:oMath xmlns:m="http://schemas.openxmlformats.org/officeDocument/2006/math">
                    <m:r>
                      <a:rPr lang="en-GB" i="1">
                        <a:latin typeface="Cambria Math" panose="02040503050406030204" pitchFamily="18" charset="0"/>
                      </a:rPr>
                      <m:t>𝑎</m:t>
                    </m:r>
                  </m:oMath>
                </a14:m>
                <a:r>
                  <a:rPr lang="en-GB" dirty="0"/>
                  <a:t> varies, is what?</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𝑰</m:t>
                      </m:r>
                      <m:d>
                        <m:dPr>
                          <m:ctrlPr>
                            <a:rPr lang="en-GB" sz="1600" b="1" i="1">
                              <a:latin typeface="Cambria Math" panose="02040503050406030204" pitchFamily="18" charset="0"/>
                            </a:rPr>
                          </m:ctrlPr>
                        </m:dPr>
                        <m:e>
                          <m:r>
                            <a:rPr lang="en-GB" sz="1600" b="1" i="1">
                              <a:latin typeface="Cambria Math" panose="02040503050406030204" pitchFamily="18" charset="0"/>
                            </a:rPr>
                            <m:t>𝒂</m:t>
                          </m:r>
                        </m:e>
                      </m:d>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𝟏</m:t>
                          </m:r>
                        </m:sup>
                        <m:e>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𝟒</m:t>
                              </m:r>
                            </m:sup>
                          </m:sSup>
                          <m:r>
                            <a:rPr lang="en-GB" sz="1600" b="1" i="1">
                              <a:latin typeface="Cambria Math" panose="02040503050406030204" pitchFamily="18" charset="0"/>
                            </a:rPr>
                            <m:t>−</m:t>
                          </m:r>
                          <m:r>
                            <a:rPr lang="en-GB" sz="1600" b="1" i="1">
                              <a:latin typeface="Cambria Math" panose="02040503050406030204" pitchFamily="18" charset="0"/>
                            </a:rPr>
                            <m:t>𝟐</m:t>
                          </m:r>
                          <m:r>
                            <a:rPr lang="en-GB" sz="1600" b="1" i="1">
                              <a:latin typeface="Cambria Math" panose="02040503050406030204" pitchFamily="18" charset="0"/>
                            </a:rPr>
                            <m:t>𝒂</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e>
                      </m:nary>
                      <m:r>
                        <a:rPr lang="en-GB" sz="1600" b="1" i="1">
                          <a:latin typeface="Cambria Math" panose="02040503050406030204" pitchFamily="18" charset="0"/>
                        </a:rPr>
                        <m:t> </m:t>
                      </m:r>
                      <m:r>
                        <a:rPr lang="en-GB" sz="1600" b="1" i="1">
                          <a:latin typeface="Cambria Math" panose="02040503050406030204" pitchFamily="18" charset="0"/>
                        </a:rPr>
                        <m:t>𝒅𝒙</m:t>
                      </m:r>
                    </m:oMath>
                    <m:oMath xmlns:m="http://schemas.openxmlformats.org/officeDocument/2006/math">
                      <m:r>
                        <a:rPr lang="en-GB" sz="1600" b="1" i="1">
                          <a:latin typeface="Cambria Math" panose="02040503050406030204" pitchFamily="18" charset="0"/>
                        </a:rPr>
                        <m:t>=</m:t>
                      </m:r>
                      <m:sSubSup>
                        <m:sSubSupPr>
                          <m:ctrlPr>
                            <a:rPr lang="en-GB" sz="1600" b="1" i="1">
                              <a:latin typeface="Cambria Math" panose="02040503050406030204" pitchFamily="18" charset="0"/>
                            </a:rPr>
                          </m:ctrlPr>
                        </m:sSubSupPr>
                        <m:e>
                          <m:d>
                            <m:dPr>
                              <m:begChr m:val="["/>
                              <m:endChr m:val="]"/>
                              <m:ctrlPr>
                                <a:rPr lang="en-GB" sz="1600" b="1" i="1">
                                  <a:latin typeface="Cambria Math" panose="02040503050406030204" pitchFamily="18" charset="0"/>
                                </a:rPr>
                              </m:ctrlPr>
                            </m:dPr>
                            <m:e>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𝟓</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𝟓</m:t>
                                  </m:r>
                                </m:sup>
                              </m:sSup>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r>
                                <a:rPr lang="en-GB" sz="1600" b="1" i="1">
                                  <a:latin typeface="Cambria Math" panose="02040503050406030204" pitchFamily="18" charset="0"/>
                                </a:rPr>
                                <m:t>𝒂</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𝟑</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r>
                                <a:rPr lang="en-GB" sz="1600" b="1" i="1">
                                  <a:latin typeface="Cambria Math" panose="02040503050406030204" pitchFamily="18" charset="0"/>
                                </a:rPr>
                                <m:t>𝒙</m:t>
                              </m:r>
                            </m:e>
                          </m:d>
                        </m:e>
                        <m:sub>
                          <m:r>
                            <a:rPr lang="en-GB" sz="1600" b="1" i="1">
                              <a:latin typeface="Cambria Math" panose="02040503050406030204" pitchFamily="18" charset="0"/>
                            </a:rPr>
                            <m:t>𝟎</m:t>
                          </m:r>
                        </m:sub>
                        <m:sup>
                          <m:r>
                            <a:rPr lang="en-GB" sz="1600" b="1" i="1">
                              <a:latin typeface="Cambria Math" panose="02040503050406030204" pitchFamily="18" charset="0"/>
                            </a:rPr>
                            <m:t>𝟏</m:t>
                          </m:r>
                        </m:sup>
                      </m:sSubSup>
                    </m:oMath>
                    <m:oMath xmlns:m="http://schemas.openxmlformats.org/officeDocument/2006/math">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𝟓</m:t>
                          </m:r>
                        </m:den>
                      </m:f>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r>
                        <a:rPr lang="en-GB" sz="1600" b="1" i="1">
                          <a:latin typeface="Cambria Math" panose="02040503050406030204" pitchFamily="18" charset="0"/>
                        </a:rPr>
                        <m:t>𝒂</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oMath>
                  </m:oMathPara>
                </a14:m>
                <a:endParaRPr lang="en-GB" sz="1600" b="1" dirty="0"/>
              </a:p>
              <a:p>
                <a:r>
                  <a:rPr lang="en-GB" sz="1600" b="1" dirty="0"/>
                  <a:t>We then use differentiation or completing the square to find that the minimum value of </a:t>
                </a:r>
                <a14:m>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𝟓</m:t>
                        </m:r>
                      </m:den>
                    </m:f>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r>
                      <a:rPr lang="en-GB" sz="1600" b="1" i="1">
                        <a:latin typeface="Cambria Math" panose="02040503050406030204" pitchFamily="18" charset="0"/>
                      </a:rPr>
                      <m:t>𝒂</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r>
                          <a:rPr lang="en-GB" sz="1600" b="1" i="1">
                            <a:latin typeface="Cambria Math" panose="02040503050406030204" pitchFamily="18" charset="0"/>
                          </a:rPr>
                          <m:t>𝟐</m:t>
                        </m:r>
                      </m:sup>
                    </m:sSup>
                  </m:oMath>
                </a14:m>
                <a:r>
                  <a:rPr lang="en-GB" sz="1600" b="1" dirty="0"/>
                  <a:t> is </a:t>
                </a:r>
                <a14:m>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𝟒</m:t>
                        </m:r>
                      </m:num>
                      <m:den>
                        <m:r>
                          <a:rPr lang="en-GB" sz="1600" b="1" i="1">
                            <a:latin typeface="Cambria Math" panose="02040503050406030204" pitchFamily="18" charset="0"/>
                          </a:rPr>
                          <m:t>𝟒𝟓</m:t>
                        </m:r>
                      </m:den>
                    </m:f>
                  </m:oMath>
                </a14:m>
                <a:r>
                  <a:rPr lang="en-GB" sz="1600" b="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1952612" y="1134037"/>
                <a:ext cx="3888432" cy="3782639"/>
              </a:xfrm>
              <a:prstGeom prst="rect">
                <a:avLst/>
              </a:prstGeom>
              <a:blipFill>
                <a:blip r:embed="rId2"/>
                <a:stretch>
                  <a:fillRect l="-1254" t="-805"/>
                </a:stretch>
              </a:blipFill>
            </p:spPr>
            <p:txBody>
              <a:bodyPr/>
              <a:lstStyle/>
              <a:p>
                <a:r>
                  <a:rPr lang="en-GB">
                    <a:noFill/>
                  </a:rPr>
                  <a:t> </a:t>
                </a:r>
              </a:p>
            </p:txBody>
          </p:sp>
        </mc:Fallback>
      </mc:AlternateContent>
      <p:sp>
        <p:nvSpPr>
          <p:cNvPr id="10" name="Rectangle 9"/>
          <p:cNvSpPr/>
          <p:nvPr/>
        </p:nvSpPr>
        <p:spPr>
          <a:xfrm>
            <a:off x="1998177" y="2355641"/>
            <a:ext cx="3797302" cy="244928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11" name="TextBox 10"/>
              <p:cNvSpPr txBox="1"/>
              <p:nvPr/>
            </p:nvSpPr>
            <p:spPr>
              <a:xfrm>
                <a:off x="6281476" y="764705"/>
                <a:ext cx="4356100" cy="4606389"/>
              </a:xfrm>
              <a:prstGeom prst="rect">
                <a:avLst/>
              </a:prstGeom>
              <a:noFill/>
            </p:spPr>
            <p:txBody>
              <a:bodyPr wrap="square" rtlCol="0">
                <a:spAutoFit/>
              </a:bodyPr>
              <a:lstStyle/>
              <a:p>
                <a:r>
                  <a:rPr lang="en-GB" i="1" dirty="0"/>
                  <a:t>[MAT 2015 1D] </a:t>
                </a:r>
                <a:r>
                  <a:rPr lang="en-GB" dirty="0"/>
                  <a:t>Let</a:t>
                </a:r>
              </a:p>
              <a:p>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1</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𝑥𝑡</m:t>
                                </m:r>
                              </m:e>
                            </m:d>
                          </m:e>
                          <m:sup>
                            <m:r>
                              <a:rPr lang="en-GB" i="1">
                                <a:latin typeface="Cambria Math" panose="02040503050406030204" pitchFamily="18" charset="0"/>
                              </a:rPr>
                              <m:t>2</m:t>
                            </m:r>
                          </m:sup>
                        </m:sSup>
                        <m:r>
                          <a:rPr lang="en-GB" i="1">
                            <a:latin typeface="Cambria Math" panose="02040503050406030204" pitchFamily="18" charset="0"/>
                          </a:rPr>
                          <m:t> </m:t>
                        </m:r>
                        <m:r>
                          <a:rPr lang="en-GB" i="1">
                            <a:latin typeface="Cambria Math" panose="02040503050406030204" pitchFamily="18" charset="0"/>
                          </a:rPr>
                          <m:t>𝑑𝑡</m:t>
                        </m:r>
                      </m:e>
                    </m:nary>
                  </m:oMath>
                </a14:m>
                <a:r>
                  <a:rPr lang="en-GB" dirty="0"/>
                  <a:t> and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𝑥</m:t>
                        </m:r>
                      </m:sup>
                      <m:e>
                        <m:sSup>
                          <m:sSupPr>
                            <m:ctrlPr>
                              <a:rPr lang="en-GB" i="1">
                                <a:latin typeface="Cambria Math" panose="02040503050406030204" pitchFamily="18" charset="0"/>
                              </a:rPr>
                            </m:ctrlPr>
                          </m:sSupPr>
                          <m:e>
                            <m:r>
                              <a:rPr lang="en-GB" i="1">
                                <a:latin typeface="Cambria Math" panose="02040503050406030204" pitchFamily="18" charset="0"/>
                              </a:rPr>
                              <m:t>𝑡</m:t>
                            </m:r>
                          </m:e>
                          <m:sup>
                            <m:r>
                              <a:rPr lang="en-GB" i="1">
                                <a:latin typeface="Cambria Math" panose="02040503050406030204" pitchFamily="18" charset="0"/>
                              </a:rPr>
                              <m:t>2</m:t>
                            </m:r>
                          </m:sup>
                        </m:sSup>
                        <m:r>
                          <a:rPr lang="en-GB" i="1">
                            <a:latin typeface="Cambria Math" panose="02040503050406030204" pitchFamily="18" charset="0"/>
                          </a:rPr>
                          <m:t> </m:t>
                        </m:r>
                        <m:r>
                          <a:rPr lang="en-GB" i="1">
                            <a:latin typeface="Cambria Math" panose="02040503050406030204" pitchFamily="18" charset="0"/>
                          </a:rPr>
                          <m:t>𝑑𝑡</m:t>
                        </m:r>
                      </m:e>
                    </m:nary>
                  </m:oMath>
                </a14:m>
                <a:endParaRPr lang="en-GB" dirty="0"/>
              </a:p>
              <a:p>
                <a:r>
                  <a:rPr lang="en-GB" dirty="0"/>
                  <a:t>Let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&gt;0</m:t>
                    </m:r>
                  </m:oMath>
                </a14:m>
                <a:r>
                  <a:rPr lang="en-GB" dirty="0"/>
                  <a:t>. Which of the following statements are true?</a:t>
                </a:r>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always bigger than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endParaRPr lang="en-GB" dirty="0"/>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always bigger than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endParaRPr lang="en-GB" dirty="0"/>
              </a:p>
              <a:p>
                <a:pPr marL="342900" indent="-342900">
                  <a:buAutoNum type="alphaUcParenR"/>
                </a:pPr>
                <a:r>
                  <a:rPr lang="en-GB" dirty="0"/>
                  <a:t>They are always equal.</a:t>
                </a:r>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&lt;1</m:t>
                    </m:r>
                  </m:oMath>
                </a14:m>
                <a:r>
                  <a:rPr lang="en-GB" dirty="0"/>
                  <a:t>, and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&gt;1</m:t>
                    </m:r>
                  </m:oMath>
                </a14:m>
                <a:r>
                  <a:rPr lang="en-GB" dirty="0"/>
                  <a:t>.</a:t>
                </a:r>
              </a:p>
              <a:p>
                <a:pPr marL="342900" indent="-342900">
                  <a:buFontTx/>
                  <a:buAutoNum type="alphaUcParenR"/>
                </a:pPr>
                <a:r>
                  <a:rPr lang="en-GB" dirty="0"/>
                  <a:t> </a:t>
                </a:r>
                <a14:m>
                  <m:oMath xmlns:m="http://schemas.openxmlformats.org/officeDocument/2006/math">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&lt;1</m:t>
                    </m:r>
                  </m:oMath>
                </a14:m>
                <a:r>
                  <a:rPr lang="en-GB" dirty="0"/>
                  <a:t>, and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𝑔</m:t>
                        </m:r>
                        <m:d>
                          <m:dPr>
                            <m:ctrlPr>
                              <a:rPr lang="en-GB" i="1">
                                <a:latin typeface="Cambria Math" panose="02040503050406030204" pitchFamily="18" charset="0"/>
                              </a:rPr>
                            </m:ctrlPr>
                          </m:dPr>
                          <m:e>
                            <m:r>
                              <a:rPr lang="en-GB" i="1">
                                <a:latin typeface="Cambria Math" panose="02040503050406030204" pitchFamily="18" charset="0"/>
                              </a:rPr>
                              <m:t>𝐴</m:t>
                            </m:r>
                          </m:e>
                        </m:d>
                      </m:e>
                    </m:d>
                  </m:oMath>
                </a14:m>
                <a:r>
                  <a:rPr lang="en-GB" dirty="0"/>
                  <a:t> is bigger if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&gt;1</m:t>
                    </m:r>
                  </m:oMath>
                </a14:m>
                <a:r>
                  <a:rPr lang="en-GB" dirty="0"/>
                  <a:t>.</a:t>
                </a:r>
              </a:p>
              <a:p>
                <a:r>
                  <a:rPr lang="en-GB" sz="1400" b="1" dirty="0"/>
                  <a:t>(Official </a:t>
                </a:r>
                <a:r>
                  <a:rPr lang="en-GB" sz="1400" b="1" dirty="0" err="1"/>
                  <a:t>Sln</a:t>
                </a:r>
                <a:r>
                  <a:rPr lang="en-GB" sz="1400" b="1" dirty="0"/>
                  <a:t>) Evaluating: </a:t>
                </a:r>
                <a14:m>
                  <m:oMath xmlns:m="http://schemas.openxmlformats.org/officeDocument/2006/math">
                    <m:r>
                      <a:rPr lang="en-GB" sz="1400" b="1" i="1">
                        <a:latin typeface="Cambria Math" panose="02040503050406030204" pitchFamily="18" charset="0"/>
                      </a:rPr>
                      <m:t>𝒇</m:t>
                    </m:r>
                    <m:d>
                      <m:dPr>
                        <m:ctrlPr>
                          <a:rPr lang="en-GB" sz="1400" b="1" i="1">
                            <a:latin typeface="Cambria Math" panose="02040503050406030204" pitchFamily="18" charset="0"/>
                          </a:rPr>
                        </m:ctrlPr>
                      </m:dPr>
                      <m:e>
                        <m:r>
                          <a:rPr lang="en-GB" sz="1400" b="1" i="1">
                            <a:latin typeface="Cambria Math" panose="02040503050406030204" pitchFamily="18" charset="0"/>
                          </a:rPr>
                          <m:t>𝒙</m:t>
                        </m:r>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num>
                      <m:den>
                        <m:r>
                          <a:rPr lang="en-GB" sz="1400" b="1" i="1">
                            <a:latin typeface="Cambria Math" panose="02040503050406030204" pitchFamily="18" charset="0"/>
                          </a:rPr>
                          <m:t>𝟑</m:t>
                        </m:r>
                      </m:den>
                    </m:f>
                  </m:oMath>
                </a14:m>
                <a:r>
                  <a:rPr lang="en-GB" sz="1400" b="1" dirty="0"/>
                  <a:t> and </a:t>
                </a:r>
                <a14:m>
                  <m:oMath xmlns:m="http://schemas.openxmlformats.org/officeDocument/2006/math">
                    <m:r>
                      <a:rPr lang="en-GB" sz="1400" b="1" i="1">
                        <a:latin typeface="Cambria Math" panose="02040503050406030204" pitchFamily="18" charset="0"/>
                      </a:rPr>
                      <m:t>𝒈</m:t>
                    </m:r>
                    <m:d>
                      <m:dPr>
                        <m:ctrlPr>
                          <a:rPr lang="en-GB" sz="1400" b="1" i="1">
                            <a:latin typeface="Cambria Math" panose="02040503050406030204" pitchFamily="18" charset="0"/>
                          </a:rPr>
                        </m:ctrlPr>
                      </m:dPr>
                      <m:e>
                        <m:r>
                          <a:rPr lang="en-GB" sz="1400" b="1" i="1">
                            <a:latin typeface="Cambria Math" panose="02040503050406030204" pitchFamily="18" charset="0"/>
                          </a:rPr>
                          <m:t>𝒙</m:t>
                        </m:r>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𝟑</m:t>
                            </m:r>
                          </m:sup>
                        </m:sSup>
                      </m:num>
                      <m:den>
                        <m:r>
                          <a:rPr lang="en-GB" sz="1400" b="1" i="1">
                            <a:latin typeface="Cambria Math" panose="02040503050406030204" pitchFamily="18" charset="0"/>
                          </a:rPr>
                          <m:t>𝟑</m:t>
                        </m:r>
                      </m:den>
                    </m:f>
                  </m:oMath>
                </a14:m>
                <a:r>
                  <a:rPr lang="en-GB" sz="1400" b="1" dirty="0"/>
                  <a:t>. Hence </a:t>
                </a:r>
                <a14:m>
                  <m:oMath xmlns:m="http://schemas.openxmlformats.org/officeDocument/2006/math">
                    <m:r>
                      <a:rPr lang="en-GB" sz="1400" b="1" i="1">
                        <a:latin typeface="Cambria Math" panose="02040503050406030204" pitchFamily="18" charset="0"/>
                      </a:rPr>
                      <m:t>𝒈</m:t>
                    </m:r>
                    <m:d>
                      <m:dPr>
                        <m:ctrlPr>
                          <a:rPr lang="en-GB" sz="1400" b="1" i="1">
                            <a:latin typeface="Cambria Math" panose="02040503050406030204" pitchFamily="18" charset="0"/>
                          </a:rPr>
                        </m:ctrlPr>
                      </m:dPr>
                      <m:e>
                        <m:r>
                          <a:rPr lang="en-GB" sz="1400" b="1" i="1">
                            <a:latin typeface="Cambria Math" panose="02040503050406030204" pitchFamily="18" charset="0"/>
                          </a:rPr>
                          <m:t>𝒇</m:t>
                        </m:r>
                        <m:d>
                          <m:dPr>
                            <m:ctrlPr>
                              <a:rPr lang="en-GB" sz="1400" b="1" i="1">
                                <a:latin typeface="Cambria Math" panose="02040503050406030204" pitchFamily="18" charset="0"/>
                              </a:rPr>
                            </m:ctrlPr>
                          </m:dPr>
                          <m:e>
                            <m:r>
                              <a:rPr lang="en-GB" sz="1400" b="1" i="1">
                                <a:latin typeface="Cambria Math" panose="02040503050406030204" pitchFamily="18" charset="0"/>
                              </a:rPr>
                              <m:t>𝑨</m:t>
                            </m:r>
                          </m:e>
                        </m:d>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𝑨</m:t>
                            </m:r>
                          </m:e>
                          <m:sup>
                            <m:r>
                              <a:rPr lang="en-GB" sz="1400" b="1" i="1">
                                <a:latin typeface="Cambria Math" panose="02040503050406030204" pitchFamily="18" charset="0"/>
                              </a:rPr>
                              <m:t>𝟔</m:t>
                            </m:r>
                          </m:sup>
                        </m:sSup>
                      </m:num>
                      <m:den>
                        <m:sSup>
                          <m:sSupPr>
                            <m:ctrlPr>
                              <a:rPr lang="en-GB" sz="1400" b="1" i="1">
                                <a:latin typeface="Cambria Math" panose="02040503050406030204" pitchFamily="18" charset="0"/>
                              </a:rPr>
                            </m:ctrlPr>
                          </m:sSupPr>
                          <m:e>
                            <m:r>
                              <a:rPr lang="en-GB" sz="1400" b="1" i="1">
                                <a:latin typeface="Cambria Math" panose="02040503050406030204" pitchFamily="18" charset="0"/>
                              </a:rPr>
                              <m:t>𝟑</m:t>
                            </m:r>
                          </m:e>
                          <m:sup>
                            <m:r>
                              <a:rPr lang="en-GB" sz="1400" b="1" i="1">
                                <a:latin typeface="Cambria Math" panose="02040503050406030204" pitchFamily="18" charset="0"/>
                              </a:rPr>
                              <m:t>𝟒</m:t>
                            </m:r>
                          </m:sup>
                        </m:sSup>
                      </m:den>
                    </m:f>
                  </m:oMath>
                </a14:m>
                <a:r>
                  <a:rPr lang="en-GB" sz="1400" b="1" dirty="0"/>
                  <a:t> and </a:t>
                </a:r>
                <a14:m>
                  <m:oMath xmlns:m="http://schemas.openxmlformats.org/officeDocument/2006/math">
                    <m:r>
                      <a:rPr lang="en-GB" sz="1400" b="1" i="1">
                        <a:latin typeface="Cambria Math" panose="02040503050406030204" pitchFamily="18" charset="0"/>
                      </a:rPr>
                      <m:t>𝒇</m:t>
                    </m:r>
                    <m:d>
                      <m:dPr>
                        <m:ctrlPr>
                          <a:rPr lang="en-GB" sz="1400" b="1" i="1">
                            <a:latin typeface="Cambria Math" panose="02040503050406030204" pitchFamily="18" charset="0"/>
                          </a:rPr>
                        </m:ctrlPr>
                      </m:dPr>
                      <m:e>
                        <m:r>
                          <a:rPr lang="en-GB" sz="1400" b="1" i="1">
                            <a:latin typeface="Cambria Math" panose="02040503050406030204" pitchFamily="18" charset="0"/>
                          </a:rPr>
                          <m:t>𝒈</m:t>
                        </m:r>
                        <m:d>
                          <m:dPr>
                            <m:ctrlPr>
                              <a:rPr lang="en-GB" sz="1400" b="1" i="1">
                                <a:latin typeface="Cambria Math" panose="02040503050406030204" pitchFamily="18" charset="0"/>
                              </a:rPr>
                            </m:ctrlPr>
                          </m:dPr>
                          <m:e>
                            <m:r>
                              <a:rPr lang="en-GB" sz="1400" b="1" i="1">
                                <a:latin typeface="Cambria Math" panose="02040503050406030204" pitchFamily="18" charset="0"/>
                              </a:rPr>
                              <m:t>𝑨</m:t>
                            </m:r>
                          </m:e>
                        </m:d>
                      </m:e>
                    </m:d>
                    <m:r>
                      <a:rPr lang="en-GB" sz="1400" b="1" i="1">
                        <a:latin typeface="Cambria Math" panose="02040503050406030204" pitchFamily="18" charset="0"/>
                      </a:rPr>
                      <m:t>=</m:t>
                    </m:r>
                    <m:f>
                      <m:fPr>
                        <m:ctrlPr>
                          <a:rPr lang="en-GB" sz="1400" b="1" i="1">
                            <a:latin typeface="Cambria Math" panose="02040503050406030204" pitchFamily="18" charset="0"/>
                          </a:rPr>
                        </m:ctrlPr>
                      </m:fPr>
                      <m:num>
                        <m:sSup>
                          <m:sSupPr>
                            <m:ctrlPr>
                              <a:rPr lang="en-GB" sz="1400" b="1" i="1">
                                <a:latin typeface="Cambria Math" panose="02040503050406030204" pitchFamily="18" charset="0"/>
                              </a:rPr>
                            </m:ctrlPr>
                          </m:sSupPr>
                          <m:e>
                            <m:r>
                              <a:rPr lang="en-GB" sz="1400" b="1" i="1">
                                <a:latin typeface="Cambria Math" panose="02040503050406030204" pitchFamily="18" charset="0"/>
                              </a:rPr>
                              <m:t>𝑨</m:t>
                            </m:r>
                          </m:e>
                          <m:sup>
                            <m:r>
                              <a:rPr lang="en-GB" sz="1400" b="1" i="1">
                                <a:latin typeface="Cambria Math" panose="02040503050406030204" pitchFamily="18" charset="0"/>
                              </a:rPr>
                              <m:t>𝟔</m:t>
                            </m:r>
                          </m:sup>
                        </m:sSup>
                      </m:num>
                      <m:den>
                        <m:sSup>
                          <m:sSupPr>
                            <m:ctrlPr>
                              <a:rPr lang="en-GB" sz="1400" b="1" i="1">
                                <a:latin typeface="Cambria Math" panose="02040503050406030204" pitchFamily="18" charset="0"/>
                              </a:rPr>
                            </m:ctrlPr>
                          </m:sSupPr>
                          <m:e>
                            <m:r>
                              <a:rPr lang="en-GB" sz="1400" b="1" i="1">
                                <a:latin typeface="Cambria Math" panose="02040503050406030204" pitchFamily="18" charset="0"/>
                              </a:rPr>
                              <m:t>𝟑</m:t>
                            </m:r>
                          </m:e>
                          <m:sup>
                            <m:r>
                              <a:rPr lang="en-GB" sz="1400" b="1" i="1">
                                <a:latin typeface="Cambria Math" panose="02040503050406030204" pitchFamily="18" charset="0"/>
                              </a:rPr>
                              <m:t>𝟑</m:t>
                            </m:r>
                          </m:sup>
                        </m:sSup>
                      </m:den>
                    </m:f>
                  </m:oMath>
                </a14:m>
                <a:r>
                  <a:rPr lang="en-GB" sz="1400" b="1" dirty="0"/>
                  <a:t>. Hence answer is (B).</a:t>
                </a:r>
              </a:p>
              <a:p>
                <a:pPr marL="342900" indent="-342900">
                  <a:buAutoNum type="alphaUcParenR"/>
                </a:pPr>
                <a:endParaRPr lang="en-GB" dirty="0"/>
              </a:p>
              <a:p>
                <a:pPr marL="342900" indent="-342900">
                  <a:buAutoNum type="alphaUcParenR"/>
                </a:pPr>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6281476" y="764705"/>
                <a:ext cx="4356100" cy="4606389"/>
              </a:xfrm>
              <a:prstGeom prst="rect">
                <a:avLst/>
              </a:prstGeom>
              <a:blipFill>
                <a:blip r:embed="rId3"/>
                <a:stretch>
                  <a:fillRect l="-1119" t="-4762" r="-1119"/>
                </a:stretch>
              </a:blipFill>
            </p:spPr>
            <p:txBody>
              <a:bodyPr/>
              <a:lstStyle/>
              <a:p>
                <a:r>
                  <a:rPr lang="en-GB">
                    <a:noFill/>
                  </a:rPr>
                  <a:t> </a:t>
                </a:r>
              </a:p>
            </p:txBody>
          </p:sp>
        </mc:Fallback>
      </mc:AlternateContent>
      <p:sp>
        <p:nvSpPr>
          <p:cNvPr id="12" name="Rectangle 11"/>
          <p:cNvSpPr/>
          <p:nvPr/>
        </p:nvSpPr>
        <p:spPr>
          <a:xfrm>
            <a:off x="6317763" y="4108241"/>
            <a:ext cx="4305435" cy="69668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1631505" y="1197833"/>
            <a:ext cx="306197" cy="3602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4" name="Rectangle 13"/>
          <p:cNvSpPr/>
          <p:nvPr/>
        </p:nvSpPr>
        <p:spPr>
          <a:xfrm>
            <a:off x="5968164" y="841769"/>
            <a:ext cx="306197" cy="3602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19857446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0" grpId="0" animBg="1"/>
      <p:bldP spid="12" grpId="0" animBg="1"/>
    </p:bldLst>
  </p:timing>
</p:sld>
</file>

<file path=ppt/c13/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Freeform: Shape 24"/>
          <p:cNvSpPr/>
          <p:nvPr/>
        </p:nvSpPr>
        <p:spPr>
          <a:xfrm>
            <a:off x="3543300" y="4785360"/>
            <a:ext cx="1661160" cy="1120140"/>
          </a:xfrm>
          <a:custGeom>
            <a:avLst/>
            <a:gdLst>
              <a:gd name="connsiteX0" fmla="*/ 0 w 1661160"/>
              <a:gd name="connsiteY0" fmla="*/ 1120140 h 1120140"/>
              <a:gd name="connsiteX1" fmla="*/ 1661160 w 1661160"/>
              <a:gd name="connsiteY1" fmla="*/ 1120140 h 1120140"/>
              <a:gd name="connsiteX2" fmla="*/ 1493520 w 1661160"/>
              <a:gd name="connsiteY2" fmla="*/ 723900 h 1120140"/>
              <a:gd name="connsiteX3" fmla="*/ 1379220 w 1661160"/>
              <a:gd name="connsiteY3" fmla="*/ 487680 h 1120140"/>
              <a:gd name="connsiteX4" fmla="*/ 1295400 w 1661160"/>
              <a:gd name="connsiteY4" fmla="*/ 327660 h 1120140"/>
              <a:gd name="connsiteX5" fmla="*/ 1181100 w 1661160"/>
              <a:gd name="connsiteY5" fmla="*/ 175260 h 1120140"/>
              <a:gd name="connsiteX6" fmla="*/ 1066800 w 1661160"/>
              <a:gd name="connsiteY6" fmla="*/ 60960 h 1120140"/>
              <a:gd name="connsiteX7" fmla="*/ 967740 w 1661160"/>
              <a:gd name="connsiteY7" fmla="*/ 0 h 1120140"/>
              <a:gd name="connsiteX8" fmla="*/ 883920 w 1661160"/>
              <a:gd name="connsiteY8" fmla="*/ 0 h 1120140"/>
              <a:gd name="connsiteX9" fmla="*/ 762000 w 1661160"/>
              <a:gd name="connsiteY9" fmla="*/ 30480 h 1120140"/>
              <a:gd name="connsiteX10" fmla="*/ 632460 w 1661160"/>
              <a:gd name="connsiteY10" fmla="*/ 129540 h 1120140"/>
              <a:gd name="connsiteX11" fmla="*/ 495300 w 1661160"/>
              <a:gd name="connsiteY11" fmla="*/ 274320 h 1120140"/>
              <a:gd name="connsiteX12" fmla="*/ 381000 w 1661160"/>
              <a:gd name="connsiteY12" fmla="*/ 449580 h 1120140"/>
              <a:gd name="connsiteX13" fmla="*/ 205740 w 1661160"/>
              <a:gd name="connsiteY13" fmla="*/ 723900 h 1120140"/>
              <a:gd name="connsiteX14" fmla="*/ 60960 w 1661160"/>
              <a:gd name="connsiteY14" fmla="*/ 998220 h 1120140"/>
              <a:gd name="connsiteX15" fmla="*/ 0 w 1661160"/>
              <a:gd name="connsiteY15" fmla="*/ 1120140 h 112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1160" h="1120140">
                <a:moveTo>
                  <a:pt x="0" y="1120140"/>
                </a:moveTo>
                <a:lnTo>
                  <a:pt x="1661160" y="1120140"/>
                </a:lnTo>
                <a:lnTo>
                  <a:pt x="1493520" y="723900"/>
                </a:lnTo>
                <a:lnTo>
                  <a:pt x="1379220" y="487680"/>
                </a:lnTo>
                <a:lnTo>
                  <a:pt x="1295400" y="327660"/>
                </a:lnTo>
                <a:lnTo>
                  <a:pt x="1181100" y="175260"/>
                </a:lnTo>
                <a:lnTo>
                  <a:pt x="1066800" y="60960"/>
                </a:lnTo>
                <a:lnTo>
                  <a:pt x="967740" y="0"/>
                </a:lnTo>
                <a:lnTo>
                  <a:pt x="883920" y="0"/>
                </a:lnTo>
                <a:lnTo>
                  <a:pt x="762000" y="30480"/>
                </a:lnTo>
                <a:lnTo>
                  <a:pt x="632460" y="129540"/>
                </a:lnTo>
                <a:lnTo>
                  <a:pt x="495300" y="274320"/>
                </a:lnTo>
                <a:lnTo>
                  <a:pt x="381000" y="449580"/>
                </a:lnTo>
                <a:lnTo>
                  <a:pt x="205740" y="723900"/>
                </a:lnTo>
                <a:lnTo>
                  <a:pt x="60960" y="998220"/>
                </a:lnTo>
                <a:lnTo>
                  <a:pt x="0" y="1120140"/>
                </a:lnTo>
                <a:close/>
              </a:path>
            </a:pathLst>
          </a:cu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Areas under curves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06133" y="1092084"/>
                <a:ext cx="5760640" cy="1248803"/>
              </a:xfrm>
              <a:prstGeom prst="rect">
                <a:avLst/>
              </a:prstGeom>
              <a:noFill/>
            </p:spPr>
            <p:txBody>
              <a:bodyPr wrap="square" rtlCol="0">
                <a:spAutoFit/>
              </a:bodyPr>
              <a:lstStyle/>
              <a:p>
                <a:r>
                  <a:rPr lang="en-GB" dirty="0"/>
                  <a:t>Earlier we saw that the definite integral </a:t>
                </a:r>
                <a14:m>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𝒂</m:t>
                        </m:r>
                      </m:sub>
                      <m:sup>
                        <m:r>
                          <a:rPr lang="en-GB" b="1" i="1">
                            <a:latin typeface="Cambria Math" panose="02040503050406030204" pitchFamily="18" charset="0"/>
                          </a:rPr>
                          <m:t>𝒃</m:t>
                        </m:r>
                      </m:sup>
                      <m:e>
                        <m:r>
                          <a:rPr lang="en-GB" b="1" i="1">
                            <a:latin typeface="Cambria Math" panose="02040503050406030204" pitchFamily="18" charset="0"/>
                          </a:rPr>
                          <m:t>𝒇</m:t>
                        </m:r>
                        <m:r>
                          <a:rPr lang="en-GB" b="1" i="1">
                            <a:latin typeface="Cambria Math" panose="02040503050406030204" pitchFamily="18" charset="0"/>
                          </a:rPr>
                          <m:t>(</m:t>
                        </m:r>
                        <m:r>
                          <a:rPr lang="en-GB" b="1" i="1">
                            <a:latin typeface="Cambria Math" panose="02040503050406030204" pitchFamily="18" charset="0"/>
                          </a:rPr>
                          <m:t>𝒙</m:t>
                        </m:r>
                        <m:r>
                          <a:rPr lang="en-GB" b="1" i="1">
                            <a:latin typeface="Cambria Math" panose="02040503050406030204" pitchFamily="18" charset="0"/>
                          </a:rPr>
                          <m:t>)</m:t>
                        </m:r>
                      </m:e>
                    </m:nary>
                    <m:r>
                      <a:rPr lang="en-GB" b="1" i="1">
                        <a:latin typeface="Cambria Math" panose="02040503050406030204" pitchFamily="18" charset="0"/>
                      </a:rPr>
                      <m:t> </m:t>
                    </m:r>
                    <m:r>
                      <a:rPr lang="en-GB" b="1" i="1">
                        <a:latin typeface="Cambria Math" panose="02040503050406030204" pitchFamily="18" charset="0"/>
                      </a:rPr>
                      <m:t>𝒅𝒙</m:t>
                    </m:r>
                  </m:oMath>
                </a14:m>
                <a:r>
                  <a:rPr lang="en-GB" b="1" dirty="0"/>
                  <a:t> </a:t>
                </a:r>
                <a:r>
                  <a:rPr lang="en-GB" dirty="0"/>
                  <a:t>gives the </a:t>
                </a:r>
                <a:r>
                  <a:rPr lang="en-GB" b="1" dirty="0"/>
                  <a:t>area</a:t>
                </a:r>
                <a:r>
                  <a:rPr lang="en-GB" dirty="0"/>
                  <a:t> between a positive curve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the </a:t>
                </a:r>
                <a14:m>
                  <m:oMath xmlns:m="http://schemas.openxmlformats.org/officeDocument/2006/math">
                    <m:r>
                      <a:rPr lang="en-GB" b="1" i="1">
                        <a:latin typeface="Cambria Math" panose="02040503050406030204" pitchFamily="18" charset="0"/>
                      </a:rPr>
                      <m:t>𝒙</m:t>
                    </m:r>
                  </m:oMath>
                </a14:m>
                <a:r>
                  <a:rPr lang="en-GB" b="1" dirty="0"/>
                  <a:t>-axis</a:t>
                </a:r>
                <a:r>
                  <a:rPr lang="en-GB" dirty="0"/>
                  <a:t>, and the lines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𝑎</m:t>
                    </m:r>
                  </m:oMath>
                </a14:m>
                <a:r>
                  <a:rPr lang="en-GB" dirty="0"/>
                  <a:t> and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𝑏</m:t>
                    </m:r>
                  </m:oMath>
                </a14:m>
                <a:r>
                  <a:rPr lang="en-GB" dirty="0"/>
                  <a:t>.</a:t>
                </a:r>
              </a:p>
              <a:p>
                <a:r>
                  <a:rPr lang="en-GB" sz="1400" dirty="0"/>
                  <a:t>(We’ll see </a:t>
                </a:r>
                <a:r>
                  <a:rPr lang="en-GB" sz="1400" u="sng" dirty="0"/>
                  <a:t>why</a:t>
                </a:r>
                <a:r>
                  <a:rPr lang="en-GB" sz="1400" dirty="0"/>
                  <a:t> this works in a sec)</a:t>
                </a:r>
              </a:p>
            </p:txBody>
          </p:sp>
        </mc:Choice>
        <mc:Fallback xmlns="">
          <p:sp>
            <p:nvSpPr>
              <p:cNvPr id="5" name="TextBox 4"/>
              <p:cNvSpPr txBox="1">
                <a:spLocks noRot="1" noChangeAspect="1" noMove="1" noResize="1" noEditPoints="1" noAdjustHandles="1" noChangeArrowheads="1" noChangeShapeType="1" noTextEdit="1"/>
              </p:cNvSpPr>
              <p:nvPr/>
            </p:nvSpPr>
            <p:spPr>
              <a:xfrm>
                <a:off x="1906133" y="1092084"/>
                <a:ext cx="5760640" cy="1248803"/>
              </a:xfrm>
              <a:prstGeom prst="rect">
                <a:avLst/>
              </a:prstGeom>
              <a:blipFill>
                <a:blip r:embed="rId3"/>
                <a:stretch>
                  <a:fillRect l="-952" t="-38537" b="-4390"/>
                </a:stretch>
              </a:blipFill>
            </p:spPr>
            <p:txBody>
              <a:bodyPr/>
              <a:lstStyle/>
              <a:p>
                <a:r>
                  <a:rPr lang="en-GB">
                    <a:noFill/>
                  </a:rPr>
                  <a:t> </a:t>
                </a:r>
              </a:p>
            </p:txBody>
          </p:sp>
        </mc:Fallback>
      </mc:AlternateContent>
      <p:cxnSp>
        <p:nvCxnSpPr>
          <p:cNvPr id="6" name="Straight Arrow Connector 5"/>
          <p:cNvCxnSpPr/>
          <p:nvPr/>
        </p:nvCxnSpPr>
        <p:spPr>
          <a:xfrm flipV="1">
            <a:off x="8034273" y="1186655"/>
            <a:ext cx="0" cy="1152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8034273" y="2338783"/>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7848228" y="865177"/>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8" name="TextBox 7"/>
              <p:cNvSpPr txBox="1">
                <a:spLocks noRot="1" noChangeAspect="1" noMove="1" noResize="1" noEditPoints="1" noAdjustHandles="1" noChangeArrowheads="1" noChangeShapeType="1" noTextEdit="1"/>
              </p:cNvSpPr>
              <p:nvPr/>
            </p:nvSpPr>
            <p:spPr>
              <a:xfrm>
                <a:off x="7848228" y="865177"/>
                <a:ext cx="392406" cy="307777"/>
              </a:xfrm>
              <a:prstGeom prst="rect">
                <a:avLst/>
              </a:prstGeom>
              <a:blipFill>
                <a:blip r:embed="rId4"/>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9675222" y="2180917"/>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9" name="TextBox 8"/>
              <p:cNvSpPr txBox="1">
                <a:spLocks noRot="1" noChangeAspect="1" noMove="1" noResize="1" noEditPoints="1" noAdjustHandles="1" noChangeArrowheads="1" noChangeShapeType="1" noTextEdit="1"/>
              </p:cNvSpPr>
              <p:nvPr/>
            </p:nvSpPr>
            <p:spPr>
              <a:xfrm>
                <a:off x="9675222" y="2180917"/>
                <a:ext cx="377816" cy="30777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103801" y="1959693"/>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i="1">
                          <a:solidFill>
                            <a:schemeClr val="bg1"/>
                          </a:solidFill>
                          <a:latin typeface="Cambria Math" panose="02040503050406030204" pitchFamily="18" charset="0"/>
                        </a:rPr>
                        <m:t>𝐴𝑟𝑒𝑎</m:t>
                      </m:r>
                      <m:r>
                        <a:rPr lang="en-GB" sz="1100" i="1">
                          <a:solidFill>
                            <a:schemeClr val="bg1"/>
                          </a:solidFill>
                          <a:latin typeface="Cambria Math" panose="02040503050406030204" pitchFamily="18" charset="0"/>
                        </a:rPr>
                        <m:t>=</m:t>
                      </m:r>
                      <m:r>
                        <a:rPr lang="en-GB" sz="1100" i="1">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8103801" y="1959693"/>
                <a:ext cx="1317154" cy="261610"/>
              </a:xfrm>
              <a:prstGeom prst="rect">
                <a:avLst/>
              </a:prstGeom>
              <a:blipFill>
                <a:blip r:embed="rId6"/>
                <a:stretch>
                  <a:fillRect/>
                </a:stretch>
              </a:blipFill>
            </p:spPr>
            <p:txBody>
              <a:bodyPr/>
              <a:lstStyle/>
              <a:p>
                <a:r>
                  <a:rPr lang="en-GB">
                    <a:noFill/>
                  </a:rPr>
                  <a:t> </a:t>
                </a:r>
              </a:p>
            </p:txBody>
          </p:sp>
        </mc:Fallback>
      </mc:AlternateContent>
      <p:sp>
        <p:nvSpPr>
          <p:cNvPr id="11" name="Freeform: Shape 10"/>
          <p:cNvSpPr/>
          <p:nvPr/>
        </p:nvSpPr>
        <p:spPr>
          <a:xfrm>
            <a:off x="8036443" y="1078319"/>
            <a:ext cx="1457325" cy="1257300"/>
          </a:xfrm>
          <a:custGeom>
            <a:avLst/>
            <a:gdLst>
              <a:gd name="connsiteX0" fmla="*/ 0 w 1457325"/>
              <a:gd name="connsiteY0" fmla="*/ 1257300 h 1257300"/>
              <a:gd name="connsiteX1" fmla="*/ 552450 w 1457325"/>
              <a:gd name="connsiteY1" fmla="*/ 990600 h 1257300"/>
              <a:gd name="connsiteX2" fmla="*/ 1066800 w 1457325"/>
              <a:gd name="connsiteY2" fmla="*/ 590550 h 1257300"/>
              <a:gd name="connsiteX3" fmla="*/ 1457325 w 1457325"/>
              <a:gd name="connsiteY3" fmla="*/ 0 h 1257300"/>
            </a:gdLst>
            <a:ahLst/>
            <a:cxnLst>
              <a:cxn ang="0">
                <a:pos x="connsiteX0" y="connsiteY0"/>
              </a:cxn>
              <a:cxn ang="0">
                <a:pos x="connsiteX1" y="connsiteY1"/>
              </a:cxn>
              <a:cxn ang="0">
                <a:pos x="connsiteX2" y="connsiteY2"/>
              </a:cxn>
              <a:cxn ang="0">
                <a:pos x="connsiteX3" y="connsiteY3"/>
              </a:cxn>
            </a:cxnLst>
            <a:rect l="l" t="t" r="r" b="b"/>
            <a:pathLst>
              <a:path w="1457325" h="1257300">
                <a:moveTo>
                  <a:pt x="0" y="1257300"/>
                </a:moveTo>
                <a:cubicBezTo>
                  <a:pt x="187325" y="1179512"/>
                  <a:pt x="374650" y="1101725"/>
                  <a:pt x="552450" y="990600"/>
                </a:cubicBezTo>
                <a:cubicBezTo>
                  <a:pt x="730250" y="879475"/>
                  <a:pt x="915988" y="755650"/>
                  <a:pt x="1066800" y="590550"/>
                </a:cubicBezTo>
                <a:cubicBezTo>
                  <a:pt x="1217612" y="425450"/>
                  <a:pt x="1337468" y="212725"/>
                  <a:pt x="14573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p:cNvSpPr/>
          <p:nvPr/>
        </p:nvSpPr>
        <p:spPr>
          <a:xfrm>
            <a:off x="8598417" y="1268819"/>
            <a:ext cx="800100" cy="1066800"/>
          </a:xfrm>
          <a:custGeom>
            <a:avLst/>
            <a:gdLst>
              <a:gd name="connsiteX0" fmla="*/ 0 w 800100"/>
              <a:gd name="connsiteY0" fmla="*/ 1066800 h 1066800"/>
              <a:gd name="connsiteX1" fmla="*/ 0 w 800100"/>
              <a:gd name="connsiteY1" fmla="*/ 809625 h 1066800"/>
              <a:gd name="connsiteX2" fmla="*/ 257175 w 800100"/>
              <a:gd name="connsiteY2" fmla="*/ 619125 h 1066800"/>
              <a:gd name="connsiteX3" fmla="*/ 457200 w 800100"/>
              <a:gd name="connsiteY3" fmla="*/ 447675 h 1066800"/>
              <a:gd name="connsiteX4" fmla="*/ 609600 w 800100"/>
              <a:gd name="connsiteY4" fmla="*/ 285750 h 1066800"/>
              <a:gd name="connsiteX5" fmla="*/ 800100 w 800100"/>
              <a:gd name="connsiteY5" fmla="*/ 0 h 1066800"/>
              <a:gd name="connsiteX6" fmla="*/ 800100 w 800100"/>
              <a:gd name="connsiteY6" fmla="*/ 1066800 h 1066800"/>
              <a:gd name="connsiteX7" fmla="*/ 0 w 800100"/>
              <a:gd name="connsiteY7"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100" h="1066800">
                <a:moveTo>
                  <a:pt x="0" y="1066800"/>
                </a:moveTo>
                <a:lnTo>
                  <a:pt x="0" y="809625"/>
                </a:lnTo>
                <a:lnTo>
                  <a:pt x="257175" y="619125"/>
                </a:lnTo>
                <a:lnTo>
                  <a:pt x="457200" y="447675"/>
                </a:lnTo>
                <a:lnTo>
                  <a:pt x="609600" y="285750"/>
                </a:lnTo>
                <a:lnTo>
                  <a:pt x="800100" y="0"/>
                </a:lnTo>
                <a:lnTo>
                  <a:pt x="800100" y="1066800"/>
                </a:lnTo>
                <a:lnTo>
                  <a:pt x="0" y="1066800"/>
                </a:lnTo>
                <a:close/>
              </a:path>
            </a:pathLst>
          </a:cu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p:cNvSpPr txBox="1"/>
              <p:nvPr/>
            </p:nvSpPr>
            <p:spPr>
              <a:xfrm>
                <a:off x="8426199" y="2334805"/>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𝑎</m:t>
                      </m:r>
                    </m:oMath>
                  </m:oMathPara>
                </a14:m>
                <a:endParaRPr lang="en-GB" sz="1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8426199" y="2334805"/>
                <a:ext cx="377816"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9198362" y="2334805"/>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𝑏</m:t>
                      </m:r>
                    </m:oMath>
                  </m:oMathPara>
                </a14:m>
                <a:endParaRPr lang="en-GB" sz="1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9198362" y="2334805"/>
                <a:ext cx="377816" cy="3077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9493767" y="996255"/>
                <a:ext cx="1036010"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m:t>
                      </m:r>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m:oMathPara>
                </a14:m>
                <a:endParaRPr lang="en-GB" sz="1400" dirty="0"/>
              </a:p>
            </p:txBody>
          </p:sp>
        </mc:Choice>
        <mc:Fallback xmlns="">
          <p:sp>
            <p:nvSpPr>
              <p:cNvPr id="15" name="TextBox 14"/>
              <p:cNvSpPr txBox="1">
                <a:spLocks noRot="1" noChangeAspect="1" noMove="1" noResize="1" noEditPoints="1" noAdjustHandles="1" noChangeArrowheads="1" noChangeShapeType="1" noTextEdit="1"/>
              </p:cNvSpPr>
              <p:nvPr/>
            </p:nvSpPr>
            <p:spPr>
              <a:xfrm>
                <a:off x="9493767" y="996255"/>
                <a:ext cx="1036010" cy="307777"/>
              </a:xfrm>
              <a:prstGeom prst="rect">
                <a:avLst/>
              </a:prstGeom>
              <a:blipFill>
                <a:blip r:embed="rId9"/>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8663046" y="1876011"/>
                <a:ext cx="70226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i="1">
                          <a:solidFill>
                            <a:schemeClr val="bg1"/>
                          </a:solidFill>
                          <a:latin typeface="Cambria Math" panose="02040503050406030204" pitchFamily="18" charset="0"/>
                        </a:rPr>
                        <m:t>𝐴𝑟𝑒𝑎</m:t>
                      </m:r>
                    </m:oMath>
                  </m:oMathPara>
                </a14:m>
                <a:endParaRPr lang="en-GB" sz="1100" dirty="0">
                  <a:solidFill>
                    <a:schemeClr val="bg1"/>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8663046" y="1876011"/>
                <a:ext cx="702260" cy="400110"/>
              </a:xfrm>
              <a:prstGeom prst="rect">
                <a:avLst/>
              </a:prstGeom>
              <a:blipFill>
                <a:blip r:embed="rId10"/>
                <a:stretch>
                  <a:fillRect r="-52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089094" y="3055305"/>
                <a:ext cx="5305471"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area of the finite region between the curve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=20−</m:t>
                    </m:r>
                    <m:r>
                      <a:rPr lang="en-GB" i="1">
                        <a:latin typeface="Cambria Math" panose="02040503050406030204" pitchFamily="18" charset="0"/>
                      </a:rPr>
                      <m:t>𝑥</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and the </a:t>
                </a:r>
                <a14:m>
                  <m:oMath xmlns:m="http://schemas.openxmlformats.org/officeDocument/2006/math">
                    <m:r>
                      <a:rPr lang="en-GB" i="1">
                        <a:latin typeface="Cambria Math" panose="02040503050406030204" pitchFamily="18" charset="0"/>
                      </a:rPr>
                      <m:t>𝑥</m:t>
                    </m:r>
                  </m:oMath>
                </a14:m>
                <a:r>
                  <a:rPr lang="en-GB" dirty="0"/>
                  <a:t>-axis.</a:t>
                </a:r>
              </a:p>
            </p:txBody>
          </p:sp>
        </mc:Choice>
        <mc:Fallback xmlns="">
          <p:sp>
            <p:nvSpPr>
              <p:cNvPr id="17" name="TextBox 16"/>
              <p:cNvSpPr txBox="1">
                <a:spLocks noRot="1" noChangeAspect="1" noMove="1" noResize="1" noEditPoints="1" noAdjustHandles="1" noChangeArrowheads="1" noChangeShapeType="1" noTextEdit="1"/>
              </p:cNvSpPr>
              <p:nvPr/>
            </p:nvSpPr>
            <p:spPr>
              <a:xfrm>
                <a:off x="2089094" y="3055305"/>
                <a:ext cx="5305471" cy="646331"/>
              </a:xfrm>
              <a:prstGeom prst="rect">
                <a:avLst/>
              </a:prstGeom>
              <a:blipFill>
                <a:blip r:embed="rId11"/>
                <a:stretch>
                  <a:fillRect b="-230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18" name="Straight Arrow Connector 17"/>
          <p:cNvCxnSpPr/>
          <p:nvPr/>
        </p:nvCxnSpPr>
        <p:spPr>
          <a:xfrm flipV="1">
            <a:off x="4655840" y="4423262"/>
            <a:ext cx="0" cy="21020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3297882" y="5907305"/>
            <a:ext cx="28594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4488202" y="4110794"/>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4488202" y="4110794"/>
                <a:ext cx="392406" cy="30777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102545" y="5745511"/>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102545" y="5745511"/>
                <a:ext cx="377816" cy="307777"/>
              </a:xfrm>
              <a:prstGeom prst="rect">
                <a:avLst/>
              </a:prstGeom>
              <a:blipFill>
                <a:blip r:embed="rId5"/>
                <a:stretch>
                  <a:fillRect/>
                </a:stretch>
              </a:blipFill>
            </p:spPr>
            <p:txBody>
              <a:bodyPr/>
              <a:lstStyle/>
              <a:p>
                <a:r>
                  <a:rPr lang="en-GB">
                    <a:noFill/>
                  </a:rPr>
                  <a:t> </a:t>
                </a:r>
              </a:p>
            </p:txBody>
          </p:sp>
        </mc:Fallback>
      </mc:AlternateContent>
      <p:sp>
        <p:nvSpPr>
          <p:cNvPr id="24" name="Freeform: Shape 23"/>
          <p:cNvSpPr/>
          <p:nvPr/>
        </p:nvSpPr>
        <p:spPr>
          <a:xfrm>
            <a:off x="3310270" y="4774008"/>
            <a:ext cx="2083982" cy="1626792"/>
          </a:xfrm>
          <a:custGeom>
            <a:avLst/>
            <a:gdLst>
              <a:gd name="connsiteX0" fmla="*/ 0 w 2083982"/>
              <a:gd name="connsiteY0" fmla="*/ 1605527 h 1626792"/>
              <a:gd name="connsiteX1" fmla="*/ 1127051 w 2083982"/>
              <a:gd name="connsiteY1" fmla="*/ 11 h 1626792"/>
              <a:gd name="connsiteX2" fmla="*/ 2083982 w 2083982"/>
              <a:gd name="connsiteY2" fmla="*/ 1626792 h 1626792"/>
            </a:gdLst>
            <a:ahLst/>
            <a:cxnLst>
              <a:cxn ang="0">
                <a:pos x="connsiteX0" y="connsiteY0"/>
              </a:cxn>
              <a:cxn ang="0">
                <a:pos x="connsiteX1" y="connsiteY1"/>
              </a:cxn>
              <a:cxn ang="0">
                <a:pos x="connsiteX2" y="connsiteY2"/>
              </a:cxn>
            </a:cxnLst>
            <a:rect l="l" t="t" r="r" b="b"/>
            <a:pathLst>
              <a:path w="2083982" h="1626792">
                <a:moveTo>
                  <a:pt x="0" y="1605527"/>
                </a:moveTo>
                <a:cubicBezTo>
                  <a:pt x="389860" y="800997"/>
                  <a:pt x="779721" y="-3533"/>
                  <a:pt x="1127051" y="11"/>
                </a:cubicBezTo>
                <a:cubicBezTo>
                  <a:pt x="1474381" y="3555"/>
                  <a:pt x="1779181" y="815173"/>
                  <a:pt x="2083982" y="162679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6440568" y="3877473"/>
                <a:ext cx="3600400" cy="2860720"/>
              </a:xfrm>
              <a:prstGeom prst="rect">
                <a:avLst/>
              </a:prstGeom>
              <a:noFill/>
            </p:spPr>
            <p:txBody>
              <a:bodyPr wrap="square" rtlCol="0">
                <a:spAutoFit/>
              </a:bodyPr>
              <a:lstStyle/>
              <a:p>
                <a:r>
                  <a:rPr lang="en-GB" sz="1400" b="1" dirty="0"/>
                  <a:t>Factorise in order to find roots:</a:t>
                </a:r>
              </a:p>
              <a:p>
                <a:pPr/>
                <a14:m>
                  <m:oMathPara xmlns:m="http://schemas.openxmlformats.org/officeDocument/2006/math">
                    <m:oMathParaPr>
                      <m:jc m:val="centerGroup"/>
                    </m:oMathParaPr>
                    <m:oMath xmlns:m="http://schemas.openxmlformats.org/officeDocument/2006/math">
                      <m:r>
                        <a:rPr lang="en-GB" sz="1400" b="1" i="1">
                          <a:latin typeface="Cambria Math" panose="02040503050406030204" pitchFamily="18" charset="0"/>
                        </a:rPr>
                        <m:t>𝟐𝟎</m:t>
                      </m:r>
                      <m:r>
                        <a:rPr lang="en-GB" sz="1400" b="1" i="1">
                          <a:latin typeface="Cambria Math" panose="02040503050406030204" pitchFamily="18" charset="0"/>
                        </a:rPr>
                        <m:t>−</m:t>
                      </m:r>
                      <m:r>
                        <a:rPr lang="en-GB" sz="1400" b="1" i="1">
                          <a:latin typeface="Cambria Math" panose="02040503050406030204" pitchFamily="18" charset="0"/>
                        </a:rPr>
                        <m:t>𝒙</m:t>
                      </m:r>
                      <m:r>
                        <a:rPr lang="en-GB" sz="1400" b="1" i="1">
                          <a:latin typeface="Cambria Math" panose="02040503050406030204" pitchFamily="18" charset="0"/>
                        </a:rPr>
                        <m:t>−</m:t>
                      </m:r>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m:t>
                      </m:r>
                      <m:r>
                        <a:rPr lang="en-GB" sz="1400" b="1" i="1">
                          <a:latin typeface="Cambria Math" panose="02040503050406030204" pitchFamily="18" charset="0"/>
                        </a:rPr>
                        <m:t>𝟎</m:t>
                      </m:r>
                    </m:oMath>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𝟐𝟎</m:t>
                      </m:r>
                      <m:r>
                        <a:rPr lang="en-GB" sz="1400" b="1" i="1">
                          <a:latin typeface="Cambria Math" panose="02040503050406030204" pitchFamily="18" charset="0"/>
                        </a:rPr>
                        <m:t>=</m:t>
                      </m:r>
                      <m:r>
                        <a:rPr lang="en-GB" sz="1400" b="1" i="1">
                          <a:latin typeface="Cambria Math" panose="02040503050406030204" pitchFamily="18" charset="0"/>
                        </a:rPr>
                        <m:t>𝟎</m:t>
                      </m:r>
                    </m:oMath>
                    <m:oMath xmlns:m="http://schemas.openxmlformats.org/officeDocument/2006/math">
                      <m:d>
                        <m:dPr>
                          <m:ctrlPr>
                            <a:rPr lang="en-GB" sz="1400" b="1" i="1">
                              <a:latin typeface="Cambria Math" panose="02040503050406030204" pitchFamily="18" charset="0"/>
                            </a:rPr>
                          </m:ctrlPr>
                        </m:dPr>
                        <m:e>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𝟓</m:t>
                          </m:r>
                        </m:e>
                      </m:d>
                      <m:d>
                        <m:dPr>
                          <m:ctrlPr>
                            <a:rPr lang="en-GB" sz="1400" b="1" i="1">
                              <a:latin typeface="Cambria Math" panose="02040503050406030204" pitchFamily="18" charset="0"/>
                            </a:rPr>
                          </m:ctrlPr>
                        </m:dPr>
                        <m:e>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𝟒</m:t>
                          </m:r>
                        </m:e>
                      </m:d>
                      <m:r>
                        <a:rPr lang="en-GB" sz="1400" b="1" i="1">
                          <a:latin typeface="Cambria Math" panose="02040503050406030204" pitchFamily="18" charset="0"/>
                        </a:rPr>
                        <m:t>=</m:t>
                      </m:r>
                      <m:r>
                        <a:rPr lang="en-GB" sz="1400" b="1" i="1">
                          <a:latin typeface="Cambria Math" panose="02040503050406030204" pitchFamily="18" charset="0"/>
                        </a:rPr>
                        <m:t>𝟎</m:t>
                      </m:r>
                    </m:oMath>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𝟓</m:t>
                      </m:r>
                      <m:r>
                        <a:rPr lang="en-GB" sz="1400" b="1" i="1">
                          <a:latin typeface="Cambria Math" panose="02040503050406030204" pitchFamily="18" charset="0"/>
                        </a:rPr>
                        <m:t> </m:t>
                      </m:r>
                      <m:r>
                        <a:rPr lang="en-GB" sz="1400" b="1" i="1">
                          <a:latin typeface="Cambria Math" panose="02040503050406030204" pitchFamily="18" charset="0"/>
                        </a:rPr>
                        <m:t>𝒐𝒓</m:t>
                      </m:r>
                      <m:r>
                        <a:rPr lang="en-GB" sz="1400" b="1" i="1">
                          <a:latin typeface="Cambria Math" panose="02040503050406030204" pitchFamily="18" charset="0"/>
                        </a:rPr>
                        <m:t> </m:t>
                      </m:r>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𝟒</m:t>
                      </m:r>
                    </m:oMath>
                  </m:oMathPara>
                </a14:m>
                <a:endParaRPr lang="en-GB" sz="1400" b="1" dirty="0"/>
              </a:p>
              <a:p>
                <a:endParaRPr lang="en-GB" sz="300" b="1" dirty="0"/>
              </a:p>
              <a:p>
                <a:r>
                  <a:rPr lang="en-GB" sz="1400" b="1" dirty="0"/>
                  <a:t>Therefore area between curve and </a:t>
                </a:r>
                <a14:m>
                  <m:oMath xmlns:m="http://schemas.openxmlformats.org/officeDocument/2006/math">
                    <m:r>
                      <a:rPr lang="en-GB" sz="1400" b="1" i="1">
                        <a:latin typeface="Cambria Math" panose="02040503050406030204" pitchFamily="18" charset="0"/>
                      </a:rPr>
                      <m:t>𝒙</m:t>
                    </m:r>
                  </m:oMath>
                </a14:m>
                <a:r>
                  <a:rPr lang="en-GB" sz="1400" b="1" dirty="0"/>
                  <a:t>-axis is:</a:t>
                </a:r>
              </a:p>
              <a:p>
                <a:pPr/>
                <a14:m>
                  <m:oMathPara xmlns:m="http://schemas.openxmlformats.org/officeDocument/2006/math">
                    <m:oMathParaPr>
                      <m:jc m:val="centerGroup"/>
                    </m:oMathParaPr>
                    <m:oMath xmlns:m="http://schemas.openxmlformats.org/officeDocument/2006/math">
                      <m:nary>
                        <m:naryPr>
                          <m:ctrlPr>
                            <a:rPr lang="en-GB" sz="1400" b="1" i="1">
                              <a:latin typeface="Cambria Math" panose="02040503050406030204" pitchFamily="18" charset="0"/>
                            </a:rPr>
                          </m:ctrlPr>
                        </m:naryPr>
                        <m:sub>
                          <m:r>
                            <a:rPr lang="en-GB" sz="1400" b="1" i="1">
                              <a:latin typeface="Cambria Math" panose="02040503050406030204" pitchFamily="18" charset="0"/>
                            </a:rPr>
                            <m:t>−</m:t>
                          </m:r>
                          <m:r>
                            <a:rPr lang="en-GB" sz="1400" b="1" i="1">
                              <a:latin typeface="Cambria Math" panose="02040503050406030204" pitchFamily="18" charset="0"/>
                            </a:rPr>
                            <m:t>𝟓</m:t>
                          </m:r>
                        </m:sub>
                        <m:sup>
                          <m:r>
                            <a:rPr lang="en-GB" sz="1400" b="1" i="1">
                              <a:latin typeface="Cambria Math" panose="02040503050406030204" pitchFamily="18" charset="0"/>
                            </a:rPr>
                            <m:t>𝟒</m:t>
                          </m:r>
                        </m:sup>
                        <m:e>
                          <m:r>
                            <a:rPr lang="en-GB" sz="1400" b="1" i="1">
                              <a:latin typeface="Cambria Math" panose="02040503050406030204" pitchFamily="18" charset="0"/>
                            </a:rPr>
                            <m:t>𝟐𝟎</m:t>
                          </m:r>
                          <m:r>
                            <a:rPr lang="en-GB" sz="1400" b="1" i="1">
                              <a:latin typeface="Cambria Math" panose="02040503050406030204" pitchFamily="18" charset="0"/>
                            </a:rPr>
                            <m:t>−</m:t>
                          </m:r>
                          <m:r>
                            <a:rPr lang="en-GB" sz="1400" b="1" i="1">
                              <a:latin typeface="Cambria Math" panose="02040503050406030204" pitchFamily="18" charset="0"/>
                            </a:rPr>
                            <m:t>𝒙</m:t>
                          </m:r>
                          <m:r>
                            <a:rPr lang="en-GB" sz="1400" b="1" i="1">
                              <a:latin typeface="Cambria Math" panose="02040503050406030204" pitchFamily="18" charset="0"/>
                            </a:rPr>
                            <m:t>−</m:t>
                          </m:r>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 </m:t>
                          </m:r>
                          <m:r>
                            <a:rPr lang="en-GB" sz="1400" b="1" i="1">
                              <a:latin typeface="Cambria Math" panose="02040503050406030204" pitchFamily="18" charset="0"/>
                            </a:rPr>
                            <m:t>𝒅𝒙</m:t>
                          </m:r>
                        </m:e>
                      </m:nary>
                      <m:r>
                        <a:rPr lang="en-GB" sz="1400" b="1" i="1">
                          <a:latin typeface="Cambria Math" panose="02040503050406030204" pitchFamily="18" charset="0"/>
                        </a:rPr>
                        <m:t>=</m:t>
                      </m:r>
                      <m:sSubSup>
                        <m:sSubSupPr>
                          <m:ctrlPr>
                            <a:rPr lang="en-GB" sz="1400" b="1" i="1">
                              <a:latin typeface="Cambria Math" panose="02040503050406030204" pitchFamily="18" charset="0"/>
                            </a:rPr>
                          </m:ctrlPr>
                        </m:sSubSupPr>
                        <m:e>
                          <m:d>
                            <m:dPr>
                              <m:begChr m:val="["/>
                              <m:endChr m:val="]"/>
                              <m:ctrlPr>
                                <a:rPr lang="en-GB" sz="1400" b="1" i="1">
                                  <a:latin typeface="Cambria Math" panose="02040503050406030204" pitchFamily="18" charset="0"/>
                                </a:rPr>
                              </m:ctrlPr>
                            </m:dPr>
                            <m:e>
                              <m:r>
                                <a:rPr lang="en-GB" sz="1400" b="1" i="1">
                                  <a:latin typeface="Cambria Math" panose="02040503050406030204" pitchFamily="18" charset="0"/>
                                </a:rPr>
                                <m:t>𝟐𝟎</m:t>
                              </m:r>
                              <m:r>
                                <a:rPr lang="en-GB" sz="1400" b="1" i="1">
                                  <a:latin typeface="Cambria Math" panose="02040503050406030204" pitchFamily="18" charset="0"/>
                                </a:rPr>
                                <m:t>𝒙</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𝟏</m:t>
                                  </m:r>
                                </m:num>
                                <m:den>
                                  <m:r>
                                    <a:rPr lang="en-GB" sz="1400" b="1" i="1">
                                      <a:latin typeface="Cambria Math" panose="02040503050406030204" pitchFamily="18" charset="0"/>
                                    </a:rPr>
                                    <m:t>𝟐</m:t>
                                  </m:r>
                                </m:den>
                              </m:f>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𝟐</m:t>
                                  </m:r>
                                </m:sup>
                              </m:sSup>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𝟏</m:t>
                                  </m:r>
                                </m:num>
                                <m:den>
                                  <m:r>
                                    <a:rPr lang="en-GB" sz="1400" b="1" i="1">
                                      <a:latin typeface="Cambria Math" panose="02040503050406030204" pitchFamily="18" charset="0"/>
                                    </a:rPr>
                                    <m:t>𝟑</m:t>
                                  </m:r>
                                </m:den>
                              </m:f>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𝟑</m:t>
                                  </m:r>
                                </m:sup>
                              </m:sSup>
                            </m:e>
                          </m:d>
                        </m:e>
                        <m:sub>
                          <m:r>
                            <a:rPr lang="en-GB" sz="1400" b="1" i="1">
                              <a:latin typeface="Cambria Math" panose="02040503050406030204" pitchFamily="18" charset="0"/>
                            </a:rPr>
                            <m:t>−</m:t>
                          </m:r>
                          <m:r>
                            <a:rPr lang="en-GB" sz="1400" b="1" i="1">
                              <a:latin typeface="Cambria Math" panose="02040503050406030204" pitchFamily="18" charset="0"/>
                            </a:rPr>
                            <m:t>𝟓</m:t>
                          </m:r>
                        </m:sub>
                        <m:sup>
                          <m:r>
                            <a:rPr lang="en-GB" sz="1400" b="1" i="1">
                              <a:latin typeface="Cambria Math" panose="02040503050406030204" pitchFamily="18" charset="0"/>
                            </a:rPr>
                            <m:t>𝟒</m:t>
                          </m:r>
                        </m:sup>
                      </m:sSubSup>
                    </m:oMath>
                    <m:oMath xmlns:m="http://schemas.openxmlformats.org/officeDocument/2006/math">
                      <m:r>
                        <a:rPr lang="en-GB" sz="1400" b="1" i="1">
                          <a:latin typeface="Cambria Math" panose="02040503050406030204" pitchFamily="18" charset="0"/>
                        </a:rPr>
                        <m:t>   =</m:t>
                      </m:r>
                      <m:d>
                        <m:dPr>
                          <m:ctrlPr>
                            <a:rPr lang="en-GB" sz="1400" b="1" i="1">
                              <a:latin typeface="Cambria Math" panose="02040503050406030204" pitchFamily="18" charset="0"/>
                            </a:rPr>
                          </m:ctrlPr>
                        </m:dPr>
                        <m:e>
                          <m:r>
                            <a:rPr lang="en-GB" sz="1400" b="1" i="1">
                              <a:latin typeface="Cambria Math" panose="02040503050406030204" pitchFamily="18" charset="0"/>
                            </a:rPr>
                            <m:t>𝟖𝟎</m:t>
                          </m:r>
                          <m:r>
                            <a:rPr lang="en-GB" sz="1400" b="1" i="1">
                              <a:latin typeface="Cambria Math" panose="02040503050406030204" pitchFamily="18" charset="0"/>
                            </a:rPr>
                            <m:t>−</m:t>
                          </m:r>
                          <m:r>
                            <a:rPr lang="en-GB" sz="1400" b="1" i="1">
                              <a:latin typeface="Cambria Math" panose="02040503050406030204" pitchFamily="18" charset="0"/>
                            </a:rPr>
                            <m:t>𝟖</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𝟔𝟒</m:t>
                              </m:r>
                            </m:num>
                            <m:den>
                              <m:r>
                                <a:rPr lang="en-GB" sz="1400" b="1" i="1">
                                  <a:latin typeface="Cambria Math" panose="02040503050406030204" pitchFamily="18" charset="0"/>
                                </a:rPr>
                                <m:t>𝟑</m:t>
                              </m:r>
                            </m:den>
                          </m:f>
                        </m:e>
                      </m:d>
                      <m:r>
                        <a:rPr lang="en-GB" sz="1400" b="1" i="1">
                          <a:latin typeface="Cambria Math" panose="02040503050406030204" pitchFamily="18" charset="0"/>
                        </a:rPr>
                        <m:t>−</m:t>
                      </m:r>
                      <m:d>
                        <m:dPr>
                          <m:ctrlPr>
                            <a:rPr lang="en-GB" sz="1400" b="1" i="1">
                              <a:latin typeface="Cambria Math" panose="02040503050406030204" pitchFamily="18" charset="0"/>
                            </a:rPr>
                          </m:ctrlPr>
                        </m:dPr>
                        <m:e>
                          <m:r>
                            <a:rPr lang="en-GB" sz="1400" b="1" i="1">
                              <a:latin typeface="Cambria Math" panose="02040503050406030204" pitchFamily="18" charset="0"/>
                            </a:rPr>
                            <m:t>−</m:t>
                          </m:r>
                          <m:r>
                            <a:rPr lang="en-GB" sz="1400" b="1" i="1">
                              <a:latin typeface="Cambria Math" panose="02040503050406030204" pitchFamily="18" charset="0"/>
                            </a:rPr>
                            <m:t>𝟏𝟎𝟎</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𝟐𝟓</m:t>
                              </m:r>
                            </m:num>
                            <m:den>
                              <m:r>
                                <a:rPr lang="en-GB" sz="1400" b="1" i="1">
                                  <a:latin typeface="Cambria Math" panose="02040503050406030204" pitchFamily="18" charset="0"/>
                                </a:rPr>
                                <m:t>𝟐</m:t>
                              </m:r>
                            </m:den>
                          </m:f>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𝟏𝟐𝟓</m:t>
                              </m:r>
                            </m:num>
                            <m:den>
                              <m:r>
                                <a:rPr lang="en-GB" sz="1400" b="1" i="1">
                                  <a:latin typeface="Cambria Math" panose="02040503050406030204" pitchFamily="18" charset="0"/>
                                </a:rPr>
                                <m:t>𝟑</m:t>
                              </m:r>
                            </m:den>
                          </m:f>
                        </m:e>
                      </m:d>
                    </m:oMath>
                    <m:oMath xmlns:m="http://schemas.openxmlformats.org/officeDocument/2006/math">
                      <m:r>
                        <a:rPr lang="en-GB" sz="1400" b="1">
                          <a:latin typeface="Cambria Math" panose="02040503050406030204" pitchFamily="18" charset="0"/>
                        </a:rPr>
                        <m:t>   </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𝟐𝟒𝟑</m:t>
                          </m:r>
                        </m:num>
                        <m:den>
                          <m:r>
                            <a:rPr lang="en-GB" sz="1400" b="1" i="1">
                              <a:latin typeface="Cambria Math" panose="02040503050406030204" pitchFamily="18" charset="0"/>
                            </a:rPr>
                            <m:t>𝟐</m:t>
                          </m:r>
                        </m:den>
                      </m:f>
                    </m:oMath>
                  </m:oMathPara>
                </a14:m>
                <a:endParaRPr lang="en-GB" sz="1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6440568" y="3877473"/>
                <a:ext cx="3600400" cy="2860720"/>
              </a:xfrm>
              <a:prstGeom prst="rect">
                <a:avLst/>
              </a:prstGeom>
              <a:blipFill>
                <a:blip r:embed="rId13"/>
                <a:stretch>
                  <a:fillRect l="-508" t="-4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423094" y="588831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−5</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3423094" y="5888316"/>
                <a:ext cx="377816" cy="30777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989380" y="5896673"/>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4</m:t>
                      </m:r>
                    </m:oMath>
                  </m:oMathPara>
                </a14:m>
                <a:endParaRPr lang="en-GB"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4989380" y="5896673"/>
                <a:ext cx="377816" cy="307777"/>
              </a:xfrm>
              <a:prstGeom prst="rect">
                <a:avLst/>
              </a:prstGeom>
              <a:blipFill>
                <a:blip r:embed="rId15"/>
                <a:stretch>
                  <a:fillRect/>
                </a:stretch>
              </a:blipFill>
            </p:spPr>
            <p:txBody>
              <a:bodyPr/>
              <a:lstStyle/>
              <a:p>
                <a:r>
                  <a:rPr lang="en-GB">
                    <a:noFill/>
                  </a:rPr>
                  <a:t> </a:t>
                </a:r>
              </a:p>
            </p:txBody>
          </p:sp>
        </mc:Fallback>
      </mc:AlternateContent>
      <p:sp>
        <p:nvSpPr>
          <p:cNvPr id="29" name="Rectangle 28"/>
          <p:cNvSpPr/>
          <p:nvPr/>
        </p:nvSpPr>
        <p:spPr>
          <a:xfrm>
            <a:off x="2324689" y="3782595"/>
            <a:ext cx="7555712" cy="290369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6607927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childTnLst>
        </p:cTn>
      </p:par>
    </p:tnLst>
    <p:bldLst>
      <p:bldP spid="29" grpId="0" animBg="1"/>
    </p:bldLst>
  </p:timing>
</p:sld>
</file>

<file path=ppt/c13/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 name="Oval 22"/>
          <p:cNvSpPr/>
          <p:nvPr/>
        </p:nvSpPr>
        <p:spPr>
          <a:xfrm>
            <a:off x="1869424" y="4318634"/>
            <a:ext cx="1249200" cy="1249452"/>
          </a:xfrm>
          <a:prstGeom prst="ellipse">
            <a:avLst/>
          </a:prstGeom>
          <a:pattFill prst="dkDnDiag">
            <a:fgClr>
              <a:schemeClr val="bg1">
                <a:lumMod val="50000"/>
              </a:schemeClr>
            </a:fgClr>
            <a:bgClr>
              <a:schemeClr val="bg1"/>
            </a:bgClr>
          </a:patt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2" name="Group 17"/>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Just for your interest…</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979958" y="762286"/>
            <a:ext cx="6192688" cy="954107"/>
          </a:xfrm>
          <a:prstGeom prst="rect">
            <a:avLst/>
          </a:prstGeom>
          <a:noFill/>
        </p:spPr>
        <p:txBody>
          <a:bodyPr wrap="square" rtlCol="0">
            <a:spAutoFit/>
          </a:bodyPr>
          <a:lstStyle/>
          <a:p>
            <a:pPr algn="ctr"/>
            <a:r>
              <a:rPr lang="en-GB" sz="2800" dirty="0"/>
              <a:t>Why does integrating a function give you the area under the graph?</a:t>
            </a:r>
          </a:p>
        </p:txBody>
      </p:sp>
      <p:sp>
        <p:nvSpPr>
          <p:cNvPr id="11" name="TextBox 10"/>
          <p:cNvSpPr txBox="1"/>
          <p:nvPr/>
        </p:nvSpPr>
        <p:spPr>
          <a:xfrm>
            <a:off x="1974650" y="1780600"/>
            <a:ext cx="3537150" cy="2308324"/>
          </a:xfrm>
          <a:prstGeom prst="rect">
            <a:avLst/>
          </a:prstGeom>
          <a:noFill/>
        </p:spPr>
        <p:txBody>
          <a:bodyPr wrap="square" rtlCol="0">
            <a:spAutoFit/>
          </a:bodyPr>
          <a:lstStyle/>
          <a:p>
            <a:r>
              <a:rPr lang="en-GB" b="1" dirty="0"/>
              <a:t>Part 1:</a:t>
            </a:r>
          </a:p>
          <a:p>
            <a:r>
              <a:rPr lang="en-GB" sz="1400" dirty="0"/>
              <a:t>You’re already familiar with the idea that gradient is the rate at which a quantity changes, and we consider an infinitesimally small change in the variable.</a:t>
            </a:r>
          </a:p>
          <a:p>
            <a:r>
              <a:rPr lang="en-GB" sz="1400" b="1" dirty="0"/>
              <a:t>You could consider the gradient as the little bit you’re adding on each time.</a:t>
            </a:r>
          </a:p>
          <a:p>
            <a:endParaRPr lang="en-GB" sz="1400" dirty="0"/>
          </a:p>
          <a:p>
            <a:r>
              <a:rPr lang="en-GB" sz="1400" dirty="0"/>
              <a:t>Here’s some practical examples using formulae you covered in your younger years!</a:t>
            </a:r>
          </a:p>
        </p:txBody>
      </p:sp>
      <p:sp>
        <p:nvSpPr>
          <p:cNvPr id="17" name="Oval 16"/>
          <p:cNvSpPr/>
          <p:nvPr/>
        </p:nvSpPr>
        <p:spPr>
          <a:xfrm>
            <a:off x="1919536" y="4364354"/>
            <a:ext cx="1152700" cy="115212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TextBox 18"/>
              <p:cNvSpPr txBox="1"/>
              <p:nvPr/>
            </p:nvSpPr>
            <p:spPr>
              <a:xfrm>
                <a:off x="2572869" y="4158963"/>
                <a:ext cx="5040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𝑑𝑟</m:t>
                      </m:r>
                    </m:oMath>
                  </m:oMathPara>
                </a14:m>
                <a:endParaRPr lang="en-GB" sz="12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572869" y="4158963"/>
                <a:ext cx="504056" cy="276999"/>
              </a:xfrm>
              <a:prstGeom prst="rect">
                <a:avLst/>
              </a:prstGeom>
              <a:blipFill>
                <a:blip r:embed="rId3"/>
                <a:stretch>
                  <a:fillRect/>
                </a:stretch>
              </a:blipFill>
            </p:spPr>
            <p:txBody>
              <a:bodyPr/>
              <a:lstStyle/>
              <a:p>
                <a:r>
                  <a:rPr lang="en-GB">
                    <a:noFill/>
                  </a:rPr>
                  <a:t> </a:t>
                </a:r>
              </a:p>
            </p:txBody>
          </p:sp>
        </mc:Fallback>
      </mc:AlternateContent>
      <p:cxnSp>
        <p:nvCxnSpPr>
          <p:cNvPr id="22" name="Straight Arrow Connector 21"/>
          <p:cNvCxnSpPr/>
          <p:nvPr/>
        </p:nvCxnSpPr>
        <p:spPr>
          <a:xfrm flipV="1">
            <a:off x="2642422" y="4267201"/>
            <a:ext cx="69029" cy="20157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3160284" y="4188586"/>
                <a:ext cx="2834117" cy="2655792"/>
              </a:xfrm>
              <a:prstGeom prst="rect">
                <a:avLst/>
              </a:prstGeom>
              <a:noFill/>
            </p:spPr>
            <p:txBody>
              <a:bodyPr wrap="square" rtlCol="0">
                <a:spAutoFit/>
              </a:bodyPr>
              <a:lstStyle/>
              <a:p>
                <a:r>
                  <a:rPr lang="en-GB" sz="1400" dirty="0"/>
                  <a:t>If you wanted to consider the rate at which the area of a circle increases with respect to the radius, consider a small change </a:t>
                </a:r>
                <a14:m>
                  <m:oMath xmlns:m="http://schemas.openxmlformats.org/officeDocument/2006/math">
                    <m:r>
                      <a:rPr lang="en-GB" sz="1400" i="1">
                        <a:latin typeface="Cambria Math" panose="02040503050406030204" pitchFamily="18" charset="0"/>
                      </a:rPr>
                      <m:t>𝑑𝑟</m:t>
                    </m:r>
                  </m:oMath>
                </a14:m>
                <a:r>
                  <a:rPr lang="en-GB" sz="1400" dirty="0"/>
                  <a:t> in the radius.</a:t>
                </a:r>
              </a:p>
              <a:p>
                <a:r>
                  <a:rPr lang="en-GB" sz="1400" dirty="0"/>
                  <a:t>The change in area is an infinitely thin ring, which looks like you’ve drawn a circumference.</a:t>
                </a:r>
              </a:p>
              <a:p>
                <a:r>
                  <a:rPr lang="en-GB" sz="1400" dirty="0"/>
                  <a:t>So what is this rate?</a:t>
                </a:r>
              </a:p>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𝜋</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2</m:t>
                          </m:r>
                        </m:sup>
                      </m:sSup>
                    </m:oMath>
                    <m:oMath xmlns:m="http://schemas.openxmlformats.org/officeDocument/2006/math">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𝑑𝐴</m:t>
                          </m:r>
                        </m:num>
                        <m:den>
                          <m:r>
                            <a:rPr lang="en-GB" sz="1400" i="1">
                              <a:latin typeface="Cambria Math" panose="02040503050406030204" pitchFamily="18" charset="0"/>
                            </a:rPr>
                            <m:t>𝑑𝑟</m:t>
                          </m:r>
                        </m:den>
                      </m:f>
                      <m:r>
                        <a:rPr lang="en-GB" sz="1400" i="1">
                          <a:latin typeface="Cambria Math" panose="02040503050406030204" pitchFamily="18" charset="0"/>
                        </a:rPr>
                        <m:t>=2</m:t>
                      </m:r>
                      <m:r>
                        <a:rPr lang="en-GB" sz="1400" i="1">
                          <a:latin typeface="Cambria Math" panose="02040503050406030204" pitchFamily="18" charset="0"/>
                        </a:rPr>
                        <m:t>𝜋</m:t>
                      </m:r>
                      <m:r>
                        <a:rPr lang="en-GB" sz="1400" i="1">
                          <a:latin typeface="Cambria Math" panose="02040503050406030204" pitchFamily="18" charset="0"/>
                        </a:rPr>
                        <m:t>𝑟</m:t>
                      </m:r>
                    </m:oMath>
                  </m:oMathPara>
                </a14:m>
                <a:endParaRPr lang="en-GB" sz="1400" dirty="0"/>
              </a:p>
              <a:p>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160284" y="4188586"/>
                <a:ext cx="2834117" cy="2655792"/>
              </a:xfrm>
              <a:prstGeom prst="rect">
                <a:avLst/>
              </a:prstGeom>
              <a:blipFill>
                <a:blip r:embed="rId4"/>
                <a:stretch>
                  <a:fillRect l="-645" t="-459" r="-1290"/>
                </a:stretch>
              </a:blipFill>
            </p:spPr>
            <p:txBody>
              <a:bodyPr/>
              <a:lstStyle/>
              <a:p>
                <a:r>
                  <a:rPr lang="en-GB">
                    <a:noFill/>
                  </a:rPr>
                  <a:t> </a:t>
                </a:r>
              </a:p>
            </p:txBody>
          </p:sp>
        </mc:Fallback>
      </mc:AlternateContent>
      <p:cxnSp>
        <p:nvCxnSpPr>
          <p:cNvPr id="33" name="Straight Connector 32"/>
          <p:cNvCxnSpPr/>
          <p:nvPr/>
        </p:nvCxnSpPr>
        <p:spPr>
          <a:xfrm>
            <a:off x="5981462" y="2071481"/>
            <a:ext cx="0" cy="44644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flipV="1">
            <a:off x="2470151" y="4464100"/>
            <a:ext cx="179401" cy="5397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p:cNvSpPr txBox="1"/>
              <p:nvPr/>
            </p:nvSpPr>
            <p:spPr>
              <a:xfrm>
                <a:off x="2424907" y="4637481"/>
                <a:ext cx="5040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𝑟</m:t>
                      </m:r>
                    </m:oMath>
                  </m:oMathPara>
                </a14:m>
                <a:endParaRPr lang="en-GB"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424907" y="4637481"/>
                <a:ext cx="504056" cy="276999"/>
              </a:xfrm>
              <a:prstGeom prst="rect">
                <a:avLst/>
              </a:prstGeom>
              <a:blipFill>
                <a:blip r:embed="rId5"/>
                <a:stretch>
                  <a:fillRect/>
                </a:stretch>
              </a:blipFill>
            </p:spPr>
            <p:txBody>
              <a:bodyPr/>
              <a:lstStyle/>
              <a:p>
                <a:r>
                  <a:rPr lang="en-GB">
                    <a:noFill/>
                  </a:rPr>
                  <a:t> </a:t>
                </a:r>
              </a:p>
            </p:txBody>
          </p:sp>
        </mc:Fallback>
      </mc:AlternateContent>
      <p:sp>
        <p:nvSpPr>
          <p:cNvPr id="40" name="Oval 39"/>
          <p:cNvSpPr/>
          <p:nvPr/>
        </p:nvSpPr>
        <p:spPr>
          <a:xfrm>
            <a:off x="6382072" y="2142681"/>
            <a:ext cx="360000" cy="360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1" name="Oval 40"/>
          <p:cNvSpPr/>
          <p:nvPr/>
        </p:nvSpPr>
        <p:spPr>
          <a:xfrm>
            <a:off x="6417691" y="2178679"/>
            <a:ext cx="288000" cy="288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2" name="Oval 41"/>
          <p:cNvSpPr/>
          <p:nvPr/>
        </p:nvSpPr>
        <p:spPr>
          <a:xfrm>
            <a:off x="6452063" y="2217109"/>
            <a:ext cx="216000" cy="216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4" name="Oval 43"/>
          <p:cNvSpPr/>
          <p:nvPr/>
        </p:nvSpPr>
        <p:spPr>
          <a:xfrm>
            <a:off x="6345348" y="2104442"/>
            <a:ext cx="432000" cy="432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5" name="Oval 44"/>
          <p:cNvSpPr/>
          <p:nvPr/>
        </p:nvSpPr>
        <p:spPr>
          <a:xfrm>
            <a:off x="6308253" y="2067295"/>
            <a:ext cx="504000" cy="504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6" name="Oval 45"/>
          <p:cNvSpPr/>
          <p:nvPr/>
        </p:nvSpPr>
        <p:spPr>
          <a:xfrm>
            <a:off x="6269148" y="2033980"/>
            <a:ext cx="576000" cy="576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7" name="TextBox 46"/>
          <p:cNvSpPr txBox="1"/>
          <p:nvPr/>
        </p:nvSpPr>
        <p:spPr>
          <a:xfrm>
            <a:off x="6881781" y="1922626"/>
            <a:ext cx="3658629" cy="2031325"/>
          </a:xfrm>
          <a:prstGeom prst="rect">
            <a:avLst/>
          </a:prstGeom>
          <a:noFill/>
        </p:spPr>
        <p:txBody>
          <a:bodyPr wrap="square" rtlCol="0">
            <a:spAutoFit/>
          </a:bodyPr>
          <a:lstStyle/>
          <a:p>
            <a:r>
              <a:rPr lang="en-GB" sz="1400" dirty="0"/>
              <a:t>So to draw a shaded circle (which has area!), it’s a bit like repeatedly drawing the circumference of a circle with gradually increasing radius.</a:t>
            </a:r>
          </a:p>
          <a:p>
            <a:r>
              <a:rPr lang="en-GB" sz="1400" b="1" dirty="0"/>
              <a:t>Since the circumference is what the </a:t>
            </a:r>
            <a:r>
              <a:rPr lang="en-GB" sz="1400" b="1" u="sng" dirty="0"/>
              <a:t>area is increasing by each time</a:t>
            </a:r>
            <a:r>
              <a:rPr lang="en-GB" sz="1400" b="1" dirty="0"/>
              <a:t>, the circumference is the gradient of the area of the circle, and conversely (by the definition of integration being the opposite of differentiation), the area is the integral of the circumference.</a:t>
            </a:r>
          </a:p>
        </p:txBody>
      </p:sp>
      <mc:AlternateContent xmlns:mc="http://schemas.openxmlformats.org/markup-compatibility/2006" xmlns:a14="http://schemas.microsoft.com/office/drawing/2010/main">
        <mc:Choice Requires="a14">
          <p:sp>
            <p:nvSpPr>
              <p:cNvPr id="48" name="TextBox 47"/>
              <p:cNvSpPr txBox="1"/>
              <p:nvPr/>
            </p:nvSpPr>
            <p:spPr>
              <a:xfrm>
                <a:off x="6215984" y="3957128"/>
                <a:ext cx="4228732" cy="1735603"/>
              </a:xfrm>
              <a:prstGeom prst="rect">
                <a:avLst/>
              </a:prstGeom>
              <a:noFill/>
            </p:spPr>
            <p:txBody>
              <a:bodyPr wrap="square" rtlCol="0">
                <a:spAutoFit/>
              </a:bodyPr>
              <a:lstStyle/>
              <a:p>
                <a:r>
                  <a:rPr lang="en-GB" sz="1200" u="sng" dirty="0"/>
                  <a:t>you can’t add a length to an area </a:t>
                </a:r>
              </a:p>
              <a:p>
                <a:r>
                  <a:rPr lang="en-GB" sz="1200" dirty="0"/>
                  <a:t>But by considering the infinitely thin width </a:t>
                </a:r>
                <a14:m>
                  <m:oMath xmlns:m="http://schemas.openxmlformats.org/officeDocument/2006/math">
                    <m:r>
                      <a:rPr lang="en-GB" sz="1200" i="1">
                        <a:latin typeface="Cambria Math" panose="02040503050406030204" pitchFamily="18" charset="0"/>
                      </a:rPr>
                      <m:t>𝑑𝑟</m:t>
                    </m:r>
                  </m:oMath>
                </a14:m>
                <a:r>
                  <a:rPr lang="en-GB" sz="1200" dirty="0"/>
                  <a:t> of the circumference you’re drawing, it does have area!</a:t>
                </a:r>
              </a:p>
              <a:p>
                <a:pPr/>
                <a14:m>
                  <m:oMathPara xmlns:m="http://schemas.openxmlformats.org/officeDocument/2006/math">
                    <m:oMathParaPr>
                      <m:jc m:val="centerGroup"/>
                    </m:oMathParaPr>
                    <m:oMath xmlns:m="http://schemas.openxmlformats.org/officeDocument/2006/math">
                      <m:f>
                        <m:fPr>
                          <m:ctrlPr>
                            <a:rPr lang="en-GB" sz="1200" i="1">
                              <a:latin typeface="Cambria Math" panose="02040503050406030204" pitchFamily="18" charset="0"/>
                            </a:rPr>
                          </m:ctrlPr>
                        </m:fPr>
                        <m:num>
                          <m:r>
                            <a:rPr lang="en-GB" sz="1200" i="1">
                              <a:latin typeface="Cambria Math" panose="02040503050406030204" pitchFamily="18" charset="0"/>
                            </a:rPr>
                            <m:t>𝑑𝐴</m:t>
                          </m:r>
                        </m:num>
                        <m:den>
                          <m:r>
                            <a:rPr lang="en-GB" sz="1200" i="1">
                              <a:latin typeface="Cambria Math" panose="02040503050406030204" pitchFamily="18" charset="0"/>
                            </a:rPr>
                            <m:t>𝑑𝑟</m:t>
                          </m:r>
                        </m:den>
                      </m:f>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    </m:t>
                      </m:r>
                      <m:r>
                        <a:rPr lang="en-GB" sz="1200" i="1">
                          <a:latin typeface="Cambria Math" panose="02040503050406030204" pitchFamily="18" charset="0"/>
                        </a:rPr>
                        <m:t>𝑑𝐴</m:t>
                      </m:r>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m:t>
                      </m:r>
                      <m:r>
                        <a:rPr lang="en-GB" sz="1200" i="1">
                          <a:latin typeface="Cambria Math" panose="02040503050406030204" pitchFamily="18" charset="0"/>
                        </a:rPr>
                        <m:t>𝑑𝑟</m:t>
                      </m:r>
                    </m:oMath>
                  </m:oMathPara>
                </a14:m>
                <a:endParaRPr lang="en-GB" sz="1200" dirty="0"/>
              </a:p>
              <a:p>
                <a:r>
                  <a:rPr lang="en-GB" sz="1200" dirty="0"/>
                  <a:t>i.e. the change in area, </a:t>
                </a:r>
                <a14:m>
                  <m:oMath xmlns:m="http://schemas.openxmlformats.org/officeDocument/2006/math">
                    <m:r>
                      <a:rPr lang="en-GB" sz="1200" i="1">
                        <a:latin typeface="Cambria Math" panose="02040503050406030204" pitchFamily="18" charset="0"/>
                      </a:rPr>
                      <m:t>𝑑𝐴</m:t>
                    </m:r>
                  </m:oMath>
                </a14:m>
                <a:r>
                  <a:rPr lang="en-GB" sz="1200" dirty="0"/>
                  <a:t>, is </a:t>
                </a:r>
                <a14:m>
                  <m:oMath xmlns:m="http://schemas.openxmlformats.org/officeDocument/2006/math">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m:t>
                    </m:r>
                    <m:r>
                      <a:rPr lang="en-GB" sz="1200" i="1">
                        <a:latin typeface="Cambria Math" panose="02040503050406030204" pitchFamily="18" charset="0"/>
                      </a:rPr>
                      <m:t>𝑑𝑟</m:t>
                    </m:r>
                  </m:oMath>
                </a14:m>
                <a:endParaRPr lang="en-GB" sz="1200" dirty="0"/>
              </a:p>
              <a:p>
                <a:r>
                  <a:rPr lang="en-GB" sz="1200" dirty="0"/>
                  <a:t>If we ‘roll out’ the added area we’re adding each time, this forms a rectangle, whose length hopefully corresponds to the circumference of the circle:</a:t>
                </a:r>
              </a:p>
            </p:txBody>
          </p:sp>
        </mc:Choice>
        <mc:Fallback xmlns="">
          <p:sp>
            <p:nvSpPr>
              <p:cNvPr id="48" name="TextBox 47"/>
              <p:cNvSpPr txBox="1">
                <a:spLocks noRot="1" noChangeAspect="1" noMove="1" noResize="1" noEditPoints="1" noAdjustHandles="1" noChangeArrowheads="1" noChangeShapeType="1" noTextEdit="1"/>
              </p:cNvSpPr>
              <p:nvPr/>
            </p:nvSpPr>
            <p:spPr>
              <a:xfrm>
                <a:off x="6215984" y="3957128"/>
                <a:ext cx="4228732" cy="1735603"/>
              </a:xfrm>
              <a:prstGeom prst="rect">
                <a:avLst/>
              </a:prstGeom>
              <a:blipFill>
                <a:blip r:embed="rId6"/>
                <a:stretch>
                  <a:fillRect l="-144" r="-144" b="-1754"/>
                </a:stretch>
              </a:blipFill>
            </p:spPr>
            <p:txBody>
              <a:bodyPr/>
              <a:lstStyle/>
              <a:p>
                <a:r>
                  <a:rPr lang="en-GB">
                    <a:noFill/>
                  </a:rPr>
                  <a:t> </a:t>
                </a:r>
              </a:p>
            </p:txBody>
          </p:sp>
        </mc:Fallback>
      </mc:AlternateContent>
      <p:sp>
        <p:nvSpPr>
          <p:cNvPr id="49" name="Rectangle 48"/>
          <p:cNvSpPr/>
          <p:nvPr/>
        </p:nvSpPr>
        <p:spPr>
          <a:xfrm>
            <a:off x="6699543" y="6022544"/>
            <a:ext cx="3242360" cy="79995"/>
          </a:xfrm>
          <a:prstGeom prst="rect">
            <a:avLst/>
          </a:prstGeom>
          <a:pattFill prst="dkUpDiag">
            <a:fgClr>
              <a:schemeClr val="bg1">
                <a:lumMod val="75000"/>
              </a:schemeClr>
            </a:fgClr>
            <a:bgClr>
              <a:schemeClr val="bg1"/>
            </a:bgClr>
          </a:patt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0" name="TextBox 49"/>
              <p:cNvSpPr txBox="1"/>
              <p:nvPr/>
            </p:nvSpPr>
            <p:spPr>
              <a:xfrm>
                <a:off x="8026212" y="5681122"/>
                <a:ext cx="57606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m:t>
                      </m:r>
                    </m:oMath>
                  </m:oMathPara>
                </a14:m>
                <a:endParaRPr lang="en-GB" sz="1200" dirty="0"/>
              </a:p>
            </p:txBody>
          </p:sp>
        </mc:Choice>
        <mc:Fallback xmlns="">
          <p:sp>
            <p:nvSpPr>
              <p:cNvPr id="50" name="TextBox 49"/>
              <p:cNvSpPr txBox="1">
                <a:spLocks noRot="1" noChangeAspect="1" noMove="1" noResize="1" noEditPoints="1" noAdjustHandles="1" noChangeArrowheads="1" noChangeShapeType="1" noTextEdit="1"/>
              </p:cNvSpPr>
              <p:nvPr/>
            </p:nvSpPr>
            <p:spPr>
              <a:xfrm>
                <a:off x="8026212" y="5681122"/>
                <a:ext cx="576064" cy="276999"/>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9929728" y="5883142"/>
                <a:ext cx="57606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𝑑𝑟</m:t>
                      </m:r>
                    </m:oMath>
                  </m:oMathPara>
                </a14:m>
                <a:endParaRPr lang="en-GB" sz="1200" dirty="0"/>
              </a:p>
            </p:txBody>
          </p:sp>
        </mc:Choice>
        <mc:Fallback xmlns="">
          <p:sp>
            <p:nvSpPr>
              <p:cNvPr id="51" name="TextBox 50"/>
              <p:cNvSpPr txBox="1">
                <a:spLocks noRot="1" noChangeAspect="1" noMove="1" noResize="1" noEditPoints="1" noAdjustHandles="1" noChangeArrowheads="1" noChangeShapeType="1" noTextEdit="1"/>
              </p:cNvSpPr>
              <p:nvPr/>
            </p:nvSpPr>
            <p:spPr>
              <a:xfrm>
                <a:off x="9929728" y="5883142"/>
                <a:ext cx="576064" cy="276999"/>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6344244" y="6182584"/>
                <a:ext cx="4075324" cy="542969"/>
              </a:xfrm>
              <a:prstGeom prst="rect">
                <a:avLst/>
              </a:prstGeom>
              <a:noFill/>
            </p:spPr>
            <p:txBody>
              <a:bodyPr wrap="square" rtlCol="0">
                <a:spAutoFit/>
              </a:bodyPr>
              <a:lstStyle/>
              <a:p>
                <a:r>
                  <a:rPr lang="en-GB" sz="1200" dirty="0"/>
                  <a:t>If the added area is </a:t>
                </a:r>
                <a14:m>
                  <m:oMath xmlns:m="http://schemas.openxmlformats.org/officeDocument/2006/math">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m:t>
                    </m:r>
                    <m:r>
                      <a:rPr lang="en-GB" sz="1200" i="1">
                        <a:latin typeface="Cambria Math" panose="02040503050406030204" pitchFamily="18" charset="0"/>
                      </a:rPr>
                      <m:t>𝑑𝑟</m:t>
                    </m:r>
                  </m:oMath>
                </a14:m>
                <a:r>
                  <a:rPr lang="en-GB" sz="1200" dirty="0"/>
                  <a:t> and the thickness is </a:t>
                </a:r>
                <a14:m>
                  <m:oMath xmlns:m="http://schemas.openxmlformats.org/officeDocument/2006/math">
                    <m:r>
                      <a:rPr lang="en-GB" sz="1200" i="1">
                        <a:latin typeface="Cambria Math" panose="02040503050406030204" pitchFamily="18" charset="0"/>
                      </a:rPr>
                      <m:t>𝑑𝑟</m:t>
                    </m:r>
                  </m:oMath>
                </a14:m>
                <a:r>
                  <a:rPr lang="en-GB" sz="1200" dirty="0"/>
                  <a:t>, then the length is </a:t>
                </a:r>
                <a14:m>
                  <m:oMath xmlns:m="http://schemas.openxmlformats.org/officeDocument/2006/math">
                    <m:f>
                      <m:fPr>
                        <m:ctrlPr>
                          <a:rPr lang="en-GB" sz="1200" i="1">
                            <a:latin typeface="Cambria Math" panose="02040503050406030204" pitchFamily="18" charset="0"/>
                          </a:rPr>
                        </m:ctrlPr>
                      </m:fPr>
                      <m:num>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r>
                          <a:rPr lang="en-GB" sz="1200" i="1">
                            <a:latin typeface="Cambria Math" panose="02040503050406030204" pitchFamily="18" charset="0"/>
                          </a:rPr>
                          <m:t> </m:t>
                        </m:r>
                        <m:r>
                          <a:rPr lang="en-GB" sz="1200" i="1">
                            <a:latin typeface="Cambria Math" panose="02040503050406030204" pitchFamily="18" charset="0"/>
                          </a:rPr>
                          <m:t>𝑑𝑟</m:t>
                        </m:r>
                      </m:num>
                      <m:den>
                        <m:r>
                          <a:rPr lang="en-GB" sz="1200" i="1">
                            <a:latin typeface="Cambria Math" panose="02040503050406030204" pitchFamily="18" charset="0"/>
                          </a:rPr>
                          <m:t>𝑑𝑟</m:t>
                        </m:r>
                      </m:den>
                    </m:f>
                    <m:r>
                      <a:rPr lang="en-GB" sz="1200" i="1">
                        <a:latin typeface="Cambria Math" panose="02040503050406030204" pitchFamily="18" charset="0"/>
                      </a:rPr>
                      <m:t>=2</m:t>
                    </m:r>
                    <m:r>
                      <a:rPr lang="en-GB" sz="1200" i="1">
                        <a:latin typeface="Cambria Math" panose="02040503050406030204" pitchFamily="18" charset="0"/>
                      </a:rPr>
                      <m:t>𝜋</m:t>
                    </m:r>
                    <m:r>
                      <a:rPr lang="en-GB" sz="1200" i="1">
                        <a:latin typeface="Cambria Math" panose="02040503050406030204" pitchFamily="18" charset="0"/>
                      </a:rPr>
                      <m:t>𝑟</m:t>
                    </m:r>
                  </m:oMath>
                </a14:m>
                <a:r>
                  <a:rPr lang="en-GB" sz="1200" dirty="0"/>
                  <a:t> as expected.</a:t>
                </a:r>
              </a:p>
            </p:txBody>
          </p:sp>
        </mc:Choice>
        <mc:Fallback xmlns="">
          <p:sp>
            <p:nvSpPr>
              <p:cNvPr id="53" name="TextBox 52"/>
              <p:cNvSpPr txBox="1">
                <a:spLocks noRot="1" noChangeAspect="1" noMove="1" noResize="1" noEditPoints="1" noAdjustHandles="1" noChangeArrowheads="1" noChangeShapeType="1" noTextEdit="1"/>
              </p:cNvSpPr>
              <p:nvPr/>
            </p:nvSpPr>
            <p:spPr>
              <a:xfrm>
                <a:off x="6344244" y="6182584"/>
                <a:ext cx="4075324" cy="542969"/>
              </a:xfrm>
              <a:prstGeom prst="rect">
                <a:avLst/>
              </a:prstGeom>
              <a:blipFill>
                <a:blip r:embed="rId9"/>
                <a:stretch>
                  <a:fillRect l="-150" b="-1124"/>
                </a:stretch>
              </a:blipFill>
            </p:spPr>
            <p:txBody>
              <a:bodyPr/>
              <a:lstStyle/>
              <a:p>
                <a:r>
                  <a:rPr lang="en-GB">
                    <a:noFill/>
                  </a:rPr>
                  <a:t> </a:t>
                </a:r>
              </a:p>
            </p:txBody>
          </p:sp>
        </mc:Fallback>
      </mc:AlternateContent>
      <p:cxnSp>
        <p:nvCxnSpPr>
          <p:cNvPr id="55" name="Straight Arrow Connector 54"/>
          <p:cNvCxnSpPr/>
          <p:nvPr/>
        </p:nvCxnSpPr>
        <p:spPr>
          <a:xfrm>
            <a:off x="6699543" y="5915039"/>
            <a:ext cx="324236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0040679" y="5922335"/>
            <a:ext cx="0" cy="23391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Arrow: Right 59"/>
          <p:cNvSpPr/>
          <p:nvPr/>
        </p:nvSpPr>
        <p:spPr>
          <a:xfrm rot="19146225">
            <a:off x="5761918" y="3592648"/>
            <a:ext cx="415679" cy="23007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7078604"/>
      </p:ext>
    </p:extLst>
  </p:cSld>
  <p:clrMapOvr>
    <a:overrideClrMapping bg1="lt1" tx1="dk1" bg2="lt2" tx2="dk2" accent1="accent1" accent2="accent2" accent3="accent3" accent4="accent4" accent5="accent5" accent6="accent6" hlink="hlink" folHlink="folHlink"/>
  </p:clrMapOvr>
</p:sld>
</file>

<file path=ppt/c13/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TextBox 44"/>
              <p:cNvSpPr txBox="1"/>
              <p:nvPr/>
            </p:nvSpPr>
            <p:spPr>
              <a:xfrm>
                <a:off x="6552262" y="3985821"/>
                <a:ext cx="4010115" cy="271343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Since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the area function </a:t>
                </a:r>
                <a14:m>
                  <m:oMath xmlns:m="http://schemas.openxmlformats.org/officeDocument/2006/math">
                    <m:r>
                      <a:rPr lang="en-GB" sz="1400" i="1" dirty="0">
                        <a:latin typeface="Cambria Math" panose="02040503050406030204" pitchFamily="18" charset="0"/>
                      </a:rPr>
                      <m:t>𝐴</m:t>
                    </m:r>
                    <m:r>
                      <a:rPr lang="en-GB" sz="1400" i="1" dirty="0">
                        <a:latin typeface="Cambria Math" panose="02040503050406030204" pitchFamily="18" charset="0"/>
                      </a:rPr>
                      <m:t>(</m:t>
                    </m:r>
                    <m:r>
                      <a:rPr lang="en-GB" sz="1400" i="1" dirty="0">
                        <a:latin typeface="Cambria Math" panose="02040503050406030204" pitchFamily="18" charset="0"/>
                      </a:rPr>
                      <m:t>𝑥</m:t>
                    </m:r>
                    <m:r>
                      <a:rPr lang="en-GB" sz="1400" i="1" dirty="0">
                        <a:latin typeface="Cambria Math" panose="02040503050406030204" pitchFamily="18" charset="0"/>
                      </a:rPr>
                      <m:t>)</m:t>
                    </m:r>
                  </m:oMath>
                </a14:m>
                <a:r>
                  <a:rPr lang="en-GB" sz="1400" dirty="0"/>
                  <a:t> is the integral of </a:t>
                </a:r>
                <a14:m>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Thus:</a:t>
                </a:r>
              </a:p>
              <a:p>
                <a:pPr/>
                <a14:m>
                  <m:oMathPara xmlns:m="http://schemas.openxmlformats.org/officeDocument/2006/math">
                    <m:oMathParaPr>
                      <m:jc m:val="centerGroup"/>
                    </m:oMathParaPr>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𝑏</m:t>
                          </m:r>
                        </m:sub>
                        <m:sup>
                          <m:r>
                            <a:rPr lang="en-GB" sz="1400" i="1">
                              <a:latin typeface="Cambria Math" panose="02040503050406030204" pitchFamily="18" charset="0"/>
                            </a:rPr>
                            <m:t>𝑎</m:t>
                          </m:r>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r>
                        <a:rPr lang="en-GB" sz="1400" i="1">
                          <a:latin typeface="Cambria Math" panose="02040503050406030204" pitchFamily="18" charset="0"/>
                        </a:rPr>
                        <m:t>=</m:t>
                      </m:r>
                      <m:sSubSup>
                        <m:sSubSupPr>
                          <m:ctrlPr>
                            <a:rPr lang="en-GB" sz="1400" i="1">
                              <a:latin typeface="Cambria Math" panose="02040503050406030204" pitchFamily="18" charset="0"/>
                            </a:rPr>
                          </m:ctrlPr>
                        </m:sSubSupPr>
                        <m:e>
                          <m:d>
                            <m:dPr>
                              <m:begChr m:val="["/>
                              <m:endChr m:val="]"/>
                              <m:ctrlPr>
                                <a:rPr lang="en-GB" sz="1400" i="1">
                                  <a:latin typeface="Cambria Math" panose="02040503050406030204" pitchFamily="18" charset="0"/>
                                </a:rPr>
                              </m:ctrlPr>
                            </m:dPr>
                            <m:e>
                              <m:r>
                                <a:rPr lang="en-GB" sz="1400" i="1">
                                  <a:latin typeface="Cambria Math" panose="02040503050406030204" pitchFamily="18" charset="0"/>
                                </a:rPr>
                                <m:t>𝐴</m:t>
                              </m:r>
                              <m:d>
                                <m:dPr>
                                  <m:ctrlPr>
                                    <a:rPr lang="en-GB" sz="1400" i="1">
                                      <a:latin typeface="Cambria Math" panose="02040503050406030204" pitchFamily="18" charset="0"/>
                                    </a:rPr>
                                  </m:ctrlPr>
                                </m:dPr>
                                <m:e>
                                  <m:r>
                                    <a:rPr lang="en-GB" sz="1400" i="1">
                                      <a:latin typeface="Cambria Math" panose="02040503050406030204" pitchFamily="18" charset="0"/>
                                    </a:rPr>
                                    <m:t>𝑥</m:t>
                                  </m:r>
                                </m:e>
                              </m:d>
                            </m:e>
                          </m:d>
                        </m:e>
                        <m:sub>
                          <m:r>
                            <a:rPr lang="en-GB" sz="1400" i="1">
                              <a:latin typeface="Cambria Math" panose="02040503050406030204" pitchFamily="18" charset="0"/>
                            </a:rPr>
                            <m:t>𝑎</m:t>
                          </m:r>
                        </m:sub>
                        <m:sup>
                          <m:r>
                            <a:rPr lang="en-GB" sz="1400" i="1">
                              <a:latin typeface="Cambria Math" panose="02040503050406030204" pitchFamily="18" charset="0"/>
                            </a:rPr>
                            <m:t>𝑏</m:t>
                          </m:r>
                        </m:sup>
                      </m:sSubSup>
                      <m:r>
                        <a:rPr lang="en-GB" sz="1400" i="1">
                          <a:latin typeface="Cambria Math" panose="02040503050406030204" pitchFamily="18" charset="0"/>
                        </a:rPr>
                        <m:t>    =</m:t>
                      </m:r>
                      <m:r>
                        <a:rPr lang="en-GB" sz="1400" i="1">
                          <a:latin typeface="Cambria Math" panose="02040503050406030204" pitchFamily="18" charset="0"/>
                        </a:rPr>
                        <m:t>𝐴</m:t>
                      </m:r>
                      <m:d>
                        <m:dPr>
                          <m:ctrlPr>
                            <a:rPr lang="en-GB" sz="1400" i="1">
                              <a:latin typeface="Cambria Math" panose="02040503050406030204" pitchFamily="18" charset="0"/>
                            </a:rPr>
                          </m:ctrlPr>
                        </m:dPr>
                        <m:e>
                          <m:r>
                            <a:rPr lang="en-GB" sz="1400" i="1">
                              <a:latin typeface="Cambria Math" panose="02040503050406030204" pitchFamily="18" charset="0"/>
                            </a:rPr>
                            <m:t>𝑏</m:t>
                          </m:r>
                        </m:e>
                      </m:d>
                      <m:r>
                        <a:rPr lang="en-GB" sz="1400" i="1">
                          <a:latin typeface="Cambria Math" panose="02040503050406030204" pitchFamily="18" charset="0"/>
                        </a:rPr>
                        <m:t>−</m:t>
                      </m:r>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𝑎</m:t>
                      </m:r>
                      <m:r>
                        <a:rPr lang="en-GB" sz="1400" i="1">
                          <a:latin typeface="Cambria Math" panose="02040503050406030204" pitchFamily="18" charset="0"/>
                        </a:rPr>
                        <m:t>)</m:t>
                      </m:r>
                    </m:oMath>
                  </m:oMathPara>
                </a14:m>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6552262" y="3985821"/>
                <a:ext cx="4010115" cy="2713435"/>
              </a:xfrm>
              <a:prstGeom prst="rect">
                <a:avLst/>
              </a:prstGeom>
              <a:blipFill>
                <a:blip r:embed="rId2"/>
                <a:stretch>
                  <a:fillRect l="-3179" t="-1136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5" name="Freeform: Shape 64"/>
          <p:cNvSpPr/>
          <p:nvPr/>
        </p:nvSpPr>
        <p:spPr>
          <a:xfrm>
            <a:off x="7041244" y="5549900"/>
            <a:ext cx="680357" cy="654050"/>
          </a:xfrm>
          <a:custGeom>
            <a:avLst/>
            <a:gdLst>
              <a:gd name="connsiteX0" fmla="*/ 0 w 730250"/>
              <a:gd name="connsiteY0" fmla="*/ 641350 h 641350"/>
              <a:gd name="connsiteX1" fmla="*/ 730250 w 730250"/>
              <a:gd name="connsiteY1" fmla="*/ 641350 h 641350"/>
              <a:gd name="connsiteX2" fmla="*/ 723900 w 730250"/>
              <a:gd name="connsiteY2" fmla="*/ 0 h 641350"/>
              <a:gd name="connsiteX3" fmla="*/ 482600 w 730250"/>
              <a:gd name="connsiteY3" fmla="*/ 76200 h 641350"/>
              <a:gd name="connsiteX4" fmla="*/ 298450 w 730250"/>
              <a:gd name="connsiteY4" fmla="*/ 158750 h 641350"/>
              <a:gd name="connsiteX5" fmla="*/ 6350 w 730250"/>
              <a:gd name="connsiteY5" fmla="*/ 24765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250" h="641350">
                <a:moveTo>
                  <a:pt x="0" y="641350"/>
                </a:moveTo>
                <a:lnTo>
                  <a:pt x="730250" y="641350"/>
                </a:lnTo>
                <a:cubicBezTo>
                  <a:pt x="728133" y="427567"/>
                  <a:pt x="726017" y="213783"/>
                  <a:pt x="723900" y="0"/>
                </a:cubicBezTo>
                <a:lnTo>
                  <a:pt x="482600" y="76200"/>
                </a:lnTo>
                <a:lnTo>
                  <a:pt x="298450" y="158750"/>
                </a:lnTo>
                <a:lnTo>
                  <a:pt x="6350" y="247650"/>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p:cNvSpPr/>
          <p:nvPr/>
        </p:nvSpPr>
        <p:spPr>
          <a:xfrm>
            <a:off x="6739322" y="740504"/>
            <a:ext cx="1956392" cy="1180214"/>
          </a:xfrm>
          <a:custGeom>
            <a:avLst/>
            <a:gdLst>
              <a:gd name="connsiteX0" fmla="*/ 0 w 1945759"/>
              <a:gd name="connsiteY0" fmla="*/ 669851 h 1180214"/>
              <a:gd name="connsiteX1" fmla="*/ 1105786 w 1945759"/>
              <a:gd name="connsiteY1" fmla="*/ 340242 h 1180214"/>
              <a:gd name="connsiteX2" fmla="*/ 1435396 w 1945759"/>
              <a:gd name="connsiteY2" fmla="*/ 212651 h 1180214"/>
              <a:gd name="connsiteX3" fmla="*/ 1807535 w 1945759"/>
              <a:gd name="connsiteY3" fmla="*/ 53163 h 1180214"/>
              <a:gd name="connsiteX4" fmla="*/ 1945759 w 1945759"/>
              <a:gd name="connsiteY4" fmla="*/ 0 h 1180214"/>
              <a:gd name="connsiteX5" fmla="*/ 1945759 w 1945759"/>
              <a:gd name="connsiteY5" fmla="*/ 1180214 h 1180214"/>
              <a:gd name="connsiteX6" fmla="*/ 31898 w 1945759"/>
              <a:gd name="connsiteY6" fmla="*/ 1180214 h 1180214"/>
              <a:gd name="connsiteX7" fmla="*/ 0 w 1945759"/>
              <a:gd name="connsiteY7" fmla="*/ 669851 h 1180214"/>
              <a:gd name="connsiteX0" fmla="*/ 10633 w 1956392"/>
              <a:gd name="connsiteY0" fmla="*/ 669851 h 1180214"/>
              <a:gd name="connsiteX1" fmla="*/ 1116419 w 1956392"/>
              <a:gd name="connsiteY1" fmla="*/ 340242 h 1180214"/>
              <a:gd name="connsiteX2" fmla="*/ 1446029 w 1956392"/>
              <a:gd name="connsiteY2" fmla="*/ 212651 h 1180214"/>
              <a:gd name="connsiteX3" fmla="*/ 1818168 w 1956392"/>
              <a:gd name="connsiteY3" fmla="*/ 53163 h 1180214"/>
              <a:gd name="connsiteX4" fmla="*/ 1956392 w 1956392"/>
              <a:gd name="connsiteY4" fmla="*/ 0 h 1180214"/>
              <a:gd name="connsiteX5" fmla="*/ 1956392 w 1956392"/>
              <a:gd name="connsiteY5" fmla="*/ 1180214 h 1180214"/>
              <a:gd name="connsiteX6" fmla="*/ 0 w 1956392"/>
              <a:gd name="connsiteY6" fmla="*/ 1180214 h 1180214"/>
              <a:gd name="connsiteX7" fmla="*/ 10633 w 1956392"/>
              <a:gd name="connsiteY7" fmla="*/ 669851 h 118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6392" h="1180214">
                <a:moveTo>
                  <a:pt x="10633" y="669851"/>
                </a:moveTo>
                <a:lnTo>
                  <a:pt x="1116419" y="340242"/>
                </a:lnTo>
                <a:lnTo>
                  <a:pt x="1446029" y="212651"/>
                </a:lnTo>
                <a:lnTo>
                  <a:pt x="1818168" y="53163"/>
                </a:lnTo>
                <a:lnTo>
                  <a:pt x="1956392" y="0"/>
                </a:lnTo>
                <a:lnTo>
                  <a:pt x="1956392" y="1180214"/>
                </a:lnTo>
                <a:lnTo>
                  <a:pt x="0" y="1180214"/>
                </a:lnTo>
                <a:lnTo>
                  <a:pt x="10633" y="669851"/>
                </a:lnTo>
                <a:close/>
              </a:path>
            </a:pathLst>
          </a:cu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2184218" y="549571"/>
            <a:ext cx="943777" cy="369332"/>
          </a:xfrm>
          <a:prstGeom prst="rect">
            <a:avLst/>
          </a:prstGeom>
          <a:noFill/>
        </p:spPr>
        <p:txBody>
          <a:bodyPr wrap="square" rtlCol="0">
            <a:spAutoFit/>
          </a:bodyPr>
          <a:lstStyle/>
          <a:p>
            <a:r>
              <a:rPr lang="en-GB" b="1" dirty="0"/>
              <a:t>Part 2:</a:t>
            </a:r>
          </a:p>
        </p:txBody>
      </p:sp>
      <p:sp>
        <p:nvSpPr>
          <p:cNvPr id="6" name="Oval 5"/>
          <p:cNvSpPr/>
          <p:nvPr/>
        </p:nvSpPr>
        <p:spPr>
          <a:xfrm>
            <a:off x="2039372" y="1460578"/>
            <a:ext cx="1008112"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 name="Oval 6"/>
          <p:cNvSpPr/>
          <p:nvPr/>
        </p:nvSpPr>
        <p:spPr>
          <a:xfrm>
            <a:off x="2048024" y="1794515"/>
            <a:ext cx="1001731" cy="328204"/>
          </a:xfrm>
          <a:prstGeom prst="ellipse">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p:cNvSpPr txBox="1"/>
              <p:nvPr/>
            </p:nvSpPr>
            <p:spPr>
              <a:xfrm>
                <a:off x="3095807" y="1298327"/>
                <a:ext cx="1910337" cy="1613199"/>
              </a:xfrm>
              <a:prstGeom prst="rect">
                <a:avLst/>
              </a:prstGeom>
              <a:noFill/>
            </p:spPr>
            <p:txBody>
              <a:bodyPr wrap="square" rtlCol="0">
                <a:spAutoFit/>
              </a:bodyPr>
              <a:lstStyle/>
              <a:p>
                <a:r>
                  <a:rPr lang="en-GB" sz="1400" dirty="0"/>
                  <a:t>Consider the volume of a sphere:</a:t>
                </a:r>
              </a:p>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𝑉</m:t>
                      </m:r>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4</m:t>
                          </m:r>
                        </m:num>
                        <m:den>
                          <m:r>
                            <a:rPr lang="en-GB" sz="1400" i="1">
                              <a:latin typeface="Cambria Math" panose="02040503050406030204" pitchFamily="18" charset="0"/>
                            </a:rPr>
                            <m:t>3</m:t>
                          </m:r>
                        </m:den>
                      </m:f>
                      <m:r>
                        <a:rPr lang="en-GB" sz="1400" i="1">
                          <a:latin typeface="Cambria Math" panose="02040503050406030204" pitchFamily="18" charset="0"/>
                        </a:rPr>
                        <m:t>𝜋</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3</m:t>
                          </m:r>
                        </m:sup>
                      </m:sSup>
                    </m:oMath>
                    <m:oMath xmlns:m="http://schemas.openxmlformats.org/officeDocument/2006/math">
                      <m:f>
                        <m:fPr>
                          <m:ctrlPr>
                            <a:rPr lang="en-GB" sz="1400" i="1">
                              <a:latin typeface="Cambria Math" panose="02040503050406030204" pitchFamily="18" charset="0"/>
                            </a:rPr>
                          </m:ctrlPr>
                        </m:fPr>
                        <m:num>
                          <m:r>
                            <a:rPr lang="en-GB" sz="1400" i="1">
                              <a:latin typeface="Cambria Math" panose="02040503050406030204" pitchFamily="18" charset="0"/>
                            </a:rPr>
                            <m:t>𝑑𝑉</m:t>
                          </m:r>
                        </m:num>
                        <m:den>
                          <m:r>
                            <a:rPr lang="en-GB" sz="1400" i="1">
                              <a:latin typeface="Cambria Math" panose="02040503050406030204" pitchFamily="18" charset="0"/>
                            </a:rPr>
                            <m:t>𝑑𝑟</m:t>
                          </m:r>
                        </m:den>
                      </m:f>
                      <m:r>
                        <a:rPr lang="en-GB" sz="1400" i="1">
                          <a:latin typeface="Cambria Math" panose="02040503050406030204" pitchFamily="18" charset="0"/>
                        </a:rPr>
                        <m:t>=4</m:t>
                      </m:r>
                      <m:r>
                        <a:rPr lang="en-GB" sz="1400" i="1">
                          <a:latin typeface="Cambria Math" panose="02040503050406030204" pitchFamily="18" charset="0"/>
                        </a:rPr>
                        <m:t>𝜋</m:t>
                      </m:r>
                      <m:sSup>
                        <m:sSupPr>
                          <m:ctrlPr>
                            <a:rPr lang="en-GB" sz="1400" i="1">
                              <a:latin typeface="Cambria Math" panose="02040503050406030204" pitchFamily="18" charset="0"/>
                            </a:rPr>
                          </m:ctrlPr>
                        </m:sSupPr>
                        <m:e>
                          <m:r>
                            <a:rPr lang="en-GB" sz="1400" i="1">
                              <a:latin typeface="Cambria Math" panose="02040503050406030204" pitchFamily="18" charset="0"/>
                            </a:rPr>
                            <m:t>𝑟</m:t>
                          </m:r>
                        </m:e>
                        <m:sup>
                          <m:r>
                            <a:rPr lang="en-GB" sz="1400" i="1">
                              <a:latin typeface="Cambria Math" panose="02040503050406030204" pitchFamily="18" charset="0"/>
                            </a:rPr>
                            <m:t>2</m:t>
                          </m:r>
                        </m:sup>
                      </m:sSup>
                    </m:oMath>
                  </m:oMathPara>
                </a14:m>
                <a:endParaRPr lang="en-GB" sz="1400" dirty="0"/>
              </a:p>
              <a:p>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3095807" y="1298327"/>
                <a:ext cx="1910337" cy="1613199"/>
              </a:xfrm>
              <a:prstGeom prst="rect">
                <a:avLst/>
              </a:prstGeom>
              <a:blipFill>
                <a:blip r:embed="rId3"/>
                <a:stretch>
                  <a:fillRect l="-958" t="-755" r="-958"/>
                </a:stretch>
              </a:blipFill>
            </p:spPr>
            <p:txBody>
              <a:bodyPr/>
              <a:lstStyle/>
              <a:p>
                <a:r>
                  <a:rPr lang="en-GB">
                    <a:noFill/>
                  </a:rPr>
                  <a:t> </a:t>
                </a:r>
              </a:p>
            </p:txBody>
          </p:sp>
        </mc:Fallback>
      </mc:AlternateContent>
      <p:sp>
        <p:nvSpPr>
          <p:cNvPr id="11" name="TextBox 10"/>
          <p:cNvSpPr txBox="1"/>
          <p:nvPr/>
        </p:nvSpPr>
        <p:spPr>
          <a:xfrm>
            <a:off x="1895215" y="2613538"/>
            <a:ext cx="3238987" cy="584775"/>
          </a:xfrm>
          <a:prstGeom prst="rect">
            <a:avLst/>
          </a:prstGeom>
          <a:noFill/>
        </p:spPr>
        <p:txBody>
          <a:bodyPr wrap="square" rtlCol="0">
            <a:spAutoFit/>
          </a:bodyPr>
          <a:lstStyle/>
          <a:p>
            <a:r>
              <a:rPr lang="en-GB" sz="1400" dirty="0"/>
              <a:t>This works for a similar reason to before.</a:t>
            </a:r>
          </a:p>
          <a:p>
            <a:endParaRPr lang="en-GB" dirty="0"/>
          </a:p>
        </p:txBody>
      </p:sp>
      <p:cxnSp>
        <p:nvCxnSpPr>
          <p:cNvPr id="13" name="Straight Arrow Connector 12"/>
          <p:cNvCxnSpPr/>
          <p:nvPr/>
        </p:nvCxnSpPr>
        <p:spPr>
          <a:xfrm flipH="1" flipV="1">
            <a:off x="7223857" y="631703"/>
            <a:ext cx="7649" cy="12894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6655441" y="1921169"/>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Freeform: Shape 18"/>
          <p:cNvSpPr/>
          <p:nvPr/>
        </p:nvSpPr>
        <p:spPr>
          <a:xfrm>
            <a:off x="6749955" y="644812"/>
            <a:ext cx="2573080" cy="776177"/>
          </a:xfrm>
          <a:custGeom>
            <a:avLst/>
            <a:gdLst>
              <a:gd name="connsiteX0" fmla="*/ 0 w 2573080"/>
              <a:gd name="connsiteY0" fmla="*/ 776177 h 776177"/>
              <a:gd name="connsiteX1" fmla="*/ 1275907 w 2573080"/>
              <a:gd name="connsiteY1" fmla="*/ 382772 h 776177"/>
              <a:gd name="connsiteX2" fmla="*/ 1924493 w 2573080"/>
              <a:gd name="connsiteY2" fmla="*/ 106326 h 776177"/>
              <a:gd name="connsiteX3" fmla="*/ 2573080 w 2573080"/>
              <a:gd name="connsiteY3" fmla="*/ 0 h 776177"/>
            </a:gdLst>
            <a:ahLst/>
            <a:cxnLst>
              <a:cxn ang="0">
                <a:pos x="connsiteX0" y="connsiteY0"/>
              </a:cxn>
              <a:cxn ang="0">
                <a:pos x="connsiteX1" y="connsiteY1"/>
              </a:cxn>
              <a:cxn ang="0">
                <a:pos x="connsiteX2" y="connsiteY2"/>
              </a:cxn>
              <a:cxn ang="0">
                <a:pos x="connsiteX3" y="connsiteY3"/>
              </a:cxn>
            </a:cxnLst>
            <a:rect l="l" t="t" r="r" b="b"/>
            <a:pathLst>
              <a:path w="2573080" h="776177">
                <a:moveTo>
                  <a:pt x="0" y="776177"/>
                </a:moveTo>
                <a:cubicBezTo>
                  <a:pt x="477579" y="635295"/>
                  <a:pt x="955158" y="494414"/>
                  <a:pt x="1275907" y="382772"/>
                </a:cubicBezTo>
                <a:cubicBezTo>
                  <a:pt x="1596656" y="271130"/>
                  <a:pt x="1708297" y="170121"/>
                  <a:pt x="1924493" y="106326"/>
                </a:cubicBezTo>
                <a:cubicBezTo>
                  <a:pt x="2140689" y="42531"/>
                  <a:pt x="2356884" y="21265"/>
                  <a:pt x="25730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20"/>
              <p:cNvSpPr txBox="1"/>
              <p:nvPr/>
            </p:nvSpPr>
            <p:spPr>
              <a:xfrm>
                <a:off x="8577499" y="1471131"/>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8577499" y="1471131"/>
                <a:ext cx="347884" cy="3077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8192588" y="1105092"/>
                <a:ext cx="4981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m:oMathPara>
                </a14:m>
                <a:endParaRPr lang="en-GB" sz="1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8192588" y="1105092"/>
                <a:ext cx="498118" cy="307777"/>
              </a:xfrm>
              <a:prstGeom prst="rect">
                <a:avLst/>
              </a:prstGeom>
              <a:blipFill>
                <a:blip r:embed="rId5"/>
                <a:stretch>
                  <a:fillRect r="-3659"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563021" y="1330611"/>
                <a:ext cx="4734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7563021" y="1330611"/>
                <a:ext cx="473475" cy="369332"/>
              </a:xfrm>
              <a:prstGeom prst="rect">
                <a:avLst/>
              </a:prstGeom>
              <a:blipFill>
                <a:blip r:embed="rId6"/>
                <a:stretch>
                  <a:fillRect r="-42857" b="-13115"/>
                </a:stretch>
              </a:blipFill>
            </p:spPr>
            <p:txBody>
              <a:bodyPr/>
              <a:lstStyle/>
              <a:p>
                <a:r>
                  <a:rPr lang="en-GB">
                    <a:noFill/>
                  </a:rPr>
                  <a:t> </a:t>
                </a:r>
              </a:p>
            </p:txBody>
          </p:sp>
        </mc:Fallback>
      </mc:AlternateContent>
      <p:sp>
        <p:nvSpPr>
          <p:cNvPr id="24" name="Rectangle 23"/>
          <p:cNvSpPr/>
          <p:nvPr/>
        </p:nvSpPr>
        <p:spPr>
          <a:xfrm>
            <a:off x="8695714" y="719240"/>
            <a:ext cx="265814" cy="1201479"/>
          </a:xfrm>
          <a:prstGeom prst="rect">
            <a:avLst/>
          </a:prstGeom>
          <a:solidFill>
            <a:schemeClr val="accent2">
              <a:alpha val="61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5938101" y="1899939"/>
                <a:ext cx="4710223" cy="1384995"/>
              </a:xfrm>
              <a:prstGeom prst="rect">
                <a:avLst/>
              </a:prstGeom>
              <a:noFill/>
            </p:spPr>
            <p:txBody>
              <a:bodyPr wrap="square" rtlCol="0">
                <a:spAutoFit/>
              </a:bodyPr>
              <a:lstStyle/>
              <a:p>
                <a:r>
                  <a:rPr lang="en-GB" sz="1400" dirty="0"/>
                  <a:t>And the same principle applies to area under a graph. If </a:t>
                </a:r>
                <a14:m>
                  <m:oMath xmlns:m="http://schemas.openxmlformats.org/officeDocument/2006/math">
                    <m:r>
                      <a:rPr lang="en-GB" sz="1400" i="1">
                        <a:latin typeface="Cambria Math" panose="02040503050406030204" pitchFamily="18" charset="0"/>
                      </a:rPr>
                      <m:t>𝐴</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gives the area up to </a:t>
                </a:r>
                <a14:m>
                  <m:oMath xmlns:m="http://schemas.openxmlformats.org/officeDocument/2006/math">
                    <m:r>
                      <a:rPr lang="en-GB" sz="1400" i="1">
                        <a:latin typeface="Cambria Math" panose="02040503050406030204" pitchFamily="18" charset="0"/>
                      </a:rPr>
                      <m:t>𝑥</m:t>
                    </m:r>
                  </m:oMath>
                </a14:m>
                <a:r>
                  <a:rPr lang="en-GB" sz="1400" dirty="0"/>
                  <a:t>, then what we’re ‘adding on each time’ (i.e. the gradient) is sort of like drawing a line of length </a:t>
                </a:r>
                <a14:m>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at the right-most end each time (or more accurately, an infinitely thin rectangle of area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h</m:t>
                    </m:r>
                  </m:oMath>
                </a14:m>
                <a:r>
                  <a:rPr lang="en-GB" sz="1400" dirty="0"/>
                  <a:t>). Thus if </a:t>
                </a:r>
                <a14:m>
                  <m:oMath xmlns:m="http://schemas.openxmlformats.org/officeDocument/2006/math">
                    <m:r>
                      <a:rPr lang="en-GB" sz="1400" i="1">
                        <a:latin typeface="Cambria Math" panose="02040503050406030204" pitchFamily="18" charset="0"/>
                      </a:rPr>
                      <m:t>𝑓</m:t>
                    </m:r>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m:t>
                    </m:r>
                  </m:oMath>
                </a14:m>
                <a:r>
                  <a:rPr lang="en-GB" sz="1400" dirty="0"/>
                  <a:t> is the gradient of the area, then conversely the area is the integral of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oMath>
                </a14:m>
                <a:r>
                  <a:rPr lang="en-GB" sz="1400" dirty="0"/>
                  <a:t>.</a:t>
                </a:r>
              </a:p>
            </p:txBody>
          </p:sp>
        </mc:Choice>
        <mc:Fallback xmlns="">
          <p:sp>
            <p:nvSpPr>
              <p:cNvPr id="26" name="TextBox 25"/>
              <p:cNvSpPr txBox="1">
                <a:spLocks noRot="1" noChangeAspect="1" noMove="1" noResize="1" noEditPoints="1" noAdjustHandles="1" noChangeArrowheads="1" noChangeShapeType="1" noTextEdit="1"/>
              </p:cNvSpPr>
              <p:nvPr/>
            </p:nvSpPr>
            <p:spPr>
              <a:xfrm>
                <a:off x="5938101" y="1899939"/>
                <a:ext cx="4710223" cy="1384995"/>
              </a:xfrm>
              <a:prstGeom prst="rect">
                <a:avLst/>
              </a:prstGeom>
              <a:blipFill>
                <a:blip r:embed="rId7"/>
                <a:stretch>
                  <a:fillRect l="-388" t="-881" r="-1035" b="-35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8849494" y="1471543"/>
                <a:ext cx="6247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r>
                        <a:rPr lang="en-GB" sz="1400" i="1">
                          <a:latin typeface="Cambria Math" panose="02040503050406030204" pitchFamily="18" charset="0"/>
                        </a:rPr>
                        <m:t>+</m:t>
                      </m:r>
                      <m:r>
                        <a:rPr lang="en-GB" sz="1400" i="1">
                          <a:latin typeface="Cambria Math" panose="02040503050406030204" pitchFamily="18" charset="0"/>
                        </a:rPr>
                        <m:t>h</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8849494" y="1471543"/>
                <a:ext cx="624707" cy="307777"/>
              </a:xfrm>
              <a:prstGeom prst="rect">
                <a:avLst/>
              </a:prstGeom>
              <a:blipFill>
                <a:blip r:embed="rId8"/>
                <a:stretch>
                  <a:fillRect/>
                </a:stretch>
              </a:blipFill>
            </p:spPr>
            <p:txBody>
              <a:bodyPr/>
              <a:lstStyle/>
              <a:p>
                <a:r>
                  <a:rPr lang="en-GB">
                    <a:noFill/>
                  </a:rPr>
                  <a:t> </a:t>
                </a:r>
              </a:p>
            </p:txBody>
          </p:sp>
        </mc:Fallback>
      </mc:AlternateContent>
      <p:cxnSp>
        <p:nvCxnSpPr>
          <p:cNvPr id="29" name="Straight Arrow Connector 28"/>
          <p:cNvCxnSpPr/>
          <p:nvPr/>
        </p:nvCxnSpPr>
        <p:spPr>
          <a:xfrm flipH="1">
            <a:off x="8643525" y="697975"/>
            <a:ext cx="4807" cy="1209931"/>
          </a:xfrm>
          <a:prstGeom prst="straightConnector1">
            <a:avLst/>
          </a:prstGeom>
          <a:ln>
            <a:solidFill>
              <a:schemeClr val="tx1"/>
            </a:solidFill>
            <a:prstDash val="dash"/>
            <a:headEnd type="triangle"/>
            <a:tailEnd type="triangle"/>
          </a:ln>
        </p:spPr>
        <p:style>
          <a:lnRef idx="1">
            <a:schemeClr val="dk1"/>
          </a:lnRef>
          <a:fillRef idx="0">
            <a:schemeClr val="dk1"/>
          </a:fillRef>
          <a:effectRef idx="0">
            <a:schemeClr val="dk1"/>
          </a:effectRef>
          <a:fontRef idx="minor">
            <a:schemeClr val="tx1"/>
          </a:fontRef>
        </p:style>
      </p:cxnSp>
      <p:sp>
        <p:nvSpPr>
          <p:cNvPr id="30" name="Arrow: Right 29"/>
          <p:cNvSpPr/>
          <p:nvPr/>
        </p:nvSpPr>
        <p:spPr>
          <a:xfrm>
            <a:off x="5324474" y="1566938"/>
            <a:ext cx="415679" cy="23007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32" name="Straight Connector 31"/>
          <p:cNvCxnSpPr/>
          <p:nvPr/>
        </p:nvCxnSpPr>
        <p:spPr>
          <a:xfrm>
            <a:off x="1805112" y="3311410"/>
            <a:ext cx="8640960" cy="0"/>
          </a:xfrm>
          <a:prstGeom prst="line">
            <a:avLst/>
          </a:prstGeom>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1564485" y="3428356"/>
            <a:ext cx="4953701" cy="323165"/>
          </a:xfrm>
          <a:prstGeom prst="rect">
            <a:avLst/>
          </a:prstGeom>
          <a:noFill/>
        </p:spPr>
        <p:txBody>
          <a:bodyPr wrap="square" rtlCol="0">
            <a:spAutoFit/>
          </a:bodyPr>
          <a:lstStyle/>
          <a:p>
            <a:r>
              <a:rPr lang="en-GB" sz="1200" dirty="0"/>
              <a:t>This gives us an </a:t>
            </a:r>
            <a:r>
              <a:rPr lang="en-GB" sz="1200" b="1" dirty="0"/>
              <a:t>intuitive</a:t>
            </a:r>
            <a:r>
              <a:rPr lang="en-GB" sz="1200" dirty="0"/>
              <a:t> sense of why it works, but we need a formal proof:</a:t>
            </a:r>
          </a:p>
          <a:p>
            <a:endParaRPr lang="en-GB" sz="300" dirty="0"/>
          </a:p>
        </p:txBody>
      </p:sp>
      <p:cxnSp>
        <p:nvCxnSpPr>
          <p:cNvPr id="34" name="Straight Arrow Connector 33"/>
          <p:cNvCxnSpPr/>
          <p:nvPr/>
        </p:nvCxnSpPr>
        <p:spPr>
          <a:xfrm flipH="1">
            <a:off x="8694518" y="1863602"/>
            <a:ext cx="281939" cy="7620"/>
          </a:xfrm>
          <a:prstGeom prst="straightConnector1">
            <a:avLst/>
          </a:prstGeom>
          <a:ln>
            <a:solidFill>
              <a:schemeClr val="tx1"/>
            </a:solidFill>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8" name="TextBox 37"/>
              <p:cNvSpPr txBox="1"/>
              <p:nvPr/>
            </p:nvSpPr>
            <p:spPr>
              <a:xfrm>
                <a:off x="8648598" y="1599299"/>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h</m:t>
                      </m:r>
                    </m:oMath>
                  </m:oMathPara>
                </a14:m>
                <a:endParaRPr lang="en-GB" sz="1400" dirty="0"/>
              </a:p>
            </p:txBody>
          </p:sp>
        </mc:Choice>
        <mc:Fallback xmlns="">
          <p:sp>
            <p:nvSpPr>
              <p:cNvPr id="38" name="TextBox 37"/>
              <p:cNvSpPr txBox="1">
                <a:spLocks noRot="1" noChangeAspect="1" noMove="1" noResize="1" noEditPoints="1" noAdjustHandles="1" noChangeArrowheads="1" noChangeShapeType="1" noTextEdit="1"/>
              </p:cNvSpPr>
              <p:nvPr/>
            </p:nvSpPr>
            <p:spPr>
              <a:xfrm>
                <a:off x="8648598" y="1599299"/>
                <a:ext cx="347884" cy="307777"/>
              </a:xfrm>
              <a:prstGeom prst="rect">
                <a:avLst/>
              </a:prstGeom>
              <a:blipFill>
                <a:blip r:embed="rId9"/>
                <a:stretch>
                  <a:fillRect/>
                </a:stretch>
              </a:blipFill>
            </p:spPr>
            <p:txBody>
              <a:bodyPr/>
              <a:lstStyle/>
              <a:p>
                <a:r>
                  <a:rPr lang="en-GB">
                    <a:noFill/>
                  </a:rPr>
                  <a:t> </a:t>
                </a:r>
              </a:p>
            </p:txBody>
          </p:sp>
        </mc:Fallback>
      </mc:AlternateContent>
      <p:sp>
        <p:nvSpPr>
          <p:cNvPr id="40" name="Arrow: Right 39"/>
          <p:cNvSpPr/>
          <p:nvPr/>
        </p:nvSpPr>
        <p:spPr>
          <a:xfrm rot="7575731">
            <a:off x="5373843" y="3080809"/>
            <a:ext cx="490137" cy="2472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2" name="Rectangle 41"/>
              <p:cNvSpPr/>
              <p:nvPr/>
            </p:nvSpPr>
            <p:spPr>
              <a:xfrm>
                <a:off x="1765300" y="3763454"/>
                <a:ext cx="4572000" cy="3014095"/>
              </a:xfrm>
              <a:prstGeom prst="rect">
                <a:avLst/>
              </a:prstGeom>
              <a:solidFill>
                <a:schemeClr val="bg1"/>
              </a:solidFill>
              <a:effectLst>
                <a:outerShdw blurRad="63500" sx="102000" sy="102000" algn="ctr" rotWithShape="0">
                  <a:prstClr val="black">
                    <a:alpha val="40000"/>
                  </a:prstClr>
                </a:outerShdw>
              </a:effectLst>
            </p:spPr>
            <p:txBody>
              <a:bodyPr>
                <a:spAutoFit/>
              </a:bodyPr>
              <a:lstStyle/>
              <a:p>
                <a:pPr lvl="0"/>
                <a:r>
                  <a:rPr lang="en-GB" sz="1200" dirty="0">
                    <a:solidFill>
                      <a:prstClr val="black"/>
                    </a:solidFill>
                  </a:rPr>
                  <a:t>Using the diagram above, the area up to </a:t>
                </a:r>
                <a14:m>
                  <m:oMath xmlns:m="http://schemas.openxmlformats.org/officeDocument/2006/math">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oMath>
                </a14:m>
                <a:r>
                  <a:rPr lang="en-GB" sz="1200" dirty="0">
                    <a:solidFill>
                      <a:prstClr val="black"/>
                    </a:solidFill>
                  </a:rPr>
                  <a:t>, i.e. </a:t>
                </a:r>
                <a14:m>
                  <m:oMath xmlns:m="http://schemas.openxmlformats.org/officeDocument/2006/math">
                    <m:r>
                      <a:rPr lang="en-GB" sz="1200" i="1">
                        <a:solidFill>
                          <a:prstClr val="black"/>
                        </a:solidFill>
                        <a:latin typeface="Cambria Math" panose="02040503050406030204" pitchFamily="18" charset="0"/>
                      </a:rPr>
                      <m:t>𝐴</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m:t>
                    </m:r>
                  </m:oMath>
                </a14:m>
                <a:r>
                  <a:rPr lang="en-GB" sz="1200" dirty="0">
                    <a:solidFill>
                      <a:prstClr val="black"/>
                    </a:solidFill>
                  </a:rPr>
                  <a:t>, is approximately the area up to </a:t>
                </a:r>
                <a14:m>
                  <m:oMath xmlns:m="http://schemas.openxmlformats.org/officeDocument/2006/math">
                    <m:r>
                      <a:rPr lang="en-GB" sz="1200" i="1">
                        <a:solidFill>
                          <a:prstClr val="black"/>
                        </a:solidFill>
                        <a:latin typeface="Cambria Math" panose="02040503050406030204" pitchFamily="18" charset="0"/>
                      </a:rPr>
                      <m:t>𝑥</m:t>
                    </m:r>
                  </m:oMath>
                </a14:m>
                <a:r>
                  <a:rPr lang="en-GB" sz="1200" dirty="0">
                    <a:solidFill>
                      <a:prstClr val="black"/>
                    </a:solidFill>
                  </a:rPr>
                  <a:t> plus the added rectangular strip:</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m:t>
                      </m:r>
                    </m:oMath>
                  </m:oMathPara>
                </a14:m>
                <a:endParaRPr lang="en-GB" sz="1200" dirty="0">
                  <a:solidFill>
                    <a:prstClr val="black"/>
                  </a:solidFill>
                </a:endParaRPr>
              </a:p>
              <a:p>
                <a:pPr lvl="0"/>
                <a:r>
                  <a:rPr lang="en-GB" sz="1200" dirty="0">
                    <a:solidFill>
                      <a:prstClr val="black"/>
                    </a:solidFill>
                  </a:rPr>
                  <a:t>Rearranging:</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oMath>
                  </m:oMathPara>
                </a14:m>
                <a:endParaRPr lang="en-GB" sz="1200" dirty="0">
                  <a:solidFill>
                    <a:prstClr val="black"/>
                  </a:solidFill>
                </a:endParaRPr>
              </a:p>
              <a:p>
                <a:pPr lvl="0"/>
                <a:r>
                  <a:rPr lang="en-GB" sz="1200" dirty="0">
                    <a:solidFill>
                      <a:prstClr val="black"/>
                    </a:solidFill>
                  </a:rPr>
                  <a:t>In the limit, as the rectangle becomes infinitely thin, this becomes an equality:</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limLow>
                            <m:limLowPr>
                              <m:ctrlPr>
                                <a:rPr lang="en-GB" sz="1200" i="1">
                                  <a:solidFill>
                                    <a:prstClr val="black"/>
                                  </a:solidFill>
                                  <a:latin typeface="Cambria Math" panose="02040503050406030204" pitchFamily="18" charset="0"/>
                                </a:rPr>
                              </m:ctrlPr>
                            </m:limLowPr>
                            <m:e>
                              <m:r>
                                <m:rPr>
                                  <m:sty m:val="p"/>
                                </m:rPr>
                                <a:rPr lang="en-GB" sz="1200">
                                  <a:solidFill>
                                    <a:prstClr val="black"/>
                                  </a:solidFill>
                                  <a:latin typeface="Cambria Math" panose="02040503050406030204" pitchFamily="18" charset="0"/>
                                </a:rPr>
                                <m:t>lim</m:t>
                              </m:r>
                            </m:e>
                            <m:lim>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→0</m:t>
                              </m:r>
                            </m:lim>
                          </m:limLow>
                        </m:fName>
                        <m:e>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e>
                      </m:func>
                    </m:oMath>
                  </m:oMathPara>
                </a14:m>
                <a:endParaRPr lang="en-GB" sz="1200" dirty="0">
                  <a:solidFill>
                    <a:prstClr val="black"/>
                  </a:solidFill>
                </a:endParaRPr>
              </a:p>
              <a:p>
                <a:pPr lvl="0"/>
                <a:r>
                  <a:rPr lang="en-GB" sz="1200" dirty="0">
                    <a:solidFill>
                      <a:prstClr val="black"/>
                    </a:solidFill>
                  </a:rPr>
                  <a:t>But we know from differentiating by first principles that:</a:t>
                </a:r>
              </a:p>
              <a:p>
                <a:pPr lvl="0"/>
                <a14:m>
                  <m:oMathPara xmlns:m="http://schemas.openxmlformats.org/officeDocument/2006/math">
                    <m:oMathParaPr>
                      <m:jc m:val="centerGroup"/>
                    </m:oMathParaPr>
                    <m:oMath xmlns:m="http://schemas.openxmlformats.org/officeDocument/2006/math">
                      <m:sSup>
                        <m:sSupPr>
                          <m:ctrlPr>
                            <a:rPr lang="en-GB" sz="1200" i="1">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𝐴</m:t>
                          </m:r>
                        </m:e>
                        <m:sup>
                          <m:r>
                            <a:rPr lang="en-GB" sz="1200" i="1">
                              <a:solidFill>
                                <a:prstClr val="black"/>
                              </a:solidFill>
                              <a:latin typeface="Cambria Math" panose="02040503050406030204" pitchFamily="18" charset="0"/>
                            </a:rPr>
                            <m:t>′</m:t>
                          </m:r>
                        </m:sup>
                      </m:sSup>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limLow>
                            <m:limLowPr>
                              <m:ctrlPr>
                                <a:rPr lang="en-GB" sz="1200" i="1">
                                  <a:solidFill>
                                    <a:prstClr val="black"/>
                                  </a:solidFill>
                                  <a:latin typeface="Cambria Math" panose="02040503050406030204" pitchFamily="18" charset="0"/>
                                </a:rPr>
                              </m:ctrlPr>
                            </m:limLowPr>
                            <m:e>
                              <m:r>
                                <m:rPr>
                                  <m:sty m:val="p"/>
                                </m:rPr>
                                <a:rPr lang="en-GB" sz="1200">
                                  <a:solidFill>
                                    <a:prstClr val="black"/>
                                  </a:solidFill>
                                  <a:latin typeface="Cambria Math" panose="02040503050406030204" pitchFamily="18" charset="0"/>
                                </a:rPr>
                                <m:t>lim</m:t>
                              </m:r>
                            </m:e>
                            <m:lim>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→0</m:t>
                              </m:r>
                            </m:lim>
                          </m:limLow>
                        </m:fName>
                        <m:e>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e>
                      </m:func>
                    </m:oMath>
                  </m:oMathPara>
                </a14:m>
                <a:endParaRPr lang="en-GB" sz="1200" dirty="0">
                  <a:solidFill>
                    <a:prstClr val="black"/>
                  </a:solidFill>
                </a:endParaRP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m:oMathPara>
                </a14:m>
                <a:endParaRPr lang="en-GB" sz="1200" dirty="0">
                  <a:solidFill>
                    <a:prstClr val="black"/>
                  </a:solidFill>
                </a:endParaRPr>
              </a:p>
              <a:p>
                <a:pPr lvl="0"/>
                <a:r>
                  <a:rPr lang="en-GB" sz="1200" dirty="0">
                    <a:solidFill>
                      <a:prstClr val="black"/>
                    </a:solidFill>
                  </a:rPr>
                  <a:t>And thus we have proven that the gradient of the area function is indeed </a:t>
                </a:r>
                <a14:m>
                  <m:oMath xmlns:m="http://schemas.openxmlformats.org/officeDocument/2006/math">
                    <m:r>
                      <a:rPr lang="en-GB" sz="1200" i="1">
                        <a:solidFill>
                          <a:prstClr val="black"/>
                        </a:solidFill>
                        <a:latin typeface="Cambria Math" panose="02040503050406030204" pitchFamily="18" charset="0"/>
                      </a:rPr>
                      <m:t>𝑓</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a14:m>
                <a:r>
                  <a:rPr lang="en-GB" sz="1200" dirty="0">
                    <a:solidFill>
                      <a:prstClr val="black"/>
                    </a:solidFill>
                  </a:rPr>
                  <a:t> (and hence the integral of </a:t>
                </a:r>
                <a14:m>
                  <m:oMath xmlns:m="http://schemas.openxmlformats.org/officeDocument/2006/math">
                    <m:r>
                      <a:rPr lang="en-GB" sz="1200" i="1">
                        <a:solidFill>
                          <a:prstClr val="black"/>
                        </a:solidFill>
                        <a:latin typeface="Cambria Math" panose="02040503050406030204" pitchFamily="18" charset="0"/>
                      </a:rPr>
                      <m:t>𝑓</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a14:m>
                <a:r>
                  <a:rPr lang="en-GB" sz="1200" dirty="0">
                    <a:solidFill>
                      <a:prstClr val="black"/>
                    </a:solidFill>
                  </a:rPr>
                  <a:t> the area).</a:t>
                </a:r>
              </a:p>
            </p:txBody>
          </p:sp>
        </mc:Choice>
        <mc:Fallback xmlns="">
          <p:sp>
            <p:nvSpPr>
              <p:cNvPr id="42" name="Rectangle 41"/>
              <p:cNvSpPr>
                <a:spLocks noRot="1" noChangeAspect="1" noMove="1" noResize="1" noEditPoints="1" noAdjustHandles="1" noChangeArrowheads="1" noChangeShapeType="1" noTextEdit="1"/>
              </p:cNvSpPr>
              <p:nvPr/>
            </p:nvSpPr>
            <p:spPr>
              <a:xfrm>
                <a:off x="1765300" y="3763454"/>
                <a:ext cx="4572000" cy="3014095"/>
              </a:xfrm>
              <a:prstGeom prst="rect">
                <a:avLst/>
              </a:prstGeom>
              <a:blipFill>
                <a:blip r:embed="rId10"/>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6556286" y="3385628"/>
                <a:ext cx="4010115" cy="582660"/>
              </a:xfrm>
              <a:prstGeom prst="rect">
                <a:avLst/>
              </a:prstGeom>
              <a:noFill/>
            </p:spPr>
            <p:txBody>
              <a:bodyPr wrap="square" rtlCol="0">
                <a:spAutoFit/>
              </a:bodyPr>
              <a:lstStyle/>
              <a:p>
                <a:r>
                  <a:rPr lang="en-GB" sz="1400" b="1" dirty="0"/>
                  <a:t>One final Note</a:t>
                </a:r>
                <a:r>
                  <a:rPr lang="en-GB" sz="1400" dirty="0"/>
                  <a:t>: Why does </a:t>
                </a:r>
                <a14:m>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𝑏</m:t>
                        </m:r>
                      </m:sub>
                      <m:sup>
                        <m:r>
                          <a:rPr lang="en-GB" sz="1400" i="1">
                            <a:latin typeface="Cambria Math" panose="02040503050406030204" pitchFamily="18" charset="0"/>
                          </a:rPr>
                          <m:t>𝑎</m:t>
                        </m:r>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oMath>
                </a14:m>
                <a:r>
                  <a:rPr lang="en-GB" sz="1400" dirty="0"/>
                  <a:t> give the area between </a:t>
                </a:r>
                <a14:m>
                  <m:oMath xmlns:m="http://schemas.openxmlformats.org/officeDocument/2006/math">
                    <m:r>
                      <a:rPr lang="en-GB" sz="1400" i="1">
                        <a:latin typeface="Cambria Math" panose="02040503050406030204" pitchFamily="18" charset="0"/>
                      </a:rPr>
                      <m:t>𝑥</m:t>
                    </m:r>
                    <m:r>
                      <a:rPr lang="en-GB" sz="1400" i="1">
                        <a:latin typeface="Cambria Math" panose="02040503050406030204" pitchFamily="18" charset="0"/>
                      </a:rPr>
                      <m:t>=</m:t>
                    </m:r>
                    <m:r>
                      <a:rPr lang="en-GB" sz="1400" i="1">
                        <a:latin typeface="Cambria Math" panose="02040503050406030204" pitchFamily="18" charset="0"/>
                      </a:rPr>
                      <m:t>𝑎</m:t>
                    </m:r>
                  </m:oMath>
                </a14:m>
                <a:r>
                  <a:rPr lang="en-GB" sz="1400" dirty="0"/>
                  <a:t> and </a:t>
                </a:r>
                <a14:m>
                  <m:oMath xmlns:m="http://schemas.openxmlformats.org/officeDocument/2006/math">
                    <m:r>
                      <a:rPr lang="en-GB" sz="1400" i="1">
                        <a:latin typeface="Cambria Math" panose="02040503050406030204" pitchFamily="18" charset="0"/>
                      </a:rPr>
                      <m:t>𝑥</m:t>
                    </m:r>
                    <m:r>
                      <a:rPr lang="en-GB" sz="1400" i="1">
                        <a:latin typeface="Cambria Math" panose="02040503050406030204" pitchFamily="18" charset="0"/>
                      </a:rPr>
                      <m:t>=</m:t>
                    </m:r>
                    <m:r>
                      <a:rPr lang="en-GB" sz="1400" i="1">
                        <a:latin typeface="Cambria Math" panose="02040503050406030204" pitchFamily="18" charset="0"/>
                      </a:rPr>
                      <m:t>𝑏</m:t>
                    </m:r>
                  </m:oMath>
                </a14:m>
                <a:r>
                  <a:rPr lang="en-GB" sz="140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6556286" y="3385628"/>
                <a:ext cx="4010115" cy="582660"/>
              </a:xfrm>
              <a:prstGeom prst="rect">
                <a:avLst/>
              </a:prstGeom>
              <a:blipFill>
                <a:blip r:embed="rId11"/>
                <a:stretch>
                  <a:fillRect l="-457" t="-63542" b="-63542"/>
                </a:stretch>
              </a:blipFill>
            </p:spPr>
            <p:txBody>
              <a:bodyPr/>
              <a:lstStyle/>
              <a:p>
                <a:r>
                  <a:rPr lang="en-GB">
                    <a:noFill/>
                  </a:rPr>
                  <a:t> </a:t>
                </a:r>
              </a:p>
            </p:txBody>
          </p:sp>
        </mc:Fallback>
      </mc:AlternateContent>
      <p:sp>
        <p:nvSpPr>
          <p:cNvPr id="44" name="Arrow: Right 43"/>
          <p:cNvSpPr/>
          <p:nvPr/>
        </p:nvSpPr>
        <p:spPr>
          <a:xfrm rot="19545040">
            <a:off x="6041200" y="5376678"/>
            <a:ext cx="490137" cy="2472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47" name="Straight Arrow Connector 46"/>
          <p:cNvCxnSpPr/>
          <p:nvPr/>
        </p:nvCxnSpPr>
        <p:spPr>
          <a:xfrm flipH="1" flipV="1">
            <a:off x="6807563" y="5331460"/>
            <a:ext cx="3050" cy="99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6614160" y="6202680"/>
            <a:ext cx="13487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Freeform: Shape 48"/>
          <p:cNvSpPr/>
          <p:nvPr/>
        </p:nvSpPr>
        <p:spPr>
          <a:xfrm>
            <a:off x="6643387" y="5516153"/>
            <a:ext cx="1208213" cy="391461"/>
          </a:xfrm>
          <a:custGeom>
            <a:avLst/>
            <a:gdLst>
              <a:gd name="connsiteX0" fmla="*/ 0 w 2573080"/>
              <a:gd name="connsiteY0" fmla="*/ 776177 h 776177"/>
              <a:gd name="connsiteX1" fmla="*/ 1275907 w 2573080"/>
              <a:gd name="connsiteY1" fmla="*/ 382772 h 776177"/>
              <a:gd name="connsiteX2" fmla="*/ 1924493 w 2573080"/>
              <a:gd name="connsiteY2" fmla="*/ 106326 h 776177"/>
              <a:gd name="connsiteX3" fmla="*/ 2573080 w 2573080"/>
              <a:gd name="connsiteY3" fmla="*/ 0 h 776177"/>
              <a:gd name="connsiteX0" fmla="*/ 0 w 2115880"/>
              <a:gd name="connsiteY0" fmla="*/ 722186 h 722186"/>
              <a:gd name="connsiteX1" fmla="*/ 1275907 w 2115880"/>
              <a:gd name="connsiteY1" fmla="*/ 328781 h 722186"/>
              <a:gd name="connsiteX2" fmla="*/ 1924493 w 2115880"/>
              <a:gd name="connsiteY2" fmla="*/ 52335 h 722186"/>
              <a:gd name="connsiteX3" fmla="*/ 2115880 w 2115880"/>
              <a:gd name="connsiteY3" fmla="*/ 0 h 722186"/>
              <a:gd name="connsiteX0" fmla="*/ 0 w 2115880"/>
              <a:gd name="connsiteY0" fmla="*/ 722186 h 722186"/>
              <a:gd name="connsiteX1" fmla="*/ 1275907 w 2115880"/>
              <a:gd name="connsiteY1" fmla="*/ 328781 h 722186"/>
              <a:gd name="connsiteX2" fmla="*/ 1924493 w 2115880"/>
              <a:gd name="connsiteY2" fmla="*/ 52335 h 722186"/>
              <a:gd name="connsiteX3" fmla="*/ 2115880 w 2115880"/>
              <a:gd name="connsiteY3" fmla="*/ 0 h 722186"/>
              <a:gd name="connsiteX0" fmla="*/ 0 w 1924493"/>
              <a:gd name="connsiteY0" fmla="*/ 669851 h 669851"/>
              <a:gd name="connsiteX1" fmla="*/ 1275907 w 1924493"/>
              <a:gd name="connsiteY1" fmla="*/ 276446 h 669851"/>
              <a:gd name="connsiteX2" fmla="*/ 1924493 w 1924493"/>
              <a:gd name="connsiteY2" fmla="*/ 0 h 669851"/>
              <a:gd name="connsiteX0" fmla="*/ 0 w 1208213"/>
              <a:gd name="connsiteY0" fmla="*/ 475484 h 475484"/>
              <a:gd name="connsiteX1" fmla="*/ 559627 w 1208213"/>
              <a:gd name="connsiteY1" fmla="*/ 276446 h 475484"/>
              <a:gd name="connsiteX2" fmla="*/ 1208213 w 1208213"/>
              <a:gd name="connsiteY2" fmla="*/ 0 h 475484"/>
            </a:gdLst>
            <a:ahLst/>
            <a:cxnLst>
              <a:cxn ang="0">
                <a:pos x="connsiteX0" y="connsiteY0"/>
              </a:cxn>
              <a:cxn ang="0">
                <a:pos x="connsiteX1" y="connsiteY1"/>
              </a:cxn>
              <a:cxn ang="0">
                <a:pos x="connsiteX2" y="connsiteY2"/>
              </a:cxn>
            </a:cxnLst>
            <a:rect l="l" t="t" r="r" b="b"/>
            <a:pathLst>
              <a:path w="1208213" h="475484">
                <a:moveTo>
                  <a:pt x="0" y="475484"/>
                </a:moveTo>
                <a:cubicBezTo>
                  <a:pt x="477579" y="334602"/>
                  <a:pt x="358258" y="355693"/>
                  <a:pt x="559627" y="276446"/>
                </a:cubicBezTo>
                <a:cubicBezTo>
                  <a:pt x="760996" y="197199"/>
                  <a:pt x="1068218" y="54797"/>
                  <a:pt x="1208213"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0" name="TextBox 49"/>
              <p:cNvSpPr txBox="1"/>
              <p:nvPr/>
            </p:nvSpPr>
            <p:spPr>
              <a:xfrm>
                <a:off x="6885432" y="6121463"/>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𝑎</m:t>
                      </m:r>
                    </m:oMath>
                  </m:oMathPara>
                </a14:m>
                <a:endParaRPr lang="en-GB" sz="14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885432" y="6121463"/>
                <a:ext cx="347884" cy="30777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7401902" y="6153625"/>
                <a:ext cx="6247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𝑏</m:t>
                      </m:r>
                    </m:oMath>
                  </m:oMathPara>
                </a14:m>
                <a:endParaRPr lang="en-GB" sz="1400" dirty="0"/>
              </a:p>
            </p:txBody>
          </p:sp>
        </mc:Choice>
        <mc:Fallback xmlns="">
          <p:sp>
            <p:nvSpPr>
              <p:cNvPr id="55" name="TextBox 54"/>
              <p:cNvSpPr txBox="1">
                <a:spLocks noRot="1" noChangeAspect="1" noMove="1" noResize="1" noEditPoints="1" noAdjustHandles="1" noChangeArrowheads="1" noChangeShapeType="1" noTextEdit="1"/>
              </p:cNvSpPr>
              <p:nvPr/>
            </p:nvSpPr>
            <p:spPr>
              <a:xfrm>
                <a:off x="7401902" y="6153625"/>
                <a:ext cx="624707" cy="307777"/>
              </a:xfrm>
              <a:prstGeom prst="rect">
                <a:avLst/>
              </a:prstGeom>
              <a:blipFill>
                <a:blip r:embed="rId13"/>
                <a:stretch>
                  <a:fillRect/>
                </a:stretch>
              </a:blipFill>
            </p:spPr>
            <p:txBody>
              <a:bodyPr/>
              <a:lstStyle/>
              <a:p>
                <a:r>
                  <a:rPr lang="en-GB">
                    <a:noFill/>
                  </a:rPr>
                  <a:t> </a:t>
                </a:r>
              </a:p>
            </p:txBody>
          </p:sp>
        </mc:Fallback>
      </mc:AlternateContent>
      <p:sp>
        <p:nvSpPr>
          <p:cNvPr id="60" name="Arrow: Right 59"/>
          <p:cNvSpPr/>
          <p:nvPr/>
        </p:nvSpPr>
        <p:spPr>
          <a:xfrm rot="5400000">
            <a:off x="2347108" y="614907"/>
            <a:ext cx="431801" cy="103574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62" name="Straight Connector 61"/>
          <p:cNvCxnSpPr/>
          <p:nvPr/>
        </p:nvCxnSpPr>
        <p:spPr>
          <a:xfrm>
            <a:off x="7047593" y="5803901"/>
            <a:ext cx="0" cy="409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7711168" y="5565775"/>
            <a:ext cx="6350" cy="64836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7975601" y="4921276"/>
                <a:ext cx="2642325" cy="1546577"/>
              </a:xfrm>
              <a:prstGeom prst="rect">
                <a:avLst/>
              </a:prstGeom>
              <a:noFill/>
            </p:spPr>
            <p:txBody>
              <a:bodyPr wrap="square" rtlCol="0">
                <a:spAutoFit/>
              </a:bodyPr>
              <a:lstStyle/>
              <a:p>
                <a:r>
                  <a:rPr lang="en-GB" sz="1050" dirty="0"/>
                  <a:t>The area between </a:t>
                </a:r>
                <a14:m>
                  <m:oMath xmlns:m="http://schemas.openxmlformats.org/officeDocument/2006/math">
                    <m:r>
                      <a:rPr lang="en-GB" sz="1050" i="1">
                        <a:latin typeface="Cambria Math" panose="02040503050406030204" pitchFamily="18" charset="0"/>
                      </a:rPr>
                      <m:t>𝑎</m:t>
                    </m:r>
                  </m:oMath>
                </a14:m>
                <a:r>
                  <a:rPr lang="en-GB" sz="1050" dirty="0"/>
                  <a:t> and </a:t>
                </a:r>
                <a14:m>
                  <m:oMath xmlns:m="http://schemas.openxmlformats.org/officeDocument/2006/math">
                    <m:r>
                      <a:rPr lang="en-GB" sz="1050" i="1">
                        <a:latin typeface="Cambria Math" panose="02040503050406030204" pitchFamily="18" charset="0"/>
                      </a:rPr>
                      <m:t>𝑏</m:t>
                    </m:r>
                  </m:oMath>
                </a14:m>
                <a:r>
                  <a:rPr lang="en-GB" sz="1050" dirty="0"/>
                  <a:t> is the area up to </a:t>
                </a:r>
                <a14:m>
                  <m:oMath xmlns:m="http://schemas.openxmlformats.org/officeDocument/2006/math">
                    <m:r>
                      <a:rPr lang="en-GB" sz="1050" i="1">
                        <a:latin typeface="Cambria Math" panose="02040503050406030204" pitchFamily="18" charset="0"/>
                      </a:rPr>
                      <m:t>𝑏</m:t>
                    </m:r>
                  </m:oMath>
                </a14:m>
                <a:r>
                  <a:rPr lang="en-GB" sz="1050" dirty="0"/>
                  <a:t>, i.e. </a:t>
                </a:r>
                <a14:m>
                  <m:oMath xmlns:m="http://schemas.openxmlformats.org/officeDocument/2006/math">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𝑏</m:t>
                    </m:r>
                    <m:r>
                      <a:rPr lang="en-GB" sz="1050" i="1">
                        <a:latin typeface="Cambria Math" panose="02040503050406030204" pitchFamily="18" charset="0"/>
                      </a:rPr>
                      <m:t>)</m:t>
                    </m:r>
                  </m:oMath>
                </a14:m>
                <a:r>
                  <a:rPr lang="en-GB" sz="1050" dirty="0"/>
                  <a:t>, with the area up to </a:t>
                </a:r>
                <a14:m>
                  <m:oMath xmlns:m="http://schemas.openxmlformats.org/officeDocument/2006/math">
                    <m:r>
                      <a:rPr lang="en-GB" sz="1050" i="1">
                        <a:latin typeface="Cambria Math" panose="02040503050406030204" pitchFamily="18" charset="0"/>
                      </a:rPr>
                      <m:t>𝑎</m:t>
                    </m:r>
                  </m:oMath>
                </a14:m>
                <a:r>
                  <a:rPr lang="en-GB" sz="1050" dirty="0"/>
                  <a:t>, i.e.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𝑎</m:t>
                        </m:r>
                      </m:e>
                    </m:d>
                  </m:oMath>
                </a14:m>
                <a:r>
                  <a:rPr lang="en-GB" sz="1050" dirty="0"/>
                  <a:t>, cut out. This gives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𝑏</m:t>
                        </m:r>
                      </m:e>
                    </m:d>
                    <m:r>
                      <a:rPr lang="en-GB" sz="1050" i="1">
                        <a:latin typeface="Cambria Math" panose="02040503050406030204" pitchFamily="18" charset="0"/>
                      </a:rPr>
                      <m:t>−</m:t>
                    </m:r>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𝑎</m:t>
                        </m:r>
                      </m:e>
                    </m:d>
                  </m:oMath>
                </a14:m>
                <a:r>
                  <a:rPr lang="en-GB" sz="1050" dirty="0"/>
                  <a:t> as expected.</a:t>
                </a:r>
              </a:p>
              <a:p>
                <a:r>
                  <a:rPr lang="en-GB" sz="1050" dirty="0"/>
                  <a:t>Because we obtained </a:t>
                </a:r>
                <a14:m>
                  <m:oMath xmlns:m="http://schemas.openxmlformats.org/officeDocument/2006/math">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𝑥</m:t>
                    </m:r>
                    <m:r>
                      <a:rPr lang="en-GB" sz="1050" i="1">
                        <a:latin typeface="Cambria Math" panose="02040503050406030204" pitchFamily="18" charset="0"/>
                      </a:rPr>
                      <m:t>)</m:t>
                    </m:r>
                  </m:oMath>
                </a14:m>
                <a:r>
                  <a:rPr lang="en-GB" sz="1050" dirty="0"/>
                  <a:t> by an integration, we have a constant of integration </a:t>
                </a:r>
                <a14:m>
                  <m:oMath xmlns:m="http://schemas.openxmlformats.org/officeDocument/2006/math">
                    <m:r>
                      <a:rPr lang="en-GB" sz="1050" i="1">
                        <a:latin typeface="Cambria Math" panose="02040503050406030204" pitchFamily="18" charset="0"/>
                      </a:rPr>
                      <m:t>+</m:t>
                    </m:r>
                    <m:r>
                      <a:rPr lang="en-GB" sz="1050" i="1">
                        <a:latin typeface="Cambria Math" panose="02040503050406030204" pitchFamily="18" charset="0"/>
                      </a:rPr>
                      <m:t>𝑐</m:t>
                    </m:r>
                  </m:oMath>
                </a14:m>
                <a:r>
                  <a:rPr lang="en-GB" sz="1050" dirty="0"/>
                  <a:t>. But because of the subtraction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𝑏</m:t>
                        </m:r>
                      </m:e>
                    </m:d>
                    <m:r>
                      <a:rPr lang="en-GB" sz="1050" i="1">
                        <a:latin typeface="Cambria Math" panose="02040503050406030204" pitchFamily="18" charset="0"/>
                      </a:rPr>
                      <m:t>−</m:t>
                    </m:r>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𝑎</m:t>
                    </m:r>
                    <m:r>
                      <a:rPr lang="en-GB" sz="1050" i="1">
                        <a:latin typeface="Cambria Math" panose="02040503050406030204" pitchFamily="18" charset="0"/>
                      </a:rPr>
                      <m:t>)</m:t>
                    </m:r>
                  </m:oMath>
                </a14:m>
                <a:r>
                  <a:rPr lang="en-GB" sz="1050" dirty="0"/>
                  <a:t>, these constants in each of </a:t>
                </a:r>
                <a14:m>
                  <m:oMath xmlns:m="http://schemas.openxmlformats.org/officeDocument/2006/math">
                    <m:r>
                      <a:rPr lang="en-GB" sz="1050" i="1">
                        <a:latin typeface="Cambria Math" panose="02040503050406030204" pitchFamily="18" charset="0"/>
                      </a:rPr>
                      <m:t>𝐴</m:t>
                    </m:r>
                    <m:r>
                      <a:rPr lang="en-GB" sz="1050" i="1">
                        <a:latin typeface="Cambria Math" panose="02040503050406030204" pitchFamily="18" charset="0"/>
                      </a:rPr>
                      <m:t>(</m:t>
                    </m:r>
                    <m:r>
                      <a:rPr lang="en-GB" sz="1050" i="1">
                        <a:latin typeface="Cambria Math" panose="02040503050406030204" pitchFamily="18" charset="0"/>
                      </a:rPr>
                      <m:t>𝑏</m:t>
                    </m:r>
                    <m:r>
                      <a:rPr lang="en-GB" sz="1050" i="1">
                        <a:latin typeface="Cambria Math" panose="02040503050406030204" pitchFamily="18" charset="0"/>
                      </a:rPr>
                      <m:t>)</m:t>
                    </m:r>
                  </m:oMath>
                </a14:m>
                <a:r>
                  <a:rPr lang="en-GB" sz="1050" dirty="0"/>
                  <a:t> and </a:t>
                </a:r>
                <a14:m>
                  <m:oMath xmlns:m="http://schemas.openxmlformats.org/officeDocument/2006/math">
                    <m:r>
                      <a:rPr lang="en-GB" sz="1050" i="1">
                        <a:latin typeface="Cambria Math" panose="02040503050406030204" pitchFamily="18" charset="0"/>
                      </a:rPr>
                      <m:t>𝐴</m:t>
                    </m:r>
                    <m:d>
                      <m:dPr>
                        <m:ctrlPr>
                          <a:rPr lang="en-GB" sz="1050" i="1">
                            <a:latin typeface="Cambria Math" panose="02040503050406030204" pitchFamily="18" charset="0"/>
                          </a:rPr>
                        </m:ctrlPr>
                      </m:dPr>
                      <m:e>
                        <m:r>
                          <a:rPr lang="en-GB" sz="1050" i="1">
                            <a:latin typeface="Cambria Math" panose="02040503050406030204" pitchFamily="18" charset="0"/>
                          </a:rPr>
                          <m:t>𝑎</m:t>
                        </m:r>
                      </m:e>
                    </m:d>
                  </m:oMath>
                </a14:m>
                <a:r>
                  <a:rPr lang="en-GB" sz="1050" dirty="0"/>
                  <a:t> cancel, which explains why the constant is not present in definite integration.</a:t>
                </a:r>
              </a:p>
            </p:txBody>
          </p:sp>
        </mc:Choice>
        <mc:Fallback xmlns="">
          <p:sp>
            <p:nvSpPr>
              <p:cNvPr id="67" name="TextBox 66"/>
              <p:cNvSpPr txBox="1">
                <a:spLocks noRot="1" noChangeAspect="1" noMove="1" noResize="1" noEditPoints="1" noAdjustHandles="1" noChangeArrowheads="1" noChangeShapeType="1" noTextEdit="1"/>
              </p:cNvSpPr>
              <p:nvPr/>
            </p:nvSpPr>
            <p:spPr>
              <a:xfrm>
                <a:off x="7975601" y="4921276"/>
                <a:ext cx="2642325" cy="1546577"/>
              </a:xfrm>
              <a:prstGeom prst="rect">
                <a:avLst/>
              </a:prstGeom>
              <a:blipFill>
                <a:blip r:embed="rId14"/>
                <a:stretch>
                  <a:fillRect r="-230" b="-1181"/>
                </a:stretch>
              </a:blipFill>
            </p:spPr>
            <p:txBody>
              <a:bodyPr/>
              <a:lstStyle/>
              <a:p>
                <a:r>
                  <a:rPr lang="en-GB">
                    <a:noFill/>
                  </a:rPr>
                  <a:t> </a:t>
                </a:r>
              </a:p>
            </p:txBody>
          </p:sp>
        </mc:Fallback>
      </mc:AlternateContent>
      <p:cxnSp>
        <p:nvCxnSpPr>
          <p:cNvPr id="70" name="Straight Arrow Connector 69"/>
          <p:cNvCxnSpPr/>
          <p:nvPr/>
        </p:nvCxnSpPr>
        <p:spPr>
          <a:xfrm flipH="1">
            <a:off x="7730221" y="5210175"/>
            <a:ext cx="235855" cy="240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flipV="1">
            <a:off x="6475655" y="3322043"/>
            <a:ext cx="0" cy="452043"/>
          </a:xfrm>
          <a:prstGeom prst="line">
            <a:avLst/>
          </a:prstGeom>
        </p:spPr>
        <p:style>
          <a:lnRef idx="1">
            <a:schemeClr val="dk1"/>
          </a:lnRef>
          <a:fillRef idx="0">
            <a:schemeClr val="dk1"/>
          </a:fillRef>
          <a:effectRef idx="0">
            <a:schemeClr val="dk1"/>
          </a:effectRef>
          <a:fontRef idx="minor">
            <a:schemeClr val="tx1"/>
          </a:fontRef>
        </p:style>
      </p:cxnSp>
      <p:sp>
        <p:nvSpPr>
          <p:cNvPr id="77" name="TextBox 76"/>
          <p:cNvSpPr txBox="1"/>
          <p:nvPr/>
        </p:nvSpPr>
        <p:spPr>
          <a:xfrm>
            <a:off x="6702057" y="6524933"/>
            <a:ext cx="3683993" cy="27699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dirty="0"/>
              <a:t>This is known as the Fundamental Theorem of Calculus.</a:t>
            </a:r>
          </a:p>
        </p:txBody>
      </p:sp>
    </p:spTree>
    <p:extLst>
      <p:ext uri="{BB962C8B-B14F-4D97-AF65-F5344CB8AC3E}">
        <p14:creationId xmlns:p14="http://schemas.microsoft.com/office/powerpoint/2010/main" val="372602372"/>
      </p:ext>
    </p:extLst>
  </p:cSld>
  <p:clrMapOvr>
    <a:masterClrMapping/>
  </p:clrMapOvr>
</p:sld>
</file>

<file path=ppt/c13/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22" name="Picture 21"/>
          <p:cNvPicPr>
            <a:picLocks noChangeAspect="1"/>
          </p:cNvPicPr>
          <p:nvPr/>
        </p:nvPicPr>
        <p:blipFill>
          <a:blip r:embed="rId2"/>
          <a:stretch>
            <a:fillRect/>
          </a:stretch>
        </p:blipFill>
        <p:spPr>
          <a:xfrm>
            <a:off x="1775521" y="1186872"/>
            <a:ext cx="5972175" cy="5591175"/>
          </a:xfrm>
          <a:prstGeom prst="rect">
            <a:avLst/>
          </a:prstGeom>
          <a:effectLst>
            <a:outerShdw blurRad="63500" sx="102000" sy="102000" algn="ctr" rotWithShape="0">
              <a:prstClr val="black">
                <a:alpha val="40000"/>
              </a:prstClr>
            </a:outerShdw>
          </a:effectLst>
        </p:spPr>
      </p:pic>
      <p:sp>
        <p:nvSpPr>
          <p:cNvPr id="23" name="TextBox 22"/>
          <p:cNvSpPr txBox="1"/>
          <p:nvPr/>
        </p:nvSpPr>
        <p:spPr>
          <a:xfrm>
            <a:off x="1775520" y="836712"/>
            <a:ext cx="25551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2013 Q9c</a:t>
            </a:r>
          </a:p>
        </p:txBody>
      </p:sp>
      <p:sp>
        <p:nvSpPr>
          <p:cNvPr id="30" name="TextBox 29"/>
          <p:cNvSpPr txBox="1"/>
          <p:nvPr/>
        </p:nvSpPr>
        <p:spPr>
          <a:xfrm>
            <a:off x="8163024" y="5919440"/>
            <a:ext cx="1728192" cy="369332"/>
          </a:xfrm>
          <a:prstGeom prst="rect">
            <a:avLst/>
          </a:prstGeom>
          <a:noFill/>
        </p:spPr>
        <p:txBody>
          <a:bodyPr wrap="square" rtlCol="0">
            <a:spAutoFit/>
          </a:bodyPr>
          <a:lstStyle/>
          <a:p>
            <a:r>
              <a:rPr lang="en-GB" b="1" dirty="0"/>
              <a:t>Solution: 12</a:t>
            </a:r>
          </a:p>
        </p:txBody>
      </p:sp>
      <p:sp>
        <p:nvSpPr>
          <p:cNvPr id="31" name="Rectangle 30"/>
          <p:cNvSpPr/>
          <p:nvPr/>
        </p:nvSpPr>
        <p:spPr>
          <a:xfrm>
            <a:off x="8163025" y="5689584"/>
            <a:ext cx="1703277" cy="82904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9799540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31" grpId="0" animBg="1"/>
    </p:bldLst>
  </p:timing>
</p:sld>
</file>

<file path=ppt/c13/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13E  – Y1 pages 299-300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7" name="Picture 6">
            <a:extLst>
              <a:ext uri="{FF2B5EF4-FFF2-40B4-BE49-F238E27FC236}">
                <a16:creationId xmlns:a16="http://schemas.microsoft.com/office/drawing/2014/main" id="{43A97E23-08CA-0149-3E51-68924B16AB4D}"/>
              </a:ext>
            </a:extLst>
          </p:cNvPr>
          <p:cNvPicPr>
            <a:picLocks noChangeAspect="1"/>
          </p:cNvPicPr>
          <p:nvPr/>
        </p:nvPicPr>
        <p:blipFill>
          <a:blip r:embed="rId2"/>
          <a:stretch>
            <a:fillRect/>
          </a:stretch>
        </p:blipFill>
        <p:spPr>
          <a:xfrm>
            <a:off x="1524000" y="692697"/>
            <a:ext cx="4123680" cy="1346351"/>
          </a:xfrm>
          <a:prstGeom prst="rect">
            <a:avLst/>
          </a:prstGeom>
        </p:spPr>
      </p:pic>
      <p:pic>
        <p:nvPicPr>
          <p:cNvPr id="16" name="Picture 15">
            <a:extLst>
              <a:ext uri="{FF2B5EF4-FFF2-40B4-BE49-F238E27FC236}">
                <a16:creationId xmlns:a16="http://schemas.microsoft.com/office/drawing/2014/main" id="{3B4EF5D0-E7F7-6651-CC51-58C02C04A58C}"/>
              </a:ext>
            </a:extLst>
          </p:cNvPr>
          <p:cNvPicPr>
            <a:picLocks noChangeAspect="1"/>
          </p:cNvPicPr>
          <p:nvPr/>
        </p:nvPicPr>
        <p:blipFill>
          <a:blip r:embed="rId3"/>
          <a:stretch>
            <a:fillRect/>
          </a:stretch>
        </p:blipFill>
        <p:spPr>
          <a:xfrm>
            <a:off x="5879976" y="667226"/>
            <a:ext cx="2323106" cy="1894225"/>
          </a:xfrm>
          <a:prstGeom prst="rect">
            <a:avLst/>
          </a:prstGeom>
        </p:spPr>
      </p:pic>
      <p:pic>
        <p:nvPicPr>
          <p:cNvPr id="9" name="Picture 8">
            <a:extLst>
              <a:ext uri="{FF2B5EF4-FFF2-40B4-BE49-F238E27FC236}">
                <a16:creationId xmlns:a16="http://schemas.microsoft.com/office/drawing/2014/main" id="{ECF79B77-E6D0-B200-F851-90B1A27A8597}"/>
              </a:ext>
            </a:extLst>
          </p:cNvPr>
          <p:cNvPicPr>
            <a:picLocks noChangeAspect="1"/>
          </p:cNvPicPr>
          <p:nvPr/>
        </p:nvPicPr>
        <p:blipFill>
          <a:blip r:embed="rId4"/>
          <a:stretch>
            <a:fillRect/>
          </a:stretch>
        </p:blipFill>
        <p:spPr>
          <a:xfrm>
            <a:off x="2279576" y="2804437"/>
            <a:ext cx="2387088" cy="1346351"/>
          </a:xfrm>
          <a:prstGeom prst="rect">
            <a:avLst/>
          </a:prstGeom>
        </p:spPr>
      </p:pic>
      <p:pic>
        <p:nvPicPr>
          <p:cNvPr id="11" name="Picture 10">
            <a:extLst>
              <a:ext uri="{FF2B5EF4-FFF2-40B4-BE49-F238E27FC236}">
                <a16:creationId xmlns:a16="http://schemas.microsoft.com/office/drawing/2014/main" id="{8EAD7BCA-2882-AF4B-C89F-6AB7D0DDA9ED}"/>
              </a:ext>
            </a:extLst>
          </p:cNvPr>
          <p:cNvPicPr>
            <a:picLocks noChangeAspect="1"/>
          </p:cNvPicPr>
          <p:nvPr/>
        </p:nvPicPr>
        <p:blipFill>
          <a:blip r:embed="rId5"/>
          <a:stretch>
            <a:fillRect/>
          </a:stretch>
        </p:blipFill>
        <p:spPr>
          <a:xfrm>
            <a:off x="5904140" y="2803610"/>
            <a:ext cx="4296316" cy="3835466"/>
          </a:xfrm>
          <a:prstGeom prst="rect">
            <a:avLst/>
          </a:prstGeom>
        </p:spPr>
      </p:pic>
      <p:sp>
        <p:nvSpPr>
          <p:cNvPr id="12" name="Rectangle 11">
            <a:extLst>
              <a:ext uri="{FF2B5EF4-FFF2-40B4-BE49-F238E27FC236}">
                <a16:creationId xmlns:a16="http://schemas.microsoft.com/office/drawing/2014/main" id="{814E993E-55FF-5A08-73E5-047AA4FBF38B}"/>
              </a:ext>
            </a:extLst>
          </p:cNvPr>
          <p:cNvSpPr/>
          <p:nvPr/>
        </p:nvSpPr>
        <p:spPr>
          <a:xfrm>
            <a:off x="2008380" y="2708920"/>
            <a:ext cx="3583565" cy="403244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3" name="Rectangle 12">
            <a:extLst>
              <a:ext uri="{FF2B5EF4-FFF2-40B4-BE49-F238E27FC236}">
                <a16:creationId xmlns:a16="http://schemas.microsoft.com/office/drawing/2014/main" id="{746B9BDA-9E4C-266C-EDC6-AD8DA4BEFD41}"/>
              </a:ext>
            </a:extLst>
          </p:cNvPr>
          <p:cNvSpPr/>
          <p:nvPr/>
        </p:nvSpPr>
        <p:spPr>
          <a:xfrm>
            <a:off x="5904140" y="2708920"/>
            <a:ext cx="4368324" cy="403244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Tree>
    <p:extLst>
      <p:ext uri="{BB962C8B-B14F-4D97-AF65-F5344CB8AC3E}">
        <p14:creationId xmlns:p14="http://schemas.microsoft.com/office/powerpoint/2010/main" val="24842630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c13/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13E  – Y1 pages 299-300</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3579DD30-67E9-AA16-6B0E-5BB592609ABE}"/>
              </a:ext>
            </a:extLst>
          </p:cNvPr>
          <p:cNvGrpSpPr/>
          <p:nvPr/>
        </p:nvGrpSpPr>
        <p:grpSpPr>
          <a:xfrm>
            <a:off x="1631504" y="608474"/>
            <a:ext cx="5254352" cy="2078485"/>
            <a:chOff x="107504" y="594961"/>
            <a:chExt cx="5254352" cy="2078485"/>
          </a:xfrm>
        </p:grpSpPr>
        <p:pic>
          <p:nvPicPr>
            <p:cNvPr id="5" name="Picture 4">
              <a:extLst>
                <a:ext uri="{FF2B5EF4-FFF2-40B4-BE49-F238E27FC236}">
                  <a16:creationId xmlns:a16="http://schemas.microsoft.com/office/drawing/2014/main" id="{B4E1DD89-890E-982C-15E8-E11010D3277D}"/>
                </a:ext>
              </a:extLst>
            </p:cNvPr>
            <p:cNvPicPr>
              <a:picLocks noChangeAspect="1"/>
            </p:cNvPicPr>
            <p:nvPr/>
          </p:nvPicPr>
          <p:blipFill>
            <a:blip r:embed="rId2"/>
            <a:stretch>
              <a:fillRect/>
            </a:stretch>
          </p:blipFill>
          <p:spPr>
            <a:xfrm>
              <a:off x="107504" y="594961"/>
              <a:ext cx="5254352" cy="2078485"/>
            </a:xfrm>
            <a:prstGeom prst="rect">
              <a:avLst/>
            </a:prstGeom>
          </p:spPr>
        </p:pic>
        <p:sp>
          <p:nvSpPr>
            <p:cNvPr id="6" name="Rectangle 5">
              <a:extLst>
                <a:ext uri="{FF2B5EF4-FFF2-40B4-BE49-F238E27FC236}">
                  <a16:creationId xmlns:a16="http://schemas.microsoft.com/office/drawing/2014/main" id="{AE056FE6-49BB-6781-C581-569E9B1A0203}"/>
                </a:ext>
              </a:extLst>
            </p:cNvPr>
            <p:cNvSpPr/>
            <p:nvPr/>
          </p:nvSpPr>
          <p:spPr>
            <a:xfrm>
              <a:off x="2267744" y="1916832"/>
              <a:ext cx="79208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9" name="Picture 8">
            <a:extLst>
              <a:ext uri="{FF2B5EF4-FFF2-40B4-BE49-F238E27FC236}">
                <a16:creationId xmlns:a16="http://schemas.microsoft.com/office/drawing/2014/main" id="{437D3070-93CC-4930-B309-41CBF6DE783F}"/>
              </a:ext>
            </a:extLst>
          </p:cNvPr>
          <p:cNvPicPr>
            <a:picLocks noChangeAspect="1"/>
          </p:cNvPicPr>
          <p:nvPr/>
        </p:nvPicPr>
        <p:blipFill>
          <a:blip r:embed="rId3"/>
          <a:stretch>
            <a:fillRect/>
          </a:stretch>
        </p:blipFill>
        <p:spPr>
          <a:xfrm>
            <a:off x="2063553" y="2924945"/>
            <a:ext cx="4137859" cy="3038617"/>
          </a:xfrm>
          <a:prstGeom prst="rect">
            <a:avLst/>
          </a:prstGeom>
        </p:spPr>
      </p:pic>
      <p:sp>
        <p:nvSpPr>
          <p:cNvPr id="10" name="Rectangle 9">
            <a:extLst>
              <a:ext uri="{FF2B5EF4-FFF2-40B4-BE49-F238E27FC236}">
                <a16:creationId xmlns:a16="http://schemas.microsoft.com/office/drawing/2014/main" id="{3835C6CE-9BCA-456F-793D-2A40EB9D31B9}"/>
              </a:ext>
            </a:extLst>
          </p:cNvPr>
          <p:cNvSpPr/>
          <p:nvPr/>
        </p:nvSpPr>
        <p:spPr>
          <a:xfrm>
            <a:off x="1841568" y="2868691"/>
            <a:ext cx="4830497" cy="338083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4440221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c13/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9" name="TextBox 8"/>
              <p:cNvSpPr txBox="1"/>
              <p:nvPr/>
            </p:nvSpPr>
            <p:spPr>
              <a:xfrm>
                <a:off x="1775521" y="836713"/>
                <a:ext cx="4016807" cy="4714817"/>
              </a:xfrm>
              <a:prstGeom prst="rect">
                <a:avLst/>
              </a:prstGeom>
              <a:noFill/>
            </p:spPr>
            <p:txBody>
              <a:bodyPr wrap="square" rtlCol="0">
                <a:spAutoFit/>
              </a:bodyPr>
              <a:lstStyle/>
              <a:p>
                <a:r>
                  <a:rPr lang="en-GB" sz="1600" i="1" dirty="0"/>
                  <a:t>[MAT 2007 1H] </a:t>
                </a:r>
                <a:r>
                  <a:rPr lang="en-GB" sz="1600" dirty="0"/>
                  <a:t>Given a function </a:t>
                </a:r>
                <a14:m>
                  <m:oMath xmlns:m="http://schemas.openxmlformats.org/officeDocument/2006/math">
                    <m:r>
                      <a:rPr lang="en-GB" sz="1600" i="1">
                        <a:latin typeface="Cambria Math" panose="02040503050406030204" pitchFamily="18" charset="0"/>
                      </a:rPr>
                      <m:t>𝑓</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m:t>
                    </m:r>
                  </m:oMath>
                </a14:m>
                <a:r>
                  <a:rPr lang="en-GB" sz="1600" dirty="0"/>
                  <a:t>, you are told that </a:t>
                </a:r>
              </a:p>
              <a:p>
                <a:pPr/>
                <a14:m>
                  <m:oMathPara xmlns:m="http://schemas.openxmlformats.org/officeDocument/2006/math">
                    <m:oMathParaPr>
                      <m:jc m:val="centerGroup"/>
                    </m:oMathParaPr>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1</m:t>
                          </m:r>
                        </m:sup>
                        <m:e>
                          <m:r>
                            <a:rPr lang="en-GB" sz="1600" i="1">
                              <a:latin typeface="Cambria Math" panose="02040503050406030204" pitchFamily="18" charset="0"/>
                            </a:rPr>
                            <m:t>3</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2</m:t>
                          </m:r>
                        </m:sup>
                        <m:e>
                          <m:r>
                            <a:rPr lang="en-GB" sz="1600" i="1">
                              <a:latin typeface="Cambria Math" panose="02040503050406030204" pitchFamily="18" charset="0"/>
                            </a:rPr>
                            <m:t>2</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=7</m:t>
                      </m:r>
                    </m:oMath>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2</m:t>
                          </m:r>
                        </m:sup>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2</m:t>
                          </m:r>
                        </m:sup>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=1</m:t>
                      </m:r>
                    </m:oMath>
                  </m:oMathPara>
                </a14:m>
                <a:endParaRPr lang="en-GB" sz="1600" dirty="0"/>
              </a:p>
              <a:p>
                <a:r>
                  <a:rPr lang="en-GB" sz="1600" dirty="0"/>
                  <a:t>It follows that </a:t>
                </a:r>
                <a14:m>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2</m:t>
                        </m:r>
                      </m:sup>
                      <m:e>
                        <m:r>
                          <a:rPr lang="en-GB" sz="1600" i="1">
                            <a:latin typeface="Cambria Math" panose="02040503050406030204" pitchFamily="18" charset="0"/>
                          </a:rPr>
                          <m:t>𝑓</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m:t>
                        </m:r>
                      </m:e>
                    </m:nary>
                    <m:r>
                      <a:rPr lang="en-GB" sz="1600" i="1">
                        <a:latin typeface="Cambria Math" panose="02040503050406030204" pitchFamily="18" charset="0"/>
                      </a:rPr>
                      <m:t> </m:t>
                    </m:r>
                    <m:r>
                      <a:rPr lang="en-GB" sz="1600" i="1">
                        <a:latin typeface="Cambria Math" panose="02040503050406030204" pitchFamily="18" charset="0"/>
                      </a:rPr>
                      <m:t>𝑑𝑥</m:t>
                    </m:r>
                  </m:oMath>
                </a14:m>
                <a:r>
                  <a:rPr lang="en-GB" sz="1600" dirty="0"/>
                  <a:t> equals what?</a:t>
                </a:r>
              </a:p>
              <a:p>
                <a:r>
                  <a:rPr lang="en-GB" sz="1600" b="1" dirty="0"/>
                  <a:t>Because the area between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𝟎</m:t>
                    </m:r>
                  </m:oMath>
                </a14:m>
                <a:r>
                  <a:rPr lang="en-GB" sz="1600" b="1" dirty="0"/>
                  <a:t> and 2 is the sum of the area between 0 and 1, and between 1 and 2, it follows that </a:t>
                </a:r>
                <a14:m>
                  <m:oMath xmlns:m="http://schemas.openxmlformats.org/officeDocument/2006/math">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Also note that </a:t>
                </a:r>
                <a14:m>
                  <m:oMath xmlns:m="http://schemas.openxmlformats.org/officeDocument/2006/math">
                    <m:nary>
                      <m:naryPr>
                        <m:subHide m:val="on"/>
                        <m:supHide m:val="on"/>
                        <m:ctrlPr>
                          <a:rPr lang="en-GB" sz="1600" b="1" i="1">
                            <a:latin typeface="Cambria Math" panose="02040503050406030204" pitchFamily="18" charset="0"/>
                          </a:rPr>
                        </m:ctrlPr>
                      </m:naryPr>
                      <m:sub/>
                      <m:sup/>
                      <m:e>
                        <m:r>
                          <a:rPr lang="en-GB" sz="1600" b="1" i="1">
                            <a:latin typeface="Cambria Math" panose="02040503050406030204" pitchFamily="18" charset="0"/>
                          </a:rPr>
                          <m:t>𝒌𝒇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r>
                      <a:rPr lang="en-GB" sz="1600" b="1" i="1">
                        <a:latin typeface="Cambria Math" panose="02040503050406030204" pitchFamily="18" charset="0"/>
                      </a:rPr>
                      <m:t>𝒌</m:t>
                    </m:r>
                    <m:nary>
                      <m:naryPr>
                        <m:subHide m:val="on"/>
                        <m:supHide m:val="on"/>
                        <m:ctrlPr>
                          <a:rPr lang="en-GB" sz="1600" b="1" i="1">
                            <a:latin typeface="Cambria Math" panose="02040503050406030204" pitchFamily="18" charset="0"/>
                          </a:rPr>
                        </m:ctrlPr>
                      </m:naryPr>
                      <m:sub/>
                      <m:sup/>
                      <m:e>
                        <m:r>
                          <a:rPr lang="en-GB" sz="1600" b="1" i="1">
                            <a:latin typeface="Cambria Math" panose="02040503050406030204" pitchFamily="18" charset="0"/>
                          </a:rPr>
                          <m:t>𝒇</m:t>
                        </m:r>
                        <m:r>
                          <a:rPr lang="en-GB" sz="1600" b="1" i="1">
                            <a:latin typeface="Cambria Math" panose="02040503050406030204" pitchFamily="18" charset="0"/>
                          </a:rPr>
                          <m:t>(</m:t>
                        </m:r>
                        <m:r>
                          <a:rPr lang="en-GB" sz="1600" b="1" i="1">
                            <a:latin typeface="Cambria Math" panose="02040503050406030204" pitchFamily="18" charset="0"/>
                          </a:rPr>
                          <m:t>𝒙</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oMath>
                </a14:m>
                <a:endParaRPr lang="en-GB" sz="1600" b="1" dirty="0"/>
              </a:p>
              <a:p>
                <a:r>
                  <a:rPr lang="en-GB" sz="1600" b="1" dirty="0"/>
                  <a:t>Letting </a:t>
                </a:r>
                <a14:m>
                  <m:oMath xmlns:m="http://schemas.openxmlformats.org/officeDocument/2006/math">
                    <m:r>
                      <a:rPr lang="en-GB" sz="1600" b="1" i="1">
                        <a:latin typeface="Cambria Math" panose="02040503050406030204" pitchFamily="18" charset="0"/>
                      </a:rPr>
                      <m:t>𝒂</m:t>
                    </m:r>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𝟏</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and </a:t>
                </a:r>
                <a14:m>
                  <m:oMath xmlns:m="http://schemas.openxmlformats.org/officeDocument/2006/math">
                    <m:r>
                      <a:rPr lang="en-GB" sz="1600" b="1" i="1">
                        <a:latin typeface="Cambria Math" panose="02040503050406030204" pitchFamily="18" charset="0"/>
                      </a:rPr>
                      <m:t>𝒃</m:t>
                    </m:r>
                    <m:r>
                      <a:rPr lang="en-GB" sz="1600" b="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purely for convenience, then:</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𝟑</m:t>
                      </m:r>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𝟐</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𝟕</m:t>
                      </m:r>
                    </m:oMath>
                    <m:oMath xmlns:m="http://schemas.openxmlformats.org/officeDocument/2006/math">
                      <m:d>
                        <m:dPr>
                          <m:ctrlPr>
                            <a:rPr lang="en-GB" sz="1600" b="1" i="1">
                              <a:latin typeface="Cambria Math" panose="02040503050406030204" pitchFamily="18" charset="0"/>
                            </a:rPr>
                          </m:ctrlPr>
                        </m:dPr>
                        <m:e>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𝒃</m:t>
                          </m:r>
                        </m:e>
                      </m:d>
                      <m:r>
                        <a:rPr lang="en-GB" sz="1600" b="1" i="1">
                          <a:latin typeface="Cambria Math" panose="02040503050406030204" pitchFamily="18" charset="0"/>
                        </a:rPr>
                        <m:t>+</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𝟏</m:t>
                      </m:r>
                    </m:oMath>
                  </m:oMathPara>
                </a14:m>
                <a:endParaRPr lang="en-GB" sz="1600" b="1" dirty="0"/>
              </a:p>
              <a:p>
                <a:r>
                  <a:rPr lang="en-GB" sz="1600" b="1" dirty="0"/>
                  <a:t>Solve, </a:t>
                </a:r>
                <a14:m>
                  <m:oMath xmlns:m="http://schemas.openxmlformats.org/officeDocument/2006/math">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𝟑</m:t>
                    </m:r>
                    <m:r>
                      <a:rPr lang="en-GB" sz="1600" b="1" i="1">
                        <a:latin typeface="Cambria Math" panose="02040503050406030204" pitchFamily="18" charset="0"/>
                      </a:rPr>
                      <m:t>, </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𝟏</m:t>
                    </m:r>
                  </m:oMath>
                </a14:m>
                <a:r>
                  <a:rPr lang="en-GB" sz="1600" b="1" dirty="0"/>
                  <a:t>, </a:t>
                </a:r>
                <a14:m>
                  <m:oMath xmlns:m="http://schemas.openxmlformats.org/officeDocument/2006/math">
                    <m:r>
                      <a:rPr lang="en-GB" sz="1600" b="1" i="1">
                        <a:latin typeface="Cambria Math" panose="02040503050406030204" pitchFamily="18" charset="0"/>
                      </a:rPr>
                      <m:t>∴</m:t>
                    </m:r>
                    <m:r>
                      <a:rPr lang="en-GB" sz="1600" b="1" i="1">
                        <a:latin typeface="Cambria Math" panose="02040503050406030204" pitchFamily="18" charset="0"/>
                      </a:rPr>
                      <m:t>𝒂</m:t>
                    </m:r>
                    <m:r>
                      <a:rPr lang="en-GB" sz="1600" b="1" i="1">
                        <a:latin typeface="Cambria Math" panose="02040503050406030204" pitchFamily="18" charset="0"/>
                      </a:rPr>
                      <m:t>+</m:t>
                    </m:r>
                    <m:r>
                      <a:rPr lang="en-GB" sz="1600" b="1" i="1">
                        <a:latin typeface="Cambria Math" panose="02040503050406030204" pitchFamily="18" charset="0"/>
                      </a:rPr>
                      <m:t>𝒃</m:t>
                    </m:r>
                    <m:r>
                      <a:rPr lang="en-GB" sz="1600" b="1" i="1">
                        <a:latin typeface="Cambria Math" panose="02040503050406030204" pitchFamily="18" charset="0"/>
                      </a:rPr>
                      <m:t>=</m:t>
                    </m:r>
                    <m:r>
                      <a:rPr lang="en-GB" sz="1600" b="1" i="1">
                        <a:latin typeface="Cambria Math" panose="02040503050406030204" pitchFamily="18" charset="0"/>
                      </a:rPr>
                      <m:t>𝟐</m:t>
                    </m:r>
                  </m:oMath>
                </a14:m>
                <a:endParaRPr lang="en-GB" sz="1600" b="1" dirty="0"/>
              </a:p>
            </p:txBody>
          </p:sp>
        </mc:Choice>
        <mc:Fallback xmlns="">
          <p:sp>
            <p:nvSpPr>
              <p:cNvPr id="9" name="TextBox 8"/>
              <p:cNvSpPr txBox="1">
                <a:spLocks noRot="1" noChangeAspect="1" noMove="1" noResize="1" noEditPoints="1" noAdjustHandles="1" noChangeArrowheads="1" noChangeShapeType="1" noTextEdit="1"/>
              </p:cNvSpPr>
              <p:nvPr/>
            </p:nvSpPr>
            <p:spPr>
              <a:xfrm>
                <a:off x="1775521" y="836713"/>
                <a:ext cx="4016807" cy="4714817"/>
              </a:xfrm>
              <a:prstGeom prst="rect">
                <a:avLst/>
              </a:prstGeom>
              <a:blipFill>
                <a:blip r:embed="rId2"/>
                <a:stretch>
                  <a:fillRect l="-8649" t="-388" r="-1062" b="-6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486196" y="696640"/>
                <a:ext cx="4110360" cy="5024132"/>
              </a:xfrm>
              <a:prstGeom prst="rect">
                <a:avLst/>
              </a:prstGeom>
              <a:noFill/>
            </p:spPr>
            <p:txBody>
              <a:bodyPr wrap="square" rtlCol="0">
                <a:spAutoFit/>
              </a:bodyPr>
              <a:lstStyle/>
              <a:p>
                <a:r>
                  <a:rPr lang="en-GB" sz="1600" i="1" dirty="0"/>
                  <a:t>[MAT 2011 1G] </a:t>
                </a:r>
                <a:endParaRPr lang="en-GB" sz="1600" dirty="0"/>
              </a:p>
              <a:p>
                <a:r>
                  <a:rPr lang="en-GB" sz="1600" dirty="0"/>
                  <a:t>A graph of the function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is sketched on the axes below:</a:t>
                </a:r>
              </a:p>
              <a:p>
                <a:endParaRPr lang="en-GB" sz="1600" dirty="0"/>
              </a:p>
              <a:p>
                <a:endParaRPr lang="en-GB" sz="1600" dirty="0"/>
              </a:p>
              <a:p>
                <a:endParaRPr lang="en-GB" sz="1600" dirty="0"/>
              </a:p>
              <a:p>
                <a:endParaRPr lang="en-GB" sz="1600" dirty="0"/>
              </a:p>
              <a:p>
                <a:endParaRPr lang="en-GB" sz="1600" dirty="0"/>
              </a:p>
              <a:p>
                <a:r>
                  <a:rPr lang="en-GB" sz="1600" dirty="0"/>
                  <a:t>What is the value of </a:t>
                </a:r>
                <a14:m>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1</m:t>
                        </m:r>
                      </m:sup>
                      <m:e>
                        <m:r>
                          <a:rPr lang="en-GB" sz="1600" i="1">
                            <a:latin typeface="Cambria Math" panose="02040503050406030204" pitchFamily="18" charset="0"/>
                          </a:rPr>
                          <m:t>𝑓</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−1)</m:t>
                        </m:r>
                      </m:e>
                    </m:nary>
                    <m:r>
                      <a:rPr lang="en-GB" sz="1600" i="1">
                        <a:latin typeface="Cambria Math" panose="02040503050406030204" pitchFamily="18" charset="0"/>
                      </a:rPr>
                      <m:t> </m:t>
                    </m:r>
                    <m:r>
                      <a:rPr lang="en-GB" sz="1600" i="1">
                        <a:latin typeface="Cambria Math" panose="02040503050406030204" pitchFamily="18" charset="0"/>
                      </a:rPr>
                      <m:t>𝑑𝑥</m:t>
                    </m:r>
                  </m:oMath>
                </a14:m>
                <a:r>
                  <a:rPr lang="en-GB" sz="1600" dirty="0"/>
                  <a:t>?</a:t>
                </a:r>
              </a:p>
              <a:p>
                <a:r>
                  <a:rPr lang="en-GB" sz="1600" b="1" dirty="0"/>
                  <a:t>We first need to reflect on what part of the function </a:t>
                </a:r>
                <a14:m>
                  <m:oMath xmlns:m="http://schemas.openxmlformats.org/officeDocument/2006/math">
                    <m:r>
                      <a:rPr lang="en-GB" sz="1600" b="1" i="1">
                        <a:latin typeface="Cambria Math" panose="02040503050406030204" pitchFamily="18" charset="0"/>
                      </a:rPr>
                      <m:t>𝒇</m:t>
                    </m:r>
                  </m:oMath>
                </a14:m>
                <a:r>
                  <a:rPr lang="en-GB" sz="1600" b="1" dirty="0"/>
                  <a:t> we’re actually using. </a:t>
                </a:r>
                <a14:m>
                  <m:oMath xmlns:m="http://schemas.openxmlformats.org/officeDocument/2006/math">
                    <m:r>
                      <a:rPr lang="en-GB" sz="1600" b="1" i="1">
                        <a:latin typeface="Cambria Math" panose="02040503050406030204" pitchFamily="18" charset="0"/>
                      </a:rPr>
                      <m:t>𝒙</m:t>
                    </m:r>
                  </m:oMath>
                </a14:m>
                <a:r>
                  <a:rPr lang="en-GB" sz="1600" b="1" dirty="0"/>
                  <a:t> in the integral varies between -1 and 1, thus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oMath>
                </a14:m>
                <a:r>
                  <a:rPr lang="en-GB" sz="1600" b="1" dirty="0"/>
                  <a:t>, i.e. the input of </a:t>
                </a:r>
                <a14:m>
                  <m:oMath xmlns:m="http://schemas.openxmlformats.org/officeDocument/2006/math">
                    <m:r>
                      <a:rPr lang="en-GB" sz="1600" b="1" i="1">
                        <a:latin typeface="Cambria Math" panose="02040503050406030204" pitchFamily="18" charset="0"/>
                      </a:rPr>
                      <m:t>𝒇</m:t>
                    </m:r>
                  </m:oMath>
                </a14:m>
                <a:r>
                  <a:rPr lang="en-GB" sz="1600" b="1" dirty="0"/>
                  <a:t>, varies between -1 and 0.</a:t>
                </a:r>
              </a:p>
              <a:p>
                <a:r>
                  <a:rPr lang="en-GB" sz="1600" b="1" dirty="0"/>
                  <a:t>We’re therefore only using the left half of the graph, and thus </a:t>
                </a:r>
                <a14:m>
                  <m:oMath xmlns:m="http://schemas.openxmlformats.org/officeDocument/2006/math">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m:t>
                    </m:r>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𝟏</m:t>
                    </m:r>
                  </m:oMath>
                </a14:m>
                <a:endParaRPr lang="en-GB" sz="1600" b="1" dirty="0"/>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e>
                          <m:r>
                            <a:rPr lang="en-GB" sz="1600" b="1" i="1">
                              <a:latin typeface="Cambria Math" panose="02040503050406030204" pitchFamily="18" charset="0"/>
                            </a:rPr>
                            <m:t>𝒇</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e>
                          <m:d>
                            <m:dPr>
                              <m:ctrlPr>
                                <a:rPr lang="en-GB" sz="1600" b="1" i="1">
                                  <a:latin typeface="Cambria Math" panose="02040503050406030204" pitchFamily="18" charset="0"/>
                                </a:rPr>
                              </m:ctrlPr>
                            </m:dPr>
                            <m:e>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e>
                          </m:d>
                          <m:r>
                            <a:rPr lang="en-GB" sz="1600" b="1" i="1">
                              <a:latin typeface="Cambria Math" panose="02040503050406030204" pitchFamily="18" charset="0"/>
                            </a:rPr>
                            <m:t>+</m:t>
                          </m:r>
                          <m:r>
                            <a:rPr lang="en-GB" sz="1600" b="1" i="1">
                              <a:latin typeface="Cambria Math" panose="02040503050406030204" pitchFamily="18" charset="0"/>
                            </a:rPr>
                            <m:t>𝟏</m:t>
                          </m:r>
                          <m:r>
                            <a:rPr lang="en-GB" sz="1600" b="1" i="1">
                              <a:latin typeface="Cambria Math" panose="02040503050406030204" pitchFamily="18" charset="0"/>
                            </a:rPr>
                            <m:t> </m:t>
                          </m:r>
                          <m:r>
                            <a:rPr lang="en-GB" sz="1600" b="1" i="1">
                              <a:latin typeface="Cambria Math" panose="02040503050406030204" pitchFamily="18" charset="0"/>
                            </a:rPr>
                            <m:t>𝒅𝒙</m:t>
                          </m:r>
                        </m:e>
                      </m:nary>
                    </m:oMath>
                    <m:oMath xmlns:m="http://schemas.openxmlformats.org/officeDocument/2006/math">
                      <m:r>
                        <a:rPr lang="en-GB" sz="1600" b="1" i="1">
                          <a:latin typeface="Cambria Math" panose="02040503050406030204" pitchFamily="18" charset="0"/>
                        </a:rPr>
                        <m:t>=</m:t>
                      </m:r>
                      <m:sSubSup>
                        <m:sSubSupPr>
                          <m:ctrlPr>
                            <a:rPr lang="en-GB" sz="1600" b="1" i="1">
                              <a:latin typeface="Cambria Math" panose="02040503050406030204" pitchFamily="18" charset="0"/>
                            </a:rPr>
                          </m:ctrlPr>
                        </m:sSubSupPr>
                        <m:e>
                          <m:d>
                            <m:dPr>
                              <m:begChr m:val="["/>
                              <m:endChr m:val="]"/>
                              <m:ctrlPr>
                                <a:rPr lang="en-GB" sz="1600" b="1" i="1">
                                  <a:latin typeface="Cambria Math" panose="02040503050406030204" pitchFamily="18" charset="0"/>
                                </a:rPr>
                              </m:ctrlPr>
                            </m:dPr>
                            <m:e>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𝟑</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𝟑</m:t>
                                  </m:r>
                                </m:sup>
                              </m:sSup>
                            </m:e>
                          </m:d>
                        </m:e>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sSubSup>
                      <m:r>
                        <a:rPr lang="en-GB" sz="1600" b="1" i="1">
                          <a:latin typeface="Cambria Math" panose="02040503050406030204" pitchFamily="18" charset="0"/>
                        </a:rPr>
                        <m:t>=</m:t>
                      </m:r>
                      <m:d>
                        <m:dPr>
                          <m:ctrlPr>
                            <a:rPr lang="en-GB" sz="1600" b="1" i="1">
                              <a:latin typeface="Cambria Math" panose="02040503050406030204" pitchFamily="18" charset="0"/>
                            </a:rPr>
                          </m:ctrlPr>
                        </m:dPr>
                        <m:e>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𝟑</m:t>
                              </m:r>
                            </m:den>
                          </m:f>
                        </m:e>
                      </m:d>
                      <m:r>
                        <a:rPr lang="en-GB" sz="1600" b="1" i="1">
                          <a:latin typeface="Cambria Math" panose="02040503050406030204" pitchFamily="18" charset="0"/>
                        </a:rPr>
                        <m:t>−</m:t>
                      </m:r>
                      <m:d>
                        <m:dPr>
                          <m:ctrlPr>
                            <a:rPr lang="en-GB" sz="1600" b="1" i="1">
                              <a:latin typeface="Cambria Math" panose="02040503050406030204" pitchFamily="18" charset="0"/>
                            </a:rPr>
                          </m:ctrlPr>
                        </m:dPr>
                        <m:e>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𝟑</m:t>
                              </m:r>
                            </m:den>
                          </m:f>
                        </m:e>
                      </m:d>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𝟐</m:t>
                          </m:r>
                        </m:num>
                        <m:den>
                          <m:r>
                            <a:rPr lang="en-GB" sz="1600" b="1" i="1">
                              <a:latin typeface="Cambria Math" panose="02040503050406030204" pitchFamily="18" charset="0"/>
                            </a:rPr>
                            <m:t>𝟑</m:t>
                          </m:r>
                        </m:den>
                      </m:f>
                    </m:oMath>
                  </m:oMathPara>
                </a14:m>
                <a:endParaRPr lang="en-GB" sz="1600" b="1" dirty="0"/>
              </a:p>
            </p:txBody>
          </p:sp>
        </mc:Choice>
        <mc:Fallback xmlns="">
          <p:sp>
            <p:nvSpPr>
              <p:cNvPr id="10" name="TextBox 9"/>
              <p:cNvSpPr txBox="1">
                <a:spLocks noRot="1" noChangeAspect="1" noMove="1" noResize="1" noEditPoints="1" noAdjustHandles="1" noChangeArrowheads="1" noChangeShapeType="1" noTextEdit="1"/>
              </p:cNvSpPr>
              <p:nvPr/>
            </p:nvSpPr>
            <p:spPr>
              <a:xfrm>
                <a:off x="6486196" y="696640"/>
                <a:ext cx="4110360" cy="5024132"/>
              </a:xfrm>
              <a:prstGeom prst="rect">
                <a:avLst/>
              </a:prstGeom>
              <a:blipFill>
                <a:blip r:embed="rId3"/>
                <a:stretch>
                  <a:fillRect l="-742" t="-364"/>
                </a:stretch>
              </a:blipFill>
            </p:spPr>
            <p:txBody>
              <a:bodyPr/>
              <a:lstStyle/>
              <a:p>
                <a:r>
                  <a:rPr lang="en-GB">
                    <a:noFill/>
                  </a:rPr>
                  <a:t> </a:t>
                </a:r>
              </a:p>
            </p:txBody>
          </p:sp>
        </mc:Fallback>
      </mc:AlternateContent>
      <p:pic>
        <p:nvPicPr>
          <p:cNvPr id="11" name="Picture 10"/>
          <p:cNvPicPr>
            <a:picLocks noChangeAspect="1"/>
          </p:cNvPicPr>
          <p:nvPr/>
        </p:nvPicPr>
        <p:blipFill>
          <a:blip r:embed="rId4"/>
          <a:stretch>
            <a:fillRect/>
          </a:stretch>
        </p:blipFill>
        <p:spPr>
          <a:xfrm>
            <a:off x="6850737" y="1500906"/>
            <a:ext cx="3179763" cy="1120242"/>
          </a:xfrm>
          <a:prstGeom prst="rect">
            <a:avLst/>
          </a:prstGeom>
        </p:spPr>
      </p:pic>
      <p:sp>
        <p:nvSpPr>
          <p:cNvPr id="12" name="Rectangle 11"/>
          <p:cNvSpPr/>
          <p:nvPr/>
        </p:nvSpPr>
        <p:spPr>
          <a:xfrm>
            <a:off x="1841568" y="2852937"/>
            <a:ext cx="3971473" cy="266824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6555640" y="3074346"/>
            <a:ext cx="3881260" cy="256903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1639217" y="904505"/>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5" name="Rectangle 14"/>
          <p:cNvSpPr/>
          <p:nvPr/>
        </p:nvSpPr>
        <p:spPr>
          <a:xfrm>
            <a:off x="6294810" y="769004"/>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267332066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c13/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‘Negative Areas’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28" name="TextBox 27"/>
              <p:cNvSpPr txBox="1"/>
              <p:nvPr/>
            </p:nvSpPr>
            <p:spPr>
              <a:xfrm>
                <a:off x="2026120" y="720437"/>
                <a:ext cx="8072648" cy="74552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Sketch the curve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−1)(</m:t>
                    </m:r>
                    <m:r>
                      <a:rPr lang="en-GB" i="1">
                        <a:latin typeface="Cambria Math" panose="02040503050406030204" pitchFamily="18" charset="0"/>
                      </a:rPr>
                      <m:t>𝑥</m:t>
                    </m:r>
                    <m:r>
                      <a:rPr lang="en-GB" i="1">
                        <a:latin typeface="Cambria Math" panose="02040503050406030204" pitchFamily="18" charset="0"/>
                      </a:rPr>
                      <m:t>−2)</m:t>
                    </m:r>
                  </m:oMath>
                </a14:m>
                <a:r>
                  <a:rPr lang="en-GB" dirty="0"/>
                  <a:t> (which expands to give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+2</m:t>
                    </m:r>
                    <m:r>
                      <a:rPr lang="en-GB" i="1">
                        <a:latin typeface="Cambria Math" panose="02040503050406030204" pitchFamily="18" charset="0"/>
                      </a:rPr>
                      <m:t>𝑥</m:t>
                    </m:r>
                  </m:oMath>
                </a14:m>
                <a:r>
                  <a:rPr lang="en-GB" dirty="0"/>
                  <a:t>).</a:t>
                </a:r>
              </a:p>
              <a:p>
                <a:r>
                  <a:rPr lang="en-GB" dirty="0"/>
                  <a:t>Now calculate </a:t>
                </a:r>
                <a14:m>
                  <m:oMath xmlns:m="http://schemas.openxmlformats.org/officeDocument/2006/math">
                    <m:nary>
                      <m:naryPr>
                        <m:ctrlPr>
                          <a:rPr lang="en-GB" i="1">
                            <a:latin typeface="Cambria Math" panose="02040503050406030204" pitchFamily="18" charset="0"/>
                          </a:rPr>
                        </m:ctrlPr>
                      </m:naryPr>
                      <m:sub>
                        <m:r>
                          <a:rPr lang="en-GB" i="1">
                            <a:latin typeface="Cambria Math" panose="02040503050406030204" pitchFamily="18" charset="0"/>
                          </a:rPr>
                          <m:t>0</m:t>
                        </m:r>
                      </m:sub>
                      <m:sup>
                        <m:r>
                          <a:rPr lang="en-GB" i="1">
                            <a:latin typeface="Cambria Math" panose="02040503050406030204" pitchFamily="18" charset="0"/>
                          </a:rPr>
                          <m:t>2</m:t>
                        </m:r>
                      </m:sup>
                      <m:e>
                        <m:r>
                          <a:rPr lang="en-GB" i="1">
                            <a:latin typeface="Cambria Math" panose="02040503050406030204" pitchFamily="18" charset="0"/>
                          </a:rPr>
                          <m:t>𝑥</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−1</m:t>
                            </m:r>
                          </m:e>
                        </m:d>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−2</m:t>
                            </m:r>
                          </m:e>
                        </m:d>
                      </m:e>
                    </m:nary>
                    <m:r>
                      <a:rPr lang="en-GB" i="1">
                        <a:latin typeface="Cambria Math" panose="02040503050406030204" pitchFamily="18" charset="0"/>
                      </a:rPr>
                      <m:t> </m:t>
                    </m:r>
                    <m:r>
                      <a:rPr lang="en-GB" i="1">
                        <a:latin typeface="Cambria Math" panose="02040503050406030204" pitchFamily="18" charset="0"/>
                      </a:rPr>
                      <m:t>𝑑𝑥</m:t>
                    </m:r>
                  </m:oMath>
                </a14:m>
                <a:r>
                  <a:rPr lang="en-GB" dirty="0"/>
                  <a:t>. Why is this result surprising? </a:t>
                </a:r>
              </a:p>
            </p:txBody>
          </p:sp>
        </mc:Choice>
        <mc:Fallback xmlns="">
          <p:sp>
            <p:nvSpPr>
              <p:cNvPr id="28" name="TextBox 27"/>
              <p:cNvSpPr txBox="1">
                <a:spLocks noRot="1" noChangeAspect="1" noMove="1" noResize="1" noEditPoints="1" noAdjustHandles="1" noChangeArrowheads="1" noChangeShapeType="1" noTextEdit="1"/>
              </p:cNvSpPr>
              <p:nvPr/>
            </p:nvSpPr>
            <p:spPr>
              <a:xfrm>
                <a:off x="2026120" y="720437"/>
                <a:ext cx="8072648" cy="745525"/>
              </a:xfrm>
              <a:prstGeom prst="rect">
                <a:avLst/>
              </a:prstGeom>
              <a:blipFill>
                <a:blip r:embed="rId2"/>
                <a:stretch>
                  <a:fillRect t="-16438" b="-8082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4568237" y="1547730"/>
                <a:ext cx="5210763" cy="12920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𝟎</m:t>
                          </m:r>
                        </m:sub>
                        <m:sup>
                          <m:r>
                            <a:rPr lang="en-GB" b="1" i="1">
                              <a:latin typeface="Cambria Math" panose="02040503050406030204" pitchFamily="18" charset="0"/>
                            </a:rPr>
                            <m:t>𝟐</m:t>
                          </m:r>
                        </m:sup>
                        <m:e>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e>
                      </m:nary>
                      <m:r>
                        <a:rPr lang="en-GB" b="1" i="1">
                          <a:latin typeface="Cambria Math" panose="02040503050406030204" pitchFamily="18" charset="0"/>
                        </a:rPr>
                        <m:t> </m:t>
                      </m:r>
                      <m:r>
                        <a:rPr lang="en-GB" b="1" i="1">
                          <a:latin typeface="Cambria Math" panose="02040503050406030204" pitchFamily="18" charset="0"/>
                        </a:rPr>
                        <m:t>𝒅𝒙</m:t>
                      </m:r>
                      <m:r>
                        <a:rPr lang="en-GB" b="1" i="1">
                          <a:latin typeface="Cambria Math" panose="02040503050406030204" pitchFamily="18" charset="0"/>
                        </a:rPr>
                        <m:t>=</m:t>
                      </m:r>
                      <m:sSubSup>
                        <m:sSubSupPr>
                          <m:ctrlPr>
                            <a:rPr lang="en-GB" b="1" i="1">
                              <a:latin typeface="Cambria Math" panose="02040503050406030204" pitchFamily="18" charset="0"/>
                            </a:rPr>
                          </m:ctrlPr>
                        </m:sSubSupPr>
                        <m:e>
                          <m:d>
                            <m:dPr>
                              <m:begChr m:val="["/>
                              <m:endChr m:val="]"/>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𝟒</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e>
                          </m:d>
                        </m:e>
                        <m:sub>
                          <m:r>
                            <a:rPr lang="en-GB" b="1" i="1">
                              <a:latin typeface="Cambria Math" panose="02040503050406030204" pitchFamily="18" charset="0"/>
                            </a:rPr>
                            <m:t>𝟎</m:t>
                          </m:r>
                        </m:sub>
                        <m:sup>
                          <m:r>
                            <a:rPr lang="en-GB" b="1" i="1">
                              <a:latin typeface="Cambria Math" panose="02040503050406030204" pitchFamily="18" charset="0"/>
                            </a:rPr>
                            <m:t>𝟐</m:t>
                          </m:r>
                        </m:sup>
                      </m:sSubSup>
                      <m:r>
                        <a:rPr lang="en-GB" b="1" i="1">
                          <a:latin typeface="Cambria Math" panose="02040503050406030204" pitchFamily="18" charset="0"/>
                        </a:rPr>
                        <m:t>=</m:t>
                      </m:r>
                      <m:r>
                        <a:rPr lang="en-GB" b="1" i="1">
                          <a:latin typeface="Cambria Math" panose="02040503050406030204" pitchFamily="18" charset="0"/>
                        </a:rPr>
                        <m:t>𝟎</m:t>
                      </m:r>
                    </m:oMath>
                  </m:oMathPara>
                </a14:m>
                <a:endParaRPr lang="en-GB" b="1" dirty="0"/>
              </a:p>
              <a:p>
                <a:r>
                  <a:rPr lang="en-GB" b="1" dirty="0"/>
                  <a:t>So the total ‘area’ is 0!</a:t>
                </a:r>
              </a:p>
              <a:p>
                <a:endParaRPr lang="en-GB" dirty="0"/>
              </a:p>
            </p:txBody>
          </p:sp>
        </mc:Choice>
        <mc:Fallback xmlns="">
          <p:sp>
            <p:nvSpPr>
              <p:cNvPr id="33" name="Rectangle 32"/>
              <p:cNvSpPr>
                <a:spLocks noRot="1" noChangeAspect="1" noMove="1" noResize="1" noEditPoints="1" noAdjustHandles="1" noChangeArrowheads="1" noChangeShapeType="1" noTextEdit="1"/>
              </p:cNvSpPr>
              <p:nvPr/>
            </p:nvSpPr>
            <p:spPr>
              <a:xfrm>
                <a:off x="4568237" y="1547730"/>
                <a:ext cx="5210763" cy="1292085"/>
              </a:xfrm>
              <a:prstGeom prst="rect">
                <a:avLst/>
              </a:prstGeom>
              <a:blipFill>
                <a:blip r:embed="rId3"/>
                <a:stretch>
                  <a:fillRect l="-936"/>
                </a:stretch>
              </a:blipFill>
            </p:spPr>
            <p:txBody>
              <a:bodyPr/>
              <a:lstStyle/>
              <a:p>
                <a:r>
                  <a:rPr lang="en-GB">
                    <a:noFill/>
                  </a:rPr>
                  <a:t> </a:t>
                </a:r>
              </a:p>
            </p:txBody>
          </p:sp>
        </mc:Fallback>
      </mc:AlternateContent>
      <p:grpSp>
        <p:nvGrpSpPr>
          <p:cNvPr id="45" name="Group 44"/>
          <p:cNvGrpSpPr/>
          <p:nvPr/>
        </p:nvGrpSpPr>
        <p:grpSpPr>
          <a:xfrm>
            <a:off x="1890306" y="1555744"/>
            <a:ext cx="4822116" cy="4977844"/>
            <a:chOff x="366306" y="1555744"/>
            <a:chExt cx="4822116" cy="4977844"/>
          </a:xfrm>
        </p:grpSpPr>
        <p:cxnSp>
          <p:nvCxnSpPr>
            <p:cNvPr id="6" name="Straight Arrow Connector 5"/>
            <p:cNvCxnSpPr/>
            <p:nvPr/>
          </p:nvCxnSpPr>
          <p:spPr>
            <a:xfrm>
              <a:off x="366306" y="4239965"/>
              <a:ext cx="44644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4828382" y="4042786"/>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𝑥</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828382" y="4042786"/>
                  <a:ext cx="360040" cy="369332"/>
                </a:xfrm>
                <a:prstGeom prst="rect">
                  <a:avLst/>
                </a:prstGeom>
                <a:blipFill>
                  <a:blip r:embed="rId4"/>
                  <a:stretch>
                    <a:fillRect/>
                  </a:stretch>
                </a:blipFill>
              </p:spPr>
              <p:txBody>
                <a:bodyPr/>
                <a:lstStyle/>
                <a:p>
                  <a:r>
                    <a:rPr lang="en-GB">
                      <a:noFill/>
                    </a:rPr>
                    <a:t> </a:t>
                  </a:r>
                </a:p>
              </p:txBody>
            </p:sp>
          </mc:Fallback>
        </mc:AlternateContent>
        <p:cxnSp>
          <p:nvCxnSpPr>
            <p:cNvPr id="8" name="Straight Arrow Connector 7"/>
            <p:cNvCxnSpPr/>
            <p:nvPr/>
          </p:nvCxnSpPr>
          <p:spPr>
            <a:xfrm flipH="1" flipV="1">
              <a:off x="873735" y="1925076"/>
              <a:ext cx="1" cy="46085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693715" y="1555744"/>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693715" y="1555744"/>
                  <a:ext cx="360040" cy="369332"/>
                </a:xfrm>
                <a:prstGeom prst="rect">
                  <a:avLst/>
                </a:prstGeom>
                <a:blipFill>
                  <a:blip r:embed="rId5"/>
                  <a:stretch>
                    <a:fillRect b="-6557"/>
                  </a:stretch>
                </a:blipFill>
              </p:spPr>
              <p:txBody>
                <a:bodyPr/>
                <a:lstStyle/>
                <a:p>
                  <a:r>
                    <a:rPr lang="en-GB">
                      <a:noFill/>
                    </a:rPr>
                    <a:t> </a:t>
                  </a:r>
                </a:p>
              </p:txBody>
            </p:sp>
          </mc:Fallback>
        </mc:AlternateContent>
        <p:sp>
          <p:nvSpPr>
            <p:cNvPr id="13" name="Freeform: Shape 12"/>
            <p:cNvSpPr/>
            <p:nvPr/>
          </p:nvSpPr>
          <p:spPr>
            <a:xfrm>
              <a:off x="859579" y="2200046"/>
              <a:ext cx="3678865" cy="4081314"/>
            </a:xfrm>
            <a:custGeom>
              <a:avLst/>
              <a:gdLst>
                <a:gd name="connsiteX0" fmla="*/ 0 w 3678865"/>
                <a:gd name="connsiteY0" fmla="*/ 2045235 h 4081314"/>
                <a:gd name="connsiteX1" fmla="*/ 1318437 w 3678865"/>
                <a:gd name="connsiteY1" fmla="*/ 56947 h 4081314"/>
                <a:gd name="connsiteX2" fmla="*/ 2721935 w 3678865"/>
                <a:gd name="connsiteY2" fmla="*/ 4022891 h 4081314"/>
                <a:gd name="connsiteX3" fmla="*/ 3678865 w 3678865"/>
                <a:gd name="connsiteY3" fmla="*/ 2055868 h 4081314"/>
              </a:gdLst>
              <a:ahLst/>
              <a:cxnLst>
                <a:cxn ang="0">
                  <a:pos x="connsiteX0" y="connsiteY0"/>
                </a:cxn>
                <a:cxn ang="0">
                  <a:pos x="connsiteX1" y="connsiteY1"/>
                </a:cxn>
                <a:cxn ang="0">
                  <a:pos x="connsiteX2" y="connsiteY2"/>
                </a:cxn>
                <a:cxn ang="0">
                  <a:pos x="connsiteX3" y="connsiteY3"/>
                </a:cxn>
              </a:cxnLst>
              <a:rect l="l" t="t" r="r" b="b"/>
              <a:pathLst>
                <a:path w="3678865" h="4081314">
                  <a:moveTo>
                    <a:pt x="0" y="2045235"/>
                  </a:moveTo>
                  <a:cubicBezTo>
                    <a:pt x="432390" y="886286"/>
                    <a:pt x="864781" y="-272662"/>
                    <a:pt x="1318437" y="56947"/>
                  </a:cubicBezTo>
                  <a:cubicBezTo>
                    <a:pt x="1772093" y="386556"/>
                    <a:pt x="2328530" y="3689738"/>
                    <a:pt x="2721935" y="4022891"/>
                  </a:cubicBezTo>
                  <a:cubicBezTo>
                    <a:pt x="3115340" y="4356045"/>
                    <a:pt x="3397102" y="3205956"/>
                    <a:pt x="3678865" y="205586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1302410" y="3086099"/>
              <a:ext cx="216024" cy="1153865"/>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1518434" y="2628899"/>
              <a:ext cx="210005" cy="1612627"/>
            </a:xfrm>
            <a:prstGeom prst="rect">
              <a:avLst/>
            </a:prstGeom>
            <a:solidFill>
              <a:srgbClr val="FF0000">
                <a:alpha val="47000"/>
              </a:srgb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1728439" y="2349499"/>
              <a:ext cx="216024" cy="1891247"/>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1947108" y="2209799"/>
              <a:ext cx="232326" cy="2030165"/>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2179434" y="2279650"/>
              <a:ext cx="232326" cy="1960314"/>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2411760" y="2660650"/>
              <a:ext cx="232326" cy="1579313"/>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p:cNvSpPr/>
            <p:nvPr/>
          </p:nvSpPr>
          <p:spPr>
            <a:xfrm>
              <a:off x="2641202" y="3346450"/>
              <a:ext cx="232326" cy="893513"/>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2906860" y="4243352"/>
              <a:ext cx="232326" cy="106398"/>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p:cNvSpPr/>
            <p:nvPr/>
          </p:nvSpPr>
          <p:spPr>
            <a:xfrm>
              <a:off x="3136643" y="4243352"/>
              <a:ext cx="232326" cy="862048"/>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p:cNvSpPr/>
            <p:nvPr/>
          </p:nvSpPr>
          <p:spPr>
            <a:xfrm>
              <a:off x="3366426" y="4243351"/>
              <a:ext cx="232326" cy="1592299"/>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3596209" y="4236579"/>
              <a:ext cx="232326" cy="2019441"/>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3832194" y="4243351"/>
              <a:ext cx="232326" cy="1966949"/>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4063506" y="4239598"/>
              <a:ext cx="232326" cy="1612562"/>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4299491" y="4242984"/>
              <a:ext cx="232326" cy="885276"/>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1089490" y="3562350"/>
              <a:ext cx="216024" cy="675922"/>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867717" y="4006850"/>
              <a:ext cx="216024" cy="236134"/>
            </a:xfrm>
            <a:prstGeom prst="rect">
              <a:avLst/>
            </a:prstGeom>
            <a:solidFill>
              <a:schemeClr val="accent1">
                <a:alpha val="47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1" name="TextBox 30"/>
                <p:cNvSpPr txBox="1"/>
                <p:nvPr/>
              </p:nvSpPr>
              <p:spPr>
                <a:xfrm>
                  <a:off x="2597186" y="4209241"/>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1</m:t>
                        </m:r>
                      </m:oMath>
                    </m:oMathPara>
                  </a14:m>
                  <a:endParaRPr lang="en-GB" dirty="0"/>
                </a:p>
              </p:txBody>
            </p:sp>
          </mc:Choice>
          <mc:Fallback xmlns="">
            <p:sp>
              <p:nvSpPr>
                <p:cNvPr id="31" name="TextBox 30"/>
                <p:cNvSpPr txBox="1">
                  <a:spLocks noRot="1" noChangeAspect="1" noMove="1" noResize="1" noEditPoints="1" noAdjustHandles="1" noChangeArrowheads="1" noChangeShapeType="1" noTextEdit="1"/>
                </p:cNvSpPr>
                <p:nvPr/>
              </p:nvSpPr>
              <p:spPr>
                <a:xfrm>
                  <a:off x="2597186" y="4209241"/>
                  <a:ext cx="360040"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425735" y="4241810"/>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2</m:t>
                        </m:r>
                      </m:oMath>
                    </m:oMathPara>
                  </a14:m>
                  <a:endParaRPr lang="en-GB" dirty="0"/>
                </a:p>
              </p:txBody>
            </p:sp>
          </mc:Choice>
          <mc:Fallback xmlns="">
            <p:sp>
              <p:nvSpPr>
                <p:cNvPr id="32" name="TextBox 31"/>
                <p:cNvSpPr txBox="1">
                  <a:spLocks noRot="1" noChangeAspect="1" noMove="1" noResize="1" noEditPoints="1" noAdjustHandles="1" noChangeArrowheads="1" noChangeShapeType="1" noTextEdit="1"/>
                </p:cNvSpPr>
                <p:nvPr/>
              </p:nvSpPr>
              <p:spPr>
                <a:xfrm>
                  <a:off x="4425735" y="4241810"/>
                  <a:ext cx="360040" cy="369332"/>
                </a:xfrm>
                <a:prstGeom prst="rect">
                  <a:avLst/>
                </a:prstGeom>
                <a:blipFill>
                  <a:blip r:embed="rId7"/>
                  <a:stretch>
                    <a:fillRect/>
                  </a:stretch>
                </a:blipFill>
              </p:spPr>
              <p:txBody>
                <a:bodyPr/>
                <a:lstStyle/>
                <a:p>
                  <a:r>
                    <a:rPr lang="en-GB">
                      <a:noFill/>
                    </a:rPr>
                    <a:t> </a:t>
                  </a:r>
                </a:p>
              </p:txBody>
            </p:sp>
          </mc:Fallback>
        </mc:AlternateContent>
        <p:cxnSp>
          <p:nvCxnSpPr>
            <p:cNvPr id="35" name="Straight Arrow Connector 34"/>
            <p:cNvCxnSpPr/>
            <p:nvPr/>
          </p:nvCxnSpPr>
          <p:spPr>
            <a:xfrm>
              <a:off x="1496739" y="4326393"/>
              <a:ext cx="234971"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a:off x="1380801" y="4261717"/>
                  <a:ext cx="4504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𝑑𝑥</m:t>
                        </m:r>
                      </m:oMath>
                    </m:oMathPara>
                  </a14:m>
                  <a:endParaRPr lang="en-GB" dirty="0"/>
                </a:p>
              </p:txBody>
            </p:sp>
          </mc:Choice>
          <mc:Fallback xmlns="">
            <p:sp>
              <p:nvSpPr>
                <p:cNvPr id="36" name="TextBox 35"/>
                <p:cNvSpPr txBox="1">
                  <a:spLocks noRot="1" noChangeAspect="1" noMove="1" noResize="1" noEditPoints="1" noAdjustHandles="1" noChangeArrowheads="1" noChangeShapeType="1" noTextEdit="1"/>
                </p:cNvSpPr>
                <p:nvPr/>
              </p:nvSpPr>
              <p:spPr>
                <a:xfrm>
                  <a:off x="1380801" y="4261717"/>
                  <a:ext cx="450446"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936753" y="2695123"/>
                  <a:ext cx="4504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m:oMathPara>
                  </a14:m>
                  <a:endParaRPr lang="en-GB" dirty="0"/>
                </a:p>
              </p:txBody>
            </p:sp>
          </mc:Choice>
          <mc:Fallback xmlns="">
            <p:sp>
              <p:nvSpPr>
                <p:cNvPr id="37" name="TextBox 36"/>
                <p:cNvSpPr txBox="1">
                  <a:spLocks noRot="1" noChangeAspect="1" noMove="1" noResize="1" noEditPoints="1" noAdjustHandles="1" noChangeArrowheads="1" noChangeShapeType="1" noTextEdit="1"/>
                </p:cNvSpPr>
                <p:nvPr/>
              </p:nvSpPr>
              <p:spPr>
                <a:xfrm>
                  <a:off x="936753" y="2695123"/>
                  <a:ext cx="450446" cy="369332"/>
                </a:xfrm>
                <a:prstGeom prst="rect">
                  <a:avLst/>
                </a:prstGeom>
                <a:blipFill>
                  <a:blip r:embed="rId9"/>
                  <a:stretch>
                    <a:fillRect l="-4054" r="-44595" b="-13115"/>
                  </a:stretch>
                </a:blipFill>
              </p:spPr>
              <p:txBody>
                <a:bodyPr/>
                <a:lstStyle/>
                <a:p>
                  <a:r>
                    <a:rPr lang="en-GB">
                      <a:noFill/>
                    </a:rPr>
                    <a:t> </a:t>
                  </a:r>
                </a:p>
              </p:txBody>
            </p:sp>
          </mc:Fallback>
        </mc:AlternateContent>
        <p:cxnSp>
          <p:nvCxnSpPr>
            <p:cNvPr id="38" name="Straight Arrow Connector 37"/>
            <p:cNvCxnSpPr/>
            <p:nvPr/>
          </p:nvCxnSpPr>
          <p:spPr>
            <a:xfrm flipV="1">
              <a:off x="1468089" y="2557780"/>
              <a:ext cx="5111" cy="170099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40" name="TextBox 39"/>
              <p:cNvSpPr txBox="1"/>
              <p:nvPr/>
            </p:nvSpPr>
            <p:spPr>
              <a:xfrm>
                <a:off x="6788162" y="2689217"/>
                <a:ext cx="3804237" cy="3970318"/>
              </a:xfrm>
              <a:prstGeom prst="rect">
                <a:avLst/>
              </a:prstGeom>
              <a:noFill/>
            </p:spPr>
            <p:txBody>
              <a:bodyPr wrap="square" rtlCol="0">
                <a:spAutoFit/>
              </a:bodyPr>
              <a:lstStyle/>
              <a:p>
                <a:r>
                  <a:rPr lang="en-GB" dirty="0"/>
                  <a:t>Integration </a:t>
                </a: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 </m:t>
                    </m:r>
                    <m:r>
                      <a:rPr lang="en-GB" i="1">
                        <a:latin typeface="Cambria Math" panose="02040503050406030204" pitchFamily="18" charset="0"/>
                      </a:rPr>
                      <m:t>𝑑𝑥</m:t>
                    </m:r>
                  </m:oMath>
                </a14:m>
                <a:r>
                  <a:rPr lang="en-GB" dirty="0"/>
                  <a:t> is just the sum of areas of infinitely thin rectangles, where the current </a:t>
                </a:r>
                <a14:m>
                  <m:oMath xmlns:m="http://schemas.openxmlformats.org/officeDocument/2006/math">
                    <m:r>
                      <a:rPr lang="en-GB" i="1">
                        <a:latin typeface="Cambria Math" panose="02040503050406030204" pitchFamily="18" charset="0"/>
                      </a:rPr>
                      <m:t>𝑦</m:t>
                    </m:r>
                  </m:oMath>
                </a14:m>
                <a:r>
                  <a:rPr lang="en-GB" dirty="0"/>
                  <a:t> value (i.e. </a:t>
                </a:r>
                <a14:m>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is each height, and the widths are </a:t>
                </a:r>
                <a14:m>
                  <m:oMath xmlns:m="http://schemas.openxmlformats.org/officeDocument/2006/math">
                    <m:r>
                      <a:rPr lang="en-GB" i="1">
                        <a:latin typeface="Cambria Math" panose="02040503050406030204" pitchFamily="18" charset="0"/>
                      </a:rPr>
                      <m:t>𝑑𝑥</m:t>
                    </m:r>
                  </m:oMath>
                </a14:m>
                <a:r>
                  <a:rPr lang="en-GB" dirty="0"/>
                  <a:t>.</a:t>
                </a:r>
              </a:p>
              <a:p>
                <a:r>
                  <a:rPr lang="en-GB" dirty="0"/>
                  <a:t>i.e. The area of each is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a:latin typeface="Cambria Math" panose="02040503050406030204" pitchFamily="18" charset="0"/>
                      </a:rPr>
                      <m:t>𝑑𝑥</m:t>
                    </m:r>
                  </m:oMath>
                </a14:m>
                <a:endParaRPr lang="en-GB" dirty="0"/>
              </a:p>
              <a:p>
                <a:endParaRPr lang="en-GB" dirty="0"/>
              </a:p>
              <a:p>
                <a:r>
                  <a:rPr lang="en-GB" dirty="0"/>
                  <a:t>The problem is, when </a:t>
                </a:r>
                <a14:m>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dirty="0"/>
                  <a:t> is negative, then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a:latin typeface="Cambria Math" panose="02040503050406030204" pitchFamily="18" charset="0"/>
                      </a:rPr>
                      <m:t>𝑑𝑥</m:t>
                    </m:r>
                  </m:oMath>
                </a14:m>
                <a:r>
                  <a:rPr lang="en-GB" dirty="0"/>
                  <a:t> is negative, i.e. a negative area!</a:t>
                </a:r>
              </a:p>
              <a:p>
                <a:r>
                  <a:rPr lang="en-GB" dirty="0"/>
                  <a:t>The result is that the ‘positive area’ from 0 to 1 is cancelled out by the ‘negative area’ from 1 to 2, giving an overall ‘area’ of 0.</a:t>
                </a:r>
              </a:p>
              <a:p>
                <a:r>
                  <a:rPr lang="en-GB" dirty="0"/>
                  <a:t>So how do we resolve this?</a:t>
                </a:r>
              </a:p>
            </p:txBody>
          </p:sp>
        </mc:Choice>
        <mc:Fallback xmlns="">
          <p:sp>
            <p:nvSpPr>
              <p:cNvPr id="40" name="TextBox 39"/>
              <p:cNvSpPr txBox="1">
                <a:spLocks noRot="1" noChangeAspect="1" noMove="1" noResize="1" noEditPoints="1" noAdjustHandles="1" noChangeArrowheads="1" noChangeShapeType="1" noTextEdit="1"/>
              </p:cNvSpPr>
              <p:nvPr/>
            </p:nvSpPr>
            <p:spPr>
              <a:xfrm>
                <a:off x="6788162" y="2689217"/>
                <a:ext cx="3804237" cy="3970318"/>
              </a:xfrm>
              <a:prstGeom prst="rect">
                <a:avLst/>
              </a:prstGeom>
              <a:blipFill>
                <a:blip r:embed="rId10"/>
                <a:stretch>
                  <a:fillRect l="-1442" t="-461" r="-2244" b="-18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1707905" y="4950343"/>
                <a:ext cx="2606523" cy="164192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Note</a:t>
                </a:r>
                <a:r>
                  <a:rPr lang="en-GB" sz="1400" dirty="0"/>
                  <a:t>: This explains the </a:t>
                </a:r>
                <a14:m>
                  <m:oMath xmlns:m="http://schemas.openxmlformats.org/officeDocument/2006/math">
                    <m:r>
                      <a:rPr lang="en-GB" sz="1400" i="1">
                        <a:latin typeface="Cambria Math" panose="02040503050406030204" pitchFamily="18" charset="0"/>
                      </a:rPr>
                      <m:t>𝑑𝑥</m:t>
                    </m:r>
                  </m:oMath>
                </a14:m>
                <a:r>
                  <a:rPr lang="en-GB" sz="1400" dirty="0"/>
                  <a:t> in the </a:t>
                </a:r>
                <a14:m>
                  <m:oMath xmlns:m="http://schemas.openxmlformats.org/officeDocument/2006/math">
                    <m:nary>
                      <m:naryPr>
                        <m:subHide m:val="on"/>
                        <m:supHide m:val="on"/>
                        <m:ctrlPr>
                          <a:rPr lang="en-GB" sz="1400" i="1">
                            <a:latin typeface="Cambria Math" panose="02040503050406030204" pitchFamily="18" charset="0"/>
                          </a:rPr>
                        </m:ctrlPr>
                      </m:naryPr>
                      <m:sub/>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oMath>
                </a14:m>
                <a:r>
                  <a:rPr lang="en-GB" sz="1400" dirty="0"/>
                  <a:t>, which effectively means “the sum of the areas of strips, each of area </a:t>
                </a:r>
                <a14:m>
                  <m:oMath xmlns:m="http://schemas.openxmlformats.org/officeDocument/2006/math">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𝑑𝑥</m:t>
                    </m:r>
                  </m:oMath>
                </a14:m>
                <a:r>
                  <a:rPr lang="en-GB" sz="1400" dirty="0"/>
                  <a:t>. So the </a:t>
                </a:r>
                <a14:m>
                  <m:oMath xmlns:m="http://schemas.openxmlformats.org/officeDocument/2006/math">
                    <m:r>
                      <a:rPr lang="en-GB" sz="1400" i="1">
                        <a:latin typeface="Cambria Math" panose="02040503050406030204" pitchFamily="18" charset="0"/>
                      </a:rPr>
                      <m:t>𝑑𝑥</m:t>
                    </m:r>
                  </m:oMath>
                </a14:m>
                <a:r>
                  <a:rPr lang="en-GB" sz="1400" dirty="0"/>
                  <a:t> is not just part of the </a:t>
                </a:r>
                <a14:m>
                  <m:oMath xmlns:m="http://schemas.openxmlformats.org/officeDocument/2006/math">
                    <m:r>
                      <a:rPr lang="en-GB" sz="1400" i="1">
                        <a:latin typeface="Cambria Math" panose="02040503050406030204" pitchFamily="18" charset="0"/>
                      </a:rPr>
                      <m:t>∫</m:t>
                    </m:r>
                  </m:oMath>
                </a14:m>
                <a:r>
                  <a:rPr lang="en-GB" sz="1400" dirty="0"/>
                  <a:t> notation, it’s behaving as a physical quantity! (i.e. length) </a:t>
                </a:r>
              </a:p>
            </p:txBody>
          </p:sp>
        </mc:Choice>
        <mc:Fallback xmlns="">
          <p:sp>
            <p:nvSpPr>
              <p:cNvPr id="41" name="TextBox 40"/>
              <p:cNvSpPr txBox="1">
                <a:spLocks noRot="1" noChangeAspect="1" noMove="1" noResize="1" noEditPoints="1" noAdjustHandles="1" noChangeArrowheads="1" noChangeShapeType="1" noTextEdit="1"/>
              </p:cNvSpPr>
              <p:nvPr/>
            </p:nvSpPr>
            <p:spPr>
              <a:xfrm>
                <a:off x="1707905" y="4950343"/>
                <a:ext cx="2606523" cy="1641924"/>
              </a:xfrm>
              <a:prstGeom prst="rect">
                <a:avLst/>
              </a:prstGeom>
              <a:blipFill>
                <a:blip r:embed="rId11"/>
                <a:stretch>
                  <a:fillRect l="-10417" t="-10256" b="-2564"/>
                </a:stretch>
              </a:blipFill>
            </p:spPr>
            <p:txBody>
              <a:bodyPr/>
              <a:lstStyle/>
              <a:p>
                <a:r>
                  <a:rPr lang="en-GB">
                    <a:noFill/>
                  </a:rPr>
                  <a:t> </a:t>
                </a:r>
              </a:p>
            </p:txBody>
          </p:sp>
        </mc:Fallback>
      </mc:AlternateContent>
      <p:cxnSp>
        <p:nvCxnSpPr>
          <p:cNvPr id="43" name="Straight Arrow Connector 42"/>
          <p:cNvCxnSpPr/>
          <p:nvPr/>
        </p:nvCxnSpPr>
        <p:spPr>
          <a:xfrm flipV="1">
            <a:off x="4290583" y="3759201"/>
            <a:ext cx="2182789" cy="191377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4" name="Rectangle 43"/>
          <p:cNvSpPr/>
          <p:nvPr/>
        </p:nvSpPr>
        <p:spPr>
          <a:xfrm>
            <a:off x="4581070" y="1534886"/>
            <a:ext cx="4969330" cy="10178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2071480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4"/>
                                        </p:tgtEl>
                                      </p:cBhvr>
                                    </p:animEffect>
                                    <p:set>
                                      <p:cBhvr>
                                        <p:cTn id="7" dur="1" fill="hold">
                                          <p:stCondLst>
                                            <p:cond delay="499"/>
                                          </p:stCondLst>
                                        </p:cTn>
                                        <p:tgtEl>
                                          <p:spTgt spid="44"/>
                                        </p:tgtEl>
                                        <p:attrNameLst>
                                          <p:attrName>style.visibility</p:attrName>
                                        </p:attrNameLst>
                                      </p:cBhvr>
                                      <p:to>
                                        <p:strVal val="hidden"/>
                                      </p:to>
                                    </p:se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500"/>
                                        <p:tgtEl>
                                          <p:spTgt spid="4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childTnLst>
                          </p:cTn>
                        </p:par>
                      </p:childTnLst>
                    </p:cTn>
                  </p:par>
                </p:childTnLst>
              </p:cTn>
              <p:nextCondLst>
                <p:cond evt="onClick" delay="0">
                  <p:tgtEl>
                    <p:spTgt spid="44"/>
                  </p:tgtEl>
                </p:cond>
              </p:nextCondLst>
            </p:seq>
          </p:childTnLst>
        </p:cTn>
      </p:par>
    </p:tnLst>
    <p:bldLst>
      <p:bldP spid="40" grpId="0"/>
      <p:bldP spid="41" grpId="0" animBg="1"/>
      <p:bldP spid="44" grpId="0" animBg="1"/>
    </p:bldLst>
  </p:timing>
</p:sld>
</file>

<file path=ppt/c13/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Shape 13"/>
          <p:cNvSpPr/>
          <p:nvPr/>
        </p:nvSpPr>
        <p:spPr>
          <a:xfrm>
            <a:off x="2216150" y="1962150"/>
            <a:ext cx="1663700" cy="1409700"/>
          </a:xfrm>
          <a:custGeom>
            <a:avLst/>
            <a:gdLst>
              <a:gd name="connsiteX0" fmla="*/ 0 w 1663700"/>
              <a:gd name="connsiteY0" fmla="*/ 1409700 h 1409700"/>
              <a:gd name="connsiteX1" fmla="*/ 203200 w 1663700"/>
              <a:gd name="connsiteY1" fmla="*/ 965200 h 1409700"/>
              <a:gd name="connsiteX2" fmla="*/ 323850 w 1663700"/>
              <a:gd name="connsiteY2" fmla="*/ 654050 h 1409700"/>
              <a:gd name="connsiteX3" fmla="*/ 444500 w 1663700"/>
              <a:gd name="connsiteY3" fmla="*/ 393700 h 1409700"/>
              <a:gd name="connsiteX4" fmla="*/ 552450 w 1663700"/>
              <a:gd name="connsiteY4" fmla="*/ 209550 h 1409700"/>
              <a:gd name="connsiteX5" fmla="*/ 654050 w 1663700"/>
              <a:gd name="connsiteY5" fmla="*/ 88900 h 1409700"/>
              <a:gd name="connsiteX6" fmla="*/ 736600 w 1663700"/>
              <a:gd name="connsiteY6" fmla="*/ 19050 h 1409700"/>
              <a:gd name="connsiteX7" fmla="*/ 831850 w 1663700"/>
              <a:gd name="connsiteY7" fmla="*/ 0 h 1409700"/>
              <a:gd name="connsiteX8" fmla="*/ 908050 w 1663700"/>
              <a:gd name="connsiteY8" fmla="*/ 12700 h 1409700"/>
              <a:gd name="connsiteX9" fmla="*/ 990600 w 1663700"/>
              <a:gd name="connsiteY9" fmla="*/ 57150 h 1409700"/>
              <a:gd name="connsiteX10" fmla="*/ 1092200 w 1663700"/>
              <a:gd name="connsiteY10" fmla="*/ 165100 h 1409700"/>
              <a:gd name="connsiteX11" fmla="*/ 1206500 w 1663700"/>
              <a:gd name="connsiteY11" fmla="*/ 361950 h 1409700"/>
              <a:gd name="connsiteX12" fmla="*/ 1295400 w 1663700"/>
              <a:gd name="connsiteY12" fmla="*/ 520700 h 1409700"/>
              <a:gd name="connsiteX13" fmla="*/ 1377950 w 1663700"/>
              <a:gd name="connsiteY13" fmla="*/ 704850 h 1409700"/>
              <a:gd name="connsiteX14" fmla="*/ 1511300 w 1663700"/>
              <a:gd name="connsiteY14" fmla="*/ 1016000 h 1409700"/>
              <a:gd name="connsiteX15" fmla="*/ 1587500 w 1663700"/>
              <a:gd name="connsiteY15" fmla="*/ 1200150 h 1409700"/>
              <a:gd name="connsiteX16" fmla="*/ 1663700 w 1663700"/>
              <a:gd name="connsiteY16" fmla="*/ 1403350 h 1409700"/>
              <a:gd name="connsiteX17" fmla="*/ 0 w 1663700"/>
              <a:gd name="connsiteY17"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3700" h="1409700">
                <a:moveTo>
                  <a:pt x="0" y="1409700"/>
                </a:moveTo>
                <a:lnTo>
                  <a:pt x="203200" y="965200"/>
                </a:lnTo>
                <a:lnTo>
                  <a:pt x="323850" y="654050"/>
                </a:lnTo>
                <a:lnTo>
                  <a:pt x="444500" y="393700"/>
                </a:lnTo>
                <a:lnTo>
                  <a:pt x="552450" y="209550"/>
                </a:lnTo>
                <a:lnTo>
                  <a:pt x="654050" y="88900"/>
                </a:lnTo>
                <a:lnTo>
                  <a:pt x="736600" y="19050"/>
                </a:lnTo>
                <a:lnTo>
                  <a:pt x="831850" y="0"/>
                </a:lnTo>
                <a:lnTo>
                  <a:pt x="908050" y="12700"/>
                </a:lnTo>
                <a:lnTo>
                  <a:pt x="990600" y="57150"/>
                </a:lnTo>
                <a:lnTo>
                  <a:pt x="1092200" y="165100"/>
                </a:lnTo>
                <a:lnTo>
                  <a:pt x="1206500" y="361950"/>
                </a:lnTo>
                <a:lnTo>
                  <a:pt x="1295400" y="520700"/>
                </a:lnTo>
                <a:lnTo>
                  <a:pt x="1377950" y="704850"/>
                </a:lnTo>
                <a:lnTo>
                  <a:pt x="1511300" y="1016000"/>
                </a:lnTo>
                <a:lnTo>
                  <a:pt x="1587500" y="1200150"/>
                </a:lnTo>
                <a:lnTo>
                  <a:pt x="1663700" y="1403350"/>
                </a:lnTo>
                <a:lnTo>
                  <a:pt x="0" y="14097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39034" y="793007"/>
                <a:ext cx="807264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total area bound between the curve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−1)(</m:t>
                    </m:r>
                    <m:r>
                      <a:rPr lang="en-GB" i="1">
                        <a:latin typeface="Cambria Math" panose="02040503050406030204" pitchFamily="18" charset="0"/>
                      </a:rPr>
                      <m:t>𝑥</m:t>
                    </m:r>
                    <m:r>
                      <a:rPr lang="en-GB" i="1">
                        <a:latin typeface="Cambria Math" panose="02040503050406030204" pitchFamily="18" charset="0"/>
                      </a:rPr>
                      <m:t>−2)</m:t>
                    </m:r>
                  </m:oMath>
                </a14:m>
                <a:r>
                  <a:rPr lang="en-GB" dirty="0"/>
                  <a:t> and the </a:t>
                </a:r>
                <a14:m>
                  <m:oMath xmlns:m="http://schemas.openxmlformats.org/officeDocument/2006/math">
                    <m:r>
                      <a:rPr lang="en-GB" i="1">
                        <a:latin typeface="Cambria Math" panose="02040503050406030204" pitchFamily="18" charset="0"/>
                      </a:rPr>
                      <m:t>𝑥</m:t>
                    </m:r>
                  </m:oMath>
                </a14:m>
                <a:r>
                  <a:rPr lang="en-GB" dirty="0"/>
                  <a:t>-axis.</a:t>
                </a:r>
              </a:p>
            </p:txBody>
          </p:sp>
        </mc:Choice>
        <mc:Fallback xmlns="">
          <p:sp>
            <p:nvSpPr>
              <p:cNvPr id="5" name="TextBox 4"/>
              <p:cNvSpPr txBox="1">
                <a:spLocks noRot="1" noChangeAspect="1" noMove="1" noResize="1" noEditPoints="1" noAdjustHandles="1" noChangeArrowheads="1" noChangeShapeType="1" noTextEdit="1"/>
              </p:cNvSpPr>
              <p:nvPr/>
            </p:nvSpPr>
            <p:spPr>
              <a:xfrm>
                <a:off x="1939034" y="793007"/>
                <a:ext cx="8072648" cy="369332"/>
              </a:xfrm>
              <a:prstGeom prst="rect">
                <a:avLst/>
              </a:prstGeom>
              <a:blipFill>
                <a:blip r:embed="rId2"/>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8" name="Straight Arrow Connector 7"/>
          <p:cNvCxnSpPr/>
          <p:nvPr/>
        </p:nvCxnSpPr>
        <p:spPr>
          <a:xfrm flipV="1">
            <a:off x="2233588" y="1815672"/>
            <a:ext cx="0" cy="2808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5635295" y="3153668"/>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𝑥</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5635295" y="3153668"/>
                <a:ext cx="504056"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981560" y="1408642"/>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1981560" y="1408642"/>
                <a:ext cx="504056" cy="369332"/>
              </a:xfrm>
              <a:prstGeom prst="rect">
                <a:avLst/>
              </a:prstGeom>
              <a:blipFill>
                <a:blip r:embed="rId4"/>
                <a:stretch>
                  <a:fillRect b="-6557"/>
                </a:stretch>
              </a:blipFill>
            </p:spPr>
            <p:txBody>
              <a:bodyPr/>
              <a:lstStyle/>
              <a:p>
                <a:r>
                  <a:rPr lang="en-GB">
                    <a:noFill/>
                  </a:rPr>
                  <a:t> </a:t>
                </a:r>
              </a:p>
            </p:txBody>
          </p:sp>
        </mc:Fallback>
      </mc:AlternateContent>
      <p:sp>
        <p:nvSpPr>
          <p:cNvPr id="13" name="Freeform: Shape 12"/>
          <p:cNvSpPr/>
          <p:nvPr/>
        </p:nvSpPr>
        <p:spPr>
          <a:xfrm>
            <a:off x="2235200" y="1955800"/>
            <a:ext cx="1644650" cy="1416050"/>
          </a:xfrm>
          <a:custGeom>
            <a:avLst/>
            <a:gdLst>
              <a:gd name="connsiteX0" fmla="*/ 0 w 1644650"/>
              <a:gd name="connsiteY0" fmla="*/ 1416050 h 1416050"/>
              <a:gd name="connsiteX1" fmla="*/ 819150 w 1644650"/>
              <a:gd name="connsiteY1" fmla="*/ 0 h 1416050"/>
              <a:gd name="connsiteX2" fmla="*/ 1644650 w 1644650"/>
              <a:gd name="connsiteY2" fmla="*/ 1416050 h 1416050"/>
            </a:gdLst>
            <a:ahLst/>
            <a:cxnLst>
              <a:cxn ang="0">
                <a:pos x="connsiteX0" y="connsiteY0"/>
              </a:cxn>
              <a:cxn ang="0">
                <a:pos x="connsiteX1" y="connsiteY1"/>
              </a:cxn>
              <a:cxn ang="0">
                <a:pos x="connsiteX2" y="connsiteY2"/>
              </a:cxn>
            </a:cxnLst>
            <a:rect l="l" t="t" r="r" b="b"/>
            <a:pathLst>
              <a:path w="1644650" h="1416050">
                <a:moveTo>
                  <a:pt x="0" y="1416050"/>
                </a:moveTo>
                <a:cubicBezTo>
                  <a:pt x="272521" y="708025"/>
                  <a:pt x="545042" y="0"/>
                  <a:pt x="819150" y="0"/>
                </a:cubicBezTo>
                <a:cubicBezTo>
                  <a:pt x="1093258" y="0"/>
                  <a:pt x="1368954" y="708025"/>
                  <a:pt x="1644650" y="14160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Freeform: Shape 14"/>
          <p:cNvSpPr/>
          <p:nvPr/>
        </p:nvSpPr>
        <p:spPr>
          <a:xfrm rot="10800000">
            <a:off x="3894097" y="3365500"/>
            <a:ext cx="1663700" cy="1409700"/>
          </a:xfrm>
          <a:custGeom>
            <a:avLst/>
            <a:gdLst>
              <a:gd name="connsiteX0" fmla="*/ 0 w 1663700"/>
              <a:gd name="connsiteY0" fmla="*/ 1409700 h 1409700"/>
              <a:gd name="connsiteX1" fmla="*/ 203200 w 1663700"/>
              <a:gd name="connsiteY1" fmla="*/ 965200 h 1409700"/>
              <a:gd name="connsiteX2" fmla="*/ 323850 w 1663700"/>
              <a:gd name="connsiteY2" fmla="*/ 654050 h 1409700"/>
              <a:gd name="connsiteX3" fmla="*/ 444500 w 1663700"/>
              <a:gd name="connsiteY3" fmla="*/ 393700 h 1409700"/>
              <a:gd name="connsiteX4" fmla="*/ 552450 w 1663700"/>
              <a:gd name="connsiteY4" fmla="*/ 209550 h 1409700"/>
              <a:gd name="connsiteX5" fmla="*/ 654050 w 1663700"/>
              <a:gd name="connsiteY5" fmla="*/ 88900 h 1409700"/>
              <a:gd name="connsiteX6" fmla="*/ 736600 w 1663700"/>
              <a:gd name="connsiteY6" fmla="*/ 19050 h 1409700"/>
              <a:gd name="connsiteX7" fmla="*/ 831850 w 1663700"/>
              <a:gd name="connsiteY7" fmla="*/ 0 h 1409700"/>
              <a:gd name="connsiteX8" fmla="*/ 908050 w 1663700"/>
              <a:gd name="connsiteY8" fmla="*/ 12700 h 1409700"/>
              <a:gd name="connsiteX9" fmla="*/ 990600 w 1663700"/>
              <a:gd name="connsiteY9" fmla="*/ 57150 h 1409700"/>
              <a:gd name="connsiteX10" fmla="*/ 1092200 w 1663700"/>
              <a:gd name="connsiteY10" fmla="*/ 165100 h 1409700"/>
              <a:gd name="connsiteX11" fmla="*/ 1206500 w 1663700"/>
              <a:gd name="connsiteY11" fmla="*/ 361950 h 1409700"/>
              <a:gd name="connsiteX12" fmla="*/ 1295400 w 1663700"/>
              <a:gd name="connsiteY12" fmla="*/ 520700 h 1409700"/>
              <a:gd name="connsiteX13" fmla="*/ 1377950 w 1663700"/>
              <a:gd name="connsiteY13" fmla="*/ 704850 h 1409700"/>
              <a:gd name="connsiteX14" fmla="*/ 1511300 w 1663700"/>
              <a:gd name="connsiteY14" fmla="*/ 1016000 h 1409700"/>
              <a:gd name="connsiteX15" fmla="*/ 1587500 w 1663700"/>
              <a:gd name="connsiteY15" fmla="*/ 1200150 h 1409700"/>
              <a:gd name="connsiteX16" fmla="*/ 1663700 w 1663700"/>
              <a:gd name="connsiteY16" fmla="*/ 1403350 h 1409700"/>
              <a:gd name="connsiteX17" fmla="*/ 0 w 1663700"/>
              <a:gd name="connsiteY17"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3700" h="1409700">
                <a:moveTo>
                  <a:pt x="0" y="1409700"/>
                </a:moveTo>
                <a:lnTo>
                  <a:pt x="203200" y="965200"/>
                </a:lnTo>
                <a:lnTo>
                  <a:pt x="323850" y="654050"/>
                </a:lnTo>
                <a:lnTo>
                  <a:pt x="444500" y="393700"/>
                </a:lnTo>
                <a:lnTo>
                  <a:pt x="552450" y="209550"/>
                </a:lnTo>
                <a:lnTo>
                  <a:pt x="654050" y="88900"/>
                </a:lnTo>
                <a:lnTo>
                  <a:pt x="736600" y="19050"/>
                </a:lnTo>
                <a:lnTo>
                  <a:pt x="831850" y="0"/>
                </a:lnTo>
                <a:lnTo>
                  <a:pt x="908050" y="12700"/>
                </a:lnTo>
                <a:lnTo>
                  <a:pt x="990600" y="57150"/>
                </a:lnTo>
                <a:lnTo>
                  <a:pt x="1092200" y="165100"/>
                </a:lnTo>
                <a:lnTo>
                  <a:pt x="1206500" y="361950"/>
                </a:lnTo>
                <a:lnTo>
                  <a:pt x="1295400" y="520700"/>
                </a:lnTo>
                <a:lnTo>
                  <a:pt x="1377950" y="704850"/>
                </a:lnTo>
                <a:lnTo>
                  <a:pt x="1511300" y="1016000"/>
                </a:lnTo>
                <a:lnTo>
                  <a:pt x="1587500" y="1200150"/>
                </a:lnTo>
                <a:lnTo>
                  <a:pt x="1663700" y="1403350"/>
                </a:lnTo>
                <a:lnTo>
                  <a:pt x="0" y="14097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Shape 15"/>
          <p:cNvSpPr/>
          <p:nvPr/>
        </p:nvSpPr>
        <p:spPr>
          <a:xfrm rot="10800000">
            <a:off x="3894097" y="3365500"/>
            <a:ext cx="1644650" cy="1416050"/>
          </a:xfrm>
          <a:custGeom>
            <a:avLst/>
            <a:gdLst>
              <a:gd name="connsiteX0" fmla="*/ 0 w 1644650"/>
              <a:gd name="connsiteY0" fmla="*/ 1416050 h 1416050"/>
              <a:gd name="connsiteX1" fmla="*/ 819150 w 1644650"/>
              <a:gd name="connsiteY1" fmla="*/ 0 h 1416050"/>
              <a:gd name="connsiteX2" fmla="*/ 1644650 w 1644650"/>
              <a:gd name="connsiteY2" fmla="*/ 1416050 h 1416050"/>
            </a:gdLst>
            <a:ahLst/>
            <a:cxnLst>
              <a:cxn ang="0">
                <a:pos x="connsiteX0" y="connsiteY0"/>
              </a:cxn>
              <a:cxn ang="0">
                <a:pos x="connsiteX1" y="connsiteY1"/>
              </a:cxn>
              <a:cxn ang="0">
                <a:pos x="connsiteX2" y="connsiteY2"/>
              </a:cxn>
            </a:cxnLst>
            <a:rect l="l" t="t" r="r" b="b"/>
            <a:pathLst>
              <a:path w="1644650" h="1416050">
                <a:moveTo>
                  <a:pt x="0" y="1416050"/>
                </a:moveTo>
                <a:cubicBezTo>
                  <a:pt x="272521" y="708025"/>
                  <a:pt x="545042" y="0"/>
                  <a:pt x="819150" y="0"/>
                </a:cubicBezTo>
                <a:cubicBezTo>
                  <a:pt x="1093258" y="0"/>
                  <a:pt x="1368954" y="708025"/>
                  <a:pt x="1644650" y="141605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p:cNvSpPr txBox="1"/>
              <p:nvPr/>
            </p:nvSpPr>
            <p:spPr>
              <a:xfrm>
                <a:off x="3585779" y="3329558"/>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1</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3585779" y="3329558"/>
                <a:ext cx="504056"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339366" y="3329558"/>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2</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5339366" y="3329558"/>
                <a:ext cx="504056"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154024" y="1783809"/>
                <a:ext cx="3929777" cy="1200329"/>
              </a:xfrm>
              <a:prstGeom prst="rect">
                <a:avLst/>
              </a:prstGeom>
              <a:noFill/>
            </p:spPr>
            <p:txBody>
              <a:bodyPr wrap="square" rtlCol="0">
                <a:spAutoFit/>
              </a:bodyPr>
              <a:lstStyle/>
              <a:p>
                <a:r>
                  <a:rPr lang="en-GB" b="1" dirty="0"/>
                  <a:t>Strategy: </a:t>
                </a:r>
              </a:p>
              <a:p>
                <a:r>
                  <a:rPr lang="en-GB" dirty="0"/>
                  <a:t>Separately find the area between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=0</m:t>
                    </m:r>
                  </m:oMath>
                </a14:m>
                <a:r>
                  <a:rPr lang="en-GB" dirty="0"/>
                  <a:t> and 1, and between 1 and 2. Treat any negative areas as positive.</a:t>
                </a:r>
              </a:p>
            </p:txBody>
          </p:sp>
        </mc:Choice>
        <mc:Fallback xmlns="">
          <p:sp>
            <p:nvSpPr>
              <p:cNvPr id="19" name="TextBox 18"/>
              <p:cNvSpPr txBox="1">
                <a:spLocks noRot="1" noChangeAspect="1" noMove="1" noResize="1" noEditPoints="1" noAdjustHandles="1" noChangeArrowheads="1" noChangeShapeType="1" noTextEdit="1"/>
              </p:cNvSpPr>
              <p:nvPr/>
            </p:nvSpPr>
            <p:spPr>
              <a:xfrm>
                <a:off x="6154024" y="1783809"/>
                <a:ext cx="3929777" cy="1200329"/>
              </a:xfrm>
              <a:prstGeom prst="rect">
                <a:avLst/>
              </a:prstGeom>
              <a:blipFill>
                <a:blip r:embed="rId7"/>
                <a:stretch>
                  <a:fillRect l="-1398" t="-3046" b="-7107"/>
                </a:stretch>
              </a:blipFill>
            </p:spPr>
            <p:txBody>
              <a:bodyPr/>
              <a:lstStyle/>
              <a:p>
                <a:r>
                  <a:rPr lang="en-GB">
                    <a:noFill/>
                  </a:rPr>
                  <a:t> </a:t>
                </a:r>
              </a:p>
            </p:txBody>
          </p:sp>
        </mc:Fallback>
      </mc:AlternateContent>
      <p:cxnSp>
        <p:nvCxnSpPr>
          <p:cNvPr id="7" name="Straight Arrow Connector 6"/>
          <p:cNvCxnSpPr/>
          <p:nvPr/>
        </p:nvCxnSpPr>
        <p:spPr>
          <a:xfrm>
            <a:off x="1968500" y="3365500"/>
            <a:ext cx="3797424" cy="4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5359400" y="3648845"/>
                <a:ext cx="5194300" cy="30153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𝒙</m:t>
                      </m:r>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𝟏</m:t>
                          </m:r>
                        </m:e>
                      </m:d>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e>
                      </m:d>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oMath>
                  </m:oMathPara>
                </a14:m>
                <a:endParaRPr lang="en-GB" b="1" dirty="0"/>
              </a:p>
              <a:p>
                <a:endParaRPr lang="en-GB" b="1" dirty="0"/>
              </a:p>
              <a:p>
                <a:pPr/>
                <a14:m>
                  <m:oMathPara xmlns:m="http://schemas.openxmlformats.org/officeDocument/2006/math">
                    <m:oMathParaPr>
                      <m:jc m:val="centerGroup"/>
                    </m:oMathParaPr>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𝟎</m:t>
                          </m:r>
                        </m:sub>
                        <m:sup>
                          <m:r>
                            <a:rPr lang="en-GB" b="1" i="1">
                              <a:latin typeface="Cambria Math" panose="02040503050406030204" pitchFamily="18" charset="0"/>
                            </a:rPr>
                            <m:t>𝟏</m:t>
                          </m:r>
                        </m:sup>
                        <m:e>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e>
                      </m:nary>
                      <m:r>
                        <a:rPr lang="en-GB" b="1" i="1">
                          <a:latin typeface="Cambria Math" panose="02040503050406030204" pitchFamily="18" charset="0"/>
                        </a:rPr>
                        <m:t> </m:t>
                      </m:r>
                      <m:r>
                        <a:rPr lang="en-GB" b="1" i="1">
                          <a:latin typeface="Cambria Math" panose="02040503050406030204" pitchFamily="18" charset="0"/>
                        </a:rPr>
                        <m:t>𝒅𝒙</m:t>
                      </m:r>
                      <m:r>
                        <a:rPr lang="en-GB" b="1" i="1">
                          <a:latin typeface="Cambria Math" panose="02040503050406030204" pitchFamily="18" charset="0"/>
                        </a:rPr>
                        <m:t>=</m:t>
                      </m:r>
                      <m:sSubSup>
                        <m:sSubSupPr>
                          <m:ctrlPr>
                            <a:rPr lang="en-GB" b="1" i="1">
                              <a:latin typeface="Cambria Math" panose="02040503050406030204" pitchFamily="18" charset="0"/>
                            </a:rPr>
                          </m:ctrlPr>
                        </m:sSubSupPr>
                        <m:e>
                          <m:d>
                            <m:dPr>
                              <m:begChr m:val="["/>
                              <m:endChr m:val="]"/>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𝟒</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e>
                          </m:d>
                        </m:e>
                        <m:sub>
                          <m:r>
                            <a:rPr lang="en-GB" b="1" i="1">
                              <a:latin typeface="Cambria Math" panose="02040503050406030204" pitchFamily="18" charset="0"/>
                            </a:rPr>
                            <m:t>𝟎</m:t>
                          </m:r>
                        </m:sub>
                        <m:sup>
                          <m:r>
                            <a:rPr lang="en-GB" b="1" i="1">
                              <a:latin typeface="Cambria Math" panose="02040503050406030204" pitchFamily="18" charset="0"/>
                            </a:rPr>
                            <m:t>𝟏</m:t>
                          </m:r>
                        </m:sup>
                      </m:sSubSup>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oMath>
                    <m:oMath xmlns:m="http://schemas.openxmlformats.org/officeDocument/2006/math">
                      <m:nary>
                        <m:naryPr>
                          <m:ctrlPr>
                            <a:rPr lang="en-GB" b="1" i="1">
                              <a:latin typeface="Cambria Math" panose="02040503050406030204" pitchFamily="18" charset="0"/>
                            </a:rPr>
                          </m:ctrlPr>
                        </m:naryPr>
                        <m:sub>
                          <m:r>
                            <a:rPr lang="en-GB" b="1" i="1">
                              <a:latin typeface="Cambria Math" panose="02040503050406030204" pitchFamily="18" charset="0"/>
                            </a:rPr>
                            <m:t>𝟏</m:t>
                          </m:r>
                        </m:sub>
                        <m:sup>
                          <m:r>
                            <a:rPr lang="en-GB" b="1" i="1">
                              <a:latin typeface="Cambria Math" panose="02040503050406030204" pitchFamily="18" charset="0"/>
                            </a:rPr>
                            <m:t>𝟐</m:t>
                          </m:r>
                        </m:sup>
                        <m:e>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r>
                            <a:rPr lang="en-GB" b="1" i="1">
                              <a:latin typeface="Cambria Math" panose="02040503050406030204" pitchFamily="18" charset="0"/>
                            </a:rPr>
                            <m:t>𝟑</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𝒙</m:t>
                          </m:r>
                        </m:e>
                      </m:nary>
                      <m:r>
                        <a:rPr lang="en-GB" b="1" i="1">
                          <a:latin typeface="Cambria Math" panose="02040503050406030204" pitchFamily="18" charset="0"/>
                        </a:rPr>
                        <m:t> </m:t>
                      </m:r>
                      <m:r>
                        <a:rPr lang="en-GB" b="1" i="1">
                          <a:latin typeface="Cambria Math" panose="02040503050406030204" pitchFamily="18" charset="0"/>
                        </a:rPr>
                        <m:t>𝒅𝒙</m:t>
                      </m:r>
                      <m:r>
                        <a:rPr lang="en-GB" b="1" i="1">
                          <a:latin typeface="Cambria Math" panose="02040503050406030204" pitchFamily="18" charset="0"/>
                        </a:rPr>
                        <m:t>=</m:t>
                      </m:r>
                      <m:sSubSup>
                        <m:sSubSupPr>
                          <m:ctrlPr>
                            <a:rPr lang="en-GB" b="1" i="1">
                              <a:latin typeface="Cambria Math" panose="02040503050406030204" pitchFamily="18" charset="0"/>
                            </a:rPr>
                          </m:ctrlPr>
                        </m:sSubSupPr>
                        <m:e>
                          <m:d>
                            <m:dPr>
                              <m:begChr m:val="["/>
                              <m:endChr m:val="]"/>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𝟒</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e>
                          </m:d>
                        </m:e>
                        <m:sub>
                          <m:r>
                            <a:rPr lang="en-GB" b="1" i="1" smtClean="0">
                              <a:latin typeface="Cambria Math" panose="02040503050406030204" pitchFamily="18" charset="0"/>
                            </a:rPr>
                            <m:t>𝟏</m:t>
                          </m:r>
                        </m:sub>
                        <m:sup>
                          <m:r>
                            <a:rPr lang="en-GB" b="1" i="1">
                              <a:latin typeface="Cambria Math" panose="02040503050406030204" pitchFamily="18" charset="0"/>
                            </a:rPr>
                            <m:t>𝟐</m:t>
                          </m:r>
                        </m:sup>
                      </m:sSubSup>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oMath>
                  </m:oMathPara>
                </a14:m>
                <a:endParaRPr lang="en-GB" b="1" dirty="0"/>
              </a:p>
              <a:p>
                <a:endParaRPr lang="en-GB" b="1" dirty="0"/>
              </a:p>
              <a:p>
                <a:r>
                  <a:rPr lang="en-GB" b="1" dirty="0"/>
                  <a:t>    Treating both as positive:</a:t>
                </a:r>
              </a:p>
              <a:p>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𝑨𝒓𝒆𝒂</m:t>
                      </m:r>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𝟒</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𝟏</m:t>
                          </m:r>
                        </m:num>
                        <m:den>
                          <m:r>
                            <a:rPr lang="en-GB" b="1" i="1">
                              <a:latin typeface="Cambria Math" panose="02040503050406030204" pitchFamily="18" charset="0"/>
                            </a:rPr>
                            <m:t>𝟐</m:t>
                          </m:r>
                        </m:den>
                      </m:f>
                    </m:oMath>
                  </m:oMathPara>
                </a14:m>
                <a:endParaRPr lang="en-GB"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5359400" y="3648845"/>
                <a:ext cx="5194300" cy="3015313"/>
              </a:xfrm>
              <a:prstGeom prst="rect">
                <a:avLst/>
              </a:prstGeom>
              <a:blipFill>
                <a:blip r:embed="rId8"/>
                <a:stretch>
                  <a:fillRect/>
                </a:stretch>
              </a:blipFill>
            </p:spPr>
            <p:txBody>
              <a:bodyPr/>
              <a:lstStyle/>
              <a:p>
                <a:r>
                  <a:rPr lang="en-GB">
                    <a:noFill/>
                  </a:rPr>
                  <a:t> </a:t>
                </a:r>
              </a:p>
            </p:txBody>
          </p:sp>
        </mc:Fallback>
      </mc:AlternateContent>
      <p:sp>
        <p:nvSpPr>
          <p:cNvPr id="23" name="Rectangle 22"/>
          <p:cNvSpPr/>
          <p:nvPr/>
        </p:nvSpPr>
        <p:spPr>
          <a:xfrm>
            <a:off x="6143170" y="2119086"/>
            <a:ext cx="4093030" cy="80191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4" name="Rectangle 23"/>
          <p:cNvSpPr/>
          <p:nvPr/>
        </p:nvSpPr>
        <p:spPr>
          <a:xfrm>
            <a:off x="5554222" y="3637463"/>
            <a:ext cx="4926053" cy="29582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Solution</a:t>
            </a:r>
          </a:p>
        </p:txBody>
      </p:sp>
    </p:spTree>
    <p:extLst>
      <p:ext uri="{BB962C8B-B14F-4D97-AF65-F5344CB8AC3E}">
        <p14:creationId xmlns:p14="http://schemas.microsoft.com/office/powerpoint/2010/main" val="1230640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3" grpId="0" animBg="1"/>
      <p:bldP spid="24" grpId="0" animBg="1"/>
    </p:bldLst>
  </p:timing>
</p:sld>
</file>

<file path=ppt/c13/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23" name="TextBox 22"/>
          <p:cNvSpPr txBox="1"/>
          <p:nvPr/>
        </p:nvSpPr>
        <p:spPr>
          <a:xfrm>
            <a:off x="1719412" y="724226"/>
            <a:ext cx="25551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May 2013 Q6</a:t>
            </a:r>
          </a:p>
        </p:txBody>
      </p:sp>
      <p:pic>
        <p:nvPicPr>
          <p:cNvPr id="6" name="Picture 5"/>
          <p:cNvPicPr>
            <a:picLocks noChangeAspect="1"/>
          </p:cNvPicPr>
          <p:nvPr/>
        </p:nvPicPr>
        <p:blipFill>
          <a:blip r:embed="rId2"/>
          <a:stretch>
            <a:fillRect/>
          </a:stretch>
        </p:blipFill>
        <p:spPr>
          <a:xfrm>
            <a:off x="3124765" y="3763640"/>
            <a:ext cx="6053280" cy="3022143"/>
          </a:xfrm>
          <a:prstGeom prst="rect">
            <a:avLst/>
          </a:prstGeom>
        </p:spPr>
      </p:pic>
      <p:sp>
        <p:nvSpPr>
          <p:cNvPr id="31" name="Rectangle 30"/>
          <p:cNvSpPr/>
          <p:nvPr/>
        </p:nvSpPr>
        <p:spPr>
          <a:xfrm>
            <a:off x="3372668" y="3699272"/>
            <a:ext cx="5809432" cy="40282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pic>
        <p:nvPicPr>
          <p:cNvPr id="7" name="Picture 6"/>
          <p:cNvPicPr>
            <a:picLocks noChangeAspect="1"/>
          </p:cNvPicPr>
          <p:nvPr/>
        </p:nvPicPr>
        <p:blipFill>
          <a:blip r:embed="rId3"/>
          <a:stretch>
            <a:fillRect/>
          </a:stretch>
        </p:blipFill>
        <p:spPr>
          <a:xfrm>
            <a:off x="1724720" y="1104941"/>
            <a:ext cx="8714680" cy="2403779"/>
          </a:xfrm>
          <a:prstGeom prst="rect">
            <a:avLst/>
          </a:prstGeom>
          <a:effectLst>
            <a:outerShdw blurRad="63500" sx="102000" sy="102000" algn="ctr" rotWithShape="0">
              <a:prstClr val="black">
                <a:alpha val="40000"/>
              </a:prstClr>
            </a:outerShdw>
          </a:effectLst>
        </p:spPr>
      </p:pic>
      <p:sp>
        <p:nvSpPr>
          <p:cNvPr id="12" name="Rectangle 11"/>
          <p:cNvSpPr/>
          <p:nvPr/>
        </p:nvSpPr>
        <p:spPr>
          <a:xfrm>
            <a:off x="3372668" y="4102100"/>
            <a:ext cx="5809432" cy="268368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4819372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31" grpId="0" animBg="1"/>
      <p:bldP spid="12" grpId="0" animBg="1"/>
    </p:bldLst>
  </p:timing>
</p:sld>
</file>

<file path=ppt/c13/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13F – Y1 pages 301-302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5" name="Group 14">
            <a:extLst>
              <a:ext uri="{FF2B5EF4-FFF2-40B4-BE49-F238E27FC236}">
                <a16:creationId xmlns:a16="http://schemas.microsoft.com/office/drawing/2014/main" id="{82C0C712-7DD1-CAFB-A8D8-83F2B0E729FC}"/>
              </a:ext>
            </a:extLst>
          </p:cNvPr>
          <p:cNvGrpSpPr/>
          <p:nvPr/>
        </p:nvGrpSpPr>
        <p:grpSpPr>
          <a:xfrm>
            <a:off x="1530554" y="589560"/>
            <a:ext cx="7301750" cy="2047353"/>
            <a:chOff x="6554" y="610658"/>
            <a:chExt cx="7301750" cy="2047353"/>
          </a:xfrm>
        </p:grpSpPr>
        <p:pic>
          <p:nvPicPr>
            <p:cNvPr id="10" name="Picture 9">
              <a:extLst>
                <a:ext uri="{FF2B5EF4-FFF2-40B4-BE49-F238E27FC236}">
                  <a16:creationId xmlns:a16="http://schemas.microsoft.com/office/drawing/2014/main" id="{E8AC23AC-7EEF-ACFA-8352-E8B8AE3A2BC4}"/>
                </a:ext>
              </a:extLst>
            </p:cNvPr>
            <p:cNvPicPr>
              <a:picLocks noChangeAspect="1"/>
            </p:cNvPicPr>
            <p:nvPr/>
          </p:nvPicPr>
          <p:blipFill>
            <a:blip r:embed="rId2"/>
            <a:stretch>
              <a:fillRect/>
            </a:stretch>
          </p:blipFill>
          <p:spPr>
            <a:xfrm>
              <a:off x="6554" y="610658"/>
              <a:ext cx="7301750" cy="2047353"/>
            </a:xfrm>
            <a:prstGeom prst="rect">
              <a:avLst/>
            </a:prstGeom>
          </p:spPr>
        </p:pic>
        <p:sp>
          <p:nvSpPr>
            <p:cNvPr id="11" name="Rectangle 10">
              <a:extLst>
                <a:ext uri="{FF2B5EF4-FFF2-40B4-BE49-F238E27FC236}">
                  <a16:creationId xmlns:a16="http://schemas.microsoft.com/office/drawing/2014/main" id="{001C5967-6E12-8628-93C1-F39C2DA9CAEC}"/>
                </a:ext>
              </a:extLst>
            </p:cNvPr>
            <p:cNvSpPr/>
            <p:nvPr/>
          </p:nvSpPr>
          <p:spPr>
            <a:xfrm>
              <a:off x="6372200" y="2204864"/>
              <a:ext cx="936104" cy="4531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D180E854-55D0-0D99-418D-588A6BC6A046}"/>
                </a:ext>
              </a:extLst>
            </p:cNvPr>
            <p:cNvSpPr/>
            <p:nvPr/>
          </p:nvSpPr>
          <p:spPr>
            <a:xfrm>
              <a:off x="3995936" y="1407760"/>
              <a:ext cx="936104" cy="4531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6" name="Picture 5">
            <a:extLst>
              <a:ext uri="{FF2B5EF4-FFF2-40B4-BE49-F238E27FC236}">
                <a16:creationId xmlns:a16="http://schemas.microsoft.com/office/drawing/2014/main" id="{DFEE3EAA-0CA8-55B5-5E18-0CCDB6EB8948}"/>
              </a:ext>
            </a:extLst>
          </p:cNvPr>
          <p:cNvPicPr>
            <a:picLocks noChangeAspect="1"/>
          </p:cNvPicPr>
          <p:nvPr/>
        </p:nvPicPr>
        <p:blipFill>
          <a:blip r:embed="rId3"/>
          <a:stretch>
            <a:fillRect/>
          </a:stretch>
        </p:blipFill>
        <p:spPr>
          <a:xfrm>
            <a:off x="1703512" y="2669542"/>
            <a:ext cx="1914792" cy="876422"/>
          </a:xfrm>
          <a:prstGeom prst="rect">
            <a:avLst/>
          </a:prstGeom>
        </p:spPr>
      </p:pic>
      <p:pic>
        <p:nvPicPr>
          <p:cNvPr id="12" name="Picture 11">
            <a:extLst>
              <a:ext uri="{FF2B5EF4-FFF2-40B4-BE49-F238E27FC236}">
                <a16:creationId xmlns:a16="http://schemas.microsoft.com/office/drawing/2014/main" id="{6E4936BB-8390-D07F-6425-CA9E3A115CBE}"/>
              </a:ext>
            </a:extLst>
          </p:cNvPr>
          <p:cNvPicPr>
            <a:picLocks noChangeAspect="1"/>
          </p:cNvPicPr>
          <p:nvPr/>
        </p:nvPicPr>
        <p:blipFill>
          <a:blip r:embed="rId4"/>
          <a:stretch>
            <a:fillRect/>
          </a:stretch>
        </p:blipFill>
        <p:spPr>
          <a:xfrm>
            <a:off x="4330955" y="2607198"/>
            <a:ext cx="3107048" cy="4134171"/>
          </a:xfrm>
          <a:prstGeom prst="rect">
            <a:avLst/>
          </a:prstGeom>
        </p:spPr>
      </p:pic>
      <p:pic>
        <p:nvPicPr>
          <p:cNvPr id="16" name="Picture 15">
            <a:extLst>
              <a:ext uri="{FF2B5EF4-FFF2-40B4-BE49-F238E27FC236}">
                <a16:creationId xmlns:a16="http://schemas.microsoft.com/office/drawing/2014/main" id="{03A8222E-C897-CCF0-846B-1816DEE9D947}"/>
              </a:ext>
            </a:extLst>
          </p:cNvPr>
          <p:cNvPicPr>
            <a:picLocks noChangeAspect="1"/>
          </p:cNvPicPr>
          <p:nvPr/>
        </p:nvPicPr>
        <p:blipFill>
          <a:blip r:embed="rId5"/>
          <a:stretch>
            <a:fillRect/>
          </a:stretch>
        </p:blipFill>
        <p:spPr>
          <a:xfrm>
            <a:off x="8026559" y="2728223"/>
            <a:ext cx="2480816" cy="3442765"/>
          </a:xfrm>
          <a:prstGeom prst="rect">
            <a:avLst/>
          </a:prstGeom>
        </p:spPr>
      </p:pic>
      <p:cxnSp>
        <p:nvCxnSpPr>
          <p:cNvPr id="18" name="Straight Connector 17">
            <a:extLst>
              <a:ext uri="{FF2B5EF4-FFF2-40B4-BE49-F238E27FC236}">
                <a16:creationId xmlns:a16="http://schemas.microsoft.com/office/drawing/2014/main" id="{B5C822E6-C4C9-8AE8-0AE2-0DED68C610B1}"/>
              </a:ext>
            </a:extLst>
          </p:cNvPr>
          <p:cNvCxnSpPr/>
          <p:nvPr/>
        </p:nvCxnSpPr>
        <p:spPr>
          <a:xfrm>
            <a:off x="7752184" y="2669542"/>
            <a:ext cx="0" cy="3600714"/>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A5010EF-C560-F521-F5FB-5CEE36ADF737}"/>
              </a:ext>
            </a:extLst>
          </p:cNvPr>
          <p:cNvSpPr/>
          <p:nvPr/>
        </p:nvSpPr>
        <p:spPr>
          <a:xfrm>
            <a:off x="1684626" y="2669542"/>
            <a:ext cx="2539167" cy="413417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0" name="Rectangle 19">
            <a:extLst>
              <a:ext uri="{FF2B5EF4-FFF2-40B4-BE49-F238E27FC236}">
                <a16:creationId xmlns:a16="http://schemas.microsoft.com/office/drawing/2014/main" id="{2C5FB047-487C-FD70-41CE-F34708FD4F1B}"/>
              </a:ext>
            </a:extLst>
          </p:cNvPr>
          <p:cNvSpPr/>
          <p:nvPr/>
        </p:nvSpPr>
        <p:spPr>
          <a:xfrm>
            <a:off x="4326403" y="2668862"/>
            <a:ext cx="6180972" cy="413417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4105387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9" grpId="0" animBg="1"/>
      <p:bldP spid="20" grpId="0" animBg="1"/>
    </p:bldLst>
  </p:timing>
</p:sld>
</file>

<file path=ppt/c13/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13F – Y1 pages 301-302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499D2EC8-51A6-E2FD-CC7B-1026EC72F72F}"/>
              </a:ext>
            </a:extLst>
          </p:cNvPr>
          <p:cNvPicPr>
            <a:picLocks noChangeAspect="1"/>
          </p:cNvPicPr>
          <p:nvPr/>
        </p:nvPicPr>
        <p:blipFill>
          <a:blip r:embed="rId2"/>
          <a:stretch>
            <a:fillRect/>
          </a:stretch>
        </p:blipFill>
        <p:spPr>
          <a:xfrm>
            <a:off x="1544066" y="606680"/>
            <a:ext cx="7360246" cy="2227813"/>
          </a:xfrm>
          <a:prstGeom prst="rect">
            <a:avLst/>
          </a:prstGeom>
        </p:spPr>
      </p:pic>
      <p:grpSp>
        <p:nvGrpSpPr>
          <p:cNvPr id="12" name="Group 11">
            <a:extLst>
              <a:ext uri="{FF2B5EF4-FFF2-40B4-BE49-F238E27FC236}">
                <a16:creationId xmlns:a16="http://schemas.microsoft.com/office/drawing/2014/main" id="{689A0B2E-BD5A-CC92-AEEF-19C0B24D0E9C}"/>
              </a:ext>
            </a:extLst>
          </p:cNvPr>
          <p:cNvGrpSpPr/>
          <p:nvPr/>
        </p:nvGrpSpPr>
        <p:grpSpPr>
          <a:xfrm>
            <a:off x="1775521" y="2931147"/>
            <a:ext cx="2736304" cy="3216483"/>
            <a:chOff x="251520" y="2931146"/>
            <a:chExt cx="3162741" cy="3717753"/>
          </a:xfrm>
        </p:grpSpPr>
        <p:pic>
          <p:nvPicPr>
            <p:cNvPr id="7" name="Picture 6">
              <a:extLst>
                <a:ext uri="{FF2B5EF4-FFF2-40B4-BE49-F238E27FC236}">
                  <a16:creationId xmlns:a16="http://schemas.microsoft.com/office/drawing/2014/main" id="{2D9170AA-77E5-BE02-1672-30322EC0D0C2}"/>
                </a:ext>
              </a:extLst>
            </p:cNvPr>
            <p:cNvPicPr>
              <a:picLocks noChangeAspect="1"/>
            </p:cNvPicPr>
            <p:nvPr/>
          </p:nvPicPr>
          <p:blipFill>
            <a:blip r:embed="rId3"/>
            <a:stretch>
              <a:fillRect/>
            </a:stretch>
          </p:blipFill>
          <p:spPr>
            <a:xfrm>
              <a:off x="251520" y="2931146"/>
              <a:ext cx="3162741" cy="504895"/>
            </a:xfrm>
            <a:prstGeom prst="rect">
              <a:avLst/>
            </a:prstGeom>
          </p:spPr>
        </p:pic>
        <p:pic>
          <p:nvPicPr>
            <p:cNvPr id="9" name="Picture 8">
              <a:extLst>
                <a:ext uri="{FF2B5EF4-FFF2-40B4-BE49-F238E27FC236}">
                  <a16:creationId xmlns:a16="http://schemas.microsoft.com/office/drawing/2014/main" id="{8704C08B-9E5D-3AE7-A0A8-FE84D2D7D8D4}"/>
                </a:ext>
              </a:extLst>
            </p:cNvPr>
            <p:cNvPicPr>
              <a:picLocks noChangeAspect="1"/>
            </p:cNvPicPr>
            <p:nvPr/>
          </p:nvPicPr>
          <p:blipFill>
            <a:blip r:embed="rId4"/>
            <a:stretch>
              <a:fillRect/>
            </a:stretch>
          </p:blipFill>
          <p:spPr>
            <a:xfrm>
              <a:off x="284587" y="3429000"/>
              <a:ext cx="2476846" cy="3219899"/>
            </a:xfrm>
            <a:prstGeom prst="rect">
              <a:avLst/>
            </a:prstGeom>
          </p:spPr>
        </p:pic>
      </p:grpSp>
      <p:pic>
        <p:nvPicPr>
          <p:cNvPr id="11" name="Picture 10">
            <a:extLst>
              <a:ext uri="{FF2B5EF4-FFF2-40B4-BE49-F238E27FC236}">
                <a16:creationId xmlns:a16="http://schemas.microsoft.com/office/drawing/2014/main" id="{75B54B84-746A-AF00-CA40-AB73E9EC6205}"/>
              </a:ext>
            </a:extLst>
          </p:cNvPr>
          <p:cNvPicPr>
            <a:picLocks noChangeAspect="1"/>
          </p:cNvPicPr>
          <p:nvPr/>
        </p:nvPicPr>
        <p:blipFill>
          <a:blip r:embed="rId5"/>
          <a:stretch>
            <a:fillRect/>
          </a:stretch>
        </p:blipFill>
        <p:spPr>
          <a:xfrm>
            <a:off x="1775520" y="6251321"/>
            <a:ext cx="1828564" cy="430728"/>
          </a:xfrm>
          <a:prstGeom prst="rect">
            <a:avLst/>
          </a:prstGeom>
        </p:spPr>
      </p:pic>
      <p:pic>
        <p:nvPicPr>
          <p:cNvPr id="14" name="Picture 13">
            <a:extLst>
              <a:ext uri="{FF2B5EF4-FFF2-40B4-BE49-F238E27FC236}">
                <a16:creationId xmlns:a16="http://schemas.microsoft.com/office/drawing/2014/main" id="{00DA309E-976D-2CB1-5117-917E0C65B907}"/>
              </a:ext>
            </a:extLst>
          </p:cNvPr>
          <p:cNvPicPr>
            <a:picLocks noChangeAspect="1"/>
          </p:cNvPicPr>
          <p:nvPr/>
        </p:nvPicPr>
        <p:blipFill>
          <a:blip r:embed="rId6"/>
          <a:stretch>
            <a:fillRect/>
          </a:stretch>
        </p:blipFill>
        <p:spPr>
          <a:xfrm>
            <a:off x="4871864" y="2967507"/>
            <a:ext cx="2376264" cy="3851186"/>
          </a:xfrm>
          <a:prstGeom prst="rect">
            <a:avLst/>
          </a:prstGeom>
        </p:spPr>
      </p:pic>
      <p:pic>
        <p:nvPicPr>
          <p:cNvPr id="16" name="Picture 15">
            <a:extLst>
              <a:ext uri="{FF2B5EF4-FFF2-40B4-BE49-F238E27FC236}">
                <a16:creationId xmlns:a16="http://schemas.microsoft.com/office/drawing/2014/main" id="{61693FDB-8CFD-0F8E-6F46-1F197BCBD1A5}"/>
              </a:ext>
            </a:extLst>
          </p:cNvPr>
          <p:cNvPicPr>
            <a:picLocks noChangeAspect="1"/>
          </p:cNvPicPr>
          <p:nvPr/>
        </p:nvPicPr>
        <p:blipFill>
          <a:blip r:embed="rId7"/>
          <a:stretch>
            <a:fillRect/>
          </a:stretch>
        </p:blipFill>
        <p:spPr>
          <a:xfrm>
            <a:off x="7539896" y="2967507"/>
            <a:ext cx="2728832" cy="2036442"/>
          </a:xfrm>
          <a:prstGeom prst="rect">
            <a:avLst/>
          </a:prstGeom>
        </p:spPr>
      </p:pic>
      <p:pic>
        <p:nvPicPr>
          <p:cNvPr id="18" name="Picture 17">
            <a:extLst>
              <a:ext uri="{FF2B5EF4-FFF2-40B4-BE49-F238E27FC236}">
                <a16:creationId xmlns:a16="http://schemas.microsoft.com/office/drawing/2014/main" id="{9D82DE5F-E107-F6F5-DA83-D855FC46D82F}"/>
              </a:ext>
            </a:extLst>
          </p:cNvPr>
          <p:cNvPicPr>
            <a:picLocks noChangeAspect="1"/>
          </p:cNvPicPr>
          <p:nvPr/>
        </p:nvPicPr>
        <p:blipFill rotWithShape="1">
          <a:blip r:embed="rId8"/>
          <a:srcRect b="30475"/>
          <a:stretch/>
        </p:blipFill>
        <p:spPr>
          <a:xfrm>
            <a:off x="7680177" y="4941168"/>
            <a:ext cx="2007837" cy="1556792"/>
          </a:xfrm>
          <a:prstGeom prst="rect">
            <a:avLst/>
          </a:prstGeom>
        </p:spPr>
      </p:pic>
      <p:grpSp>
        <p:nvGrpSpPr>
          <p:cNvPr id="23" name="Group 22">
            <a:extLst>
              <a:ext uri="{FF2B5EF4-FFF2-40B4-BE49-F238E27FC236}">
                <a16:creationId xmlns:a16="http://schemas.microsoft.com/office/drawing/2014/main" id="{0523AF0F-F417-0970-4D1C-8ABACEE8570B}"/>
              </a:ext>
            </a:extLst>
          </p:cNvPr>
          <p:cNvGrpSpPr/>
          <p:nvPr/>
        </p:nvGrpSpPr>
        <p:grpSpPr>
          <a:xfrm>
            <a:off x="7699136" y="6553814"/>
            <a:ext cx="2410353" cy="256470"/>
            <a:chOff x="5753660" y="2132856"/>
            <a:chExt cx="2596377" cy="276264"/>
          </a:xfrm>
        </p:grpSpPr>
        <p:pic>
          <p:nvPicPr>
            <p:cNvPr id="20" name="Picture 19">
              <a:extLst>
                <a:ext uri="{FF2B5EF4-FFF2-40B4-BE49-F238E27FC236}">
                  <a16:creationId xmlns:a16="http://schemas.microsoft.com/office/drawing/2014/main" id="{632505E4-ADDD-2B11-D793-1B87FC235EB5}"/>
                </a:ext>
              </a:extLst>
            </p:cNvPr>
            <p:cNvPicPr>
              <a:picLocks noChangeAspect="1"/>
            </p:cNvPicPr>
            <p:nvPr/>
          </p:nvPicPr>
          <p:blipFill>
            <a:blip r:embed="rId9"/>
            <a:stretch>
              <a:fillRect/>
            </a:stretch>
          </p:blipFill>
          <p:spPr>
            <a:xfrm>
              <a:off x="5753660" y="2132856"/>
              <a:ext cx="2000529" cy="276264"/>
            </a:xfrm>
            <a:prstGeom prst="rect">
              <a:avLst/>
            </a:prstGeom>
          </p:spPr>
        </p:pic>
        <p:pic>
          <p:nvPicPr>
            <p:cNvPr id="22" name="Picture 21">
              <a:extLst>
                <a:ext uri="{FF2B5EF4-FFF2-40B4-BE49-F238E27FC236}">
                  <a16:creationId xmlns:a16="http://schemas.microsoft.com/office/drawing/2014/main" id="{6C7C8581-63F5-6D33-420D-0300EA72AD07}"/>
                </a:ext>
              </a:extLst>
            </p:cNvPr>
            <p:cNvPicPr>
              <a:picLocks noChangeAspect="1"/>
            </p:cNvPicPr>
            <p:nvPr/>
          </p:nvPicPr>
          <p:blipFill>
            <a:blip r:embed="rId10"/>
            <a:stretch>
              <a:fillRect/>
            </a:stretch>
          </p:blipFill>
          <p:spPr>
            <a:xfrm>
              <a:off x="7740352" y="2132856"/>
              <a:ext cx="609685" cy="276264"/>
            </a:xfrm>
            <a:prstGeom prst="rect">
              <a:avLst/>
            </a:prstGeom>
          </p:spPr>
        </p:pic>
      </p:grpSp>
      <p:cxnSp>
        <p:nvCxnSpPr>
          <p:cNvPr id="25" name="Straight Connector 24">
            <a:extLst>
              <a:ext uri="{FF2B5EF4-FFF2-40B4-BE49-F238E27FC236}">
                <a16:creationId xmlns:a16="http://schemas.microsoft.com/office/drawing/2014/main" id="{6429E283-3B52-FA73-BF9C-3D0CBBFF8301}"/>
              </a:ext>
            </a:extLst>
          </p:cNvPr>
          <p:cNvCxnSpPr/>
          <p:nvPr/>
        </p:nvCxnSpPr>
        <p:spPr>
          <a:xfrm>
            <a:off x="7320136" y="3068961"/>
            <a:ext cx="0" cy="3749733"/>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6A6D7EC-F383-B90D-2107-AFD8D291D583}"/>
              </a:ext>
            </a:extLst>
          </p:cNvPr>
          <p:cNvSpPr/>
          <p:nvPr/>
        </p:nvSpPr>
        <p:spPr>
          <a:xfrm>
            <a:off x="1684625" y="2931146"/>
            <a:ext cx="2967480" cy="43072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27" name="Rectangle 26">
            <a:extLst>
              <a:ext uri="{FF2B5EF4-FFF2-40B4-BE49-F238E27FC236}">
                <a16:creationId xmlns:a16="http://schemas.microsoft.com/office/drawing/2014/main" id="{8E7D2EE9-18A5-B1BC-5E29-0FEBC8B9D21D}"/>
              </a:ext>
            </a:extLst>
          </p:cNvPr>
          <p:cNvSpPr/>
          <p:nvPr/>
        </p:nvSpPr>
        <p:spPr>
          <a:xfrm>
            <a:off x="1684625" y="3361874"/>
            <a:ext cx="2967480" cy="251539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28" name="Rectangle 27">
            <a:extLst>
              <a:ext uri="{FF2B5EF4-FFF2-40B4-BE49-F238E27FC236}">
                <a16:creationId xmlns:a16="http://schemas.microsoft.com/office/drawing/2014/main" id="{D2FCE012-E9DA-D51D-A3B3-8A5B22B32485}"/>
              </a:ext>
            </a:extLst>
          </p:cNvPr>
          <p:cNvSpPr/>
          <p:nvPr/>
        </p:nvSpPr>
        <p:spPr>
          <a:xfrm>
            <a:off x="1684625" y="5877273"/>
            <a:ext cx="2967480" cy="37404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a:t>
            </a:r>
          </a:p>
        </p:txBody>
      </p:sp>
      <p:sp>
        <p:nvSpPr>
          <p:cNvPr id="29" name="Rectangle 28">
            <a:extLst>
              <a:ext uri="{FF2B5EF4-FFF2-40B4-BE49-F238E27FC236}">
                <a16:creationId xmlns:a16="http://schemas.microsoft.com/office/drawing/2014/main" id="{5F23E4E2-CA3F-38C3-1B45-CAB4CEFE9841}"/>
              </a:ext>
            </a:extLst>
          </p:cNvPr>
          <p:cNvSpPr/>
          <p:nvPr/>
        </p:nvSpPr>
        <p:spPr>
          <a:xfrm>
            <a:off x="1684625" y="6247662"/>
            <a:ext cx="2967480" cy="5626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a:t>
            </a:r>
          </a:p>
        </p:txBody>
      </p:sp>
      <p:sp>
        <p:nvSpPr>
          <p:cNvPr id="30" name="Rectangle 29">
            <a:extLst>
              <a:ext uri="{FF2B5EF4-FFF2-40B4-BE49-F238E27FC236}">
                <a16:creationId xmlns:a16="http://schemas.microsoft.com/office/drawing/2014/main" id="{18C478CE-10C8-0D99-B15E-084E765421D4}"/>
              </a:ext>
            </a:extLst>
          </p:cNvPr>
          <p:cNvSpPr/>
          <p:nvPr/>
        </p:nvSpPr>
        <p:spPr>
          <a:xfrm>
            <a:off x="4792927" y="2942363"/>
            <a:ext cx="5594943" cy="387633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e?</a:t>
            </a:r>
          </a:p>
        </p:txBody>
      </p:sp>
    </p:spTree>
    <p:extLst>
      <p:ext uri="{BB962C8B-B14F-4D97-AF65-F5344CB8AC3E}">
        <p14:creationId xmlns:p14="http://schemas.microsoft.com/office/powerpoint/2010/main" val="130943850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7"/>
                                        </p:tgtEl>
                                      </p:cBhvr>
                                    </p:animEffect>
                                    <p:set>
                                      <p:cBhvr>
                                        <p:cTn id="13"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14" restart="whenNotActive" fill="hold" evtFilter="cancelBubble" nodeType="interactiveSeq">
                <p:stCondLst>
                  <p:cond evt="onClick" delay="0">
                    <p:tgtEl>
                      <p:spTgt spid="2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8"/>
                                        </p:tgtEl>
                                      </p:cBhvr>
                                    </p:animEffect>
                                    <p:set>
                                      <p:cBhvr>
                                        <p:cTn id="19"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20" restart="whenNotActive" fill="hold" evtFilter="cancelBubble" nodeType="interactiveSeq">
                <p:stCondLst>
                  <p:cond evt="onClick" delay="0">
                    <p:tgtEl>
                      <p:spTgt spid="2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9"/>
                                        </p:tgtEl>
                                      </p:cBhvr>
                                    </p:animEffect>
                                    <p:set>
                                      <p:cBhvr>
                                        <p:cTn id="25"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26" restart="whenNotActive" fill="hold" evtFilter="cancelBubble" nodeType="interactiveSeq">
                <p:stCondLst>
                  <p:cond evt="onClick" delay="0">
                    <p:tgtEl>
                      <p:spTgt spid="30"/>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0"/>
                                        </p:tgtEl>
                                      </p:cBhvr>
                                    </p:animEffect>
                                    <p:set>
                                      <p:cBhvr>
                                        <p:cTn id="31"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26" grpId="0" animBg="1"/>
      <p:bldP spid="27" grpId="0" animBg="1"/>
      <p:bldP spid="28" grpId="0" animBg="1"/>
      <p:bldP spid="29" grpId="0" animBg="1"/>
      <p:bldP spid="30" grpId="0" animBg="1"/>
    </p:bldLst>
  </p:timing>
</p:sld>
</file>

<file path=ppt/c13/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Freeform: Shape 25"/>
              <p:cNvSpPr/>
              <p:nvPr/>
            </p:nvSpPr>
            <p:spPr>
              <a:xfrm>
                <a:off x="2371726" y="3829050"/>
                <a:ext cx="828675" cy="838200"/>
              </a:xfrm>
              <a:custGeom>
                <a:avLst/>
                <a:gdLst>
                  <a:gd name="connsiteX0" fmla="*/ 0 w 828675"/>
                  <a:gd name="connsiteY0" fmla="*/ 838200 h 838200"/>
                  <a:gd name="connsiteX1" fmla="*/ 819150 w 828675"/>
                  <a:gd name="connsiteY1" fmla="*/ 828675 h 838200"/>
                  <a:gd name="connsiteX2" fmla="*/ 828675 w 828675"/>
                  <a:gd name="connsiteY2" fmla="*/ 257175 h 838200"/>
                  <a:gd name="connsiteX3" fmla="*/ 600075 w 828675"/>
                  <a:gd name="connsiteY3" fmla="*/ 161925 h 838200"/>
                  <a:gd name="connsiteX4" fmla="*/ 333375 w 828675"/>
                  <a:gd name="connsiteY4" fmla="*/ 66675 h 838200"/>
                  <a:gd name="connsiteX5" fmla="*/ 9525 w 828675"/>
                  <a:gd name="connsiteY5" fmla="*/ 0 h 838200"/>
                  <a:gd name="connsiteX6" fmla="*/ 0 w 828675"/>
                  <a:gd name="connsiteY6"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75" h="838200">
                    <a:moveTo>
                      <a:pt x="0" y="838200"/>
                    </a:moveTo>
                    <a:lnTo>
                      <a:pt x="819150" y="828675"/>
                    </a:lnTo>
                    <a:lnTo>
                      <a:pt x="828675" y="257175"/>
                    </a:lnTo>
                    <a:lnTo>
                      <a:pt x="600075" y="161925"/>
                    </a:lnTo>
                    <a:lnTo>
                      <a:pt x="333375" y="66675"/>
                    </a:lnTo>
                    <a:lnTo>
                      <a:pt x="9525" y="0"/>
                    </a:lnTo>
                    <a:lnTo>
                      <a:pt x="0" y="8382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𝐼</m:t>
                      </m:r>
                      <m:d>
                        <m:dPr>
                          <m:ctrlPr>
                            <a:rPr lang="en-GB" i="1">
                              <a:latin typeface="Cambria Math" panose="02040503050406030204" pitchFamily="18" charset="0"/>
                            </a:rPr>
                          </m:ctrlPr>
                        </m:dPr>
                        <m:e>
                          <m:r>
                            <a:rPr lang="en-GB" i="1">
                              <a:latin typeface="Cambria Math" panose="02040503050406030204" pitchFamily="18" charset="0"/>
                            </a:rPr>
                            <m:t>𝑎</m:t>
                          </m:r>
                        </m:e>
                      </m:d>
                    </m:oMath>
                  </m:oMathPara>
                </a14:m>
                <a:endParaRPr lang="en-GB" dirty="0"/>
              </a:p>
            </p:txBody>
          </p:sp>
        </mc:Choice>
        <mc:Fallback xmlns="">
          <p:sp>
            <p:nvSpPr>
              <p:cNvPr id="26" name="Freeform: Shape 25"/>
              <p:cNvSpPr>
                <a:spLocks noRot="1" noChangeAspect="1" noMove="1" noResize="1" noEditPoints="1" noAdjustHandles="1" noChangeArrowheads="1" noChangeShapeType="1" noTextEdit="1"/>
              </p:cNvSpPr>
              <p:nvPr/>
            </p:nvSpPr>
            <p:spPr>
              <a:xfrm>
                <a:off x="2371726" y="3829050"/>
                <a:ext cx="828675" cy="838200"/>
              </a:xfrm>
              <a:custGeom>
                <a:avLst/>
                <a:gdLst>
                  <a:gd name="connsiteX0" fmla="*/ 0 w 828675"/>
                  <a:gd name="connsiteY0" fmla="*/ 838200 h 838200"/>
                  <a:gd name="connsiteX1" fmla="*/ 819150 w 828675"/>
                  <a:gd name="connsiteY1" fmla="*/ 828675 h 838200"/>
                  <a:gd name="connsiteX2" fmla="*/ 828675 w 828675"/>
                  <a:gd name="connsiteY2" fmla="*/ 257175 h 838200"/>
                  <a:gd name="connsiteX3" fmla="*/ 600075 w 828675"/>
                  <a:gd name="connsiteY3" fmla="*/ 161925 h 838200"/>
                  <a:gd name="connsiteX4" fmla="*/ 333375 w 828675"/>
                  <a:gd name="connsiteY4" fmla="*/ 66675 h 838200"/>
                  <a:gd name="connsiteX5" fmla="*/ 9525 w 828675"/>
                  <a:gd name="connsiteY5" fmla="*/ 0 h 838200"/>
                  <a:gd name="connsiteX6" fmla="*/ 0 w 828675"/>
                  <a:gd name="connsiteY6"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75" h="838200">
                    <a:moveTo>
                      <a:pt x="0" y="838200"/>
                    </a:moveTo>
                    <a:lnTo>
                      <a:pt x="819150" y="828675"/>
                    </a:lnTo>
                    <a:lnTo>
                      <a:pt x="828675" y="257175"/>
                    </a:lnTo>
                    <a:lnTo>
                      <a:pt x="600075" y="161925"/>
                    </a:lnTo>
                    <a:lnTo>
                      <a:pt x="333375" y="66675"/>
                    </a:lnTo>
                    <a:lnTo>
                      <a:pt x="9525" y="0"/>
                    </a:lnTo>
                    <a:lnTo>
                      <a:pt x="0" y="838200"/>
                    </a:lnTo>
                    <a:close/>
                  </a:path>
                </a:pathLst>
              </a:custGeom>
              <a:blipFill>
                <a:blip r:embed="rId2"/>
                <a:stretch>
                  <a:fillRect/>
                </a:stretch>
              </a:blipFill>
              <a:ln>
                <a:noFill/>
              </a:ln>
            </p:spPr>
            <p:txBody>
              <a:bodyPr/>
              <a:lstStyle/>
              <a:p>
                <a:r>
                  <a:rPr lang="en-GB">
                    <a:noFill/>
                  </a:rPr>
                  <a:t> </a:t>
                </a:r>
              </a:p>
            </p:txBody>
          </p:sp>
        </mc:Fallback>
      </mc:AlternateContent>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8" name="TextBox 7"/>
          <p:cNvSpPr txBox="1"/>
          <p:nvPr/>
        </p:nvSpPr>
        <p:spPr>
          <a:xfrm>
            <a:off x="1788908" y="1509868"/>
            <a:ext cx="2232248" cy="369332"/>
          </a:xfrm>
          <a:prstGeom prst="rect">
            <a:avLst/>
          </a:prstGeom>
          <a:noFill/>
        </p:spPr>
        <p:txBody>
          <a:bodyPr wrap="square" rtlCol="0">
            <a:spAutoFit/>
          </a:bodyPr>
          <a:lstStyle/>
          <a:p>
            <a:r>
              <a:rPr lang="en-GB" b="1" dirty="0"/>
              <a:t>Extension</a:t>
            </a:r>
          </a:p>
        </p:txBody>
      </p:sp>
      <mc:AlternateContent xmlns:mc="http://schemas.openxmlformats.org/markup-compatibility/2006" xmlns:a14="http://schemas.microsoft.com/office/drawing/2010/main">
        <mc:Choice Requires="a14">
          <p:sp>
            <p:nvSpPr>
              <p:cNvPr id="9" name="TextBox 8"/>
              <p:cNvSpPr txBox="1"/>
              <p:nvPr/>
            </p:nvSpPr>
            <p:spPr>
              <a:xfrm>
                <a:off x="1745365" y="1840881"/>
                <a:ext cx="4016807" cy="1230209"/>
              </a:xfrm>
              <a:prstGeom prst="rect">
                <a:avLst/>
              </a:prstGeom>
              <a:noFill/>
            </p:spPr>
            <p:txBody>
              <a:bodyPr wrap="square" rtlCol="0">
                <a:spAutoFit/>
              </a:bodyPr>
              <a:lstStyle/>
              <a:p>
                <a:r>
                  <a:rPr lang="en-GB" sz="1600" i="1" dirty="0"/>
                  <a:t>[MAT 2010 1I] </a:t>
                </a:r>
                <a:r>
                  <a:rPr lang="en-GB" sz="1600" dirty="0"/>
                  <a:t>For a positive number </a:t>
                </a:r>
                <a14:m>
                  <m:oMath xmlns:m="http://schemas.openxmlformats.org/officeDocument/2006/math">
                    <m:r>
                      <a:rPr lang="en-GB" sz="1600" i="1">
                        <a:latin typeface="Cambria Math" panose="02040503050406030204" pitchFamily="18" charset="0"/>
                      </a:rPr>
                      <m:t>𝑎</m:t>
                    </m:r>
                  </m:oMath>
                </a14:m>
                <a:r>
                  <a:rPr lang="en-GB" sz="1600" dirty="0"/>
                  <a:t>, let</a:t>
                </a:r>
              </a:p>
              <a:p>
                <a:pPr/>
                <a14:m>
                  <m:oMathPara xmlns:m="http://schemas.openxmlformats.org/officeDocument/2006/math">
                    <m:oMathParaPr>
                      <m:jc m:val="centerGroup"/>
                    </m:oMathParaPr>
                    <m:oMath xmlns:m="http://schemas.openxmlformats.org/officeDocument/2006/math">
                      <m:r>
                        <a:rPr lang="en-GB" sz="1600" i="1">
                          <a:latin typeface="Cambria Math" panose="02040503050406030204" pitchFamily="18" charset="0"/>
                        </a:rPr>
                        <m:t>𝐼</m:t>
                      </m:r>
                      <m:d>
                        <m:dPr>
                          <m:ctrlPr>
                            <a:rPr lang="en-GB" sz="1600" i="1">
                              <a:latin typeface="Cambria Math" panose="02040503050406030204" pitchFamily="18" charset="0"/>
                            </a:rPr>
                          </m:ctrlPr>
                        </m:dPr>
                        <m:e>
                          <m:r>
                            <a:rPr lang="en-GB" sz="1600" i="1">
                              <a:latin typeface="Cambria Math" panose="02040503050406030204" pitchFamily="18" charset="0"/>
                            </a:rPr>
                            <m:t>𝑎</m:t>
                          </m:r>
                        </m:e>
                      </m:d>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i="1">
                              <a:latin typeface="Cambria Math" panose="02040503050406030204" pitchFamily="18" charset="0"/>
                            </a:rPr>
                            <m:t>𝑎</m:t>
                          </m:r>
                        </m:sup>
                        <m:e>
                          <m:d>
                            <m:dPr>
                              <m:ctrlPr>
                                <a:rPr lang="en-GB" sz="1600" i="1">
                                  <a:latin typeface="Cambria Math" panose="02040503050406030204" pitchFamily="18" charset="0"/>
                                </a:rPr>
                              </m:ctrlPr>
                            </m:dPr>
                            <m:e>
                              <m:r>
                                <a:rPr lang="en-GB" sz="1600" i="1">
                                  <a:latin typeface="Cambria Math" panose="02040503050406030204" pitchFamily="18" charset="0"/>
                                </a:rPr>
                                <m:t>4−</m:t>
                              </m:r>
                              <m:sSup>
                                <m:sSupPr>
                                  <m:ctrlPr>
                                    <a:rPr lang="en-GB" sz="1600" i="1">
                                      <a:latin typeface="Cambria Math" panose="02040503050406030204" pitchFamily="18" charset="0"/>
                                    </a:rPr>
                                  </m:ctrlPr>
                                </m:sSupPr>
                                <m:e>
                                  <m:r>
                                    <a:rPr lang="en-GB" sz="1600" i="1">
                                      <a:latin typeface="Cambria Math" panose="02040503050406030204" pitchFamily="18" charset="0"/>
                                    </a:rPr>
                                    <m:t>2</m:t>
                                  </m:r>
                                </m:e>
                                <m:sup>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sup>
                              </m:sSup>
                            </m:e>
                          </m:d>
                          <m:r>
                            <a:rPr lang="en-GB" sz="1600" i="1">
                              <a:latin typeface="Cambria Math" panose="02040503050406030204" pitchFamily="18" charset="0"/>
                            </a:rPr>
                            <m:t>𝑑𝑥</m:t>
                          </m:r>
                        </m:e>
                      </m:nary>
                    </m:oMath>
                  </m:oMathPara>
                </a14:m>
                <a:endParaRPr lang="en-GB" sz="1600" dirty="0"/>
              </a:p>
              <a:p>
                <a:r>
                  <a:rPr lang="en-GB" sz="1600" dirty="0"/>
                  <a:t>Then </a:t>
                </a:r>
                <a14:m>
                  <m:oMath xmlns:m="http://schemas.openxmlformats.org/officeDocument/2006/math">
                    <m:f>
                      <m:fPr>
                        <m:ctrlPr>
                          <a:rPr lang="en-GB" sz="1600" i="1">
                            <a:latin typeface="Cambria Math" panose="02040503050406030204" pitchFamily="18" charset="0"/>
                          </a:rPr>
                        </m:ctrlPr>
                      </m:fPr>
                      <m:num>
                        <m:r>
                          <a:rPr lang="en-GB" sz="1600" i="1">
                            <a:latin typeface="Cambria Math" panose="02040503050406030204" pitchFamily="18" charset="0"/>
                          </a:rPr>
                          <m:t>𝑑𝐼</m:t>
                        </m:r>
                      </m:num>
                      <m:den>
                        <m:r>
                          <a:rPr lang="en-GB" sz="1600" i="1">
                            <a:latin typeface="Cambria Math" panose="02040503050406030204" pitchFamily="18" charset="0"/>
                          </a:rPr>
                          <m:t>𝑑𝑎</m:t>
                        </m:r>
                      </m:den>
                    </m:f>
                    <m:r>
                      <a:rPr lang="en-GB" sz="1600" i="1">
                        <a:latin typeface="Cambria Math" panose="02040503050406030204" pitchFamily="18" charset="0"/>
                      </a:rPr>
                      <m:t>=0</m:t>
                    </m:r>
                  </m:oMath>
                </a14:m>
                <a:r>
                  <a:rPr lang="en-GB" sz="1600" dirty="0"/>
                  <a:t> when </a:t>
                </a:r>
                <a14:m>
                  <m:oMath xmlns:m="http://schemas.openxmlformats.org/officeDocument/2006/math">
                    <m:r>
                      <a:rPr lang="en-GB" sz="1600" i="1">
                        <a:latin typeface="Cambria Math" panose="02040503050406030204" pitchFamily="18" charset="0"/>
                      </a:rPr>
                      <m:t>𝑎</m:t>
                    </m:r>
                  </m:oMath>
                </a14:m>
                <a:r>
                  <a:rPr lang="en-GB" sz="1600" dirty="0"/>
                  <a:t> is what value?</a:t>
                </a:r>
              </a:p>
            </p:txBody>
          </p:sp>
        </mc:Choice>
        <mc:Fallback xmlns="">
          <p:sp>
            <p:nvSpPr>
              <p:cNvPr id="9" name="TextBox 8"/>
              <p:cNvSpPr txBox="1">
                <a:spLocks noRot="1" noChangeAspect="1" noMove="1" noResize="1" noEditPoints="1" noAdjustHandles="1" noChangeArrowheads="1" noChangeShapeType="1" noTextEdit="1"/>
              </p:cNvSpPr>
              <p:nvPr/>
            </p:nvSpPr>
            <p:spPr>
              <a:xfrm>
                <a:off x="1745365" y="1840881"/>
                <a:ext cx="4016807" cy="1230209"/>
              </a:xfrm>
              <a:prstGeom prst="rect">
                <a:avLst/>
              </a:prstGeom>
              <a:blipFill>
                <a:blip r:embed="rId3"/>
                <a:stretch>
                  <a:fillRect l="-759" t="-1485" b="-990"/>
                </a:stretch>
              </a:blipFill>
            </p:spPr>
            <p:txBody>
              <a:bodyPr/>
              <a:lstStyle/>
              <a:p>
                <a:r>
                  <a:rPr lang="en-GB">
                    <a:noFill/>
                  </a:rPr>
                  <a:t> </a:t>
                </a:r>
              </a:p>
            </p:txBody>
          </p:sp>
        </mc:Fallback>
      </mc:AlternateContent>
      <p:sp>
        <p:nvSpPr>
          <p:cNvPr id="14" name="Rectangle 13"/>
          <p:cNvSpPr/>
          <p:nvPr/>
        </p:nvSpPr>
        <p:spPr>
          <a:xfrm>
            <a:off x="1609061" y="1908673"/>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mc:AlternateContent xmlns:mc="http://schemas.openxmlformats.org/markup-compatibility/2006" xmlns:a14="http://schemas.microsoft.com/office/drawing/2010/main">
        <mc:Choice Requires="a14">
          <p:sp>
            <p:nvSpPr>
              <p:cNvPr id="7" name="TextBox 6"/>
              <p:cNvSpPr txBox="1"/>
              <p:nvPr/>
            </p:nvSpPr>
            <p:spPr>
              <a:xfrm>
                <a:off x="6041571" y="1195432"/>
                <a:ext cx="3294789" cy="86299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Hint: </a:t>
                </a:r>
                <a:r>
                  <a:rPr lang="en-GB" sz="1400" dirty="0"/>
                  <a:t>It’s not actually even possible to integrate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2</m:t>
                        </m:r>
                      </m:e>
                      <m:sup>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sup>
                    </m:sSup>
                  </m:oMath>
                </a14:m>
                <a:r>
                  <a:rPr lang="en-GB" sz="1400" dirty="0"/>
                  <a:t>, but we can still sketch the graph. Reflect on what </a:t>
                </a:r>
                <a14:m>
                  <m:oMath xmlns:m="http://schemas.openxmlformats.org/officeDocument/2006/math">
                    <m:f>
                      <m:fPr>
                        <m:ctrlPr>
                          <a:rPr lang="en-GB" sz="1400" i="1">
                            <a:latin typeface="Cambria Math" panose="02040503050406030204" pitchFamily="18" charset="0"/>
                          </a:rPr>
                        </m:ctrlPr>
                      </m:fPr>
                      <m:num>
                        <m:r>
                          <a:rPr lang="en-GB" sz="1400" i="1">
                            <a:latin typeface="Cambria Math" panose="02040503050406030204" pitchFamily="18" charset="0"/>
                          </a:rPr>
                          <m:t>𝑑𝐼</m:t>
                        </m:r>
                      </m:num>
                      <m:den>
                        <m:r>
                          <a:rPr lang="en-GB" sz="1400" i="1">
                            <a:latin typeface="Cambria Math" panose="02040503050406030204" pitchFamily="18" charset="0"/>
                          </a:rPr>
                          <m:t>𝑑𝑎</m:t>
                        </m:r>
                      </m:den>
                    </m:f>
                  </m:oMath>
                </a14:m>
                <a:r>
                  <a:rPr lang="en-GB" sz="1400" dirty="0"/>
                  <a:t> actually means.</a:t>
                </a:r>
              </a:p>
            </p:txBody>
          </p:sp>
        </mc:Choice>
        <mc:Fallback xmlns="">
          <p:sp>
            <p:nvSpPr>
              <p:cNvPr id="7" name="TextBox 6"/>
              <p:cNvSpPr txBox="1">
                <a:spLocks noRot="1" noChangeAspect="1" noMove="1" noResize="1" noEditPoints="1" noAdjustHandles="1" noChangeArrowheads="1" noChangeShapeType="1" noTextEdit="1"/>
              </p:cNvSpPr>
              <p:nvPr/>
            </p:nvSpPr>
            <p:spPr>
              <a:xfrm>
                <a:off x="6041571" y="1195432"/>
                <a:ext cx="3294789" cy="862993"/>
              </a:xfrm>
              <a:prstGeom prst="rect">
                <a:avLst/>
              </a:prstGeom>
              <a:blipFill>
                <a:blip r:embed="rId4"/>
                <a:stretch>
                  <a:fillRect l="-183"/>
                </a:stretch>
              </a:blipFill>
            </p:spPr>
            <p:txBody>
              <a:bodyPr/>
              <a:lstStyle/>
              <a:p>
                <a:r>
                  <a:rPr lang="en-GB">
                    <a:noFill/>
                  </a:rPr>
                  <a:t> </a:t>
                </a:r>
              </a:p>
            </p:txBody>
          </p:sp>
        </mc:Fallback>
      </mc:AlternateContent>
      <p:cxnSp>
        <p:nvCxnSpPr>
          <p:cNvPr id="17" name="Straight Arrow Connector 16"/>
          <p:cNvCxnSpPr>
            <a:stCxn id="7" idx="1"/>
          </p:cNvCxnSpPr>
          <p:nvPr/>
        </p:nvCxnSpPr>
        <p:spPr>
          <a:xfrm flipH="1">
            <a:off x="5421650" y="1626928"/>
            <a:ext cx="619920" cy="381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V="1">
            <a:off x="2394000" y="3437384"/>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2394000" y="4661520"/>
            <a:ext cx="21771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4456832" y="4496421"/>
                <a:ext cx="44474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oMath>
                  </m:oMathPara>
                </a14:m>
                <a:endParaRPr lang="en-GB" sz="1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4456832" y="4496421"/>
                <a:ext cx="444748" cy="30777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171626" y="3100300"/>
                <a:ext cx="44474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oMath>
                  </m:oMathPara>
                </a14:m>
                <a:endParaRPr lang="en-GB" sz="1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2171626" y="3100300"/>
                <a:ext cx="444748" cy="307777"/>
              </a:xfrm>
              <a:prstGeom prst="rect">
                <a:avLst/>
              </a:prstGeom>
              <a:blipFill>
                <a:blip r:embed="rId6"/>
                <a:stretch>
                  <a:fillRect b="-2000"/>
                </a:stretch>
              </a:blipFill>
            </p:spPr>
            <p:txBody>
              <a:bodyPr/>
              <a:lstStyle/>
              <a:p>
                <a:r>
                  <a:rPr lang="en-GB">
                    <a:noFill/>
                  </a:rPr>
                  <a:t> </a:t>
                </a:r>
              </a:p>
            </p:txBody>
          </p:sp>
        </mc:Fallback>
      </mc:AlternateContent>
      <p:sp>
        <p:nvSpPr>
          <p:cNvPr id="25" name="Freeform: Shape 24"/>
          <p:cNvSpPr/>
          <p:nvPr/>
        </p:nvSpPr>
        <p:spPr>
          <a:xfrm>
            <a:off x="2400300" y="3822700"/>
            <a:ext cx="1708150" cy="1209675"/>
          </a:xfrm>
          <a:custGeom>
            <a:avLst/>
            <a:gdLst>
              <a:gd name="connsiteX0" fmla="*/ 0 w 1803400"/>
              <a:gd name="connsiteY0" fmla="*/ 0 h 1524000"/>
              <a:gd name="connsiteX1" fmla="*/ 838200 w 1803400"/>
              <a:gd name="connsiteY1" fmla="*/ 279400 h 1524000"/>
              <a:gd name="connsiteX2" fmla="*/ 1435100 w 1803400"/>
              <a:gd name="connsiteY2" fmla="*/ 711200 h 1524000"/>
              <a:gd name="connsiteX3" fmla="*/ 1803400 w 1803400"/>
              <a:gd name="connsiteY3" fmla="*/ 1524000 h 1524000"/>
              <a:gd name="connsiteX0" fmla="*/ 0 w 1708150"/>
              <a:gd name="connsiteY0" fmla="*/ 0 h 1209675"/>
              <a:gd name="connsiteX1" fmla="*/ 838200 w 1708150"/>
              <a:gd name="connsiteY1" fmla="*/ 279400 h 1209675"/>
              <a:gd name="connsiteX2" fmla="*/ 1435100 w 1708150"/>
              <a:gd name="connsiteY2" fmla="*/ 711200 h 1209675"/>
              <a:gd name="connsiteX3" fmla="*/ 1708150 w 1708150"/>
              <a:gd name="connsiteY3" fmla="*/ 1209675 h 1209675"/>
            </a:gdLst>
            <a:ahLst/>
            <a:cxnLst>
              <a:cxn ang="0">
                <a:pos x="connsiteX0" y="connsiteY0"/>
              </a:cxn>
              <a:cxn ang="0">
                <a:pos x="connsiteX1" y="connsiteY1"/>
              </a:cxn>
              <a:cxn ang="0">
                <a:pos x="connsiteX2" y="connsiteY2"/>
              </a:cxn>
              <a:cxn ang="0">
                <a:pos x="connsiteX3" y="connsiteY3"/>
              </a:cxn>
            </a:cxnLst>
            <a:rect l="l" t="t" r="r" b="b"/>
            <a:pathLst>
              <a:path w="1708150" h="1209675">
                <a:moveTo>
                  <a:pt x="0" y="0"/>
                </a:moveTo>
                <a:cubicBezTo>
                  <a:pt x="299508" y="80433"/>
                  <a:pt x="599017" y="160867"/>
                  <a:pt x="838200" y="279400"/>
                </a:cubicBezTo>
                <a:cubicBezTo>
                  <a:pt x="1077383" y="397933"/>
                  <a:pt x="1290108" y="556154"/>
                  <a:pt x="1435100" y="711200"/>
                </a:cubicBezTo>
                <a:cubicBezTo>
                  <a:pt x="1580092" y="866246"/>
                  <a:pt x="1604433" y="906991"/>
                  <a:pt x="1708150" y="12096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p:cNvSpPr txBox="1"/>
              <p:nvPr/>
            </p:nvSpPr>
            <p:spPr>
              <a:xfrm>
                <a:off x="2947746" y="4650309"/>
                <a:ext cx="44474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𝑎</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2947746" y="4650309"/>
                <a:ext cx="444748"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071664" y="3356992"/>
                <a:ext cx="2160240" cy="523220"/>
              </a:xfrm>
              <a:prstGeom prst="rect">
                <a:avLst/>
              </a:prstGeom>
              <a:noFill/>
            </p:spPr>
            <p:txBody>
              <a:bodyPr wrap="square" rtlCol="0">
                <a:spAutoFit/>
              </a:bodyPr>
              <a:lstStyle/>
              <a:p>
                <a14:m>
                  <m:oMath xmlns:m="http://schemas.openxmlformats.org/officeDocument/2006/math">
                    <m:r>
                      <a:rPr lang="en-GB" sz="1400" b="1" i="1">
                        <a:latin typeface="Cambria Math" panose="02040503050406030204" pitchFamily="18" charset="0"/>
                      </a:rPr>
                      <m:t>𝑰</m:t>
                    </m:r>
                    <m:d>
                      <m:dPr>
                        <m:ctrlPr>
                          <a:rPr lang="en-GB" sz="1400" b="1" i="1">
                            <a:latin typeface="Cambria Math" panose="02040503050406030204" pitchFamily="18" charset="0"/>
                          </a:rPr>
                        </m:ctrlPr>
                      </m:dPr>
                      <m:e>
                        <m:r>
                          <a:rPr lang="en-GB" sz="1400" b="1" i="1">
                            <a:latin typeface="Cambria Math" panose="02040503050406030204" pitchFamily="18" charset="0"/>
                          </a:rPr>
                          <m:t>𝒂</m:t>
                        </m:r>
                      </m:e>
                    </m:d>
                  </m:oMath>
                </a14:m>
                <a:r>
                  <a:rPr lang="en-GB" sz="1400" b="1" dirty="0"/>
                  <a:t> represents the area from </a:t>
                </a:r>
                <a14:m>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𝟎</m:t>
                    </m:r>
                  </m:oMath>
                </a14:m>
                <a:r>
                  <a:rPr lang="en-GB" sz="1400" b="1" dirty="0"/>
                  <a:t> up to </a:t>
                </a:r>
                <a14:m>
                  <m:oMath xmlns:m="http://schemas.openxmlformats.org/officeDocument/2006/math">
                    <m:r>
                      <a:rPr lang="en-GB" sz="1400" b="1" i="1">
                        <a:latin typeface="Cambria Math" panose="02040503050406030204" pitchFamily="18" charset="0"/>
                      </a:rPr>
                      <m:t>𝒂</m:t>
                    </m:r>
                  </m:oMath>
                </a14:m>
                <a:r>
                  <a:rPr lang="en-GB" sz="1400" b="1" dirty="0"/>
                  <a:t>.</a:t>
                </a:r>
              </a:p>
            </p:txBody>
          </p:sp>
        </mc:Choice>
        <mc:Fallback xmlns="">
          <p:sp>
            <p:nvSpPr>
              <p:cNvPr id="28" name="TextBox 27"/>
              <p:cNvSpPr txBox="1">
                <a:spLocks noRot="1" noChangeAspect="1" noMove="1" noResize="1" noEditPoints="1" noAdjustHandles="1" noChangeArrowheads="1" noChangeShapeType="1" noTextEdit="1"/>
              </p:cNvSpPr>
              <p:nvPr/>
            </p:nvSpPr>
            <p:spPr>
              <a:xfrm>
                <a:off x="3071664" y="3356992"/>
                <a:ext cx="2160240" cy="523220"/>
              </a:xfrm>
              <a:prstGeom prst="rect">
                <a:avLst/>
              </a:prstGeom>
              <a:blipFill>
                <a:blip r:embed="rId8"/>
                <a:stretch>
                  <a:fillRect l="-847" t="-2326" b="-104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3581630" y="4012673"/>
                <a:ext cx="1114195" cy="3372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=4−</m:t>
                      </m:r>
                      <m:sSup>
                        <m:sSupPr>
                          <m:ctrlPr>
                            <a:rPr lang="en-GB" sz="1400" i="1">
                              <a:latin typeface="Cambria Math" panose="02040503050406030204" pitchFamily="18" charset="0"/>
                            </a:rPr>
                          </m:ctrlPr>
                        </m:sSupPr>
                        <m:e>
                          <m:r>
                            <a:rPr lang="en-GB" sz="1400" i="1">
                              <a:latin typeface="Cambria Math" panose="02040503050406030204" pitchFamily="18" charset="0"/>
                            </a:rPr>
                            <m:t>2</m:t>
                          </m:r>
                        </m:e>
                        <m:sup>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sup>
                      </m:sSup>
                    </m:oMath>
                  </m:oMathPara>
                </a14:m>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581630" y="4012673"/>
                <a:ext cx="1114195" cy="33727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1926605" y="5042520"/>
                <a:ext cx="3199768" cy="1604606"/>
              </a:xfrm>
              <a:prstGeom prst="rect">
                <a:avLst/>
              </a:prstGeom>
              <a:noFill/>
            </p:spPr>
            <p:txBody>
              <a:bodyPr wrap="square" rtlCol="0">
                <a:spAutoFit/>
              </a:bodyPr>
              <a:lstStyle/>
              <a:p>
                <a14:m>
                  <m:oMath xmlns:m="http://schemas.openxmlformats.org/officeDocument/2006/math">
                    <m:f>
                      <m:fPr>
                        <m:ctrlPr>
                          <a:rPr lang="en-GB" sz="1200" b="1" i="1">
                            <a:latin typeface="Cambria Math" panose="02040503050406030204" pitchFamily="18" charset="0"/>
                          </a:rPr>
                        </m:ctrlPr>
                      </m:fPr>
                      <m:num>
                        <m:r>
                          <a:rPr lang="en-GB" sz="1200" b="1" i="1">
                            <a:latin typeface="Cambria Math" panose="02040503050406030204" pitchFamily="18" charset="0"/>
                          </a:rPr>
                          <m:t>𝒅𝑰</m:t>
                        </m:r>
                      </m:num>
                      <m:den>
                        <m:r>
                          <a:rPr lang="en-GB" sz="1200" b="1" i="1">
                            <a:latin typeface="Cambria Math" panose="02040503050406030204" pitchFamily="18" charset="0"/>
                          </a:rPr>
                          <m:t>𝒅𝒂</m:t>
                        </m:r>
                      </m:den>
                    </m:f>
                  </m:oMath>
                </a14:m>
                <a:r>
                  <a:rPr lang="en-GB" sz="1200" b="1" dirty="0"/>
                  <a:t> represents the rate of change of area as </a:t>
                </a:r>
                <a14:m>
                  <m:oMath xmlns:m="http://schemas.openxmlformats.org/officeDocument/2006/math">
                    <m:r>
                      <a:rPr lang="en-GB" sz="1200" b="1" i="1">
                        <a:latin typeface="Cambria Math" panose="02040503050406030204" pitchFamily="18" charset="0"/>
                      </a:rPr>
                      <m:t>𝒂</m:t>
                    </m:r>
                  </m:oMath>
                </a14:m>
                <a:r>
                  <a:rPr lang="en-GB" sz="1200" b="1" dirty="0"/>
                  <a:t> increases. Thus if </a:t>
                </a:r>
                <a14:m>
                  <m:oMath xmlns:m="http://schemas.openxmlformats.org/officeDocument/2006/math">
                    <m:f>
                      <m:fPr>
                        <m:ctrlPr>
                          <a:rPr lang="en-GB" sz="1200" b="1" i="1">
                            <a:latin typeface="Cambria Math" panose="02040503050406030204" pitchFamily="18" charset="0"/>
                          </a:rPr>
                        </m:ctrlPr>
                      </m:fPr>
                      <m:num>
                        <m:r>
                          <a:rPr lang="en-GB" sz="1200" b="1" i="1">
                            <a:latin typeface="Cambria Math" panose="02040503050406030204" pitchFamily="18" charset="0"/>
                          </a:rPr>
                          <m:t>𝒅𝑰</m:t>
                        </m:r>
                      </m:num>
                      <m:den>
                        <m:r>
                          <a:rPr lang="en-GB" sz="1200" b="1" i="1">
                            <a:latin typeface="Cambria Math" panose="02040503050406030204" pitchFamily="18" charset="0"/>
                          </a:rPr>
                          <m:t>𝒅𝒂</m:t>
                        </m:r>
                      </m:den>
                    </m:f>
                    <m:r>
                      <a:rPr lang="en-GB" sz="1200" b="1" i="1">
                        <a:latin typeface="Cambria Math" panose="02040503050406030204" pitchFamily="18" charset="0"/>
                      </a:rPr>
                      <m:t>=</m:t>
                    </m:r>
                    <m:r>
                      <a:rPr lang="en-GB" sz="1200" b="1" i="1">
                        <a:latin typeface="Cambria Math" panose="02040503050406030204" pitchFamily="18" charset="0"/>
                      </a:rPr>
                      <m:t>𝟎</m:t>
                    </m:r>
                  </m:oMath>
                </a14:m>
                <a:r>
                  <a:rPr lang="en-GB" sz="1200" b="1" dirty="0"/>
                  <a:t>, the area is not changing. This must happen at the </a:t>
                </a:r>
                <a14:m>
                  <m:oMath xmlns:m="http://schemas.openxmlformats.org/officeDocument/2006/math">
                    <m:r>
                      <a:rPr lang="en-GB" sz="1200" b="1" i="1">
                        <a:latin typeface="Cambria Math" panose="02040503050406030204" pitchFamily="18" charset="0"/>
                      </a:rPr>
                      <m:t>𝒙</m:t>
                    </m:r>
                  </m:oMath>
                </a14:m>
                <a:r>
                  <a:rPr lang="en-GB" sz="1200" b="1" dirty="0"/>
                  <a:t>-intercept of the graph, because once the curve goes negative, the total area will start to decrease.</a:t>
                </a:r>
              </a:p>
              <a:p>
                <a:pPr/>
                <a14:m>
                  <m:oMathPara xmlns:m="http://schemas.openxmlformats.org/officeDocument/2006/math">
                    <m:oMathParaPr>
                      <m:jc m:val="centerGroup"/>
                    </m:oMathParaPr>
                    <m:oMath xmlns:m="http://schemas.openxmlformats.org/officeDocument/2006/math">
                      <m:r>
                        <a:rPr lang="en-GB" sz="1200" b="1" i="1">
                          <a:latin typeface="Cambria Math" panose="02040503050406030204" pitchFamily="18" charset="0"/>
                        </a:rPr>
                        <m:t>𝟒</m:t>
                      </m:r>
                      <m:r>
                        <a:rPr lang="en-GB" sz="1200" b="1" i="1">
                          <a:latin typeface="Cambria Math" panose="02040503050406030204" pitchFamily="18" charset="0"/>
                        </a:rPr>
                        <m:t>−</m:t>
                      </m:r>
                      <m:sSup>
                        <m:sSupPr>
                          <m:ctrlPr>
                            <a:rPr lang="en-GB" sz="1200" b="1" i="1">
                              <a:latin typeface="Cambria Math" panose="02040503050406030204" pitchFamily="18" charset="0"/>
                            </a:rPr>
                          </m:ctrlPr>
                        </m:sSupPr>
                        <m:e>
                          <m:r>
                            <a:rPr lang="en-GB" sz="1200" b="1" i="1">
                              <a:latin typeface="Cambria Math" panose="02040503050406030204" pitchFamily="18" charset="0"/>
                            </a:rPr>
                            <m:t>𝟐</m:t>
                          </m:r>
                        </m:e>
                        <m:sup>
                          <m:sSup>
                            <m:sSupPr>
                              <m:ctrlPr>
                                <a:rPr lang="en-GB" sz="1200" b="1" i="1">
                                  <a:latin typeface="Cambria Math" panose="02040503050406030204" pitchFamily="18" charset="0"/>
                                </a:rPr>
                              </m:ctrlPr>
                            </m:sSupPr>
                            <m:e>
                              <m:r>
                                <a:rPr lang="en-GB" sz="1200" b="1" i="1">
                                  <a:latin typeface="Cambria Math" panose="02040503050406030204" pitchFamily="18" charset="0"/>
                                </a:rPr>
                                <m:t>𝒙</m:t>
                              </m:r>
                            </m:e>
                            <m:sup>
                              <m:r>
                                <a:rPr lang="en-GB" sz="1200" b="1" i="1">
                                  <a:latin typeface="Cambria Math" panose="02040503050406030204" pitchFamily="18" charset="0"/>
                                </a:rPr>
                                <m:t>𝟐</m:t>
                              </m:r>
                            </m:sup>
                          </m:sSup>
                        </m:sup>
                      </m:sSup>
                      <m:r>
                        <a:rPr lang="en-GB" sz="1200" b="1" i="1">
                          <a:latin typeface="Cambria Math" panose="02040503050406030204" pitchFamily="18" charset="0"/>
                        </a:rPr>
                        <m:t>=</m:t>
                      </m:r>
                      <m:r>
                        <a:rPr lang="en-GB" sz="1200" b="1" i="1">
                          <a:latin typeface="Cambria Math" panose="02040503050406030204" pitchFamily="18" charset="0"/>
                        </a:rPr>
                        <m:t>𝟎</m:t>
                      </m:r>
                      <m:r>
                        <a:rPr lang="en-GB" sz="1200" b="1" i="1">
                          <a:latin typeface="Cambria Math" panose="02040503050406030204" pitchFamily="18" charset="0"/>
                        </a:rPr>
                        <m:t>     →   </m:t>
                      </m:r>
                      <m:r>
                        <a:rPr lang="en-GB" sz="1200" b="1" i="1">
                          <a:latin typeface="Cambria Math" panose="02040503050406030204" pitchFamily="18" charset="0"/>
                        </a:rPr>
                        <m:t>𝒙</m:t>
                      </m:r>
                      <m:r>
                        <a:rPr lang="en-GB" sz="1200" b="1" i="1">
                          <a:latin typeface="Cambria Math" panose="02040503050406030204" pitchFamily="18" charset="0"/>
                        </a:rPr>
                        <m:t>=</m:t>
                      </m:r>
                      <m:rad>
                        <m:radPr>
                          <m:degHide m:val="on"/>
                          <m:ctrlPr>
                            <a:rPr lang="en-GB" sz="1200" b="1" i="1">
                              <a:latin typeface="Cambria Math" panose="02040503050406030204" pitchFamily="18" charset="0"/>
                            </a:rPr>
                          </m:ctrlPr>
                        </m:radPr>
                        <m:deg/>
                        <m:e>
                          <m:r>
                            <a:rPr lang="en-GB" sz="1200" b="1" i="1">
                              <a:latin typeface="Cambria Math" panose="02040503050406030204" pitchFamily="18" charset="0"/>
                            </a:rPr>
                            <m:t>𝟐</m:t>
                          </m:r>
                        </m:e>
                      </m:rad>
                    </m:oMath>
                  </m:oMathPara>
                </a14:m>
                <a:endParaRPr lang="en-GB" sz="1200" b="1" dirty="0"/>
              </a:p>
              <a:p>
                <a:r>
                  <a:rPr lang="en-GB" sz="1200" b="1" dirty="0"/>
                  <a:t>The answer is </a:t>
                </a:r>
                <a14:m>
                  <m:oMath xmlns:m="http://schemas.openxmlformats.org/officeDocument/2006/math">
                    <m:r>
                      <a:rPr lang="en-GB" sz="1200" b="1" i="1">
                        <a:latin typeface="Cambria Math" panose="02040503050406030204" pitchFamily="18" charset="0"/>
                      </a:rPr>
                      <m:t>𝒂</m:t>
                    </m:r>
                    <m:r>
                      <a:rPr lang="en-GB" sz="1200" b="1">
                        <a:latin typeface="Cambria Math" panose="02040503050406030204" pitchFamily="18" charset="0"/>
                      </a:rPr>
                      <m:t>=</m:t>
                    </m:r>
                    <m:rad>
                      <m:radPr>
                        <m:degHide m:val="on"/>
                        <m:ctrlPr>
                          <a:rPr lang="en-GB" sz="1200" b="1" i="1">
                            <a:latin typeface="Cambria Math" panose="02040503050406030204" pitchFamily="18" charset="0"/>
                          </a:rPr>
                        </m:ctrlPr>
                      </m:radPr>
                      <m:deg/>
                      <m:e>
                        <m:r>
                          <a:rPr lang="en-GB" sz="1200" b="1" i="1">
                            <a:latin typeface="Cambria Math" panose="02040503050406030204" pitchFamily="18" charset="0"/>
                          </a:rPr>
                          <m:t>𝟐</m:t>
                        </m:r>
                      </m:e>
                    </m:rad>
                  </m:oMath>
                </a14:m>
                <a:r>
                  <a:rPr lang="en-GB" sz="1200" b="1" dirty="0"/>
                  <a:t>.</a:t>
                </a:r>
              </a:p>
            </p:txBody>
          </p:sp>
        </mc:Choice>
        <mc:Fallback xmlns="">
          <p:sp>
            <p:nvSpPr>
              <p:cNvPr id="30" name="TextBox 29"/>
              <p:cNvSpPr txBox="1">
                <a:spLocks noRot="1" noChangeAspect="1" noMove="1" noResize="1" noEditPoints="1" noAdjustHandles="1" noChangeArrowheads="1" noChangeShapeType="1" noTextEdit="1"/>
              </p:cNvSpPr>
              <p:nvPr/>
            </p:nvSpPr>
            <p:spPr>
              <a:xfrm>
                <a:off x="1926605" y="5042520"/>
                <a:ext cx="3199768" cy="1604606"/>
              </a:xfrm>
              <a:prstGeom prst="rect">
                <a:avLst/>
              </a:prstGeom>
              <a:blipFill>
                <a:blip r:embed="rId10"/>
                <a:stretch>
                  <a:fillRect b="-2281"/>
                </a:stretch>
              </a:blipFill>
            </p:spPr>
            <p:txBody>
              <a:bodyPr/>
              <a:lstStyle/>
              <a:p>
                <a:r>
                  <a:rPr lang="en-GB">
                    <a:noFill/>
                  </a:rPr>
                  <a:t> </a:t>
                </a:r>
              </a:p>
            </p:txBody>
          </p:sp>
        </mc:Fallback>
      </mc:AlternateContent>
      <p:sp>
        <p:nvSpPr>
          <p:cNvPr id="12" name="Rectangle 11"/>
          <p:cNvSpPr/>
          <p:nvPr/>
        </p:nvSpPr>
        <p:spPr>
          <a:xfrm>
            <a:off x="1977141" y="3095610"/>
            <a:ext cx="3354735" cy="35273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33" name="TextBox 32"/>
              <p:cNvSpPr txBox="1"/>
              <p:nvPr/>
            </p:nvSpPr>
            <p:spPr>
              <a:xfrm>
                <a:off x="5762172" y="2348880"/>
                <a:ext cx="4726317" cy="4010072"/>
              </a:xfrm>
              <a:prstGeom prst="rect">
                <a:avLst/>
              </a:prstGeom>
              <a:noFill/>
            </p:spPr>
            <p:txBody>
              <a:bodyPr wrap="square" rtlCol="0">
                <a:spAutoFit/>
              </a:bodyPr>
              <a:lstStyle/>
              <a:p>
                <a:r>
                  <a:rPr lang="en-GB" sz="1600" i="1" dirty="0"/>
                  <a:t>[STEP I 2014 Q3]</a:t>
                </a:r>
              </a:p>
              <a:p>
                <a:r>
                  <a:rPr lang="en-GB" sz="1600" dirty="0"/>
                  <a:t>The numbers </a:t>
                </a:r>
                <a14:m>
                  <m:oMath xmlns:m="http://schemas.openxmlformats.org/officeDocument/2006/math">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𝑏</m:t>
                    </m:r>
                  </m:oMath>
                </a14:m>
                <a:r>
                  <a:rPr lang="en-GB" sz="1600" dirty="0"/>
                  <a:t>, where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m:t>
                    </m:r>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are such that</a:t>
                </a:r>
              </a:p>
              <a:p>
                <a:pPr/>
                <a14:m>
                  <m:oMathPara xmlns:m="http://schemas.openxmlformats.org/officeDocument/2006/math">
                    <m:oMathParaPr>
                      <m:jc m:val="centerGroup"/>
                    </m:oMathParaPr>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r>
                                    <a:rPr lang="en-GB" sz="1600" i="1">
                                      <a:latin typeface="Cambria Math" panose="02040503050406030204" pitchFamily="18" charset="0"/>
                                    </a:rPr>
                                    <m:t>𝑥</m:t>
                                  </m:r>
                                  <m:r>
                                    <a:rPr lang="en-GB" sz="1600" i="1">
                                      <a:latin typeface="Cambria Math" panose="02040503050406030204" pitchFamily="18" charset="0"/>
                                    </a:rPr>
                                    <m:t> </m:t>
                                  </m:r>
                                  <m:r>
                                    <a:rPr lang="en-GB" sz="1600" i="1">
                                      <a:latin typeface="Cambria Math" panose="02040503050406030204" pitchFamily="18" charset="0"/>
                                    </a:rPr>
                                    <m:t>𝑑𝑥</m:t>
                                  </m:r>
                                </m:e>
                              </m:nary>
                            </m:e>
                          </m:d>
                        </m:e>
                        <m:sup>
                          <m:r>
                            <a:rPr lang="en-GB" sz="1600" i="1">
                              <a:latin typeface="Cambria Math" panose="02040503050406030204" pitchFamily="18" charset="0"/>
                            </a:rPr>
                            <m:t>2</m:t>
                          </m:r>
                        </m:sup>
                      </m:sSup>
                    </m:oMath>
                  </m:oMathPara>
                </a14:m>
                <a:endParaRPr lang="en-GB" sz="1600" dirty="0"/>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and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&gt;0</m:t>
                    </m:r>
                  </m:oMath>
                </a14:m>
                <a:r>
                  <a:rPr lang="en-GB" sz="1600" dirty="0"/>
                  <a:t>, find the value of </a:t>
                </a:r>
                <a14:m>
                  <m:oMath xmlns:m="http://schemas.openxmlformats.org/officeDocument/2006/math">
                    <m:r>
                      <a:rPr lang="en-GB" sz="1600" i="1">
                        <a:latin typeface="Cambria Math" panose="02040503050406030204" pitchFamily="18" charset="0"/>
                      </a:rPr>
                      <m:t>𝑏</m:t>
                    </m:r>
                  </m:oMath>
                </a14:m>
                <a:r>
                  <a:rPr lang="en-GB" sz="1600" dirty="0"/>
                  <a:t>.</a:t>
                </a:r>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=1</m:t>
                    </m:r>
                  </m:oMath>
                </a14:m>
                <a:r>
                  <a:rPr lang="en-GB" sz="1600" dirty="0"/>
                  <a:t>, show that </a:t>
                </a:r>
                <a14:m>
                  <m:oMath xmlns:m="http://schemas.openxmlformats.org/officeDocument/2006/math">
                    <m:r>
                      <a:rPr lang="en-GB" sz="1600" i="1">
                        <a:latin typeface="Cambria Math" panose="02040503050406030204" pitchFamily="18" charset="0"/>
                      </a:rPr>
                      <m:t>𝑏</m:t>
                    </m:r>
                  </m:oMath>
                </a14:m>
                <a:r>
                  <a:rPr lang="en-GB" sz="1600" dirty="0"/>
                  <a:t> satisfies</a:t>
                </a:r>
                <a:br>
                  <a:rPr lang="en-GB" sz="1600" dirty="0"/>
                </a:b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3</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2</m:t>
                        </m:r>
                      </m:sup>
                    </m:sSup>
                    <m:r>
                      <a:rPr lang="en-GB" sz="1600" i="1">
                        <a:latin typeface="Cambria Math" panose="02040503050406030204" pitchFamily="18" charset="0"/>
                      </a:rPr>
                      <m:t>−7</m:t>
                    </m:r>
                    <m:r>
                      <a:rPr lang="en-GB" sz="1600" i="1">
                        <a:latin typeface="Cambria Math" panose="02040503050406030204" pitchFamily="18" charset="0"/>
                      </a:rPr>
                      <m:t>𝑏</m:t>
                    </m:r>
                    <m:r>
                      <a:rPr lang="en-GB" sz="1600" i="1">
                        <a:latin typeface="Cambria Math" panose="02040503050406030204" pitchFamily="18" charset="0"/>
                      </a:rPr>
                      <m:t>−7=0</m:t>
                    </m:r>
                  </m:oMath>
                </a14:m>
                <a:br>
                  <a:rPr lang="en-GB" sz="1600" dirty="0"/>
                </a:br>
                <a:r>
                  <a:rPr lang="en-GB" sz="1600" dirty="0">
                    <a:latin typeface="+mj-lt"/>
                  </a:rPr>
                  <a:t>Show further, with the help of a sketch, that there is only one (real) value of </a:t>
                </a:r>
                <a14:m>
                  <m:oMath xmlns:m="http://schemas.openxmlformats.org/officeDocument/2006/math">
                    <m:r>
                      <a:rPr lang="en-GB" sz="1600" i="1">
                        <a:latin typeface="Cambria Math" panose="02040503050406030204" pitchFamily="18" charset="0"/>
                      </a:rPr>
                      <m:t>𝑏</m:t>
                    </m:r>
                  </m:oMath>
                </a14:m>
                <a:r>
                  <a:rPr lang="en-GB" sz="1600" dirty="0"/>
                  <a:t> that satisfies the equation and that it lies between 2 and 3.</a:t>
                </a:r>
              </a:p>
              <a:p>
                <a:pPr marL="400050" indent="-400050">
                  <a:buAutoNum type="romanLcParenBoth"/>
                </a:pPr>
                <a:r>
                  <a:rPr lang="en-GB" sz="1600" dirty="0"/>
                  <a:t>Show that </a:t>
                </a: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𝑞</m:t>
                        </m:r>
                      </m:e>
                      <m:sup>
                        <m:r>
                          <a:rPr lang="en-GB" sz="1600" i="1">
                            <a:latin typeface="Cambria Math" panose="02040503050406030204" pitchFamily="18" charset="0"/>
                          </a:rPr>
                          <m:t>2</m:t>
                        </m:r>
                      </m:sup>
                    </m:sSup>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𝑞</m:t>
                    </m:r>
                  </m:oMath>
                </a14:m>
                <a:r>
                  <a:rPr lang="en-GB" sz="1600" dirty="0"/>
                  <a:t>, where </a:t>
                </a:r>
                <a14:m>
                  <m:oMath xmlns:m="http://schemas.openxmlformats.org/officeDocument/2006/math">
                    <m:r>
                      <a:rPr lang="en-GB" sz="1600" i="1">
                        <a:latin typeface="Cambria Math" panose="02040503050406030204" pitchFamily="18" charset="0"/>
                      </a:rPr>
                      <m:t>𝑝</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𝑞</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express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oMath>
                </a14:m>
                <a:r>
                  <a:rPr lang="en-GB" sz="1600" dirty="0"/>
                  <a:t> in terms of </a:t>
                </a:r>
                <a14:m>
                  <m:oMath xmlns:m="http://schemas.openxmlformats.org/officeDocument/2006/math">
                    <m:r>
                      <a:rPr lang="en-GB" sz="1600" i="1">
                        <a:latin typeface="Cambria Math" panose="02040503050406030204" pitchFamily="18" charset="0"/>
                      </a:rPr>
                      <m:t>𝑞</m:t>
                    </m:r>
                  </m:oMath>
                </a14:m>
                <a:r>
                  <a:rPr lang="en-GB" sz="1600" dirty="0"/>
                  <a:t>. Deduce that </a:t>
                </a:r>
                <a14:m>
                  <m:oMath xmlns:m="http://schemas.openxmlformats.org/officeDocument/2006/math">
                    <m:r>
                      <a:rPr lang="en-GB" sz="1600" i="1">
                        <a:latin typeface="Cambria Math" panose="02040503050406030204" pitchFamily="18" charset="0"/>
                      </a:rPr>
                      <m:t>1&lt;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oMath>
                </a14:m>
                <a:endParaRPr lang="en-GB" sz="1600" dirty="0"/>
              </a:p>
              <a:p>
                <a:pPr marL="400050" indent="-400050">
                  <a:buAutoNum type="romanLcParenBoth"/>
                </a:pPr>
                <a:endParaRPr lang="en-GB" sz="1600" dirty="0"/>
              </a:p>
              <a:p>
                <a:r>
                  <a:rPr lang="en-GB" sz="1600" b="1" dirty="0"/>
                  <a:t>Guidance for this problem on next slide.</a:t>
                </a:r>
              </a:p>
            </p:txBody>
          </p:sp>
        </mc:Choice>
        <mc:Fallback xmlns="">
          <p:sp>
            <p:nvSpPr>
              <p:cNvPr id="33" name="TextBox 32"/>
              <p:cNvSpPr txBox="1">
                <a:spLocks noRot="1" noChangeAspect="1" noMove="1" noResize="1" noEditPoints="1" noAdjustHandles="1" noChangeArrowheads="1" noChangeShapeType="1" noTextEdit="1"/>
              </p:cNvSpPr>
              <p:nvPr/>
            </p:nvSpPr>
            <p:spPr>
              <a:xfrm>
                <a:off x="5762172" y="2348880"/>
                <a:ext cx="4726317" cy="4010072"/>
              </a:xfrm>
              <a:prstGeom prst="rect">
                <a:avLst/>
              </a:prstGeom>
              <a:blipFill>
                <a:blip r:embed="rId11"/>
                <a:stretch>
                  <a:fillRect l="-644" t="-456" r="-1160" b="-1064"/>
                </a:stretch>
              </a:blipFill>
            </p:spPr>
            <p:txBody>
              <a:bodyPr/>
              <a:lstStyle/>
              <a:p>
                <a:r>
                  <a:rPr lang="en-GB">
                    <a:noFill/>
                  </a:rPr>
                  <a:t> </a:t>
                </a:r>
              </a:p>
            </p:txBody>
          </p:sp>
        </mc:Fallback>
      </mc:AlternateContent>
      <p:sp>
        <p:nvSpPr>
          <p:cNvPr id="34" name="Rectangle 33"/>
          <p:cNvSpPr/>
          <p:nvPr/>
        </p:nvSpPr>
        <p:spPr>
          <a:xfrm>
            <a:off x="5540224" y="2457008"/>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41755965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2" grpId="0" animBg="1"/>
    </p:bldLst>
  </p:timing>
</p:sld>
</file>

<file path=ppt/c13/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24325" y="3047752"/>
            <a:ext cx="6677837" cy="3600400"/>
          </a:xfrm>
          <a:prstGeom prst="rect">
            <a:avLst/>
          </a:prstGeom>
          <a:effectLst>
            <a:outerShdw blurRad="63500" sx="102000" sy="102000" algn="ctr" rotWithShape="0">
              <a:prstClr val="black">
                <a:alpha val="40000"/>
              </a:prstClr>
            </a:outerShdw>
          </a:effectLst>
        </p:spPr>
      </p:pic>
      <mc:AlternateContent xmlns:mc="http://schemas.openxmlformats.org/markup-compatibility/2006" xmlns:a14="http://schemas.microsoft.com/office/drawing/2010/main">
        <mc:Choice Requires="a14">
          <p:sp>
            <p:nvSpPr>
              <p:cNvPr id="3" name="TextBox 2"/>
              <p:cNvSpPr txBox="1"/>
              <p:nvPr/>
            </p:nvSpPr>
            <p:spPr>
              <a:xfrm>
                <a:off x="1941488" y="642269"/>
                <a:ext cx="8305576" cy="2335191"/>
              </a:xfrm>
              <a:prstGeom prst="rect">
                <a:avLst/>
              </a:prstGeom>
              <a:noFill/>
            </p:spPr>
            <p:txBody>
              <a:bodyPr wrap="square" rtlCol="0">
                <a:spAutoFit/>
              </a:bodyPr>
              <a:lstStyle/>
              <a:p>
                <a:r>
                  <a:rPr lang="en-GB" sz="1600" i="1" dirty="0"/>
                  <a:t>[STEP I 2014 Q3] </a:t>
                </a:r>
                <a:r>
                  <a:rPr lang="en-GB" sz="1600" dirty="0"/>
                  <a:t>The numbers </a:t>
                </a:r>
                <a14:m>
                  <m:oMath xmlns:m="http://schemas.openxmlformats.org/officeDocument/2006/math">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𝑏</m:t>
                    </m:r>
                  </m:oMath>
                </a14:m>
                <a:r>
                  <a:rPr lang="en-GB" sz="1600" dirty="0"/>
                  <a:t>, where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m:t>
                    </m:r>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are such that  </a:t>
                </a:r>
                <a14:m>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sSup>
                      <m:sSupPr>
                        <m:ctrlPr>
                          <a:rPr lang="en-GB" sz="1600" i="1">
                            <a:latin typeface="Cambria Math" panose="02040503050406030204" pitchFamily="18" charset="0"/>
                          </a:rPr>
                        </m:ctrlPr>
                      </m:sSupPr>
                      <m:e>
                        <m:d>
                          <m:dPr>
                            <m:ctrlPr>
                              <a:rPr lang="en-GB" sz="1600" i="1">
                                <a:latin typeface="Cambria Math" panose="02040503050406030204" pitchFamily="18" charset="0"/>
                              </a:rPr>
                            </m:ctrlPr>
                          </m:dPr>
                          <m:e>
                            <m:nary>
                              <m:naryPr>
                                <m:ctrlPr>
                                  <a:rPr lang="en-GB" sz="1600" i="1">
                                    <a:latin typeface="Cambria Math" panose="02040503050406030204" pitchFamily="18" charset="0"/>
                                  </a:rPr>
                                </m:ctrlPr>
                              </m:naryPr>
                              <m:sub>
                                <m:r>
                                  <a:rPr lang="en-GB" sz="1600" i="1">
                                    <a:latin typeface="Cambria Math" panose="02040503050406030204" pitchFamily="18" charset="0"/>
                                  </a:rPr>
                                  <m:t>𝑎</m:t>
                                </m:r>
                              </m:sub>
                              <m:sup>
                                <m:r>
                                  <a:rPr lang="en-GB" sz="1600" i="1">
                                    <a:latin typeface="Cambria Math" panose="02040503050406030204" pitchFamily="18" charset="0"/>
                                  </a:rPr>
                                  <m:t>𝑏</m:t>
                                </m:r>
                              </m:sup>
                              <m:e>
                                <m:r>
                                  <a:rPr lang="en-GB" sz="1600" i="1">
                                    <a:latin typeface="Cambria Math" panose="02040503050406030204" pitchFamily="18" charset="0"/>
                                  </a:rPr>
                                  <m:t>𝑥</m:t>
                                </m:r>
                                <m:r>
                                  <a:rPr lang="en-GB" sz="1600" i="1">
                                    <a:latin typeface="Cambria Math" panose="02040503050406030204" pitchFamily="18" charset="0"/>
                                  </a:rPr>
                                  <m:t> </m:t>
                                </m:r>
                                <m:r>
                                  <a:rPr lang="en-GB" sz="1600" i="1">
                                    <a:latin typeface="Cambria Math" panose="02040503050406030204" pitchFamily="18" charset="0"/>
                                  </a:rPr>
                                  <m:t>𝑑𝑥</m:t>
                                </m:r>
                              </m:e>
                            </m:nary>
                          </m:e>
                        </m:d>
                      </m:e>
                      <m:sup>
                        <m:r>
                          <a:rPr lang="en-GB" sz="1600" i="1">
                            <a:latin typeface="Cambria Math" panose="02040503050406030204" pitchFamily="18" charset="0"/>
                          </a:rPr>
                          <m:t>2</m:t>
                        </m:r>
                      </m:sup>
                    </m:sSup>
                  </m:oMath>
                </a14:m>
                <a:endParaRPr lang="en-GB" sz="1600" dirty="0"/>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=0</m:t>
                    </m:r>
                  </m:oMath>
                </a14:m>
                <a:r>
                  <a:rPr lang="en-GB" sz="1600" dirty="0"/>
                  <a:t> and </a:t>
                </a:r>
                <a14:m>
                  <m:oMath xmlns:m="http://schemas.openxmlformats.org/officeDocument/2006/math">
                    <m:r>
                      <a:rPr lang="en-GB" sz="1600" i="1">
                        <a:latin typeface="Cambria Math" panose="02040503050406030204" pitchFamily="18" charset="0"/>
                      </a:rPr>
                      <m:t>𝑏</m:t>
                    </m:r>
                    <m:r>
                      <a:rPr lang="en-GB" sz="1600" i="1">
                        <a:latin typeface="Cambria Math" panose="02040503050406030204" pitchFamily="18" charset="0"/>
                      </a:rPr>
                      <m:t>&gt;0</m:t>
                    </m:r>
                  </m:oMath>
                </a14:m>
                <a:r>
                  <a:rPr lang="en-GB" sz="1600" dirty="0"/>
                  <a:t>, find the value of </a:t>
                </a:r>
                <a14:m>
                  <m:oMath xmlns:m="http://schemas.openxmlformats.org/officeDocument/2006/math">
                    <m:r>
                      <a:rPr lang="en-GB" sz="1600" i="1">
                        <a:latin typeface="Cambria Math" panose="02040503050406030204" pitchFamily="18" charset="0"/>
                      </a:rPr>
                      <m:t>𝑏</m:t>
                    </m:r>
                  </m:oMath>
                </a14:m>
                <a:r>
                  <a:rPr lang="en-GB" sz="1600" dirty="0"/>
                  <a:t>.</a:t>
                </a:r>
              </a:p>
              <a:p>
                <a:pPr marL="400050" indent="-400050">
                  <a:buAutoNum type="romanLcParenBoth"/>
                </a:pPr>
                <a:r>
                  <a:rPr lang="en-GB" sz="1600" dirty="0"/>
                  <a:t>In the case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=1</m:t>
                    </m:r>
                  </m:oMath>
                </a14:m>
                <a:r>
                  <a:rPr lang="en-GB" sz="1600" dirty="0"/>
                  <a:t>, show that </a:t>
                </a:r>
                <a14:m>
                  <m:oMath xmlns:m="http://schemas.openxmlformats.org/officeDocument/2006/math">
                    <m:r>
                      <a:rPr lang="en-GB" sz="1600" i="1">
                        <a:latin typeface="Cambria Math" panose="02040503050406030204" pitchFamily="18" charset="0"/>
                      </a:rPr>
                      <m:t>𝑏</m:t>
                    </m:r>
                  </m:oMath>
                </a14:m>
                <a:r>
                  <a:rPr lang="en-GB" sz="1600" dirty="0"/>
                  <a:t> satisfies</a:t>
                </a:r>
                <a:br>
                  <a:rPr lang="en-GB" sz="1600" dirty="0"/>
                </a:b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3</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𝑏</m:t>
                        </m:r>
                      </m:e>
                      <m:sup>
                        <m:r>
                          <a:rPr lang="en-GB" sz="1600" i="1">
                            <a:latin typeface="Cambria Math" panose="02040503050406030204" pitchFamily="18" charset="0"/>
                          </a:rPr>
                          <m:t>2</m:t>
                        </m:r>
                      </m:sup>
                    </m:sSup>
                    <m:r>
                      <a:rPr lang="en-GB" sz="1600" i="1">
                        <a:latin typeface="Cambria Math" panose="02040503050406030204" pitchFamily="18" charset="0"/>
                      </a:rPr>
                      <m:t>−7</m:t>
                    </m:r>
                    <m:r>
                      <a:rPr lang="en-GB" sz="1600" i="1">
                        <a:latin typeface="Cambria Math" panose="02040503050406030204" pitchFamily="18" charset="0"/>
                      </a:rPr>
                      <m:t>𝑏</m:t>
                    </m:r>
                    <m:r>
                      <a:rPr lang="en-GB" sz="1600" i="1">
                        <a:latin typeface="Cambria Math" panose="02040503050406030204" pitchFamily="18" charset="0"/>
                      </a:rPr>
                      <m:t>−7=0</m:t>
                    </m:r>
                  </m:oMath>
                </a14:m>
                <a:br>
                  <a:rPr lang="en-GB" sz="1600" dirty="0"/>
                </a:br>
                <a:r>
                  <a:rPr lang="en-GB" sz="1600" dirty="0">
                    <a:latin typeface="+mj-lt"/>
                  </a:rPr>
                  <a:t>Show further, with the help of a sketch, that there is only one (real) value of </a:t>
                </a:r>
                <a14:m>
                  <m:oMath xmlns:m="http://schemas.openxmlformats.org/officeDocument/2006/math">
                    <m:r>
                      <a:rPr lang="en-GB" sz="1600" i="1">
                        <a:latin typeface="Cambria Math" panose="02040503050406030204" pitchFamily="18" charset="0"/>
                      </a:rPr>
                      <m:t>𝑏</m:t>
                    </m:r>
                  </m:oMath>
                </a14:m>
                <a:r>
                  <a:rPr lang="en-GB" sz="1600" dirty="0"/>
                  <a:t> that satisfies the equation and that it lies between 2 and 3.</a:t>
                </a:r>
              </a:p>
              <a:p>
                <a:pPr marL="400050" indent="-400050">
                  <a:buAutoNum type="romanLcParenBoth"/>
                </a:pPr>
                <a:r>
                  <a:rPr lang="en-GB" sz="1600" dirty="0"/>
                  <a:t>Show that </a:t>
                </a:r>
                <a14:m>
                  <m:oMath xmlns:m="http://schemas.openxmlformats.org/officeDocument/2006/math">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𝑞</m:t>
                        </m:r>
                      </m:e>
                      <m:sup>
                        <m:r>
                          <a:rPr lang="en-GB" sz="1600" i="1">
                            <a:latin typeface="Cambria Math" panose="02040503050406030204" pitchFamily="18" charset="0"/>
                          </a:rPr>
                          <m:t>2</m:t>
                        </m:r>
                      </m:sup>
                    </m:sSup>
                    <m:r>
                      <a:rPr lang="en-GB" sz="1600" i="1">
                        <a:latin typeface="Cambria Math" panose="02040503050406030204" pitchFamily="18" charset="0"/>
                      </a:rPr>
                      <m:t>=3</m:t>
                    </m:r>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r>
                      <a:rPr lang="en-GB" sz="1600" i="1">
                        <a:latin typeface="Cambria Math" panose="02040503050406030204" pitchFamily="18" charset="0"/>
                      </a:rPr>
                      <m:t>𝑞</m:t>
                    </m:r>
                  </m:oMath>
                </a14:m>
                <a:r>
                  <a:rPr lang="en-GB" sz="1600" dirty="0"/>
                  <a:t>, where </a:t>
                </a:r>
                <a14:m>
                  <m:oMath xmlns:m="http://schemas.openxmlformats.org/officeDocument/2006/math">
                    <m:r>
                      <a:rPr lang="en-GB" sz="1600" i="1">
                        <a:latin typeface="Cambria Math" panose="02040503050406030204" pitchFamily="18" charset="0"/>
                      </a:rPr>
                      <m:t>𝑝</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a:t>
                </a:r>
                <a14:m>
                  <m:oMath xmlns:m="http://schemas.openxmlformats.org/officeDocument/2006/math">
                    <m:r>
                      <a:rPr lang="en-GB" sz="1600" i="1">
                        <a:latin typeface="Cambria Math" panose="02040503050406030204" pitchFamily="18" charset="0"/>
                      </a:rPr>
                      <m:t>𝑞</m:t>
                    </m:r>
                    <m:r>
                      <a:rPr lang="en-GB" sz="1600" i="1">
                        <a:latin typeface="Cambria Math" panose="02040503050406030204" pitchFamily="18" charset="0"/>
                      </a:rPr>
                      <m: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oMath>
                </a14:m>
                <a:r>
                  <a:rPr lang="en-GB" sz="1600" dirty="0"/>
                  <a:t>, and express </a:t>
                </a:r>
                <a14:m>
                  <m:oMath xmlns:m="http://schemas.openxmlformats.org/officeDocument/2006/math">
                    <m:sSup>
                      <m:sSupPr>
                        <m:ctrlPr>
                          <a:rPr lang="en-GB" sz="1600" i="1">
                            <a:latin typeface="Cambria Math" panose="02040503050406030204" pitchFamily="18" charset="0"/>
                          </a:rPr>
                        </m:ctrlPr>
                      </m:sSupPr>
                      <m:e>
                        <m:r>
                          <a:rPr lang="en-GB" sz="1600" i="1">
                            <a:latin typeface="Cambria Math" panose="02040503050406030204" pitchFamily="18" charset="0"/>
                          </a:rPr>
                          <m:t>𝑝</m:t>
                        </m:r>
                      </m:e>
                      <m:sup>
                        <m:r>
                          <a:rPr lang="en-GB" sz="1600" i="1">
                            <a:latin typeface="Cambria Math" panose="02040503050406030204" pitchFamily="18" charset="0"/>
                          </a:rPr>
                          <m:t>2</m:t>
                        </m:r>
                      </m:sup>
                    </m:sSup>
                  </m:oMath>
                </a14:m>
                <a:r>
                  <a:rPr lang="en-GB" sz="1600" dirty="0"/>
                  <a:t> in terms of </a:t>
                </a:r>
                <a14:m>
                  <m:oMath xmlns:m="http://schemas.openxmlformats.org/officeDocument/2006/math">
                    <m:r>
                      <a:rPr lang="en-GB" sz="1600" i="1">
                        <a:latin typeface="Cambria Math" panose="02040503050406030204" pitchFamily="18" charset="0"/>
                      </a:rPr>
                      <m:t>𝑞</m:t>
                    </m:r>
                  </m:oMath>
                </a14:m>
                <a:r>
                  <a:rPr lang="en-GB" sz="1600" dirty="0"/>
                  <a:t>. Deduce that </a:t>
                </a:r>
                <a14:m>
                  <m:oMath xmlns:m="http://schemas.openxmlformats.org/officeDocument/2006/math">
                    <m:r>
                      <a:rPr lang="en-GB" sz="1600" i="1">
                        <a:latin typeface="Cambria Math" panose="02040503050406030204" pitchFamily="18" charset="0"/>
                      </a:rPr>
                      <m:t>1&lt;</m:t>
                    </m:r>
                    <m:r>
                      <a:rPr lang="en-GB" sz="1600" i="1">
                        <a:latin typeface="Cambria Math" panose="02040503050406030204" pitchFamily="18" charset="0"/>
                      </a:rPr>
                      <m:t>𝑏</m:t>
                    </m:r>
                    <m:r>
                      <a:rPr lang="en-GB" sz="1600" i="1">
                        <a:latin typeface="Cambria Math" panose="02040503050406030204" pitchFamily="18" charset="0"/>
                      </a:rPr>
                      <m:t>−</m:t>
                    </m:r>
                    <m:r>
                      <a:rPr lang="en-GB" sz="1600" i="1">
                        <a:latin typeface="Cambria Math" panose="02040503050406030204" pitchFamily="18" charset="0"/>
                      </a:rPr>
                      <m:t>𝑎</m:t>
                    </m:r>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4</m:t>
                        </m:r>
                      </m:num>
                      <m:den>
                        <m:r>
                          <a:rPr lang="en-GB" sz="1600" i="1">
                            <a:latin typeface="Cambria Math" panose="02040503050406030204" pitchFamily="18" charset="0"/>
                          </a:rPr>
                          <m:t>3</m:t>
                        </m:r>
                      </m:den>
                    </m:f>
                  </m:oMath>
                </a14:m>
                <a:endParaRPr lang="en-GB" sz="1600" dirty="0"/>
              </a:p>
            </p:txBody>
          </p:sp>
        </mc:Choice>
        <mc:Fallback xmlns="">
          <p:sp>
            <p:nvSpPr>
              <p:cNvPr id="3" name="TextBox 2"/>
              <p:cNvSpPr txBox="1">
                <a:spLocks noRot="1" noChangeAspect="1" noMove="1" noResize="1" noEditPoints="1" noAdjustHandles="1" noChangeArrowheads="1" noChangeShapeType="1" noTextEdit="1"/>
              </p:cNvSpPr>
              <p:nvPr/>
            </p:nvSpPr>
            <p:spPr>
              <a:xfrm>
                <a:off x="1941488" y="642269"/>
                <a:ext cx="8305576" cy="2335191"/>
              </a:xfrm>
              <a:prstGeom prst="rect">
                <a:avLst/>
              </a:prstGeom>
              <a:blipFill>
                <a:blip r:embed="rId3"/>
                <a:stretch>
                  <a:fillRect l="-367" t="-15666" b="-261"/>
                </a:stretch>
              </a:blipFill>
            </p:spPr>
            <p:txBody>
              <a:bodyPr/>
              <a:lstStyle/>
              <a:p>
                <a:r>
                  <a:rPr lang="en-GB">
                    <a:noFill/>
                  </a:rPr>
                  <a:t> </a:t>
                </a:r>
              </a:p>
            </p:txBody>
          </p:sp>
        </mc:Fallback>
      </mc:AlternateContent>
      <p:grpSp>
        <p:nvGrpSpPr>
          <p:cNvPr id="4" name="Group 3"/>
          <p:cNvGrpSpPr/>
          <p:nvPr/>
        </p:nvGrpSpPr>
        <p:grpSpPr>
          <a:xfrm>
            <a:off x="1524000" y="1"/>
            <a:ext cx="9143074" cy="599127"/>
            <a:chOff x="0" y="13335"/>
            <a:chExt cx="9144218" cy="599127"/>
          </a:xfrm>
        </p:grpSpPr>
        <p:sp>
          <p:nvSpPr>
            <p:cNvPr id="5"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Guidance for Extension Problem 2</a:t>
              </a:r>
            </a:p>
          </p:txBody>
        </p:sp>
        <p:cxnSp>
          <p:nvCxnSpPr>
            <p:cNvPr id="6" name="Straight Connector 5"/>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1010084558"/>
      </p:ext>
    </p:extLst>
  </p:cSld>
  <p:clrMapOvr>
    <a:masterClrMapping/>
  </p:clrMapOvr>
</p:sld>
</file>

<file path=ppt/c13/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Shape 14"/>
          <p:cNvSpPr/>
          <p:nvPr/>
        </p:nvSpPr>
        <p:spPr>
          <a:xfrm>
            <a:off x="2247900" y="1003300"/>
            <a:ext cx="1670050" cy="1657350"/>
          </a:xfrm>
          <a:custGeom>
            <a:avLst/>
            <a:gdLst>
              <a:gd name="connsiteX0" fmla="*/ 0 w 1670050"/>
              <a:gd name="connsiteY0" fmla="*/ 1657350 h 1657350"/>
              <a:gd name="connsiteX1" fmla="*/ 1670050 w 1670050"/>
              <a:gd name="connsiteY1" fmla="*/ 412750 h 1657350"/>
              <a:gd name="connsiteX2" fmla="*/ 1536700 w 1670050"/>
              <a:gd name="connsiteY2" fmla="*/ 209550 h 1657350"/>
              <a:gd name="connsiteX3" fmla="*/ 1397000 w 1670050"/>
              <a:gd name="connsiteY3" fmla="*/ 76200 h 1657350"/>
              <a:gd name="connsiteX4" fmla="*/ 1282700 w 1670050"/>
              <a:gd name="connsiteY4" fmla="*/ 19050 h 1657350"/>
              <a:gd name="connsiteX5" fmla="*/ 1174750 w 1670050"/>
              <a:gd name="connsiteY5" fmla="*/ 0 h 1657350"/>
              <a:gd name="connsiteX6" fmla="*/ 1041400 w 1670050"/>
              <a:gd name="connsiteY6" fmla="*/ 50800 h 1657350"/>
              <a:gd name="connsiteX7" fmla="*/ 895350 w 1670050"/>
              <a:gd name="connsiteY7" fmla="*/ 177800 h 1657350"/>
              <a:gd name="connsiteX8" fmla="*/ 685800 w 1670050"/>
              <a:gd name="connsiteY8" fmla="*/ 419100 h 1657350"/>
              <a:gd name="connsiteX9" fmla="*/ 533400 w 1670050"/>
              <a:gd name="connsiteY9" fmla="*/ 641350 h 1657350"/>
              <a:gd name="connsiteX10" fmla="*/ 381000 w 1670050"/>
              <a:gd name="connsiteY10" fmla="*/ 920750 h 1657350"/>
              <a:gd name="connsiteX11" fmla="*/ 241300 w 1670050"/>
              <a:gd name="connsiteY11" fmla="*/ 1181100 h 1657350"/>
              <a:gd name="connsiteX12" fmla="*/ 0 w 1670050"/>
              <a:gd name="connsiteY12" fmla="*/ 1657350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0050" h="1657350">
                <a:moveTo>
                  <a:pt x="0" y="1657350"/>
                </a:moveTo>
                <a:lnTo>
                  <a:pt x="1670050" y="412750"/>
                </a:lnTo>
                <a:lnTo>
                  <a:pt x="1536700" y="209550"/>
                </a:lnTo>
                <a:lnTo>
                  <a:pt x="1397000" y="76200"/>
                </a:lnTo>
                <a:lnTo>
                  <a:pt x="1282700" y="19050"/>
                </a:lnTo>
                <a:lnTo>
                  <a:pt x="1174750" y="0"/>
                </a:lnTo>
                <a:lnTo>
                  <a:pt x="1041400" y="50800"/>
                </a:lnTo>
                <a:lnTo>
                  <a:pt x="895350" y="177800"/>
                </a:lnTo>
                <a:lnTo>
                  <a:pt x="685800" y="419100"/>
                </a:lnTo>
                <a:lnTo>
                  <a:pt x="533400" y="641350"/>
                </a:lnTo>
                <a:lnTo>
                  <a:pt x="381000" y="920750"/>
                </a:lnTo>
                <a:lnTo>
                  <a:pt x="241300" y="1181100"/>
                </a:lnTo>
                <a:lnTo>
                  <a:pt x="0" y="16573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Areas between curves and lines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5" name="Straight Arrow Connector 4"/>
          <p:cNvCxnSpPr/>
          <p:nvPr/>
        </p:nvCxnSpPr>
        <p:spPr>
          <a:xfrm flipH="1" flipV="1">
            <a:off x="2246289" y="1117173"/>
            <a:ext cx="11137" cy="20546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4413555" y="847348"/>
                <a:ext cx="75280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4413555" y="847348"/>
                <a:ext cx="752805" cy="369332"/>
              </a:xfrm>
              <a:prstGeom prst="rect">
                <a:avLst/>
              </a:prstGeom>
              <a:blipFill>
                <a:blip r:embed="rId2"/>
                <a:stretch>
                  <a:fillRect b="-4918"/>
                </a:stretch>
              </a:blipFill>
            </p:spPr>
            <p:txBody>
              <a:bodyPr/>
              <a:lstStyle/>
              <a:p>
                <a:r>
                  <a:rPr lang="en-GB">
                    <a:noFill/>
                  </a:rPr>
                  <a:t> </a:t>
                </a:r>
              </a:p>
            </p:txBody>
          </p:sp>
        </mc:Fallback>
      </mc:AlternateContent>
      <p:cxnSp>
        <p:nvCxnSpPr>
          <p:cNvPr id="7" name="Straight Arrow Connector 6"/>
          <p:cNvCxnSpPr/>
          <p:nvPr/>
        </p:nvCxnSpPr>
        <p:spPr>
          <a:xfrm>
            <a:off x="1981200" y="2667000"/>
            <a:ext cx="3797424" cy="4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1994260" y="731894"/>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𝑦</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1994260" y="731894"/>
                <a:ext cx="504056" cy="369332"/>
              </a:xfrm>
              <a:prstGeom prst="rect">
                <a:avLst/>
              </a:prstGeom>
              <a:blipFill>
                <a:blip r:embed="rId3"/>
                <a:stretch>
                  <a:fillRect b="-6557"/>
                </a:stretch>
              </a:blipFill>
            </p:spPr>
            <p:txBody>
              <a:bodyPr/>
              <a:lstStyle/>
              <a:p>
                <a:r>
                  <a:rPr lang="en-GB">
                    <a:noFill/>
                  </a:rPr>
                  <a:t> </a:t>
                </a:r>
              </a:p>
            </p:txBody>
          </p:sp>
        </mc:Fallback>
      </mc:AlternateContent>
      <p:cxnSp>
        <p:nvCxnSpPr>
          <p:cNvPr id="10" name="Straight Connector 9"/>
          <p:cNvCxnSpPr/>
          <p:nvPr/>
        </p:nvCxnSpPr>
        <p:spPr>
          <a:xfrm flipV="1">
            <a:off x="2002466" y="1020726"/>
            <a:ext cx="2456121" cy="1828801"/>
          </a:xfrm>
          <a:prstGeom prst="line">
            <a:avLst/>
          </a:prstGeom>
          <a:ln w="19050"/>
        </p:spPr>
        <p:style>
          <a:lnRef idx="1">
            <a:schemeClr val="accent4"/>
          </a:lnRef>
          <a:fillRef idx="0">
            <a:schemeClr val="accent4"/>
          </a:fillRef>
          <a:effectRef idx="0">
            <a:schemeClr val="accent4"/>
          </a:effectRef>
          <a:fontRef idx="minor">
            <a:schemeClr val="tx1"/>
          </a:fontRef>
        </p:style>
      </p:cxnSp>
      <p:sp>
        <p:nvSpPr>
          <p:cNvPr id="12" name="Freeform: Shape 11"/>
          <p:cNvSpPr/>
          <p:nvPr/>
        </p:nvSpPr>
        <p:spPr>
          <a:xfrm>
            <a:off x="2057400" y="1003186"/>
            <a:ext cx="2540000" cy="2095614"/>
          </a:xfrm>
          <a:custGeom>
            <a:avLst/>
            <a:gdLst>
              <a:gd name="connsiteX0" fmla="*/ 0 w 2349500"/>
              <a:gd name="connsiteY0" fmla="*/ 1666592 h 2022192"/>
              <a:gd name="connsiteX1" fmla="*/ 1193800 w 2349500"/>
              <a:gd name="connsiteY1" fmla="*/ 2892 h 2022192"/>
              <a:gd name="connsiteX2" fmla="*/ 2349500 w 2349500"/>
              <a:gd name="connsiteY2" fmla="*/ 2022192 h 2022192"/>
              <a:gd name="connsiteX0" fmla="*/ 0 w 2540000"/>
              <a:gd name="connsiteY0" fmla="*/ 2095614 h 2095614"/>
              <a:gd name="connsiteX1" fmla="*/ 1384300 w 2540000"/>
              <a:gd name="connsiteY1" fmla="*/ 114 h 2095614"/>
              <a:gd name="connsiteX2" fmla="*/ 2540000 w 2540000"/>
              <a:gd name="connsiteY2" fmla="*/ 2019414 h 2095614"/>
            </a:gdLst>
            <a:ahLst/>
            <a:cxnLst>
              <a:cxn ang="0">
                <a:pos x="connsiteX0" y="connsiteY0"/>
              </a:cxn>
              <a:cxn ang="0">
                <a:pos x="connsiteX1" y="connsiteY1"/>
              </a:cxn>
              <a:cxn ang="0">
                <a:pos x="connsiteX2" y="connsiteY2"/>
              </a:cxn>
            </a:cxnLst>
            <a:rect l="l" t="t" r="r" b="b"/>
            <a:pathLst>
              <a:path w="2540000" h="2095614">
                <a:moveTo>
                  <a:pt x="0" y="2095614"/>
                </a:moveTo>
                <a:cubicBezTo>
                  <a:pt x="401108" y="1234130"/>
                  <a:pt x="960967" y="12814"/>
                  <a:pt x="1384300" y="114"/>
                </a:cubicBezTo>
                <a:cubicBezTo>
                  <a:pt x="1807633" y="-12586"/>
                  <a:pt x="2157941" y="1039397"/>
                  <a:pt x="2540000" y="20194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6" name="TextBox 15"/>
              <p:cNvSpPr txBox="1"/>
              <p:nvPr/>
            </p:nvSpPr>
            <p:spPr>
              <a:xfrm rot="18402273">
                <a:off x="6517067" y="1918261"/>
                <a:ext cx="148202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𝑦</m:t>
                      </m:r>
                      <m:r>
                        <a:rPr lang="en-GB" sz="1400" i="1">
                          <a:latin typeface="Cambria Math" panose="02040503050406030204" pitchFamily="18" charset="0"/>
                        </a:rPr>
                        <m:t>=</m:t>
                      </m:r>
                      <m:r>
                        <a:rPr lang="en-GB" sz="1400" i="1">
                          <a:latin typeface="Cambria Math" panose="02040503050406030204" pitchFamily="18" charset="0"/>
                        </a:rPr>
                        <m:t>𝑥</m:t>
                      </m:r>
                      <m:d>
                        <m:dPr>
                          <m:ctrlPr>
                            <a:rPr lang="en-GB" sz="1400" i="1">
                              <a:latin typeface="Cambria Math" panose="02040503050406030204" pitchFamily="18" charset="0"/>
                            </a:rPr>
                          </m:ctrlPr>
                        </m:dPr>
                        <m:e>
                          <m:r>
                            <a:rPr lang="en-GB" sz="1400" i="1">
                              <a:latin typeface="Cambria Math" panose="02040503050406030204" pitchFamily="18" charset="0"/>
                            </a:rPr>
                            <m:t>4−</m:t>
                          </m:r>
                          <m:r>
                            <a:rPr lang="en-GB" sz="1400" i="1">
                              <a:latin typeface="Cambria Math" panose="02040503050406030204" pitchFamily="18" charset="0"/>
                            </a:rPr>
                            <m:t>𝑥</m:t>
                          </m:r>
                        </m:e>
                      </m:d>
                    </m:oMath>
                  </m:oMathPara>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rot="18402273">
                <a:off x="6517067" y="1918261"/>
                <a:ext cx="1482029" cy="3077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563980" y="1243642"/>
                <a:ext cx="148202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solidFill>
                            <a:schemeClr val="bg1"/>
                          </a:solidFill>
                          <a:latin typeface="Cambria Math" panose="02040503050406030204" pitchFamily="18" charset="0"/>
                        </a:rPr>
                        <m:t>?</m:t>
                      </m:r>
                    </m:oMath>
                  </m:oMathPara>
                </a14:m>
                <a:endParaRPr lang="en-GB" sz="3200" dirty="0">
                  <a:solidFill>
                    <a:schemeClr val="bg1"/>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2563980" y="1243642"/>
                <a:ext cx="1482029" cy="584775"/>
              </a:xfrm>
              <a:prstGeom prst="rect">
                <a:avLst/>
              </a:prstGeom>
              <a:blipFill>
                <a:blip r:embed="rId5"/>
                <a:stretch>
                  <a:fillRect/>
                </a:stretch>
              </a:blipFill>
            </p:spPr>
            <p:txBody>
              <a:bodyPr/>
              <a:lstStyle/>
              <a:p>
                <a:r>
                  <a:rPr lang="en-GB">
                    <a:noFill/>
                  </a:rPr>
                  <a:t> </a:t>
                </a:r>
              </a:p>
            </p:txBody>
          </p:sp>
        </mc:Fallback>
      </mc:AlternateContent>
      <p:sp>
        <p:nvSpPr>
          <p:cNvPr id="18" name="TextBox 17"/>
          <p:cNvSpPr txBox="1"/>
          <p:nvPr/>
        </p:nvSpPr>
        <p:spPr>
          <a:xfrm>
            <a:off x="6240016" y="1003187"/>
            <a:ext cx="3528392" cy="646331"/>
          </a:xfrm>
          <a:prstGeom prst="rect">
            <a:avLst/>
          </a:prstGeom>
          <a:noFill/>
        </p:spPr>
        <p:txBody>
          <a:bodyPr wrap="square" rtlCol="0">
            <a:spAutoFit/>
          </a:bodyPr>
          <a:lstStyle/>
          <a:p>
            <a:r>
              <a:rPr lang="en-GB" dirty="0"/>
              <a:t>How could we find the area between the line and the curve?</a:t>
            </a:r>
          </a:p>
        </p:txBody>
      </p:sp>
      <p:cxnSp>
        <p:nvCxnSpPr>
          <p:cNvPr id="20" name="Straight Connector 19"/>
          <p:cNvCxnSpPr/>
          <p:nvPr/>
        </p:nvCxnSpPr>
        <p:spPr>
          <a:xfrm flipV="1">
            <a:off x="3905250" y="1415253"/>
            <a:ext cx="0" cy="1261273"/>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6875921" y="1884160"/>
            <a:ext cx="1537976" cy="1220546"/>
            <a:chOff x="5245596" y="2043649"/>
            <a:chExt cx="2540000" cy="2095614"/>
          </a:xfrm>
        </p:grpSpPr>
        <p:sp>
          <p:nvSpPr>
            <p:cNvPr id="23" name="Freeform: Shape 22"/>
            <p:cNvSpPr/>
            <p:nvPr/>
          </p:nvSpPr>
          <p:spPr>
            <a:xfrm>
              <a:off x="5436096" y="2043763"/>
              <a:ext cx="1670050" cy="1657350"/>
            </a:xfrm>
            <a:custGeom>
              <a:avLst/>
              <a:gdLst>
                <a:gd name="connsiteX0" fmla="*/ 0 w 1670050"/>
                <a:gd name="connsiteY0" fmla="*/ 1657350 h 1657350"/>
                <a:gd name="connsiteX1" fmla="*/ 1670050 w 1670050"/>
                <a:gd name="connsiteY1" fmla="*/ 412750 h 1657350"/>
                <a:gd name="connsiteX2" fmla="*/ 1536700 w 1670050"/>
                <a:gd name="connsiteY2" fmla="*/ 209550 h 1657350"/>
                <a:gd name="connsiteX3" fmla="*/ 1397000 w 1670050"/>
                <a:gd name="connsiteY3" fmla="*/ 76200 h 1657350"/>
                <a:gd name="connsiteX4" fmla="*/ 1282700 w 1670050"/>
                <a:gd name="connsiteY4" fmla="*/ 19050 h 1657350"/>
                <a:gd name="connsiteX5" fmla="*/ 1174750 w 1670050"/>
                <a:gd name="connsiteY5" fmla="*/ 0 h 1657350"/>
                <a:gd name="connsiteX6" fmla="*/ 1041400 w 1670050"/>
                <a:gd name="connsiteY6" fmla="*/ 50800 h 1657350"/>
                <a:gd name="connsiteX7" fmla="*/ 895350 w 1670050"/>
                <a:gd name="connsiteY7" fmla="*/ 177800 h 1657350"/>
                <a:gd name="connsiteX8" fmla="*/ 685800 w 1670050"/>
                <a:gd name="connsiteY8" fmla="*/ 419100 h 1657350"/>
                <a:gd name="connsiteX9" fmla="*/ 533400 w 1670050"/>
                <a:gd name="connsiteY9" fmla="*/ 641350 h 1657350"/>
                <a:gd name="connsiteX10" fmla="*/ 381000 w 1670050"/>
                <a:gd name="connsiteY10" fmla="*/ 920750 h 1657350"/>
                <a:gd name="connsiteX11" fmla="*/ 241300 w 1670050"/>
                <a:gd name="connsiteY11" fmla="*/ 1181100 h 1657350"/>
                <a:gd name="connsiteX12" fmla="*/ 0 w 1670050"/>
                <a:gd name="connsiteY12" fmla="*/ 1657350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0050" h="1657350">
                  <a:moveTo>
                    <a:pt x="0" y="1657350"/>
                  </a:moveTo>
                  <a:lnTo>
                    <a:pt x="1670050" y="412750"/>
                  </a:lnTo>
                  <a:lnTo>
                    <a:pt x="1536700" y="209550"/>
                  </a:lnTo>
                  <a:lnTo>
                    <a:pt x="1397000" y="76200"/>
                  </a:lnTo>
                  <a:lnTo>
                    <a:pt x="1282700" y="19050"/>
                  </a:lnTo>
                  <a:lnTo>
                    <a:pt x="1174750" y="0"/>
                  </a:lnTo>
                  <a:lnTo>
                    <a:pt x="1041400" y="50800"/>
                  </a:lnTo>
                  <a:lnTo>
                    <a:pt x="895350" y="177800"/>
                  </a:lnTo>
                  <a:lnTo>
                    <a:pt x="685800" y="419100"/>
                  </a:lnTo>
                  <a:lnTo>
                    <a:pt x="533400" y="641350"/>
                  </a:lnTo>
                  <a:lnTo>
                    <a:pt x="381000" y="920750"/>
                  </a:lnTo>
                  <a:lnTo>
                    <a:pt x="241300" y="1181100"/>
                  </a:lnTo>
                  <a:lnTo>
                    <a:pt x="0" y="16573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p:cNvSpPr/>
            <p:nvPr/>
          </p:nvSpPr>
          <p:spPr>
            <a:xfrm>
              <a:off x="5245596" y="2043649"/>
              <a:ext cx="2540000" cy="2095614"/>
            </a:xfrm>
            <a:custGeom>
              <a:avLst/>
              <a:gdLst>
                <a:gd name="connsiteX0" fmla="*/ 0 w 2349500"/>
                <a:gd name="connsiteY0" fmla="*/ 1666592 h 2022192"/>
                <a:gd name="connsiteX1" fmla="*/ 1193800 w 2349500"/>
                <a:gd name="connsiteY1" fmla="*/ 2892 h 2022192"/>
                <a:gd name="connsiteX2" fmla="*/ 2349500 w 2349500"/>
                <a:gd name="connsiteY2" fmla="*/ 2022192 h 2022192"/>
                <a:gd name="connsiteX0" fmla="*/ 0 w 2540000"/>
                <a:gd name="connsiteY0" fmla="*/ 2095614 h 2095614"/>
                <a:gd name="connsiteX1" fmla="*/ 1384300 w 2540000"/>
                <a:gd name="connsiteY1" fmla="*/ 114 h 2095614"/>
                <a:gd name="connsiteX2" fmla="*/ 2540000 w 2540000"/>
                <a:gd name="connsiteY2" fmla="*/ 2019414 h 2095614"/>
              </a:gdLst>
              <a:ahLst/>
              <a:cxnLst>
                <a:cxn ang="0">
                  <a:pos x="connsiteX0" y="connsiteY0"/>
                </a:cxn>
                <a:cxn ang="0">
                  <a:pos x="connsiteX1" y="connsiteY1"/>
                </a:cxn>
                <a:cxn ang="0">
                  <a:pos x="connsiteX2" y="connsiteY2"/>
                </a:cxn>
              </a:cxnLst>
              <a:rect l="l" t="t" r="r" b="b"/>
              <a:pathLst>
                <a:path w="2540000" h="2095614">
                  <a:moveTo>
                    <a:pt x="0" y="2095614"/>
                  </a:moveTo>
                  <a:cubicBezTo>
                    <a:pt x="401108" y="1234130"/>
                    <a:pt x="960967" y="12814"/>
                    <a:pt x="1384300" y="114"/>
                  </a:cubicBezTo>
                  <a:cubicBezTo>
                    <a:pt x="1807633" y="-12586"/>
                    <a:pt x="2157941" y="1039397"/>
                    <a:pt x="2540000" y="20194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6" name="Straight Arrow Connector 25"/>
          <p:cNvCxnSpPr/>
          <p:nvPr/>
        </p:nvCxnSpPr>
        <p:spPr>
          <a:xfrm flipV="1">
            <a:off x="6653219" y="2775099"/>
            <a:ext cx="1824474" cy="27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ight Triangle 27"/>
          <p:cNvSpPr/>
          <p:nvPr/>
        </p:nvSpPr>
        <p:spPr>
          <a:xfrm flipH="1">
            <a:off x="7040880" y="2118361"/>
            <a:ext cx="944880" cy="666855"/>
          </a:xfrm>
          <a:prstGeom prst="rtTriangle">
            <a:avLst/>
          </a:prstGeom>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9" name="TextBox 28"/>
              <p:cNvSpPr txBox="1"/>
              <p:nvPr/>
            </p:nvSpPr>
            <p:spPr>
              <a:xfrm>
                <a:off x="8393874" y="1634606"/>
                <a:ext cx="2121727" cy="1169551"/>
              </a:xfrm>
              <a:prstGeom prst="rect">
                <a:avLst/>
              </a:prstGeom>
              <a:noFill/>
            </p:spPr>
            <p:txBody>
              <a:bodyPr wrap="square" rtlCol="0">
                <a:spAutoFit/>
              </a:bodyPr>
              <a:lstStyle/>
              <a:p>
                <a:r>
                  <a:rPr lang="en-GB" sz="1400" b="1" dirty="0"/>
                  <a:t>Start with the area under </a:t>
                </a:r>
                <a14:m>
                  <m:oMath xmlns:m="http://schemas.openxmlformats.org/officeDocument/2006/math">
                    <m:r>
                      <a:rPr lang="en-GB" sz="1400" b="1" i="1">
                        <a:latin typeface="Cambria Math" panose="02040503050406030204" pitchFamily="18" charset="0"/>
                      </a:rPr>
                      <m:t>𝒚</m:t>
                    </m:r>
                    <m:r>
                      <a:rPr lang="en-GB" sz="1400" b="1" i="1">
                        <a:latin typeface="Cambria Math" panose="02040503050406030204" pitchFamily="18" charset="0"/>
                      </a:rPr>
                      <m:t>=</m:t>
                    </m:r>
                    <m:r>
                      <a:rPr lang="en-GB" sz="1400" b="1" i="1">
                        <a:latin typeface="Cambria Math" panose="02040503050406030204" pitchFamily="18" charset="0"/>
                      </a:rPr>
                      <m:t>𝒙</m:t>
                    </m:r>
                    <m:d>
                      <m:dPr>
                        <m:ctrlPr>
                          <a:rPr lang="en-GB" sz="1400" b="1" i="1">
                            <a:latin typeface="Cambria Math" panose="02040503050406030204" pitchFamily="18" charset="0"/>
                          </a:rPr>
                        </m:ctrlPr>
                      </m:dPr>
                      <m:e>
                        <m:r>
                          <a:rPr lang="en-GB" sz="1400" b="1" i="1">
                            <a:latin typeface="Cambria Math" panose="02040503050406030204" pitchFamily="18" charset="0"/>
                          </a:rPr>
                          <m:t>𝟒</m:t>
                        </m:r>
                        <m:r>
                          <a:rPr lang="en-GB" sz="1400" b="1" i="1">
                            <a:latin typeface="Cambria Math" panose="02040503050406030204" pitchFamily="18" charset="0"/>
                          </a:rPr>
                          <m:t>−</m:t>
                        </m:r>
                        <m:r>
                          <a:rPr lang="en-GB" sz="1400" b="1" i="1">
                            <a:latin typeface="Cambria Math" panose="02040503050406030204" pitchFamily="18" charset="0"/>
                          </a:rPr>
                          <m:t>𝒙</m:t>
                        </m:r>
                      </m:e>
                    </m:d>
                  </m:oMath>
                </a14:m>
                <a:r>
                  <a:rPr lang="en-GB" sz="1400" b="1" dirty="0"/>
                  <a:t> up to the point of intersection, then subtract the area of the triangle to ‘cut it out’.</a:t>
                </a:r>
              </a:p>
            </p:txBody>
          </p:sp>
        </mc:Choice>
        <mc:Fallback xmlns="">
          <p:sp>
            <p:nvSpPr>
              <p:cNvPr id="29" name="TextBox 28"/>
              <p:cNvSpPr txBox="1">
                <a:spLocks noRot="1" noChangeAspect="1" noMove="1" noResize="1" noEditPoints="1" noAdjustHandles="1" noChangeArrowheads="1" noChangeShapeType="1" noTextEdit="1"/>
              </p:cNvSpPr>
              <p:nvPr/>
            </p:nvSpPr>
            <p:spPr>
              <a:xfrm>
                <a:off x="8393874" y="1634606"/>
                <a:ext cx="2121727" cy="1169551"/>
              </a:xfrm>
              <a:prstGeom prst="rect">
                <a:avLst/>
              </a:prstGeom>
              <a:blipFill>
                <a:blip r:embed="rId6"/>
                <a:stretch>
                  <a:fillRect l="-862" t="-1042" r="-2299" b="-4688"/>
                </a:stretch>
              </a:blipFill>
            </p:spPr>
            <p:txBody>
              <a:bodyPr/>
              <a:lstStyle/>
              <a:p>
                <a:r>
                  <a:rPr lang="en-GB">
                    <a:noFill/>
                  </a:rPr>
                  <a:t> </a:t>
                </a:r>
              </a:p>
            </p:txBody>
          </p:sp>
        </mc:Fallback>
      </mc:AlternateContent>
      <p:sp>
        <p:nvSpPr>
          <p:cNvPr id="30" name="Rectangle 29"/>
          <p:cNvSpPr/>
          <p:nvPr/>
        </p:nvSpPr>
        <p:spPr>
          <a:xfrm>
            <a:off x="8658226" y="2887614"/>
            <a:ext cx="1609725" cy="636636"/>
          </a:xfrm>
          <a:prstGeom prst="rect">
            <a:avLst/>
          </a:prstGeom>
          <a:scene3d>
            <a:camera prst="orthographicFront"/>
            <a:lightRig rig="threePt" dir="t"/>
          </a:scene3d>
          <a:sp3d>
            <a:bevelT prst="angle"/>
          </a:sp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a:t>Click for </a:t>
            </a:r>
          </a:p>
          <a:p>
            <a:pPr algn="ctr"/>
            <a:r>
              <a:rPr lang="en-GB" sz="1400" dirty="0"/>
              <a:t>animation &gt;</a:t>
            </a:r>
          </a:p>
        </p:txBody>
      </p:sp>
      <p:sp>
        <p:nvSpPr>
          <p:cNvPr id="31" name="Rectangle 30"/>
          <p:cNvSpPr/>
          <p:nvPr/>
        </p:nvSpPr>
        <p:spPr>
          <a:xfrm>
            <a:off x="6317430" y="1644178"/>
            <a:ext cx="4192935" cy="201282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xmlns:a14="http://schemas.microsoft.com/office/drawing/2010/main">
        <mc:Choice Requires="a14">
          <p:sp>
            <p:nvSpPr>
              <p:cNvPr id="32" name="TextBox 31"/>
              <p:cNvSpPr txBox="1"/>
              <p:nvPr/>
            </p:nvSpPr>
            <p:spPr>
              <a:xfrm>
                <a:off x="2042629" y="3805230"/>
                <a:ext cx="7682396"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Determine the area between the lines with equations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d>
                      <m:dPr>
                        <m:ctrlPr>
                          <a:rPr lang="en-GB" i="1">
                            <a:latin typeface="Cambria Math" panose="02040503050406030204" pitchFamily="18" charset="0"/>
                          </a:rPr>
                        </m:ctrlPr>
                      </m:dPr>
                      <m:e>
                        <m:r>
                          <a:rPr lang="en-GB" i="1">
                            <a:latin typeface="Cambria Math" panose="02040503050406030204" pitchFamily="18" charset="0"/>
                          </a:rPr>
                          <m:t>4−</m:t>
                        </m:r>
                        <m:r>
                          <a:rPr lang="en-GB" i="1">
                            <a:latin typeface="Cambria Math" panose="02040503050406030204" pitchFamily="18" charset="0"/>
                          </a:rPr>
                          <m:t>𝑥</m:t>
                        </m:r>
                      </m:e>
                    </m:d>
                  </m:oMath>
                </a14:m>
                <a:r>
                  <a:rPr lang="en-GB" dirty="0"/>
                  <a:t> and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oMath>
                </a14:m>
                <a:endParaRPr lang="en-GB" dirty="0"/>
              </a:p>
            </p:txBody>
          </p:sp>
        </mc:Choice>
        <mc:Fallback xmlns="">
          <p:sp>
            <p:nvSpPr>
              <p:cNvPr id="32" name="TextBox 31"/>
              <p:cNvSpPr txBox="1">
                <a:spLocks noRot="1" noChangeAspect="1" noMove="1" noResize="1" noEditPoints="1" noAdjustHandles="1" noChangeArrowheads="1" noChangeShapeType="1" noTextEdit="1"/>
              </p:cNvSpPr>
              <p:nvPr/>
            </p:nvSpPr>
            <p:spPr>
              <a:xfrm>
                <a:off x="2042629" y="3805230"/>
                <a:ext cx="7682396" cy="369332"/>
              </a:xfrm>
              <a:prstGeom prst="rect">
                <a:avLst/>
              </a:prstGeom>
              <a:blipFill>
                <a:blip r:embed="rId7"/>
                <a:stretch>
                  <a:fillRect b="-3529"/>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398688" y="4245472"/>
                <a:ext cx="3705696" cy="2491195"/>
              </a:xfrm>
              <a:prstGeom prst="rect">
                <a:avLst/>
              </a:prstGeom>
              <a:noFill/>
            </p:spPr>
            <p:txBody>
              <a:bodyPr wrap="square" rtlCol="0">
                <a:spAutoFit/>
              </a:bodyPr>
              <a:lstStyle/>
              <a:p>
                <a:r>
                  <a:rPr lang="en-GB" sz="1400" dirty="0"/>
                  <a:t>Find point of intersection:</a:t>
                </a:r>
              </a:p>
              <a:p>
                <a:pPr/>
                <a14:m>
                  <m:oMathPara xmlns:m="http://schemas.openxmlformats.org/officeDocument/2006/math">
                    <m:oMathParaPr>
                      <m:jc m:val="centerGroup"/>
                    </m:oMathParaPr>
                    <m:oMath xmlns:m="http://schemas.openxmlformats.org/officeDocument/2006/math">
                      <m:r>
                        <a:rPr lang="en-GB" sz="1400" i="1">
                          <a:latin typeface="Cambria Math" panose="02040503050406030204" pitchFamily="18" charset="0"/>
                        </a:rPr>
                        <m:t>𝑥</m:t>
                      </m:r>
                      <m:d>
                        <m:dPr>
                          <m:ctrlPr>
                            <a:rPr lang="en-GB" sz="1400" i="1">
                              <a:latin typeface="Cambria Math" panose="02040503050406030204" pitchFamily="18" charset="0"/>
                            </a:rPr>
                          </m:ctrlPr>
                        </m:dPr>
                        <m:e>
                          <m:r>
                            <a:rPr lang="en-GB" sz="1400" i="1">
                              <a:latin typeface="Cambria Math" panose="02040503050406030204" pitchFamily="18" charset="0"/>
                            </a:rPr>
                            <m:t>4−</m:t>
                          </m:r>
                          <m:r>
                            <a:rPr lang="en-GB" sz="1400" i="1">
                              <a:latin typeface="Cambria Math" panose="02040503050406030204" pitchFamily="18" charset="0"/>
                            </a:rPr>
                            <m:t>𝑥</m:t>
                          </m:r>
                        </m:e>
                      </m:d>
                      <m:r>
                        <a:rPr lang="en-GB" sz="1400" i="1">
                          <a:latin typeface="Cambria Math" panose="02040503050406030204" pitchFamily="18" charset="0"/>
                        </a:rPr>
                        <m:t>=</m:t>
                      </m:r>
                      <m:r>
                        <a:rPr lang="en-GB" sz="1400" i="1">
                          <a:latin typeface="Cambria Math" panose="02040503050406030204" pitchFamily="18" charset="0"/>
                        </a:rPr>
                        <m:t>𝑥</m:t>
                      </m:r>
                    </m:oMath>
                    <m:oMath xmlns:m="http://schemas.openxmlformats.org/officeDocument/2006/math">
                      <m:r>
                        <a:rPr lang="en-GB" sz="1400" i="1">
                          <a:latin typeface="Cambria Math" panose="02040503050406030204" pitchFamily="18" charset="0"/>
                        </a:rPr>
                        <m:t>∴</m:t>
                      </m:r>
                      <m:r>
                        <a:rPr lang="en-GB" sz="1400" i="1">
                          <a:latin typeface="Cambria Math" panose="02040503050406030204" pitchFamily="18" charset="0"/>
                        </a:rPr>
                        <m:t>𝑥</m:t>
                      </m:r>
                      <m:r>
                        <a:rPr lang="en-GB" sz="1400" i="1">
                          <a:latin typeface="Cambria Math" panose="02040503050406030204" pitchFamily="18" charset="0"/>
                        </a:rPr>
                        <m:t>=0 </m:t>
                      </m:r>
                      <m:r>
                        <a:rPr lang="en-GB" sz="1400" i="1">
                          <a:latin typeface="Cambria Math" panose="02040503050406030204" pitchFamily="18" charset="0"/>
                        </a:rPr>
                        <m:t>𝑜𝑟</m:t>
                      </m:r>
                      <m:r>
                        <a:rPr lang="en-GB" sz="1400" i="1">
                          <a:latin typeface="Cambria Math" panose="02040503050406030204" pitchFamily="18" charset="0"/>
                        </a:rPr>
                        <m:t> </m:t>
                      </m:r>
                      <m:r>
                        <a:rPr lang="en-GB" sz="1400" i="1">
                          <a:latin typeface="Cambria Math" panose="02040503050406030204" pitchFamily="18" charset="0"/>
                        </a:rPr>
                        <m:t>𝑥</m:t>
                      </m:r>
                      <m:r>
                        <a:rPr lang="en-GB" sz="1400" i="1">
                          <a:latin typeface="Cambria Math" panose="02040503050406030204" pitchFamily="18" charset="0"/>
                        </a:rPr>
                        <m:t>=3</m:t>
                      </m:r>
                    </m:oMath>
                  </m:oMathPara>
                </a14:m>
                <a:endParaRPr lang="en-GB" sz="1400" dirty="0"/>
              </a:p>
              <a:p>
                <a:endParaRPr lang="en-GB" sz="300" dirty="0"/>
              </a:p>
              <a:p>
                <a:r>
                  <a:rPr lang="en-GB" sz="1400" dirty="0"/>
                  <a:t>Area under curve:</a:t>
                </a:r>
              </a:p>
              <a:p>
                <a:pPr/>
                <a14:m>
                  <m:oMathPara xmlns:m="http://schemas.openxmlformats.org/officeDocument/2006/math">
                    <m:oMathParaPr>
                      <m:jc m:val="centerGroup"/>
                    </m:oMathParaPr>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0</m:t>
                          </m:r>
                        </m:sub>
                        <m:sup>
                          <m:r>
                            <a:rPr lang="en-GB" sz="1400" i="1">
                              <a:latin typeface="Cambria Math" panose="02040503050406030204" pitchFamily="18" charset="0"/>
                            </a:rPr>
                            <m:t>3</m:t>
                          </m:r>
                        </m:sup>
                        <m:e>
                          <m:r>
                            <a:rPr lang="en-GB" sz="1400" i="1">
                              <a:latin typeface="Cambria Math" panose="02040503050406030204" pitchFamily="18" charset="0"/>
                            </a:rPr>
                            <m:t>𝑥</m:t>
                          </m:r>
                          <m:d>
                            <m:dPr>
                              <m:ctrlPr>
                                <a:rPr lang="en-GB" sz="1400" i="1">
                                  <a:latin typeface="Cambria Math" panose="02040503050406030204" pitchFamily="18" charset="0"/>
                                </a:rPr>
                              </m:ctrlPr>
                            </m:dPr>
                            <m:e>
                              <m:r>
                                <a:rPr lang="en-GB" sz="1400" i="1">
                                  <a:latin typeface="Cambria Math" panose="02040503050406030204" pitchFamily="18" charset="0"/>
                                </a:rPr>
                                <m:t>4−</m:t>
                              </m:r>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r>
                        <a:rPr lang="en-GB" sz="1400" i="1">
                          <a:latin typeface="Cambria Math" panose="02040503050406030204" pitchFamily="18" charset="0"/>
                        </a:rPr>
                        <m:t>=</m:t>
                      </m:r>
                      <m:sSubSup>
                        <m:sSubSupPr>
                          <m:ctrlPr>
                            <a:rPr lang="en-GB" sz="1400" i="1">
                              <a:latin typeface="Cambria Math" panose="02040503050406030204" pitchFamily="18" charset="0"/>
                            </a:rPr>
                          </m:ctrlPr>
                        </m:sSubSupPr>
                        <m:e>
                          <m:d>
                            <m:dPr>
                              <m:begChr m:val="["/>
                              <m:endChr m:val="]"/>
                              <m:ctrlPr>
                                <a:rPr lang="en-GB" sz="1400" i="1">
                                  <a:latin typeface="Cambria Math" panose="02040503050406030204" pitchFamily="18" charset="0"/>
                                </a:rPr>
                              </m:ctrlPr>
                            </m:dPr>
                            <m:e>
                              <m:r>
                                <a:rPr lang="en-GB" sz="1400" i="1">
                                  <a:latin typeface="Cambria Math" panose="02040503050406030204" pitchFamily="18" charset="0"/>
                                </a:rPr>
                                <m:t>2</m:t>
                              </m:r>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2</m:t>
                                  </m:r>
                                </m:sup>
                              </m:sSup>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3</m:t>
                                  </m:r>
                                </m:den>
                              </m:f>
                              <m:sSup>
                                <m:sSupPr>
                                  <m:ctrlPr>
                                    <a:rPr lang="en-GB" sz="1400" i="1">
                                      <a:latin typeface="Cambria Math" panose="02040503050406030204" pitchFamily="18" charset="0"/>
                                    </a:rPr>
                                  </m:ctrlPr>
                                </m:sSupPr>
                                <m:e>
                                  <m:r>
                                    <a:rPr lang="en-GB" sz="1400" i="1">
                                      <a:latin typeface="Cambria Math" panose="02040503050406030204" pitchFamily="18" charset="0"/>
                                    </a:rPr>
                                    <m:t>𝑥</m:t>
                                  </m:r>
                                </m:e>
                                <m:sup>
                                  <m:r>
                                    <a:rPr lang="en-GB" sz="1400" i="1">
                                      <a:latin typeface="Cambria Math" panose="02040503050406030204" pitchFamily="18" charset="0"/>
                                    </a:rPr>
                                    <m:t>3</m:t>
                                  </m:r>
                                </m:sup>
                              </m:sSup>
                            </m:e>
                          </m:d>
                        </m:e>
                        <m:sub>
                          <m:r>
                            <a:rPr lang="en-GB" sz="1400" i="1">
                              <a:latin typeface="Cambria Math" panose="02040503050406030204" pitchFamily="18" charset="0"/>
                            </a:rPr>
                            <m:t>0</m:t>
                          </m:r>
                        </m:sub>
                        <m:sup>
                          <m:r>
                            <a:rPr lang="en-GB" sz="1400" i="1">
                              <a:latin typeface="Cambria Math" panose="02040503050406030204" pitchFamily="18" charset="0"/>
                            </a:rPr>
                            <m:t>3</m:t>
                          </m:r>
                        </m:sup>
                      </m:sSubSup>
                      <m:r>
                        <a:rPr lang="en-GB" sz="1400" i="1">
                          <a:latin typeface="Cambria Math" panose="02040503050406030204" pitchFamily="18" charset="0"/>
                        </a:rPr>
                        <m:t>=9</m:t>
                      </m:r>
                    </m:oMath>
                  </m:oMathPara>
                </a14:m>
                <a:endParaRPr lang="en-GB" sz="1400" dirty="0"/>
              </a:p>
              <a:p>
                <a:endParaRPr lang="en-GB" sz="1400" dirty="0"/>
              </a:p>
              <a:p>
                <a:r>
                  <a:rPr lang="en-GB" sz="1400" dirty="0"/>
                  <a:t>Area of triangle </a:t>
                </a:r>
                <a14:m>
                  <m:oMath xmlns:m="http://schemas.openxmlformats.org/officeDocument/2006/math">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m:t>
                        </m:r>
                      </m:num>
                      <m:den>
                        <m:r>
                          <a:rPr lang="en-GB" sz="1400" i="1">
                            <a:latin typeface="Cambria Math" panose="02040503050406030204" pitchFamily="18" charset="0"/>
                          </a:rPr>
                          <m:t>2</m:t>
                        </m:r>
                      </m:den>
                    </m:f>
                    <m:r>
                      <a:rPr lang="en-GB" sz="1400" i="1">
                        <a:latin typeface="Cambria Math" panose="02040503050406030204" pitchFamily="18" charset="0"/>
                      </a:rPr>
                      <m:t>×3×3=</m:t>
                    </m:r>
                    <m:f>
                      <m:fPr>
                        <m:ctrlPr>
                          <a:rPr lang="en-GB" sz="1400" i="1">
                            <a:latin typeface="Cambria Math" panose="02040503050406030204" pitchFamily="18" charset="0"/>
                          </a:rPr>
                        </m:ctrlPr>
                      </m:fPr>
                      <m:num>
                        <m:r>
                          <a:rPr lang="en-GB" sz="1400" i="1">
                            <a:latin typeface="Cambria Math" panose="02040503050406030204" pitchFamily="18" charset="0"/>
                          </a:rPr>
                          <m:t>9</m:t>
                        </m:r>
                      </m:num>
                      <m:den>
                        <m:r>
                          <a:rPr lang="en-GB" sz="1400" i="1">
                            <a:latin typeface="Cambria Math" panose="02040503050406030204" pitchFamily="18" charset="0"/>
                          </a:rPr>
                          <m:t>2</m:t>
                        </m:r>
                      </m:den>
                    </m:f>
                  </m:oMath>
                </a14:m>
                <a:endParaRPr lang="en-GB" sz="1400" dirty="0"/>
              </a:p>
              <a:p>
                <a:endParaRPr lang="en-GB" sz="500" dirty="0"/>
              </a:p>
              <a:p>
                <a14:m>
                  <m:oMath xmlns:m="http://schemas.openxmlformats.org/officeDocument/2006/math">
                    <m:r>
                      <a:rPr lang="en-GB" sz="1400" i="1">
                        <a:latin typeface="Cambria Math" panose="02040503050406030204" pitchFamily="18" charset="0"/>
                      </a:rPr>
                      <m:t>∴</m:t>
                    </m:r>
                  </m:oMath>
                </a14:m>
                <a:r>
                  <a:rPr lang="en-GB" sz="1400" dirty="0"/>
                  <a:t> Shaded area </a:t>
                </a:r>
                <a14:m>
                  <m:oMath xmlns:m="http://schemas.openxmlformats.org/officeDocument/2006/math">
                    <m:r>
                      <a:rPr lang="en-GB" sz="1400" i="1">
                        <a:latin typeface="Cambria Math" panose="02040503050406030204" pitchFamily="18" charset="0"/>
                      </a:rPr>
                      <m:t>=9−</m:t>
                    </m:r>
                    <m:f>
                      <m:fPr>
                        <m:ctrlPr>
                          <a:rPr lang="en-GB" sz="1400" i="1">
                            <a:latin typeface="Cambria Math" panose="02040503050406030204" pitchFamily="18" charset="0"/>
                          </a:rPr>
                        </m:ctrlPr>
                      </m:fPr>
                      <m:num>
                        <m:r>
                          <a:rPr lang="en-GB" sz="1400" i="1">
                            <a:latin typeface="Cambria Math" panose="02040503050406030204" pitchFamily="18" charset="0"/>
                          </a:rPr>
                          <m:t>9</m:t>
                        </m:r>
                      </m:num>
                      <m:den>
                        <m:r>
                          <a:rPr lang="en-GB" sz="1400" i="1">
                            <a:latin typeface="Cambria Math" panose="02040503050406030204" pitchFamily="18" charset="0"/>
                          </a:rPr>
                          <m:t>2</m:t>
                        </m:r>
                      </m:den>
                    </m:f>
                    <m:r>
                      <a:rPr lang="en-GB" sz="1400" i="1">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9</m:t>
                        </m:r>
                      </m:num>
                      <m:den>
                        <m:r>
                          <a:rPr lang="en-GB" sz="1400" i="1">
                            <a:latin typeface="Cambria Math" panose="02040503050406030204" pitchFamily="18" charset="0"/>
                          </a:rPr>
                          <m:t>2</m:t>
                        </m:r>
                      </m:den>
                    </m:f>
                  </m:oMath>
                </a14:m>
                <a:endParaRPr lang="en-GB" sz="1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2398688" y="4245472"/>
                <a:ext cx="3705696" cy="2491195"/>
              </a:xfrm>
              <a:prstGeom prst="rect">
                <a:avLst/>
              </a:prstGeom>
              <a:blipFill>
                <a:blip r:embed="rId8"/>
                <a:stretch>
                  <a:fillRect l="-493" t="-244"/>
                </a:stretch>
              </a:blipFill>
            </p:spPr>
            <p:txBody>
              <a:bodyPr/>
              <a:lstStyle/>
              <a:p>
                <a:r>
                  <a:rPr lang="en-GB">
                    <a:noFill/>
                  </a:rPr>
                  <a:t> </a:t>
                </a:r>
              </a:p>
            </p:txBody>
          </p:sp>
        </mc:Fallback>
      </mc:AlternateContent>
      <p:sp>
        <p:nvSpPr>
          <p:cNvPr id="35" name="Rectangle 34"/>
          <p:cNvSpPr/>
          <p:nvPr/>
        </p:nvSpPr>
        <p:spPr>
          <a:xfrm>
            <a:off x="2027771" y="4226449"/>
            <a:ext cx="7697254" cy="255579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0476101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000"/>
                                        <p:tgtEl>
                                          <p:spTgt spid="28"/>
                                        </p:tgtEl>
                                      </p:cBhvr>
                                    </p:animEffect>
                                    <p:set>
                                      <p:cBhvr>
                                        <p:cTn id="7" dur="1" fill="hold">
                                          <p:stCondLst>
                                            <p:cond delay="19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1"/>
                                        </p:tgtEl>
                                      </p:cBhvr>
                                    </p:animEffect>
                                    <p:set>
                                      <p:cBhvr>
                                        <p:cTn id="13"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14" restart="whenNotActive" fill="hold" evtFilter="cancelBubble" nodeType="interactiveSeq">
                <p:stCondLst>
                  <p:cond evt="onClick" delay="0">
                    <p:tgtEl>
                      <p:spTgt spid="3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5"/>
                                        </p:tgtEl>
                                      </p:cBhvr>
                                    </p:animEffect>
                                    <p:set>
                                      <p:cBhvr>
                                        <p:cTn id="19"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childTnLst>
        </p:cTn>
      </p:par>
    </p:tnLst>
    <p:bldLst>
      <p:bldP spid="28" grpId="0" animBg="1"/>
      <p:bldP spid="31" grpId="0" animBg="1"/>
      <p:bldP spid="35" grpId="0" animBg="1"/>
    </p:bldLst>
  </p:timing>
</p:sld>
</file>

<file path=ppt/c13/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 Harder One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3164115" y="1476468"/>
            <a:ext cx="2953" cy="250044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2093009" y="3470717"/>
            <a:ext cx="3756248" cy="2722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nvGrpSpPr>
          <p:cNvPr id="19" name="Group 18"/>
          <p:cNvGrpSpPr/>
          <p:nvPr/>
        </p:nvGrpSpPr>
        <p:grpSpPr>
          <a:xfrm>
            <a:off x="2298966" y="1678902"/>
            <a:ext cx="3941050" cy="2110139"/>
            <a:chOff x="774966" y="1678901"/>
            <a:chExt cx="7037394" cy="4469958"/>
          </a:xfrm>
        </p:grpSpPr>
        <p:sp>
          <p:nvSpPr>
            <p:cNvPr id="5" name="Freeform 1"/>
            <p:cNvSpPr/>
            <p:nvPr/>
          </p:nvSpPr>
          <p:spPr>
            <a:xfrm>
              <a:off x="2357602" y="3299791"/>
              <a:ext cx="4094922" cy="2226366"/>
            </a:xfrm>
            <a:custGeom>
              <a:avLst/>
              <a:gdLst>
                <a:gd name="connsiteX0" fmla="*/ 0 w 4094922"/>
                <a:gd name="connsiteY0" fmla="*/ 2218414 h 2226366"/>
                <a:gd name="connsiteX1" fmla="*/ 2536467 w 4094922"/>
                <a:gd name="connsiteY1" fmla="*/ 2226366 h 2226366"/>
                <a:gd name="connsiteX2" fmla="*/ 2830665 w 4094922"/>
                <a:gd name="connsiteY2" fmla="*/ 1876508 h 2226366"/>
                <a:gd name="connsiteX3" fmla="*/ 3108960 w 4094922"/>
                <a:gd name="connsiteY3" fmla="*/ 1478943 h 2226366"/>
                <a:gd name="connsiteX4" fmla="*/ 3530380 w 4094922"/>
                <a:gd name="connsiteY4" fmla="*/ 898498 h 2226366"/>
                <a:gd name="connsiteX5" fmla="*/ 4094922 w 4094922"/>
                <a:gd name="connsiteY5" fmla="*/ 0 h 2226366"/>
                <a:gd name="connsiteX6" fmla="*/ 0 w 4094922"/>
                <a:gd name="connsiteY6" fmla="*/ 2218414 h 222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4922" h="2226366">
                  <a:moveTo>
                    <a:pt x="0" y="2218414"/>
                  </a:moveTo>
                  <a:lnTo>
                    <a:pt x="2536467" y="2226366"/>
                  </a:lnTo>
                  <a:lnTo>
                    <a:pt x="2830665" y="1876508"/>
                  </a:lnTo>
                  <a:lnTo>
                    <a:pt x="3108960" y="1478943"/>
                  </a:lnTo>
                  <a:lnTo>
                    <a:pt x="3530380" y="898498"/>
                  </a:lnTo>
                  <a:lnTo>
                    <a:pt x="4094922" y="0"/>
                  </a:lnTo>
                  <a:lnTo>
                    <a:pt x="0" y="2218414"/>
                  </a:lnTo>
                  <a:close/>
                </a:path>
              </a:pathLst>
            </a:custGeom>
            <a:solidFill>
              <a:srgbClr val="FFFF0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4"/>
            <p:cNvSpPr/>
            <p:nvPr/>
          </p:nvSpPr>
          <p:spPr>
            <a:xfrm rot="10800000">
              <a:off x="774966" y="1678901"/>
              <a:ext cx="6624736" cy="4469958"/>
            </a:xfrm>
            <a:custGeom>
              <a:avLst/>
              <a:gdLst>
                <a:gd name="connsiteX0" fmla="*/ 0 w 4659465"/>
                <a:gd name="connsiteY0" fmla="*/ 4438153 h 4469958"/>
                <a:gd name="connsiteX1" fmla="*/ 842838 w 4659465"/>
                <a:gd name="connsiteY1" fmla="*/ 2474181 h 4469958"/>
                <a:gd name="connsiteX2" fmla="*/ 1693628 w 4659465"/>
                <a:gd name="connsiteY2" fmla="*/ 748748 h 4469958"/>
                <a:gd name="connsiteX3" fmla="*/ 2409245 w 4659465"/>
                <a:gd name="connsiteY3" fmla="*/ 80838 h 4469958"/>
                <a:gd name="connsiteX4" fmla="*/ 3252084 w 4659465"/>
                <a:gd name="connsiteY4" fmla="*/ 263718 h 4469958"/>
                <a:gd name="connsiteX5" fmla="*/ 3864334 w 4659465"/>
                <a:gd name="connsiteY5" fmla="*/ 1329193 h 4469958"/>
                <a:gd name="connsiteX6" fmla="*/ 4301656 w 4659465"/>
                <a:gd name="connsiteY6" fmla="*/ 2736574 h 4469958"/>
                <a:gd name="connsiteX7" fmla="*/ 4659465 w 4659465"/>
                <a:gd name="connsiteY7" fmla="*/ 4469958 h 446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9465" h="4469958">
                  <a:moveTo>
                    <a:pt x="0" y="4438153"/>
                  </a:moveTo>
                  <a:cubicBezTo>
                    <a:pt x="280283" y="3763617"/>
                    <a:pt x="560567" y="3089082"/>
                    <a:pt x="842838" y="2474181"/>
                  </a:cubicBezTo>
                  <a:cubicBezTo>
                    <a:pt x="1125109" y="1859280"/>
                    <a:pt x="1432560" y="1147638"/>
                    <a:pt x="1693628" y="748748"/>
                  </a:cubicBezTo>
                  <a:cubicBezTo>
                    <a:pt x="1954696" y="349858"/>
                    <a:pt x="2149502" y="161676"/>
                    <a:pt x="2409245" y="80838"/>
                  </a:cubicBezTo>
                  <a:cubicBezTo>
                    <a:pt x="2668988" y="0"/>
                    <a:pt x="3009569" y="55659"/>
                    <a:pt x="3252084" y="263718"/>
                  </a:cubicBezTo>
                  <a:cubicBezTo>
                    <a:pt x="3494599" y="471777"/>
                    <a:pt x="3689405" y="917050"/>
                    <a:pt x="3864334" y="1329193"/>
                  </a:cubicBezTo>
                  <a:cubicBezTo>
                    <a:pt x="4039263" y="1741336"/>
                    <a:pt x="4169134" y="2213113"/>
                    <a:pt x="4301656" y="2736574"/>
                  </a:cubicBezTo>
                  <a:cubicBezTo>
                    <a:pt x="4434178" y="3260035"/>
                    <a:pt x="4546821" y="3864996"/>
                    <a:pt x="4659465" y="4469958"/>
                  </a:cubicBez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cxnSp>
          <p:nvCxnSpPr>
            <p:cNvPr id="9" name="Straight Connector 8"/>
            <p:cNvCxnSpPr/>
            <p:nvPr/>
          </p:nvCxnSpPr>
          <p:spPr>
            <a:xfrm flipV="1">
              <a:off x="1562472" y="2564904"/>
              <a:ext cx="6249888" cy="3350866"/>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1" name="TextBox 10"/>
              <p:cNvSpPr txBox="1"/>
              <p:nvPr/>
            </p:nvSpPr>
            <p:spPr>
              <a:xfrm rot="20336514">
                <a:off x="3627511" y="2578348"/>
                <a:ext cx="136815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𝑦</m:t>
                      </m:r>
                      <m:r>
                        <a:rPr lang="en-GB" i="1" dirty="0">
                          <a:latin typeface="Cambria Math" panose="02040503050406030204" pitchFamily="18" charset="0"/>
                        </a:rPr>
                        <m:t>=2</m:t>
                      </m:r>
                      <m:r>
                        <a:rPr lang="en-GB" i="1" dirty="0">
                          <a:latin typeface="Cambria Math" panose="02040503050406030204" pitchFamily="18" charset="0"/>
                        </a:rPr>
                        <m:t>𝑥</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rot="20336514">
                <a:off x="3627511" y="2578348"/>
                <a:ext cx="1368152"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811016" y="3464024"/>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𝑂</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2811016" y="3464024"/>
                <a:ext cx="576064" cy="369332"/>
              </a:xfrm>
              <a:prstGeom prst="rect">
                <a:avLst/>
              </a:prstGeom>
              <a:blipFill>
                <a:blip r:embed="rId3"/>
                <a:stretch>
                  <a:fillRect/>
                </a:stretch>
              </a:blipFill>
            </p:spPr>
            <p:txBody>
              <a:bodyPr/>
              <a:lstStyle/>
              <a:p>
                <a:r>
                  <a:rPr lang="en-GB">
                    <a:noFill/>
                  </a:rPr>
                  <a:t> </a:t>
                </a:r>
              </a:p>
            </p:txBody>
          </p:sp>
        </mc:Fallback>
      </mc:AlternateContent>
      <p:cxnSp>
        <p:nvCxnSpPr>
          <p:cNvPr id="13" name="Straight Connector 12"/>
          <p:cNvCxnSpPr/>
          <p:nvPr/>
        </p:nvCxnSpPr>
        <p:spPr>
          <a:xfrm flipH="1">
            <a:off x="5422900" y="2459484"/>
            <a:ext cx="30708" cy="1045716"/>
          </a:xfrm>
          <a:prstGeom prst="line">
            <a:avLst/>
          </a:prstGeom>
          <a:ln>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5140676" y="2131135"/>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𝐶</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5140676" y="2131135"/>
                <a:ext cx="576064"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4369807" y="3411725"/>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𝐴</m:t>
                      </m:r>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4369807" y="3411725"/>
                <a:ext cx="576064"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134868" y="3487308"/>
                <a:ext cx="576064"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𝐵</m:t>
                      </m:r>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5134868" y="3487308"/>
                <a:ext cx="576064"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rot="4118566">
                <a:off x="1916970" y="2140606"/>
                <a:ext cx="17546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𝑦</m:t>
                      </m:r>
                      <m:r>
                        <a:rPr lang="en-GB" i="1" dirty="0">
                          <a:latin typeface="Cambria Math" panose="02040503050406030204" pitchFamily="18" charset="0"/>
                        </a:rPr>
                        <m:t>=</m:t>
                      </m:r>
                      <m:r>
                        <a:rPr lang="en-GB" i="1" dirty="0">
                          <a:latin typeface="Cambria Math" panose="02040503050406030204" pitchFamily="18" charset="0"/>
                        </a:rPr>
                        <m:t>𝑥</m:t>
                      </m:r>
                      <m:r>
                        <a:rPr lang="en-GB" i="1" dirty="0">
                          <a:latin typeface="Cambria Math" panose="02040503050406030204" pitchFamily="18" charset="0"/>
                        </a:rPr>
                        <m:t>(</m:t>
                      </m:r>
                      <m:r>
                        <a:rPr lang="en-GB" i="1" dirty="0">
                          <a:latin typeface="Cambria Math" panose="02040503050406030204" pitchFamily="18" charset="0"/>
                        </a:rPr>
                        <m:t>𝑥</m:t>
                      </m:r>
                      <m:r>
                        <a:rPr lang="en-GB" i="1" dirty="0">
                          <a:latin typeface="Cambria Math" panose="02040503050406030204" pitchFamily="18" charset="0"/>
                        </a:rPr>
                        <m:t>−3)</m:t>
                      </m:r>
                    </m:oMath>
                  </m:oMathPara>
                </a14:m>
                <a:endParaRPr lang="en-GB" dirty="0"/>
              </a:p>
            </p:txBody>
          </p:sp>
        </mc:Choice>
        <mc:Fallback xmlns="">
          <p:sp>
            <p:nvSpPr>
              <p:cNvPr id="26" name="TextBox 25"/>
              <p:cNvSpPr txBox="1">
                <a:spLocks noRot="1" noChangeAspect="1" noMove="1" noResize="1" noEditPoints="1" noAdjustHandles="1" noChangeArrowheads="1" noChangeShapeType="1" noTextEdit="1"/>
              </p:cNvSpPr>
              <p:nvPr/>
            </p:nvSpPr>
            <p:spPr>
              <a:xfrm rot="4118566">
                <a:off x="1916970" y="2140606"/>
                <a:ext cx="1754632"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636060" y="1052736"/>
                <a:ext cx="3276364"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[Textbook] The diagram shows a sketch of the curve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𝑥</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oMath>
                </a14:m>
                <a:r>
                  <a:rPr lang="en-GB" dirty="0"/>
                  <a:t> and the line with equation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=2</m:t>
                    </m:r>
                    <m:r>
                      <a:rPr lang="en-GB" i="1">
                        <a:latin typeface="Cambria Math" panose="02040503050406030204" pitchFamily="18" charset="0"/>
                      </a:rPr>
                      <m:t>𝑥</m:t>
                    </m:r>
                  </m:oMath>
                </a14:m>
                <a:r>
                  <a:rPr lang="en-GB" dirty="0"/>
                  <a:t>.</a:t>
                </a:r>
              </a:p>
              <a:p>
                <a:r>
                  <a:rPr lang="en-GB" dirty="0"/>
                  <a:t>Find the area of the shaded region </a:t>
                </a:r>
                <a14:m>
                  <m:oMath xmlns:m="http://schemas.openxmlformats.org/officeDocument/2006/math">
                    <m:r>
                      <a:rPr lang="en-GB" i="1">
                        <a:latin typeface="Cambria Math" panose="02040503050406030204" pitchFamily="18" charset="0"/>
                      </a:rPr>
                      <m:t>𝑂𝐴𝐶</m:t>
                    </m:r>
                  </m:oMath>
                </a14:m>
                <a:r>
                  <a:rPr lang="en-GB" dirty="0"/>
                  <a:t>.</a:t>
                </a:r>
              </a:p>
            </p:txBody>
          </p:sp>
        </mc:Choice>
        <mc:Fallback xmlns="">
          <p:sp>
            <p:nvSpPr>
              <p:cNvPr id="27" name="TextBox 26"/>
              <p:cNvSpPr txBox="1">
                <a:spLocks noRot="1" noChangeAspect="1" noMove="1" noResize="1" noEditPoints="1" noAdjustHandles="1" noChangeArrowheads="1" noChangeShapeType="1" noTextEdit="1"/>
              </p:cNvSpPr>
              <p:nvPr/>
            </p:nvSpPr>
            <p:spPr>
              <a:xfrm>
                <a:off x="6636060" y="1052736"/>
                <a:ext cx="3276364" cy="1754326"/>
              </a:xfrm>
              <a:prstGeom prst="rect">
                <a:avLst/>
              </a:prstGeom>
              <a:blipFill>
                <a:blip r:embed="rId8"/>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74172" y="3020442"/>
                <a:ext cx="4074492" cy="923330"/>
              </a:xfrm>
              <a:prstGeom prst="rect">
                <a:avLst/>
              </a:prstGeom>
              <a:noFill/>
            </p:spPr>
            <p:txBody>
              <a:bodyPr wrap="square" rtlCol="0">
                <a:spAutoFit/>
              </a:bodyPr>
              <a:lstStyle/>
              <a:p>
                <a:r>
                  <a:rPr lang="en-GB" dirty="0"/>
                  <a:t>What areas should we subtract this time?</a:t>
                </a:r>
              </a:p>
              <a:p>
                <a:r>
                  <a:rPr lang="en-GB" b="1" dirty="0"/>
                  <a:t>Start with triangle </a:t>
                </a:r>
                <a14:m>
                  <m:oMath xmlns:m="http://schemas.openxmlformats.org/officeDocument/2006/math">
                    <m:r>
                      <a:rPr lang="en-GB" b="1" i="1">
                        <a:latin typeface="Cambria Math" panose="02040503050406030204" pitchFamily="18" charset="0"/>
                      </a:rPr>
                      <m:t>𝑶𝑩𝑪</m:t>
                    </m:r>
                  </m:oMath>
                </a14:m>
                <a:r>
                  <a:rPr lang="en-GB" b="1" dirty="0"/>
                  <a:t> and subtract the area under the curve </a:t>
                </a:r>
                <a14:m>
                  <m:oMath xmlns:m="http://schemas.openxmlformats.org/officeDocument/2006/math">
                    <m:r>
                      <a:rPr lang="en-GB" b="1" i="1">
                        <a:latin typeface="Cambria Math" panose="02040503050406030204" pitchFamily="18" charset="0"/>
                      </a:rPr>
                      <m:t>𝑨𝑪</m:t>
                    </m:r>
                  </m:oMath>
                </a14:m>
                <a:r>
                  <a:rPr lang="en-GB" b="1" dirty="0"/>
                  <a:t>.</a:t>
                </a:r>
              </a:p>
            </p:txBody>
          </p:sp>
        </mc:Choice>
        <mc:Fallback xmlns="">
          <p:sp>
            <p:nvSpPr>
              <p:cNvPr id="28" name="TextBox 27"/>
              <p:cNvSpPr txBox="1">
                <a:spLocks noRot="1" noChangeAspect="1" noMove="1" noResize="1" noEditPoints="1" noAdjustHandles="1" noChangeArrowheads="1" noChangeShapeType="1" noTextEdit="1"/>
              </p:cNvSpPr>
              <p:nvPr/>
            </p:nvSpPr>
            <p:spPr>
              <a:xfrm>
                <a:off x="6274172" y="3020442"/>
                <a:ext cx="4074492" cy="923330"/>
              </a:xfrm>
              <a:prstGeom prst="rect">
                <a:avLst/>
              </a:prstGeom>
              <a:blipFill>
                <a:blip r:embed="rId9"/>
                <a:stretch>
                  <a:fillRect l="-1196" t="-3289" r="-1644" b="-9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2863900" y="4073004"/>
                <a:ext cx="4536504" cy="2666756"/>
              </a:xfrm>
              <a:prstGeom prst="rect">
                <a:avLst/>
              </a:prstGeom>
              <a:noFill/>
            </p:spPr>
            <p:txBody>
              <a:bodyPr wrap="square" rtlCol="0">
                <a:spAutoFit/>
              </a:bodyPr>
              <a:lstStyle/>
              <a:p>
                <a:r>
                  <a:rPr lang="en-GB" sz="1600" b="1" dirty="0"/>
                  <a:t>First find points of intersection:</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𝒙</m:t>
                      </m:r>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𝟑</m:t>
                          </m:r>
                        </m:e>
                      </m:d>
                      <m:r>
                        <a:rPr lang="en-GB" sz="1600" b="1" i="1">
                          <a:latin typeface="Cambria Math" panose="02040503050406030204" pitchFamily="18" charset="0"/>
                        </a:rPr>
                        <m:t>=</m:t>
                      </m:r>
                      <m:r>
                        <a:rPr lang="en-GB" sz="1600" b="1" i="1">
                          <a:latin typeface="Cambria Math" panose="02040503050406030204" pitchFamily="18" charset="0"/>
                        </a:rPr>
                        <m:t>𝟐</m:t>
                      </m:r>
                      <m:r>
                        <a:rPr lang="en-GB" sz="1600" b="1" i="1">
                          <a:latin typeface="Cambria Math" panose="02040503050406030204" pitchFamily="18" charset="0"/>
                        </a:rPr>
                        <m:t>𝒙</m:t>
                      </m:r>
                      <m:r>
                        <a:rPr lang="en-GB" sz="1600" b="1" i="1">
                          <a:latin typeface="Cambria Math" panose="02040503050406030204" pitchFamily="18" charset="0"/>
                        </a:rPr>
                        <m:t>   →  </m:t>
                      </m:r>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𝟎</m:t>
                      </m:r>
                      <m:r>
                        <a:rPr lang="en-GB" sz="1600" b="1" i="1">
                          <a:latin typeface="Cambria Math" panose="02040503050406030204" pitchFamily="18" charset="0"/>
                        </a:rPr>
                        <m:t> </m:t>
                      </m:r>
                      <m:r>
                        <a:rPr lang="en-GB" sz="1600" b="1" i="1">
                          <a:latin typeface="Cambria Math" panose="02040503050406030204" pitchFamily="18" charset="0"/>
                        </a:rPr>
                        <m:t>𝒐𝒓</m:t>
                      </m:r>
                      <m:r>
                        <a:rPr lang="en-GB" sz="1600" b="1" i="1">
                          <a:latin typeface="Cambria Math" panose="02040503050406030204" pitchFamily="18" charset="0"/>
                        </a:rPr>
                        <m:t> </m:t>
                      </m:r>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𝟓</m:t>
                      </m:r>
                    </m:oMath>
                  </m:oMathPara>
                </a14:m>
                <a:endParaRPr lang="en-GB" sz="1600" b="1" dirty="0"/>
              </a:p>
              <a:p>
                <a:r>
                  <a:rPr lang="en-GB" sz="1600" b="1" dirty="0"/>
                  <a:t>When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𝟓</m:t>
                    </m:r>
                    <m:r>
                      <a:rPr lang="en-GB" sz="1600" b="1" i="1">
                        <a:latin typeface="Cambria Math" panose="02040503050406030204" pitchFamily="18" charset="0"/>
                      </a:rPr>
                      <m:t>,  </m:t>
                    </m:r>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𝟏𝟎</m:t>
                    </m:r>
                    <m:r>
                      <a:rPr lang="en-GB" sz="1600" b="1" i="1">
                        <a:latin typeface="Cambria Math" panose="02040503050406030204" pitchFamily="18" charset="0"/>
                      </a:rPr>
                      <m:t>    →   </m:t>
                    </m:r>
                    <m:r>
                      <a:rPr lang="en-GB" sz="1600" b="1" i="1">
                        <a:latin typeface="Cambria Math" panose="02040503050406030204" pitchFamily="18" charset="0"/>
                      </a:rPr>
                      <m:t>𝑪</m:t>
                    </m:r>
                    <m:d>
                      <m:dPr>
                        <m:ctrlPr>
                          <a:rPr lang="en-GB" sz="1600" b="1" i="1">
                            <a:latin typeface="Cambria Math" panose="02040503050406030204" pitchFamily="18" charset="0"/>
                          </a:rPr>
                        </m:ctrlPr>
                      </m:dPr>
                      <m:e>
                        <m:r>
                          <a:rPr lang="en-GB" sz="1600" b="1" i="1">
                            <a:latin typeface="Cambria Math" panose="02040503050406030204" pitchFamily="18" charset="0"/>
                          </a:rPr>
                          <m:t>𝟓</m:t>
                        </m:r>
                        <m:r>
                          <a:rPr lang="en-GB" sz="1600" b="1" i="1">
                            <a:latin typeface="Cambria Math" panose="02040503050406030204" pitchFamily="18" charset="0"/>
                          </a:rPr>
                          <m:t>,</m:t>
                        </m:r>
                        <m:r>
                          <a:rPr lang="en-GB" sz="1600" b="1" i="1">
                            <a:latin typeface="Cambria Math" panose="02040503050406030204" pitchFamily="18" charset="0"/>
                          </a:rPr>
                          <m:t>𝟏𝟎</m:t>
                        </m:r>
                      </m:e>
                    </m:d>
                  </m:oMath>
                </a14:m>
                <a:endParaRPr lang="en-GB" sz="1600" b="1" dirty="0"/>
              </a:p>
              <a:p>
                <a:r>
                  <a:rPr lang="en-GB" sz="1600" b="1" dirty="0"/>
                  <a:t>Also need to find the point </a:t>
                </a:r>
                <a14:m>
                  <m:oMath xmlns:m="http://schemas.openxmlformats.org/officeDocument/2006/math">
                    <m:r>
                      <a:rPr lang="en-GB" sz="1600" b="1" i="1">
                        <a:latin typeface="Cambria Math" panose="02040503050406030204" pitchFamily="18" charset="0"/>
                      </a:rPr>
                      <m:t>𝑨</m:t>
                    </m:r>
                  </m:oMath>
                </a14:m>
                <a:r>
                  <a:rPr lang="en-GB" sz="1600" b="1" dirty="0"/>
                  <a:t>:</a:t>
                </a:r>
              </a:p>
              <a:p>
                <a:pPr/>
                <a14:m>
                  <m:oMathPara xmlns:m="http://schemas.openxmlformats.org/officeDocument/2006/math">
                    <m:oMathParaPr>
                      <m:jc m:val="centerGroup"/>
                    </m:oMathParaPr>
                    <m:oMath xmlns:m="http://schemas.openxmlformats.org/officeDocument/2006/math">
                      <m:r>
                        <a:rPr lang="en-GB" sz="1600" b="1" i="1">
                          <a:latin typeface="Cambria Math" panose="02040503050406030204" pitchFamily="18" charset="0"/>
                        </a:rPr>
                        <m:t>𝒙</m:t>
                      </m:r>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𝟑</m:t>
                          </m:r>
                        </m:e>
                      </m:d>
                      <m:r>
                        <a:rPr lang="en-GB" sz="1600" b="1" i="1">
                          <a:latin typeface="Cambria Math" panose="02040503050406030204" pitchFamily="18" charset="0"/>
                        </a:rPr>
                        <m:t>=</m:t>
                      </m:r>
                      <m:r>
                        <a:rPr lang="en-GB" sz="1600" b="1" i="1">
                          <a:latin typeface="Cambria Math" panose="02040503050406030204" pitchFamily="18" charset="0"/>
                        </a:rPr>
                        <m:t>𝟎</m:t>
                      </m:r>
                      <m:r>
                        <a:rPr lang="en-GB" sz="1600" b="1" i="1">
                          <a:latin typeface="Cambria Math" panose="02040503050406030204" pitchFamily="18" charset="0"/>
                        </a:rPr>
                        <m:t>   →    </m:t>
                      </m:r>
                      <m:r>
                        <a:rPr lang="en-GB" sz="1600" b="1" i="1">
                          <a:latin typeface="Cambria Math" panose="02040503050406030204" pitchFamily="18" charset="0"/>
                        </a:rPr>
                        <m:t>𝑨</m:t>
                      </m:r>
                      <m:r>
                        <a:rPr lang="en-GB" sz="1600" b="1" i="1">
                          <a:latin typeface="Cambria Math" panose="02040503050406030204" pitchFamily="18" charset="0"/>
                        </a:rPr>
                        <m:t>(</m:t>
                      </m:r>
                      <m:r>
                        <a:rPr lang="en-GB" sz="1600" b="1" i="1">
                          <a:latin typeface="Cambria Math" panose="02040503050406030204" pitchFamily="18" charset="0"/>
                        </a:rPr>
                        <m:t>𝟑</m:t>
                      </m:r>
                      <m:r>
                        <a:rPr lang="en-GB" sz="1600" b="1" i="1">
                          <a:latin typeface="Cambria Math" panose="02040503050406030204" pitchFamily="18" charset="0"/>
                        </a:rPr>
                        <m:t>,</m:t>
                      </m:r>
                      <m:r>
                        <a:rPr lang="en-GB" sz="1600" b="1" i="1">
                          <a:latin typeface="Cambria Math" panose="02040503050406030204" pitchFamily="18" charset="0"/>
                        </a:rPr>
                        <m:t>𝟎</m:t>
                      </m:r>
                      <m:r>
                        <a:rPr lang="en-GB" sz="1600" b="1" i="1">
                          <a:latin typeface="Cambria Math" panose="02040503050406030204" pitchFamily="18" charset="0"/>
                        </a:rPr>
                        <m:t>)</m:t>
                      </m:r>
                    </m:oMath>
                  </m:oMathPara>
                </a14:m>
                <a:endParaRPr lang="en-GB" sz="1600" b="1" dirty="0"/>
              </a:p>
              <a:p>
                <a:endParaRPr lang="en-GB" sz="1600" b="1" dirty="0"/>
              </a:p>
              <a:p>
                <a14:m>
                  <m:oMath xmlns:m="http://schemas.openxmlformats.org/officeDocument/2006/math">
                    <m:r>
                      <a:rPr lang="en-GB" sz="1600" b="1" i="1">
                        <a:latin typeface="Cambria Math" panose="02040503050406030204" pitchFamily="18" charset="0"/>
                      </a:rPr>
                      <m:t>∴</m:t>
                    </m:r>
                  </m:oMath>
                </a14:m>
                <a:r>
                  <a:rPr lang="en-GB" sz="1600" b="1" dirty="0"/>
                  <a:t> Area of triangle </a:t>
                </a:r>
                <a14:m>
                  <m:oMath xmlns:m="http://schemas.openxmlformats.org/officeDocument/2006/math">
                    <m:r>
                      <a:rPr lang="en-GB" sz="1600" b="1" i="1">
                        <a:latin typeface="Cambria Math" panose="02040503050406030204" pitchFamily="18" charset="0"/>
                      </a:rPr>
                      <m:t>𝑶𝑩𝑪</m:t>
                    </m:r>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𝟐</m:t>
                        </m:r>
                      </m:den>
                    </m:f>
                    <m:r>
                      <a:rPr lang="en-GB" sz="1600" b="1" i="1">
                        <a:latin typeface="Cambria Math" panose="02040503050406030204" pitchFamily="18" charset="0"/>
                      </a:rPr>
                      <m:t>×</m:t>
                    </m:r>
                    <m:r>
                      <a:rPr lang="en-GB" sz="1600" b="1" i="1">
                        <a:latin typeface="Cambria Math" panose="02040503050406030204" pitchFamily="18" charset="0"/>
                      </a:rPr>
                      <m:t>𝟓</m:t>
                    </m:r>
                    <m:r>
                      <a:rPr lang="en-GB" sz="1600" b="1" i="1">
                        <a:latin typeface="Cambria Math" panose="02040503050406030204" pitchFamily="18" charset="0"/>
                      </a:rPr>
                      <m:t>×</m:t>
                    </m:r>
                    <m:r>
                      <a:rPr lang="en-GB" sz="1600" b="1" i="1">
                        <a:latin typeface="Cambria Math" panose="02040503050406030204" pitchFamily="18" charset="0"/>
                      </a:rPr>
                      <m:t>𝟏𝟎</m:t>
                    </m:r>
                    <m:r>
                      <a:rPr lang="en-GB" sz="1600" b="1" i="1">
                        <a:latin typeface="Cambria Math" panose="02040503050406030204" pitchFamily="18" charset="0"/>
                      </a:rPr>
                      <m:t>=</m:t>
                    </m:r>
                    <m:r>
                      <a:rPr lang="en-GB" sz="1600" b="1" i="1">
                        <a:latin typeface="Cambria Math" panose="02040503050406030204" pitchFamily="18" charset="0"/>
                      </a:rPr>
                      <m:t>𝟐𝟓</m:t>
                    </m:r>
                  </m:oMath>
                </a14:m>
                <a:endParaRPr lang="en-GB" sz="1600" b="1" dirty="0"/>
              </a:p>
              <a:p>
                <a:r>
                  <a:rPr lang="en-GB" sz="1600" b="1" dirty="0"/>
                  <a:t>Area under </a:t>
                </a:r>
                <a14:m>
                  <m:oMath xmlns:m="http://schemas.openxmlformats.org/officeDocument/2006/math">
                    <m:r>
                      <a:rPr lang="en-GB" sz="1600" b="1" i="1">
                        <a:latin typeface="Cambria Math" panose="02040503050406030204" pitchFamily="18" charset="0"/>
                      </a:rPr>
                      <m:t>𝑨𝑪</m:t>
                    </m:r>
                  </m:oMath>
                </a14:m>
                <a:r>
                  <a:rPr lang="en-GB" sz="1600" b="1" dirty="0"/>
                  <a:t>:   </a:t>
                </a:r>
                <a14:m>
                  <m:oMath xmlns:m="http://schemas.openxmlformats.org/officeDocument/2006/math">
                    <m:nary>
                      <m:naryPr>
                        <m:ctrlPr>
                          <a:rPr lang="en-GB" sz="1600" b="1" i="1">
                            <a:latin typeface="Cambria Math" panose="02040503050406030204" pitchFamily="18" charset="0"/>
                          </a:rPr>
                        </m:ctrlPr>
                      </m:naryPr>
                      <m:sub>
                        <m:r>
                          <a:rPr lang="en-GB" sz="1600" b="1" i="1">
                            <a:latin typeface="Cambria Math" panose="02040503050406030204" pitchFamily="18" charset="0"/>
                          </a:rPr>
                          <m:t>𝟑</m:t>
                        </m:r>
                      </m:sub>
                      <m:sup>
                        <m:r>
                          <a:rPr lang="en-GB" sz="1600" b="1" i="1">
                            <a:latin typeface="Cambria Math" panose="02040503050406030204" pitchFamily="18" charset="0"/>
                          </a:rPr>
                          <m:t>𝟓</m:t>
                        </m:r>
                      </m:sup>
                      <m:e>
                        <m:r>
                          <a:rPr lang="en-GB" sz="1600" b="1" i="1">
                            <a:latin typeface="Cambria Math" panose="02040503050406030204" pitchFamily="18" charset="0"/>
                          </a:rPr>
                          <m:t>𝒙</m:t>
                        </m:r>
                        <m:d>
                          <m:dPr>
                            <m:ctrlPr>
                              <a:rPr lang="en-GB" sz="1600" b="1" i="1">
                                <a:latin typeface="Cambria Math" panose="02040503050406030204" pitchFamily="18" charset="0"/>
                              </a:rPr>
                            </m:ctrlPr>
                          </m:dPr>
                          <m:e>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𝟑</m:t>
                            </m:r>
                          </m:e>
                        </m:d>
                        <m:r>
                          <a:rPr lang="en-GB" sz="1600" b="1" i="1">
                            <a:latin typeface="Cambria Math" panose="02040503050406030204" pitchFamily="18" charset="0"/>
                          </a:rPr>
                          <m:t>𝒅𝒙</m:t>
                        </m:r>
                      </m:e>
                    </m:nary>
                    <m:r>
                      <a:rPr lang="en-GB" sz="1600" b="1" i="1">
                        <a:latin typeface="Cambria Math" panose="02040503050406030204" pitchFamily="18" charset="0"/>
                      </a:rPr>
                      <m:t>= …=</m:t>
                    </m:r>
                    <m:f>
                      <m:fPr>
                        <m:ctrlPr>
                          <a:rPr lang="en-GB" sz="1600" b="1" i="1">
                            <a:latin typeface="Cambria Math" panose="02040503050406030204" pitchFamily="18" charset="0"/>
                          </a:rPr>
                        </m:ctrlPr>
                      </m:fPr>
                      <m:num>
                        <m:r>
                          <a:rPr lang="en-GB" sz="1600" b="1" i="1">
                            <a:latin typeface="Cambria Math" panose="02040503050406030204" pitchFamily="18" charset="0"/>
                          </a:rPr>
                          <m:t>𝟐𝟔</m:t>
                        </m:r>
                      </m:num>
                      <m:den>
                        <m:r>
                          <a:rPr lang="en-GB" sz="1600" b="1" i="1">
                            <a:latin typeface="Cambria Math" panose="02040503050406030204" pitchFamily="18" charset="0"/>
                          </a:rPr>
                          <m:t>𝟑</m:t>
                        </m:r>
                      </m:den>
                    </m:f>
                  </m:oMath>
                </a14:m>
                <a:endParaRPr lang="en-GB" sz="1600" b="1" dirty="0"/>
              </a:p>
              <a:p>
                <a14:m>
                  <m:oMath xmlns:m="http://schemas.openxmlformats.org/officeDocument/2006/math">
                    <m:r>
                      <a:rPr lang="en-GB" b="1" i="1">
                        <a:latin typeface="Cambria Math" panose="02040503050406030204" pitchFamily="18" charset="0"/>
                      </a:rPr>
                      <m:t>∴</m:t>
                    </m:r>
                  </m:oMath>
                </a14:m>
                <a:r>
                  <a:rPr lang="en-GB" b="1" dirty="0"/>
                  <a:t> Shaded area </a:t>
                </a:r>
                <a14:m>
                  <m:oMath xmlns:m="http://schemas.openxmlformats.org/officeDocument/2006/math">
                    <m:r>
                      <a:rPr lang="en-GB" b="1" i="1">
                        <a:latin typeface="Cambria Math" panose="02040503050406030204" pitchFamily="18" charset="0"/>
                      </a:rPr>
                      <m:t>=</m:t>
                    </m:r>
                    <m:r>
                      <a:rPr lang="en-GB" b="1" i="1">
                        <a:latin typeface="Cambria Math" panose="02040503050406030204" pitchFamily="18" charset="0"/>
                      </a:rPr>
                      <m:t>𝟐𝟓</m:t>
                    </m:r>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𝟐𝟔</m:t>
                        </m:r>
                      </m:num>
                      <m:den>
                        <m:r>
                          <a:rPr lang="en-GB" b="1" i="1">
                            <a:latin typeface="Cambria Math" panose="02040503050406030204" pitchFamily="18" charset="0"/>
                          </a:rPr>
                          <m:t>𝟑</m:t>
                        </m:r>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𝟒𝟗</m:t>
                        </m:r>
                      </m:num>
                      <m:den>
                        <m:r>
                          <a:rPr lang="en-GB" b="1" i="1">
                            <a:latin typeface="Cambria Math" panose="02040503050406030204" pitchFamily="18" charset="0"/>
                          </a:rPr>
                          <m:t>𝟑</m:t>
                        </m:r>
                      </m:den>
                    </m:f>
                  </m:oMath>
                </a14:m>
                <a:endParaRPr lang="en-GB" b="1" dirty="0"/>
              </a:p>
            </p:txBody>
          </p:sp>
        </mc:Choice>
        <mc:Fallback xmlns="">
          <p:sp>
            <p:nvSpPr>
              <p:cNvPr id="29" name="TextBox 28"/>
              <p:cNvSpPr txBox="1">
                <a:spLocks noRot="1" noChangeAspect="1" noMove="1" noResize="1" noEditPoints="1" noAdjustHandles="1" noChangeArrowheads="1" noChangeShapeType="1" noTextEdit="1"/>
              </p:cNvSpPr>
              <p:nvPr/>
            </p:nvSpPr>
            <p:spPr>
              <a:xfrm>
                <a:off x="2863900" y="4073004"/>
                <a:ext cx="4536504" cy="2666756"/>
              </a:xfrm>
              <a:prstGeom prst="rect">
                <a:avLst/>
              </a:prstGeom>
              <a:blipFill>
                <a:blip r:embed="rId10"/>
                <a:stretch>
                  <a:fillRect l="-806" t="-685" b="-10274"/>
                </a:stretch>
              </a:blipFill>
            </p:spPr>
            <p:txBody>
              <a:bodyPr/>
              <a:lstStyle/>
              <a:p>
                <a:r>
                  <a:rPr lang="en-GB">
                    <a:noFill/>
                  </a:rPr>
                  <a:t> </a:t>
                </a:r>
              </a:p>
            </p:txBody>
          </p:sp>
        </mc:Fallback>
      </mc:AlternateContent>
      <p:sp>
        <p:nvSpPr>
          <p:cNvPr id="18" name="Rectangle 17"/>
          <p:cNvSpPr/>
          <p:nvPr/>
        </p:nvSpPr>
        <p:spPr>
          <a:xfrm>
            <a:off x="6331024" y="3376100"/>
            <a:ext cx="3968676" cy="5863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2844800" y="4099992"/>
            <a:ext cx="4267200" cy="266910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2991392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18" grpId="0" animBg="1"/>
      <p:bldP spid="30" grpId="0" animBg="1"/>
    </p:bldLst>
  </p:timing>
</p:sld>
</file>

<file path=ppt/c13/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1775520" y="806157"/>
            <a:ext cx="25202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May 2012 Q5</a:t>
            </a:r>
          </a:p>
        </p:txBody>
      </p:sp>
      <p:pic>
        <p:nvPicPr>
          <p:cNvPr id="9" name="Picture 8"/>
          <p:cNvPicPr>
            <a:picLocks noChangeAspect="1"/>
          </p:cNvPicPr>
          <p:nvPr/>
        </p:nvPicPr>
        <p:blipFill>
          <a:blip r:embed="rId2"/>
          <a:stretch>
            <a:fillRect/>
          </a:stretch>
        </p:blipFill>
        <p:spPr>
          <a:xfrm>
            <a:off x="1775520" y="1175490"/>
            <a:ext cx="8640960" cy="2577129"/>
          </a:xfrm>
          <a:prstGeom prst="rect">
            <a:avLst/>
          </a:prstGeom>
          <a:effectLst>
            <a:outerShdw blurRad="63500" sx="102000" sy="102000" algn="ctr" rotWithShape="0">
              <a:prstClr val="black">
                <a:alpha val="40000"/>
              </a:prstClr>
            </a:outerShdw>
          </a:effectLst>
        </p:spPr>
      </p:pic>
      <mc:AlternateContent xmlns:mc="http://schemas.openxmlformats.org/markup-compatibility/2006" xmlns:a14="http://schemas.microsoft.com/office/drawing/2010/main">
        <mc:Choice Requires="a14">
          <p:sp>
            <p:nvSpPr>
              <p:cNvPr id="10" name="TextBox 9"/>
              <p:cNvSpPr txBox="1"/>
              <p:nvPr/>
            </p:nvSpPr>
            <p:spPr>
              <a:xfrm>
                <a:off x="2457376" y="4541705"/>
                <a:ext cx="22322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𝐴</m:t>
                      </m:r>
                      <m:d>
                        <m:dPr>
                          <m:ctrlPr>
                            <a:rPr lang="en-GB" i="1">
                              <a:latin typeface="Cambria Math" panose="02040503050406030204" pitchFamily="18" charset="0"/>
                            </a:rPr>
                          </m:ctrlPr>
                        </m:dPr>
                        <m:e>
                          <m:r>
                            <a:rPr lang="en-GB" i="1">
                              <a:latin typeface="Cambria Math" panose="02040503050406030204" pitchFamily="18" charset="0"/>
                            </a:rPr>
                            <m:t>2,8</m:t>
                          </m:r>
                        </m:e>
                      </m:d>
                      <m:r>
                        <a:rPr lang="en-GB" i="1">
                          <a:latin typeface="Cambria Math" panose="02040503050406030204" pitchFamily="18" charset="0"/>
                        </a:rPr>
                        <m:t>,  </m:t>
                      </m:r>
                      <m:r>
                        <a:rPr lang="en-GB" i="1">
                          <a:latin typeface="Cambria Math" panose="02040503050406030204" pitchFamily="18" charset="0"/>
                        </a:rPr>
                        <m:t>𝐵</m:t>
                      </m:r>
                      <m:d>
                        <m:dPr>
                          <m:ctrlPr>
                            <a:rPr lang="en-GB" i="1">
                              <a:latin typeface="Cambria Math" panose="02040503050406030204" pitchFamily="18" charset="0"/>
                            </a:rPr>
                          </m:ctrlPr>
                        </m:dPr>
                        <m:e>
                          <m:r>
                            <a:rPr lang="en-GB" i="1">
                              <a:latin typeface="Cambria Math" panose="02040503050406030204" pitchFamily="18" charset="0"/>
                            </a:rPr>
                            <m:t>9,1</m:t>
                          </m:r>
                        </m:e>
                      </m:d>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2457376" y="4541705"/>
                <a:ext cx="2232248"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600251" y="5067783"/>
                <a:ext cx="1656308" cy="485774"/>
              </a:xfrm>
              <a:prstGeom prst="rect">
                <a:avLst/>
              </a:prstGeom>
              <a:noFill/>
            </p:spPr>
            <p:txBody>
              <a:bodyPr wrap="square" rtlCol="0">
                <a:spAutoFit/>
              </a:bodyPr>
              <a:lstStyle/>
              <a:p>
                <a14:m>
                  <m:oMath xmlns:m="http://schemas.openxmlformats.org/officeDocument/2006/math">
                    <m:r>
                      <a:rPr lang="en-GB" i="1">
                        <a:latin typeface="Cambria Math" panose="02040503050406030204" pitchFamily="18" charset="0"/>
                      </a:rPr>
                      <m:t>57</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6</m:t>
                        </m:r>
                      </m:den>
                    </m:f>
                  </m:oMath>
                </a14:m>
                <a:r>
                  <a:rPr lang="en-GB" dirty="0">
                    <a:latin typeface="+mj-lt"/>
                  </a:rPr>
                  <a:t> or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343</m:t>
                        </m:r>
                      </m:num>
                      <m:den>
                        <m:r>
                          <a:rPr lang="en-GB" i="1">
                            <a:latin typeface="Cambria Math" panose="02040503050406030204" pitchFamily="18" charset="0"/>
                          </a:rPr>
                          <m:t>6</m:t>
                        </m:r>
                      </m:den>
                    </m:f>
                  </m:oMath>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2600251" y="5067783"/>
                <a:ext cx="1656308" cy="485774"/>
              </a:xfrm>
              <a:prstGeom prst="rect">
                <a:avLst/>
              </a:prstGeom>
              <a:blipFill>
                <a:blip r:embed="rId4"/>
                <a:stretch>
                  <a:fillRect b="-7500"/>
                </a:stretch>
              </a:blipFill>
            </p:spPr>
            <p:txBody>
              <a:bodyPr/>
              <a:lstStyle/>
              <a:p>
                <a:r>
                  <a:rPr lang="en-GB">
                    <a:noFill/>
                  </a:rPr>
                  <a:t> </a:t>
                </a:r>
              </a:p>
            </p:txBody>
          </p:sp>
        </mc:Fallback>
      </mc:AlternateContent>
      <p:sp>
        <p:nvSpPr>
          <p:cNvPr id="12" name="Rectangle 11"/>
          <p:cNvSpPr/>
          <p:nvPr/>
        </p:nvSpPr>
        <p:spPr>
          <a:xfrm>
            <a:off x="2463874" y="4395275"/>
            <a:ext cx="3079676" cy="51962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a:t>
            </a:r>
          </a:p>
        </p:txBody>
      </p:sp>
      <p:sp>
        <p:nvSpPr>
          <p:cNvPr id="13" name="Rectangle 12"/>
          <p:cNvSpPr/>
          <p:nvPr/>
        </p:nvSpPr>
        <p:spPr>
          <a:xfrm>
            <a:off x="2457376" y="5000461"/>
            <a:ext cx="3079676" cy="51962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b</a:t>
            </a:r>
          </a:p>
        </p:txBody>
      </p:sp>
      <mc:AlternateContent xmlns:mc="http://schemas.openxmlformats.org/markup-compatibility/2006" xmlns:a14="http://schemas.microsoft.com/office/drawing/2010/main">
        <mc:Choice Requires="a14">
          <p:sp>
            <p:nvSpPr>
              <p:cNvPr id="14" name="TextBox 13"/>
              <p:cNvSpPr txBox="1"/>
              <p:nvPr/>
            </p:nvSpPr>
            <p:spPr>
              <a:xfrm>
                <a:off x="6930380" y="4006205"/>
                <a:ext cx="3432821" cy="244156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Alternative Method:</a:t>
                </a:r>
              </a:p>
              <a:p>
                <a:r>
                  <a:rPr lang="en-GB" sz="1600" dirty="0"/>
                  <a:t>If the top curve has equation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and the bottom curve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the area between them is:</a:t>
                </a:r>
              </a:p>
              <a:p>
                <a:pPr/>
                <a14:m>
                  <m:oMathPara xmlns:m="http://schemas.openxmlformats.org/officeDocument/2006/math">
                    <m:oMathParaPr>
                      <m:jc m:val="centerGroup"/>
                    </m:oMathParaPr>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𝑏</m:t>
                          </m:r>
                        </m:sub>
                        <m:sup>
                          <m:r>
                            <a:rPr lang="en-GB" sz="1600" i="1">
                              <a:latin typeface="Cambria Math" panose="02040503050406030204" pitchFamily="18" charset="0"/>
                            </a:rPr>
                            <m:t>𝑎</m:t>
                          </m:r>
                        </m:sup>
                        <m:e>
                          <m:d>
                            <m:dPr>
                              <m:ctrlPr>
                                <a:rPr lang="en-GB" sz="1600" i="1">
                                  <a:latin typeface="Cambria Math" panose="02040503050406030204" pitchFamily="18" charset="0"/>
                                </a:rPr>
                              </m:ctrlPr>
                            </m:dPr>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m:t>
                              </m:r>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e>
                          </m:d>
                          <m:r>
                            <a:rPr lang="en-GB" sz="1600" i="1">
                              <a:latin typeface="Cambria Math" panose="02040503050406030204" pitchFamily="18" charset="0"/>
                            </a:rPr>
                            <m:t> </m:t>
                          </m:r>
                          <m:r>
                            <a:rPr lang="en-GB" sz="1600" i="1">
                              <a:latin typeface="Cambria Math" panose="02040503050406030204" pitchFamily="18" charset="0"/>
                            </a:rPr>
                            <m:t>𝑑𝑥</m:t>
                          </m:r>
                        </m:e>
                      </m:nary>
                    </m:oMath>
                  </m:oMathPara>
                </a14:m>
                <a:endParaRPr lang="en-GB" sz="1600" dirty="0"/>
              </a:p>
              <a:p>
                <a:r>
                  <a:rPr lang="en-GB" sz="1600" dirty="0"/>
                  <a:t>This means you can integrate a single expression to get the final area, without any adjustment required after.</a:t>
                </a:r>
              </a:p>
            </p:txBody>
          </p:sp>
        </mc:Choice>
        <mc:Fallback xmlns="">
          <p:sp>
            <p:nvSpPr>
              <p:cNvPr id="14" name="TextBox 13"/>
              <p:cNvSpPr txBox="1">
                <a:spLocks noRot="1" noChangeAspect="1" noMove="1" noResize="1" noEditPoints="1" noAdjustHandles="1" noChangeArrowheads="1" noChangeShapeType="1" noTextEdit="1"/>
              </p:cNvSpPr>
              <p:nvPr/>
            </p:nvSpPr>
            <p:spPr>
              <a:xfrm>
                <a:off x="6930380" y="4006205"/>
                <a:ext cx="3432821" cy="2441566"/>
              </a:xfrm>
              <a:prstGeom prst="rect">
                <a:avLst/>
              </a:prstGeom>
              <a:blipFill>
                <a:blip r:embed="rId5"/>
                <a:stretch>
                  <a:fillRect l="-705" t="-247"/>
                </a:stretch>
              </a:blipFill>
            </p:spPr>
            <p:txBody>
              <a:bodyPr/>
              <a:lstStyle/>
              <a:p>
                <a:r>
                  <a:rPr lang="en-GB">
                    <a:noFill/>
                  </a:rPr>
                  <a:t> </a:t>
                </a:r>
              </a:p>
            </p:txBody>
          </p:sp>
        </mc:Fallback>
      </mc:AlternateContent>
      <p:sp>
        <p:nvSpPr>
          <p:cNvPr id="15" name="Rectangle 14"/>
          <p:cNvSpPr/>
          <p:nvPr/>
        </p:nvSpPr>
        <p:spPr>
          <a:xfrm>
            <a:off x="1805675" y="4425591"/>
            <a:ext cx="36004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16" name="Rectangle 15"/>
          <p:cNvSpPr/>
          <p:nvPr/>
        </p:nvSpPr>
        <p:spPr>
          <a:xfrm>
            <a:off x="1793685" y="5010212"/>
            <a:ext cx="36004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Tree>
    <p:extLst>
      <p:ext uri="{BB962C8B-B14F-4D97-AF65-F5344CB8AC3E}">
        <p14:creationId xmlns:p14="http://schemas.microsoft.com/office/powerpoint/2010/main" val="35719710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c13/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13G – Y1 pages 304-306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3" name="Picture 12">
            <a:extLst>
              <a:ext uri="{FF2B5EF4-FFF2-40B4-BE49-F238E27FC236}">
                <a16:creationId xmlns:a16="http://schemas.microsoft.com/office/drawing/2014/main" id="{1D0ED3B9-E80C-4E76-3E84-25D371DC44CB}"/>
              </a:ext>
            </a:extLst>
          </p:cNvPr>
          <p:cNvPicPr>
            <a:picLocks noChangeAspect="1"/>
          </p:cNvPicPr>
          <p:nvPr/>
        </p:nvPicPr>
        <p:blipFill>
          <a:blip r:embed="rId2"/>
          <a:stretch>
            <a:fillRect/>
          </a:stretch>
        </p:blipFill>
        <p:spPr>
          <a:xfrm>
            <a:off x="1524000" y="599127"/>
            <a:ext cx="7772400" cy="1756978"/>
          </a:xfrm>
          <a:prstGeom prst="rect">
            <a:avLst/>
          </a:prstGeom>
        </p:spPr>
      </p:pic>
      <p:pic>
        <p:nvPicPr>
          <p:cNvPr id="6" name="Picture 5">
            <a:extLst>
              <a:ext uri="{FF2B5EF4-FFF2-40B4-BE49-F238E27FC236}">
                <a16:creationId xmlns:a16="http://schemas.microsoft.com/office/drawing/2014/main" id="{06185C9B-6C19-1030-4E2F-8A09D505FA03}"/>
              </a:ext>
            </a:extLst>
          </p:cNvPr>
          <p:cNvPicPr>
            <a:picLocks noChangeAspect="1"/>
          </p:cNvPicPr>
          <p:nvPr/>
        </p:nvPicPr>
        <p:blipFill>
          <a:blip r:embed="rId3"/>
          <a:stretch>
            <a:fillRect/>
          </a:stretch>
        </p:blipFill>
        <p:spPr>
          <a:xfrm>
            <a:off x="2279576" y="2708922"/>
            <a:ext cx="3000794" cy="3277057"/>
          </a:xfrm>
          <a:prstGeom prst="rect">
            <a:avLst/>
          </a:prstGeom>
        </p:spPr>
      </p:pic>
      <p:pic>
        <p:nvPicPr>
          <p:cNvPr id="8" name="Picture 7">
            <a:extLst>
              <a:ext uri="{FF2B5EF4-FFF2-40B4-BE49-F238E27FC236}">
                <a16:creationId xmlns:a16="http://schemas.microsoft.com/office/drawing/2014/main" id="{8C291491-39D4-9E0B-1FB2-870892F1B1B9}"/>
              </a:ext>
            </a:extLst>
          </p:cNvPr>
          <p:cNvPicPr>
            <a:picLocks noChangeAspect="1"/>
          </p:cNvPicPr>
          <p:nvPr/>
        </p:nvPicPr>
        <p:blipFill>
          <a:blip r:embed="rId4"/>
          <a:stretch>
            <a:fillRect/>
          </a:stretch>
        </p:blipFill>
        <p:spPr>
          <a:xfrm>
            <a:off x="6312025" y="2636914"/>
            <a:ext cx="2753109" cy="3429479"/>
          </a:xfrm>
          <a:prstGeom prst="rect">
            <a:avLst/>
          </a:prstGeom>
        </p:spPr>
      </p:pic>
      <p:sp>
        <p:nvSpPr>
          <p:cNvPr id="9" name="Rectangle 8">
            <a:extLst>
              <a:ext uri="{FF2B5EF4-FFF2-40B4-BE49-F238E27FC236}">
                <a16:creationId xmlns:a16="http://schemas.microsoft.com/office/drawing/2014/main" id="{6D9B8E14-E964-CA30-7CD6-D6DB9597E4A0}"/>
              </a:ext>
            </a:extLst>
          </p:cNvPr>
          <p:cNvSpPr/>
          <p:nvPr/>
        </p:nvSpPr>
        <p:spPr>
          <a:xfrm>
            <a:off x="2279576" y="2636913"/>
            <a:ext cx="3384376" cy="362196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0" name="Rectangle 9">
            <a:extLst>
              <a:ext uri="{FF2B5EF4-FFF2-40B4-BE49-F238E27FC236}">
                <a16:creationId xmlns:a16="http://schemas.microsoft.com/office/drawing/2014/main" id="{DFF0773C-057E-3365-AD62-344256AD5CD5}"/>
              </a:ext>
            </a:extLst>
          </p:cNvPr>
          <p:cNvSpPr/>
          <p:nvPr/>
        </p:nvSpPr>
        <p:spPr>
          <a:xfrm>
            <a:off x="6168008" y="2636913"/>
            <a:ext cx="3240360" cy="362196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41889476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c13/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13G – Y1 pages 304-306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D96EE0EE-18A4-18D1-0D75-51B2C6769474}"/>
              </a:ext>
            </a:extLst>
          </p:cNvPr>
          <p:cNvPicPr>
            <a:picLocks noChangeAspect="1"/>
          </p:cNvPicPr>
          <p:nvPr/>
        </p:nvPicPr>
        <p:blipFill>
          <a:blip r:embed="rId2"/>
          <a:stretch>
            <a:fillRect/>
          </a:stretch>
        </p:blipFill>
        <p:spPr>
          <a:xfrm>
            <a:off x="1631504" y="633423"/>
            <a:ext cx="7772400" cy="1533634"/>
          </a:xfrm>
          <a:prstGeom prst="rect">
            <a:avLst/>
          </a:prstGeom>
        </p:spPr>
      </p:pic>
      <p:pic>
        <p:nvPicPr>
          <p:cNvPr id="7" name="Picture 6">
            <a:extLst>
              <a:ext uri="{FF2B5EF4-FFF2-40B4-BE49-F238E27FC236}">
                <a16:creationId xmlns:a16="http://schemas.microsoft.com/office/drawing/2014/main" id="{270B20EF-4C02-8769-BA90-1F901D57E083}"/>
              </a:ext>
            </a:extLst>
          </p:cNvPr>
          <p:cNvPicPr>
            <a:picLocks noChangeAspect="1"/>
          </p:cNvPicPr>
          <p:nvPr/>
        </p:nvPicPr>
        <p:blipFill>
          <a:blip r:embed="rId3"/>
          <a:stretch>
            <a:fillRect/>
          </a:stretch>
        </p:blipFill>
        <p:spPr>
          <a:xfrm>
            <a:off x="2351584" y="2636913"/>
            <a:ext cx="2962688" cy="1819529"/>
          </a:xfrm>
          <a:prstGeom prst="rect">
            <a:avLst/>
          </a:prstGeom>
        </p:spPr>
      </p:pic>
      <p:pic>
        <p:nvPicPr>
          <p:cNvPr id="9" name="Picture 8">
            <a:extLst>
              <a:ext uri="{FF2B5EF4-FFF2-40B4-BE49-F238E27FC236}">
                <a16:creationId xmlns:a16="http://schemas.microsoft.com/office/drawing/2014/main" id="{7E7E0C03-B982-7E74-EE60-0D7F562E280D}"/>
              </a:ext>
            </a:extLst>
          </p:cNvPr>
          <p:cNvPicPr>
            <a:picLocks noChangeAspect="1"/>
          </p:cNvPicPr>
          <p:nvPr/>
        </p:nvPicPr>
        <p:blipFill>
          <a:blip r:embed="rId4"/>
          <a:stretch>
            <a:fillRect/>
          </a:stretch>
        </p:blipFill>
        <p:spPr>
          <a:xfrm>
            <a:off x="2423593" y="4841667"/>
            <a:ext cx="2638793" cy="638264"/>
          </a:xfrm>
          <a:prstGeom prst="rect">
            <a:avLst/>
          </a:prstGeom>
        </p:spPr>
      </p:pic>
      <p:cxnSp>
        <p:nvCxnSpPr>
          <p:cNvPr id="11" name="Straight Connector 10">
            <a:extLst>
              <a:ext uri="{FF2B5EF4-FFF2-40B4-BE49-F238E27FC236}">
                <a16:creationId xmlns:a16="http://schemas.microsoft.com/office/drawing/2014/main" id="{CEF14A06-0C18-448B-A768-E29DE308C392}"/>
              </a:ext>
            </a:extLst>
          </p:cNvPr>
          <p:cNvCxnSpPr/>
          <p:nvPr/>
        </p:nvCxnSpPr>
        <p:spPr>
          <a:xfrm>
            <a:off x="5879976" y="2671619"/>
            <a:ext cx="0" cy="2808312"/>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750BDE15-0B20-BDC5-6B44-2FBB7189E2D0}"/>
              </a:ext>
            </a:extLst>
          </p:cNvPr>
          <p:cNvPicPr>
            <a:picLocks noChangeAspect="1"/>
          </p:cNvPicPr>
          <p:nvPr/>
        </p:nvPicPr>
        <p:blipFill>
          <a:blip r:embed="rId5"/>
          <a:stretch>
            <a:fillRect/>
          </a:stretch>
        </p:blipFill>
        <p:spPr>
          <a:xfrm>
            <a:off x="6312025" y="2636912"/>
            <a:ext cx="2419688" cy="2943636"/>
          </a:xfrm>
          <a:prstGeom prst="rect">
            <a:avLst/>
          </a:prstGeom>
        </p:spPr>
      </p:pic>
      <p:sp>
        <p:nvSpPr>
          <p:cNvPr id="14" name="Rectangle 13">
            <a:extLst>
              <a:ext uri="{FF2B5EF4-FFF2-40B4-BE49-F238E27FC236}">
                <a16:creationId xmlns:a16="http://schemas.microsoft.com/office/drawing/2014/main" id="{DA07DF5D-B505-263F-41E0-6B1CB316CF50}"/>
              </a:ext>
            </a:extLst>
          </p:cNvPr>
          <p:cNvSpPr/>
          <p:nvPr/>
        </p:nvSpPr>
        <p:spPr>
          <a:xfrm>
            <a:off x="2207568" y="2420888"/>
            <a:ext cx="6984776" cy="331236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3730454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4" grpId="0" animBg="1"/>
    </p:bldLst>
  </p:timing>
</p:sld>
</file>

<file path=ppt/c13/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13G – Y1 pages 304-306</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66300E34-8C6B-C951-80D6-8DCEA6D16DFD}"/>
              </a:ext>
            </a:extLst>
          </p:cNvPr>
          <p:cNvPicPr>
            <a:picLocks noChangeAspect="1"/>
          </p:cNvPicPr>
          <p:nvPr/>
        </p:nvPicPr>
        <p:blipFill>
          <a:blip r:embed="rId2"/>
          <a:stretch>
            <a:fillRect/>
          </a:stretch>
        </p:blipFill>
        <p:spPr>
          <a:xfrm>
            <a:off x="1520724" y="599127"/>
            <a:ext cx="3982065" cy="1839466"/>
          </a:xfrm>
          <a:prstGeom prst="rect">
            <a:avLst/>
          </a:prstGeom>
        </p:spPr>
      </p:pic>
      <p:pic>
        <p:nvPicPr>
          <p:cNvPr id="6" name="Picture 5">
            <a:extLst>
              <a:ext uri="{FF2B5EF4-FFF2-40B4-BE49-F238E27FC236}">
                <a16:creationId xmlns:a16="http://schemas.microsoft.com/office/drawing/2014/main" id="{FA6AA5B3-3398-8F0C-AAF5-C24CEE401B74}"/>
              </a:ext>
            </a:extLst>
          </p:cNvPr>
          <p:cNvPicPr>
            <a:picLocks noChangeAspect="1"/>
          </p:cNvPicPr>
          <p:nvPr/>
        </p:nvPicPr>
        <p:blipFill>
          <a:blip r:embed="rId3"/>
          <a:stretch>
            <a:fillRect/>
          </a:stretch>
        </p:blipFill>
        <p:spPr>
          <a:xfrm>
            <a:off x="5735961" y="631784"/>
            <a:ext cx="4049403" cy="2034530"/>
          </a:xfrm>
          <a:prstGeom prst="rect">
            <a:avLst/>
          </a:prstGeom>
        </p:spPr>
      </p:pic>
      <p:grpSp>
        <p:nvGrpSpPr>
          <p:cNvPr id="15" name="Group 14">
            <a:extLst>
              <a:ext uri="{FF2B5EF4-FFF2-40B4-BE49-F238E27FC236}">
                <a16:creationId xmlns:a16="http://schemas.microsoft.com/office/drawing/2014/main" id="{A42A0FF0-1796-75DE-6F68-0CCEF8883474}"/>
              </a:ext>
            </a:extLst>
          </p:cNvPr>
          <p:cNvGrpSpPr/>
          <p:nvPr/>
        </p:nvGrpSpPr>
        <p:grpSpPr>
          <a:xfrm>
            <a:off x="2423592" y="2880086"/>
            <a:ext cx="2711922" cy="3408495"/>
            <a:chOff x="899592" y="2880085"/>
            <a:chExt cx="2711922" cy="3408495"/>
          </a:xfrm>
        </p:grpSpPr>
        <p:pic>
          <p:nvPicPr>
            <p:cNvPr id="8" name="Picture 7">
              <a:extLst>
                <a:ext uri="{FF2B5EF4-FFF2-40B4-BE49-F238E27FC236}">
                  <a16:creationId xmlns:a16="http://schemas.microsoft.com/office/drawing/2014/main" id="{374B9D7D-A91E-278F-CDA5-5C7B4469486F}"/>
                </a:ext>
              </a:extLst>
            </p:cNvPr>
            <p:cNvPicPr>
              <a:picLocks noChangeAspect="1"/>
            </p:cNvPicPr>
            <p:nvPr/>
          </p:nvPicPr>
          <p:blipFill>
            <a:blip r:embed="rId4"/>
            <a:stretch>
              <a:fillRect/>
            </a:stretch>
          </p:blipFill>
          <p:spPr>
            <a:xfrm>
              <a:off x="899592" y="2880085"/>
              <a:ext cx="2124371" cy="657317"/>
            </a:xfrm>
            <a:prstGeom prst="rect">
              <a:avLst/>
            </a:prstGeom>
          </p:spPr>
        </p:pic>
        <p:pic>
          <p:nvPicPr>
            <p:cNvPr id="10" name="Picture 9">
              <a:extLst>
                <a:ext uri="{FF2B5EF4-FFF2-40B4-BE49-F238E27FC236}">
                  <a16:creationId xmlns:a16="http://schemas.microsoft.com/office/drawing/2014/main" id="{4A2F2E99-1390-8702-B807-EF334A535F97}"/>
                </a:ext>
              </a:extLst>
            </p:cNvPr>
            <p:cNvPicPr>
              <a:picLocks noChangeAspect="1"/>
            </p:cNvPicPr>
            <p:nvPr/>
          </p:nvPicPr>
          <p:blipFill>
            <a:blip r:embed="rId5"/>
            <a:stretch>
              <a:fillRect/>
            </a:stretch>
          </p:blipFill>
          <p:spPr>
            <a:xfrm>
              <a:off x="1115616" y="3611681"/>
              <a:ext cx="2495898" cy="2676899"/>
            </a:xfrm>
            <a:prstGeom prst="rect">
              <a:avLst/>
            </a:prstGeom>
          </p:spPr>
        </p:pic>
      </p:grpSp>
      <p:pic>
        <p:nvPicPr>
          <p:cNvPr id="12" name="Picture 11">
            <a:extLst>
              <a:ext uri="{FF2B5EF4-FFF2-40B4-BE49-F238E27FC236}">
                <a16:creationId xmlns:a16="http://schemas.microsoft.com/office/drawing/2014/main" id="{89ADA601-EBDD-B4B4-6C70-AC93631FD05D}"/>
              </a:ext>
            </a:extLst>
          </p:cNvPr>
          <p:cNvPicPr>
            <a:picLocks noChangeAspect="1"/>
          </p:cNvPicPr>
          <p:nvPr/>
        </p:nvPicPr>
        <p:blipFill>
          <a:blip r:embed="rId6"/>
          <a:stretch>
            <a:fillRect/>
          </a:stretch>
        </p:blipFill>
        <p:spPr>
          <a:xfrm>
            <a:off x="6240016" y="2850758"/>
            <a:ext cx="3077004" cy="3286584"/>
          </a:xfrm>
          <a:prstGeom prst="rect">
            <a:avLst/>
          </a:prstGeom>
        </p:spPr>
      </p:pic>
      <p:sp>
        <p:nvSpPr>
          <p:cNvPr id="13" name="Rectangle 12">
            <a:extLst>
              <a:ext uri="{FF2B5EF4-FFF2-40B4-BE49-F238E27FC236}">
                <a16:creationId xmlns:a16="http://schemas.microsoft.com/office/drawing/2014/main" id="{87584B1E-88A9-1151-6C6F-887E6ED5B910}"/>
              </a:ext>
            </a:extLst>
          </p:cNvPr>
          <p:cNvSpPr/>
          <p:nvPr/>
        </p:nvSpPr>
        <p:spPr>
          <a:xfrm>
            <a:off x="2135560" y="2708920"/>
            <a:ext cx="3816424" cy="367240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4" name="Rectangle 13">
            <a:extLst>
              <a:ext uri="{FF2B5EF4-FFF2-40B4-BE49-F238E27FC236}">
                <a16:creationId xmlns:a16="http://schemas.microsoft.com/office/drawing/2014/main" id="{CF12A2EF-21E7-2684-DC6F-80292A9A1C47}"/>
              </a:ext>
            </a:extLst>
          </p:cNvPr>
          <p:cNvSpPr/>
          <p:nvPr/>
        </p:nvSpPr>
        <p:spPr>
          <a:xfrm>
            <a:off x="6096000" y="2708920"/>
            <a:ext cx="3600400" cy="367240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15123978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3" grpId="0" animBg="1"/>
      <p:bldP spid="14" grpId="0" animBg="1"/>
    </p:bldLst>
  </p:timing>
</p:sld>
</file>

<file path=ppt/c13/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1"/>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solidFill>
                    <a:srgbClr val="FF0000"/>
                  </a:solidFill>
                </a:rPr>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9" name="TextBox 8"/>
              <p:cNvSpPr txBox="1"/>
              <p:nvPr/>
            </p:nvSpPr>
            <p:spPr>
              <a:xfrm>
                <a:off x="1919536" y="1175489"/>
                <a:ext cx="4414136" cy="3261790"/>
              </a:xfrm>
              <a:prstGeom prst="rect">
                <a:avLst/>
              </a:prstGeom>
              <a:noFill/>
            </p:spPr>
            <p:txBody>
              <a:bodyPr wrap="square" rtlCol="0">
                <a:spAutoFit/>
              </a:bodyPr>
              <a:lstStyle/>
              <a:p>
                <a:r>
                  <a:rPr lang="en-GB" sz="1600" i="1" dirty="0"/>
                  <a:t>[MAT 2005 1A] </a:t>
                </a:r>
                <a:r>
                  <a:rPr lang="en-GB" sz="1600" dirty="0"/>
                  <a:t>What is the area of the region bounded by the curves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oMath>
                </a14:m>
                <a:r>
                  <a:rPr lang="en-GB" sz="1600" dirty="0"/>
                  <a:t> and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𝑥</m:t>
                    </m:r>
                    <m:r>
                      <a:rPr lang="en-GB" sz="1600" i="1">
                        <a:latin typeface="Cambria Math" panose="02040503050406030204" pitchFamily="18" charset="0"/>
                      </a:rPr>
                      <m:t>+2</m:t>
                    </m:r>
                  </m:oMath>
                </a14:m>
                <a:r>
                  <a:rPr lang="en-GB" sz="1600" dirty="0"/>
                  <a:t>?</a:t>
                </a:r>
              </a:p>
              <a:p>
                <a:pPr/>
                <a14:m>
                  <m:oMathPara xmlns:m="http://schemas.openxmlformats.org/officeDocument/2006/math">
                    <m:oMathParaPr>
                      <m:jc m:val="centerGroup"/>
                    </m:oMathParaPr>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𝟗</m:t>
                          </m:r>
                        </m:num>
                        <m:den>
                          <m:r>
                            <a:rPr lang="en-GB" sz="1600" b="1" i="1">
                              <a:latin typeface="Cambria Math" panose="02040503050406030204" pitchFamily="18" charset="0"/>
                            </a:rPr>
                            <m:t>𝟐</m:t>
                          </m:r>
                        </m:den>
                      </m:f>
                    </m:oMath>
                  </m:oMathPara>
                </a14:m>
                <a:endParaRPr lang="en-GB" sz="1600" b="1" dirty="0"/>
              </a:p>
              <a:p>
                <a:endParaRPr lang="en-GB" sz="1600" dirty="0"/>
              </a:p>
              <a:p>
                <a:r>
                  <a:rPr lang="en-GB" sz="1600" i="1" dirty="0"/>
                  <a:t>[MAT 2016 1H] </a:t>
                </a:r>
                <a:r>
                  <a:rPr lang="en-GB" sz="1600" dirty="0"/>
                  <a:t>Consider two functions</a:t>
                </a:r>
              </a:p>
              <a:p>
                <a:pPr/>
                <a14:m>
                  <m:oMathPara xmlns:m="http://schemas.openxmlformats.org/officeDocument/2006/math">
                    <m:oMathParaPr>
                      <m:jc m:val="centerGroup"/>
                    </m:oMathParaPr>
                    <m:oMath xmlns:m="http://schemas.openxmlformats.org/officeDocument/2006/math">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m:t>
                      </m:r>
                      <m:r>
                        <a:rPr lang="en-GB" sz="1600" i="1">
                          <a:latin typeface="Cambria Math" panose="02040503050406030204" pitchFamily="18" charset="0"/>
                        </a:rPr>
                        <m:t>𝑎</m:t>
                      </m:r>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2</m:t>
                          </m:r>
                        </m:sup>
                      </m:sSup>
                    </m:oMath>
                    <m:oMath xmlns:m="http://schemas.openxmlformats.org/officeDocument/2006/math">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m:t>
                      </m:r>
                      <m:sSup>
                        <m:sSupPr>
                          <m:ctrlPr>
                            <a:rPr lang="en-GB" sz="1600" i="1">
                              <a:latin typeface="Cambria Math" panose="02040503050406030204" pitchFamily="18" charset="0"/>
                            </a:rPr>
                          </m:ctrlPr>
                        </m:sSupPr>
                        <m:e>
                          <m:r>
                            <a:rPr lang="en-GB" sz="1600" i="1">
                              <a:latin typeface="Cambria Math" panose="02040503050406030204" pitchFamily="18" charset="0"/>
                            </a:rPr>
                            <m:t>𝑥</m:t>
                          </m:r>
                        </m:e>
                        <m:sup>
                          <m:r>
                            <a:rPr lang="en-GB" sz="1600" i="1">
                              <a:latin typeface="Cambria Math" panose="02040503050406030204" pitchFamily="18" charset="0"/>
                            </a:rPr>
                            <m:t>4</m:t>
                          </m:r>
                        </m:sup>
                      </m:sSup>
                      <m:r>
                        <a:rPr lang="en-GB" sz="1600" i="1">
                          <a:latin typeface="Cambria Math" panose="02040503050406030204" pitchFamily="18" charset="0"/>
                        </a:rPr>
                        <m:t>−</m:t>
                      </m:r>
                      <m:r>
                        <a:rPr lang="en-GB" sz="1600" i="1">
                          <a:latin typeface="Cambria Math" panose="02040503050406030204" pitchFamily="18" charset="0"/>
                        </a:rPr>
                        <m:t>𝑎</m:t>
                      </m:r>
                    </m:oMath>
                  </m:oMathPara>
                </a14:m>
                <a:endParaRPr lang="en-GB" sz="1600" dirty="0"/>
              </a:p>
              <a:p>
                <a:r>
                  <a:rPr lang="en-GB" sz="1600" dirty="0"/>
                  <a:t>For precisely which values of </a:t>
                </a:r>
                <a14:m>
                  <m:oMath xmlns:m="http://schemas.openxmlformats.org/officeDocument/2006/math">
                    <m:r>
                      <a:rPr lang="en-GB" sz="1600" i="1">
                        <a:latin typeface="Cambria Math" panose="02040503050406030204" pitchFamily="18" charset="0"/>
                      </a:rPr>
                      <m:t>𝑎</m:t>
                    </m:r>
                    <m:r>
                      <a:rPr lang="en-GB" sz="1600" i="1">
                        <a:latin typeface="Cambria Math" panose="02040503050406030204" pitchFamily="18" charset="0"/>
                      </a:rPr>
                      <m:t>&gt;0</m:t>
                    </m:r>
                  </m:oMath>
                </a14:m>
                <a:r>
                  <a:rPr lang="en-GB" sz="1600" dirty="0"/>
                  <a:t> is the area of the region bounded by the </a:t>
                </a:r>
                <a14:m>
                  <m:oMath xmlns:m="http://schemas.openxmlformats.org/officeDocument/2006/math">
                    <m:r>
                      <a:rPr lang="en-GB" sz="1600" i="1">
                        <a:latin typeface="Cambria Math" panose="02040503050406030204" pitchFamily="18" charset="0"/>
                      </a:rPr>
                      <m:t>𝑥</m:t>
                    </m:r>
                  </m:oMath>
                </a14:m>
                <a:r>
                  <a:rPr lang="en-GB" sz="1600" dirty="0"/>
                  <a:t>-axis and the curve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 bigger than the area of the region bounded by the </a:t>
                </a:r>
                <a14:m>
                  <m:oMath xmlns:m="http://schemas.openxmlformats.org/officeDocument/2006/math">
                    <m:r>
                      <a:rPr lang="en-GB" sz="1600" i="1">
                        <a:latin typeface="Cambria Math" panose="02040503050406030204" pitchFamily="18" charset="0"/>
                      </a:rPr>
                      <m:t>𝑥</m:t>
                    </m:r>
                  </m:oMath>
                </a14:m>
                <a:r>
                  <a:rPr lang="en-GB" sz="1600" dirty="0"/>
                  <a:t>-axis and the curve </a:t>
                </a:r>
                <a14:m>
                  <m:oMath xmlns:m="http://schemas.openxmlformats.org/officeDocument/2006/math">
                    <m:r>
                      <a:rPr lang="en-GB" sz="1600" i="1">
                        <a:latin typeface="Cambria Math" panose="02040503050406030204" pitchFamily="18" charset="0"/>
                      </a:rPr>
                      <m:t>𝑦</m:t>
                    </m:r>
                    <m:r>
                      <a:rPr lang="en-GB" sz="1600" i="1">
                        <a:latin typeface="Cambria Math" panose="02040503050406030204" pitchFamily="18" charset="0"/>
                      </a:rPr>
                      <m:t>=</m:t>
                    </m:r>
                    <m:r>
                      <a:rPr lang="en-GB" sz="1600" i="1">
                        <a:latin typeface="Cambria Math" panose="02040503050406030204" pitchFamily="18" charset="0"/>
                      </a:rPr>
                      <m:t>𝑔</m:t>
                    </m:r>
                    <m:d>
                      <m:dPr>
                        <m:ctrlPr>
                          <a:rPr lang="en-GB" sz="1600" i="1">
                            <a:latin typeface="Cambria Math" panose="02040503050406030204" pitchFamily="18" charset="0"/>
                          </a:rPr>
                        </m:ctrlPr>
                      </m:dPr>
                      <m:e>
                        <m:r>
                          <a:rPr lang="en-GB" sz="1600" i="1">
                            <a:latin typeface="Cambria Math" panose="02040503050406030204" pitchFamily="18" charset="0"/>
                          </a:rPr>
                          <m:t>𝑥</m:t>
                        </m:r>
                      </m:e>
                    </m:d>
                  </m:oMath>
                </a14:m>
                <a:r>
                  <a:rPr lang="en-GB" sz="1600" dirty="0"/>
                  <a:t>?</a:t>
                </a:r>
              </a:p>
              <a:p>
                <a:r>
                  <a:rPr lang="en-GB" sz="1600" i="1" dirty="0"/>
                  <a:t>(Your answer should be an inequality in terms of </a:t>
                </a:r>
                <a14:m>
                  <m:oMath xmlns:m="http://schemas.openxmlformats.org/officeDocument/2006/math">
                    <m:r>
                      <a:rPr lang="en-GB" sz="1600" i="1">
                        <a:latin typeface="Cambria Math" panose="02040503050406030204" pitchFamily="18" charset="0"/>
                      </a:rPr>
                      <m:t>𝑎</m:t>
                    </m:r>
                  </m:oMath>
                </a14:m>
                <a:r>
                  <a:rPr lang="en-GB" sz="1600" i="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1919536" y="1175489"/>
                <a:ext cx="4414136" cy="3261790"/>
              </a:xfrm>
              <a:prstGeom prst="rect">
                <a:avLst/>
              </a:prstGeom>
              <a:blipFill>
                <a:blip r:embed="rId2"/>
                <a:stretch>
                  <a:fillRect l="-829" t="-561" b="-1495"/>
                </a:stretch>
              </a:blipFill>
            </p:spPr>
            <p:txBody>
              <a:bodyPr/>
              <a:lstStyle/>
              <a:p>
                <a:r>
                  <a:rPr lang="en-GB">
                    <a:noFill/>
                  </a:rPr>
                  <a:t> </a:t>
                </a:r>
              </a:p>
            </p:txBody>
          </p:sp>
        </mc:Fallback>
      </mc:AlternateContent>
      <p:sp>
        <p:nvSpPr>
          <p:cNvPr id="14" name="Rectangle 13"/>
          <p:cNvSpPr/>
          <p:nvPr/>
        </p:nvSpPr>
        <p:spPr>
          <a:xfrm>
            <a:off x="1694333" y="1268682"/>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31" name="Rectangle 30"/>
          <p:cNvSpPr/>
          <p:nvPr/>
        </p:nvSpPr>
        <p:spPr>
          <a:xfrm>
            <a:off x="1694333" y="2437781"/>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mc:AlternateContent xmlns:mc="http://schemas.openxmlformats.org/markup-compatibility/2006" xmlns:a14="http://schemas.microsoft.com/office/drawing/2010/main">
        <mc:Choice Requires="a14">
          <p:sp>
            <p:nvSpPr>
              <p:cNvPr id="10" name="TextBox 9"/>
              <p:cNvSpPr txBox="1"/>
              <p:nvPr/>
            </p:nvSpPr>
            <p:spPr>
              <a:xfrm>
                <a:off x="7028476" y="1175490"/>
                <a:ext cx="3419996" cy="4624407"/>
              </a:xfrm>
              <a:prstGeom prst="rect">
                <a:avLst/>
              </a:prstGeom>
              <a:noFill/>
            </p:spPr>
            <p:txBody>
              <a:bodyPr wrap="square" rtlCol="0">
                <a:spAutoFit/>
              </a:bodyPr>
              <a:lstStyle/>
              <a:p>
                <a:r>
                  <a:rPr lang="en-GB" sz="1600" b="1" dirty="0"/>
                  <a:t>(Official solution)</a:t>
                </a:r>
              </a:p>
              <a:p>
                <a:r>
                  <a:rPr lang="en-GB" sz="1600" b="1" dirty="0"/>
                  <a:t>The area bounded by the </a:t>
                </a:r>
                <a14:m>
                  <m:oMath xmlns:m="http://schemas.openxmlformats.org/officeDocument/2006/math">
                    <m:r>
                      <a:rPr lang="en-GB" sz="1600" b="1" i="1">
                        <a:latin typeface="Cambria Math" panose="02040503050406030204" pitchFamily="18" charset="0"/>
                      </a:rPr>
                      <m:t>𝒙</m:t>
                    </m:r>
                  </m:oMath>
                </a14:m>
                <a:r>
                  <a:rPr lang="en-GB" sz="1600" b="1" dirty="0"/>
                  <a:t>-axis and the curve </a:t>
                </a:r>
                <a14:m>
                  <m:oMath xmlns:m="http://schemas.openxmlformats.org/officeDocument/2006/math">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oMath>
                </a14:m>
                <a:r>
                  <a:rPr lang="en-GB" sz="1600" b="1" dirty="0"/>
                  <a:t>, </a:t>
                </a:r>
                <a14:m>
                  <m:oMath xmlns:m="http://schemas.openxmlformats.org/officeDocument/2006/math">
                    <m:sSub>
                      <m:sSubPr>
                        <m:ctrlPr>
                          <a:rPr lang="en-GB" sz="1600" b="1" i="1" dirty="0">
                            <a:latin typeface="Cambria Math" panose="02040503050406030204" pitchFamily="18" charset="0"/>
                          </a:rPr>
                        </m:ctrlPr>
                      </m:sSubPr>
                      <m:e>
                        <m:r>
                          <a:rPr lang="en-GB" sz="1600" b="1" i="1" dirty="0">
                            <a:latin typeface="Cambria Math" panose="02040503050406030204" pitchFamily="18" charset="0"/>
                          </a:rPr>
                          <m:t>𝑨</m:t>
                        </m:r>
                      </m:e>
                      <m:sub>
                        <m:r>
                          <a:rPr lang="en-GB" sz="1600" b="1" i="1" dirty="0">
                            <a:latin typeface="Cambria Math" panose="02040503050406030204" pitchFamily="18" charset="0"/>
                          </a:rPr>
                          <m:t>𝟏</m:t>
                        </m:r>
                      </m:sub>
                    </m:sSub>
                  </m:oMath>
                </a14:m>
                <a:r>
                  <a:rPr lang="en-GB" sz="1600" b="1" dirty="0"/>
                  <a:t> is equal to</a:t>
                </a:r>
              </a:p>
              <a:p>
                <a:pPr/>
                <a14:m>
                  <m:oMathPara xmlns:m="http://schemas.openxmlformats.org/officeDocument/2006/math">
                    <m:oMathParaPr>
                      <m:jc m:val="centerGroup"/>
                    </m:oMathParaPr>
                    <m:oMath xmlns:m="http://schemas.openxmlformats.org/officeDocument/2006/math">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𝟏</m:t>
                          </m:r>
                        </m:sub>
                      </m:sSub>
                      <m:r>
                        <a:rPr lang="en-GB" sz="1600" b="1" i="1">
                          <a:latin typeface="Cambria Math" panose="02040503050406030204" pitchFamily="18" charset="0"/>
                        </a:rPr>
                        <m:t>=</m:t>
                      </m:r>
                      <m:nary>
                        <m:naryPr>
                          <m:ctrlPr>
                            <a:rPr lang="en-GB" sz="1600" b="1" i="1">
                              <a:latin typeface="Cambria Math" panose="02040503050406030204" pitchFamily="18" charset="0"/>
                            </a:rPr>
                          </m:ctrlPr>
                        </m:naryPr>
                        <m:sub>
                          <m:rad>
                            <m:radPr>
                              <m:degHide m:val="on"/>
                              <m:ctrlPr>
                                <a:rPr lang="en-GB" sz="1600" b="1" i="1">
                                  <a:latin typeface="Cambria Math" panose="02040503050406030204" pitchFamily="18" charset="0"/>
                                </a:rPr>
                              </m:ctrlPr>
                            </m:radPr>
                            <m:deg/>
                            <m:e>
                              <m:r>
                                <a:rPr lang="en-GB" sz="1600" b="1" i="1">
                                  <a:latin typeface="Cambria Math" panose="02040503050406030204" pitchFamily="18" charset="0"/>
                                </a:rPr>
                                <m:t>𝒂</m:t>
                              </m:r>
                            </m:e>
                          </m:rad>
                        </m:sub>
                        <m:sup>
                          <m:rad>
                            <m:radPr>
                              <m:degHide m:val="on"/>
                              <m:ctrlPr>
                                <a:rPr lang="en-GB" sz="1600" b="1" i="1">
                                  <a:latin typeface="Cambria Math" panose="02040503050406030204" pitchFamily="18" charset="0"/>
                                </a:rPr>
                              </m:ctrlPr>
                            </m:radPr>
                            <m:deg/>
                            <m:e>
                              <m:r>
                                <a:rPr lang="en-GB" sz="1600" b="1" i="1">
                                  <a:latin typeface="Cambria Math" panose="02040503050406030204" pitchFamily="18" charset="0"/>
                                </a:rPr>
                                <m:t>𝒂</m:t>
                              </m:r>
                            </m:e>
                          </m:rad>
                        </m:sup>
                        <m:e>
                          <m:r>
                            <a:rPr lang="en-GB" sz="1600" b="1" i="1">
                              <a:latin typeface="Cambria Math" panose="02040503050406030204" pitchFamily="18" charset="0"/>
                            </a:rPr>
                            <m:t>𝒇</m:t>
                          </m:r>
                          <m:r>
                            <a:rPr lang="en-GB" sz="1600" b="1" i="1">
                              <a:latin typeface="Cambria Math" panose="02040503050406030204" pitchFamily="18" charset="0"/>
                            </a:rPr>
                            <m:t>(</m:t>
                          </m:r>
                          <m:r>
                            <a:rPr lang="en-GB" sz="1600" b="1" i="1">
                              <a:latin typeface="Cambria Math" panose="02040503050406030204" pitchFamily="18" charset="0"/>
                            </a:rPr>
                            <m:t>𝒙</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𝟒</m:t>
                          </m:r>
                        </m:num>
                        <m:den>
                          <m:r>
                            <a:rPr lang="en-GB" sz="1600" b="1" i="1">
                              <a:latin typeface="Cambria Math" panose="02040503050406030204" pitchFamily="18" charset="0"/>
                            </a:rPr>
                            <m:t>𝟑</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𝟑</m:t>
                              </m:r>
                            </m:num>
                            <m:den>
                              <m:r>
                                <a:rPr lang="en-GB" sz="1600" b="1" i="1">
                                  <a:latin typeface="Cambria Math" panose="02040503050406030204" pitchFamily="18" charset="0"/>
                                </a:rPr>
                                <m:t>𝟐</m:t>
                              </m:r>
                            </m:den>
                          </m:f>
                        </m:sup>
                      </m:sSup>
                    </m:oMath>
                  </m:oMathPara>
                </a14:m>
                <a:endParaRPr lang="en-GB" sz="1600" b="1" dirty="0"/>
              </a:p>
              <a:p>
                <a:r>
                  <a:rPr lang="en-GB" sz="1600" b="1" dirty="0"/>
                  <a:t>whilst the area bounded by the </a:t>
                </a:r>
                <a14:m>
                  <m:oMath xmlns:m="http://schemas.openxmlformats.org/officeDocument/2006/math">
                    <m:r>
                      <a:rPr lang="en-GB" sz="1600" b="1" i="1">
                        <a:latin typeface="Cambria Math" panose="02040503050406030204" pitchFamily="18" charset="0"/>
                      </a:rPr>
                      <m:t>𝒙</m:t>
                    </m:r>
                  </m:oMath>
                </a14:m>
                <a:r>
                  <a:rPr lang="en-GB" sz="1600" b="1" dirty="0"/>
                  <a:t>-axis and the curve </a:t>
                </a:r>
                <a14:m>
                  <m:oMath xmlns:m="http://schemas.openxmlformats.org/officeDocument/2006/math">
                    <m:r>
                      <a:rPr lang="en-GB" sz="1600" b="1" i="1">
                        <a:latin typeface="Cambria Math" panose="02040503050406030204" pitchFamily="18" charset="0"/>
                      </a:rPr>
                      <m:t>𝒚</m:t>
                    </m:r>
                    <m:r>
                      <a:rPr lang="en-GB" sz="1600" b="1" i="1">
                        <a:latin typeface="Cambria Math" panose="02040503050406030204" pitchFamily="18" charset="0"/>
                      </a:rPr>
                      <m:t>=</m:t>
                    </m:r>
                    <m:r>
                      <a:rPr lang="en-GB" sz="1600" b="1" i="1">
                        <a:latin typeface="Cambria Math" panose="02040503050406030204" pitchFamily="18" charset="0"/>
                      </a:rPr>
                      <m:t>𝒈</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oMath>
                </a14:m>
                <a:r>
                  <a:rPr lang="en-GB" sz="1600" b="1" dirty="0"/>
                  <a:t>, </a:t>
                </a:r>
                <a14:m>
                  <m:oMath xmlns:m="http://schemas.openxmlformats.org/officeDocument/2006/math">
                    <m:sSub>
                      <m:sSubPr>
                        <m:ctrlPr>
                          <a:rPr lang="en-GB" sz="1600" b="1" i="1" dirty="0">
                            <a:latin typeface="Cambria Math" panose="02040503050406030204" pitchFamily="18" charset="0"/>
                          </a:rPr>
                        </m:ctrlPr>
                      </m:sSubPr>
                      <m:e>
                        <m:r>
                          <a:rPr lang="en-GB" sz="1600" b="1" i="1" dirty="0">
                            <a:latin typeface="Cambria Math" panose="02040503050406030204" pitchFamily="18" charset="0"/>
                          </a:rPr>
                          <m:t>𝑨</m:t>
                        </m:r>
                      </m:e>
                      <m:sub>
                        <m:r>
                          <a:rPr lang="en-GB" sz="1600" b="1" i="1" dirty="0">
                            <a:latin typeface="Cambria Math" panose="02040503050406030204" pitchFamily="18" charset="0"/>
                          </a:rPr>
                          <m:t>𝟐</m:t>
                        </m:r>
                      </m:sub>
                    </m:sSub>
                  </m:oMath>
                </a14:m>
                <a:r>
                  <a:rPr lang="en-GB" sz="1600" b="1" dirty="0"/>
                  <a:t> is equal to</a:t>
                </a:r>
              </a:p>
              <a:p>
                <a:pPr/>
                <a14:m>
                  <m:oMathPara xmlns:m="http://schemas.openxmlformats.org/officeDocument/2006/math">
                    <m:oMathParaPr>
                      <m:jc m:val="centerGroup"/>
                    </m:oMathParaPr>
                    <m:oMath xmlns:m="http://schemas.openxmlformats.org/officeDocument/2006/math">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𝟐</m:t>
                          </m:r>
                        </m:sub>
                      </m:sSub>
                      <m:r>
                        <a:rPr lang="en-GB" sz="1600" b="1" i="1">
                          <a:latin typeface="Cambria Math" panose="02040503050406030204" pitchFamily="18" charset="0"/>
                        </a:rPr>
                        <m:t>=</m:t>
                      </m:r>
                      <m:d>
                        <m:dPr>
                          <m:begChr m:val="|"/>
                          <m:endChr m:val="|"/>
                          <m:ctrlPr>
                            <a:rPr lang="en-GB" sz="1600" b="1" i="1">
                              <a:latin typeface="Cambria Math" panose="02040503050406030204" pitchFamily="18" charset="0"/>
                            </a:rPr>
                          </m:ctrlPr>
                        </m:dPr>
                        <m:e>
                          <m:nary>
                            <m:naryPr>
                              <m:ctrlPr>
                                <a:rPr lang="en-GB" sz="1600" b="1" i="1">
                                  <a:latin typeface="Cambria Math" panose="02040503050406030204" pitchFamily="18" charset="0"/>
                                </a:rPr>
                              </m:ctrlPr>
                            </m:naryPr>
                            <m:sub>
                              <m:r>
                                <m:rPr>
                                  <m:brk m:alnAt="23"/>
                                </m:rPr>
                                <a:rPr lang="en-GB" sz="1600" b="1" i="1">
                                  <a:latin typeface="Cambria Math" panose="02040503050406030204" pitchFamily="18" charset="0"/>
                                </a:rPr>
                                <m:t>−</m:t>
                              </m:r>
                              <m:rad>
                                <m:radPr>
                                  <m:ctrlPr>
                                    <a:rPr lang="en-GB" sz="1600" b="1" i="1">
                                      <a:latin typeface="Cambria Math" panose="02040503050406030204" pitchFamily="18" charset="0"/>
                                    </a:rPr>
                                  </m:ctrlPr>
                                </m:radPr>
                                <m:deg>
                                  <m:r>
                                    <a:rPr lang="en-GB" sz="1600" b="1">
                                      <a:latin typeface="Cambria Math" panose="02040503050406030204" pitchFamily="18" charset="0"/>
                                    </a:rPr>
                                    <m:t>𝟒</m:t>
                                  </m:r>
                                </m:deg>
                                <m:e>
                                  <m:r>
                                    <a:rPr lang="en-GB" sz="1600" b="1" i="1">
                                      <a:latin typeface="Cambria Math" panose="02040503050406030204" pitchFamily="18" charset="0"/>
                                    </a:rPr>
                                    <m:t>𝒂</m:t>
                                  </m:r>
                                </m:e>
                              </m:rad>
                            </m:sub>
                            <m:sup>
                              <m:rad>
                                <m:radPr>
                                  <m:ctrlPr>
                                    <a:rPr lang="en-GB" sz="1600" b="1" i="1">
                                      <a:latin typeface="Cambria Math" panose="02040503050406030204" pitchFamily="18" charset="0"/>
                                    </a:rPr>
                                  </m:ctrlPr>
                                </m:radPr>
                                <m:deg>
                                  <m:r>
                                    <a:rPr lang="en-GB" sz="1600" b="1" i="1">
                                      <a:latin typeface="Cambria Math" panose="02040503050406030204" pitchFamily="18" charset="0"/>
                                    </a:rPr>
                                    <m:t>𝟒</m:t>
                                  </m:r>
                                </m:deg>
                                <m:e>
                                  <m:r>
                                    <a:rPr lang="en-GB" sz="1600" b="1" i="1">
                                      <a:latin typeface="Cambria Math" panose="02040503050406030204" pitchFamily="18" charset="0"/>
                                    </a:rPr>
                                    <m:t>𝒂</m:t>
                                  </m:r>
                                </m:e>
                              </m:rad>
                            </m:sup>
                            <m:e>
                              <m:r>
                                <a:rPr lang="en-GB" sz="1600" b="1" i="1">
                                  <a:latin typeface="Cambria Math" panose="02040503050406030204" pitchFamily="18" charset="0"/>
                                </a:rPr>
                                <m:t>𝒈</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𝒅𝒙</m:t>
                              </m:r>
                            </m:e>
                          </m:nary>
                          <m:r>
                            <a:rPr lang="en-GB" sz="1600" b="1" i="1">
                              <a:latin typeface="Cambria Math" panose="02040503050406030204" pitchFamily="18" charset="0"/>
                            </a:rPr>
                            <m:t> </m:t>
                          </m:r>
                        </m:e>
                      </m:d>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𝟖</m:t>
                          </m:r>
                        </m:num>
                        <m:den>
                          <m:r>
                            <a:rPr lang="en-GB" sz="1600" b="1" i="1">
                              <a:latin typeface="Cambria Math" panose="02040503050406030204" pitchFamily="18" charset="0"/>
                            </a:rPr>
                            <m:t>𝟓</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𝟓</m:t>
                              </m:r>
                            </m:num>
                            <m:den>
                              <m:r>
                                <a:rPr lang="en-GB" sz="1600" b="1" i="1">
                                  <a:latin typeface="Cambria Math" panose="02040503050406030204" pitchFamily="18" charset="0"/>
                                </a:rPr>
                                <m:t>𝟒</m:t>
                              </m:r>
                            </m:den>
                          </m:f>
                        </m:sup>
                      </m:sSup>
                    </m:oMath>
                  </m:oMathPara>
                </a14:m>
                <a:endParaRPr lang="en-GB" sz="1600" b="1" dirty="0"/>
              </a:p>
              <a:p>
                <a:r>
                  <a:rPr lang="en-GB" sz="1600" b="1" dirty="0"/>
                  <a:t>We require an </a:t>
                </a:r>
                <a14:m>
                  <m:oMath xmlns:m="http://schemas.openxmlformats.org/officeDocument/2006/math">
                    <m:r>
                      <a:rPr lang="en-GB" sz="1600" b="1" i="1">
                        <a:latin typeface="Cambria Math" panose="02040503050406030204" pitchFamily="18" charset="0"/>
                      </a:rPr>
                      <m:t>𝒂</m:t>
                    </m:r>
                  </m:oMath>
                </a14:m>
                <a:r>
                  <a:rPr lang="en-GB" sz="1600" b="1" dirty="0"/>
                  <a:t> such that </a:t>
                </a:r>
                <a14:m>
                  <m:oMath xmlns:m="http://schemas.openxmlformats.org/officeDocument/2006/math">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𝟏</m:t>
                        </m:r>
                      </m:sub>
                    </m:sSub>
                    <m:r>
                      <a:rPr lang="en-GB" sz="1600" b="1" i="1">
                        <a:latin typeface="Cambria Math" panose="02040503050406030204" pitchFamily="18" charset="0"/>
                      </a:rPr>
                      <m:t>&gt;</m:t>
                    </m:r>
                    <m:sSub>
                      <m:sSubPr>
                        <m:ctrlPr>
                          <a:rPr lang="en-GB" sz="1600" b="1" i="1">
                            <a:latin typeface="Cambria Math" panose="02040503050406030204" pitchFamily="18" charset="0"/>
                          </a:rPr>
                        </m:ctrlPr>
                      </m:sSubPr>
                      <m:e>
                        <m:r>
                          <a:rPr lang="en-GB" sz="1600" b="1" i="1">
                            <a:latin typeface="Cambria Math" panose="02040503050406030204" pitchFamily="18" charset="0"/>
                          </a:rPr>
                          <m:t>𝑨</m:t>
                        </m:r>
                      </m:e>
                      <m:sub>
                        <m:r>
                          <a:rPr lang="en-GB" sz="1600" b="1" i="1">
                            <a:latin typeface="Cambria Math" panose="02040503050406030204" pitchFamily="18" charset="0"/>
                          </a:rPr>
                          <m:t>𝟐</m:t>
                        </m:r>
                      </m:sub>
                    </m:sSub>
                  </m:oMath>
                </a14:m>
                <a:r>
                  <a:rPr lang="en-GB" sz="1600" b="1" dirty="0"/>
                  <a:t> so</a:t>
                </a:r>
              </a:p>
              <a:p>
                <a:pPr/>
                <a14:m>
                  <m:oMathPara xmlns:m="http://schemas.openxmlformats.org/officeDocument/2006/math">
                    <m:oMathParaPr>
                      <m:jc m:val="centerGroup"/>
                    </m:oMathParaPr>
                    <m:oMath xmlns:m="http://schemas.openxmlformats.org/officeDocument/2006/math">
                      <m:f>
                        <m:fPr>
                          <m:ctrlPr>
                            <a:rPr lang="en-GB" sz="1600" b="1" i="1">
                              <a:latin typeface="Cambria Math" panose="02040503050406030204" pitchFamily="18" charset="0"/>
                            </a:rPr>
                          </m:ctrlPr>
                        </m:fPr>
                        <m:num>
                          <m:r>
                            <a:rPr lang="en-GB" sz="1600" b="1" i="1">
                              <a:latin typeface="Cambria Math" panose="02040503050406030204" pitchFamily="18" charset="0"/>
                            </a:rPr>
                            <m:t>𝟒</m:t>
                          </m:r>
                        </m:num>
                        <m:den>
                          <m:r>
                            <a:rPr lang="en-GB" sz="1600" b="1" i="1">
                              <a:latin typeface="Cambria Math" panose="02040503050406030204" pitchFamily="18" charset="0"/>
                            </a:rPr>
                            <m:t>𝟑</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𝟑</m:t>
                              </m:r>
                            </m:num>
                            <m:den>
                              <m:r>
                                <a:rPr lang="en-GB" sz="1600" b="1" i="1">
                                  <a:latin typeface="Cambria Math" panose="02040503050406030204" pitchFamily="18" charset="0"/>
                                </a:rPr>
                                <m:t>𝟐</m:t>
                              </m:r>
                            </m:den>
                          </m:f>
                        </m:sup>
                      </m:sSup>
                      <m:r>
                        <a:rPr lang="en-GB" sz="1600" b="1" i="1">
                          <a:latin typeface="Cambria Math" panose="02040503050406030204" pitchFamily="18" charset="0"/>
                        </a:rPr>
                        <m:t>&gt;</m:t>
                      </m:r>
                      <m:f>
                        <m:fPr>
                          <m:ctrlPr>
                            <a:rPr lang="en-GB" sz="1600" b="1" i="1">
                              <a:latin typeface="Cambria Math" panose="02040503050406030204" pitchFamily="18" charset="0"/>
                            </a:rPr>
                          </m:ctrlPr>
                        </m:fPr>
                        <m:num>
                          <m:r>
                            <a:rPr lang="en-GB" sz="1600" b="1" i="1">
                              <a:latin typeface="Cambria Math" panose="02040503050406030204" pitchFamily="18" charset="0"/>
                            </a:rPr>
                            <m:t>𝟖</m:t>
                          </m:r>
                        </m:num>
                        <m:den>
                          <m:r>
                            <a:rPr lang="en-GB" sz="1600" b="1" i="1">
                              <a:latin typeface="Cambria Math" panose="02040503050406030204" pitchFamily="18" charset="0"/>
                            </a:rPr>
                            <m:t>𝟓</m:t>
                          </m:r>
                        </m:den>
                      </m:f>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𝟓</m:t>
                              </m:r>
                            </m:num>
                            <m:den>
                              <m:r>
                                <a:rPr lang="en-GB" sz="1600" b="1" i="1">
                                  <a:latin typeface="Cambria Math" panose="02040503050406030204" pitchFamily="18" charset="0"/>
                                </a:rPr>
                                <m:t>𝟒</m:t>
                              </m:r>
                            </m:den>
                          </m:f>
                        </m:sup>
                      </m:sSup>
                    </m:oMath>
                    <m:oMath xmlns:m="http://schemas.openxmlformats.org/officeDocument/2006/math">
                      <m:r>
                        <a:rPr lang="en-GB" sz="1600" b="1" i="1">
                          <a:latin typeface="Cambria Math" panose="02040503050406030204" pitchFamily="18" charset="0"/>
                        </a:rPr>
                        <m:t>𝟐𝟎</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𝟔</m:t>
                              </m:r>
                            </m:num>
                            <m:den>
                              <m:r>
                                <a:rPr lang="en-GB" sz="1600" b="1" i="1">
                                  <a:latin typeface="Cambria Math" panose="02040503050406030204" pitchFamily="18" charset="0"/>
                                </a:rPr>
                                <m:t>𝟒</m:t>
                              </m:r>
                            </m:den>
                          </m:f>
                        </m:sup>
                      </m:sSup>
                      <m:r>
                        <a:rPr lang="en-GB" sz="1600" b="1" i="1">
                          <a:latin typeface="Cambria Math" panose="02040503050406030204" pitchFamily="18" charset="0"/>
                        </a:rPr>
                        <m:t>&gt;</m:t>
                      </m:r>
                      <m:r>
                        <a:rPr lang="en-GB" sz="1600" b="1" i="1">
                          <a:latin typeface="Cambria Math" panose="02040503050406030204" pitchFamily="18" charset="0"/>
                        </a:rPr>
                        <m:t>𝟐𝟒</m:t>
                      </m:r>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𝟓</m:t>
                              </m:r>
                            </m:num>
                            <m:den>
                              <m:r>
                                <a:rPr lang="en-GB" sz="1600" b="1" i="1">
                                  <a:latin typeface="Cambria Math" panose="02040503050406030204" pitchFamily="18" charset="0"/>
                                </a:rPr>
                                <m:t>𝟒</m:t>
                              </m:r>
                            </m:den>
                          </m:f>
                        </m:sup>
                      </m:sSup>
                    </m:oMath>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𝒂</m:t>
                          </m:r>
                        </m:e>
                        <m:sup>
                          <m:f>
                            <m:fPr>
                              <m:ctrlPr>
                                <a:rPr lang="en-GB" sz="1600" b="1" i="1">
                                  <a:latin typeface="Cambria Math" panose="02040503050406030204" pitchFamily="18" charset="0"/>
                                </a:rPr>
                              </m:ctrlPr>
                            </m:fPr>
                            <m:num>
                              <m:r>
                                <a:rPr lang="en-GB" sz="1600" b="1" i="1">
                                  <a:latin typeface="Cambria Math" panose="02040503050406030204" pitchFamily="18" charset="0"/>
                                </a:rPr>
                                <m:t>𝟏</m:t>
                              </m:r>
                            </m:num>
                            <m:den>
                              <m:r>
                                <a:rPr lang="en-GB" sz="1600" b="1" i="1">
                                  <a:latin typeface="Cambria Math" panose="02040503050406030204" pitchFamily="18" charset="0"/>
                                </a:rPr>
                                <m:t>𝟒</m:t>
                              </m:r>
                            </m:den>
                          </m:f>
                        </m:sup>
                      </m:sSup>
                      <m:r>
                        <a:rPr lang="en-GB" sz="1600" b="1" i="1">
                          <a:latin typeface="Cambria Math" panose="02040503050406030204" pitchFamily="18" charset="0"/>
                        </a:rPr>
                        <m:t>&gt;</m:t>
                      </m:r>
                      <m:f>
                        <m:fPr>
                          <m:ctrlPr>
                            <a:rPr lang="en-GB" sz="1600" b="1" i="1">
                              <a:latin typeface="Cambria Math" panose="02040503050406030204" pitchFamily="18" charset="0"/>
                            </a:rPr>
                          </m:ctrlPr>
                        </m:fPr>
                        <m:num>
                          <m:r>
                            <a:rPr lang="en-GB" sz="1600" b="1" i="1">
                              <a:latin typeface="Cambria Math" panose="02040503050406030204" pitchFamily="18" charset="0"/>
                            </a:rPr>
                            <m:t>𝟔</m:t>
                          </m:r>
                        </m:num>
                        <m:den>
                          <m:r>
                            <a:rPr lang="en-GB" sz="1600" b="1" i="1">
                              <a:latin typeface="Cambria Math" panose="02040503050406030204" pitchFamily="18" charset="0"/>
                            </a:rPr>
                            <m:t>𝟓</m:t>
                          </m:r>
                        </m:den>
                      </m:f>
                    </m:oMath>
                  </m:oMathPara>
                </a14:m>
                <a:endParaRPr lang="en-GB" sz="1600" b="1" dirty="0"/>
              </a:p>
              <a:p>
                <a:r>
                  <a:rPr lang="en-GB" sz="1600" b="1" dirty="0"/>
                  <a:t>and so the answer is (e).</a:t>
                </a:r>
              </a:p>
            </p:txBody>
          </p:sp>
        </mc:Choice>
        <mc:Fallback xmlns="">
          <p:sp>
            <p:nvSpPr>
              <p:cNvPr id="10" name="TextBox 9"/>
              <p:cNvSpPr txBox="1">
                <a:spLocks noRot="1" noChangeAspect="1" noMove="1" noResize="1" noEditPoints="1" noAdjustHandles="1" noChangeArrowheads="1" noChangeShapeType="1" noTextEdit="1"/>
              </p:cNvSpPr>
              <p:nvPr/>
            </p:nvSpPr>
            <p:spPr>
              <a:xfrm>
                <a:off x="7028476" y="1175490"/>
                <a:ext cx="3419996" cy="4624407"/>
              </a:xfrm>
              <a:prstGeom prst="rect">
                <a:avLst/>
              </a:prstGeom>
              <a:blipFill>
                <a:blip r:embed="rId3"/>
                <a:stretch>
                  <a:fillRect l="-1070" t="-396" r="-535" b="-792"/>
                </a:stretch>
              </a:blipFill>
            </p:spPr>
            <p:txBody>
              <a:bodyPr/>
              <a:lstStyle/>
              <a:p>
                <a:r>
                  <a:rPr lang="en-GB">
                    <a:noFill/>
                  </a:rPr>
                  <a:t> </a:t>
                </a:r>
              </a:p>
            </p:txBody>
          </p:sp>
        </mc:Fallback>
      </mc:AlternateContent>
      <p:sp>
        <p:nvSpPr>
          <p:cNvPr id="12" name="Rectangle 11"/>
          <p:cNvSpPr/>
          <p:nvPr/>
        </p:nvSpPr>
        <p:spPr>
          <a:xfrm>
            <a:off x="6884460" y="1050291"/>
            <a:ext cx="3564012" cy="489437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32" name="Rectangle 31"/>
          <p:cNvSpPr/>
          <p:nvPr/>
        </p:nvSpPr>
        <p:spPr>
          <a:xfrm>
            <a:off x="2569408" y="1726403"/>
            <a:ext cx="2730877" cy="5458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Tree>
    <p:extLst>
      <p:ext uri="{BB962C8B-B14F-4D97-AF65-F5344CB8AC3E}">
        <p14:creationId xmlns:p14="http://schemas.microsoft.com/office/powerpoint/2010/main" val="33318256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2"/>
                                        </p:tgtEl>
                                      </p:cBhvr>
                                    </p:animEffect>
                                    <p:set>
                                      <p:cBhvr>
                                        <p:cTn id="13"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childTnLst>
        </p:cTn>
      </p:par>
    </p:tnLst>
    <p:bldLst>
      <p:bldP spid="12" grpId="0" animBg="1"/>
      <p:bldP spid="32" grpId="0" animBg="1"/>
    </p:bldLst>
  </p:timing>
</p:sld>
</file>

<file path=ppt/c13/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c13/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c13/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c13/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