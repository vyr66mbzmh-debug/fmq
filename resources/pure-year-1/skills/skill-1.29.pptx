
<file path=[Content_Types].xml><?xml version="1.0" encoding="utf-8"?>
<ns0:Types xmlns:ns0="http://schemas.openxmlformats.org/package/2006/content-types">
  <ns0:Default Extension="png" ContentType="image/png"/>
  <ns0:Default Extension="rels" ContentType="application/vnd.openxmlformats-package.relationships+xml"/>
  <ns0:Default Extension="xml" ContentType="application/xml"/>
  <ns0:Override PartName="/ppt/c8/ppt/slideMasters/slideMaster1.xml" ContentType="application/vnd.openxmlformats-officedocument.presentationml.slideMaster+xml"/>
  <ns0:Override PartName="/ppt/c8/ppt/slides/slide4.xml" ContentType="application/vnd.openxmlformats-officedocument.presentationml.slide+xml"/>
  <ns0:Override PartName="/ppt/c8/ppt/slides/slide5.xml" ContentType="application/vnd.openxmlformats-officedocument.presentationml.slide+xml"/>
  <ns0:Override PartName="/ppt/c8/ppt/slides/slide6.xml" ContentType="application/vnd.openxmlformats-officedocument.presentationml.slide+xml"/>
  <ns0:Override PartName="/ppt/c8/ppt/slides/slide7.xml" ContentType="application/vnd.openxmlformats-officedocument.presentationml.slide+xml"/>
  <ns0:Override PartName="/ppt/c8/ppt/slides/slide8.xml" ContentType="application/vnd.openxmlformats-officedocument.presentationml.slide+xml"/>
  <ns0:Override PartName="/ppt/c8/ppt/slides/slide9.xml" ContentType="application/vnd.openxmlformats-officedocument.presentationml.slide+xml"/>
  <ns0:Override PartName="/ppt/c8/ppt/slides/slide10.xml" ContentType="application/vnd.openxmlformats-officedocument.presentationml.slide+xml"/>
  <ns0:Override PartName="/ppt/c8/ppt/slides/slide11.xml" ContentType="application/vnd.openxmlformats-officedocument.presentationml.slide+xml"/>
  <ns0:Override PartName="/ppt/c8/ppt/slides/slide12.xml" ContentType="application/vnd.openxmlformats-officedocument.presentationml.slide+xml"/>
  <ns0:Override PartName="/ppt/c8/ppt/slides/slide13.xml" ContentType="application/vnd.openxmlformats-officedocument.presentationml.slide+xml"/>
  <ns0:Override PartName="/ppt/c8/ppt/slides/slide14.xml" ContentType="application/vnd.openxmlformats-officedocument.presentationml.slide+xml"/>
  <ns0:Override PartName="/ppt/c8/ppt/slides/slide15.xml" ContentType="application/vnd.openxmlformats-officedocument.presentationml.slide+xml"/>
  <ns0:Override PartName="/ppt/c8/ppt/slides/slide16.xml" ContentType="application/vnd.openxmlformats-officedocument.presentationml.slide+xml"/>
  <ns0:Override PartName="/ppt/c8/ppt/slides/slide17.xml" ContentType="application/vnd.openxmlformats-officedocument.presentationml.slide+xml"/>
  <ns0:Override PartName="/ppt/c8/ppt/slides/slide18.xml" ContentType="application/vnd.openxmlformats-officedocument.presentationml.slide+xml"/>
  <ns0:Override PartName="/ppt/c8/ppt/slides/slide19.xml" ContentType="application/vnd.openxmlformats-officedocument.presentationml.slide+xml"/>
  <ns0:Override PartName="/ppt/c8/ppt/slides/slide20.xml" ContentType="application/vnd.openxmlformats-officedocument.presentationml.slide+xml"/>
  <ns0:Override PartName="/ppt/c8/ppt/slides/slide21.xml" ContentType="application/vnd.openxmlformats-officedocument.presentationml.slide+xml"/>
  <ns0:Override PartName="/ppt/c8/ppt/slides/slide22.xml" ContentType="application/vnd.openxmlformats-officedocument.presentationml.slide+xml"/>
  <ns0:Override PartName="/ppt/c8/ppt/slides/slide23.xml" ContentType="application/vnd.openxmlformats-officedocument.presentationml.slide+xml"/>
  <ns0:Override PartName="/ppt/c8/ppt/slides/slide24.xml" ContentType="application/vnd.openxmlformats-officedocument.presentationml.slide+xml"/>
  <ns0:Override PartName="/ppt/c8/ppt/slides/slide25.xml" ContentType="application/vnd.openxmlformats-officedocument.presentationml.slide+xml"/>
  <ns0:Override PartName="/ppt/c8/ppt/slides/slide26.xml" ContentType="application/vnd.openxmlformats-officedocument.presentationml.slide+xml"/>
  <ns0:Override PartName="/ppt/c8/ppt/slides/slide27.xml" ContentType="application/vnd.openxmlformats-officedocument.presentationml.slide+xml"/>
  <ns0:Override PartName="/ppt/c8/ppt/slides/slide28.xml" ContentType="application/vnd.openxmlformats-officedocument.presentationml.slide+xml"/>
  <ns0:Override PartName="/ppt/c8/ppt/slides/slide29.xml" ContentType="application/vnd.openxmlformats-officedocument.presentationml.slide+xml"/>
  <ns0:Override PartName="/ppt/c8/ppt/slides/slide30.xml" ContentType="application/vnd.openxmlformats-officedocument.presentationml.slide+xml"/>
  <ns0:Override PartName="/ppt/c8/ppt/slides/slide31.xml" ContentType="application/vnd.openxmlformats-officedocument.presentationml.slide+xml"/>
  <ns0:Override PartName="/ppt/c8/ppt/slides/slide32.xml" ContentType="application/vnd.openxmlformats-officedocument.presentationml.slide+xml"/>
  <ns0:Override PartName="/ppt/c8/ppt/slides/slide33.xml" ContentType="application/vnd.openxmlformats-officedocument.presentationml.slide+xml"/>
  <ns0:Override PartName="/ppt/c8/ppt/slides/slide34.xml" ContentType="application/vnd.openxmlformats-officedocument.presentationml.slide+xml"/>
  <ns0:Override PartName="/ppt/c8/ppt/slides/slide35.xml" ContentType="application/vnd.openxmlformats-officedocument.presentationml.slide+xml"/>
  <ns0:Override PartName="/ppt/c8/ppt/slides/slide36.xml" ContentType="application/vnd.openxmlformats-officedocument.presentationml.slide+xml"/>
  <ns0:Override PartName="/ppt/c8/ppt/slides/slide37.xml" ContentType="application/vnd.openxmlformats-officedocument.presentationml.slide+xml"/>
  <ns0:Override PartName="/ppt/c8/ppt/slides/slide38.xml" ContentType="application/vnd.openxmlformats-officedocument.presentationml.slide+xml"/>
  <ns0:Override PartName="/ppt/c8/ppt/slides/slide39.xml" ContentType="application/vnd.openxmlformats-officedocument.presentationml.slide+xml"/>
  <ns0:Override PartName="/ppt/c8/ppt/notesMasters/notesMaster1.xml" ContentType="application/vnd.openxmlformats-officedocument.presentationml.notesMaster+xml"/>
  <ns0:Override PartName="/ppt/c8/ppt/theme/theme1.xml" ContentType="application/vnd.openxmlformats-officedocument.theme+xml"/>
  <ns0:Override PartName="/ppt/c8/ppt/slideLayouts/slideLayout1.xml" ContentType="application/vnd.openxmlformats-officedocument.presentationml.slideLayout+xml"/>
  <ns0:Override PartName="/ppt/c8/ppt/slideLayouts/slideLayout2.xml" ContentType="application/vnd.openxmlformats-officedocument.presentationml.slideLayout+xml"/>
  <ns0:Override PartName="/ppt/c8/ppt/theme/theme2.xml" ContentType="application/vnd.openxmlformats-officedocument.theme+xml"/>
  <ns0:Override PartName="/ppt/c8/ppt/ink/ink1.xml" ContentType="application/inkml+xml"/>
  <ns0:Override PartName="/ppt/c8/ppt/ink/ink2.xml" ContentType="application/inkml+xml"/>
  <ns0:Override PartName="/ppt/c8/ppt/ink/ink3.xml" ContentType="application/inkml+xml"/>
  <ns0:Override PartName="/ppt/presentation.xml" ContentType="application/vnd.openxmlformats-officedocument.presentationml.presentation.main+xml"/>
</ns0:Types>
</file>

<file path=_rels/.rels><?xml version='1.0' encoding='utf-8'?>
<ns0:Relationships xmlns:ns0="http://schemas.openxmlformats.org/package/2006/relationships"><ns0:Relationship Id="rId1" Type="http://schemas.openxmlformats.org/officeDocument/2006/relationships/officeDocument" Target="ppt/presentation.xml" /></ns0:Relationships>
</file>

<file path=ppt/presentation.xml><?xml version="1.0" encoding="utf-8"?>
<p:presentation xmlns:p="http://schemas.openxmlformats.org/presentationml/2006/main" xmlns:r="http://schemas.openxmlformats.org/officeDocument/2006/relationships" saveSubsetFonts="1">
  <p:sldMasterIdLst>
    <p:sldMasterId id="2147484448" r:id="rId37"/>
  </p:sldMasterIdLst>
  <p:notesMasterIdLst>
    <p:notesMasterId r:id="rId38"/>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Lst>
  <p:sldSz cx="12192000" cy="6858000"/>
  <p:notesSz cx="6858000" cy="9144000"/>
</p:presentation>
</file>

<file path=ppt/_rels/presentation.xml.rels><?xml version='1.0' encoding='utf-8'?>
<ns0:Relationships xmlns:ns0="http://schemas.openxmlformats.org/package/2006/relationships"><ns0:Relationship Id="rId1" Type="http://schemas.openxmlformats.org/officeDocument/2006/relationships/slide" Target="c8/ppt/slides/slide4.xml" /><ns0:Relationship Id="rId2" Type="http://schemas.openxmlformats.org/officeDocument/2006/relationships/slide" Target="c8/ppt/slides/slide5.xml" /><ns0:Relationship Id="rId3" Type="http://schemas.openxmlformats.org/officeDocument/2006/relationships/slide" Target="c8/ppt/slides/slide6.xml" /><ns0:Relationship Id="rId4" Type="http://schemas.openxmlformats.org/officeDocument/2006/relationships/slide" Target="c8/ppt/slides/slide7.xml" /><ns0:Relationship Id="rId5" Type="http://schemas.openxmlformats.org/officeDocument/2006/relationships/slide" Target="c8/ppt/slides/slide8.xml" /><ns0:Relationship Id="rId6" Type="http://schemas.openxmlformats.org/officeDocument/2006/relationships/slide" Target="c8/ppt/slides/slide9.xml" /><ns0:Relationship Id="rId7" Type="http://schemas.openxmlformats.org/officeDocument/2006/relationships/slide" Target="c8/ppt/slides/slide10.xml" /><ns0:Relationship Id="rId8" Type="http://schemas.openxmlformats.org/officeDocument/2006/relationships/slide" Target="c8/ppt/slides/slide11.xml" /><ns0:Relationship Id="rId9" Type="http://schemas.openxmlformats.org/officeDocument/2006/relationships/slide" Target="c8/ppt/slides/slide12.xml" /><ns0:Relationship Id="rId10" Type="http://schemas.openxmlformats.org/officeDocument/2006/relationships/slide" Target="c8/ppt/slides/slide13.xml" /><ns0:Relationship Id="rId11" Type="http://schemas.openxmlformats.org/officeDocument/2006/relationships/slide" Target="c8/ppt/slides/slide14.xml" /><ns0:Relationship Id="rId12" Type="http://schemas.openxmlformats.org/officeDocument/2006/relationships/slide" Target="c8/ppt/slides/slide15.xml" /><ns0:Relationship Id="rId13" Type="http://schemas.openxmlformats.org/officeDocument/2006/relationships/slide" Target="c8/ppt/slides/slide16.xml" /><ns0:Relationship Id="rId14" Type="http://schemas.openxmlformats.org/officeDocument/2006/relationships/slide" Target="c8/ppt/slides/slide17.xml" /><ns0:Relationship Id="rId15" Type="http://schemas.openxmlformats.org/officeDocument/2006/relationships/slide" Target="c8/ppt/slides/slide18.xml" /><ns0:Relationship Id="rId16" Type="http://schemas.openxmlformats.org/officeDocument/2006/relationships/slide" Target="c8/ppt/slides/slide19.xml" /><ns0:Relationship Id="rId17" Type="http://schemas.openxmlformats.org/officeDocument/2006/relationships/slide" Target="c8/ppt/slides/slide20.xml" /><ns0:Relationship Id="rId18" Type="http://schemas.openxmlformats.org/officeDocument/2006/relationships/slide" Target="c8/ppt/slides/slide21.xml" /><ns0:Relationship Id="rId19" Type="http://schemas.openxmlformats.org/officeDocument/2006/relationships/slide" Target="c8/ppt/slides/slide22.xml" /><ns0:Relationship Id="rId20" Type="http://schemas.openxmlformats.org/officeDocument/2006/relationships/slide" Target="c8/ppt/slides/slide23.xml" /><ns0:Relationship Id="rId21" Type="http://schemas.openxmlformats.org/officeDocument/2006/relationships/slide" Target="c8/ppt/slides/slide24.xml" /><ns0:Relationship Id="rId22" Type="http://schemas.openxmlformats.org/officeDocument/2006/relationships/slide" Target="c8/ppt/slides/slide25.xml" /><ns0:Relationship Id="rId23" Type="http://schemas.openxmlformats.org/officeDocument/2006/relationships/slide" Target="c8/ppt/slides/slide26.xml" /><ns0:Relationship Id="rId24" Type="http://schemas.openxmlformats.org/officeDocument/2006/relationships/slide" Target="c8/ppt/slides/slide27.xml" /><ns0:Relationship Id="rId25" Type="http://schemas.openxmlformats.org/officeDocument/2006/relationships/slide" Target="c8/ppt/slides/slide28.xml" /><ns0:Relationship Id="rId26" Type="http://schemas.openxmlformats.org/officeDocument/2006/relationships/slide" Target="c8/ppt/slides/slide29.xml" /><ns0:Relationship Id="rId27" Type="http://schemas.openxmlformats.org/officeDocument/2006/relationships/slide" Target="c8/ppt/slides/slide30.xml" /><ns0:Relationship Id="rId28" Type="http://schemas.openxmlformats.org/officeDocument/2006/relationships/slide" Target="c8/ppt/slides/slide31.xml" /><ns0:Relationship Id="rId29" Type="http://schemas.openxmlformats.org/officeDocument/2006/relationships/slide" Target="c8/ppt/slides/slide32.xml" /><ns0:Relationship Id="rId30" Type="http://schemas.openxmlformats.org/officeDocument/2006/relationships/slide" Target="c8/ppt/slides/slide33.xml" /><ns0:Relationship Id="rId31" Type="http://schemas.openxmlformats.org/officeDocument/2006/relationships/slide" Target="c8/ppt/slides/slide34.xml" /><ns0:Relationship Id="rId32" Type="http://schemas.openxmlformats.org/officeDocument/2006/relationships/slide" Target="c8/ppt/slides/slide35.xml" /><ns0:Relationship Id="rId33" Type="http://schemas.openxmlformats.org/officeDocument/2006/relationships/slide" Target="c8/ppt/slides/slide36.xml" /><ns0:Relationship Id="rId34" Type="http://schemas.openxmlformats.org/officeDocument/2006/relationships/slide" Target="c8/ppt/slides/slide37.xml" /><ns0:Relationship Id="rId35" Type="http://schemas.openxmlformats.org/officeDocument/2006/relationships/slide" Target="c8/ppt/slides/slide38.xml" /><ns0:Relationship Id="rId36" Type="http://schemas.openxmlformats.org/officeDocument/2006/relationships/slide" Target="c8/ppt/slides/slide39.xml" /><ns0:Relationship Id="rId37" Type="http://schemas.openxmlformats.org/officeDocument/2006/relationships/slideMaster" Target="c8/ppt/slideMasters/slideMaster1.xml" /><ns0:Relationship Id="rId38" Type="http://schemas.openxmlformats.org/officeDocument/2006/relationships/notesMaster" Target="c8/ppt/notesMasters/notesMaster1.xml" /></ns0:Relationships>
</file>

<file path=ppt/c8/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09:29:24.797"/>
    </inkml:context>
    <inkml:brush xml:id="br0">
      <inkml:brushProperty name="width" value="0.05" units="cm"/>
      <inkml:brushProperty name="height" value="0.3" units="cm"/>
      <inkml:brushProperty name="color" value="#FFFFFF"/>
      <inkml:brushProperty name="inkEffects" value="pencil"/>
    </inkml:brush>
  </inkml:definitions>
  <inkml:trace contextRef="#ctx0" brushRef="#br0">125 115 456 181588 54320,'1'-1'0'0'0,"-1"-1"288"0"0,0 0 336 0 0,-1 1-312 0 0,1-1 1153 0 0,-2-2 959 0 0,1 1-1104 0 0,-2 3 921 0 0,0 4-1697 0 0,0 4-40 0 0,0 2-384 0 0,-1 3 64 0 0,1 1-96 0 0,0-1-88 0 0,1-1 0 0 0,0-1-64 0 0,1-1 64 0 0,0-2 0 0 0,0-2 0 0 0,2-2 0 0 0,-1-1-72 0 0,0-2 72 0 0,0-1 0 0 0,0-2-64 0 0,0 0 64 0 0,0 0 0 0 0,0-3 0 0 0,0 0 0 0 0,1 0 0 0 0,0-1 0 0 0,1-1 0 0 0,0 1 0 0 0,1-2 0 0 0,1 0 0 0 0,-1 0 0 0 0,0 0 0 0 0,0 1 0 0 0,-1-1 0 0 0,0 1 72 0 0,-1 0 8 0 0,0 0 80 0 0,-2 1-80 0 0,0 0 72 0 0,-1 2 8 0 0,0 1 8 0 0,0 2 0 0 0,-1 0-8 0 0,1 1-7 0 0,-1 2-1 0 0,1 1 0 0 0,-1 1 72 0 0,1 1 8 0 0,-1 1 8 0 0,1 1 0 0 0,0 2-32 0 0,0 0-8 0 0,1 1 0 0 0,0 2 96 0 0,1 1-232 0 0,-1-1 0 0 0,1 0 0 0 0,1 0-64 0 0,-1-2 0 0 0,1-1 0 0 0,0-1-72 0 0,1-2 72 0 0,-1-2 0 0 0,0-1 0 0 0,0-3 0 0 0,1-1 0 0 0,-1-2 0 0 0,0-1 0 0 0,1-2 0 0 0,0-1 64 0 0,1 0-64 0 0,-1 0 192 0 0,-1 0-16 0 0,1 0 0 0 0,0-1 0 0 0,0 0-32 0 0,0-1 128 0 0,0-1-136 0 0,0 0-64 0 0,-1 0-8 0 0,-1 1-64 0 0,0 0 96 0 0,-1 0-24 0 0,-1 0-72 0 0,0 2 64 0 0,-1 1-64 0 0,-1 1 0 0 0,0 3 0 0 0,0 0 0 0 0,0 3 0 0 0,1 0 0 0 0,0 3 0 0 0,-1 1 0 0 0,1 0 0 0 0,1 3 0 0 0,-1 1 80 0 0,2 1 8 0 0,-1 1 0 0 0,2 2-16 0 0,0 2-72 0 0,1-1 0 0 0,1 0 0 0 0,1-2 0 0 0,0-2 0 0 0,1-2 0 0 0,1-4 0 0 0,-1-2 0 0 0,0-2 0 0 0,0-2 0 0 0,-1-2 64 0 0,0-1-64 0 0,0 0 0 0 0,0-2 0 0 0,0 0 64 0 0,0-1-64 0 0,-1 0 0 0 0,0-1 80 0 0,0 1-16 0 0,-1 0-64 0 0,0 0 97 0 0,0 0-17 0 0,-1-2 64 0 0,-1-1-72 0 0,0 0-72 0 0,0-1 0 0 0,-2 1 0 0 0,0 1 0 0 0,0 1 0 0 0,-1 1 0 0 0,-1 1 0 0 0,0 3 0 0 0,0 2 0 0 0,1 3 0 0 0,0 2 0 0 0,1 1 0 0 0,0 2 0 0 0,1 1 0 0 0,-1 1 96 0 0,1 1 0 0 0,0 2 0 0 0,0 2 0 0 0,-1 1-16 0 0,1 2-80 0 0,0-1 80 0 0,0 0-80 0 0,1 1 0 0 0,0 0 0 0 0,0-1 0 0 0,0-2 0 0 0,1-1 0 0 0,0-2 64 0 0,0-1 8 0 0,0-2 0 0 0,0-1 0 0 0,1-1 0 0 0,0-1 64 0 0,0-1 16 0 0,1-2 0 0 0,-1 0 0 0 0,1-1-72 0 0,0-1-16 0 0,0-2 0 0 0,1-1 96 0 0,0-2-56 0 0,1-2 0 0 0,0 0 0 0 0,0-2-104 0 0,-1 0 88 0 0,1-1-88 0 0,1-2 80 0 0,-1-3-80 0 0,0 0 0 0 0,-1 0 0 0 0,1 0 0 0 0,-1 2 0 0 0,-1 0 0 0 0,-1 1 0 0 0,0 1 0 0 0,-1 1 0 0 0,0 1 0 0 0,-2 0 0 0 0,0 2 0 0 0,0 3 0 0 0,0 2 0 0 0,-1 3 0 0 0,0 2 0 0 0,0 3 0 0 0,0 2 0 0 0,0 2 96 0 0,0 1-16 0 0,-1 3 0 0 0,1 2 16 0 0,-1 0-96 0 0,1 1 96 0 0,1 0-96 0 0,0 0 0 0 0,0-2 0 0 0,1 3 0 0 0,-1 0 0 0 0,1-1 0 0 0,-1-2 0 0 0,1 0 64 0 0,1-2-64 0 0,-1-2 0 0 0,1-1 64 0 0,0-2 32 0 0,1-1 8 0 0,-1 0 0 0 0,2-2 64 0 0,-1 0-168 0 0,2-2 88 0 0,-1-1-88 0 0,1-1 72 0 0,1-2-72 0 0,0-2 72 0 0,1-2-72 0 0,1-2 96 0 0,0-3 0 0 0,0 0-96 0 0,1-2 80 0 0,-1 0 0 0 0,0-2-80 0 0,-1 1 0 0 0,0-1 0 0 0,0-1 0 0 0,0-1 0 0 0,-2 2 64 0 0,0-1-64 0 0,-2-1 0 0 0,-1 3 0 0 0,-2 1 0 0 0,0 4 0 0 0,-1 2 64 0 0,1 2-64 0 0,-2 3 0 0 0,0 2 0 0 0,-1 3 96 0 0,-1 4 113 0 0,-1 5-33 0 0,1 2-112 0 0,1 1 0 0 0,0 4 0 0 0,1 0-64 0 0,1 1 0 0 0,2 2 0 0 0,0-1 0 0 0,0-1 0 0 0,1 0 0 0 0,1-2 64 0 0,1-1-64 0 0,0-3 0 0 0,1-5 0 0 0,1-2 0 0 0,0-4 0 0 0,-1-2 0 0 0,2-4 0 0 0,0-3 88 0 0,1-5 24 0 0,1-2-24 0 0,-1-1-8 0 0,0 0 0 0 0,0 0-80 0 0,-2 1 0 0 0,-1 0 0 0 0,0-1 0 0 0,-1 0 64 0 0,-1-1 0 0 0,0 0 0 0 0,-1-1 0 0 0,-2 1-64 0 0,0 0-88 0 0,-1 1 24 0 0,-1-1 0 0 0,-2 1 64 0 0,1 2 0 0 0,-2 4 0 0 0,1 3 0 0 0,-1 5 0 0 0,1 3 0 0 0,0 3 0 0 0,0 6 152 0 0,0 2-88 0 0,1 2-64 0 0,0 4 0 0 0,0 3 0 0 0,1 2 0 0 0,2-3 0 0 0,0-1 0 0 0,2-3 0 0 0,0-2 0 0 0,1-3 0 0 0,0-2 0 0 0,1-2 64 0 0,0-1 0 0 0,0-3 0 0 0,1-1 0 0 0,0-1-64 0 0,0-2-152 0 0,1-2 88 0 0,0-1 64 0 0,1-4 152 0 0,0-2-88 0 0,0 0-64 0 0,0-5 0 0 0,0-1 0 0 0,0-1 88 0 0,0-3-24 0 0,0-4 32 0 0,0-2-160 0 0,-1 0-40 0 0,-1 2 104 0 0,-1 4 64 0 0,-1 3 0 0 0,0 3-64 0 0,-1 2 0 0 0,-1 2-80 0 0,-1 2 80 0 0,-1 4 0 0 0,0 2 72 0 0,-1 2-8 0 0,1 4-64 0 0,-1 2 0 0 0,0 3-64 0 0,-1 2 64 0 0,1 3 0 0 0,-1 2 0 0 0,0 1 0 0 0,0 0 64 0 0,0 0-64 0 0,1-1 0 0 0,0-1 0 0 0,1 2 0 0 0,-1-2 0 0 0,1-2 0 0 0,0-3 0 0 0,2-3 0 0 0,-1-3 0 0 0,2-5 0 0 0,0-5 0 0 0,2-7 0 0 0,2-9 64 0 0,2-5 0 0 0,1-6 16 0 0,-1 1-80 0 0,0 2 0 0 0,-1 3 0 0 0,-2 3-104 0 0,-2 0 32 0 0,-1 0 72 0 0,-1 2 0 0 0,-1 2 0 0 0,-2 2 0 0 0,1 5 0 0 0,-1 3 0 0 0,0 4 0 0 0,0 4 0 0 0,-1 6 0 0 0,0 4-80 0 0,0 3 80 0 0,-1 5-80 0 0,1 4 80 0 0,0 1 80 0 0,1 3-80 0 0,0 0 0 0 0,1-2 0 0 0,1-3 0 0 0,0-2 0 0 0,1-2 0 0 0,1-1 0 0 0,0-3 0 0 0,1-4 0 0 0,0-4 0 0 0,2-3 0 0 0,-1-5 0 0 0,1-1 0 0 0,1-6 0 0 0,0-3 0 0 0,0-1 0 0 0,0-1 0 0 0,0 1 0 0 0,-1-1 0 0 0,-1 1 0 0 0,0 0 0 0 0,-1 1-104 0 0,0-3 32 0 0,-2-3 72 0 0,-1-2 0 0 0,-1 1 0 0 0,0 4 0 0 0,0 4 0 0 0,0 5 0 0 0,-1 4 0 0 0,0 5 0 0 0,0 4 0 0 0,-1 3 0 0 0,0 5 0 0 0,1 2 88 0 0,-1 1-24 0 0,2 2 0 0 0,0-1-64 0 0,0 4-96 0 0,0 0 96 0 0,1-1 0 0 0,1-1 0 0 0,0 0 96 0 0,1-1-176 0 0,1-3 80 0 0,1-4 0 0 0,1-4 0 0 0,0-3 80 0 0,0-4-80 0 0,1-3-96 0 0,1-4 96 0 0,-1-2 0 0 0,1-3 0 0 0,1-4 96 0 0,-1-1-96 0 0,0 0 0 0 0,-2 0 0 0 0,0 2 0 0 0,-2-1 0 0 0,0 2 0 0 0,-1-3 0 0 0,-1-1 0 0 0,-1 1 0 0 0,0 1 0 0 0,-1 2 0 0 0,0 3 0 0 0,0 2 0 0 0,-1 3 0 0 0,1 2 0 0 0,0 2 0 0 0,-1 2 0 0 0,1 2 0 0 0,-2 5 0 0 0,0 4 0 0 0,-1 3 0 0 0,1 1 0 0 0,0 2 0 0 0,0 1 64 0 0,1 1-64 0 0,0 4 96 0 0,0 4 0 0 0,1 3-176 0 0,0-1 80 0 0,2-4 0 0 0,0-4 0 0 0,1-4 0 0 0,1-5 80 0 0,0-2-80 0 0,2-4-80 0 0,0-1 80 0 0,0-3 0 0 0,0-3 0 0 0,1-1 0 0 0,0-2 0 0 0,0-3 0 0 0,1-2 0 0 0,0-1 0 0 0,1-5 0 0 0,2-6 64 0 0,0-1-64 0 0,-1 0 0 0 0,-1-3 0 0 0,-1-2 0 0 0,-2-1 0 0 0,-1 3 0 0 0,-3 3 0 0 0,0 4 0 0 0,-1 4 0 0 0,-1 4-72 0 0,-1 3 72 0 0,1 2 0 0 0,0 2 64 0 0,-1 3-64 0 0,-1 3 0 0 0,1 1 0 0 0,-1 4-64 0 0,-1 6 64 0 0,0 5 0 0 0,1 1 0 0 0,0 0 0 0 0,1-1 0 0 0,1-2 0 0 0,0 0 0 0 0,1 1 64 0 0,1-1-64 0 0,1-3 0 0 0,1-2 0 0 0,0-2 0 0 0,0-2 0 0 0,2-3 0 0 0,-1-1 0 0 0,2-3 0 0 0,0-2 0 0 0,2-3 0 0 0,-1-3 0 0 0,1-1 0 0 0,0-2 0 0 0,0-4 0 0 0,1-3-64 0 0,-1 0 64 0 0,-1-1-64 0 0,0-1 64 0 0,-1-2-64 0 0,-2-3 64 0 0,-2-3-64 0 0,-1 1 64 0 0,-1 4 0 0 0,-3 1 0 0 0,-1 3 0 0 0,-2 3 0 0 0,0 4 0 0 0,0 4 0 0 0,1 5 0 0 0,0 5 0 0 0,0 3-96 0 0,1 2 32 0 0,1 3 64 0 0,0 6 0 0 0,-1 5 0 0 0,1 5 0 0 0,0 1 0 0 0,2-3 0 0 0,1-3 88 0 0,1-3-88 0 0,1-4 96 0 0,1-2-96 0 0,2-1-80 0 0,1-2 80 0 0,0-2 0 0 0,1-3 0 0 0,1-3 80 0 0,1-4-80 0 0,1-6 64 0 0,1-7 32 0 0,1-4 0 0 0,-1-2-96 0 0,-2-1 0 0 0,0 0 0 0 0,0-1 0 0 0,-2-1 0 0 0,0 3 0 0 0,-2 1 0 0 0,-1 2 0 0 0,-1-1 0 0 0,-1 2 0 0 0,0 1 0 0 0,-2 2 0 0 0,0 2 0 0 0,-1 4 0 0 0,0 4 0 0 0,-1 6 64 0 0,-1 6 64 0 0,-1 9-64 0 0,-1 6-64 0 0,1 3 0 0 0,-1 0 0 0 0,2 0 0 0 0,0-1 0 0 0,1-3 0 0 0,2-3 0 0 0,0-3 0 0 0,1-3 0 0 0,0-2 0 0 0,2-2 0 0 0,1-2 0 0 0,1-2 0 0 0,1-3 0 0 0,0-2 0 0 0,1-3 80 0 0,0-2-80 0 0,1-2 96 0 0,1-3-96 0 0,1-3 0 0 0,1-1 0 0 0,1-3-64 0 0,-1 0 64 0 0,0 1 0 0 0,0-3-72 0 0,0 1 8 0 0,-2 0 64 0 0,-1-1-64 0 0,0 1 128 0 0,-2 1-64 0 0,-2 3-80 0 0,-1 6 80 0 0,-2 4 0 0 0,-2 5 64 0 0,1 4-64 0 0,-2 3 0 0 0,0 4-160 0 0,-2 7 80 0 0,0 3 80 0 0,0 1 0 0 0,0-2 0 0 0,2-1 0 0 0,-1 0 0 0 0,1-1 0 0 0,1-2 0 0 0,0-3 0 0 0,1-3 0 0 0,2-4 0 0 0,-1-4 0 0 0,2-3 0 0 0,0-2 96 0 0,1-2-32 0 0,0-2 0 0 0,0-1-64 0 0,2-3 0 0 0,0-2 0 0 0,0 0 0 0 0,1-1 0 0 0,-1-1 0 0 0,2-3 0 0 0,0-2 0 0 0,-1 1 0 0 0,1-1-96 0 0,-2 0 96 0 0,-1 2 0 0 0,0 2 0 0 0,-2 2 0 0 0,-1 3 0 0 0,-1 3 0 0 0,-1 5 64 0 0,-1 3 24 0 0,0 3-88 0 0,-1 3-80 0 0,-2 7 80 0 0,0 3 0 0 0,0 2 0 0 0,0 2 80 0 0,0-1-80 0 0,0 3 0 0 0,0 1 0 0 0,0-1 0 0 0,2-2 0 0 0,1-4 0 0 0,1-3 0 0 0,1-4 0 0 0,2-4 0 0 0,1-4 0 0 0,0-2 0 0 0,2-4 0 0 0,0-2 0 0 0,1-5 0 0 0,1-2 0 0 0,1-2 0 0 0,2-5 0 0 0,0-2 0 0 0,0 0 0 0 0,0-3 0 0 0,0 1 0 0 0,-2 2 0 0 0,-1 1 0 0 0,-1 1 0 0 0,-1 1 0 0 0,-1 2 0 0 0,0 2 0 0 0,-2 5 0 0 0,-1 4 0 0 0,-1 6 0 0 0,-1 6 0 0 0,-2 7 0 0 0,-1 3 0 0 0,0 3 0 0 0,-1 2 0 0 0,0 2 0 0 0,0-2 0 0 0,0 2 0 0 0,0 0 0 0 0,1 0 0 0 0,1-4 0 0 0,1-5 0 0 0,2-7 0 0 0,3-7 0 0 0,1-6 0 0 0,2-4 0 0 0,0-3 0 0 0,1-2 0 0 0,-1-1 0 0 0,1 0 0 0 0,1-4 0 0 0,-1 0-72 0 0,0 0 72 0 0,-1 1-104 0 0,0 1 104 0 0,-1 0 0 0 0,0 0 0 0 0,-1 1 0 0 0,1 0-64 0 0,-2 2 64 0 0,1 2 0 0 0,-2 3 0 0 0,0 4 0 0 0,-1 3-72 0 0,0 4-24 0 0,-1 3 96 0 0,-2 3 0 0 0,0 3-64 0 0,0 2 64 0 0,-1 0 0 0 0,1 0 72 0 0,-2 0 24 0 0,1-2-96 0 0,0-2 0 0 0,1-2 0 0 0,1-2 0 0 0,-1-2-96 0 0,1-2 96 0 0,0-1 96 0 0,-1-2-96 0 0,0-1 0 0 0,-1-3-96 0 0,0-1 24 0 0,0 0 72 0 0,-1-2 0 0 0,0 0 0 0 0,0 0-64 0 0,0-1-64 0 0,-2 0 64 0 0,0 1 64 0 0,0 1 0 0 0,0 2 0 0 0,1 1 0 0 0,-1 1 0 0 0,1 1 0 0 0,0 1 0 0 0,1 1 0 0 0,1 2 0 0 0,1 4 0 0 0,1 1-64 0 0,1 1 64 0 0,0 2 0 0 0,2 0 0 0 0,1 4 0 0 0,1 1 72 0 0,1 1-72 0 0,1 1 88 0 0,1 2-8 0 0,2 0-80 0 0,-1-2 0 0 0,1-2 0 0 0,0-1 0 0 0,2-1 0 0 0,-1-3 0 0 0,0-3 0 0 0,0-2-64 0 0,-2-3 64 0 0,0-3-120 0 0,-2-1 32 0 0,-1-1 8 0 0,-1-2 0 0 0,0 0-104 0 0,-2-1-224 0 0,1-2 200 0 0,-2 0 104 0 0,0-2-64 0 0,-1-1 88 0 0,0 1 80 0 0,0 1-65 0 0,-2-1 65 0 0,0 1-64 0 0,-1-2 64 0 0,0 0 0 0 0,-1 0 0 0 0,-1-1 0 0 0,0 0 0 0 0,0-1 0 0 0,-1 0 0 0 0,-1 0 0 0 0,1 1 0 0 0,-1 0 0 0 0,-1 1 0 0 0,2 3 0 0 0,0 2-72 0 0,1 4 72 0 0,1 3 0 0 0,0 4 201 0 0,2 4-113 0 0,1 2-24 0 0,2 3 0 0 0,0 1 0 0 0,2 5 64 0 0,2 2-64 0 0,1 2 0 0 0,1-1 0 0 0,0 1-64 0 0,2 0 0 0 0,1-1 0 0 0,-1-1 64 0 0,2 0 64 0 0,1 0-64 0 0,0-2-64 0 0,0-3 0 0 0,-3-4 0 0 0,-1-5 0 0 0,-2-3 0 0 0,-2-3 0 0 0,-1-3 0 0 0,0-3 0 0 0,-2-1 0 0 0,0-3-88 0 0,0-1 88 0 0,-1-3-64 0 0,-2-4 0 0 0,-1-4 0 0 0,0-2 0 0 0,-2 1 64 0 0,1 2 0 0 0,0 1 0 0 0,-2 0 0 0 0,1 1 0 0 0,-1 1 0 0 0,0 1 0 0 0,0 3 0 0 0,0 2 0 0 0,0 2 88 0 0,0 2-88 0 0,1 4 0 0 0,0 3 64 0 0,1 2 216 0 0,0 5-64 0 0,0 1-216 0 0,1 1 72 0 0,0 0-72 0 0,2 1 120 0 0,0 2 64 0 0,0 3-96 0 0,2 0-88 0 0,0 0-80 0 0,1-1 80 0 0,2-1 0 0 0,0-3 80 0 0,0-2-80 0 0,0-4-80 0 0,0-4 80 0 0,0-4 0 0 0,-1-2 0 0 0,-1-3 80 0 0,1-1-232 0 0,-2-4-248 0 0,0-1 192 0 0,0-1 24 0 0,-1 1 8 0 0,0 0 0 0 0,-1 1 0 0 0,0 2 56 0 0,-1 1 15 0 0,-1 0 1 0 0,0 1 0 0 0,0 1 104 0 0,-1-1 0 0 0,-1 1-80 0 0,0 0-48 0 0,-1 0-96 0 0,-1 3 112 0 0,2 2 112 0 0,0 3 0 0 0,2 3-72 0 0,1 5 152 0 0,1 3-80 0 0,2 2 168 0 0,1 3 144 0 0,3 2-160 0 0,0 0-64 0 0,2 1 57 0 0,1 0-73 0 0,1-2 40 0 0,2 0 128 0 0,0-3-120 0 0,0-2-120 0 0,-1-4 0 0 0,-1-2 64 0 0,0-3 0 0 0,0-3 24 0 0,-2-2-88 0 0,0-1-88 0 0,-2-2-72 0 0,-2 0-8 0 0,0-3-160 0 0,0-3 39 0 0,-2-1 145 0 0,0-1-80 0 0,0 2-24 0 0,-1 0 0 0 0,0 0 0 0 0,-1 2 88 0 0,0-1 24 0 0,0 1 0 0 0,-1 0 0 0 0,0 1 40 0 0,0 0-88 0 0,-1 1 96 0 0,1 2 88 0 0,1 2 0 0 0,0 3 0 0 0,1 2 64 0 0,0 3 96 0 0,0 2 32 0 0,1 3 0 0 0,1 2 0 0 0,0 1 88 0 0,0 2 16 0 0,0 1 8 0 0,2 2 216 0 0,-1 0-327 0 0,2 0-1 0 0,0-1 136 0 0,0-1-80 0 0,1-2-192 0 0,0-2-272 0 0,1-3-761 0 0,-1-4-8705 0 0,0-2-1496 0 0</inkml:trace>
</inkml:ink>
</file>

<file path=ppt/c8/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9-30T09:29:29.141"/>
    </inkml:context>
    <inkml:brush xml:id="br0">
      <inkml:brushProperty name="width" value="0.035" units="cm"/>
      <inkml:brushProperty name="height" value="0.035" units="cm"/>
    </inkml:brush>
  </inkml:definitions>
  <inkml:trace contextRef="#ctx0" brushRef="#br0">5 43 3225 0 0,'-4'-3'7102'0'0,"4"3"-6910"0"0,0 0 0 0 0,0 0 0 0 0,0 0-1 0 0,0-1 1 0 0,4-7 2002 0 0,10-6-327 0 0,-5 10-1194 0 0,-6 1-343 0 0,1 2 1 0 0,-1-1-1 0 0,1 0 1 0 0,0 1 0 0 0,6-2-1 0 0,-8 3-263 0 0,-1 0 0 0 0,0 0-1 0 0,0 0 1 0 0,0 0 0 0 0,0 0 0 0 0,1 0 0 0 0,-1 0-1 0 0,0 0 1 0 0,0 1 0 0 0,0-1 0 0 0,0 0-1 0 0,0 1 1 0 0,0-1 0 0 0,0 1 0 0 0,0 0-1 0 0,0-1 1 0 0,0 1 0 0 0,0 0 0 0 0,0-1-1 0 0,0 1 1 0 0,0 0 0 0 0,-1 0 0 0 0,1 0-1 0 0,1 1 1 0 0,0 1-55 0 0,0 0-1 0 0,0 0 0 0 0,-1 0 1 0 0,1 0-1 0 0,-1 0 0 0 0,1 0 1 0 0,-1 1-1 0 0,0-1 0 0 0,0 0 1 0 0,-1 1-1 0 0,1-1 0 0 0,-1 1 1 0 0,1-1-1 0 0,-1 7 0 0 0,-1-1-54 0 0,-1 1 0 0 0,0-1 0 0 0,-6 17 0 0 0,-3 14 12 0 0,7-29 29 0 0,0 0 0 0 0,-1 0 1 0 0,-1 0-1 0 0,0-1 0 0 0,-10 15 0 0 0,15-24 2 0 0,-6 7 42 0 0,6-7 23 0 0,0 0 0 0 0,0 0 0 0 0,0 0 1 0 0,0 0-1 0 0,0 0 0 0 0,0 0 1 0 0,1 0-1 0 0,-1 1 0 0 0,0-1 0 0 0,1 0 1 0 0,-1 1-1 0 0,1-1 0 0 0,-1 0 0 0 0,1 1 1 0 0,-1-1-1 0 0,1 0 0 0 0,0 1 1 0 0,0 1-1 0 0,0-2-55 0 0,0 0 1 0 0,1-1 0 0 0,-1 1-1 0 0,0-1 1 0 0,1 1-1 0 0,-1-1 1 0 0,0 1-1 0 0,1 0 1 0 0,-1-1-1 0 0,1 0 1 0 0,-1 1 0 0 0,1-1-1 0 0,-1 1 1 0 0,1-1-1 0 0,0 1 1 0 0,-1-1-1 0 0,1 0 1 0 0,-1 0 0 0 0,1 1-1 0 0,0-1 1 0 0,-1 0-1 0 0,1 0 1 0 0,0 0-1 0 0,-1 1 1 0 0,1-1 0 0 0,0 0-1 0 0,-1 0 1 0 0,1 0-1 0 0,0 0 1 0 0,-1 0-1 0 0,1-1 1 0 0,0 1 0 0 0,0 0-1 0 0,30-4 515 0 0,-24 3-402 0 0,-3 1-91 0 0,-1-1 0 0 0,1 1 0 0 0,0 0 0 0 0,0 0 0 0 0,0 1 0 0 0,0-1 0 0 0,-1 1 0 0 0,1 0 0 0 0,0 0 0 0 0,0 0 0 0 0,-1 0 0 0 0,1 1 0 0 0,-1 0 0 0 0,1-1 0 0 0,-1 1 0 0 0,6 4 0 0 0,-9-5-32 0 0,1 0 0 0 0,1 0 0 0 0,-1 0 0 0 0,0 0 0 0 0,0 0 0 0 0,0 0 0 0 0,0 0 0 0 0,0-1 0 0 0,1 1 0 0 0,-1 0 0 0 0,3 0 0 0 0,-4-1-64 0 0,-6-4 130 0 0,-79-21-52 0 0,84 24-15 0 0,-1 1 0 0 0,1-1 0 0 0,0 1 0 0 0,-1-1 0 0 0,1 1 0 0 0,0-1 0 0 0,-1 1 0 0 0,1 0 0 0 0,-1 0 0 0 0,1 0 0 0 0,0 0 0 0 0,-1 0 0 0 0,1 0 0 0 0,-1 0 0 0 0,1 0 0 0 0,0 1 0 0 0,-1-1 0 0 0,1 0 0 0 0,0 1 0 0 0,-1-1 0 0 0,1 1 0 0 0,0 0 0 0 0,-1-1 1 0 0,1 1-1 0 0,0 0 0 0 0,0 0 0 0 0,0 0 0 0 0,0-1 0 0 0,0 1 0 0 0,0 0 0 0 0,0 1 0 0 0,-1 0 0 0 0,53-99-15 0 0,-42 79-38 0 0,14-29 90 0 0,-21 42-30 0 0,-1 1 1 0 0,1 0-1 0 0,-1 0 1 0 0,0 0 0 0 0,-1-1-1 0 0,1 1 1 0 0,-1 0 0 0 0,1-1-1 0 0,-2-5 1 0 0,0 5 4 0 0,0-1 1 0 0,-1 0-1 0 0,0 1 1 0 0,0 0-1 0 0,0-1 1 0 0,0 1-1 0 0,-1 0 1 0 0,0 0-1 0 0,0 0 1 0 0,-1 1-1 0 0,1-1 1 0 0,-6-5-1 0 0,7 10 3 0 0,1-1 0 0 0,-1 1 0 0 0,1-1 0 0 0,-1 1 0 0 0,0 0 0 0 0,1 0 0 0 0,-1 0 0 0 0,0-1 0 0 0,0 2 0 0 0,1-1 0 0 0,-1 0 1 0 0,0 0-1 0 0,1 0 0 0 0,-1 1 0 0 0,0-1 0 0 0,1 1 0 0 0,-1-1 0 0 0,1 1 0 0 0,-1 0 0 0 0,1 0 0 0 0,-3 1 0 0 0,-8 4 40 0 0,-4 3-54 0 0,16-8 0 0 0,0-1 0 0 0,-1 0 0 0 0,1 0 0 0 0,-1 1 0 0 0,1-1 0 0 0,0 0 0 0 0,-1 1 0 0 0,1-1 0 0 0,0 1 0 0 0,0-1 0 0 0,-1 0 0 0 0,1 1 0 0 0,0-1 0 0 0,0 1 0 0 0,0-1 0 0 0,-1 1 0 0 0,1-1 0 0 0,0 1 0 0 0,0-1 0 0 0,0 1 0 0 0,0-1 0 0 0,0 1 0 0 0,0-1 0 0 0,0 0 0 0 0,0 1 0 0 0,0-1 0 0 0,0 1 0 0 0,0-1 0 0 0,0 1 0 0 0,1-1 0 0 0,-1 1 0 0 0,0-1 0 0 0,0 1 0 0 0,0-1 0 0 0,1 1 0 0 0,-1-1 0 0 0,0 0 0 0 0,0 1 0 0 0,1 0 0 0 0,5-1-1854 0 0</inkml:trace>
</inkml:ink>
</file>

<file path=ppt/c8/ppt/ink/ink3.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2-11-09T11:45:16.756"/>
    </inkml:context>
    <inkml:brush xml:id="br0">
      <inkml:brushProperty name="width" value="0.05292" units="cm"/>
      <inkml:brushProperty name="height" value="0.05292" units="cm"/>
      <inkml:brushProperty name="color" value="#FF0000"/>
    </inkml:brush>
  </inkml:definitions>
  <inkml:trace contextRef="#ctx0" brushRef="#br0">12249 9517 218 0,'0'-2'141'0,"-2"-5"0"15,1 2-11-15,0 3-10 16,-2-2-1-16,3 4-7 16,-1 0-13-16,0 0-37 15,0 0-15-15,1 0-14 16,0 0-6-16,0 0-9 15,0 12 0-15,2 33-9 16,-2-28-1-16,0-1 0 16,-1 3-1-16,1-1 0 0,0 1-1 15,0 1-2 1,0-4 0-16,0 2-1 0,0-3-1 16,1-6 2-16,-1 4-1 15,1-6 3-15,-2-2 0 16,1-1 0-16,-2-2 1 15,1-2-1-15,0 0 2 16,-1 0 2-16,1 0 0 16,0 0-2-16,1 0-1 0,0 0-3 15,0-1-13 1,0 0-109-16,0 0-170 0</inkml:trace>
  <inkml:trace contextRef="#ctx0" brushRef="#br0" timeOffset="599.93">12430 9520 304 0,'0'2'170'0,"-2"-2"-29"0,1 0-28 16,1 0-27-16,-1 0-5 16,-1 0-3-16,1 0-1 15,0 3-11-15,-2 7-6 16,-11 32-20-16,10-28-10 15,3 1-13-15,-1-3-2 16,1-1-4-16,2-1-1 16,0-2-4-16,1 1-2 15,6 2-4-15,-2-3 0 16,5 0-1-16,-1-3-1 16,4-4 1-16,-3-1 0 0,1 0 1 15,2-1 2-15,-4-3 3 16,3 1 1-16,-3-3 5 15,-3 0 1-15,0-1 8 16,-1-2 10-16,0-5 16 16,-1 1 3-16,-4 1 2 15,3 0-8-15,-3-2-10 16,-1 1 1-16,4-1 11 16,-6-4 5-16,-3 5 1 15,-2-4-3-15,-5 2-13 16,-1 4-4-16,2 3-7 15,-2 3-4-15,-1 3-10 16,2 1-3-16,1 4-8 16,1 8-3-16,3 11-15 15,1 6-67-15</inkml:trace>
  <inkml:trace contextRef="#ctx0" brushRef="#br0" timeOffset="14868.98">13829 9999 465 0,'0'0'257'0,"1"0"-54"15,1 0-33-15,-2 0-41 16,0 0-8-16,0-1 4 16,0 0-5-16,5 1-14 15,0 0-10-15,4 0-26 16,-5 0-10-16,2-2-22 15,2 1-8-15,12 2-10 16,21 4-4-16,-25-10 1 16,2 1 0-16,-6-5 0 15,14 3 1-15,2 5-3 16,7-1 0-16,1-1-2 16,-2-3-3-16,-6-5 0 15,-3 0-2-15,-5 7 1 16,-3 1 0-16,-1 8-2 15,-6-3-1-15,-5-2 0 16,-2-2 0-16,-3-3-2 16,0 4-1-16,0 0 0 0,0 0-11 15,0 1-88-15,0 0-64 16,0 0-287-16</inkml:trace>
  <inkml:trace contextRef="#ctx0" brushRef="#br0" timeOffset="15261.38">13877 10150 473 0,'-1'-2'281'16,"0"0"-58"-16,1 1-58 16,0 0-21-16,0 0-28 15,0 0-5-15,1 0-9 16,15-3-6-16,29-4-14 16,-27 6-8-16,-3-4-20 15,-4-1-9-15,6 6-15 16,0-4-5-16,8 4-8 15,2-1-5-15,2-4-3 16,2 0 3-16,0 2-5 16,2 0 2-16,-14-4 0 15,-3 2-6-15,-5 3 1 16,-5 2-1-16,-3 3-29 16,-3 3-54-16,-1-5-253 0</inkml:trace>
  <inkml:trace contextRef="#ctx0" brushRef="#br0" timeOffset="15797.9">14289 9768 611 0,'-1'-3'321'0,"-3"-2"-76"15,1-2-29-15,-2 5-58 16,4 1-34-16,1 2-62 16,0-1-16-16,0 0-21 15,0 0-1-15,4 2 8 16,15 5 1-16,33 12-4 15,-28-18-5-15,0 6-8 16,0 1-3-16,-4 1-4 16,7 5-1-16,-3-4 0 15,-2-1-1-15,0 1-4 16,-4 2 1-16,-2-1 1 0,-1-1-1 16,-8-3 2-16,-6-4-1 15,-3 8-3-15,-3 2 0 16,-4 8 1-16,0 5 0 15,-5-1 1-15,-4 1-1 16,-4-2-2-16,-3-5 3 16,1 0 0-16,7 2 0 15,0-9 3-15,5 3-1 16,3-7 3-16,-3 0 2 0,2-1 1 16,-2-2-1-16,2-2-2 15,4-2-1-15,4-1-39 16,-1 2-97-16</inkml:trace>
  <inkml:trace contextRef="#ctx0" brushRef="#br0" timeOffset="17135.84">15595 9826 285 0,'-6'-2'212'0,"-2"0"37"15,-7-2-30-15,8-1-35 16,6 5-12-16,0-4-18 15,1-1-11-15,0 4-33 16,0 0-21-16,0 0-35 16,3-3-12-16,21-3-13 15,33-33-6-15,-33 31-6 16,0 4-6-16,-2 8-7 16,-3 1-1-16,-3 4-1 15,-1 1 0-15,-6-2 1 16,0 0-1-16,-6 2-1 0,-5 0 1 15,-3 9 3-15,-10 4 1 16,1 5 2-16,-6 1 0 16,0-1-5-16,3-2-1 15,-3-6 0-15,6-2-2 16,5-8 3-16,4-1-2 16,5-7-2-16,2 0-3 15,5-2 0-15,-7 0 1 0,0 0 2 16,13 0-1-16,36-1 1 15,-27 7-1-15,-1 5 1 16,0 0 1-16,-4 0 0 16,-3 0 0-16,-5 2 2 15,-4 2-1-15,-5 0 3 16,-2 3-1-16,-7-2 2 16,-1-2 0-16,-4 0-1 15,-2 0 0-15,0-1 1 16,1-5 2-16,2-3 22 15,-1-3 20-15,2-4 24 16,-1 1 9-16,0-7-14 16,2 0-17-16,5 0-24 15,-1 0-12-15,4 1-10 16,0 3-2-16,3 3-68 16,2 2-63-16,-2 0-232 15</inkml:trace>
  <inkml:trace contextRef="#ctx0" brushRef="#br0" timeOffset="19821">16174 10044 219 0,'0'-1'186'16,"0"-4"55"-16,-2 3-31 0,1 1-51 15,0 1-24 1,0 0-41-16,0 0-15 16,1 0-29-16,0-2-13 0,0 2-20 15,0 0-7-15,0 0-3 16,0 0 1-16,0 0 7 15,1-1 4-15,17-2 6 16,32-8 3-16,-23 2 4 16,6 2 0-16,-7 3-6 15,0-2-3-15,-11 2-9 16,-5 4-3-16,-6-2-3 16,-3 2-1-16,3 2 0 15,-4-3-2-15,0 1 0 16,-1-1-1-16,0 1-1 15,0 0 0-15,1 0-41 16,0 0-90-16</inkml:trace>
  <inkml:trace contextRef="#ctx0" brushRef="#br0" timeOffset="21067.5">16724 9661 327 0,'0'0'208'0,"-2"-3"-23"16,5 0-33-16,-3 2-66 15,0 0-18-15,0 0-3 16,15-1 7-16,33-5 6 15,-27 7-6-15,1-3-14 16,2 1-4-16,-3 1-11 16,-2 2-6-16,-7 6-14 15,-5-1-6-15,-4 5-4 16,-3 1 3-16,-1-1 9 16,-6 5 1-16,-4 2-2 15,0-2-4-15,-5 1-8 16,0-4-3-16,1-5-2 0,1-2 0 15,5-3-2-15,2 2 0 16,4-1-1-16,-1-1-1 16,4-3-2-16,0-2 0 15,0 1 4-15,0 0 2 16,0 0 2-16,19-5 1 16,34-13-5-16,-29 3 0 0,0-4-2 15,0 1-1-15,-1 3 0 16,-1 4 1-16,-6 0 1 15,-3 3 1-15,-10 3 0 16,0 3 0-16,-3 0-3 16,0 2-2-16,0 1-5 15,0 0-2-15,0 0-4 16,-1 0 3-16,-1 0 7 16,1 0 4-16,-2 8 9 15,-3 7 1-15,-12 33-1 16,8-30 0-16,5 0-2 15,-3 0 0-15,2-4-2 16,5-1 0-16,-1-1-2 16,4 1-1-16,3-5 0 15,3 1 1-15,6-5 4 16,1-1 4-16,3-4 5 0,-2-5 0 16,6-3 0-16,2-2-3 15,0 0-4-15,-3 2 0 16,-11 2-12-16,-2 2-38 15,-8 5-187-15,-3 3-267 16</inkml:trace>
  <inkml:trace contextRef="#ctx0" brushRef="#br0" timeOffset="21520.17">16614 10071 371 0,'-1'2'282'15,"-3"-1"6"-15,3 0-113 16,1-1-40-16,0 0-69 16,0 0-7-16,0-1 8 15,11 0 13-15,6-3 11 16,37-7-7-16,-22 6-15 16,4-1-9-16,8 2-19 15,-1 0-8-15,-2-3-10 16,3 0-3-16,2-2-7 15,-2 0-2-15,0 1-2 0,-7 0 0 16,-9 2 0-16,-6-2 0 16,-11 2 0-16,-7 3-1 15,-3 2-1-15,1-1-2 16,-2 2-5-16,0 0 0 16,0 0-49-16,-2 0-72 15</inkml:trace>
  <inkml:trace contextRef="#ctx0" brushRef="#br0" timeOffset="22268.07">16816 10222 591 0,'1'0'266'0,"0"0"-127"16,4 0-23-16,-5 0-24 16,0-1-6-16,8 0 2 0,11 0 0 15,33-5-15-15,-30 3-5 16,1-1-15-16,-1 0-9 15,-2 1-16-15,-3 0-5 16,-4 1-8-16,-3-2-2 16,-8 3-3-16,3 1 0 15,-2 1-11-15,-4-1-21 16,0 0-55-16,0 0-30 16,0 0-14-16,-2 0 17 15,-13 8 51-15,-29 14 29 16,30-16 23-16,2 0 1 0,-7-2 4 15,6 4 3-15,3 0 13 16,-3 2 7-16,7 2 15 16,-2 2 6-16,3 0 8 15,-2 0-1-15,5-1 1 16,2-2-3-16,0-1-5 16,0 2-3-16,3-3-12 15,3-1-6-15,-2 0-11 16,9-1-3-16,-3-3 0 15,3 1-1-15,6-1-1 16,-1-1-1-16,4 2-4 16,-1-2-1-16,-2 6-2 15,0 0-1-15,-5 3 0 16,-3 3 0-16,-8-3 0 16,4 4-1-16,-5-1 2 15,-1-1-1-15,-4 1 2 0,-5-2 1 16,-1 2 4-1,-8-2 2-15,-2 0 5 0,-2 1 1 16,-8-1 3-16,8-3 1 16,-3 0 0-16,-1 0 0 15,7-10-2-15,-1 3-1 16,6-6-6-16,5-2 2 16,5 2-127-16,4-6-252 0</inkml:trace>
  <inkml:trace contextRef="#ctx0" brushRef="#br0" timeOffset="22707.91">17872 9992 399 0,'0'2'246'0,"-9"-3"7"0,9 1-32 16,-3 1-34-16,1-1-38 15,2-1-66-15,0 1-24 16,0 0-18-16,0 0 0 16,8-1 3-16,9 0 0 15,40-6-10-15,-27 2-5 16,2-2-8-16,0 0-4 15,-7 2-5-15,-4 0 0 16,-9 4-1-16,-3 1-19 16,-9 4-161-16</inkml:trace>
  <inkml:trace contextRef="#ctx0" brushRef="#br0" timeOffset="22913.47">17850 10101 579 0,'2'-1'281'0,"10"0"-86"15,2 1-19-15,2-1-18 16,7 1-25-16,2-1-43 16,4-1-23-16,3-5-27 15,0 3-6-15</inkml:trace>
  <inkml:trace contextRef="#ctx0" brushRef="#br0" timeOffset="23816.84">18674 9840 581 0,'-3'-4'309'0,"-5"-5"-75"16,1-1-31-16,2-2-68 15,0 2-23-15,5 1-34 16,6-2-15-16,3 2-22 16,3-1-10-16,6-3-12 15,1 4-3-15,4-2-2 16,-1 1 0-16,1 4-3 15,2 2-1-15,-9 4-8 16,5 5-2-16,-10 5-3 16,-5 3 0-16,-2 5 3 15,-8 0 2-15,1 7 3 16,-4 1 2-16,-1 5 0 16,-2 2 1-16,-8-1-1 15,1-1 0-15,-3-4-1 16,0-1-2-16,1-7 0 15,2 0-2-15,5-7-2 16,6-2-1-16,6-2-4 0,0-5 0 16,8 1 4-16,2-4 3 15,8-2 5-15,4 0 2 16,4-4 1-16,-2 1 2 16,0-1 4-16,-1-1 3 15,-7 2 2-15,-1 2-2 16,-10 1-6-16,1 2-4 15,-4 0-37-15,-2 0-104 16</inkml:trace>
  <inkml:trace contextRef="#ctx0" brushRef="#br0" timeOffset="24076.1">19234 10082 960 0,'0'-1'462'0,"0"1"-100"16,2 1-52-16,-4-1-26 16,1 0-31-16,1 0-105 15,0-1-40-15,0 1-60 16,0 0-19-16,0 0-20 15,0 0-1-15,0 0-93 16,0 0-97-16</inkml:trace>
  <inkml:trace contextRef="#ctx0" brushRef="#br0" timeOffset="24881.7">19649 9832 246 0,'-2'-1'170'0,"-2"5"34"16,1 2-41-16,3 5-32 16,0 3-10-16,7 0-22 15,2-1 2-15,8-1 4 16,0-2 3-16,0-8 18 15,5-2-5-15,0-7 0 16,0-2-4-16,1-3-32 0,-1-2-8 16,-6-3-17-16,-9-5-6 15,-5 0-9-15,-2 0-7 16,-3 1-11-16,-1 1-7 16,1 4-8-16,-11-1-3 15,-4 5-10-15,3 6-7 16,-9 7-6-16,5 5-1 15,-2 9-2-15,-2 2 2 16,2 1 3-16,6 4-2 0,6 0 3 16,4-1 0-1,9 1 4-15,6-4 3 0,8-6 6 16,4-4 6-16,4-8 4 16,1-2 1-16,-7-12 0 15,0 0-1-15,-7-4-3 16,-1-3 0-16,2 4-5 15,0 3-1-15,-5 5-1 16,-7 2 0-16,1 5-2 16,-3-2-6-16,0 4-11 15,0 0 2-15,0 0 4 16,0 11 8-16,-3 12 13 16,-1 34 1-16,2-23-1 15,-2 1 2-15,2 0 0 16,-1-4-2-16,2-5 2 15,2-7-1-15,2-4-2 16,-2-5-1-16,2 1 0 16,-3-3 0-16,6 1 4 15,-5-2 1-15,-2-5-2 0,2 2-19 16,-2-4-128-16,0 0-93 16</inkml:trace>
  <inkml:trace contextRef="#ctx0" brushRef="#br0" timeOffset="25645.09">20390 9750 457 0,'2'-1'282'0,"-4"-6"7"16,-3 2-43-16,-2-1-34 15,-6 1-28-15,2 0-45 16,4 3-19-16,-3-1-36 15,2 2-13-15,-2 2-27 16,2 4-12-16,-1 3-14 16,1 1-7-16,4 4-7 15,-2-2-1-15,6 1 0 0,0 5 1 16,5 4 2-16,1 3 0 16,7 6 0-1,-1-1 0-15,2-2 0 0,2-2-1 16,-3-4 2-16,8 1 0 15,-7-7 1-15,1 2 0 16,-1-2-1-16,-6-4 1 16,-3-3-1-16,-3 1 0 15,-4-1-1-15,-2 0 7 16,-7 2 6-16,-4 0 1 0,-1 0 2 16,0-5-6-16,0-3-3 15,-1-2-1-15,-6-8-1 16,6 3-1-16,4-1-2 15,0-2 0-15,5-1-2 16,-1-2 0-16,3 2-6 16,7 1 0-16,5 1-7 15,0-4 0-15,5-1 1 16,4 0 1-16,5-3 1 16,2-3 1-16,4 3 2 15,3-1 2-15,1-2 11 16,0 2 9-16,-2-6 21 15,-5 1 7-15,-7-1 12 16,-4-2-3-16,-8 3-10 16,-4 0-7-16,-7 4-15 15,-7 3-8-15,-2 3-10 16,-1 1-5-16,-4 6-6 16,4 4-4-16,-6 8-102 0,-11 3-76 15</inkml:trace>
</inkml:ink>
</file>

<file path=ppt/c8/ppt/notesMasters/_rels/notesMaster1.xml.rels><?xml version='1.0' encoding='utf-8'?>
<ns0:Relationships xmlns:ns0="http://schemas.openxmlformats.org/package/2006/relationships"><ns0:Relationship Id="rId1" Type="http://schemas.openxmlformats.org/officeDocument/2006/relationships/theme" Target="../theme/theme2.xml" /></ns0:Relationships>
</file>

<file path=ppt/c8/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30/09/2024</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dirty="0"/>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c8/ppt/slideLayouts/_rels/slideLayout1.xml.rels><?xml version='1.0' encoding='utf-8'?>
<ns0:Relationships xmlns:ns0="http://schemas.openxmlformats.org/package/2006/relationships"><ns0:Relationship Id="rId1" Type="http://schemas.openxmlformats.org/officeDocument/2006/relationships/slideMaster" Target="../slideMasters/slideMaster1.xml" /></ns0:Relationships>
</file>

<file path=ppt/c8/ppt/slideLayouts/_rels/slideLayout2.xml.rels><?xml version='1.0' encoding='utf-8'?>
<ns0:Relationships xmlns:ns0="http://schemas.openxmlformats.org/package/2006/relationships"><ns0:Relationship Id="rId1" Type="http://schemas.openxmlformats.org/officeDocument/2006/relationships/slideMaster" Target="../slideMasters/slideMaster1.xml" /></ns0:Relationships>
</file>

<file path=ppt/c8/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30/09/2024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5" name="Slide Number Placeholder 1">
            <a:extLst>
              <a:ext uri="{FF2B5EF4-FFF2-40B4-BE49-F238E27FC236}">
                <a16:creationId xmlns:a16="http://schemas.microsoft.com/office/drawing/2014/main" id="{05DE3F3A-5E44-07F6-E880-8C3ADDBA305A}"/>
              </a:ext>
            </a:extLst>
          </p:cNvPr>
          <p:cNvSpPr txBox="1">
            <a:spLocks/>
          </p:cNvSpPr>
          <p:nvPr userDrawn="1"/>
        </p:nvSpPr>
        <p:spPr>
          <a:xfrm>
            <a:off x="11615936" y="6725597"/>
            <a:ext cx="576064" cy="136525"/>
          </a:xfrm>
          <a:prstGeom prst="rect">
            <a:avLst/>
          </a:prstGeom>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8177B05-5D28-4021-9BD2-A7A72850B659}" type="slidenum">
              <a:rPr lang="en-GB" sz="1200" smtClean="0"/>
              <a:pPr/>
              <a:t>‹#›</a:t>
            </a:fld>
            <a:endParaRPr lang="en-GB" sz="1200" dirty="0"/>
          </a:p>
        </p:txBody>
      </p:sp>
      <p:sp>
        <p:nvSpPr>
          <p:cNvPr id="4" name="Slide Number Placeholder 1">
            <a:extLst>
              <a:ext uri="{FF2B5EF4-FFF2-40B4-BE49-F238E27FC236}">
                <a16:creationId xmlns:a16="http://schemas.microsoft.com/office/drawing/2014/main" id="{B1242E61-362E-00E6-D7FA-4550A0A4C208}"/>
              </a:ext>
            </a:extLst>
          </p:cNvPr>
          <p:cNvSpPr txBox="1">
            <a:spLocks/>
          </p:cNvSpPr>
          <p:nvPr userDrawn="1"/>
        </p:nvSpPr>
        <p:spPr>
          <a:xfrm>
            <a:off x="0" y="0"/>
            <a:ext cx="12192000" cy="599126"/>
          </a:xfrm>
          <a:prstGeom prst="rect">
            <a:avLst/>
          </a:prstGeom>
          <a:solidFill>
            <a:srgbClr val="17375E"/>
          </a:solidFill>
        </p:spPr>
        <p:txBody>
          <a:bodyPr vert="horz" lIns="0" tIns="0" rIns="144000" bIns="0" rtlCol="0" anchor="ctr"/>
          <a:lstStyle>
            <a:defPPr>
              <a:defRPr lang="en-US"/>
            </a:defPPr>
            <a:lvl1pPr marL="0" algn="r" defTabSz="914400" rtl="0" eaLnBrk="1" latinLnBrk="0" hangingPunct="1">
              <a:defRPr sz="1000" i="1" kern="1200">
                <a:solidFill>
                  <a:srgbClr val="17375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8177B05-5D28-4021-9BD2-A7A72850B659}" type="slidenum">
              <a:rPr lang="en-GB" sz="1600" i="0" smtClean="0">
                <a:solidFill>
                  <a:schemeClr val="bg1"/>
                </a:solidFill>
              </a:rPr>
              <a:pPr algn="r"/>
              <a:t>‹#›</a:t>
            </a:fld>
            <a:endParaRPr lang="en-GB" sz="1600" i="0" dirty="0">
              <a:solidFill>
                <a:schemeClr val="bg1"/>
              </a:solidFill>
            </a:endParaRPr>
          </a:p>
        </p:txBody>
      </p:sp>
    </p:spTree>
    <p:extLst>
      <p:ext uri="{BB962C8B-B14F-4D97-AF65-F5344CB8AC3E}">
        <p14:creationId xmlns:p14="http://schemas.microsoft.com/office/powerpoint/2010/main" val="179336913"/>
      </p:ext>
    </p:extLst>
  </p:cSld>
  <p:clrMapOvr>
    <a:masterClrMapping/>
  </p:clrMapOvr>
</p:sldLayout>
</file>

<file path=ppt/c8/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2330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693991"/>
            <a:ext cx="10363200" cy="1470025"/>
          </a:xfrm>
        </p:spPr>
        <p:txBody>
          <a:bodyPr>
            <a:noAutofit/>
          </a:bodyPr>
          <a:lstStyle>
            <a:lvl1pPr>
              <a:defRPr sz="6000"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800874886"/>
      </p:ext>
    </p:extLst>
  </p:cSld>
  <p:clrMapOvr>
    <a:masterClrMapping/>
  </p:clrMapOvr>
</p:sldLayout>
</file>

<file path=ppt/c8/ppt/slideMasters/_rels/slideMaster1.xml.rels><?xml version='1.0' encoding='utf-8'?>
<ns0:Relationships xmlns:ns0="http://schemas.openxmlformats.org/package/2006/relationships"><ns0:Relationship Id="rId3" Type="http://schemas.openxmlformats.org/officeDocument/2006/relationships/theme" Target="../theme/theme1.xml" /><ns0:Relationship Id="rId2" Type="http://schemas.openxmlformats.org/officeDocument/2006/relationships/slideLayout" Target="../slideLayouts/slideLayout2.xml" /><ns0:Relationship Id="rId1" Type="http://schemas.openxmlformats.org/officeDocument/2006/relationships/slideLayout" Target="../slideLayouts/slideLayout1.xml" /></ns0:Relationships>
</file>

<file path=ppt/c8/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FE4D-3339-4F90-AB07-DAB31D79E32A}" type="datetimeFigureOut">
              <a:rPr lang="en-GB" smtClean="0"/>
              <a:pPr/>
              <a:t>30/09/2024</a:t>
            </a:fld>
            <a:endParaRPr lang="en-GB" dirty="0"/>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896745248"/>
      </p:ext>
    </p:extLst>
  </p:cSld>
  <p:clrMap bg1="lt1" tx1="dk1" bg2="lt2" tx2="dk2" accent1="accent1" accent2="accent2" accent3="accent3" accent4="accent4" accent5="accent5" accent6="accent6" hlink="hlink" folHlink="folHlink"/>
  <p:sldLayoutIdLst>
    <p:sldLayoutId id="2147500100" r:id="rId1"/>
    <p:sldLayoutId id="2147500101"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c8/ppt/slides/_rels/slide4.xml.rels><?xml version='1.0' encoding='utf-8'?>
<ns0:Relationships xmlns:ns0="http://schemas.openxmlformats.org/package/2006/relationships"><ns0:Relationship Id="rId3" Type="http://schemas.openxmlformats.org/officeDocument/2006/relationships/image" Target="../media/image7.png" /><ns0:Relationship Id="rId2" Type="http://schemas.openxmlformats.org/officeDocument/2006/relationships/image" Target="../media/image6.png" /><ns0:Relationship Id="rId1" Type="http://schemas.openxmlformats.org/officeDocument/2006/relationships/slideLayout" Target="../slideLayouts/slideLayout1.xml" /><ns0:Relationship Id="rId4" Type="http://schemas.openxmlformats.org/officeDocument/2006/relationships/image" Target="../media/image8.png" /></ns0:Relationships>
</file>

<file path=ppt/c8/ppt/slides/_rels/slide5.xml.rels><?xml version='1.0' encoding='utf-8'?>
<ns0:Relationships xmlns:ns0="http://schemas.openxmlformats.org/package/2006/relationships"><ns0:Relationship Id="rId3" Type="http://schemas.openxmlformats.org/officeDocument/2006/relationships/image" Target="../media/image10.png" /><ns0:Relationship Id="rId2" Type="http://schemas.openxmlformats.org/officeDocument/2006/relationships/image" Target="../media/image9.png" /><ns0:Relationship Id="rId1" Type="http://schemas.openxmlformats.org/officeDocument/2006/relationships/slideLayout" Target="../slideLayouts/slideLayout1.xml" /></ns0:Relationships>
</file>

<file path=ppt/c8/ppt/slides/_rels/slide6.xml.rels><?xml version='1.0' encoding='utf-8'?>
<ns0:Relationships xmlns:ns0="http://schemas.openxmlformats.org/package/2006/relationships"><ns0:Relationship Id="rId3" Type="http://schemas.openxmlformats.org/officeDocument/2006/relationships/image" Target="../media/image12.png" /><ns0:Relationship Id="rId7" Type="http://schemas.openxmlformats.org/officeDocument/2006/relationships/image" Target="../media/image16.png" /><ns0:Relationship Id="rId2" Type="http://schemas.openxmlformats.org/officeDocument/2006/relationships/image" Target="../media/image11.png" /><ns0:Relationship Id="rId1" Type="http://schemas.openxmlformats.org/officeDocument/2006/relationships/slideLayout" Target="../slideLayouts/slideLayout1.xml" /><ns0:Relationship Id="rId6" Type="http://schemas.openxmlformats.org/officeDocument/2006/relationships/image" Target="../media/image15.png" /><ns0:Relationship Id="rId5" Type="http://schemas.openxmlformats.org/officeDocument/2006/relationships/image" Target="../media/image14.png" /><ns0:Relationship Id="rId4" Type="http://schemas.openxmlformats.org/officeDocument/2006/relationships/image" Target="../media/image13.png" /></ns0:Relationships>
</file>

<file path=ppt/c8/ppt/slides/_rels/slide7.xml.rels><?xml version='1.0' encoding='utf-8'?>
<ns0:Relationships xmlns:ns0="http://schemas.openxmlformats.org/package/2006/relationships"><ns0:Relationship Id="rId3" Type="http://schemas.openxmlformats.org/officeDocument/2006/relationships/image" Target="../media/image18.png" /><ns0:Relationship Id="rId7" Type="http://schemas.openxmlformats.org/officeDocument/2006/relationships/image" Target="../media/image22.png" /><ns0:Relationship Id="rId2" Type="http://schemas.openxmlformats.org/officeDocument/2006/relationships/image" Target="../media/image17.png" /><ns0:Relationship Id="rId1" Type="http://schemas.openxmlformats.org/officeDocument/2006/relationships/slideLayout" Target="../slideLayouts/slideLayout1.xml" /><ns0:Relationship Id="rId6" Type="http://schemas.openxmlformats.org/officeDocument/2006/relationships/image" Target="../media/image21.png" /><ns0:Relationship Id="rId5" Type="http://schemas.openxmlformats.org/officeDocument/2006/relationships/image" Target="../media/image20.png" /><ns0:Relationship Id="rId4" Type="http://schemas.openxmlformats.org/officeDocument/2006/relationships/image" Target="../media/image19.png" /></ns0:Relationships>
</file>

<file path=ppt/c8/ppt/slides/_rels/slide8.xml.rels><?xml version='1.0' encoding='utf-8'?>
<ns0:Relationships xmlns:ns0="http://schemas.openxmlformats.org/package/2006/relationships"><ns0:Relationship Id="rId3" Type="http://schemas.openxmlformats.org/officeDocument/2006/relationships/image" Target="../media/image24.png" /><ns0:Relationship Id="rId2" Type="http://schemas.openxmlformats.org/officeDocument/2006/relationships/image" Target="../media/image23.png" /><ns0:Relationship Id="rId1" Type="http://schemas.openxmlformats.org/officeDocument/2006/relationships/slideLayout" Target="../slideLayouts/slideLayout1.xml" /></ns0:Relationships>
</file>

<file path=ppt/c8/ppt/slides/_rels/slide9.xml.rels><?xml version='1.0' encoding='utf-8'?>
<ns0:Relationships xmlns:ns0="http://schemas.openxmlformats.org/package/2006/relationships"><ns0:Relationship Id="rId3" Type="http://schemas.openxmlformats.org/officeDocument/2006/relationships/image" Target="../media/image26.png" /><ns0:Relationship Id="rId2" Type="http://schemas.openxmlformats.org/officeDocument/2006/relationships/image" Target="../media/image25.png" /><ns0:Relationship Id="rId1" Type="http://schemas.openxmlformats.org/officeDocument/2006/relationships/slideLayout" Target="../slideLayouts/slideLayout1.xml" /></ns0:Relationships>
</file>

<file path=ppt/c8/ppt/slides/_rels/slide10.xml.rels><?xml version='1.0' encoding='utf-8'?>
<ns0:Relationships xmlns:ns0="http://schemas.openxmlformats.org/package/2006/relationships"><ns0:Relationship Id="rId3" Type="http://schemas.openxmlformats.org/officeDocument/2006/relationships/image" Target="../media/image28.png" /><ns0:Relationship Id="rId7" Type="http://schemas.openxmlformats.org/officeDocument/2006/relationships/image" Target="../media/image32.png" /><ns0:Relationship Id="rId2" Type="http://schemas.openxmlformats.org/officeDocument/2006/relationships/image" Target="../media/image27.png" /><ns0:Relationship Id="rId1" Type="http://schemas.openxmlformats.org/officeDocument/2006/relationships/slideLayout" Target="../slideLayouts/slideLayout1.xml" /><ns0:Relationship Id="rId6" Type="http://schemas.openxmlformats.org/officeDocument/2006/relationships/image" Target="../media/image31.png" /><ns0:Relationship Id="rId5" Type="http://schemas.openxmlformats.org/officeDocument/2006/relationships/image" Target="../media/image30.png" /><ns0:Relationship Id="rId4" Type="http://schemas.openxmlformats.org/officeDocument/2006/relationships/image" Target="../media/image29.png" /></ns0:Relationships>
</file>

<file path=ppt/c8/ppt/slides/_rels/slide11.xml.rels><?xml version='1.0' encoding='utf-8'?>
<ns0:Relationships xmlns:ns0="http://schemas.openxmlformats.org/package/2006/relationships"><ns0:Relationship Id="rId8" Type="http://schemas.openxmlformats.org/officeDocument/2006/relationships/image" Target="../media/image38.png" /><ns0:Relationship Id="rId3" Type="http://schemas.openxmlformats.org/officeDocument/2006/relationships/image" Target="../media/image34.png" /><ns0:Relationship Id="rId7" Type="http://schemas.openxmlformats.org/officeDocument/2006/relationships/customXml" Target="../ink/ink1.xml" /><ns0:Relationship Id="rId2" Type="http://schemas.openxmlformats.org/officeDocument/2006/relationships/image" Target="../media/image33.png" /><ns0:Relationship Id="rId1" Type="http://schemas.openxmlformats.org/officeDocument/2006/relationships/slideLayout" Target="../slideLayouts/slideLayout1.xml" /><ns0:Relationship Id="rId6" Type="http://schemas.openxmlformats.org/officeDocument/2006/relationships/image" Target="../media/image37.png" /><ns0:Relationship Id="rId5" Type="http://schemas.openxmlformats.org/officeDocument/2006/relationships/image" Target="../media/image36.png" /><ns0:Relationship Id="rId10" Type="http://schemas.openxmlformats.org/officeDocument/2006/relationships/image" Target="../media/image39.png" /><ns0:Relationship Id="rId4" Type="http://schemas.openxmlformats.org/officeDocument/2006/relationships/image" Target="../media/image35.png" /><ns0:Relationship Id="rId9" Type="http://schemas.openxmlformats.org/officeDocument/2006/relationships/customXml" Target="../ink/ink2.xml" /></ns0:Relationships>
</file>

<file path=ppt/c8/ppt/slides/_rels/slide12.xml.rels><?xml version='1.0' encoding='utf-8'?>
<ns0:Relationships xmlns:ns0="http://schemas.openxmlformats.org/package/2006/relationships"><ns0:Relationship Id="rId3" Type="http://schemas.openxmlformats.org/officeDocument/2006/relationships/image" Target="../media/image41.png" /><ns0:Relationship Id="rId7" Type="http://schemas.openxmlformats.org/officeDocument/2006/relationships/image" Target="../media/image45.png" /><ns0:Relationship Id="rId2" Type="http://schemas.openxmlformats.org/officeDocument/2006/relationships/image" Target="../media/image40.png" /><ns0:Relationship Id="rId1" Type="http://schemas.openxmlformats.org/officeDocument/2006/relationships/slideLayout" Target="../slideLayouts/slideLayout1.xml" /><ns0:Relationship Id="rId6" Type="http://schemas.openxmlformats.org/officeDocument/2006/relationships/image" Target="../media/image44.png" /><ns0:Relationship Id="rId5" Type="http://schemas.openxmlformats.org/officeDocument/2006/relationships/image" Target="../media/image43.png" /><ns0:Relationship Id="rId4" Type="http://schemas.openxmlformats.org/officeDocument/2006/relationships/image" Target="../media/image42.png" /></ns0:Relationships>
</file>

<file path=ppt/c8/ppt/slides/_rels/slide13.xml.rels><?xml version='1.0' encoding='utf-8'?>
<ns0:Relationships xmlns:ns0="http://schemas.openxmlformats.org/package/2006/relationships"><ns0:Relationship Id="rId2" Type="http://schemas.openxmlformats.org/officeDocument/2006/relationships/image" Target="../media/image440.png" /><ns0:Relationship Id="rId1" Type="http://schemas.openxmlformats.org/officeDocument/2006/relationships/slideLayout" Target="../slideLayouts/slideLayout1.xml" /></ns0:Relationships>
</file>

<file path=ppt/c8/ppt/slides/_rels/slide14.xml.rels><?xml version='1.0' encoding='utf-8'?>
<ns0:Relationships xmlns:ns0="http://schemas.openxmlformats.org/package/2006/relationships"><ns0:Relationship Id="rId3" Type="http://schemas.openxmlformats.org/officeDocument/2006/relationships/image" Target="../media/image46.png" /><ns0:Relationship Id="rId2" Type="http://schemas.openxmlformats.org/officeDocument/2006/relationships/image" Target="../media/image450.png" /><ns0:Relationship Id="rId1" Type="http://schemas.openxmlformats.org/officeDocument/2006/relationships/slideLayout" Target="../slideLayouts/slideLayout1.xml" /><ns0:Relationship Id="rId5" Type="http://schemas.openxmlformats.org/officeDocument/2006/relationships/image" Target="../media/image48.png" /><ns0:Relationship Id="rId4" Type="http://schemas.openxmlformats.org/officeDocument/2006/relationships/image" Target="../media/image47.png" /></ns0:Relationships>
</file>

<file path=ppt/c8/ppt/slides/_rels/slide15.xml.rels><?xml version='1.0' encoding='utf-8'?>
<ns0:Relationships xmlns:ns0="http://schemas.openxmlformats.org/package/2006/relationships"><ns0:Relationship Id="rId3" Type="http://schemas.openxmlformats.org/officeDocument/2006/relationships/image" Target="../media/image50.png" /><ns0:Relationship Id="rId2" Type="http://schemas.openxmlformats.org/officeDocument/2006/relationships/image" Target="../media/image49.png" /><ns0:Relationship Id="rId1" Type="http://schemas.openxmlformats.org/officeDocument/2006/relationships/slideLayout" Target="../slideLayouts/slideLayout1.xml" /></ns0:Relationships>
</file>

<file path=ppt/c8/ppt/slides/_rels/slide16.xml.rels><?xml version='1.0' encoding='utf-8'?>
<ns0:Relationships xmlns:ns0="http://schemas.openxmlformats.org/package/2006/relationships"><ns0:Relationship Id="rId8" Type="http://schemas.openxmlformats.org/officeDocument/2006/relationships/image" Target="../media/image57.png" /><ns0:Relationship Id="rId13" Type="http://schemas.openxmlformats.org/officeDocument/2006/relationships/image" Target="../media/image62.png" /><ns0:Relationship Id="rId18" Type="http://schemas.openxmlformats.org/officeDocument/2006/relationships/image" Target="../media/image67.png" /><ns0:Relationship Id="rId3" Type="http://schemas.openxmlformats.org/officeDocument/2006/relationships/image" Target="../media/image52.png" /><ns0:Relationship Id="rId7" Type="http://schemas.openxmlformats.org/officeDocument/2006/relationships/image" Target="../media/image56.png" /><ns0:Relationship Id="rId12" Type="http://schemas.openxmlformats.org/officeDocument/2006/relationships/image" Target="../media/image61.png" /><ns0:Relationship Id="rId17" Type="http://schemas.openxmlformats.org/officeDocument/2006/relationships/image" Target="../media/image66.png" /><ns0:Relationship Id="rId2" Type="http://schemas.openxmlformats.org/officeDocument/2006/relationships/image" Target="../media/image51.png" /><ns0:Relationship Id="rId16" Type="http://schemas.openxmlformats.org/officeDocument/2006/relationships/image" Target="../media/image65.png" /><ns0:Relationship Id="rId1" Type="http://schemas.openxmlformats.org/officeDocument/2006/relationships/slideLayout" Target="../slideLayouts/slideLayout1.xml" /><ns0:Relationship Id="rId6" Type="http://schemas.openxmlformats.org/officeDocument/2006/relationships/image" Target="../media/image55.png" /><ns0:Relationship Id="rId11" Type="http://schemas.openxmlformats.org/officeDocument/2006/relationships/image" Target="../media/image60.png" /><ns0:Relationship Id="rId5" Type="http://schemas.openxmlformats.org/officeDocument/2006/relationships/image" Target="../media/image54.png" /><ns0:Relationship Id="rId15" Type="http://schemas.openxmlformats.org/officeDocument/2006/relationships/image" Target="../media/image64.png" /><ns0:Relationship Id="rId10" Type="http://schemas.openxmlformats.org/officeDocument/2006/relationships/image" Target="../media/image59.png" /><ns0:Relationship Id="rId19" Type="http://schemas.openxmlformats.org/officeDocument/2006/relationships/image" Target="../media/image68.png" /><ns0:Relationship Id="rId4" Type="http://schemas.openxmlformats.org/officeDocument/2006/relationships/image" Target="../media/image53.png" /><ns0:Relationship Id="rId9" Type="http://schemas.openxmlformats.org/officeDocument/2006/relationships/image" Target="../media/image58.png" /><ns0:Relationship Id="rId14" Type="http://schemas.openxmlformats.org/officeDocument/2006/relationships/image" Target="../media/image63.png" /></ns0:Relationships>
</file>

<file path=ppt/c8/ppt/slides/_rels/slide17.xml.rels><?xml version='1.0' encoding='utf-8'?>
<ns0:Relationships xmlns:ns0="http://schemas.openxmlformats.org/package/2006/relationships"><ns0:Relationship Id="rId8" Type="http://schemas.openxmlformats.org/officeDocument/2006/relationships/image" Target="../media/image75.png" /><ns0:Relationship Id="rId13" Type="http://schemas.openxmlformats.org/officeDocument/2006/relationships/image" Target="../media/image80.png" /><ns0:Relationship Id="rId18" Type="http://schemas.openxmlformats.org/officeDocument/2006/relationships/image" Target="../media/image85.png" /><ns0:Relationship Id="rId3" Type="http://schemas.openxmlformats.org/officeDocument/2006/relationships/image" Target="../media/image70.png" /><ns0:Relationship Id="rId7" Type="http://schemas.openxmlformats.org/officeDocument/2006/relationships/image" Target="../media/image74.png" /><ns0:Relationship Id="rId12" Type="http://schemas.openxmlformats.org/officeDocument/2006/relationships/image" Target="../media/image79.png" /><ns0:Relationship Id="rId17" Type="http://schemas.openxmlformats.org/officeDocument/2006/relationships/image" Target="../media/image84.png" /><ns0:Relationship Id="rId2" Type="http://schemas.openxmlformats.org/officeDocument/2006/relationships/image" Target="../media/image69.png" /><ns0:Relationship Id="rId16" Type="http://schemas.openxmlformats.org/officeDocument/2006/relationships/image" Target="../media/image83.png" /><ns0:Relationship Id="rId1" Type="http://schemas.openxmlformats.org/officeDocument/2006/relationships/slideLayout" Target="../slideLayouts/slideLayout1.xml" /><ns0:Relationship Id="rId6" Type="http://schemas.openxmlformats.org/officeDocument/2006/relationships/image" Target="../media/image73.png" /><ns0:Relationship Id="rId11" Type="http://schemas.openxmlformats.org/officeDocument/2006/relationships/image" Target="../media/image78.png" /><ns0:Relationship Id="rId5" Type="http://schemas.openxmlformats.org/officeDocument/2006/relationships/image" Target="../media/image72.png" /><ns0:Relationship Id="rId15" Type="http://schemas.openxmlformats.org/officeDocument/2006/relationships/image" Target="../media/image82.png" /><ns0:Relationship Id="rId10" Type="http://schemas.openxmlformats.org/officeDocument/2006/relationships/image" Target="../media/image77.png" /><ns0:Relationship Id="rId4" Type="http://schemas.openxmlformats.org/officeDocument/2006/relationships/image" Target="../media/image71.png" /><ns0:Relationship Id="rId9" Type="http://schemas.openxmlformats.org/officeDocument/2006/relationships/image" Target="../media/image76.png" /><ns0:Relationship Id="rId14" Type="http://schemas.openxmlformats.org/officeDocument/2006/relationships/image" Target="../media/image81.png" /></ns0:Relationships>
</file>

<file path=ppt/c8/ppt/slides/_rels/slide18.xml.rels><?xml version='1.0' encoding='utf-8'?>
<ns0:Relationships xmlns:ns0="http://schemas.openxmlformats.org/package/2006/relationships"><ns0:Relationship Id="rId3" Type="http://schemas.openxmlformats.org/officeDocument/2006/relationships/image" Target="../media/image87.png" /><ns0:Relationship Id="rId2" Type="http://schemas.openxmlformats.org/officeDocument/2006/relationships/image" Target="../media/image86.png" /><ns0:Relationship Id="rId1" Type="http://schemas.openxmlformats.org/officeDocument/2006/relationships/slideLayout" Target="../slideLayouts/slideLayout1.xml" /><ns0:Relationship Id="rId5" Type="http://schemas.openxmlformats.org/officeDocument/2006/relationships/image" Target="../media/image89.png" /><ns0:Relationship Id="rId4" Type="http://schemas.openxmlformats.org/officeDocument/2006/relationships/image" Target="../media/image88.png" /></ns0:Relationships>
</file>

<file path=ppt/c8/ppt/slides/_rels/slide19.xml.rels><?xml version='1.0' encoding='utf-8'?>
<ns0:Relationships xmlns:ns0="http://schemas.openxmlformats.org/package/2006/relationships"><ns0:Relationship Id="rId3" Type="http://schemas.openxmlformats.org/officeDocument/2006/relationships/image" Target="../media/image91.png" /><ns0:Relationship Id="rId2" Type="http://schemas.openxmlformats.org/officeDocument/2006/relationships/image" Target="../media/image90.png" /><ns0:Relationship Id="rId1" Type="http://schemas.openxmlformats.org/officeDocument/2006/relationships/slideLayout" Target="../slideLayouts/slideLayout1.xml" /></ns0:Relationships>
</file>

<file path=ppt/c8/ppt/slides/_rels/slide20.xml.rels><?xml version='1.0' encoding='utf-8'?>
<ns0:Relationships xmlns:ns0="http://schemas.openxmlformats.org/package/2006/relationships"><ns0:Relationship Id="rId3" Type="http://schemas.openxmlformats.org/officeDocument/2006/relationships/image" Target="../media/image93.png" /><ns0:Relationship Id="rId2" Type="http://schemas.openxmlformats.org/officeDocument/2006/relationships/image" Target="../media/image92.png" /><ns0:Relationship Id="rId1" Type="http://schemas.openxmlformats.org/officeDocument/2006/relationships/slideLayout" Target="../slideLayouts/slideLayout1.xml" /></ns0:Relationships>
</file>

<file path=ppt/c8/ppt/slides/_rels/slide21.xml.rels><?xml version='1.0' encoding='utf-8'?>
<ns0:Relationships xmlns:ns0="http://schemas.openxmlformats.org/package/2006/relationships"><ns0:Relationship Id="rId8" Type="http://schemas.openxmlformats.org/officeDocument/2006/relationships/image" Target="../media/image100.png" /><ns0:Relationship Id="rId3" Type="http://schemas.openxmlformats.org/officeDocument/2006/relationships/image" Target="../media/image95.png" /><ns0:Relationship Id="rId7" Type="http://schemas.openxmlformats.org/officeDocument/2006/relationships/image" Target="../media/image99.png" /><ns0:Relationship Id="rId2" Type="http://schemas.openxmlformats.org/officeDocument/2006/relationships/image" Target="../media/image94.png" /><ns0:Relationship Id="rId1" Type="http://schemas.openxmlformats.org/officeDocument/2006/relationships/slideLayout" Target="../slideLayouts/slideLayout1.xml" /><ns0:Relationship Id="rId6" Type="http://schemas.openxmlformats.org/officeDocument/2006/relationships/image" Target="../media/image98.png" /><ns0:Relationship Id="rId5" Type="http://schemas.openxmlformats.org/officeDocument/2006/relationships/image" Target="../media/image97.png" /><ns0:Relationship Id="rId4" Type="http://schemas.openxmlformats.org/officeDocument/2006/relationships/image" Target="../media/image96.png" /><ns0:Relationship Id="rId9" Type="http://schemas.openxmlformats.org/officeDocument/2006/relationships/image" Target="../media/image101.png" /></ns0:Relationships>
</file>

<file path=ppt/c8/ppt/slides/_rels/slide22.xml.rels><?xml version='1.0' encoding='utf-8'?>
<ns0:Relationships xmlns:ns0="http://schemas.openxmlformats.org/package/2006/relationships"><ns0:Relationship Id="rId3" Type="http://schemas.openxmlformats.org/officeDocument/2006/relationships/image" Target="../media/image103.png" /><ns0:Relationship Id="rId2" Type="http://schemas.openxmlformats.org/officeDocument/2006/relationships/image" Target="../media/image102.png" /><ns0:Relationship Id="rId1" Type="http://schemas.openxmlformats.org/officeDocument/2006/relationships/slideLayout" Target="../slideLayouts/slideLayout1.xml" /><ns0:Relationship Id="rId4" Type="http://schemas.openxmlformats.org/officeDocument/2006/relationships/image" Target="../media/image104.png" /></ns0:Relationships>
</file>

<file path=ppt/c8/ppt/slides/_rels/slide23.xml.rels><?xml version='1.0' encoding='utf-8'?>
<ns0:Relationships xmlns:ns0="http://schemas.openxmlformats.org/package/2006/relationships"><ns0:Relationship Id="rId3" Type="http://schemas.openxmlformats.org/officeDocument/2006/relationships/image" Target="../media/image106.png" /><ns0:Relationship Id="rId7" Type="http://schemas.openxmlformats.org/officeDocument/2006/relationships/image" Target="../media/image110.png" /><ns0:Relationship Id="rId2" Type="http://schemas.openxmlformats.org/officeDocument/2006/relationships/image" Target="../media/image105.png" /><ns0:Relationship Id="rId1" Type="http://schemas.openxmlformats.org/officeDocument/2006/relationships/slideLayout" Target="../slideLayouts/slideLayout1.xml" /><ns0:Relationship Id="rId6" Type="http://schemas.openxmlformats.org/officeDocument/2006/relationships/image" Target="../media/image109.png" /><ns0:Relationship Id="rId5" Type="http://schemas.openxmlformats.org/officeDocument/2006/relationships/image" Target="../media/image108.png" /><ns0:Relationship Id="rId4" Type="http://schemas.openxmlformats.org/officeDocument/2006/relationships/image" Target="../media/image107.png" /></ns0:Relationships>
</file>

<file path=ppt/c8/ppt/slides/_rels/slide24.xml.rels><?xml version='1.0' encoding='utf-8'?>
<ns0:Relationships xmlns:ns0="http://schemas.openxmlformats.org/package/2006/relationships"><ns0:Relationship Id="rId3" Type="http://schemas.openxmlformats.org/officeDocument/2006/relationships/image" Target="../media/image112.png" /><ns0:Relationship Id="rId2" Type="http://schemas.openxmlformats.org/officeDocument/2006/relationships/image" Target="../media/image111.png" /><ns0:Relationship Id="rId1" Type="http://schemas.openxmlformats.org/officeDocument/2006/relationships/slideLayout" Target="../slideLayouts/slideLayout1.xml" /><ns0:Relationship Id="rId5" Type="http://schemas.openxmlformats.org/officeDocument/2006/relationships/image" Target="../media/image114.png" /><ns0:Relationship Id="rId4" Type="http://schemas.openxmlformats.org/officeDocument/2006/relationships/image" Target="../media/image113.png" /></ns0:Relationships>
</file>

<file path=ppt/c8/ppt/slides/_rels/slide25.xml.rels><?xml version='1.0' encoding='utf-8'?>
<ns0:Relationships xmlns:ns0="http://schemas.openxmlformats.org/package/2006/relationships"><ns0:Relationship Id="rId8" Type="http://schemas.openxmlformats.org/officeDocument/2006/relationships/image" Target="../media/image121.png" /><ns0:Relationship Id="rId13" Type="http://schemas.openxmlformats.org/officeDocument/2006/relationships/image" Target="../media/image126.png" /><ns0:Relationship Id="rId3" Type="http://schemas.openxmlformats.org/officeDocument/2006/relationships/image" Target="../media/image116.png" /><ns0:Relationship Id="rId7" Type="http://schemas.openxmlformats.org/officeDocument/2006/relationships/image" Target="../media/image120.png" /><ns0:Relationship Id="rId12" Type="http://schemas.openxmlformats.org/officeDocument/2006/relationships/image" Target="../media/image125.png" /><ns0:Relationship Id="rId2" Type="http://schemas.openxmlformats.org/officeDocument/2006/relationships/image" Target="../media/image115.png" /><ns0:Relationship Id="rId1" Type="http://schemas.openxmlformats.org/officeDocument/2006/relationships/slideLayout" Target="../slideLayouts/slideLayout1.xml" /><ns0:Relationship Id="rId6" Type="http://schemas.openxmlformats.org/officeDocument/2006/relationships/image" Target="../media/image119.png" /><ns0:Relationship Id="rId11" Type="http://schemas.openxmlformats.org/officeDocument/2006/relationships/image" Target="../media/image124.png" /><ns0:Relationship Id="rId5" Type="http://schemas.openxmlformats.org/officeDocument/2006/relationships/image" Target="../media/image118.png" /><ns0:Relationship Id="rId15" Type="http://schemas.openxmlformats.org/officeDocument/2006/relationships/image" Target="../media/image128.png" /><ns0:Relationship Id="rId10" Type="http://schemas.openxmlformats.org/officeDocument/2006/relationships/image" Target="../media/image123.png" /><ns0:Relationship Id="rId4" Type="http://schemas.openxmlformats.org/officeDocument/2006/relationships/image" Target="../media/image117.png" /><ns0:Relationship Id="rId9" Type="http://schemas.openxmlformats.org/officeDocument/2006/relationships/image" Target="../media/image122.png" /><ns0:Relationship Id="rId14" Type="http://schemas.openxmlformats.org/officeDocument/2006/relationships/image" Target="../media/image127.png" /></ns0:Relationships>
</file>

<file path=ppt/c8/ppt/slides/_rels/slide26.xml.rels><?xml version='1.0' encoding='utf-8'?>
<ns0:Relationships xmlns:ns0="http://schemas.openxmlformats.org/package/2006/relationships"><ns0:Relationship Id="rId3" Type="http://schemas.openxmlformats.org/officeDocument/2006/relationships/image" Target="../media/image130.png" /><ns0:Relationship Id="rId2" Type="http://schemas.openxmlformats.org/officeDocument/2006/relationships/image" Target="../media/image129.png" /><ns0:Relationship Id="rId1" Type="http://schemas.openxmlformats.org/officeDocument/2006/relationships/slideLayout" Target="../slideLayouts/slideLayout1.xml" /></ns0:Relationships>
</file>

<file path=ppt/c8/ppt/slides/_rels/slide27.xml.rels><?xml version='1.0' encoding='utf-8'?>
<ns0:Relationships xmlns:ns0="http://schemas.openxmlformats.org/package/2006/relationships"><ns0:Relationship Id="rId3" Type="http://schemas.openxmlformats.org/officeDocument/2006/relationships/image" Target="../media/image132.png" /><ns0:Relationship Id="rId2" Type="http://schemas.openxmlformats.org/officeDocument/2006/relationships/image" Target="../media/image131.png" /><ns0:Relationship Id="rId1" Type="http://schemas.openxmlformats.org/officeDocument/2006/relationships/slideLayout" Target="../slideLayouts/slideLayout1.xml" /></ns0:Relationships>
</file>

<file path=ppt/c8/ppt/slides/_rels/slide28.xml.rels><?xml version='1.0' encoding='utf-8'?>
<ns0:Relationships xmlns:ns0="http://schemas.openxmlformats.org/package/2006/relationships"><ns0:Relationship Id="rId3" Type="http://schemas.openxmlformats.org/officeDocument/2006/relationships/image" Target="../media/image134.png" /><ns0:Relationship Id="rId2" Type="http://schemas.openxmlformats.org/officeDocument/2006/relationships/image" Target="../media/image133.png" /><ns0:Relationship Id="rId1" Type="http://schemas.openxmlformats.org/officeDocument/2006/relationships/slideLayout" Target="../slideLayouts/slideLayout1.xml" /><ns0:Relationship Id="rId5" Type="http://schemas.openxmlformats.org/officeDocument/2006/relationships/image" Target="../media/image136.png" /><ns0:Relationship Id="rId4" Type="http://schemas.openxmlformats.org/officeDocument/2006/relationships/image" Target="../media/image135.png" /></ns0:Relationships>
</file>

<file path=ppt/c8/ppt/slides/_rels/slide29.xml.rels><?xml version='1.0' encoding='utf-8'?>
<ns0:Relationships xmlns:ns0="http://schemas.openxmlformats.org/package/2006/relationships"><ns0:Relationship Id="rId3" Type="http://schemas.openxmlformats.org/officeDocument/2006/relationships/image" Target="../media/image138.png" /><ns0:Relationship Id="rId2" Type="http://schemas.openxmlformats.org/officeDocument/2006/relationships/image" Target="../media/image137.png" /><ns0:Relationship Id="rId1" Type="http://schemas.openxmlformats.org/officeDocument/2006/relationships/slideLayout" Target="../slideLayouts/slideLayout1.xml" /></ns0:Relationships>
</file>

<file path=ppt/c8/ppt/slides/_rels/slide30.xml.rels><?xml version='1.0' encoding='utf-8'?>
<ns0:Relationships xmlns:ns0="http://schemas.openxmlformats.org/package/2006/relationships"><ns0:Relationship Id="rId3" Type="http://schemas.openxmlformats.org/officeDocument/2006/relationships/image" Target="../media/image140.png" /><ns0:Relationship Id="rId2" Type="http://schemas.openxmlformats.org/officeDocument/2006/relationships/image" Target="../media/image139.png" /><ns0:Relationship Id="rId1" Type="http://schemas.openxmlformats.org/officeDocument/2006/relationships/slideLayout" Target="../slideLayouts/slideLayout1.xml" /></ns0:Relationships>
</file>

<file path=ppt/c8/ppt/slides/_rels/slide31.xml.rels><?xml version='1.0' encoding='utf-8'?>
<ns0:Relationships xmlns:ns0="http://schemas.openxmlformats.org/package/2006/relationships"><ns0:Relationship Id="rId3" Type="http://schemas.openxmlformats.org/officeDocument/2006/relationships/image" Target="../media/image142.png" /><ns0:Relationship Id="rId2" Type="http://schemas.openxmlformats.org/officeDocument/2006/relationships/image" Target="../media/image141.png" /><ns0:Relationship Id="rId1" Type="http://schemas.openxmlformats.org/officeDocument/2006/relationships/slideLayout" Target="../slideLayouts/slideLayout1.xml" /></ns0:Relationships>
</file>

<file path=ppt/c8/ppt/slides/_rels/slide32.xml.rels><?xml version='1.0' encoding='utf-8'?>
<ns0:Relationships xmlns:ns0="http://schemas.openxmlformats.org/package/2006/relationships"><ns0:Relationship Id="rId3" Type="http://schemas.openxmlformats.org/officeDocument/2006/relationships/image" Target="../media/image144.png" /><ns0:Relationship Id="rId2" Type="http://schemas.openxmlformats.org/officeDocument/2006/relationships/image" Target="../media/image143.png" /><ns0:Relationship Id="rId1" Type="http://schemas.openxmlformats.org/officeDocument/2006/relationships/slideLayout" Target="../slideLayouts/slideLayout1.xml" /></ns0:Relationships>
</file>

<file path=ppt/c8/ppt/slides/_rels/slide33.xml.rels><?xml version='1.0' encoding='utf-8'?>
<ns0:Relationships xmlns:ns0="http://schemas.openxmlformats.org/package/2006/relationships"><ns0:Relationship Id="rId3" Type="http://schemas.openxmlformats.org/officeDocument/2006/relationships/image" Target="../media/image146.png" /><ns0:Relationship Id="rId2" Type="http://schemas.openxmlformats.org/officeDocument/2006/relationships/image" Target="../media/image145.png" /><ns0:Relationship Id="rId1" Type="http://schemas.openxmlformats.org/officeDocument/2006/relationships/slideLayout" Target="../slideLayouts/slideLayout1.xml" /></ns0:Relationships>
</file>

<file path=ppt/c8/ppt/slides/_rels/slide34.xml.rels><?xml version='1.0' encoding='utf-8'?>
<ns0:Relationships xmlns:ns0="http://schemas.openxmlformats.org/package/2006/relationships"><ns0:Relationship Id="rId3" Type="http://schemas.openxmlformats.org/officeDocument/2006/relationships/image" Target="../media/image148.png" /><ns0:Relationship Id="rId2" Type="http://schemas.openxmlformats.org/officeDocument/2006/relationships/image" Target="../media/image147.png" /><ns0:Relationship Id="rId1" Type="http://schemas.openxmlformats.org/officeDocument/2006/relationships/slideLayout" Target="../slideLayouts/slideLayout1.xml" /></ns0:Relationships>
</file>

<file path=ppt/c8/ppt/slides/_rels/slide35.xml.rels><?xml version='1.0' encoding='utf-8'?>
<ns0:Relationships xmlns:ns0="http://schemas.openxmlformats.org/package/2006/relationships"><ns0:Relationship Id="rId3" Type="http://schemas.openxmlformats.org/officeDocument/2006/relationships/image" Target="../media/image150.png" /><ns0:Relationship Id="rId2" Type="http://schemas.openxmlformats.org/officeDocument/2006/relationships/image" Target="../media/image149.png" /><ns0:Relationship Id="rId1" Type="http://schemas.openxmlformats.org/officeDocument/2006/relationships/slideLayout" Target="../slideLayouts/slideLayout1.xml" /><ns0:Relationship Id="rId5" Type="http://schemas.openxmlformats.org/officeDocument/2006/relationships/image" Target="../media/image152.png" /><ns0:Relationship Id="rId4" Type="http://schemas.openxmlformats.org/officeDocument/2006/relationships/image" Target="../media/image151.png" /></ns0:Relationships>
</file>

<file path=ppt/c8/ppt/slides/_rels/slide36.xml.rels><?xml version='1.0' encoding='utf-8'?>
<ns0:Relationships xmlns:ns0="http://schemas.openxmlformats.org/package/2006/relationships"><ns0:Relationship Id="rId3" Type="http://schemas.openxmlformats.org/officeDocument/2006/relationships/image" Target="../media/image154.png" /><ns0:Relationship Id="rId2" Type="http://schemas.openxmlformats.org/officeDocument/2006/relationships/image" Target="../media/image153.png" /><ns0:Relationship Id="rId1" Type="http://schemas.openxmlformats.org/officeDocument/2006/relationships/slideLayout" Target="../slideLayouts/slideLayout1.xml" /></ns0:Relationships>
</file>

<file path=ppt/c8/ppt/slides/_rels/slide37.xml.rels><?xml version='1.0' encoding='utf-8'?>
<ns0:Relationships xmlns:ns0="http://schemas.openxmlformats.org/package/2006/relationships"><ns0:Relationship Id="rId3" Type="http://schemas.openxmlformats.org/officeDocument/2006/relationships/image" Target="../media/image156.png" /><ns0:Relationship Id="rId2" Type="http://schemas.openxmlformats.org/officeDocument/2006/relationships/image" Target="../media/image155.png" /><ns0:Relationship Id="rId1" Type="http://schemas.openxmlformats.org/officeDocument/2006/relationships/slideLayout" Target="../slideLayouts/slideLayout1.xml" /><ns0:Relationship Id="rId5" Type="http://schemas.openxmlformats.org/officeDocument/2006/relationships/image" Target="../media/image157.png" /><ns0:Relationship Id="rId4" Type="http://schemas.openxmlformats.org/officeDocument/2006/relationships/customXml" Target="../ink/ink3.xml" /></ns0:Relationships>
</file>

<file path=ppt/c8/ppt/slides/_rels/slide38.xml.rels><?xml version='1.0' encoding='utf-8'?>
<ns0:Relationships xmlns:ns0="http://schemas.openxmlformats.org/package/2006/relationships"><ns0:Relationship Id="rId3" Type="http://schemas.openxmlformats.org/officeDocument/2006/relationships/image" Target="../media/image159.png" /><ns0:Relationship Id="rId2" Type="http://schemas.openxmlformats.org/officeDocument/2006/relationships/image" Target="../media/image158.png" /><ns0:Relationship Id="rId1" Type="http://schemas.openxmlformats.org/officeDocument/2006/relationships/slideLayout" Target="../slideLayouts/slideLayout1.xml" /></ns0:Relationships>
</file>

<file path=ppt/c8/ppt/slides/_rels/slide39.xml.rels><?xml version='1.0' encoding='utf-8'?>
<ns0:Relationships xmlns:ns0="http://schemas.openxmlformats.org/package/2006/relationships"><ns0:Relationship Id="rId3" Type="http://schemas.openxmlformats.org/officeDocument/2006/relationships/image" Target="../media/image161.png" /><ns0:Relationship Id="rId2" Type="http://schemas.openxmlformats.org/officeDocument/2006/relationships/image" Target="../media/image160.png" /><ns0:Relationship Id="rId1" Type="http://schemas.openxmlformats.org/officeDocument/2006/relationships/slideLayout" Target="../slideLayouts/slideLayout1.xml" /></ns0:Relationships>
</file>

<file path=ppt/c8/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Starter</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847528" y="1700808"/>
                <a:ext cx="3168352" cy="1938992"/>
              </a:xfrm>
              <a:prstGeom prst="rect">
                <a:avLst/>
              </a:prstGeom>
              <a:noFill/>
            </p:spPr>
            <p:txBody>
              <a:bodyPr wrap="square" rtlCol="0">
                <a:spAutoFit/>
              </a:bodyPr>
              <a:lstStyle/>
              <a:p>
                <a:pPr marL="514350" indent="-514350">
                  <a:buAutoNum type="alphaLcParenR"/>
                </a:pPr>
                <a:r>
                  <a:rPr lang="en-GB" sz="2400" dirty="0"/>
                  <a:t>Expand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𝑎</m:t>
                            </m:r>
                            <m:r>
                              <a:rPr lang="en-GB" sz="2400" i="1">
                                <a:latin typeface="Cambria Math" panose="02040503050406030204" pitchFamily="18" charset="0"/>
                              </a:rPr>
                              <m:t>+</m:t>
                            </m:r>
                            <m:r>
                              <a:rPr lang="en-GB" sz="2400" i="1">
                                <a:latin typeface="Cambria Math" panose="02040503050406030204" pitchFamily="18" charset="0"/>
                              </a:rPr>
                              <m:t>𝑏</m:t>
                            </m:r>
                          </m:e>
                        </m:d>
                      </m:e>
                      <m:sup>
                        <m:r>
                          <a:rPr lang="en-GB" sz="2400" i="1">
                            <a:latin typeface="Cambria Math" panose="02040503050406030204" pitchFamily="18" charset="0"/>
                          </a:rPr>
                          <m:t>0</m:t>
                        </m:r>
                      </m:sup>
                    </m:sSup>
                  </m:oMath>
                </a14:m>
                <a:endParaRPr lang="en-GB" sz="2400" baseline="30000" dirty="0"/>
              </a:p>
              <a:p>
                <a:pPr marL="514350" indent="-514350">
                  <a:buAutoNum type="alphaLcParenR"/>
                </a:pPr>
                <a:r>
                  <a:rPr lang="en-GB" sz="2400" dirty="0"/>
                  <a:t>Expand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𝑎</m:t>
                            </m:r>
                            <m:r>
                              <a:rPr lang="en-GB" sz="2400" i="1">
                                <a:latin typeface="Cambria Math" panose="02040503050406030204" pitchFamily="18" charset="0"/>
                              </a:rPr>
                              <m:t>+</m:t>
                            </m:r>
                            <m:r>
                              <a:rPr lang="en-GB" sz="2400" i="1">
                                <a:latin typeface="Cambria Math" panose="02040503050406030204" pitchFamily="18" charset="0"/>
                              </a:rPr>
                              <m:t>𝑏</m:t>
                            </m:r>
                          </m:e>
                        </m:d>
                      </m:e>
                      <m:sup>
                        <m:r>
                          <a:rPr lang="en-GB" sz="2400" i="1">
                            <a:latin typeface="Cambria Math" panose="02040503050406030204" pitchFamily="18" charset="0"/>
                          </a:rPr>
                          <m:t>1</m:t>
                        </m:r>
                      </m:sup>
                    </m:sSup>
                  </m:oMath>
                </a14:m>
                <a:endParaRPr lang="en-GB" sz="2400" baseline="30000" dirty="0"/>
              </a:p>
              <a:p>
                <a:pPr marL="514350" indent="-514350">
                  <a:buAutoNum type="alphaLcParenR"/>
                </a:pPr>
                <a:r>
                  <a:rPr lang="en-GB" sz="2400" dirty="0"/>
                  <a:t>Expand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𝑎</m:t>
                            </m:r>
                            <m:r>
                              <a:rPr lang="en-GB" sz="2400" i="1">
                                <a:latin typeface="Cambria Math" panose="02040503050406030204" pitchFamily="18" charset="0"/>
                              </a:rPr>
                              <m:t>+</m:t>
                            </m:r>
                            <m:r>
                              <a:rPr lang="en-GB" sz="2400" i="1">
                                <a:latin typeface="Cambria Math" panose="02040503050406030204" pitchFamily="18" charset="0"/>
                              </a:rPr>
                              <m:t>𝑏</m:t>
                            </m:r>
                          </m:e>
                        </m:d>
                      </m:e>
                      <m:sup>
                        <m:r>
                          <a:rPr lang="en-GB" sz="2400" i="1">
                            <a:latin typeface="Cambria Math" panose="02040503050406030204" pitchFamily="18" charset="0"/>
                          </a:rPr>
                          <m:t>2</m:t>
                        </m:r>
                      </m:sup>
                    </m:sSup>
                  </m:oMath>
                </a14:m>
                <a:endParaRPr lang="en-GB" sz="2400" baseline="30000" dirty="0"/>
              </a:p>
              <a:p>
                <a:pPr marL="514350" indent="-514350">
                  <a:buAutoNum type="alphaLcParenR"/>
                </a:pPr>
                <a:r>
                  <a:rPr lang="en-GB" sz="2400" dirty="0"/>
                  <a:t>Expand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𝑎</m:t>
                            </m:r>
                            <m:r>
                              <a:rPr lang="en-GB" sz="2400" i="1">
                                <a:latin typeface="Cambria Math" panose="02040503050406030204" pitchFamily="18" charset="0"/>
                              </a:rPr>
                              <m:t>+</m:t>
                            </m:r>
                            <m:r>
                              <a:rPr lang="en-GB" sz="2400" i="1">
                                <a:latin typeface="Cambria Math" panose="02040503050406030204" pitchFamily="18" charset="0"/>
                              </a:rPr>
                              <m:t>𝑏</m:t>
                            </m:r>
                          </m:e>
                        </m:d>
                      </m:e>
                      <m:sup>
                        <m:r>
                          <a:rPr lang="en-GB" sz="2400" i="1">
                            <a:latin typeface="Cambria Math" panose="02040503050406030204" pitchFamily="18" charset="0"/>
                          </a:rPr>
                          <m:t>3</m:t>
                        </m:r>
                      </m:sup>
                    </m:sSup>
                  </m:oMath>
                </a14:m>
                <a:endParaRPr lang="en-GB" sz="2400" baseline="30000" dirty="0"/>
              </a:p>
              <a:p>
                <a:pPr marL="514350" indent="-514350">
                  <a:buAutoNum type="alphaLcParenR"/>
                </a:pPr>
                <a:r>
                  <a:rPr lang="en-GB" sz="2400" dirty="0"/>
                  <a:t>Expand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𝑎</m:t>
                            </m:r>
                            <m:r>
                              <a:rPr lang="en-GB" sz="2400" i="1">
                                <a:latin typeface="Cambria Math" panose="02040503050406030204" pitchFamily="18" charset="0"/>
                              </a:rPr>
                              <m:t>+</m:t>
                            </m:r>
                            <m:r>
                              <a:rPr lang="en-GB" sz="2400" i="1">
                                <a:latin typeface="Cambria Math" panose="02040503050406030204" pitchFamily="18" charset="0"/>
                              </a:rPr>
                              <m:t>𝑏</m:t>
                            </m:r>
                          </m:e>
                        </m:d>
                      </m:e>
                      <m:sup>
                        <m:r>
                          <a:rPr lang="en-GB" sz="2400" i="1">
                            <a:latin typeface="Cambria Math" panose="02040503050406030204" pitchFamily="18" charset="0"/>
                          </a:rPr>
                          <m:t>4</m:t>
                        </m:r>
                      </m:sup>
                    </m:sSup>
                  </m:oMath>
                </a14:m>
                <a:endParaRPr lang="en-GB" sz="2400" baseline="30000" dirty="0"/>
              </a:p>
            </p:txBody>
          </p:sp>
        </mc:Choice>
        <mc:Fallback xmlns="">
          <p:sp>
            <p:nvSpPr>
              <p:cNvPr id="5" name="TextBox 4"/>
              <p:cNvSpPr txBox="1">
                <a:spLocks noRot="1" noChangeAspect="1" noMove="1" noResize="1" noEditPoints="1" noAdjustHandles="1" noChangeArrowheads="1" noChangeShapeType="1" noTextEdit="1"/>
              </p:cNvSpPr>
              <p:nvPr/>
            </p:nvSpPr>
            <p:spPr>
              <a:xfrm>
                <a:off x="1847528" y="1700808"/>
                <a:ext cx="3168352" cy="1938992"/>
              </a:xfrm>
              <a:prstGeom prst="rect">
                <a:avLst/>
              </a:prstGeom>
              <a:blipFill>
                <a:blip r:embed="rId2"/>
                <a:stretch>
                  <a:fillRect l="-3077" t="-2830" b="-660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789714" y="1700808"/>
                <a:ext cx="5791200" cy="19389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1</m:t>
                      </m:r>
                    </m:oMath>
                  </m:oMathPara>
                </a14:m>
                <a:endParaRPr lang="en-GB" sz="2400" dirty="0"/>
              </a:p>
              <a:p>
                <a:pPr algn="ct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1</m:t>
                      </m:r>
                      <m:r>
                        <a:rPr lang="en-GB" sz="2400" i="1">
                          <a:latin typeface="Cambria Math" panose="02040503050406030204" pitchFamily="18" charset="0"/>
                        </a:rPr>
                        <m:t>𝑎</m:t>
                      </m:r>
                      <m:r>
                        <a:rPr lang="en-GB" sz="2400" i="1">
                          <a:latin typeface="Cambria Math" panose="02040503050406030204" pitchFamily="18" charset="0"/>
                        </a:rPr>
                        <m:t>  +    1</m:t>
                      </m:r>
                      <m:r>
                        <a:rPr lang="en-GB" sz="2400" i="1">
                          <a:latin typeface="Cambria Math" panose="02040503050406030204" pitchFamily="18" charset="0"/>
                        </a:rPr>
                        <m:t>𝑏</m:t>
                      </m:r>
                    </m:oMath>
                  </m:oMathPara>
                </a14:m>
                <a:endParaRPr lang="en-GB" sz="2400" dirty="0"/>
              </a:p>
              <a:p>
                <a:pPr algn="ct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1</m:t>
                      </m:r>
                      <m:sSup>
                        <m:sSupPr>
                          <m:ctrlPr>
                            <a:rPr lang="en-GB" sz="2400" i="1">
                              <a:latin typeface="Cambria Math" panose="02040503050406030204" pitchFamily="18" charset="0"/>
                            </a:rPr>
                          </m:ctrlPr>
                        </m:sSupPr>
                        <m:e>
                          <m:r>
                            <a:rPr lang="en-GB" sz="2400" i="1">
                              <a:latin typeface="Cambria Math" panose="02040503050406030204" pitchFamily="18" charset="0"/>
                            </a:rPr>
                            <m:t>𝑎</m:t>
                          </m:r>
                        </m:e>
                        <m:sup>
                          <m:r>
                            <a:rPr lang="en-GB" sz="2400" i="1">
                              <a:latin typeface="Cambria Math" panose="02040503050406030204" pitchFamily="18" charset="0"/>
                            </a:rPr>
                            <m:t>2</m:t>
                          </m:r>
                        </m:sup>
                      </m:sSup>
                      <m:r>
                        <a:rPr lang="en-GB" sz="2400" i="1">
                          <a:latin typeface="Cambria Math" panose="02040503050406030204" pitchFamily="18" charset="0"/>
                        </a:rPr>
                        <m:t>   +  2</m:t>
                      </m:r>
                      <m:r>
                        <a:rPr lang="en-GB" sz="2400" i="1">
                          <a:latin typeface="Cambria Math" panose="02040503050406030204" pitchFamily="18" charset="0"/>
                        </a:rPr>
                        <m:t>𝑎𝑏</m:t>
                      </m:r>
                      <m:r>
                        <a:rPr lang="en-GB" sz="2400" i="1">
                          <a:latin typeface="Cambria Math" panose="02040503050406030204" pitchFamily="18" charset="0"/>
                        </a:rPr>
                        <m:t>   +    1</m:t>
                      </m:r>
                      <m:sSup>
                        <m:sSupPr>
                          <m:ctrlPr>
                            <a:rPr lang="en-GB" sz="2400" i="1">
                              <a:latin typeface="Cambria Math" panose="02040503050406030204" pitchFamily="18" charset="0"/>
                            </a:rPr>
                          </m:ctrlPr>
                        </m:sSupPr>
                        <m:e>
                          <m:r>
                            <a:rPr lang="en-GB" sz="2400" i="1">
                              <a:latin typeface="Cambria Math" panose="02040503050406030204" pitchFamily="18" charset="0"/>
                            </a:rPr>
                            <m:t>𝑏</m:t>
                          </m:r>
                        </m:e>
                        <m:sup>
                          <m:r>
                            <a:rPr lang="en-GB" sz="2400" i="1">
                              <a:latin typeface="Cambria Math" panose="02040503050406030204" pitchFamily="18" charset="0"/>
                            </a:rPr>
                            <m:t>2</m:t>
                          </m:r>
                        </m:sup>
                      </m:sSup>
                    </m:oMath>
                  </m:oMathPara>
                </a14:m>
                <a:endParaRPr lang="en-GB" sz="2400" dirty="0"/>
              </a:p>
              <a:p>
                <a:pPr algn="ct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1</m:t>
                      </m:r>
                      <m:sSup>
                        <m:sSupPr>
                          <m:ctrlPr>
                            <a:rPr lang="en-GB" sz="2400" i="1">
                              <a:latin typeface="Cambria Math" panose="02040503050406030204" pitchFamily="18" charset="0"/>
                            </a:rPr>
                          </m:ctrlPr>
                        </m:sSupPr>
                        <m:e>
                          <m:r>
                            <a:rPr lang="en-GB" sz="2400" i="1">
                              <a:latin typeface="Cambria Math" panose="02040503050406030204" pitchFamily="18" charset="0"/>
                            </a:rPr>
                            <m:t>𝑎</m:t>
                          </m:r>
                        </m:e>
                        <m:sup>
                          <m:r>
                            <a:rPr lang="en-GB" sz="2400" i="1">
                              <a:latin typeface="Cambria Math" panose="02040503050406030204" pitchFamily="18" charset="0"/>
                            </a:rPr>
                            <m:t>3</m:t>
                          </m:r>
                        </m:sup>
                      </m:sSup>
                      <m:r>
                        <a:rPr lang="en-GB" sz="2400" i="1">
                          <a:latin typeface="Cambria Math" panose="02040503050406030204" pitchFamily="18" charset="0"/>
                        </a:rPr>
                        <m:t>   +   3</m:t>
                      </m:r>
                      <m:sSup>
                        <m:sSupPr>
                          <m:ctrlPr>
                            <a:rPr lang="en-GB" sz="2400" i="1">
                              <a:latin typeface="Cambria Math" panose="02040503050406030204" pitchFamily="18" charset="0"/>
                            </a:rPr>
                          </m:ctrlPr>
                        </m:sSupPr>
                        <m:e>
                          <m:r>
                            <a:rPr lang="en-GB" sz="2400" i="1">
                              <a:latin typeface="Cambria Math" panose="02040503050406030204" pitchFamily="18" charset="0"/>
                            </a:rPr>
                            <m:t>𝑎</m:t>
                          </m:r>
                        </m:e>
                        <m:sup>
                          <m:r>
                            <a:rPr lang="en-GB" sz="2400" i="1">
                              <a:latin typeface="Cambria Math" panose="02040503050406030204" pitchFamily="18" charset="0"/>
                            </a:rPr>
                            <m:t>2</m:t>
                          </m:r>
                        </m:sup>
                      </m:sSup>
                      <m:r>
                        <a:rPr lang="en-GB" sz="2400" i="1">
                          <a:latin typeface="Cambria Math" panose="02040503050406030204" pitchFamily="18" charset="0"/>
                        </a:rPr>
                        <m:t>𝑏</m:t>
                      </m:r>
                      <m:r>
                        <a:rPr lang="en-GB" sz="2400" i="1">
                          <a:latin typeface="Cambria Math" panose="02040503050406030204" pitchFamily="18" charset="0"/>
                        </a:rPr>
                        <m:t>   +  3</m:t>
                      </m:r>
                      <m:r>
                        <a:rPr lang="en-GB" sz="2400" i="1">
                          <a:latin typeface="Cambria Math" panose="02040503050406030204" pitchFamily="18" charset="0"/>
                        </a:rPr>
                        <m:t>𝑎</m:t>
                      </m:r>
                      <m:sSup>
                        <m:sSupPr>
                          <m:ctrlPr>
                            <a:rPr lang="en-GB" sz="2400" i="1">
                              <a:latin typeface="Cambria Math" panose="02040503050406030204" pitchFamily="18" charset="0"/>
                            </a:rPr>
                          </m:ctrlPr>
                        </m:sSupPr>
                        <m:e>
                          <m:r>
                            <a:rPr lang="en-GB" sz="2400" i="1">
                              <a:latin typeface="Cambria Math" panose="02040503050406030204" pitchFamily="18" charset="0"/>
                            </a:rPr>
                            <m:t>𝑏</m:t>
                          </m:r>
                        </m:e>
                        <m:sup>
                          <m:r>
                            <a:rPr lang="en-GB" sz="2400" i="1">
                              <a:latin typeface="Cambria Math" panose="02040503050406030204" pitchFamily="18" charset="0"/>
                            </a:rPr>
                            <m:t>2</m:t>
                          </m:r>
                        </m:sup>
                      </m:sSup>
                      <m:r>
                        <a:rPr lang="en-GB" sz="2400" i="1">
                          <a:latin typeface="Cambria Math" panose="02040503050406030204" pitchFamily="18" charset="0"/>
                        </a:rPr>
                        <m:t>  + 1</m:t>
                      </m:r>
                      <m:sSup>
                        <m:sSupPr>
                          <m:ctrlPr>
                            <a:rPr lang="en-GB" sz="2400" i="1">
                              <a:latin typeface="Cambria Math" panose="02040503050406030204" pitchFamily="18" charset="0"/>
                            </a:rPr>
                          </m:ctrlPr>
                        </m:sSupPr>
                        <m:e>
                          <m:r>
                            <a:rPr lang="en-GB" sz="2400" i="1">
                              <a:latin typeface="Cambria Math" panose="02040503050406030204" pitchFamily="18" charset="0"/>
                            </a:rPr>
                            <m:t>𝑏</m:t>
                          </m:r>
                        </m:e>
                        <m:sup>
                          <m:r>
                            <a:rPr lang="en-GB" sz="2400" i="1">
                              <a:latin typeface="Cambria Math" panose="02040503050406030204" pitchFamily="18" charset="0"/>
                            </a:rPr>
                            <m:t>3</m:t>
                          </m:r>
                        </m:sup>
                      </m:sSup>
                    </m:oMath>
                  </m:oMathPara>
                </a14:m>
                <a:endParaRPr lang="en-GB" sz="2400" dirty="0"/>
              </a:p>
              <a:p>
                <a:pPr algn="ct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1</m:t>
                      </m:r>
                      <m:sSup>
                        <m:sSupPr>
                          <m:ctrlPr>
                            <a:rPr lang="en-GB" sz="2400" i="1">
                              <a:latin typeface="Cambria Math" panose="02040503050406030204" pitchFamily="18" charset="0"/>
                            </a:rPr>
                          </m:ctrlPr>
                        </m:sSupPr>
                        <m:e>
                          <m:r>
                            <a:rPr lang="en-GB" sz="2400" i="1">
                              <a:latin typeface="Cambria Math" panose="02040503050406030204" pitchFamily="18" charset="0"/>
                            </a:rPr>
                            <m:t>𝑎</m:t>
                          </m:r>
                        </m:e>
                        <m:sup>
                          <m:r>
                            <a:rPr lang="en-GB" sz="2400" i="1">
                              <a:latin typeface="Cambria Math" panose="02040503050406030204" pitchFamily="18" charset="0"/>
                            </a:rPr>
                            <m:t>4</m:t>
                          </m:r>
                        </m:sup>
                      </m:sSup>
                      <m:r>
                        <a:rPr lang="en-GB" sz="2400" i="1">
                          <a:latin typeface="Cambria Math" panose="02040503050406030204" pitchFamily="18" charset="0"/>
                        </a:rPr>
                        <m:t>  +  4</m:t>
                      </m:r>
                      <m:sSup>
                        <m:sSupPr>
                          <m:ctrlPr>
                            <a:rPr lang="en-GB" sz="2400" i="1">
                              <a:latin typeface="Cambria Math" panose="02040503050406030204" pitchFamily="18" charset="0"/>
                            </a:rPr>
                          </m:ctrlPr>
                        </m:sSupPr>
                        <m:e>
                          <m:r>
                            <a:rPr lang="en-GB" sz="2400" i="1">
                              <a:latin typeface="Cambria Math" panose="02040503050406030204" pitchFamily="18" charset="0"/>
                            </a:rPr>
                            <m:t>𝑎</m:t>
                          </m:r>
                        </m:e>
                        <m:sup>
                          <m:r>
                            <a:rPr lang="en-GB" sz="2400" i="1">
                              <a:latin typeface="Cambria Math" panose="02040503050406030204" pitchFamily="18" charset="0"/>
                            </a:rPr>
                            <m:t>3</m:t>
                          </m:r>
                        </m:sup>
                      </m:sSup>
                      <m:r>
                        <a:rPr lang="en-GB" sz="2400" i="1">
                          <a:latin typeface="Cambria Math" panose="02040503050406030204" pitchFamily="18" charset="0"/>
                        </a:rPr>
                        <m:t>𝑏</m:t>
                      </m:r>
                      <m:r>
                        <a:rPr lang="en-GB" sz="2400" i="1">
                          <a:latin typeface="Cambria Math" panose="02040503050406030204" pitchFamily="18" charset="0"/>
                        </a:rPr>
                        <m:t>   +  6</m:t>
                      </m:r>
                      <m:sSup>
                        <m:sSupPr>
                          <m:ctrlPr>
                            <a:rPr lang="en-GB" sz="2400" i="1">
                              <a:latin typeface="Cambria Math" panose="02040503050406030204" pitchFamily="18" charset="0"/>
                            </a:rPr>
                          </m:ctrlPr>
                        </m:sSupPr>
                        <m:e>
                          <m:r>
                            <a:rPr lang="en-GB" sz="2400" i="1">
                              <a:latin typeface="Cambria Math" panose="02040503050406030204" pitchFamily="18" charset="0"/>
                            </a:rPr>
                            <m:t>𝑎</m:t>
                          </m:r>
                        </m:e>
                        <m:sup>
                          <m:r>
                            <a:rPr lang="en-GB" sz="2400" i="1">
                              <a:latin typeface="Cambria Math" panose="02040503050406030204" pitchFamily="18" charset="0"/>
                            </a:rPr>
                            <m:t>2</m:t>
                          </m:r>
                        </m:sup>
                      </m:sSup>
                      <m:sSup>
                        <m:sSupPr>
                          <m:ctrlPr>
                            <a:rPr lang="en-GB" sz="2400" i="1">
                              <a:latin typeface="Cambria Math" panose="02040503050406030204" pitchFamily="18" charset="0"/>
                            </a:rPr>
                          </m:ctrlPr>
                        </m:sSupPr>
                        <m:e>
                          <m:r>
                            <a:rPr lang="en-GB" sz="2400" i="1">
                              <a:latin typeface="Cambria Math" panose="02040503050406030204" pitchFamily="18" charset="0"/>
                            </a:rPr>
                            <m:t>𝑏</m:t>
                          </m:r>
                        </m:e>
                        <m:sup>
                          <m:r>
                            <a:rPr lang="en-GB" sz="2400" i="1">
                              <a:latin typeface="Cambria Math" panose="02040503050406030204" pitchFamily="18" charset="0"/>
                            </a:rPr>
                            <m:t>2</m:t>
                          </m:r>
                        </m:sup>
                      </m:sSup>
                      <m:r>
                        <a:rPr lang="en-GB" sz="2400" i="1">
                          <a:latin typeface="Cambria Math" panose="02040503050406030204" pitchFamily="18" charset="0"/>
                        </a:rPr>
                        <m:t>  + 4</m:t>
                      </m:r>
                      <m:r>
                        <a:rPr lang="en-GB" sz="2400" i="1">
                          <a:latin typeface="Cambria Math" panose="02040503050406030204" pitchFamily="18" charset="0"/>
                        </a:rPr>
                        <m:t>𝑎</m:t>
                      </m:r>
                      <m:sSup>
                        <m:sSupPr>
                          <m:ctrlPr>
                            <a:rPr lang="en-GB" sz="2400" i="1">
                              <a:latin typeface="Cambria Math" panose="02040503050406030204" pitchFamily="18" charset="0"/>
                            </a:rPr>
                          </m:ctrlPr>
                        </m:sSupPr>
                        <m:e>
                          <m:r>
                            <a:rPr lang="en-GB" sz="2400" i="1">
                              <a:latin typeface="Cambria Math" panose="02040503050406030204" pitchFamily="18" charset="0"/>
                            </a:rPr>
                            <m:t>𝑏</m:t>
                          </m:r>
                        </m:e>
                        <m:sup>
                          <m:r>
                            <a:rPr lang="en-GB" sz="2400" i="1">
                              <a:latin typeface="Cambria Math" panose="02040503050406030204" pitchFamily="18" charset="0"/>
                            </a:rPr>
                            <m:t>3</m:t>
                          </m:r>
                        </m:sup>
                      </m:sSup>
                      <m:r>
                        <a:rPr lang="en-GB" sz="2400" i="1">
                          <a:latin typeface="Cambria Math" panose="02040503050406030204" pitchFamily="18" charset="0"/>
                        </a:rPr>
                        <m:t> +  1</m:t>
                      </m:r>
                      <m:sSup>
                        <m:sSupPr>
                          <m:ctrlPr>
                            <a:rPr lang="en-GB" sz="2400" i="1">
                              <a:latin typeface="Cambria Math" panose="02040503050406030204" pitchFamily="18" charset="0"/>
                            </a:rPr>
                          </m:ctrlPr>
                        </m:sSupPr>
                        <m:e>
                          <m:r>
                            <a:rPr lang="en-GB" sz="2400" i="1">
                              <a:latin typeface="Cambria Math" panose="02040503050406030204" pitchFamily="18" charset="0"/>
                            </a:rPr>
                            <m:t>𝑏</m:t>
                          </m:r>
                        </m:e>
                        <m:sup>
                          <m:r>
                            <a:rPr lang="en-GB" sz="2400" i="1">
                              <a:latin typeface="Cambria Math" panose="02040503050406030204" pitchFamily="18" charset="0"/>
                            </a:rPr>
                            <m:t>4</m:t>
                          </m:r>
                        </m:sup>
                      </m:sSup>
                    </m:oMath>
                  </m:oMathPara>
                </a14:m>
                <a:endParaRPr lang="en-GB" sz="2400" dirty="0"/>
              </a:p>
            </p:txBody>
          </p:sp>
        </mc:Choice>
        <mc:Fallback xmlns="">
          <p:sp>
            <p:nvSpPr>
              <p:cNvPr id="18" name="TextBox 17"/>
              <p:cNvSpPr txBox="1">
                <a:spLocks noRot="1" noChangeAspect="1" noMove="1" noResize="1" noEditPoints="1" noAdjustHandles="1" noChangeArrowheads="1" noChangeShapeType="1" noTextEdit="1"/>
              </p:cNvSpPr>
              <p:nvPr/>
            </p:nvSpPr>
            <p:spPr>
              <a:xfrm>
                <a:off x="4789714" y="1700808"/>
                <a:ext cx="5791200" cy="1938992"/>
              </a:xfrm>
              <a:prstGeom prst="rect">
                <a:avLst/>
              </a:prstGeom>
              <a:blipFill>
                <a:blip r:embed="rId3"/>
                <a:stretch>
                  <a:fillRect l="-316"/>
                </a:stretch>
              </a:blipFill>
            </p:spPr>
            <p:txBody>
              <a:bodyPr/>
              <a:lstStyle/>
              <a:p>
                <a:r>
                  <a:rPr lang="en-GB">
                    <a:noFill/>
                  </a:rPr>
                  <a:t> </a:t>
                </a:r>
              </a:p>
            </p:txBody>
          </p:sp>
        </mc:Fallback>
      </mc:AlternateContent>
      <p:sp>
        <p:nvSpPr>
          <p:cNvPr id="20" name="TextBox 19"/>
          <p:cNvSpPr txBox="1"/>
          <p:nvPr/>
        </p:nvSpPr>
        <p:spPr>
          <a:xfrm>
            <a:off x="1991544" y="4036658"/>
            <a:ext cx="4032448" cy="400110"/>
          </a:xfrm>
          <a:prstGeom prst="rect">
            <a:avLst/>
          </a:prstGeom>
          <a:solidFill>
            <a:schemeClr val="bg1"/>
          </a:solidFill>
          <a:ln>
            <a:no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GB" sz="2000" dirty="0"/>
              <a:t>What do you notice about:</a:t>
            </a:r>
          </a:p>
        </p:txBody>
      </p:sp>
      <mc:AlternateContent xmlns:mc="http://schemas.openxmlformats.org/markup-compatibility/2006" xmlns:a14="http://schemas.microsoft.com/office/drawing/2010/main">
        <mc:Choice Requires="a14">
          <p:sp>
            <p:nvSpPr>
              <p:cNvPr id="21" name="TextBox 20"/>
              <p:cNvSpPr txBox="1"/>
              <p:nvPr/>
            </p:nvSpPr>
            <p:spPr>
              <a:xfrm>
                <a:off x="1991544" y="4725144"/>
                <a:ext cx="8208912" cy="923330"/>
              </a:xfrm>
              <a:prstGeom prst="rect">
                <a:avLst/>
              </a:prstGeom>
              <a:noFill/>
            </p:spPr>
            <p:txBody>
              <a:bodyPr wrap="square" rtlCol="0">
                <a:spAutoFit/>
              </a:bodyPr>
              <a:lstStyle/>
              <a:p>
                <a:r>
                  <a:rPr lang="en-GB" b="1" dirty="0"/>
                  <a:t>The coefficients:</a:t>
                </a:r>
                <a:r>
                  <a:rPr lang="en-GB" dirty="0"/>
                  <a:t>		They follow Pascal’s triangle (we’ll explore on next slide).</a:t>
                </a:r>
              </a:p>
              <a:p>
                <a:r>
                  <a:rPr lang="en-GB" b="1" dirty="0"/>
                  <a:t>The powers of </a:t>
                </a:r>
                <a14:m>
                  <m:oMath xmlns:m="http://schemas.openxmlformats.org/officeDocument/2006/math">
                    <m:r>
                      <a:rPr lang="en-GB" b="1" i="1">
                        <a:latin typeface="Cambria Math" panose="02040503050406030204" pitchFamily="18" charset="0"/>
                      </a:rPr>
                      <m:t>𝒂</m:t>
                    </m:r>
                  </m:oMath>
                </a14:m>
                <a:r>
                  <a:rPr lang="en-GB" b="1" dirty="0"/>
                  <a:t> and </a:t>
                </a:r>
                <a14:m>
                  <m:oMath xmlns:m="http://schemas.openxmlformats.org/officeDocument/2006/math">
                    <m:r>
                      <a:rPr lang="en-GB" b="1" i="1">
                        <a:latin typeface="Cambria Math" panose="02040503050406030204" pitchFamily="18" charset="0"/>
                      </a:rPr>
                      <m:t>𝒃</m:t>
                    </m:r>
                  </m:oMath>
                </a14:m>
                <a:r>
                  <a:rPr lang="en-GB" b="1" dirty="0"/>
                  <a:t>:</a:t>
                </a:r>
                <a:r>
                  <a:rPr lang="en-GB" dirty="0"/>
                  <a:t>	Power of </a:t>
                </a:r>
                <a14:m>
                  <m:oMath xmlns:m="http://schemas.openxmlformats.org/officeDocument/2006/math">
                    <m:r>
                      <a:rPr lang="en-GB" i="1">
                        <a:latin typeface="Cambria Math" panose="02040503050406030204" pitchFamily="18" charset="0"/>
                      </a:rPr>
                      <m:t>𝑎</m:t>
                    </m:r>
                  </m:oMath>
                </a14:m>
                <a:r>
                  <a:rPr lang="en-GB" dirty="0"/>
                  <a:t> decreases each time (starting at the power)</a:t>
                </a:r>
              </a:p>
              <a:p>
                <a:r>
                  <a:rPr lang="en-GB" dirty="0"/>
                  <a:t>			Power of </a:t>
                </a:r>
                <a14:m>
                  <m:oMath xmlns:m="http://schemas.openxmlformats.org/officeDocument/2006/math">
                    <m:r>
                      <a:rPr lang="en-GB" i="1">
                        <a:latin typeface="Cambria Math" panose="02040503050406030204" pitchFamily="18" charset="0"/>
                      </a:rPr>
                      <m:t>𝑏</m:t>
                    </m:r>
                  </m:oMath>
                </a14:m>
                <a:r>
                  <a:rPr lang="en-GB" dirty="0"/>
                  <a:t> increases each time (starting at 0)	</a:t>
                </a:r>
              </a:p>
            </p:txBody>
          </p:sp>
        </mc:Choice>
        <mc:Fallback xmlns="">
          <p:sp>
            <p:nvSpPr>
              <p:cNvPr id="21" name="TextBox 20"/>
              <p:cNvSpPr txBox="1">
                <a:spLocks noRot="1" noChangeAspect="1" noMove="1" noResize="1" noEditPoints="1" noAdjustHandles="1" noChangeArrowheads="1" noChangeShapeType="1" noTextEdit="1"/>
              </p:cNvSpPr>
              <p:nvPr/>
            </p:nvSpPr>
            <p:spPr>
              <a:xfrm>
                <a:off x="1991544" y="4725144"/>
                <a:ext cx="8208912" cy="923330"/>
              </a:xfrm>
              <a:prstGeom prst="rect">
                <a:avLst/>
              </a:prstGeom>
              <a:blipFill>
                <a:blip r:embed="rId4"/>
                <a:stretch>
                  <a:fillRect l="-669" t="-3289" r="-520" b="-9211"/>
                </a:stretch>
              </a:blipFill>
            </p:spPr>
            <p:txBody>
              <a:bodyPr/>
              <a:lstStyle/>
              <a:p>
                <a:r>
                  <a:rPr lang="en-GB">
                    <a:noFill/>
                  </a:rPr>
                  <a:t> </a:t>
                </a:r>
              </a:p>
            </p:txBody>
          </p:sp>
        </mc:Fallback>
      </mc:AlternateContent>
      <p:sp>
        <p:nvSpPr>
          <p:cNvPr id="9" name="Rectangle 8"/>
          <p:cNvSpPr/>
          <p:nvPr/>
        </p:nvSpPr>
        <p:spPr>
          <a:xfrm>
            <a:off x="4911061" y="1715322"/>
            <a:ext cx="5532497" cy="38661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0" name="Rectangle 9"/>
          <p:cNvSpPr/>
          <p:nvPr/>
        </p:nvSpPr>
        <p:spPr>
          <a:xfrm>
            <a:off x="4911060" y="2101932"/>
            <a:ext cx="5532497" cy="38661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1" name="Rectangle 10"/>
          <p:cNvSpPr/>
          <p:nvPr/>
        </p:nvSpPr>
        <p:spPr>
          <a:xfrm>
            <a:off x="4911060" y="2488542"/>
            <a:ext cx="5532497" cy="38661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2" name="Rectangle 11"/>
          <p:cNvSpPr/>
          <p:nvPr/>
        </p:nvSpPr>
        <p:spPr>
          <a:xfrm>
            <a:off x="4911060" y="2872347"/>
            <a:ext cx="5532497" cy="38661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3" name="Rectangle 12"/>
          <p:cNvSpPr/>
          <p:nvPr/>
        </p:nvSpPr>
        <p:spPr>
          <a:xfrm>
            <a:off x="4911060" y="3267704"/>
            <a:ext cx="5532497" cy="38661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4" name="Rectangle 13"/>
          <p:cNvSpPr/>
          <p:nvPr/>
        </p:nvSpPr>
        <p:spPr>
          <a:xfrm>
            <a:off x="4702105" y="4649982"/>
            <a:ext cx="5467393" cy="38661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5" name="Rectangle 14"/>
          <p:cNvSpPr/>
          <p:nvPr/>
        </p:nvSpPr>
        <p:spPr>
          <a:xfrm>
            <a:off x="4702104" y="5039746"/>
            <a:ext cx="5467393" cy="60872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163869845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14" restart="whenNotActive" fill="hold" evtFilter="cancelBubble" nodeType="interactiveSeq">
                <p:stCondLst>
                  <p:cond evt="onClick" delay="0">
                    <p:tgtEl>
                      <p:spTgt spid="1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1"/>
                                        </p:tgtEl>
                                      </p:cBhvr>
                                    </p:animEffect>
                                    <p:set>
                                      <p:cBhvr>
                                        <p:cTn id="19"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20" restart="whenNotActive" fill="hold" evtFilter="cancelBubble" nodeType="interactiveSeq">
                <p:stCondLst>
                  <p:cond evt="onClick" delay="0">
                    <p:tgtEl>
                      <p:spTgt spid="12"/>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2"/>
                                        </p:tgtEl>
                                      </p:cBhvr>
                                    </p:animEffect>
                                    <p:set>
                                      <p:cBhvr>
                                        <p:cTn id="25"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26" restart="whenNotActive" fill="hold" evtFilter="cancelBubble" nodeType="interactiveSeq">
                <p:stCondLst>
                  <p:cond evt="onClick" delay="0">
                    <p:tgtEl>
                      <p:spTgt spid="13"/>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13"/>
                                        </p:tgtEl>
                                      </p:cBhvr>
                                    </p:animEffect>
                                    <p:set>
                                      <p:cBhvr>
                                        <p:cTn id="31"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32" restart="whenNotActive" fill="hold" evtFilter="cancelBubble" nodeType="interactiveSeq">
                <p:stCondLst>
                  <p:cond evt="onClick" delay="0">
                    <p:tgtEl>
                      <p:spTgt spid="14"/>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14"/>
                                        </p:tgtEl>
                                      </p:cBhvr>
                                    </p:animEffect>
                                    <p:set>
                                      <p:cBhvr>
                                        <p:cTn id="3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38" restart="whenNotActive" fill="hold" evtFilter="cancelBubble" nodeType="interactiveSeq">
                <p:stCondLst>
                  <p:cond evt="onClick" delay="0">
                    <p:tgtEl>
                      <p:spTgt spid="15"/>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15"/>
                                        </p:tgtEl>
                                      </p:cBhvr>
                                    </p:animEffect>
                                    <p:set>
                                      <p:cBhvr>
                                        <p:cTn id="4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childTnLst>
        </p:cTn>
      </p:par>
    </p:tnLst>
    <p:bldLst>
      <p:bldP spid="9" grpId="0" animBg="1"/>
      <p:bldP spid="10" grpId="0" animBg="1"/>
      <p:bldP spid="11" grpId="0" animBg="1"/>
      <p:bldP spid="12" grpId="0" animBg="1"/>
      <p:bldP spid="13" grpId="0" animBg="1"/>
      <p:bldP spid="14" grpId="0" animBg="1"/>
      <p:bldP spid="15" grpId="0" animBg="1"/>
    </p:bldLst>
  </p:timing>
</p:sld>
</file>

<file path=ppt/c8/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Shape 38"/>
          <p:cNvSpPr/>
          <p:nvPr/>
        </p:nvSpPr>
        <p:spPr>
          <a:xfrm>
            <a:off x="4381500" y="1993900"/>
            <a:ext cx="2133600" cy="3213100"/>
          </a:xfrm>
          <a:custGeom>
            <a:avLst/>
            <a:gdLst>
              <a:gd name="connsiteX0" fmla="*/ 0 w 2133600"/>
              <a:gd name="connsiteY0" fmla="*/ 2857500 h 3213100"/>
              <a:gd name="connsiteX1" fmla="*/ 38100 w 2133600"/>
              <a:gd name="connsiteY1" fmla="*/ 3098800 h 3213100"/>
              <a:gd name="connsiteX2" fmla="*/ 279400 w 2133600"/>
              <a:gd name="connsiteY2" fmla="*/ 3213100 h 3213100"/>
              <a:gd name="connsiteX3" fmla="*/ 533400 w 2133600"/>
              <a:gd name="connsiteY3" fmla="*/ 3124200 h 3213100"/>
              <a:gd name="connsiteX4" fmla="*/ 2120900 w 2133600"/>
              <a:gd name="connsiteY4" fmla="*/ 495300 h 3213100"/>
              <a:gd name="connsiteX5" fmla="*/ 2133600 w 2133600"/>
              <a:gd name="connsiteY5" fmla="*/ 203200 h 3213100"/>
              <a:gd name="connsiteX6" fmla="*/ 2006600 w 2133600"/>
              <a:gd name="connsiteY6" fmla="*/ 25400 h 3213100"/>
              <a:gd name="connsiteX7" fmla="*/ 1752600 w 2133600"/>
              <a:gd name="connsiteY7" fmla="*/ 0 h 3213100"/>
              <a:gd name="connsiteX8" fmla="*/ 1549400 w 2133600"/>
              <a:gd name="connsiteY8" fmla="*/ 203200 h 3213100"/>
              <a:gd name="connsiteX9" fmla="*/ 0 w 2133600"/>
              <a:gd name="connsiteY9" fmla="*/ 2857500 h 321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3600" h="3213100">
                <a:moveTo>
                  <a:pt x="0" y="2857500"/>
                </a:moveTo>
                <a:lnTo>
                  <a:pt x="38100" y="3098800"/>
                </a:lnTo>
                <a:lnTo>
                  <a:pt x="279400" y="3213100"/>
                </a:lnTo>
                <a:lnTo>
                  <a:pt x="533400" y="3124200"/>
                </a:lnTo>
                <a:lnTo>
                  <a:pt x="2120900" y="495300"/>
                </a:lnTo>
                <a:lnTo>
                  <a:pt x="2133600" y="203200"/>
                </a:lnTo>
                <a:lnTo>
                  <a:pt x="2006600" y="25400"/>
                </a:lnTo>
                <a:lnTo>
                  <a:pt x="1752600" y="0"/>
                </a:lnTo>
                <a:lnTo>
                  <a:pt x="1549400" y="203200"/>
                </a:lnTo>
                <a:lnTo>
                  <a:pt x="0" y="2857500"/>
                </a:lnTo>
                <a:close/>
              </a:path>
            </a:pathLst>
          </a:cu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More on Pascal’s Triangle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5599389" y="1563898"/>
            <a:ext cx="504056" cy="523220"/>
          </a:xfrm>
          <a:prstGeom prst="rect">
            <a:avLst/>
          </a:prstGeom>
          <a:noFill/>
        </p:spPr>
        <p:txBody>
          <a:bodyPr wrap="square" rtlCol="0">
            <a:spAutoFit/>
          </a:bodyPr>
          <a:lstStyle/>
          <a:p>
            <a:pPr algn="ctr"/>
            <a:r>
              <a:rPr lang="en-GB" sz="2800" dirty="0"/>
              <a:t>1</a:t>
            </a:r>
            <a:endParaRPr lang="en-GB" dirty="0"/>
          </a:p>
        </p:txBody>
      </p:sp>
      <p:sp>
        <p:nvSpPr>
          <p:cNvPr id="6" name="TextBox 5"/>
          <p:cNvSpPr txBox="1"/>
          <p:nvPr/>
        </p:nvSpPr>
        <p:spPr>
          <a:xfrm>
            <a:off x="5224280" y="2087118"/>
            <a:ext cx="504056" cy="523220"/>
          </a:xfrm>
          <a:prstGeom prst="rect">
            <a:avLst/>
          </a:prstGeom>
          <a:noFill/>
        </p:spPr>
        <p:txBody>
          <a:bodyPr wrap="square" rtlCol="0">
            <a:spAutoFit/>
          </a:bodyPr>
          <a:lstStyle/>
          <a:p>
            <a:pPr algn="ctr"/>
            <a:r>
              <a:rPr lang="en-GB" sz="2800" dirty="0"/>
              <a:t>1</a:t>
            </a:r>
            <a:endParaRPr lang="en-GB" dirty="0"/>
          </a:p>
        </p:txBody>
      </p:sp>
      <p:sp>
        <p:nvSpPr>
          <p:cNvPr id="7" name="TextBox 6"/>
          <p:cNvSpPr txBox="1"/>
          <p:nvPr/>
        </p:nvSpPr>
        <p:spPr>
          <a:xfrm>
            <a:off x="5974498" y="2087118"/>
            <a:ext cx="504056" cy="523220"/>
          </a:xfrm>
          <a:prstGeom prst="rect">
            <a:avLst/>
          </a:prstGeom>
          <a:noFill/>
        </p:spPr>
        <p:txBody>
          <a:bodyPr wrap="square" rtlCol="0">
            <a:spAutoFit/>
          </a:bodyPr>
          <a:lstStyle/>
          <a:p>
            <a:pPr algn="ctr"/>
            <a:r>
              <a:rPr lang="en-GB" sz="2800" dirty="0"/>
              <a:t>1</a:t>
            </a:r>
            <a:endParaRPr lang="en-GB" dirty="0"/>
          </a:p>
        </p:txBody>
      </p:sp>
      <p:sp>
        <p:nvSpPr>
          <p:cNvPr id="8" name="TextBox 7"/>
          <p:cNvSpPr txBox="1"/>
          <p:nvPr/>
        </p:nvSpPr>
        <p:spPr>
          <a:xfrm>
            <a:off x="4864240" y="2716026"/>
            <a:ext cx="504056" cy="523220"/>
          </a:xfrm>
          <a:prstGeom prst="rect">
            <a:avLst/>
          </a:prstGeom>
          <a:noFill/>
        </p:spPr>
        <p:txBody>
          <a:bodyPr wrap="square" rtlCol="0">
            <a:spAutoFit/>
          </a:bodyPr>
          <a:lstStyle/>
          <a:p>
            <a:pPr algn="ctr"/>
            <a:r>
              <a:rPr lang="en-GB" sz="2800" dirty="0"/>
              <a:t>1</a:t>
            </a:r>
            <a:endParaRPr lang="en-GB" dirty="0"/>
          </a:p>
        </p:txBody>
      </p:sp>
      <p:sp>
        <p:nvSpPr>
          <p:cNvPr id="9" name="TextBox 8"/>
          <p:cNvSpPr txBox="1"/>
          <p:nvPr/>
        </p:nvSpPr>
        <p:spPr>
          <a:xfrm>
            <a:off x="5583748" y="2716026"/>
            <a:ext cx="504056" cy="523220"/>
          </a:xfrm>
          <a:prstGeom prst="rect">
            <a:avLst/>
          </a:prstGeom>
          <a:noFill/>
        </p:spPr>
        <p:txBody>
          <a:bodyPr wrap="square" rtlCol="0">
            <a:spAutoFit/>
          </a:bodyPr>
          <a:lstStyle/>
          <a:p>
            <a:pPr algn="ctr"/>
            <a:r>
              <a:rPr lang="en-GB" sz="2800" dirty="0"/>
              <a:t>2</a:t>
            </a:r>
            <a:endParaRPr lang="en-GB" dirty="0"/>
          </a:p>
        </p:txBody>
      </p:sp>
      <p:sp>
        <p:nvSpPr>
          <p:cNvPr id="10" name="TextBox 9"/>
          <p:cNvSpPr txBox="1"/>
          <p:nvPr/>
        </p:nvSpPr>
        <p:spPr>
          <a:xfrm>
            <a:off x="6348866" y="2716026"/>
            <a:ext cx="504056" cy="523220"/>
          </a:xfrm>
          <a:prstGeom prst="rect">
            <a:avLst/>
          </a:prstGeom>
          <a:noFill/>
        </p:spPr>
        <p:txBody>
          <a:bodyPr wrap="square" rtlCol="0">
            <a:spAutoFit/>
          </a:bodyPr>
          <a:lstStyle/>
          <a:p>
            <a:pPr algn="ctr"/>
            <a:r>
              <a:rPr lang="en-GB" sz="2800" dirty="0"/>
              <a:t>1</a:t>
            </a:r>
            <a:endParaRPr lang="en-GB" dirty="0"/>
          </a:p>
        </p:txBody>
      </p:sp>
      <p:sp>
        <p:nvSpPr>
          <p:cNvPr id="11" name="TextBox 10"/>
          <p:cNvSpPr txBox="1"/>
          <p:nvPr/>
        </p:nvSpPr>
        <p:spPr>
          <a:xfrm>
            <a:off x="4432192" y="3344934"/>
            <a:ext cx="504056" cy="523220"/>
          </a:xfrm>
          <a:prstGeom prst="rect">
            <a:avLst/>
          </a:prstGeom>
          <a:noFill/>
        </p:spPr>
        <p:txBody>
          <a:bodyPr wrap="square" rtlCol="0">
            <a:spAutoFit/>
          </a:bodyPr>
          <a:lstStyle/>
          <a:p>
            <a:pPr algn="ctr"/>
            <a:r>
              <a:rPr lang="en-GB" sz="2800" dirty="0"/>
              <a:t>1</a:t>
            </a:r>
            <a:endParaRPr lang="en-GB" dirty="0"/>
          </a:p>
        </p:txBody>
      </p:sp>
      <p:sp>
        <p:nvSpPr>
          <p:cNvPr id="12" name="TextBox 11"/>
          <p:cNvSpPr txBox="1"/>
          <p:nvPr/>
        </p:nvSpPr>
        <p:spPr>
          <a:xfrm>
            <a:off x="5224280" y="3344934"/>
            <a:ext cx="504056" cy="523220"/>
          </a:xfrm>
          <a:prstGeom prst="rect">
            <a:avLst/>
          </a:prstGeom>
          <a:noFill/>
        </p:spPr>
        <p:txBody>
          <a:bodyPr wrap="square" rtlCol="0">
            <a:spAutoFit/>
          </a:bodyPr>
          <a:lstStyle/>
          <a:p>
            <a:pPr algn="ctr"/>
            <a:r>
              <a:rPr lang="en-GB" sz="2800" dirty="0"/>
              <a:t>3</a:t>
            </a:r>
            <a:endParaRPr lang="en-GB" dirty="0"/>
          </a:p>
        </p:txBody>
      </p:sp>
      <p:sp>
        <p:nvSpPr>
          <p:cNvPr id="13" name="TextBox 12"/>
          <p:cNvSpPr txBox="1"/>
          <p:nvPr/>
        </p:nvSpPr>
        <p:spPr>
          <a:xfrm>
            <a:off x="5974498" y="3344934"/>
            <a:ext cx="504056" cy="523220"/>
          </a:xfrm>
          <a:prstGeom prst="rect">
            <a:avLst/>
          </a:prstGeom>
          <a:noFill/>
        </p:spPr>
        <p:txBody>
          <a:bodyPr wrap="square" rtlCol="0">
            <a:spAutoFit/>
          </a:bodyPr>
          <a:lstStyle/>
          <a:p>
            <a:pPr algn="ctr"/>
            <a:r>
              <a:rPr lang="en-GB" sz="2800" dirty="0"/>
              <a:t>3</a:t>
            </a:r>
            <a:endParaRPr lang="en-GB" dirty="0"/>
          </a:p>
        </p:txBody>
      </p:sp>
      <p:sp>
        <p:nvSpPr>
          <p:cNvPr id="14" name="TextBox 13"/>
          <p:cNvSpPr txBox="1"/>
          <p:nvPr/>
        </p:nvSpPr>
        <p:spPr>
          <a:xfrm>
            <a:off x="6724716" y="3344934"/>
            <a:ext cx="504056" cy="523220"/>
          </a:xfrm>
          <a:prstGeom prst="rect">
            <a:avLst/>
          </a:prstGeom>
          <a:noFill/>
        </p:spPr>
        <p:txBody>
          <a:bodyPr wrap="square" rtlCol="0">
            <a:spAutoFit/>
          </a:bodyPr>
          <a:lstStyle/>
          <a:p>
            <a:pPr algn="ctr"/>
            <a:r>
              <a:rPr lang="en-GB" sz="2800" dirty="0"/>
              <a:t>1</a:t>
            </a:r>
            <a:endParaRPr lang="en-GB" dirty="0"/>
          </a:p>
        </p:txBody>
      </p:sp>
      <p:sp>
        <p:nvSpPr>
          <p:cNvPr id="15" name="TextBox 14"/>
          <p:cNvSpPr txBox="1"/>
          <p:nvPr/>
        </p:nvSpPr>
        <p:spPr>
          <a:xfrm>
            <a:off x="4056342" y="3973842"/>
            <a:ext cx="504056" cy="523220"/>
          </a:xfrm>
          <a:prstGeom prst="rect">
            <a:avLst/>
          </a:prstGeom>
          <a:noFill/>
        </p:spPr>
        <p:txBody>
          <a:bodyPr wrap="square" rtlCol="0">
            <a:spAutoFit/>
          </a:bodyPr>
          <a:lstStyle/>
          <a:p>
            <a:pPr algn="ctr"/>
            <a:r>
              <a:rPr lang="en-GB" sz="2800" dirty="0"/>
              <a:t>1</a:t>
            </a:r>
            <a:endParaRPr lang="en-GB" dirty="0"/>
          </a:p>
        </p:txBody>
      </p:sp>
      <p:sp>
        <p:nvSpPr>
          <p:cNvPr id="16" name="TextBox 15"/>
          <p:cNvSpPr txBox="1"/>
          <p:nvPr/>
        </p:nvSpPr>
        <p:spPr>
          <a:xfrm>
            <a:off x="4848430" y="3973842"/>
            <a:ext cx="504056" cy="523220"/>
          </a:xfrm>
          <a:prstGeom prst="rect">
            <a:avLst/>
          </a:prstGeom>
          <a:noFill/>
        </p:spPr>
        <p:txBody>
          <a:bodyPr wrap="square" rtlCol="0">
            <a:spAutoFit/>
          </a:bodyPr>
          <a:lstStyle/>
          <a:p>
            <a:pPr algn="ctr"/>
            <a:r>
              <a:rPr lang="en-GB" sz="2800" dirty="0"/>
              <a:t>4</a:t>
            </a:r>
            <a:endParaRPr lang="en-GB" dirty="0"/>
          </a:p>
        </p:txBody>
      </p:sp>
      <p:sp>
        <p:nvSpPr>
          <p:cNvPr id="17" name="TextBox 16"/>
          <p:cNvSpPr txBox="1"/>
          <p:nvPr/>
        </p:nvSpPr>
        <p:spPr>
          <a:xfrm>
            <a:off x="5598648" y="3973842"/>
            <a:ext cx="504056" cy="523220"/>
          </a:xfrm>
          <a:prstGeom prst="rect">
            <a:avLst/>
          </a:prstGeom>
          <a:noFill/>
        </p:spPr>
        <p:txBody>
          <a:bodyPr wrap="square" rtlCol="0">
            <a:spAutoFit/>
          </a:bodyPr>
          <a:lstStyle/>
          <a:p>
            <a:pPr algn="ctr"/>
            <a:r>
              <a:rPr lang="en-GB" sz="2800" dirty="0"/>
              <a:t>6</a:t>
            </a:r>
            <a:endParaRPr lang="en-GB" dirty="0"/>
          </a:p>
        </p:txBody>
      </p:sp>
      <p:sp>
        <p:nvSpPr>
          <p:cNvPr id="18" name="TextBox 17"/>
          <p:cNvSpPr txBox="1"/>
          <p:nvPr/>
        </p:nvSpPr>
        <p:spPr>
          <a:xfrm>
            <a:off x="6348866" y="3973842"/>
            <a:ext cx="504056" cy="523220"/>
          </a:xfrm>
          <a:prstGeom prst="rect">
            <a:avLst/>
          </a:prstGeom>
          <a:noFill/>
        </p:spPr>
        <p:txBody>
          <a:bodyPr wrap="square" rtlCol="0">
            <a:spAutoFit/>
          </a:bodyPr>
          <a:lstStyle/>
          <a:p>
            <a:pPr algn="ctr"/>
            <a:r>
              <a:rPr lang="en-GB" sz="2800" dirty="0"/>
              <a:t>4</a:t>
            </a:r>
            <a:endParaRPr lang="en-GB" dirty="0"/>
          </a:p>
        </p:txBody>
      </p:sp>
      <p:sp>
        <p:nvSpPr>
          <p:cNvPr id="19" name="TextBox 18"/>
          <p:cNvSpPr txBox="1"/>
          <p:nvPr/>
        </p:nvSpPr>
        <p:spPr>
          <a:xfrm>
            <a:off x="7099084" y="3973842"/>
            <a:ext cx="504056" cy="523220"/>
          </a:xfrm>
          <a:prstGeom prst="rect">
            <a:avLst/>
          </a:prstGeom>
          <a:noFill/>
        </p:spPr>
        <p:txBody>
          <a:bodyPr wrap="square" rtlCol="0">
            <a:spAutoFit/>
          </a:bodyPr>
          <a:lstStyle/>
          <a:p>
            <a:pPr algn="ctr"/>
            <a:r>
              <a:rPr lang="en-GB" sz="2800" dirty="0"/>
              <a:t>1</a:t>
            </a:r>
            <a:endParaRPr lang="en-GB" dirty="0"/>
          </a:p>
        </p:txBody>
      </p:sp>
      <p:sp>
        <p:nvSpPr>
          <p:cNvPr id="20" name="TextBox 19"/>
          <p:cNvSpPr txBox="1"/>
          <p:nvPr/>
        </p:nvSpPr>
        <p:spPr>
          <a:xfrm>
            <a:off x="3678526" y="4602750"/>
            <a:ext cx="504056" cy="523220"/>
          </a:xfrm>
          <a:prstGeom prst="rect">
            <a:avLst/>
          </a:prstGeom>
          <a:noFill/>
        </p:spPr>
        <p:txBody>
          <a:bodyPr wrap="square" rtlCol="0">
            <a:spAutoFit/>
          </a:bodyPr>
          <a:lstStyle/>
          <a:p>
            <a:pPr algn="ctr"/>
            <a:r>
              <a:rPr lang="en-GB" sz="2800" dirty="0"/>
              <a:t>1</a:t>
            </a:r>
            <a:endParaRPr lang="en-GB" dirty="0"/>
          </a:p>
        </p:txBody>
      </p:sp>
      <p:sp>
        <p:nvSpPr>
          <p:cNvPr id="21" name="TextBox 20"/>
          <p:cNvSpPr txBox="1"/>
          <p:nvPr/>
        </p:nvSpPr>
        <p:spPr>
          <a:xfrm>
            <a:off x="4470614" y="4602750"/>
            <a:ext cx="504056" cy="523220"/>
          </a:xfrm>
          <a:prstGeom prst="rect">
            <a:avLst/>
          </a:prstGeom>
          <a:noFill/>
        </p:spPr>
        <p:txBody>
          <a:bodyPr wrap="square" rtlCol="0">
            <a:spAutoFit/>
          </a:bodyPr>
          <a:lstStyle/>
          <a:p>
            <a:pPr algn="ctr"/>
            <a:r>
              <a:rPr lang="en-GB" sz="2800" dirty="0"/>
              <a:t>5</a:t>
            </a:r>
            <a:endParaRPr lang="en-GB" dirty="0"/>
          </a:p>
        </p:txBody>
      </p:sp>
      <p:sp>
        <p:nvSpPr>
          <p:cNvPr id="22" name="TextBox 21"/>
          <p:cNvSpPr txBox="1"/>
          <p:nvPr/>
        </p:nvSpPr>
        <p:spPr>
          <a:xfrm>
            <a:off x="5132974" y="4602750"/>
            <a:ext cx="612363" cy="523220"/>
          </a:xfrm>
          <a:prstGeom prst="rect">
            <a:avLst/>
          </a:prstGeom>
          <a:noFill/>
        </p:spPr>
        <p:txBody>
          <a:bodyPr wrap="square" rtlCol="0">
            <a:spAutoFit/>
          </a:bodyPr>
          <a:lstStyle/>
          <a:p>
            <a:pPr algn="ctr"/>
            <a:r>
              <a:rPr lang="en-GB" sz="2800" dirty="0"/>
              <a:t>10</a:t>
            </a:r>
            <a:endParaRPr lang="en-GB" dirty="0"/>
          </a:p>
        </p:txBody>
      </p:sp>
      <p:sp>
        <p:nvSpPr>
          <p:cNvPr id="23" name="TextBox 22"/>
          <p:cNvSpPr txBox="1"/>
          <p:nvPr/>
        </p:nvSpPr>
        <p:spPr>
          <a:xfrm>
            <a:off x="5917889" y="4592117"/>
            <a:ext cx="638321" cy="523220"/>
          </a:xfrm>
          <a:prstGeom prst="rect">
            <a:avLst/>
          </a:prstGeom>
          <a:noFill/>
        </p:spPr>
        <p:txBody>
          <a:bodyPr wrap="square" rtlCol="0">
            <a:spAutoFit/>
          </a:bodyPr>
          <a:lstStyle/>
          <a:p>
            <a:pPr algn="ctr"/>
            <a:r>
              <a:rPr lang="en-GB" sz="2800" dirty="0"/>
              <a:t>10</a:t>
            </a:r>
            <a:endParaRPr lang="en-GB" dirty="0"/>
          </a:p>
        </p:txBody>
      </p:sp>
      <p:sp>
        <p:nvSpPr>
          <p:cNvPr id="24" name="TextBox 23"/>
          <p:cNvSpPr txBox="1"/>
          <p:nvPr/>
        </p:nvSpPr>
        <p:spPr>
          <a:xfrm>
            <a:off x="6742534" y="4581484"/>
            <a:ext cx="504056" cy="523220"/>
          </a:xfrm>
          <a:prstGeom prst="rect">
            <a:avLst/>
          </a:prstGeom>
          <a:noFill/>
        </p:spPr>
        <p:txBody>
          <a:bodyPr wrap="square" rtlCol="0">
            <a:spAutoFit/>
          </a:bodyPr>
          <a:lstStyle/>
          <a:p>
            <a:pPr algn="ctr"/>
            <a:r>
              <a:rPr lang="en-GB" sz="2800" dirty="0"/>
              <a:t>5</a:t>
            </a:r>
            <a:endParaRPr lang="en-GB" dirty="0"/>
          </a:p>
        </p:txBody>
      </p:sp>
      <p:sp>
        <p:nvSpPr>
          <p:cNvPr id="25" name="TextBox 24"/>
          <p:cNvSpPr txBox="1"/>
          <p:nvPr/>
        </p:nvSpPr>
        <p:spPr>
          <a:xfrm>
            <a:off x="7458053" y="4560219"/>
            <a:ext cx="504056" cy="523220"/>
          </a:xfrm>
          <a:prstGeom prst="rect">
            <a:avLst/>
          </a:prstGeom>
          <a:noFill/>
        </p:spPr>
        <p:txBody>
          <a:bodyPr wrap="square" rtlCol="0">
            <a:spAutoFit/>
          </a:bodyPr>
          <a:lstStyle/>
          <a:p>
            <a:pPr algn="ctr"/>
            <a:r>
              <a:rPr lang="en-GB" sz="2800" dirty="0"/>
              <a:t>1</a:t>
            </a:r>
            <a:endParaRPr lang="en-GB" dirty="0"/>
          </a:p>
        </p:txBody>
      </p:sp>
      <p:cxnSp>
        <p:nvCxnSpPr>
          <p:cNvPr id="27" name="Straight Arrow Connector 26"/>
          <p:cNvCxnSpPr/>
          <p:nvPr/>
        </p:nvCxnSpPr>
        <p:spPr>
          <a:xfrm>
            <a:off x="6338237" y="3766668"/>
            <a:ext cx="196709" cy="3097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p:cNvCxnSpPr/>
          <p:nvPr/>
        </p:nvCxnSpPr>
        <p:spPr>
          <a:xfrm flipH="1">
            <a:off x="6659876" y="3768836"/>
            <a:ext cx="241300" cy="3111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6850379" y="1155987"/>
            <a:ext cx="3439893" cy="92333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dirty="0"/>
              <a:t>In Pascal’s Triangle, each term (except for the 1s) is the sum of the two terms above.</a:t>
            </a:r>
          </a:p>
        </p:txBody>
      </p:sp>
      <p:sp>
        <p:nvSpPr>
          <p:cNvPr id="33" name="TextBox 32"/>
          <p:cNvSpPr txBox="1"/>
          <p:nvPr/>
        </p:nvSpPr>
        <p:spPr>
          <a:xfrm>
            <a:off x="7969509" y="2606270"/>
            <a:ext cx="2373668" cy="5232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Tip</a:t>
            </a:r>
            <a:r>
              <a:rPr lang="en-GB" sz="1400" dirty="0"/>
              <a:t>: memorise each row up to what you see here.</a:t>
            </a:r>
          </a:p>
        </p:txBody>
      </p:sp>
      <mc:AlternateContent xmlns:mc="http://schemas.openxmlformats.org/markup-compatibility/2006" xmlns:a14="http://schemas.microsoft.com/office/drawing/2010/main">
        <mc:Choice Requires="a14">
          <p:sp>
            <p:nvSpPr>
              <p:cNvPr id="37" name="TextBox 36"/>
              <p:cNvSpPr txBox="1"/>
              <p:nvPr/>
            </p:nvSpPr>
            <p:spPr>
              <a:xfrm>
                <a:off x="3966426" y="5768238"/>
                <a:ext cx="4217809" cy="646331"/>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dirty="0"/>
                  <a:t>We’ll see later WHY each row gives us the coefficients in an expansion of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𝑎</m:t>
                            </m:r>
                            <m:r>
                              <a:rPr lang="en-GB" i="1">
                                <a:latin typeface="Cambria Math" panose="02040503050406030204" pitchFamily="18" charset="0"/>
                              </a:rPr>
                              <m:t>+</m:t>
                            </m:r>
                            <m:r>
                              <a:rPr lang="en-GB" i="1">
                                <a:latin typeface="Cambria Math" panose="02040503050406030204" pitchFamily="18" charset="0"/>
                              </a:rPr>
                              <m:t>𝑏</m:t>
                            </m:r>
                          </m:e>
                        </m:d>
                      </m:e>
                      <m:sup>
                        <m:r>
                          <a:rPr lang="en-GB" i="1">
                            <a:latin typeface="Cambria Math" panose="02040503050406030204" pitchFamily="18" charset="0"/>
                          </a:rPr>
                          <m:t>𝑛</m:t>
                        </m:r>
                      </m:sup>
                    </m:sSup>
                  </m:oMath>
                </a14:m>
                <a:endParaRPr lang="en-GB" dirty="0"/>
              </a:p>
            </p:txBody>
          </p:sp>
        </mc:Choice>
        <mc:Fallback xmlns="">
          <p:sp>
            <p:nvSpPr>
              <p:cNvPr id="37" name="TextBox 36"/>
              <p:cNvSpPr txBox="1">
                <a:spLocks noRot="1" noChangeAspect="1" noMove="1" noResize="1" noEditPoints="1" noAdjustHandles="1" noChangeArrowheads="1" noChangeShapeType="1" noTextEdit="1"/>
              </p:cNvSpPr>
              <p:nvPr/>
            </p:nvSpPr>
            <p:spPr>
              <a:xfrm>
                <a:off x="3966426" y="5768238"/>
                <a:ext cx="4217809" cy="646331"/>
              </a:xfrm>
              <a:prstGeom prst="rect">
                <a:avLst/>
              </a:prstGeom>
              <a:blipFill>
                <a:blip r:embed="rId2"/>
                <a:stretch>
                  <a:fillRect l="-1301" t="-4717" b="-14151"/>
                </a:stretch>
              </a:blipFill>
              <a:ln>
                <a:noFill/>
              </a:ln>
            </p:spPr>
            <p:txBody>
              <a:bodyPr/>
              <a:lstStyle/>
              <a:p>
                <a:r>
                  <a:rPr lang="en-GB">
                    <a:noFill/>
                  </a:rPr>
                  <a:t> </a:t>
                </a:r>
              </a:p>
            </p:txBody>
          </p:sp>
        </mc:Fallback>
      </mc:AlternateContent>
      <p:sp>
        <p:nvSpPr>
          <p:cNvPr id="40" name="TextBox 39"/>
          <p:cNvSpPr txBox="1"/>
          <p:nvPr/>
        </p:nvSpPr>
        <p:spPr>
          <a:xfrm>
            <a:off x="1805236" y="863890"/>
            <a:ext cx="2640862" cy="1200329"/>
          </a:xfrm>
          <a:prstGeom prst="rect">
            <a:avLst/>
          </a:prstGeom>
          <a:noFill/>
        </p:spPr>
        <p:txBody>
          <a:bodyPr wrap="square" rtlCol="0">
            <a:spAutoFit/>
          </a:bodyPr>
          <a:lstStyle/>
          <a:p>
            <a:r>
              <a:rPr lang="en-GB" dirty="0"/>
              <a:t>The second number of each row tells us what row we should use for an expansion.</a:t>
            </a:r>
          </a:p>
        </p:txBody>
      </p:sp>
      <mc:AlternateContent xmlns:mc="http://schemas.openxmlformats.org/markup-compatibility/2006" xmlns:a14="http://schemas.microsoft.com/office/drawing/2010/main">
        <mc:Choice Requires="a14">
          <p:sp>
            <p:nvSpPr>
              <p:cNvPr id="41" name="Rectangle 40"/>
              <p:cNvSpPr/>
              <p:nvPr/>
            </p:nvSpPr>
            <p:spPr>
              <a:xfrm>
                <a:off x="1811025" y="2089081"/>
                <a:ext cx="2550635" cy="923330"/>
              </a:xfrm>
              <a:prstGeom prst="rect">
                <a:avLst/>
              </a:prstGeom>
            </p:spPr>
            <p:txBody>
              <a:bodyPr wrap="square">
                <a:spAutoFit/>
              </a:bodyPr>
              <a:lstStyle/>
              <a:p>
                <a:r>
                  <a:rPr lang="en-GB" dirty="0"/>
                  <a:t>So if we were expanding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2+</m:t>
                            </m:r>
                            <m:r>
                              <a:rPr lang="en-GB" i="1">
                                <a:latin typeface="Cambria Math" panose="02040503050406030204" pitchFamily="18" charset="0"/>
                              </a:rPr>
                              <m:t>𝑥</m:t>
                            </m:r>
                          </m:e>
                        </m:d>
                      </m:e>
                      <m:sup>
                        <m:r>
                          <a:rPr lang="en-GB" i="1">
                            <a:latin typeface="Cambria Math" panose="02040503050406030204" pitchFamily="18" charset="0"/>
                          </a:rPr>
                          <m:t>4</m:t>
                        </m:r>
                      </m:sup>
                    </m:sSup>
                  </m:oMath>
                </a14:m>
                <a:r>
                  <a:rPr lang="en-GB" dirty="0"/>
                  <a:t>, the power is 4, so we use this row.</a:t>
                </a:r>
              </a:p>
            </p:txBody>
          </p:sp>
        </mc:Choice>
        <mc:Fallback xmlns="">
          <p:sp>
            <p:nvSpPr>
              <p:cNvPr id="41" name="Rectangle 40"/>
              <p:cNvSpPr>
                <a:spLocks noRot="1" noChangeAspect="1" noMove="1" noResize="1" noEditPoints="1" noAdjustHandles="1" noChangeArrowheads="1" noChangeShapeType="1" noTextEdit="1"/>
              </p:cNvSpPr>
              <p:nvPr/>
            </p:nvSpPr>
            <p:spPr>
              <a:xfrm>
                <a:off x="1811025" y="2089081"/>
                <a:ext cx="2550635" cy="923330"/>
              </a:xfrm>
              <a:prstGeom prst="rect">
                <a:avLst/>
              </a:prstGeom>
              <a:blipFill>
                <a:blip r:embed="rId3"/>
                <a:stretch>
                  <a:fillRect l="-1914" t="-3974" r="-2153" b="-9934"/>
                </a:stretch>
              </a:blipFill>
            </p:spPr>
            <p:txBody>
              <a:bodyPr/>
              <a:lstStyle/>
              <a:p>
                <a:r>
                  <a:rPr lang="en-GB">
                    <a:noFill/>
                  </a:rPr>
                  <a:t> </a:t>
                </a:r>
              </a:p>
            </p:txBody>
          </p:sp>
        </mc:Fallback>
      </mc:AlternateContent>
      <p:cxnSp>
        <p:nvCxnSpPr>
          <p:cNvPr id="43" name="Straight Arrow Connector 42"/>
          <p:cNvCxnSpPr>
            <a:endCxn id="15" idx="1"/>
          </p:cNvCxnSpPr>
          <p:nvPr/>
        </p:nvCxnSpPr>
        <p:spPr>
          <a:xfrm>
            <a:off x="3359696" y="3012414"/>
            <a:ext cx="780504" cy="1165889"/>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45674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randombar(horizontal)">
                                      <p:cBhvr>
                                        <p:cTn id="7" dur="500"/>
                                        <p:tgtEl>
                                          <p:spTgt spid="3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500"/>
                                        <p:tgtEl>
                                          <p:spTgt spid="4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par>
                                <p:cTn id="17" presetID="10"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p:bldP spid="41" grpId="0"/>
    </p:bldLst>
  </p:timing>
</p:sld>
</file>

<file path=ppt/c8/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91544" y="980731"/>
                <a:ext cx="4396556" cy="46166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Find the expansion of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2+3</m:t>
                            </m:r>
                            <m:r>
                              <a:rPr lang="en-GB" sz="2400" i="1">
                                <a:latin typeface="Cambria Math" panose="02040503050406030204" pitchFamily="18" charset="0"/>
                              </a:rPr>
                              <m:t>𝑥</m:t>
                            </m:r>
                          </m:e>
                        </m:d>
                      </m:e>
                      <m:sup>
                        <m:r>
                          <a:rPr lang="en-GB" sz="2400" i="1">
                            <a:latin typeface="Cambria Math" panose="02040503050406030204" pitchFamily="18" charset="0"/>
                          </a:rPr>
                          <m:t>4</m:t>
                        </m:r>
                      </m:sup>
                    </m:sSup>
                  </m:oMath>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1991544" y="980731"/>
                <a:ext cx="4396556" cy="461665"/>
              </a:xfrm>
              <a:prstGeom prst="rect">
                <a:avLst/>
              </a:prstGeom>
              <a:blipFill>
                <a:blip r:embed="rId2"/>
                <a:stretch>
                  <a:fillRect b="-10000"/>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495600" y="1916835"/>
                <a:ext cx="2808312"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2+3</m:t>
                              </m:r>
                              <m:r>
                                <a:rPr lang="en-GB" sz="3200" i="1">
                                  <a:latin typeface="Cambria Math" panose="02040503050406030204" pitchFamily="18" charset="0"/>
                                </a:rPr>
                                <m:t>𝑥</m:t>
                              </m:r>
                            </m:e>
                          </m:d>
                        </m:e>
                        <m:sup>
                          <m:r>
                            <a:rPr lang="en-GB" sz="3200" i="1">
                              <a:latin typeface="Cambria Math" panose="02040503050406030204" pitchFamily="18" charset="0"/>
                            </a:rPr>
                            <m:t>4</m:t>
                          </m:r>
                        </m:sup>
                      </m:sSup>
                      <m:r>
                        <a:rPr lang="en-GB" sz="3200" i="1">
                          <a:latin typeface="Cambria Math" panose="02040503050406030204" pitchFamily="18" charset="0"/>
                        </a:rPr>
                        <m:t>=</m:t>
                      </m:r>
                    </m:oMath>
                  </m:oMathPara>
                </a14:m>
                <a:endParaRPr lang="en-GB" sz="3200" dirty="0"/>
              </a:p>
            </p:txBody>
          </p:sp>
        </mc:Choice>
        <mc:Fallback xmlns="">
          <p:sp>
            <p:nvSpPr>
              <p:cNvPr id="6" name="TextBox 5"/>
              <p:cNvSpPr txBox="1">
                <a:spLocks noRot="1" noChangeAspect="1" noMove="1" noResize="1" noEditPoints="1" noAdjustHandles="1" noChangeArrowheads="1" noChangeShapeType="1" noTextEdit="1"/>
              </p:cNvSpPr>
              <p:nvPr/>
            </p:nvSpPr>
            <p:spPr>
              <a:xfrm>
                <a:off x="2495600" y="1916835"/>
                <a:ext cx="2808312" cy="584775"/>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813052" y="1908451"/>
                <a:ext cx="876548" cy="2554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   1</m:t>
                      </m:r>
                    </m:oMath>
                    <m:oMath xmlns:m="http://schemas.openxmlformats.org/officeDocument/2006/math">
                      <m:r>
                        <a:rPr lang="en-GB" sz="3200" i="1">
                          <a:latin typeface="Cambria Math" panose="02040503050406030204" pitchFamily="18" charset="0"/>
                        </a:rPr>
                        <m:t>+4</m:t>
                      </m:r>
                    </m:oMath>
                    <m:oMath xmlns:m="http://schemas.openxmlformats.org/officeDocument/2006/math">
                      <m:r>
                        <a:rPr lang="en-GB" sz="3200" i="1">
                          <a:latin typeface="Cambria Math" panose="02040503050406030204" pitchFamily="18" charset="0"/>
                        </a:rPr>
                        <m:t>+6</m:t>
                      </m:r>
                    </m:oMath>
                    <m:oMath xmlns:m="http://schemas.openxmlformats.org/officeDocument/2006/math">
                      <m:r>
                        <a:rPr lang="en-GB" sz="3200" i="1">
                          <a:latin typeface="Cambria Math" panose="02040503050406030204" pitchFamily="18" charset="0"/>
                        </a:rPr>
                        <m:t>+4</m:t>
                      </m:r>
                    </m:oMath>
                    <m:oMath xmlns:m="http://schemas.openxmlformats.org/officeDocument/2006/math">
                      <m:r>
                        <a:rPr lang="en-GB" sz="3200" i="1">
                          <a:latin typeface="Cambria Math" panose="02040503050406030204" pitchFamily="18" charset="0"/>
                        </a:rPr>
                        <m:t>+1</m:t>
                      </m:r>
                    </m:oMath>
                  </m:oMathPara>
                </a14:m>
                <a:endParaRPr lang="en-GB" sz="3200" dirty="0"/>
              </a:p>
            </p:txBody>
          </p:sp>
        </mc:Choice>
        <mc:Fallback xmlns="">
          <p:sp>
            <p:nvSpPr>
              <p:cNvPr id="7" name="TextBox 6"/>
              <p:cNvSpPr txBox="1">
                <a:spLocks noRot="1" noChangeAspect="1" noMove="1" noResize="1" noEditPoints="1" noAdjustHandles="1" noChangeArrowheads="1" noChangeShapeType="1" noTextEdit="1"/>
              </p:cNvSpPr>
              <p:nvPr/>
            </p:nvSpPr>
            <p:spPr>
              <a:xfrm>
                <a:off x="4813052" y="1908451"/>
                <a:ext cx="876548" cy="2554545"/>
              </a:xfrm>
              <a:prstGeom prst="rect">
                <a:avLst/>
              </a:prstGeom>
              <a:blipFill>
                <a:blip r:embed="rId4"/>
                <a:stretch>
                  <a:fillRect/>
                </a:stretch>
              </a:blipFill>
            </p:spPr>
            <p:txBody>
              <a:bodyPr/>
              <a:lstStyle/>
              <a:p>
                <a:r>
                  <a:rPr lang="en-GB">
                    <a:noFill/>
                  </a:rPr>
                  <a:t> </a:t>
                </a:r>
              </a:p>
            </p:txBody>
          </p:sp>
        </mc:Fallback>
      </mc:AlternateContent>
      <p:sp>
        <p:nvSpPr>
          <p:cNvPr id="8" name="TextBox 7"/>
          <p:cNvSpPr txBox="1"/>
          <p:nvPr/>
        </p:nvSpPr>
        <p:spPr>
          <a:xfrm>
            <a:off x="1644700" y="3040363"/>
            <a:ext cx="2436068" cy="646331"/>
          </a:xfrm>
          <a:prstGeom prst="rect">
            <a:avLst/>
          </a:prstGeom>
          <a:noFill/>
        </p:spPr>
        <p:txBody>
          <a:bodyPr wrap="square" rtlCol="0">
            <a:spAutoFit/>
          </a:bodyPr>
          <a:lstStyle/>
          <a:p>
            <a:r>
              <a:rPr lang="en-GB" dirty="0"/>
              <a:t>First fill in the correct row of Pascal’s triangle.</a:t>
            </a:r>
          </a:p>
        </p:txBody>
      </p:sp>
      <mc:AlternateContent xmlns:mc="http://schemas.openxmlformats.org/markup-compatibility/2006" xmlns:a14="http://schemas.microsoft.com/office/drawing/2010/main">
        <mc:Choice Requires="a14">
          <p:sp>
            <p:nvSpPr>
              <p:cNvPr id="9" name="TextBox 8"/>
              <p:cNvSpPr txBox="1"/>
              <p:nvPr/>
            </p:nvSpPr>
            <p:spPr>
              <a:xfrm>
                <a:off x="5494536" y="1914681"/>
                <a:ext cx="876548" cy="20621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m:t>
                      </m:r>
                      <m:sSup>
                        <m:sSupPr>
                          <m:ctrlPr>
                            <a:rPr lang="en-GB" sz="3200" i="1">
                              <a:latin typeface="Cambria Math" panose="02040503050406030204" pitchFamily="18" charset="0"/>
                            </a:rPr>
                          </m:ctrlPr>
                        </m:sSupPr>
                        <m:e>
                          <m:r>
                            <a:rPr lang="en-GB" sz="3200" i="1">
                              <a:latin typeface="Cambria Math" panose="02040503050406030204" pitchFamily="18" charset="0"/>
                            </a:rPr>
                            <m:t>2</m:t>
                          </m:r>
                        </m:e>
                        <m:sup>
                          <m:r>
                            <a:rPr lang="en-GB" sz="3200" i="1">
                              <a:latin typeface="Cambria Math" panose="02040503050406030204" pitchFamily="18" charset="0"/>
                            </a:rPr>
                            <m:t>4</m:t>
                          </m:r>
                        </m:sup>
                      </m:sSup>
                      <m:r>
                        <a:rPr lang="en-GB" sz="3200" i="1">
                          <a:latin typeface="Cambria Math" panose="02040503050406030204" pitchFamily="18" charset="0"/>
                        </a:rPr>
                        <m:t>)</m:t>
                      </m:r>
                    </m:oMath>
                    <m:oMath xmlns:m="http://schemas.openxmlformats.org/officeDocument/2006/math">
                      <m:d>
                        <m:dPr>
                          <m:ctrlPr>
                            <a:rPr lang="en-GB" sz="3200" i="1">
                              <a:latin typeface="Cambria Math" panose="02040503050406030204" pitchFamily="18" charset="0"/>
                            </a:rPr>
                          </m:ctrlPr>
                        </m:dPr>
                        <m:e>
                          <m:sSup>
                            <m:sSupPr>
                              <m:ctrlPr>
                                <a:rPr lang="en-GB" sz="3200" i="1">
                                  <a:latin typeface="Cambria Math" panose="02040503050406030204" pitchFamily="18" charset="0"/>
                                </a:rPr>
                              </m:ctrlPr>
                            </m:sSupPr>
                            <m:e>
                              <m:r>
                                <a:rPr lang="en-GB" sz="3200" i="1">
                                  <a:latin typeface="Cambria Math" panose="02040503050406030204" pitchFamily="18" charset="0"/>
                                </a:rPr>
                                <m:t>2</m:t>
                              </m:r>
                            </m:e>
                            <m:sup>
                              <m:r>
                                <a:rPr lang="en-GB" sz="3200" i="1">
                                  <a:latin typeface="Cambria Math" panose="02040503050406030204" pitchFamily="18" charset="0"/>
                                </a:rPr>
                                <m:t>3</m:t>
                              </m:r>
                            </m:sup>
                          </m:sSup>
                        </m:e>
                      </m:d>
                    </m:oMath>
                    <m:oMath xmlns:m="http://schemas.openxmlformats.org/officeDocument/2006/math">
                      <m:d>
                        <m:dPr>
                          <m:ctrlPr>
                            <a:rPr lang="en-GB" sz="3200" i="1">
                              <a:latin typeface="Cambria Math" panose="02040503050406030204" pitchFamily="18" charset="0"/>
                            </a:rPr>
                          </m:ctrlPr>
                        </m:dPr>
                        <m:e>
                          <m:sSup>
                            <m:sSupPr>
                              <m:ctrlPr>
                                <a:rPr lang="en-GB" sz="3200" i="1">
                                  <a:latin typeface="Cambria Math" panose="02040503050406030204" pitchFamily="18" charset="0"/>
                                </a:rPr>
                              </m:ctrlPr>
                            </m:sSupPr>
                            <m:e>
                              <m:r>
                                <a:rPr lang="en-GB" sz="3200" i="1">
                                  <a:latin typeface="Cambria Math" panose="02040503050406030204" pitchFamily="18" charset="0"/>
                                </a:rPr>
                                <m:t>2</m:t>
                              </m:r>
                            </m:e>
                            <m:sup>
                              <m:r>
                                <a:rPr lang="en-GB" sz="3200" i="1">
                                  <a:latin typeface="Cambria Math" panose="02040503050406030204" pitchFamily="18" charset="0"/>
                                </a:rPr>
                                <m:t>2</m:t>
                              </m:r>
                            </m:sup>
                          </m:sSup>
                        </m:e>
                      </m:d>
                    </m:oMath>
                    <m:oMath xmlns:m="http://schemas.openxmlformats.org/officeDocument/2006/math">
                      <m:d>
                        <m:dPr>
                          <m:ctrlPr>
                            <a:rPr lang="en-GB" sz="3200" i="1">
                              <a:latin typeface="Cambria Math" panose="02040503050406030204" pitchFamily="18" charset="0"/>
                            </a:rPr>
                          </m:ctrlPr>
                        </m:dPr>
                        <m:e>
                          <m:sSup>
                            <m:sSupPr>
                              <m:ctrlPr>
                                <a:rPr lang="en-GB" sz="3200" i="1">
                                  <a:latin typeface="Cambria Math" panose="02040503050406030204" pitchFamily="18" charset="0"/>
                                </a:rPr>
                              </m:ctrlPr>
                            </m:sSupPr>
                            <m:e>
                              <m:r>
                                <a:rPr lang="en-GB" sz="3200" i="1">
                                  <a:latin typeface="Cambria Math" panose="02040503050406030204" pitchFamily="18" charset="0"/>
                                </a:rPr>
                                <m:t>2</m:t>
                              </m:r>
                            </m:e>
                            <m:sup>
                              <m:r>
                                <a:rPr lang="en-GB" sz="3200" i="1">
                                  <a:latin typeface="Cambria Math" panose="02040503050406030204" pitchFamily="18" charset="0"/>
                                </a:rPr>
                                <m:t>1</m:t>
                              </m:r>
                            </m:sup>
                          </m:sSup>
                        </m:e>
                      </m:d>
                    </m:oMath>
                  </m:oMathPara>
                </a14:m>
                <a:br>
                  <a:rPr lang="en-GB" sz="3200" dirty="0"/>
                </a:br>
                <a:endParaRPr lang="en-GB" sz="3200" dirty="0"/>
              </a:p>
            </p:txBody>
          </p:sp>
        </mc:Choice>
        <mc:Fallback xmlns="">
          <p:sp>
            <p:nvSpPr>
              <p:cNvPr id="9" name="TextBox 8"/>
              <p:cNvSpPr txBox="1">
                <a:spLocks noRot="1" noChangeAspect="1" noMove="1" noResize="1" noEditPoints="1" noAdjustHandles="1" noChangeArrowheads="1" noChangeShapeType="1" noTextEdit="1"/>
              </p:cNvSpPr>
              <p:nvPr/>
            </p:nvSpPr>
            <p:spPr>
              <a:xfrm>
                <a:off x="5494536" y="1914681"/>
                <a:ext cx="876548" cy="2062168"/>
              </a:xfrm>
              <a:prstGeom prst="rect">
                <a:avLst/>
              </a:prstGeom>
              <a:blipFill>
                <a:blip r:embed="rId5"/>
                <a:stretch>
                  <a:fillRect/>
                </a:stretch>
              </a:blipFill>
            </p:spPr>
            <p:txBody>
              <a:bodyPr/>
              <a:lstStyle/>
              <a:p>
                <a:r>
                  <a:rPr lang="en-GB">
                    <a:noFill/>
                  </a:rPr>
                  <a:t> </a:t>
                </a:r>
              </a:p>
            </p:txBody>
          </p:sp>
        </mc:Fallback>
      </mc:AlternateContent>
      <p:sp>
        <p:nvSpPr>
          <p:cNvPr id="10" name="TextBox 9"/>
          <p:cNvSpPr txBox="1"/>
          <p:nvPr/>
        </p:nvSpPr>
        <p:spPr>
          <a:xfrm>
            <a:off x="7360740" y="733648"/>
            <a:ext cx="3040560" cy="1754326"/>
          </a:xfrm>
          <a:prstGeom prst="rect">
            <a:avLst/>
          </a:prstGeom>
          <a:noFill/>
        </p:spPr>
        <p:txBody>
          <a:bodyPr wrap="square" rtlCol="0">
            <a:spAutoFit/>
          </a:bodyPr>
          <a:lstStyle/>
          <a:p>
            <a:r>
              <a:rPr lang="en-GB" dirty="0"/>
              <a:t>Next have descending or ascending powers of one of the terms, going between 0 and 4 (note that if the power is 0, the term is 1, so we need not write it).</a:t>
            </a:r>
          </a:p>
        </p:txBody>
      </p:sp>
      <mc:AlternateContent xmlns:mc="http://schemas.openxmlformats.org/markup-compatibility/2006" xmlns:a14="http://schemas.microsoft.com/office/drawing/2010/main">
        <mc:Choice Requires="a14">
          <p:sp>
            <p:nvSpPr>
              <p:cNvPr id="11" name="TextBox 10"/>
              <p:cNvSpPr txBox="1"/>
              <p:nvPr/>
            </p:nvSpPr>
            <p:spPr>
              <a:xfrm>
                <a:off x="6176020" y="2386969"/>
                <a:ext cx="876548" cy="20621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e>
                          </m:d>
                        </m:e>
                        <m:sup>
                          <m:r>
                            <a:rPr lang="en-GB" sz="3200" i="1">
                              <a:latin typeface="Cambria Math" panose="02040503050406030204" pitchFamily="18" charset="0"/>
                            </a:rPr>
                            <m:t>1</m:t>
                          </m:r>
                        </m:sup>
                      </m:sSup>
                    </m:oMath>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e>
                          </m:d>
                        </m:e>
                        <m:sup>
                          <m:r>
                            <a:rPr lang="en-GB" sz="3200" i="1">
                              <a:latin typeface="Cambria Math" panose="02040503050406030204" pitchFamily="18" charset="0"/>
                            </a:rPr>
                            <m:t>2</m:t>
                          </m:r>
                        </m:sup>
                      </m:sSup>
                    </m:oMath>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e>
                          </m:d>
                        </m:e>
                        <m:sup>
                          <m:r>
                            <a:rPr lang="en-GB" sz="3200" i="1">
                              <a:latin typeface="Cambria Math" panose="02040503050406030204" pitchFamily="18" charset="0"/>
                            </a:rPr>
                            <m:t>3</m:t>
                          </m:r>
                        </m:sup>
                      </m:sSup>
                    </m:oMath>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e>
                          </m:d>
                        </m:e>
                        <m:sup>
                          <m:r>
                            <a:rPr lang="en-GB" sz="3200" i="1">
                              <a:latin typeface="Cambria Math" panose="02040503050406030204" pitchFamily="18" charset="0"/>
                            </a:rPr>
                            <m:t>4</m:t>
                          </m:r>
                        </m:sup>
                      </m:sSup>
                    </m:oMath>
                  </m:oMathPara>
                </a14:m>
                <a:br>
                  <a:rPr lang="en-GB" sz="3200" dirty="0"/>
                </a:br>
                <a:endParaRPr lang="en-GB" sz="3200" dirty="0"/>
              </a:p>
            </p:txBody>
          </p:sp>
        </mc:Choice>
        <mc:Fallback xmlns="">
          <p:sp>
            <p:nvSpPr>
              <p:cNvPr id="11" name="TextBox 10"/>
              <p:cNvSpPr txBox="1">
                <a:spLocks noRot="1" noChangeAspect="1" noMove="1" noResize="1" noEditPoints="1" noAdjustHandles="1" noChangeArrowheads="1" noChangeShapeType="1" noTextEdit="1"/>
              </p:cNvSpPr>
              <p:nvPr/>
            </p:nvSpPr>
            <p:spPr>
              <a:xfrm>
                <a:off x="6176020" y="2386969"/>
                <a:ext cx="876548" cy="2062168"/>
              </a:xfrm>
              <a:prstGeom prst="rect">
                <a:avLst/>
              </a:prstGeom>
              <a:blipFill>
                <a:blip r:embed="rId6"/>
                <a:stretch>
                  <a:fillRect r="-20139"/>
                </a:stretch>
              </a:blipFill>
            </p:spPr>
            <p:txBody>
              <a:bodyPr/>
              <a:lstStyle/>
              <a:p>
                <a:r>
                  <a:rPr lang="en-GB">
                    <a:noFill/>
                  </a:rPr>
                  <a:t> </a:t>
                </a:r>
              </a:p>
            </p:txBody>
          </p:sp>
        </mc:Fallback>
      </mc:AlternateContent>
      <p:sp>
        <p:nvSpPr>
          <p:cNvPr id="12" name="TextBox 11"/>
          <p:cNvSpPr txBox="1"/>
          <p:nvPr/>
        </p:nvSpPr>
        <p:spPr>
          <a:xfrm>
            <a:off x="7896200" y="3339608"/>
            <a:ext cx="2520280" cy="1754326"/>
          </a:xfrm>
          <a:prstGeom prst="rect">
            <a:avLst/>
          </a:prstGeom>
          <a:noFill/>
        </p:spPr>
        <p:txBody>
          <a:bodyPr wrap="square" rtlCol="0">
            <a:spAutoFit/>
          </a:bodyPr>
          <a:lstStyle/>
          <a:p>
            <a:r>
              <a:rPr lang="en-GB" dirty="0"/>
              <a:t>And do the same with the second term but with powers going the opposite way, noting again that the ‘power of 0’ term does not appear.</a:t>
            </a:r>
          </a:p>
        </p:txBody>
      </p:sp>
      <p:cxnSp>
        <p:nvCxnSpPr>
          <p:cNvPr id="14" name="Straight Arrow Connector 13"/>
          <p:cNvCxnSpPr/>
          <p:nvPr/>
        </p:nvCxnSpPr>
        <p:spPr>
          <a:xfrm flipV="1">
            <a:off x="3719736" y="3339608"/>
            <a:ext cx="1093316" cy="3774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flipH="1">
            <a:off x="6400800" y="1600200"/>
            <a:ext cx="939800" cy="4445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flipH="1" flipV="1">
            <a:off x="7239000" y="3797303"/>
            <a:ext cx="657200" cy="4295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2934854" y="5272705"/>
                <a:ext cx="7028122"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=16+96</m:t>
                      </m:r>
                      <m:r>
                        <a:rPr lang="en-GB" sz="3200" i="1">
                          <a:latin typeface="Cambria Math" panose="02040503050406030204" pitchFamily="18" charset="0"/>
                        </a:rPr>
                        <m:t>𝑥</m:t>
                      </m:r>
                      <m:r>
                        <a:rPr lang="en-GB" sz="3200" i="1">
                          <a:latin typeface="Cambria Math" panose="02040503050406030204" pitchFamily="18" charset="0"/>
                        </a:rPr>
                        <m:t>+216</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2</m:t>
                          </m:r>
                        </m:sup>
                      </m:sSup>
                      <m:r>
                        <a:rPr lang="en-GB" sz="3200" i="1">
                          <a:latin typeface="Cambria Math" panose="02040503050406030204" pitchFamily="18" charset="0"/>
                        </a:rPr>
                        <m:t>+216</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3</m:t>
                          </m:r>
                        </m:sup>
                      </m:sSup>
                      <m:r>
                        <a:rPr lang="en-GB" sz="3200" i="1">
                          <a:latin typeface="Cambria Math" panose="02040503050406030204" pitchFamily="18" charset="0"/>
                        </a:rPr>
                        <m:t>+81</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4</m:t>
                          </m:r>
                        </m:sup>
                      </m:sSup>
                    </m:oMath>
                  </m:oMathPara>
                </a14:m>
                <a:endParaRPr lang="en-GB" sz="3200" dirty="0"/>
              </a:p>
            </p:txBody>
          </p:sp>
        </mc:Choice>
        <mc:Fallback xmlns="">
          <p:sp>
            <p:nvSpPr>
              <p:cNvPr id="20" name="TextBox 19"/>
              <p:cNvSpPr txBox="1">
                <a:spLocks noRot="1" noChangeAspect="1" noMove="1" noResize="1" noEditPoints="1" noAdjustHandles="1" noChangeArrowheads="1" noChangeShapeType="1" noTextEdit="1"/>
              </p:cNvSpPr>
              <p:nvPr/>
            </p:nvSpPr>
            <p:spPr>
              <a:xfrm>
                <a:off x="2934854" y="5272705"/>
                <a:ext cx="7028122" cy="584775"/>
              </a:xfrm>
              <a:prstGeom prst="rect">
                <a:avLst/>
              </a:prstGeom>
              <a:blipFill>
                <a:blip r:embed="rId7"/>
                <a:stretch>
                  <a:fillRect/>
                </a:stretch>
              </a:blipFill>
            </p:spPr>
            <p:txBody>
              <a:bodyPr/>
              <a:lstStyle/>
              <a:p>
                <a:r>
                  <a:rPr lang="en-GB">
                    <a:noFill/>
                  </a:rPr>
                  <a:t> </a:t>
                </a:r>
              </a:p>
            </p:txBody>
          </p:sp>
        </mc:Fallback>
      </mc:AlternateContent>
      <p:sp>
        <p:nvSpPr>
          <p:cNvPr id="21" name="TextBox 20"/>
          <p:cNvSpPr txBox="1"/>
          <p:nvPr/>
        </p:nvSpPr>
        <p:spPr>
          <a:xfrm>
            <a:off x="1805708" y="4343484"/>
            <a:ext cx="3384028" cy="923330"/>
          </a:xfrm>
          <a:prstGeom prst="rect">
            <a:avLst/>
          </a:prstGeom>
          <a:noFill/>
        </p:spPr>
        <p:txBody>
          <a:bodyPr wrap="square" rtlCol="0">
            <a:spAutoFit/>
          </a:bodyPr>
          <a:lstStyle/>
          <a:p>
            <a:r>
              <a:rPr lang="en-GB" dirty="0"/>
              <a:t>Simplify each term (ensuring any number in a bracket is raised to the appropriate power)</a:t>
            </a:r>
          </a:p>
        </p:txBody>
      </p:sp>
      <p:sp>
        <p:nvSpPr>
          <p:cNvPr id="22" name="TextBox 21"/>
          <p:cNvSpPr txBox="1"/>
          <p:nvPr/>
        </p:nvSpPr>
        <p:spPr>
          <a:xfrm>
            <a:off x="1974776" y="6187680"/>
            <a:ext cx="8387280" cy="58477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Tip</a:t>
            </a:r>
            <a:r>
              <a:rPr lang="en-GB" sz="1600" dirty="0"/>
              <a:t>: Initially write </a:t>
            </a:r>
            <a:r>
              <a:rPr lang="en-GB" sz="1600" i="1" dirty="0"/>
              <a:t>one line per term </a:t>
            </a:r>
            <a:r>
              <a:rPr lang="en-GB" sz="1600" dirty="0"/>
              <a:t>for your expansion (before you simplify at the end), as we have done above. There will be less faffing trying to ensure you have enough space for each term.</a:t>
            </a:r>
          </a:p>
        </p:txBody>
      </p:sp>
    </p:spTree>
    <p:extLst>
      <p:ext uri="{BB962C8B-B14F-4D97-AF65-F5344CB8AC3E}">
        <p14:creationId xmlns:p14="http://schemas.microsoft.com/office/powerpoint/2010/main" val="234782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20" grpId="0"/>
      <p:bldP spid="21" grpId="0"/>
      <p:bldP spid="22" grpId="0" animBg="1"/>
    </p:bldLst>
  </p:timing>
</p:sld>
</file>

<file path=ppt/c8/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Another Example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441500" y="1777135"/>
                <a:ext cx="2808312"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1−2</m:t>
                              </m:r>
                              <m:r>
                                <a:rPr lang="en-GB" sz="3200" i="1">
                                  <a:latin typeface="Cambria Math" panose="02040503050406030204" pitchFamily="18" charset="0"/>
                                </a:rPr>
                                <m:t>𝑥</m:t>
                              </m:r>
                            </m:e>
                          </m:d>
                        </m:e>
                        <m:sup>
                          <m:r>
                            <a:rPr lang="en-GB" sz="3200" i="1">
                              <a:latin typeface="Cambria Math" panose="02040503050406030204" pitchFamily="18" charset="0"/>
                            </a:rPr>
                            <m:t>3</m:t>
                          </m:r>
                        </m:sup>
                      </m:sSup>
                      <m:r>
                        <a:rPr lang="en-GB" sz="3200" i="1">
                          <a:latin typeface="Cambria Math" panose="02040503050406030204" pitchFamily="18" charset="0"/>
                        </a:rPr>
                        <m:t>=</m:t>
                      </m:r>
                    </m:oMath>
                  </m:oMathPara>
                </a14:m>
                <a:endParaRPr lang="en-GB" sz="3200" dirty="0"/>
              </a:p>
            </p:txBody>
          </p:sp>
        </mc:Choice>
        <mc:Fallback xmlns="">
          <p:sp>
            <p:nvSpPr>
              <p:cNvPr id="5" name="TextBox 4"/>
              <p:cNvSpPr txBox="1">
                <a:spLocks noRot="1" noChangeAspect="1" noMove="1" noResize="1" noEditPoints="1" noAdjustHandles="1" noChangeArrowheads="1" noChangeShapeType="1" noTextEdit="1"/>
              </p:cNvSpPr>
              <p:nvPr/>
            </p:nvSpPr>
            <p:spPr>
              <a:xfrm>
                <a:off x="1441500" y="1777135"/>
                <a:ext cx="2808312" cy="584775"/>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511824" y="764707"/>
                <a:ext cx="5472608" cy="646331"/>
              </a:xfrm>
              <a:prstGeom prst="rect">
                <a:avLst/>
              </a:prstGeom>
              <a:noFill/>
            </p:spPr>
            <p:txBody>
              <a:bodyPr wrap="square" rtlCol="0">
                <a:spAutoFit/>
              </a:bodyPr>
              <a:lstStyle/>
              <a:p>
                <a14:m>
                  <m:oMath xmlns:m="http://schemas.openxmlformats.org/officeDocument/2006/math">
                    <m:r>
                      <a:rPr lang="en-GB" i="1">
                        <a:latin typeface="Cambria Math" panose="02040503050406030204" pitchFamily="18" charset="0"/>
                      </a:rPr>
                      <m:t>(1−2</m:t>
                    </m:r>
                    <m:r>
                      <a:rPr lang="en-GB" i="1">
                        <a:latin typeface="Cambria Math" panose="02040503050406030204" pitchFamily="18" charset="0"/>
                      </a:rPr>
                      <m:t>𝑥</m:t>
                    </m:r>
                    <m:r>
                      <a:rPr lang="en-GB" i="1">
                        <a:latin typeface="Cambria Math" panose="02040503050406030204" pitchFamily="18" charset="0"/>
                      </a:rPr>
                      <m:t>)</m:t>
                    </m:r>
                  </m:oMath>
                </a14:m>
                <a:r>
                  <a:rPr lang="en-GB" dirty="0"/>
                  <a:t> is the same as </a:t>
                </a:r>
                <a14:m>
                  <m:oMath xmlns:m="http://schemas.openxmlformats.org/officeDocument/2006/math">
                    <m:r>
                      <a:rPr lang="en-GB" i="1">
                        <a:latin typeface="Cambria Math" panose="02040503050406030204" pitchFamily="18" charset="0"/>
                      </a:rPr>
                      <m:t>(1+</m:t>
                    </m:r>
                    <m:d>
                      <m:dPr>
                        <m:ctrlPr>
                          <a:rPr lang="en-GB" i="1">
                            <a:latin typeface="Cambria Math" panose="02040503050406030204" pitchFamily="18" charset="0"/>
                          </a:rPr>
                        </m:ctrlPr>
                      </m:dPr>
                      <m:e>
                        <m:r>
                          <a:rPr lang="en-GB" i="1">
                            <a:latin typeface="Cambria Math" panose="02040503050406030204" pitchFamily="18" charset="0"/>
                          </a:rPr>
                          <m:t>−2</m:t>
                        </m:r>
                        <m:r>
                          <a:rPr lang="en-GB" i="1">
                            <a:latin typeface="Cambria Math" panose="02040503050406030204" pitchFamily="18" charset="0"/>
                          </a:rPr>
                          <m:t>𝑥</m:t>
                        </m:r>
                      </m:e>
                    </m:d>
                    <m:r>
                      <a:rPr lang="en-GB" i="1">
                        <a:latin typeface="Cambria Math" panose="02040503050406030204" pitchFamily="18" charset="0"/>
                      </a:rPr>
                      <m:t>)</m:t>
                    </m:r>
                  </m:oMath>
                </a14:m>
                <a:r>
                  <a:rPr lang="en-GB" dirty="0"/>
                  <a:t>, so we expand as before, but use </a:t>
                </a:r>
                <a14:m>
                  <m:oMath xmlns:m="http://schemas.openxmlformats.org/officeDocument/2006/math">
                    <m:r>
                      <a:rPr lang="en-GB" i="1">
                        <a:latin typeface="Cambria Math" panose="02040503050406030204" pitchFamily="18" charset="0"/>
                      </a:rPr>
                      <m:t>−2</m:t>
                    </m:r>
                    <m:r>
                      <a:rPr lang="en-GB" i="1">
                        <a:latin typeface="Cambria Math" panose="02040503050406030204" pitchFamily="18" charset="0"/>
                      </a:rPr>
                      <m:t>𝑥</m:t>
                    </m:r>
                  </m:oMath>
                </a14:m>
                <a:r>
                  <a:rPr lang="en-GB" dirty="0"/>
                  <a:t> for the second term.</a:t>
                </a:r>
              </a:p>
            </p:txBody>
          </p:sp>
        </mc:Choice>
        <mc:Fallback xmlns="">
          <p:sp>
            <p:nvSpPr>
              <p:cNvPr id="6" name="TextBox 5"/>
              <p:cNvSpPr txBox="1">
                <a:spLocks noRot="1" noChangeAspect="1" noMove="1" noResize="1" noEditPoints="1" noAdjustHandles="1" noChangeArrowheads="1" noChangeShapeType="1" noTextEdit="1"/>
              </p:cNvSpPr>
              <p:nvPr/>
            </p:nvSpPr>
            <p:spPr>
              <a:xfrm>
                <a:off x="4511824" y="764707"/>
                <a:ext cx="5472608" cy="646331"/>
              </a:xfrm>
              <a:prstGeom prst="rect">
                <a:avLst/>
              </a:prstGeom>
              <a:blipFill>
                <a:blip r:embed="rId3"/>
                <a:stretch>
                  <a:fillRect l="-891" t="-4717" b="-141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860552" y="1781448"/>
                <a:ext cx="876548" cy="20621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   1</m:t>
                      </m:r>
                    </m:oMath>
                    <m:oMath xmlns:m="http://schemas.openxmlformats.org/officeDocument/2006/math">
                      <m:r>
                        <a:rPr lang="en-GB" sz="3200" i="1">
                          <a:latin typeface="Cambria Math" panose="02040503050406030204" pitchFamily="18" charset="0"/>
                        </a:rPr>
                        <m:t>+3</m:t>
                      </m:r>
                    </m:oMath>
                    <m:oMath xmlns:m="http://schemas.openxmlformats.org/officeDocument/2006/math">
                      <m:r>
                        <a:rPr lang="en-GB" sz="3200" i="1">
                          <a:latin typeface="Cambria Math" panose="02040503050406030204" pitchFamily="18" charset="0"/>
                        </a:rPr>
                        <m:t>+3</m:t>
                      </m:r>
                    </m:oMath>
                    <m:oMath xmlns:m="http://schemas.openxmlformats.org/officeDocument/2006/math">
                      <m:r>
                        <a:rPr lang="en-GB" sz="3200" i="1">
                          <a:latin typeface="Cambria Math" panose="02040503050406030204" pitchFamily="18" charset="0"/>
                        </a:rPr>
                        <m:t>+1</m:t>
                      </m:r>
                    </m:oMath>
                  </m:oMathPara>
                </a14:m>
                <a:br>
                  <a:rPr lang="en-GB" sz="3200" dirty="0"/>
                </a:br>
                <a:endParaRPr lang="en-GB" sz="3200" dirty="0"/>
              </a:p>
            </p:txBody>
          </p:sp>
        </mc:Choice>
        <mc:Fallback xmlns="">
          <p:sp>
            <p:nvSpPr>
              <p:cNvPr id="7" name="TextBox 6"/>
              <p:cNvSpPr txBox="1">
                <a:spLocks noRot="1" noChangeAspect="1" noMove="1" noResize="1" noEditPoints="1" noAdjustHandles="1" noChangeArrowheads="1" noChangeShapeType="1" noTextEdit="1"/>
              </p:cNvSpPr>
              <p:nvPr/>
            </p:nvSpPr>
            <p:spPr>
              <a:xfrm>
                <a:off x="3860552" y="1781448"/>
                <a:ext cx="876548" cy="2062168"/>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567436" y="1787684"/>
                <a:ext cx="876548" cy="15697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m:t>
                      </m:r>
                      <m:sSup>
                        <m:sSupPr>
                          <m:ctrlPr>
                            <a:rPr lang="en-GB" sz="3200" i="1">
                              <a:latin typeface="Cambria Math" panose="02040503050406030204" pitchFamily="18" charset="0"/>
                            </a:rPr>
                          </m:ctrlPr>
                        </m:sSupPr>
                        <m:e>
                          <m:r>
                            <a:rPr lang="en-GB" sz="3200" i="1">
                              <a:latin typeface="Cambria Math" panose="02040503050406030204" pitchFamily="18" charset="0"/>
                            </a:rPr>
                            <m:t>1</m:t>
                          </m:r>
                        </m:e>
                        <m:sup>
                          <m:r>
                            <a:rPr lang="en-GB" sz="3200" i="1">
                              <a:latin typeface="Cambria Math" panose="02040503050406030204" pitchFamily="18" charset="0"/>
                            </a:rPr>
                            <m:t>3</m:t>
                          </m:r>
                        </m:sup>
                      </m:sSup>
                      <m:r>
                        <a:rPr lang="en-GB" sz="3200" i="1">
                          <a:latin typeface="Cambria Math" panose="02040503050406030204" pitchFamily="18" charset="0"/>
                        </a:rPr>
                        <m:t>)</m:t>
                      </m:r>
                    </m:oMath>
                    <m:oMath xmlns:m="http://schemas.openxmlformats.org/officeDocument/2006/math">
                      <m:d>
                        <m:dPr>
                          <m:ctrlPr>
                            <a:rPr lang="en-GB" sz="3200" i="1">
                              <a:latin typeface="Cambria Math" panose="02040503050406030204" pitchFamily="18" charset="0"/>
                            </a:rPr>
                          </m:ctrlPr>
                        </m:dPr>
                        <m:e>
                          <m:sSup>
                            <m:sSupPr>
                              <m:ctrlPr>
                                <a:rPr lang="en-GB" sz="3200" i="1">
                                  <a:latin typeface="Cambria Math" panose="02040503050406030204" pitchFamily="18" charset="0"/>
                                </a:rPr>
                              </m:ctrlPr>
                            </m:sSupPr>
                            <m:e>
                              <m:r>
                                <a:rPr lang="en-GB" sz="3200" i="1">
                                  <a:latin typeface="Cambria Math" panose="02040503050406030204" pitchFamily="18" charset="0"/>
                                </a:rPr>
                                <m:t>1</m:t>
                              </m:r>
                            </m:e>
                            <m:sup>
                              <m:r>
                                <a:rPr lang="en-GB" sz="3200" i="1">
                                  <a:latin typeface="Cambria Math" panose="02040503050406030204" pitchFamily="18" charset="0"/>
                                </a:rPr>
                                <m:t>2</m:t>
                              </m:r>
                            </m:sup>
                          </m:sSup>
                        </m:e>
                      </m:d>
                    </m:oMath>
                    <m:oMath xmlns:m="http://schemas.openxmlformats.org/officeDocument/2006/math">
                      <m:d>
                        <m:dPr>
                          <m:ctrlPr>
                            <a:rPr lang="en-GB" sz="3200" i="1">
                              <a:latin typeface="Cambria Math" panose="02040503050406030204" pitchFamily="18" charset="0"/>
                            </a:rPr>
                          </m:ctrlPr>
                        </m:dPr>
                        <m:e>
                          <m:r>
                            <a:rPr lang="en-GB" sz="3200" i="1">
                              <a:latin typeface="Cambria Math" panose="02040503050406030204" pitchFamily="18" charset="0"/>
                            </a:rPr>
                            <m:t>1</m:t>
                          </m:r>
                        </m:e>
                      </m:d>
                    </m:oMath>
                  </m:oMathPara>
                </a14:m>
                <a:br>
                  <a:rPr lang="en-GB" sz="3200" dirty="0"/>
                </a:br>
                <a:endParaRPr lang="en-GB" sz="3200" dirty="0"/>
              </a:p>
            </p:txBody>
          </p:sp>
        </mc:Choice>
        <mc:Fallback xmlns="">
          <p:sp>
            <p:nvSpPr>
              <p:cNvPr id="8" name="TextBox 7"/>
              <p:cNvSpPr txBox="1">
                <a:spLocks noRot="1" noChangeAspect="1" noMove="1" noResize="1" noEditPoints="1" noAdjustHandles="1" noChangeArrowheads="1" noChangeShapeType="1" noTextEdit="1"/>
              </p:cNvSpPr>
              <p:nvPr/>
            </p:nvSpPr>
            <p:spPr>
              <a:xfrm>
                <a:off x="4567436" y="1787684"/>
                <a:ext cx="876548" cy="156972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312420" y="2259972"/>
                <a:ext cx="876548" cy="15697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−2</m:t>
                              </m:r>
                              <m:r>
                                <a:rPr lang="en-GB" sz="3200" i="1">
                                  <a:latin typeface="Cambria Math" panose="02040503050406030204" pitchFamily="18" charset="0"/>
                                </a:rPr>
                                <m:t>𝑥</m:t>
                              </m:r>
                            </m:e>
                          </m:d>
                        </m:e>
                        <m:sup>
                          <m:r>
                            <a:rPr lang="en-GB" sz="3200" i="1">
                              <a:latin typeface="Cambria Math" panose="02040503050406030204" pitchFamily="18" charset="0"/>
                            </a:rPr>
                            <m:t>1</m:t>
                          </m:r>
                        </m:sup>
                      </m:sSup>
                    </m:oMath>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−2</m:t>
                              </m:r>
                              <m:r>
                                <a:rPr lang="en-GB" sz="3200" i="1">
                                  <a:latin typeface="Cambria Math" panose="02040503050406030204" pitchFamily="18" charset="0"/>
                                </a:rPr>
                                <m:t>𝑥</m:t>
                              </m:r>
                            </m:e>
                          </m:d>
                        </m:e>
                        <m:sup>
                          <m:r>
                            <a:rPr lang="en-GB" sz="3200" i="1">
                              <a:latin typeface="Cambria Math" panose="02040503050406030204" pitchFamily="18" charset="0"/>
                            </a:rPr>
                            <m:t>2</m:t>
                          </m:r>
                        </m:sup>
                      </m:sSup>
                    </m:oMath>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−2</m:t>
                              </m:r>
                              <m:r>
                                <a:rPr lang="en-GB" sz="3200" i="1">
                                  <a:latin typeface="Cambria Math" panose="02040503050406030204" pitchFamily="18" charset="0"/>
                                </a:rPr>
                                <m:t>𝑥</m:t>
                              </m:r>
                            </m:e>
                          </m:d>
                        </m:e>
                        <m:sup>
                          <m:r>
                            <a:rPr lang="en-GB" sz="3200" i="1">
                              <a:latin typeface="Cambria Math" panose="02040503050406030204" pitchFamily="18" charset="0"/>
                            </a:rPr>
                            <m:t>3</m:t>
                          </m:r>
                        </m:sup>
                      </m:sSup>
                    </m:oMath>
                  </m:oMathPara>
                </a14:m>
                <a:br>
                  <a:rPr lang="en-GB" sz="3200" dirty="0"/>
                </a:br>
                <a:endParaRPr lang="en-GB" sz="3200" dirty="0"/>
              </a:p>
            </p:txBody>
          </p:sp>
        </mc:Choice>
        <mc:Fallback xmlns="">
          <p:sp>
            <p:nvSpPr>
              <p:cNvPr id="9" name="TextBox 8"/>
              <p:cNvSpPr txBox="1">
                <a:spLocks noRot="1" noChangeAspect="1" noMove="1" noResize="1" noEditPoints="1" noAdjustHandles="1" noChangeArrowheads="1" noChangeShapeType="1" noTextEdit="1"/>
              </p:cNvSpPr>
              <p:nvPr/>
            </p:nvSpPr>
            <p:spPr>
              <a:xfrm>
                <a:off x="5312420" y="2259972"/>
                <a:ext cx="876548" cy="1569725"/>
              </a:xfrm>
              <a:prstGeom prst="rect">
                <a:avLst/>
              </a:prstGeom>
              <a:blipFill>
                <a:blip r:embed="rId6"/>
                <a:stretch>
                  <a:fillRect r="-52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430154" y="3964605"/>
                <a:ext cx="4466046" cy="5847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3200" i="1">
                          <a:latin typeface="Cambria Math" panose="02040503050406030204" pitchFamily="18" charset="0"/>
                        </a:rPr>
                        <m:t>=1−6</m:t>
                      </m:r>
                      <m:r>
                        <a:rPr lang="en-GB" sz="3200" i="1">
                          <a:latin typeface="Cambria Math" panose="02040503050406030204" pitchFamily="18" charset="0"/>
                        </a:rPr>
                        <m:t>𝑥</m:t>
                      </m:r>
                      <m:r>
                        <a:rPr lang="en-GB" sz="3200" i="1">
                          <a:latin typeface="Cambria Math" panose="02040503050406030204" pitchFamily="18" charset="0"/>
                        </a:rPr>
                        <m:t>+12</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2</m:t>
                          </m:r>
                        </m:sup>
                      </m:sSup>
                      <m:r>
                        <a:rPr lang="en-GB" sz="3200" i="1">
                          <a:latin typeface="Cambria Math" panose="02040503050406030204" pitchFamily="18" charset="0"/>
                        </a:rPr>
                        <m:t>−8</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3</m:t>
                          </m:r>
                        </m:sup>
                      </m:sSup>
                    </m:oMath>
                  </m:oMathPara>
                </a14:m>
                <a:endParaRPr lang="en-GB" sz="3200" dirty="0"/>
              </a:p>
            </p:txBody>
          </p:sp>
        </mc:Choice>
        <mc:Fallback xmlns="">
          <p:sp>
            <p:nvSpPr>
              <p:cNvPr id="10" name="TextBox 9"/>
              <p:cNvSpPr txBox="1">
                <a:spLocks noRot="1" noChangeAspect="1" noMove="1" noResize="1" noEditPoints="1" noAdjustHandles="1" noChangeArrowheads="1" noChangeShapeType="1" noTextEdit="1"/>
              </p:cNvSpPr>
              <p:nvPr/>
            </p:nvSpPr>
            <p:spPr>
              <a:xfrm>
                <a:off x="3430154" y="3964605"/>
                <a:ext cx="4466046" cy="584775"/>
              </a:xfrm>
              <a:prstGeom prst="rect">
                <a:avLst/>
              </a:prstGeom>
              <a:blipFill>
                <a:blip r:embed="rId7"/>
                <a:stretch>
                  <a:fillRect/>
                </a:stretch>
              </a:blipFill>
            </p:spPr>
            <p:txBody>
              <a:bodyPr/>
              <a:lstStyle/>
              <a:p>
                <a:r>
                  <a:rPr lang="en-GB">
                    <a:noFill/>
                  </a:rPr>
                  <a:t> </a:t>
                </a:r>
              </a:p>
            </p:txBody>
          </p:sp>
        </mc:Fallback>
      </mc:AlternateContent>
      <p:sp>
        <p:nvSpPr>
          <p:cNvPr id="11" name="TextBox 10"/>
          <p:cNvSpPr txBox="1"/>
          <p:nvPr/>
        </p:nvSpPr>
        <p:spPr>
          <a:xfrm>
            <a:off x="1995328" y="5321078"/>
            <a:ext cx="8387280" cy="8309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Tip</a:t>
            </a:r>
            <a:r>
              <a:rPr lang="en-GB" sz="1600" dirty="0"/>
              <a:t>: If one of the terms in the original bracket is negative, the terms in your expansion will </a:t>
            </a:r>
            <a:r>
              <a:rPr lang="en-GB" sz="1600" u="sng" dirty="0"/>
              <a:t>oscillate between positive and negative</a:t>
            </a:r>
            <a:r>
              <a:rPr lang="en-GB" sz="1600" dirty="0"/>
              <a:t>. If they don’t (e.g. two consecutive negatives), you’ve done something wrong!</a:t>
            </a:r>
          </a:p>
        </p:txBody>
      </p:sp>
    </p:spTree>
    <p:extLst>
      <p:ext uri="{BB962C8B-B14F-4D97-AF65-F5344CB8AC3E}">
        <p14:creationId xmlns:p14="http://schemas.microsoft.com/office/powerpoint/2010/main" val="426395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animBg="1"/>
    </p:bldLst>
  </p:timing>
</p:sld>
</file>

<file path=ppt/c8/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Getting a single term in the expansion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2063552" y="1052739"/>
                <a:ext cx="7632848" cy="83099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The coefficient of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2</m:t>
                        </m:r>
                      </m:sup>
                    </m:sSup>
                  </m:oMath>
                </a14:m>
                <a:r>
                  <a:rPr lang="en-GB" sz="2400" dirty="0"/>
                  <a:t> in the expansion of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2−</m:t>
                            </m:r>
                            <m:r>
                              <a:rPr lang="en-GB" sz="2400" i="1">
                                <a:latin typeface="Cambria Math" panose="02040503050406030204" pitchFamily="18" charset="0"/>
                              </a:rPr>
                              <m:t>𝑐𝑥</m:t>
                            </m:r>
                          </m:e>
                        </m:d>
                      </m:e>
                      <m:sup>
                        <m:r>
                          <a:rPr lang="en-GB" sz="2400" i="1">
                            <a:latin typeface="Cambria Math" panose="02040503050406030204" pitchFamily="18" charset="0"/>
                          </a:rPr>
                          <m:t>5</m:t>
                        </m:r>
                      </m:sup>
                    </m:sSup>
                  </m:oMath>
                </a14:m>
                <a:r>
                  <a:rPr lang="en-GB" sz="2400" dirty="0"/>
                  <a:t> is 720. Find the possible value(s) of the constant  </a:t>
                </a:r>
                <a14:m>
                  <m:oMath xmlns:m="http://schemas.openxmlformats.org/officeDocument/2006/math">
                    <m:r>
                      <a:rPr lang="en-GB" sz="2400" i="1">
                        <a:latin typeface="Cambria Math" panose="02040503050406030204" pitchFamily="18" charset="0"/>
                      </a:rPr>
                      <m:t>𝑐</m:t>
                    </m:r>
                  </m:oMath>
                </a14:m>
                <a:r>
                  <a:rPr lang="en-GB" sz="24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2063552" y="1052739"/>
                <a:ext cx="7632848" cy="830997"/>
              </a:xfrm>
              <a:prstGeom prst="rect">
                <a:avLst/>
              </a:prstGeom>
              <a:blipFill>
                <a:blip r:embed="rId2"/>
                <a:stretch>
                  <a:fillRect b="-6875"/>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186360" y="2213248"/>
                <a:ext cx="7776864" cy="3416320"/>
              </a:xfrm>
              <a:prstGeom prst="rect">
                <a:avLst/>
              </a:prstGeom>
              <a:noFill/>
            </p:spPr>
            <p:txBody>
              <a:bodyPr wrap="square" rtlCol="0">
                <a:spAutoFit/>
              </a:bodyPr>
              <a:lstStyle/>
              <a:p>
                <a:r>
                  <a:rPr lang="en-GB" dirty="0"/>
                  <a:t>The ‘5’ row in Pascal’s triangle is 1 5 10 10 5 1. If we count the 1 as the ‘0</a:t>
                </a:r>
                <a:r>
                  <a:rPr lang="en-GB" baseline="30000" dirty="0"/>
                  <a:t>th</a:t>
                </a:r>
                <a:r>
                  <a:rPr lang="en-GB" dirty="0"/>
                  <a:t> term’, we want the 2</a:t>
                </a:r>
                <a:r>
                  <a:rPr lang="en-GB" baseline="30000" dirty="0"/>
                  <a:t>nd</a:t>
                </a:r>
                <a:r>
                  <a:rPr lang="en-GB" dirty="0"/>
                  <a:t> term, which is 10.</a:t>
                </a:r>
              </a:p>
              <a:p>
                <a:endParaRPr lang="en-GB" dirty="0"/>
              </a:p>
              <a:p>
                <a:r>
                  <a:rPr lang="en-GB" dirty="0"/>
                  <a:t>Since we want the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a14:m>
                <a:r>
                  <a:rPr lang="en-GB" dirty="0"/>
                  <a:t> term:</a:t>
                </a:r>
              </a:p>
              <a:p>
                <a:pPr marL="285750" indent="-285750">
                  <a:buFont typeface="Arial" panose="020B0604020202020204" pitchFamily="34" charset="0"/>
                  <a:buChar char="•"/>
                </a:pPr>
                <a:r>
                  <a:rPr lang="en-GB" dirty="0"/>
                  <a:t>The power of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m:t>
                        </m:r>
                        <m:r>
                          <a:rPr lang="en-GB" i="1">
                            <a:latin typeface="Cambria Math" panose="02040503050406030204" pitchFamily="18" charset="0"/>
                          </a:rPr>
                          <m:t>𝑐𝑥</m:t>
                        </m:r>
                      </m:e>
                    </m:d>
                  </m:oMath>
                </a14:m>
                <a:r>
                  <a:rPr lang="en-GB" dirty="0"/>
                  <a:t> must be </a:t>
                </a:r>
                <a:r>
                  <a:rPr lang="en-GB" b="1" dirty="0"/>
                  <a:t>2.</a:t>
                </a:r>
              </a:p>
              <a:p>
                <a:pPr marL="285750" indent="-285750">
                  <a:buFont typeface="Arial" panose="020B0604020202020204" pitchFamily="34" charset="0"/>
                  <a:buChar char="•"/>
                </a:pPr>
                <a:r>
                  <a:rPr lang="en-GB" dirty="0"/>
                  <a:t>The power of 2 must be </a:t>
                </a:r>
                <a:r>
                  <a:rPr lang="en-GB" b="1" dirty="0"/>
                  <a:t>3 (the two powers must add up to 5).</a:t>
                </a:r>
              </a:p>
              <a:p>
                <a:pPr marL="285750" indent="-285750">
                  <a:buFont typeface="Arial" panose="020B0604020202020204" pitchFamily="34" charset="0"/>
                  <a:buChar char="•"/>
                </a:pPr>
                <a:endParaRPr lang="en-GB" dirty="0"/>
              </a:p>
              <a:p>
                <a:r>
                  <a:rPr lang="en-GB" dirty="0"/>
                  <a:t>Therefore term is:    </a:t>
                </a:r>
                <a14:m>
                  <m:oMath xmlns:m="http://schemas.openxmlformats.org/officeDocument/2006/math">
                    <m:r>
                      <a:rPr lang="en-GB" i="1">
                        <a:latin typeface="Cambria Math" panose="02040503050406030204" pitchFamily="18" charset="0"/>
                      </a:rPr>
                      <m:t>10</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m:t>
                            </m:r>
                            <m:r>
                              <a:rPr lang="en-GB" i="1">
                                <a:latin typeface="Cambria Math" panose="02040503050406030204" pitchFamily="18" charset="0"/>
                              </a:rPr>
                              <m:t>𝑐𝑥</m:t>
                            </m:r>
                          </m:e>
                        </m:d>
                      </m:e>
                      <m:sup>
                        <m:r>
                          <a:rPr lang="en-GB" i="1">
                            <a:latin typeface="Cambria Math" panose="02040503050406030204" pitchFamily="18" charset="0"/>
                          </a:rPr>
                          <m:t>2</m:t>
                        </m:r>
                      </m:sup>
                    </m:sSup>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3</m:t>
                            </m:r>
                          </m:sup>
                        </m:sSup>
                      </m:e>
                    </m:d>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80</m:t>
                        </m:r>
                        <m:r>
                          <a:rPr lang="en-GB" i="1">
                            <a:latin typeface="Cambria Math" panose="02040503050406030204" pitchFamily="18" charset="0"/>
                          </a:rPr>
                          <m:t>𝑐</m:t>
                        </m:r>
                      </m:e>
                      <m:sup>
                        <m:r>
                          <a:rPr lang="en-GB" i="1">
                            <a:latin typeface="Cambria Math" panose="02040503050406030204" pitchFamily="18" charset="0"/>
                          </a:rPr>
                          <m:t>2</m:t>
                        </m:r>
                      </m:sup>
                    </m:sSup>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a14:m>
                <a:endParaRPr lang="en-GB" dirty="0"/>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∴80</m:t>
                      </m:r>
                      <m:sSup>
                        <m:sSupPr>
                          <m:ctrlPr>
                            <a:rPr lang="en-GB" i="1">
                              <a:latin typeface="Cambria Math" panose="02040503050406030204" pitchFamily="18" charset="0"/>
                            </a:rPr>
                          </m:ctrlPr>
                        </m:sSupPr>
                        <m:e>
                          <m:r>
                            <a:rPr lang="en-GB" i="1">
                              <a:latin typeface="Cambria Math" panose="02040503050406030204" pitchFamily="18" charset="0"/>
                            </a:rPr>
                            <m:t>𝑐</m:t>
                          </m:r>
                        </m:e>
                        <m:sup>
                          <m:r>
                            <a:rPr lang="en-GB" i="1">
                              <a:latin typeface="Cambria Math" panose="02040503050406030204" pitchFamily="18" charset="0"/>
                            </a:rPr>
                            <m:t>2</m:t>
                          </m:r>
                        </m:sup>
                      </m:sSup>
                      <m:r>
                        <a:rPr lang="en-GB" i="1">
                          <a:latin typeface="Cambria Math" panose="02040503050406030204" pitchFamily="18" charset="0"/>
                        </a:rPr>
                        <m:t>=720</m:t>
                      </m:r>
                    </m:oMath>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𝑐</m:t>
                          </m:r>
                        </m:e>
                        <m:sup>
                          <m:r>
                            <a:rPr lang="en-GB" i="1">
                              <a:latin typeface="Cambria Math" panose="02040503050406030204" pitchFamily="18" charset="0"/>
                            </a:rPr>
                            <m:t>2</m:t>
                          </m:r>
                        </m:sup>
                      </m:sSup>
                      <m:r>
                        <a:rPr lang="en-GB" i="1">
                          <a:latin typeface="Cambria Math" panose="02040503050406030204" pitchFamily="18" charset="0"/>
                        </a:rPr>
                        <m:t>=9</m:t>
                      </m:r>
                    </m:oMath>
                    <m:oMath xmlns:m="http://schemas.openxmlformats.org/officeDocument/2006/math">
                      <m:r>
                        <a:rPr lang="en-GB" i="1">
                          <a:latin typeface="Cambria Math" panose="02040503050406030204" pitchFamily="18" charset="0"/>
                        </a:rPr>
                        <m:t>𝑐</m:t>
                      </m:r>
                      <m:r>
                        <a:rPr lang="en-GB" i="1">
                          <a:latin typeface="Cambria Math" panose="02040503050406030204" pitchFamily="18" charset="0"/>
                        </a:rPr>
                        <m:t>=±3</m:t>
                      </m:r>
                    </m:oMath>
                  </m:oMathPara>
                </a14:m>
                <a:endParaRPr lang="en-GB" dirty="0"/>
              </a:p>
              <a:p>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2186360" y="2213248"/>
                <a:ext cx="7776864" cy="3416320"/>
              </a:xfrm>
              <a:prstGeom prst="rect">
                <a:avLst/>
              </a:prstGeom>
              <a:blipFill>
                <a:blip r:embed="rId3"/>
                <a:stretch>
                  <a:fillRect l="-706" t="-893"/>
                </a:stretch>
              </a:blipFill>
            </p:spPr>
            <p:txBody>
              <a:bodyPr/>
              <a:lstStyle/>
              <a:p>
                <a:r>
                  <a:rPr lang="en-GB">
                    <a:noFill/>
                  </a:rPr>
                  <a:t> </a:t>
                </a:r>
              </a:p>
            </p:txBody>
          </p:sp>
        </mc:Fallback>
      </mc:AlternateContent>
      <p:sp>
        <p:nvSpPr>
          <p:cNvPr id="7" name="Rectangle 6"/>
          <p:cNvSpPr/>
          <p:nvPr/>
        </p:nvSpPr>
        <p:spPr>
          <a:xfrm>
            <a:off x="5319760" y="3238544"/>
            <a:ext cx="3303582" cy="39299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8" name="Rectangle 7"/>
          <p:cNvSpPr/>
          <p:nvPr/>
        </p:nvSpPr>
        <p:spPr>
          <a:xfrm>
            <a:off x="4850656" y="3631541"/>
            <a:ext cx="3783974" cy="37464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9" name="Rectangle 8"/>
          <p:cNvSpPr/>
          <p:nvPr/>
        </p:nvSpPr>
        <p:spPr>
          <a:xfrm>
            <a:off x="4058568" y="4148381"/>
            <a:ext cx="4564774" cy="124752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968016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Effect transition="in" filter="fade">
                                      <p:cBhvr>
                                        <p:cTn id="15" dur="500"/>
                                        <p:tgtEl>
                                          <p:spTgt spid="6">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fade">
                                      <p:cBhvr>
                                        <p:cTn id="18" dur="500"/>
                                        <p:tgtEl>
                                          <p:spTgt spid="6">
                                            <p:txEl>
                                              <p:pRg st="4" end="4"/>
                                            </p:txEl>
                                          </p:spTgt>
                                        </p:tgtEl>
                                      </p:cBhvr>
                                    </p:animEffect>
                                  </p:childTnLst>
                                </p:cTn>
                              </p:par>
                              <p:par>
                                <p:cTn id="19" presetID="1" presetClass="entr" presetSubtype="0" fill="hold" grpId="1"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fade">
                                      <p:cBhvr>
                                        <p:cTn id="27" dur="500"/>
                                        <p:tgtEl>
                                          <p:spTgt spid="6">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6">
                                            <p:txEl>
                                              <p:pRg st="7" end="7"/>
                                            </p:txEl>
                                          </p:spTgt>
                                        </p:tgtEl>
                                        <p:attrNameLst>
                                          <p:attrName>style.visibility</p:attrName>
                                        </p:attrNameLst>
                                      </p:cBhvr>
                                      <p:to>
                                        <p:strVal val="visible"/>
                                      </p:to>
                                    </p:set>
                                    <p:animEffect transition="in" filter="fade">
                                      <p:cBhvr>
                                        <p:cTn id="30" dur="500"/>
                                        <p:tgtEl>
                                          <p:spTgt spid="6">
                                            <p:txEl>
                                              <p:pRg st="7" end="7"/>
                                            </p:txEl>
                                          </p:spTgt>
                                        </p:tgtEl>
                                      </p:cBhvr>
                                    </p:animEffect>
                                  </p:childTnLst>
                                </p:cTn>
                              </p:par>
                              <p:par>
                                <p:cTn id="31" presetID="1" presetClass="entr" presetSubtype="0" fill="hold" grpId="1"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7"/>
                    </p:tgtEl>
                  </p:cond>
                </p:stCondLst>
                <p:endSync evt="end" delay="0">
                  <p:rtn val="all"/>
                </p:endSync>
                <p:childTnLst>
                  <p:par>
                    <p:cTn id="34" fill="hold">
                      <p:stCondLst>
                        <p:cond delay="0"/>
                      </p:stCondLst>
                      <p:childTnLst>
                        <p:par>
                          <p:cTn id="35" fill="hold">
                            <p:stCondLst>
                              <p:cond delay="0"/>
                            </p:stCondLst>
                            <p:childTnLst>
                              <p:par>
                                <p:cTn id="36" presetID="10" presetClass="exit" presetSubtype="0" fill="hold" grpId="0" nodeType="clickEffect">
                                  <p:stCondLst>
                                    <p:cond delay="0"/>
                                  </p:stCondLst>
                                  <p:childTnLst>
                                    <p:animEffect transition="out" filter="fade">
                                      <p:cBhvr>
                                        <p:cTn id="37" dur="500"/>
                                        <p:tgtEl>
                                          <p:spTgt spid="7"/>
                                        </p:tgtEl>
                                      </p:cBhvr>
                                    </p:animEffect>
                                    <p:set>
                                      <p:cBhvr>
                                        <p:cTn id="38"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39" restart="whenNotActive" fill="hold" evtFilter="cancelBubble" nodeType="interactiveSeq">
                <p:stCondLst>
                  <p:cond evt="onClick" delay="0">
                    <p:tgtEl>
                      <p:spTgt spid="8"/>
                    </p:tgtEl>
                  </p:cond>
                </p:stCondLst>
                <p:endSync evt="end" delay="0">
                  <p:rtn val="all"/>
                </p:endSync>
                <p:childTnLst>
                  <p:par>
                    <p:cTn id="40" fill="hold">
                      <p:stCondLst>
                        <p:cond delay="0"/>
                      </p:stCondLst>
                      <p:childTnLst>
                        <p:par>
                          <p:cTn id="41" fill="hold">
                            <p:stCondLst>
                              <p:cond delay="0"/>
                            </p:stCondLst>
                            <p:childTnLst>
                              <p:par>
                                <p:cTn id="42" presetID="10" presetClass="exit" presetSubtype="0" fill="hold" grpId="0" nodeType="clickEffect">
                                  <p:stCondLst>
                                    <p:cond delay="0"/>
                                  </p:stCondLst>
                                  <p:childTnLst>
                                    <p:animEffect transition="out" filter="fade">
                                      <p:cBhvr>
                                        <p:cTn id="43" dur="500"/>
                                        <p:tgtEl>
                                          <p:spTgt spid="8"/>
                                        </p:tgtEl>
                                      </p:cBhvr>
                                    </p:animEffect>
                                    <p:set>
                                      <p:cBhvr>
                                        <p:cTn id="44"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45" restart="whenNotActive" fill="hold" evtFilter="cancelBubble" nodeType="interactiveSeq">
                <p:stCondLst>
                  <p:cond evt="onClick" delay="0">
                    <p:tgtEl>
                      <p:spTgt spid="9"/>
                    </p:tgtEl>
                  </p:cond>
                </p:stCondLst>
                <p:endSync evt="end" delay="0">
                  <p:rtn val="all"/>
                </p:endSync>
                <p:childTnLst>
                  <p:par>
                    <p:cTn id="46" fill="hold">
                      <p:stCondLst>
                        <p:cond delay="0"/>
                      </p:stCondLst>
                      <p:childTnLst>
                        <p:par>
                          <p:cTn id="47" fill="hold">
                            <p:stCondLst>
                              <p:cond delay="0"/>
                            </p:stCondLst>
                            <p:childTnLst>
                              <p:par>
                                <p:cTn id="48" presetID="10" presetClass="exit" presetSubtype="0" fill="hold" grpId="0" nodeType="clickEffect">
                                  <p:stCondLst>
                                    <p:cond delay="0"/>
                                  </p:stCondLst>
                                  <p:childTnLst>
                                    <p:animEffect transition="out" filter="fade">
                                      <p:cBhvr>
                                        <p:cTn id="49" dur="500"/>
                                        <p:tgtEl>
                                          <p:spTgt spid="9"/>
                                        </p:tgtEl>
                                      </p:cBhvr>
                                    </p:animEffect>
                                    <p:set>
                                      <p:cBhvr>
                                        <p:cTn id="50"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7" grpId="0" animBg="1"/>
      <p:bldP spid="7" grpId="1" animBg="1"/>
      <p:bldP spid="8" grpId="0" animBg="1"/>
      <p:bldP spid="8" grpId="1" animBg="1"/>
      <p:bldP spid="9" grpId="0" animBg="1"/>
      <p:bldP spid="9" grpId="1" animBg="1"/>
    </p:bldLst>
  </p:timing>
</p:sld>
</file>

<file path=ppt/c8/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p:cNvPicPr>
            <a:picLocks noChangeAspect="1"/>
          </p:cNvPicPr>
          <p:nvPr/>
        </p:nvPicPr>
        <p:blipFill>
          <a:blip r:embed="rId2"/>
          <a:stretch>
            <a:fillRect/>
          </a:stretch>
        </p:blipFill>
        <p:spPr>
          <a:xfrm>
            <a:off x="1919536" y="1198954"/>
            <a:ext cx="7576140" cy="2086033"/>
          </a:xfrm>
          <a:prstGeom prst="rect">
            <a:avLst/>
          </a:prstGeom>
          <a:effectLst>
            <a:outerShdw blurRad="63500" sx="102000" sy="102000" algn="ctr" rotWithShape="0">
              <a:prstClr val="black">
                <a:alpha val="40000"/>
              </a:prstClr>
            </a:outerShdw>
          </a:effectLst>
        </p:spPr>
      </p:pic>
      <p:sp>
        <p:nvSpPr>
          <p:cNvPr id="6" name="TextBox 5"/>
          <p:cNvSpPr txBox="1"/>
          <p:nvPr/>
        </p:nvSpPr>
        <p:spPr>
          <a:xfrm>
            <a:off x="1919536" y="836712"/>
            <a:ext cx="1296144"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C2</a:t>
            </a:r>
          </a:p>
        </p:txBody>
      </p:sp>
      <p:pic>
        <p:nvPicPr>
          <p:cNvPr id="7" name="Picture 6"/>
          <p:cNvPicPr>
            <a:picLocks noChangeAspect="1"/>
          </p:cNvPicPr>
          <p:nvPr/>
        </p:nvPicPr>
        <p:blipFill>
          <a:blip r:embed="rId3"/>
          <a:stretch>
            <a:fillRect/>
          </a:stretch>
        </p:blipFill>
        <p:spPr>
          <a:xfrm>
            <a:off x="2207571" y="3647226"/>
            <a:ext cx="7678217" cy="2401557"/>
          </a:xfrm>
          <a:prstGeom prst="rect">
            <a:avLst/>
          </a:prstGeom>
        </p:spPr>
      </p:pic>
      <p:sp>
        <p:nvSpPr>
          <p:cNvPr id="8" name="Rectangle 7"/>
          <p:cNvSpPr/>
          <p:nvPr/>
        </p:nvSpPr>
        <p:spPr>
          <a:xfrm>
            <a:off x="2645663" y="3657602"/>
            <a:ext cx="7220826" cy="152400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9" name="Rectangle 8"/>
          <p:cNvSpPr/>
          <p:nvPr/>
        </p:nvSpPr>
        <p:spPr>
          <a:xfrm>
            <a:off x="2655311" y="5181601"/>
            <a:ext cx="7220826" cy="99342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57084250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8" grpId="0" animBg="1"/>
      <p:bldP spid="9" grpId="0" animBg="1"/>
    </p:bldLst>
  </p:timing>
</p:sld>
</file>

<file path=ppt/c8/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8A – Y1 page 160-161</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A3CF5F82-2BF2-0FD8-0859-DD2EB386F865}"/>
              </a:ext>
            </a:extLst>
          </p:cNvPr>
          <p:cNvPicPr>
            <a:picLocks noChangeAspect="1"/>
          </p:cNvPicPr>
          <p:nvPr/>
        </p:nvPicPr>
        <p:blipFill>
          <a:blip r:embed="rId2"/>
          <a:stretch>
            <a:fillRect/>
          </a:stretch>
        </p:blipFill>
        <p:spPr>
          <a:xfrm>
            <a:off x="1631504" y="601265"/>
            <a:ext cx="5449060" cy="314369"/>
          </a:xfrm>
          <a:prstGeom prst="rect">
            <a:avLst/>
          </a:prstGeom>
        </p:spPr>
      </p:pic>
      <p:pic>
        <p:nvPicPr>
          <p:cNvPr id="11" name="Picture 10">
            <a:extLst>
              <a:ext uri="{FF2B5EF4-FFF2-40B4-BE49-F238E27FC236}">
                <a16:creationId xmlns:a16="http://schemas.microsoft.com/office/drawing/2014/main" id="{E705B945-5975-6B86-94CC-22C6EA482367}"/>
              </a:ext>
            </a:extLst>
          </p:cNvPr>
          <p:cNvPicPr>
            <a:picLocks noChangeAspect="1"/>
          </p:cNvPicPr>
          <p:nvPr/>
        </p:nvPicPr>
        <p:blipFill>
          <a:blip r:embed="rId3"/>
          <a:stretch>
            <a:fillRect/>
          </a:stretch>
        </p:blipFill>
        <p:spPr>
          <a:xfrm>
            <a:off x="1613184" y="2567573"/>
            <a:ext cx="8964488" cy="559268"/>
          </a:xfrm>
          <a:prstGeom prst="rect">
            <a:avLst/>
          </a:prstGeom>
        </p:spPr>
      </p:pic>
      <p:pic>
        <p:nvPicPr>
          <p:cNvPr id="13" name="Picture 12">
            <a:extLst>
              <a:ext uri="{FF2B5EF4-FFF2-40B4-BE49-F238E27FC236}">
                <a16:creationId xmlns:a16="http://schemas.microsoft.com/office/drawing/2014/main" id="{C54127AA-CB8D-9D83-BEA2-EA379FE832D1}"/>
              </a:ext>
            </a:extLst>
          </p:cNvPr>
          <p:cNvPicPr>
            <a:picLocks noChangeAspect="1"/>
          </p:cNvPicPr>
          <p:nvPr/>
        </p:nvPicPr>
        <p:blipFill>
          <a:blip r:embed="rId4"/>
          <a:stretch>
            <a:fillRect/>
          </a:stretch>
        </p:blipFill>
        <p:spPr>
          <a:xfrm>
            <a:off x="2207568" y="1186874"/>
            <a:ext cx="3115110" cy="1295581"/>
          </a:xfrm>
          <a:prstGeom prst="rect">
            <a:avLst/>
          </a:prstGeom>
        </p:spPr>
      </p:pic>
      <p:pic>
        <p:nvPicPr>
          <p:cNvPr id="15" name="Picture 14">
            <a:extLst>
              <a:ext uri="{FF2B5EF4-FFF2-40B4-BE49-F238E27FC236}">
                <a16:creationId xmlns:a16="http://schemas.microsoft.com/office/drawing/2014/main" id="{EF4100CF-6C23-E07C-659B-AAA2F3A8823D}"/>
              </a:ext>
            </a:extLst>
          </p:cNvPr>
          <p:cNvPicPr>
            <a:picLocks noChangeAspect="1"/>
          </p:cNvPicPr>
          <p:nvPr/>
        </p:nvPicPr>
        <p:blipFill>
          <a:blip r:embed="rId5"/>
          <a:stretch>
            <a:fillRect/>
          </a:stretch>
        </p:blipFill>
        <p:spPr>
          <a:xfrm>
            <a:off x="5944419" y="1167141"/>
            <a:ext cx="4229690" cy="1295581"/>
          </a:xfrm>
          <a:prstGeom prst="rect">
            <a:avLst/>
          </a:prstGeom>
        </p:spPr>
      </p:pic>
      <p:cxnSp>
        <p:nvCxnSpPr>
          <p:cNvPr id="17" name="Straight Connector 16">
            <a:extLst>
              <a:ext uri="{FF2B5EF4-FFF2-40B4-BE49-F238E27FC236}">
                <a16:creationId xmlns:a16="http://schemas.microsoft.com/office/drawing/2014/main" id="{C7AD2B58-35AE-B38A-DF5C-E0E5A4E1C297}"/>
              </a:ext>
            </a:extLst>
          </p:cNvPr>
          <p:cNvCxnSpPr/>
          <p:nvPr/>
        </p:nvCxnSpPr>
        <p:spPr>
          <a:xfrm>
            <a:off x="5519936" y="1167141"/>
            <a:ext cx="0" cy="1295581"/>
          </a:xfrm>
          <a:prstGeom prst="line">
            <a:avLst/>
          </a:prstGeom>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4E9AC905-01C5-4F40-78A4-B0DDB1527730}"/>
              </a:ext>
            </a:extLst>
          </p:cNvPr>
          <p:cNvPicPr>
            <a:picLocks noChangeAspect="1"/>
          </p:cNvPicPr>
          <p:nvPr/>
        </p:nvPicPr>
        <p:blipFill>
          <a:blip r:embed="rId6"/>
          <a:stretch>
            <a:fillRect/>
          </a:stretch>
        </p:blipFill>
        <p:spPr>
          <a:xfrm>
            <a:off x="1919539" y="3202663"/>
            <a:ext cx="4024883" cy="1991865"/>
          </a:xfrm>
          <a:prstGeom prst="rect">
            <a:avLst/>
          </a:prstGeom>
        </p:spPr>
      </p:pic>
      <p:pic>
        <p:nvPicPr>
          <p:cNvPr id="23" name="Picture 22">
            <a:extLst>
              <a:ext uri="{FF2B5EF4-FFF2-40B4-BE49-F238E27FC236}">
                <a16:creationId xmlns:a16="http://schemas.microsoft.com/office/drawing/2014/main" id="{10C67878-5C61-6144-4B79-802ABB8101C1}"/>
              </a:ext>
            </a:extLst>
          </p:cNvPr>
          <p:cNvPicPr>
            <a:picLocks noChangeAspect="1"/>
          </p:cNvPicPr>
          <p:nvPr/>
        </p:nvPicPr>
        <p:blipFill rotWithShape="1">
          <a:blip r:embed="rId7"/>
          <a:srcRect t="12477"/>
          <a:stretch/>
        </p:blipFill>
        <p:spPr>
          <a:xfrm>
            <a:off x="1919536" y="5270344"/>
            <a:ext cx="5828162" cy="1412954"/>
          </a:xfrm>
          <a:prstGeom prst="rect">
            <a:avLst/>
          </a:prstGeom>
        </p:spPr>
      </p:pic>
      <p:sp>
        <p:nvSpPr>
          <p:cNvPr id="24" name="Rectangle 23">
            <a:extLst>
              <a:ext uri="{FF2B5EF4-FFF2-40B4-BE49-F238E27FC236}">
                <a16:creationId xmlns:a16="http://schemas.microsoft.com/office/drawing/2014/main" id="{2DEAAF27-D779-E03B-98E8-68723ED5112B}"/>
              </a:ext>
            </a:extLst>
          </p:cNvPr>
          <p:cNvSpPr/>
          <p:nvPr/>
        </p:nvSpPr>
        <p:spPr>
          <a:xfrm>
            <a:off x="1919536" y="958454"/>
            <a:ext cx="8352928" cy="152400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5" name="Rectangle 24">
            <a:extLst>
              <a:ext uri="{FF2B5EF4-FFF2-40B4-BE49-F238E27FC236}">
                <a16:creationId xmlns:a16="http://schemas.microsoft.com/office/drawing/2014/main" id="{0CE97456-CE2B-DE99-932B-3D93CDBFC136}"/>
              </a:ext>
            </a:extLst>
          </p:cNvPr>
          <p:cNvSpPr/>
          <p:nvPr/>
        </p:nvSpPr>
        <p:spPr>
          <a:xfrm>
            <a:off x="1903415" y="3126844"/>
            <a:ext cx="8352928" cy="355645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60624437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4"/>
                                        </p:tgtEl>
                                      </p:cBhvr>
                                    </p:animEffect>
                                    <p:set>
                                      <p:cBhvr>
                                        <p:cTn id="7"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seq concurrent="1" nextAc="seek">
              <p:cTn id="8" restart="whenNotActive" fill="hold" evtFilter="cancelBubble" nodeType="interactiveSeq">
                <p:stCondLst>
                  <p:cond evt="onClick" delay="0">
                    <p:tgtEl>
                      <p:spTgt spid="2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5"/>
                                        </p:tgtEl>
                                      </p:cBhvr>
                                    </p:animEffect>
                                    <p:set>
                                      <p:cBhvr>
                                        <p:cTn id="13"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childTnLst>
        </p:cTn>
      </p:par>
    </p:tnLst>
    <p:bldLst>
      <p:bldP spid="24" grpId="0" animBg="1"/>
      <p:bldP spid="25" grpId="0" animBg="1"/>
    </p:bldLst>
  </p:timing>
</p:sld>
</file>

<file path=ppt/c8/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8A – Y1 page 160-161</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BA859040-D26C-A9A2-D734-61CDE069CDDC}"/>
              </a:ext>
            </a:extLst>
          </p:cNvPr>
          <p:cNvPicPr>
            <a:picLocks noChangeAspect="1"/>
          </p:cNvPicPr>
          <p:nvPr/>
        </p:nvPicPr>
        <p:blipFill>
          <a:blip r:embed="rId2"/>
          <a:stretch>
            <a:fillRect/>
          </a:stretch>
        </p:blipFill>
        <p:spPr>
          <a:xfrm>
            <a:off x="1530021" y="692696"/>
            <a:ext cx="9144000" cy="323194"/>
          </a:xfrm>
          <a:prstGeom prst="rect">
            <a:avLst/>
          </a:prstGeom>
        </p:spPr>
      </p:pic>
      <p:pic>
        <p:nvPicPr>
          <p:cNvPr id="8" name="Picture 7">
            <a:extLst>
              <a:ext uri="{FF2B5EF4-FFF2-40B4-BE49-F238E27FC236}">
                <a16:creationId xmlns:a16="http://schemas.microsoft.com/office/drawing/2014/main" id="{6FEC3B6D-5015-B88E-66C7-B1BE2EE558EA}"/>
              </a:ext>
            </a:extLst>
          </p:cNvPr>
          <p:cNvPicPr>
            <a:picLocks noChangeAspect="1"/>
          </p:cNvPicPr>
          <p:nvPr/>
        </p:nvPicPr>
        <p:blipFill>
          <a:blip r:embed="rId3"/>
          <a:stretch>
            <a:fillRect/>
          </a:stretch>
        </p:blipFill>
        <p:spPr>
          <a:xfrm>
            <a:off x="1524000" y="3381846"/>
            <a:ext cx="9144000" cy="604491"/>
          </a:xfrm>
          <a:prstGeom prst="rect">
            <a:avLst/>
          </a:prstGeom>
        </p:spPr>
      </p:pic>
      <p:pic>
        <p:nvPicPr>
          <p:cNvPr id="11" name="Picture 10">
            <a:extLst>
              <a:ext uri="{FF2B5EF4-FFF2-40B4-BE49-F238E27FC236}">
                <a16:creationId xmlns:a16="http://schemas.microsoft.com/office/drawing/2014/main" id="{09CD3BBC-C4D1-34E9-33A5-1A5A084412DD}"/>
              </a:ext>
            </a:extLst>
          </p:cNvPr>
          <p:cNvPicPr>
            <a:picLocks noChangeAspect="1"/>
          </p:cNvPicPr>
          <p:nvPr/>
        </p:nvPicPr>
        <p:blipFill>
          <a:blip r:embed="rId4"/>
          <a:stretch>
            <a:fillRect/>
          </a:stretch>
        </p:blipFill>
        <p:spPr>
          <a:xfrm>
            <a:off x="1847530" y="1089748"/>
            <a:ext cx="4852703" cy="2075169"/>
          </a:xfrm>
          <a:prstGeom prst="rect">
            <a:avLst/>
          </a:prstGeom>
        </p:spPr>
      </p:pic>
      <p:pic>
        <p:nvPicPr>
          <p:cNvPr id="13" name="Picture 12">
            <a:extLst>
              <a:ext uri="{FF2B5EF4-FFF2-40B4-BE49-F238E27FC236}">
                <a16:creationId xmlns:a16="http://schemas.microsoft.com/office/drawing/2014/main" id="{7C5A1720-87A5-1D99-8AC8-8A4410A264E7}"/>
              </a:ext>
            </a:extLst>
          </p:cNvPr>
          <p:cNvPicPr>
            <a:picLocks noChangeAspect="1"/>
          </p:cNvPicPr>
          <p:nvPr/>
        </p:nvPicPr>
        <p:blipFill>
          <a:blip r:embed="rId5"/>
          <a:stretch>
            <a:fillRect/>
          </a:stretch>
        </p:blipFill>
        <p:spPr>
          <a:xfrm>
            <a:off x="1839275" y="4407968"/>
            <a:ext cx="4184718" cy="1842329"/>
          </a:xfrm>
          <a:prstGeom prst="rect">
            <a:avLst/>
          </a:prstGeom>
        </p:spPr>
      </p:pic>
      <p:pic>
        <p:nvPicPr>
          <p:cNvPr id="15" name="Picture 14">
            <a:extLst>
              <a:ext uri="{FF2B5EF4-FFF2-40B4-BE49-F238E27FC236}">
                <a16:creationId xmlns:a16="http://schemas.microsoft.com/office/drawing/2014/main" id="{F11FF241-0F53-34A2-717D-0E21921E6576}"/>
              </a:ext>
            </a:extLst>
          </p:cNvPr>
          <p:cNvPicPr>
            <a:picLocks noChangeAspect="1"/>
          </p:cNvPicPr>
          <p:nvPr/>
        </p:nvPicPr>
        <p:blipFill>
          <a:blip r:embed="rId6"/>
          <a:stretch>
            <a:fillRect/>
          </a:stretch>
        </p:blipFill>
        <p:spPr>
          <a:xfrm>
            <a:off x="6277363" y="4344568"/>
            <a:ext cx="4290688" cy="1963851"/>
          </a:xfrm>
          <a:prstGeom prst="rect">
            <a:avLst/>
          </a:prstGeom>
        </p:spPr>
      </p:pic>
      <p:sp>
        <p:nvSpPr>
          <p:cNvPr id="16" name="Rectangle 15">
            <a:extLst>
              <a:ext uri="{FF2B5EF4-FFF2-40B4-BE49-F238E27FC236}">
                <a16:creationId xmlns:a16="http://schemas.microsoft.com/office/drawing/2014/main" id="{8AFD7C0B-1EC7-16CC-E76B-87B1B42909AB}"/>
              </a:ext>
            </a:extLst>
          </p:cNvPr>
          <p:cNvSpPr/>
          <p:nvPr/>
        </p:nvSpPr>
        <p:spPr>
          <a:xfrm>
            <a:off x="1809997" y="1076021"/>
            <a:ext cx="8669510" cy="209948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7" name="Rectangle 16">
            <a:extLst>
              <a:ext uri="{FF2B5EF4-FFF2-40B4-BE49-F238E27FC236}">
                <a16:creationId xmlns:a16="http://schemas.microsoft.com/office/drawing/2014/main" id="{41F76990-E274-AC21-91E5-F8477085A996}"/>
              </a:ext>
            </a:extLst>
          </p:cNvPr>
          <p:cNvSpPr/>
          <p:nvPr/>
        </p:nvSpPr>
        <p:spPr>
          <a:xfrm>
            <a:off x="1809997" y="4105926"/>
            <a:ext cx="8669510" cy="241942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mc:AlternateContent xmlns:mc="http://schemas.openxmlformats.org/markup-compatibility/2006">
        <mc:Choice xmlns:p14="http://schemas.microsoft.com/office/powerpoint/2010/main" xmlns:aink="http://schemas.microsoft.com/office/drawing/2016/ink" Requires="p14 aink">
          <p:contentPart p14:bwMode="auto" r:id="rId7">
            <p14:nvContentPartPr>
              <p14:cNvPr id="5" name="Ink 4">
                <a:extLst>
                  <a:ext uri="{FF2B5EF4-FFF2-40B4-BE49-F238E27FC236}">
                    <a16:creationId xmlns:a16="http://schemas.microsoft.com/office/drawing/2014/main" id="{71F14AFA-8C8B-5128-07FB-16336B896BEF}"/>
                  </a:ext>
                </a:extLst>
              </p14:cNvPr>
              <p14:cNvContentPartPr/>
              <p14:nvPr/>
            </p14:nvContentPartPr>
            <p14:xfrm>
              <a:off x="3759313" y="3439027"/>
              <a:ext cx="81000" cy="144000"/>
            </p14:xfrm>
          </p:contentPart>
        </mc:Choice>
        <mc:Fallback>
          <p:pic>
            <p:nvPicPr>
              <p:cNvPr id="5" name="Ink 4">
                <a:extLst>
                  <a:ext uri="{FF2B5EF4-FFF2-40B4-BE49-F238E27FC236}">
                    <a16:creationId xmlns:a16="http://schemas.microsoft.com/office/drawing/2014/main" id="{71F14AFA-8C8B-5128-07FB-16336B896BEF}"/>
                  </a:ext>
                </a:extLst>
              </p:cNvPr>
              <p:cNvPicPr/>
              <p:nvPr/>
            </p:nvPicPr>
            <p:blipFill>
              <a:blip r:embed="rId8"/>
              <a:stretch>
                <a:fillRect/>
              </a:stretch>
            </p:blipFill>
            <p:spPr>
              <a:xfrm>
                <a:off x="3754993" y="3434707"/>
                <a:ext cx="8964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98A897B3-3ECD-8D0E-A151-2625DEBD2E40}"/>
                  </a:ext>
                </a:extLst>
              </p14:cNvPr>
              <p14:cNvContentPartPr/>
              <p14:nvPr/>
            </p14:nvContentPartPr>
            <p14:xfrm>
              <a:off x="3773713" y="3451627"/>
              <a:ext cx="56160" cy="111240"/>
            </p14:xfrm>
          </p:contentPart>
        </mc:Choice>
        <mc:Fallback>
          <p:pic>
            <p:nvPicPr>
              <p:cNvPr id="7" name="Ink 6">
                <a:extLst>
                  <a:ext uri="{FF2B5EF4-FFF2-40B4-BE49-F238E27FC236}">
                    <a16:creationId xmlns:a16="http://schemas.microsoft.com/office/drawing/2014/main" id="{98A897B3-3ECD-8D0E-A151-2625DEBD2E40}"/>
                  </a:ext>
                </a:extLst>
              </p:cNvPr>
              <p:cNvPicPr/>
              <p:nvPr/>
            </p:nvPicPr>
            <p:blipFill>
              <a:blip r:embed="rId10"/>
              <a:stretch>
                <a:fillRect/>
              </a:stretch>
            </p:blipFill>
            <p:spPr>
              <a:xfrm>
                <a:off x="3767593" y="3445507"/>
                <a:ext cx="68400" cy="123480"/>
              </a:xfrm>
              <a:prstGeom prst="rect">
                <a:avLst/>
              </a:prstGeom>
            </p:spPr>
          </p:pic>
        </mc:Fallback>
      </mc:AlternateContent>
    </p:spTree>
    <p:extLst>
      <p:ext uri="{BB962C8B-B14F-4D97-AF65-F5344CB8AC3E}">
        <p14:creationId xmlns:p14="http://schemas.microsoft.com/office/powerpoint/2010/main" val="25534232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6" grpId="0" animBg="1"/>
      <p:bldP spid="17" grpId="0" animBg="1"/>
    </p:bldLst>
  </p:timing>
</p:sld>
</file>

<file path=ppt/c8/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8A – Y1 page 160-161</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8" name="Picture 7">
            <a:extLst>
              <a:ext uri="{FF2B5EF4-FFF2-40B4-BE49-F238E27FC236}">
                <a16:creationId xmlns:a16="http://schemas.microsoft.com/office/drawing/2014/main" id="{1B4C56DE-530E-D977-AE80-5BD51E9A6E51}"/>
              </a:ext>
            </a:extLst>
          </p:cNvPr>
          <p:cNvPicPr>
            <a:picLocks noChangeAspect="1"/>
          </p:cNvPicPr>
          <p:nvPr/>
        </p:nvPicPr>
        <p:blipFill>
          <a:blip r:embed="rId2"/>
          <a:stretch>
            <a:fillRect/>
          </a:stretch>
        </p:blipFill>
        <p:spPr>
          <a:xfrm>
            <a:off x="1524000" y="692699"/>
            <a:ext cx="9144000" cy="338361"/>
          </a:xfrm>
          <a:prstGeom prst="rect">
            <a:avLst/>
          </a:prstGeom>
        </p:spPr>
      </p:pic>
      <p:grpSp>
        <p:nvGrpSpPr>
          <p:cNvPr id="18" name="Group 17">
            <a:extLst>
              <a:ext uri="{FF2B5EF4-FFF2-40B4-BE49-F238E27FC236}">
                <a16:creationId xmlns:a16="http://schemas.microsoft.com/office/drawing/2014/main" id="{CE582BC7-997D-C019-6F58-00B5D3153989}"/>
              </a:ext>
            </a:extLst>
          </p:cNvPr>
          <p:cNvGrpSpPr/>
          <p:nvPr/>
        </p:nvGrpSpPr>
        <p:grpSpPr>
          <a:xfrm>
            <a:off x="1554068" y="2204864"/>
            <a:ext cx="9082725" cy="983190"/>
            <a:chOff x="0" y="3090834"/>
            <a:chExt cx="9082725" cy="983190"/>
          </a:xfrm>
        </p:grpSpPr>
        <p:pic>
          <p:nvPicPr>
            <p:cNvPr id="11" name="Picture 10">
              <a:extLst>
                <a:ext uri="{FF2B5EF4-FFF2-40B4-BE49-F238E27FC236}">
                  <a16:creationId xmlns:a16="http://schemas.microsoft.com/office/drawing/2014/main" id="{51A606E3-2382-2103-EFE9-C887E3361ADB}"/>
                </a:ext>
              </a:extLst>
            </p:cNvPr>
            <p:cNvPicPr>
              <a:picLocks noChangeAspect="1"/>
            </p:cNvPicPr>
            <p:nvPr/>
          </p:nvPicPr>
          <p:blipFill>
            <a:blip r:embed="rId3"/>
            <a:stretch>
              <a:fillRect/>
            </a:stretch>
          </p:blipFill>
          <p:spPr>
            <a:xfrm>
              <a:off x="0" y="3275115"/>
              <a:ext cx="7740352" cy="260526"/>
            </a:xfrm>
            <a:prstGeom prst="rect">
              <a:avLst/>
            </a:prstGeom>
          </p:spPr>
        </p:pic>
        <p:pic>
          <p:nvPicPr>
            <p:cNvPr id="13" name="Picture 12">
              <a:extLst>
                <a:ext uri="{FF2B5EF4-FFF2-40B4-BE49-F238E27FC236}">
                  <a16:creationId xmlns:a16="http://schemas.microsoft.com/office/drawing/2014/main" id="{1484AB7C-6398-760B-C07E-F5F4C7AD793D}"/>
                </a:ext>
              </a:extLst>
            </p:cNvPr>
            <p:cNvPicPr>
              <a:picLocks noChangeAspect="1"/>
            </p:cNvPicPr>
            <p:nvPr/>
          </p:nvPicPr>
          <p:blipFill>
            <a:blip r:embed="rId4"/>
            <a:stretch>
              <a:fillRect/>
            </a:stretch>
          </p:blipFill>
          <p:spPr>
            <a:xfrm>
              <a:off x="7812360" y="3090834"/>
              <a:ext cx="1270365" cy="570221"/>
            </a:xfrm>
            <a:prstGeom prst="rect">
              <a:avLst/>
            </a:prstGeom>
          </p:spPr>
        </p:pic>
        <p:pic>
          <p:nvPicPr>
            <p:cNvPr id="15" name="Picture 14">
              <a:extLst>
                <a:ext uri="{FF2B5EF4-FFF2-40B4-BE49-F238E27FC236}">
                  <a16:creationId xmlns:a16="http://schemas.microsoft.com/office/drawing/2014/main" id="{0221048F-DDB3-E5C2-384D-71B14A0CB2D5}"/>
                </a:ext>
              </a:extLst>
            </p:cNvPr>
            <p:cNvPicPr>
              <a:picLocks noChangeAspect="1"/>
            </p:cNvPicPr>
            <p:nvPr/>
          </p:nvPicPr>
          <p:blipFill>
            <a:blip r:embed="rId5"/>
            <a:stretch>
              <a:fillRect/>
            </a:stretch>
          </p:blipFill>
          <p:spPr>
            <a:xfrm>
              <a:off x="179512" y="3586694"/>
              <a:ext cx="7967109" cy="487330"/>
            </a:xfrm>
            <a:prstGeom prst="rect">
              <a:avLst/>
            </a:prstGeom>
          </p:spPr>
        </p:pic>
      </p:grpSp>
      <p:pic>
        <p:nvPicPr>
          <p:cNvPr id="17" name="Picture 16">
            <a:extLst>
              <a:ext uri="{FF2B5EF4-FFF2-40B4-BE49-F238E27FC236}">
                <a16:creationId xmlns:a16="http://schemas.microsoft.com/office/drawing/2014/main" id="{3997F383-5693-0141-3A50-6EFB318A1A96}"/>
              </a:ext>
            </a:extLst>
          </p:cNvPr>
          <p:cNvPicPr>
            <a:picLocks noChangeAspect="1"/>
          </p:cNvPicPr>
          <p:nvPr/>
        </p:nvPicPr>
        <p:blipFill>
          <a:blip r:embed="rId6"/>
          <a:stretch>
            <a:fillRect/>
          </a:stretch>
        </p:blipFill>
        <p:spPr>
          <a:xfrm>
            <a:off x="1847531" y="1211910"/>
            <a:ext cx="3334215" cy="847843"/>
          </a:xfrm>
          <a:prstGeom prst="rect">
            <a:avLst/>
          </a:prstGeom>
        </p:spPr>
      </p:pic>
      <p:pic>
        <p:nvPicPr>
          <p:cNvPr id="20" name="Picture 19">
            <a:extLst>
              <a:ext uri="{FF2B5EF4-FFF2-40B4-BE49-F238E27FC236}">
                <a16:creationId xmlns:a16="http://schemas.microsoft.com/office/drawing/2014/main" id="{7A6B9BA4-4189-B90F-7C1E-8FB966F44CF4}"/>
              </a:ext>
            </a:extLst>
          </p:cNvPr>
          <p:cNvPicPr>
            <a:picLocks noChangeAspect="1"/>
          </p:cNvPicPr>
          <p:nvPr/>
        </p:nvPicPr>
        <p:blipFill>
          <a:blip r:embed="rId7"/>
          <a:stretch>
            <a:fillRect/>
          </a:stretch>
        </p:blipFill>
        <p:spPr>
          <a:xfrm>
            <a:off x="2742582" y="3392929"/>
            <a:ext cx="5363323" cy="3238952"/>
          </a:xfrm>
          <a:prstGeom prst="rect">
            <a:avLst/>
          </a:prstGeom>
        </p:spPr>
      </p:pic>
      <p:sp>
        <p:nvSpPr>
          <p:cNvPr id="21" name="Rectangle 20">
            <a:extLst>
              <a:ext uri="{FF2B5EF4-FFF2-40B4-BE49-F238E27FC236}">
                <a16:creationId xmlns:a16="http://schemas.microsoft.com/office/drawing/2014/main" id="{D5C19956-34E8-044E-BAF4-105CF12AC5EB}"/>
              </a:ext>
            </a:extLst>
          </p:cNvPr>
          <p:cNvSpPr/>
          <p:nvPr/>
        </p:nvSpPr>
        <p:spPr>
          <a:xfrm>
            <a:off x="1809997" y="1076021"/>
            <a:ext cx="8669510" cy="107779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2" name="Rectangle 21">
            <a:extLst>
              <a:ext uri="{FF2B5EF4-FFF2-40B4-BE49-F238E27FC236}">
                <a16:creationId xmlns:a16="http://schemas.microsoft.com/office/drawing/2014/main" id="{AFDDC77D-E068-7076-E130-4849680B481E}"/>
              </a:ext>
            </a:extLst>
          </p:cNvPr>
          <p:cNvSpPr/>
          <p:nvPr/>
        </p:nvSpPr>
        <p:spPr>
          <a:xfrm>
            <a:off x="1847528" y="3429000"/>
            <a:ext cx="8669510" cy="316835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4224428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8" restart="whenNotActive" fill="hold" evtFilter="cancelBubble" nodeType="interactiveSeq">
                <p:stCondLst>
                  <p:cond evt="onClick" delay="0">
                    <p:tgtEl>
                      <p:spTgt spid="2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2"/>
                                        </p:tgtEl>
                                      </p:cBhvr>
                                    </p:animEffect>
                                    <p:set>
                                      <p:cBhvr>
                                        <p:cTn id="13"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childTnLst>
        </p:cTn>
      </p:par>
    </p:tnLst>
    <p:bldLst>
      <p:bldP spid="21" grpId="0" animBg="1"/>
      <p:bldP spid="22" grpId="0" animBg="1"/>
    </p:bldLst>
  </p:timing>
</p:sld>
</file>

<file path=ppt/c8/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7" name="TextBox 6"/>
              <p:cNvSpPr txBox="1"/>
              <p:nvPr/>
            </p:nvSpPr>
            <p:spPr>
              <a:xfrm>
                <a:off x="1900477" y="548683"/>
                <a:ext cx="7272808" cy="4631011"/>
              </a:xfrm>
              <a:prstGeom prst="rect">
                <a:avLst/>
              </a:prstGeom>
              <a:noFill/>
            </p:spPr>
            <p:txBody>
              <a:bodyPr wrap="square" rtlCol="0">
                <a:spAutoFit/>
              </a:bodyPr>
              <a:lstStyle/>
              <a:p>
                <a:endParaRPr lang="en-GB" sz="1050" i="1" dirty="0"/>
              </a:p>
              <a:p>
                <a:endParaRPr lang="en-GB" sz="1050" i="1" dirty="0"/>
              </a:p>
              <a:p>
                <a:r>
                  <a:rPr lang="en-GB" i="1" dirty="0"/>
                  <a:t>[MAT 2009 1J]</a:t>
                </a:r>
              </a:p>
              <a:p>
                <a:r>
                  <a:rPr lang="en-GB" dirty="0"/>
                  <a:t>The number of pairs of positive integers </a:t>
                </a:r>
                <a14:m>
                  <m:oMath xmlns:m="http://schemas.openxmlformats.org/officeDocument/2006/math">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𝑦</m:t>
                    </m:r>
                  </m:oMath>
                </a14:m>
                <a:r>
                  <a:rPr lang="en-GB" dirty="0"/>
                  <a:t> which solve the equation:</a:t>
                </a:r>
              </a:p>
              <a:p>
                <a:pPr/>
                <a14:m>
                  <m:oMathPara xmlns:m="http://schemas.openxmlformats.org/officeDocument/2006/math">
                    <m:oMathParaPr>
                      <m:jc m:val="centerGroup"/>
                    </m:oMathParaPr>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r>
                        <a:rPr lang="en-GB" i="1">
                          <a:latin typeface="Cambria Math" panose="02040503050406030204" pitchFamily="18" charset="0"/>
                        </a:rPr>
                        <m:t>+6</m:t>
                      </m:r>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𝑦</m:t>
                      </m:r>
                      <m:r>
                        <a:rPr lang="en-GB" i="1">
                          <a:latin typeface="Cambria Math" panose="02040503050406030204" pitchFamily="18" charset="0"/>
                        </a:rPr>
                        <m:t>+12</m:t>
                      </m:r>
                      <m:r>
                        <a:rPr lang="en-GB" i="1">
                          <a:latin typeface="Cambria Math" panose="02040503050406030204" pitchFamily="18" charset="0"/>
                        </a:rPr>
                        <m:t>𝑥</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2</m:t>
                          </m:r>
                        </m:sup>
                      </m:sSup>
                      <m:r>
                        <a:rPr lang="en-GB" i="1">
                          <a:latin typeface="Cambria Math" panose="02040503050406030204" pitchFamily="18" charset="0"/>
                        </a:rPr>
                        <m:t>+8</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3</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30</m:t>
                          </m:r>
                        </m:sup>
                      </m:sSup>
                    </m:oMath>
                  </m:oMathPara>
                </a14:m>
                <a:endParaRPr lang="en-GB" dirty="0"/>
              </a:p>
              <a:p>
                <a:r>
                  <a:rPr lang="en-GB" dirty="0"/>
                  <a:t>is:</a:t>
                </a:r>
              </a:p>
              <a:p>
                <a:pPr marL="342900" indent="-342900">
                  <a:buAutoNum type="alphaUcParenR"/>
                </a:pPr>
                <a:r>
                  <a:rPr lang="en-GB" dirty="0"/>
                  <a:t> 0 </a:t>
                </a:r>
              </a:p>
              <a:p>
                <a:pPr marL="342900" indent="-342900">
                  <a:buAutoNum type="alphaUcParenR"/>
                </a:pPr>
                <a:r>
                  <a:rPr lang="en-GB" dirty="0"/>
                  <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6</m:t>
                        </m:r>
                      </m:sup>
                    </m:sSup>
                  </m:oMath>
                </a14:m>
                <a:endParaRPr lang="en-GB" dirty="0"/>
              </a:p>
              <a:p>
                <a:pPr marL="342900" indent="-342900">
                  <a:buAutoNum type="alphaUcParenR"/>
                </a:pPr>
                <a:r>
                  <a:rPr lang="en-GB" dirty="0"/>
                  <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9</m:t>
                        </m:r>
                      </m:sup>
                    </m:sSup>
                    <m:r>
                      <a:rPr lang="en-GB" i="1">
                        <a:latin typeface="Cambria Math" panose="02040503050406030204" pitchFamily="18" charset="0"/>
                      </a:rPr>
                      <m:t>−1</m:t>
                    </m:r>
                  </m:oMath>
                </a14:m>
                <a:endParaRPr lang="en-GB" dirty="0"/>
              </a:p>
              <a:p>
                <a:pPr marL="342900" indent="-342900">
                  <a:buAutoNum type="alphaUcParenR"/>
                </a:pPr>
                <a:r>
                  <a:rPr lang="en-GB" dirty="0"/>
                  <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10</m:t>
                        </m:r>
                      </m:sup>
                    </m:sSup>
                    <m:r>
                      <a:rPr lang="en-GB" i="1">
                        <a:latin typeface="Cambria Math" panose="02040503050406030204" pitchFamily="18" charset="0"/>
                      </a:rPr>
                      <m:t>+2</m:t>
                    </m:r>
                  </m:oMath>
                </a14:m>
                <a:endParaRPr lang="en-GB" dirty="0"/>
              </a:p>
              <a:p>
                <a:pPr marL="342900" indent="-342900">
                  <a:buAutoNum type="alphaUcParenR"/>
                </a:pPr>
                <a:endParaRPr lang="en-GB" dirty="0"/>
              </a:p>
              <a:p>
                <a:r>
                  <a:rPr lang="en-GB" b="1" dirty="0"/>
                  <a:t>The LHS is the binomial expansion of </a:t>
                </a:r>
                <a14:m>
                  <m:oMath xmlns:m="http://schemas.openxmlformats.org/officeDocument/2006/math">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𝒚</m:t>
                            </m:r>
                          </m:e>
                        </m:d>
                      </m:e>
                      <m:sup>
                        <m:r>
                          <a:rPr lang="en-GB" b="1" i="1">
                            <a:latin typeface="Cambria Math" panose="02040503050406030204" pitchFamily="18" charset="0"/>
                          </a:rPr>
                          <m:t>𝟑</m:t>
                        </m:r>
                      </m:sup>
                    </m:sSup>
                  </m:oMath>
                </a14:m>
                <a:r>
                  <a:rPr lang="en-GB" b="1" dirty="0"/>
                  <a:t>, therefore:</a:t>
                </a:r>
              </a:p>
              <a:p>
                <a:pPr/>
                <a14:m>
                  <m:oMathPara xmlns:m="http://schemas.openxmlformats.org/officeDocument/2006/math">
                    <m:oMathParaPr>
                      <m:jc m:val="centerGroup"/>
                    </m:oMathParaPr>
                    <m:oMath xmlns:m="http://schemas.openxmlformats.org/officeDocument/2006/math">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𝒚</m:t>
                              </m:r>
                            </m:e>
                          </m:d>
                        </m:e>
                        <m:sup>
                          <m:r>
                            <a:rPr lang="en-GB" b="1" i="1">
                              <a:latin typeface="Cambria Math" panose="02040503050406030204" pitchFamily="18" charset="0"/>
                            </a:rPr>
                            <m:t>𝟑</m:t>
                          </m:r>
                        </m:sup>
                      </m:sSup>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a:latin typeface="Cambria Math" panose="02040503050406030204" pitchFamily="18" charset="0"/>
                            </a:rPr>
                            <m:t>𝟑𝟎</m:t>
                          </m:r>
                        </m:sup>
                      </m:sSup>
                    </m:oMath>
                    <m:oMath xmlns:m="http://schemas.openxmlformats.org/officeDocument/2006/math">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𝟐</m:t>
                      </m:r>
                      <m:r>
                        <a:rPr lang="en-GB" b="1" i="1">
                          <a:latin typeface="Cambria Math" panose="02040503050406030204" pitchFamily="18" charset="0"/>
                        </a:rPr>
                        <m:t>𝒚</m:t>
                      </m:r>
                      <m:r>
                        <a:rPr lang="en-GB" b="1" i="1">
                          <a:latin typeface="Cambria Math" panose="02040503050406030204" pitchFamily="18" charset="0"/>
                        </a:rPr>
                        <m:t>=</m:t>
                      </m:r>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a:latin typeface="Cambria Math" panose="02040503050406030204" pitchFamily="18" charset="0"/>
                            </a:rPr>
                            <m:t>𝟏𝟎</m:t>
                          </m:r>
                        </m:sup>
                      </m:sSup>
                    </m:oMath>
                    <m:oMath xmlns:m="http://schemas.openxmlformats.org/officeDocument/2006/math">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𝟐</m:t>
                      </m:r>
                      <m:d>
                        <m:dPr>
                          <m:ctrlPr>
                            <a:rPr lang="en-GB" b="1" i="1">
                              <a:latin typeface="Cambria Math" panose="02040503050406030204" pitchFamily="18" charset="0"/>
                            </a:rPr>
                          </m:ctrlPr>
                        </m:dPr>
                        <m:e>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a:latin typeface="Cambria Math" panose="02040503050406030204" pitchFamily="18" charset="0"/>
                                </a:rPr>
                                <m:t>𝟗</m:t>
                              </m:r>
                            </m:sup>
                          </m:sSup>
                          <m:r>
                            <a:rPr lang="en-GB" b="1" i="1">
                              <a:latin typeface="Cambria Math" panose="02040503050406030204" pitchFamily="18" charset="0"/>
                            </a:rPr>
                            <m:t>−</m:t>
                          </m:r>
                          <m:r>
                            <a:rPr lang="en-GB" b="1" i="1">
                              <a:latin typeface="Cambria Math" panose="02040503050406030204" pitchFamily="18" charset="0"/>
                            </a:rPr>
                            <m:t>𝒚</m:t>
                          </m:r>
                        </m:e>
                      </m:d>
                    </m:oMath>
                  </m:oMathPara>
                </a14:m>
                <a:endParaRPr lang="en-GB" b="1" dirty="0"/>
              </a:p>
              <a:p>
                <a:r>
                  <a:rPr lang="en-GB" b="1" dirty="0"/>
                  <a:t>In order for </a:t>
                </a:r>
                <a14:m>
                  <m:oMath xmlns:m="http://schemas.openxmlformats.org/officeDocument/2006/math">
                    <m:r>
                      <a:rPr lang="en-GB" b="1" i="1">
                        <a:latin typeface="Cambria Math" panose="02040503050406030204" pitchFamily="18" charset="0"/>
                      </a:rPr>
                      <m:t>𝒙</m:t>
                    </m:r>
                  </m:oMath>
                </a14:m>
                <a:r>
                  <a:rPr lang="en-GB" b="1" dirty="0"/>
                  <a:t> to be a positive integer, </a:t>
                </a:r>
                <a14:m>
                  <m:oMath xmlns:m="http://schemas.openxmlformats.org/officeDocument/2006/math">
                    <m:r>
                      <a:rPr lang="en-GB" b="1" i="1">
                        <a:latin typeface="Cambria Math" panose="02040503050406030204" pitchFamily="18" charset="0"/>
                      </a:rPr>
                      <m:t>𝒚</m:t>
                    </m:r>
                  </m:oMath>
                </a14:m>
                <a:r>
                  <a:rPr lang="en-GB" b="1" dirty="0"/>
                  <a:t> can be between 1 and </a:t>
                </a:r>
                <a14:m>
                  <m:oMath xmlns:m="http://schemas.openxmlformats.org/officeDocument/2006/math">
                    <m:sSup>
                      <m:sSupPr>
                        <m:ctrlPr>
                          <a:rPr lang="en-GB" b="1" i="1">
                            <a:latin typeface="Cambria Math" panose="02040503050406030204" pitchFamily="18" charset="0"/>
                          </a:rPr>
                        </m:ctrlPr>
                      </m:sSupPr>
                      <m:e>
                        <m:r>
                          <a:rPr lang="en-GB" b="1" i="1">
                            <a:latin typeface="Cambria Math" panose="02040503050406030204" pitchFamily="18" charset="0"/>
                          </a:rPr>
                          <m:t>𝟐</m:t>
                        </m:r>
                      </m:e>
                      <m:sup>
                        <m:r>
                          <a:rPr lang="en-GB" b="1" i="1">
                            <a:latin typeface="Cambria Math" panose="02040503050406030204" pitchFamily="18" charset="0"/>
                          </a:rPr>
                          <m:t>𝟗</m:t>
                        </m:r>
                      </m:sup>
                    </m:sSup>
                    <m:r>
                      <a:rPr lang="en-GB" b="1" i="1">
                        <a:latin typeface="Cambria Math" panose="02040503050406030204" pitchFamily="18" charset="0"/>
                      </a:rPr>
                      <m:t>−</m:t>
                    </m:r>
                    <m:r>
                      <a:rPr lang="en-GB" b="1" i="1">
                        <a:latin typeface="Cambria Math" panose="02040503050406030204" pitchFamily="18" charset="0"/>
                      </a:rPr>
                      <m:t>𝟏</m:t>
                    </m:r>
                  </m:oMath>
                </a14:m>
                <a:r>
                  <a:rPr lang="en-GB" b="1" dirty="0"/>
                  <a:t>. The answer is C.</a:t>
                </a:r>
              </a:p>
            </p:txBody>
          </p:sp>
        </mc:Choice>
        <mc:Fallback xmlns="">
          <p:sp>
            <p:nvSpPr>
              <p:cNvPr id="7" name="TextBox 6"/>
              <p:cNvSpPr txBox="1">
                <a:spLocks noRot="1" noChangeAspect="1" noMove="1" noResize="1" noEditPoints="1" noAdjustHandles="1" noChangeArrowheads="1" noChangeShapeType="1" noTextEdit="1"/>
              </p:cNvSpPr>
              <p:nvPr/>
            </p:nvSpPr>
            <p:spPr>
              <a:xfrm>
                <a:off x="1900477" y="548683"/>
                <a:ext cx="7272808" cy="4631011"/>
              </a:xfrm>
              <a:prstGeom prst="rect">
                <a:avLst/>
              </a:prstGeom>
              <a:blipFill>
                <a:blip r:embed="rId2"/>
                <a:stretch>
                  <a:fillRect l="-754" r="-503" b="-1053"/>
                </a:stretch>
              </a:blipFill>
            </p:spPr>
            <p:txBody>
              <a:bodyPr/>
              <a:lstStyle/>
              <a:p>
                <a:r>
                  <a:rPr lang="en-GB">
                    <a:noFill/>
                  </a:rPr>
                  <a:t> </a:t>
                </a:r>
              </a:p>
            </p:txBody>
          </p:sp>
        </mc:Fallback>
      </mc:AlternateContent>
      <p:sp>
        <p:nvSpPr>
          <p:cNvPr id="8" name="Rectangle 7"/>
          <p:cNvSpPr/>
          <p:nvPr/>
        </p:nvSpPr>
        <p:spPr>
          <a:xfrm>
            <a:off x="1628449" y="1105067"/>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9" name="Rectangle 8"/>
          <p:cNvSpPr/>
          <p:nvPr/>
        </p:nvSpPr>
        <p:spPr>
          <a:xfrm>
            <a:off x="1949190" y="3415310"/>
            <a:ext cx="7554421" cy="187980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85123326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9" grpId="0" animBg="1"/>
    </p:bldLst>
  </p:timing>
</p:sld>
</file>

<file path=ppt/c8/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524000" y="3"/>
            <a:ext cx="9143074" cy="599127"/>
            <a:chOff x="0" y="13335"/>
            <a:chExt cx="9144218" cy="599127"/>
          </a:xfrm>
        </p:grpSpPr>
        <p:sp>
          <p:nvSpPr>
            <p:cNvPr id="4"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Factorial and Choose Function</a:t>
              </a:r>
            </a:p>
          </p:txBody>
        </p:sp>
        <p:cxnSp>
          <p:nvCxnSpPr>
            <p:cNvPr id="5" name="Straight Connector 4"/>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6" name="TextBox 5"/>
              <p:cNvSpPr txBox="1"/>
              <p:nvPr/>
            </p:nvSpPr>
            <p:spPr>
              <a:xfrm>
                <a:off x="2245668" y="722536"/>
                <a:ext cx="7272808" cy="73866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latin typeface="Wingdings" panose="05000000000000000000" pitchFamily="2" charset="2"/>
                  </a:rPr>
                  <a:t>!</a:t>
                </a:r>
                <a:r>
                  <a:rPr lang="en-GB" dirty="0"/>
                  <a:t> </a:t>
                </a:r>
                <a14:m>
                  <m:oMath xmlns:m="http://schemas.openxmlformats.org/officeDocument/2006/math">
                    <m:r>
                      <a:rPr lang="en-GB" sz="2400" i="1">
                        <a:latin typeface="Cambria Math" panose="02040503050406030204" pitchFamily="18" charset="0"/>
                      </a:rPr>
                      <m:t>𝑛</m:t>
                    </m:r>
                    <m:r>
                      <a:rPr lang="en-GB" sz="2400" i="1">
                        <a:latin typeface="Cambria Math" panose="02040503050406030204" pitchFamily="18" charset="0"/>
                      </a:rPr>
                      <m:t>!=</m:t>
                    </m:r>
                    <m:r>
                      <a:rPr lang="en-GB" sz="2400" i="1">
                        <a:latin typeface="Cambria Math" panose="02040503050406030204" pitchFamily="18" charset="0"/>
                      </a:rPr>
                      <m:t>𝑛</m:t>
                    </m:r>
                    <m:r>
                      <a:rPr lang="en-GB" sz="2400" i="1">
                        <a:latin typeface="Cambria Math" panose="02040503050406030204" pitchFamily="18" charset="0"/>
                      </a:rPr>
                      <m:t>×</m:t>
                    </m:r>
                    <m:d>
                      <m:dPr>
                        <m:ctrlPr>
                          <a:rPr lang="en-GB" sz="2400" i="1">
                            <a:latin typeface="Cambria Math" panose="02040503050406030204" pitchFamily="18" charset="0"/>
                          </a:rPr>
                        </m:ctrlPr>
                      </m:dPr>
                      <m:e>
                        <m:r>
                          <a:rPr lang="en-GB" sz="2400" i="1">
                            <a:latin typeface="Cambria Math" panose="02040503050406030204" pitchFamily="18" charset="0"/>
                          </a:rPr>
                          <m:t>𝑛</m:t>
                        </m:r>
                        <m:r>
                          <a:rPr lang="en-GB" sz="2400" i="1">
                            <a:latin typeface="Cambria Math" panose="02040503050406030204" pitchFamily="18" charset="0"/>
                          </a:rPr>
                          <m:t>−1</m:t>
                        </m:r>
                      </m:e>
                    </m:d>
                    <m:r>
                      <a:rPr lang="en-GB" sz="2400" i="1">
                        <a:latin typeface="Cambria Math" panose="02040503050406030204" pitchFamily="18" charset="0"/>
                      </a:rPr>
                      <m:t>×</m:t>
                    </m:r>
                    <m:d>
                      <m:dPr>
                        <m:ctrlPr>
                          <a:rPr lang="en-GB" sz="2400" i="1">
                            <a:latin typeface="Cambria Math" panose="02040503050406030204" pitchFamily="18" charset="0"/>
                          </a:rPr>
                        </m:ctrlPr>
                      </m:dPr>
                      <m:e>
                        <m:r>
                          <a:rPr lang="en-GB" sz="2400" i="1">
                            <a:latin typeface="Cambria Math" panose="02040503050406030204" pitchFamily="18" charset="0"/>
                          </a:rPr>
                          <m:t>𝑛</m:t>
                        </m:r>
                        <m:r>
                          <a:rPr lang="en-GB" sz="2400" i="1">
                            <a:latin typeface="Cambria Math" panose="02040503050406030204" pitchFamily="18" charset="0"/>
                          </a:rPr>
                          <m:t>−2</m:t>
                        </m:r>
                      </m:e>
                    </m:d>
                    <m:r>
                      <a:rPr lang="en-GB" sz="2400" i="1">
                        <a:latin typeface="Cambria Math" panose="02040503050406030204" pitchFamily="18" charset="0"/>
                      </a:rPr>
                      <m:t>×…×2×1</m:t>
                    </m:r>
                  </m:oMath>
                </a14:m>
                <a:br>
                  <a:rPr lang="en-GB" dirty="0"/>
                </a:br>
                <a:r>
                  <a:rPr lang="en-GB" dirty="0"/>
                  <a:t>said “</a:t>
                </a:r>
                <a14:m>
                  <m:oMath xmlns:m="http://schemas.openxmlformats.org/officeDocument/2006/math">
                    <m:r>
                      <a:rPr lang="en-GB" i="1">
                        <a:latin typeface="Cambria Math" panose="02040503050406030204" pitchFamily="18" charset="0"/>
                      </a:rPr>
                      <m:t>𝑛</m:t>
                    </m:r>
                  </m:oMath>
                </a14:m>
                <a:r>
                  <a:rPr lang="en-GB" dirty="0"/>
                  <a:t> factorial”, is the number of ways of arranging </a:t>
                </a:r>
                <a14:m>
                  <m:oMath xmlns:m="http://schemas.openxmlformats.org/officeDocument/2006/math">
                    <m:r>
                      <a:rPr lang="en-GB" i="1">
                        <a:latin typeface="Cambria Math" panose="02040503050406030204" pitchFamily="18" charset="0"/>
                      </a:rPr>
                      <m:t>𝑛</m:t>
                    </m:r>
                  </m:oMath>
                </a14:m>
                <a:r>
                  <a:rPr lang="en-GB" dirty="0"/>
                  <a:t> objects in a line.</a:t>
                </a:r>
              </a:p>
            </p:txBody>
          </p:sp>
        </mc:Choice>
        <mc:Fallback xmlns="">
          <p:sp>
            <p:nvSpPr>
              <p:cNvPr id="6" name="TextBox 5"/>
              <p:cNvSpPr txBox="1">
                <a:spLocks noRot="1" noChangeAspect="1" noMove="1" noResize="1" noEditPoints="1" noAdjustHandles="1" noChangeArrowheads="1" noChangeShapeType="1" noTextEdit="1"/>
              </p:cNvSpPr>
              <p:nvPr/>
            </p:nvSpPr>
            <p:spPr>
              <a:xfrm>
                <a:off x="2245668" y="722536"/>
                <a:ext cx="7272808" cy="738664"/>
              </a:xfrm>
              <a:prstGeom prst="rect">
                <a:avLst/>
              </a:prstGeom>
              <a:blipFill>
                <a:blip r:embed="rId2"/>
                <a:stretch>
                  <a:fillRect l="-501" b="-104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626668" y="1527448"/>
                <a:ext cx="6840760" cy="2123658"/>
              </a:xfrm>
              <a:prstGeom prst="rect">
                <a:avLst/>
              </a:prstGeom>
              <a:noFill/>
            </p:spPr>
            <p:txBody>
              <a:bodyPr wrap="square" rtlCol="0">
                <a:spAutoFit/>
              </a:bodyPr>
              <a:lstStyle/>
              <a:p>
                <a:r>
                  <a:rPr lang="en-GB" sz="1600" dirty="0"/>
                  <a:t>For example, suppose you had three letters, A, B and C, and wanted to arrange them in a line to form a ‘word’, e.g. ACB or BAC.</a:t>
                </a:r>
              </a:p>
              <a:p>
                <a:pPr marL="285750" indent="-285750">
                  <a:buFont typeface="Arial" panose="020B0604020202020204" pitchFamily="34" charset="0"/>
                  <a:buChar char="•"/>
                </a:pPr>
                <a:r>
                  <a:rPr lang="en-GB" sz="1600" dirty="0"/>
                  <a:t>There are 3 choices for the first letter.</a:t>
                </a:r>
              </a:p>
              <a:p>
                <a:pPr marL="285750" indent="-285750">
                  <a:buFont typeface="Arial" panose="020B0604020202020204" pitchFamily="34" charset="0"/>
                  <a:buChar char="•"/>
                </a:pPr>
                <a:r>
                  <a:rPr lang="en-GB" sz="1600" dirty="0"/>
                  <a:t>There are then 2 choices left for the second letter.</a:t>
                </a:r>
              </a:p>
              <a:p>
                <a:pPr marL="285750" indent="-285750">
                  <a:buFont typeface="Arial" panose="020B0604020202020204" pitchFamily="34" charset="0"/>
                  <a:buChar char="•"/>
                </a:pPr>
                <a:r>
                  <a:rPr lang="en-GB" sz="1600" dirty="0"/>
                  <a:t>There is then only 1 choice left for the last letter.</a:t>
                </a:r>
              </a:p>
              <a:p>
                <a:pPr marL="285750" indent="-285750">
                  <a:buFont typeface="Arial" panose="020B0604020202020204" pitchFamily="34" charset="0"/>
                  <a:buChar char="•"/>
                </a:pPr>
                <a:endParaRPr lang="en-GB" sz="1600" dirty="0"/>
              </a:p>
              <a:p>
                <a:r>
                  <a:rPr lang="en-GB" sz="1600" dirty="0"/>
                  <a:t>There are therefore </a:t>
                </a:r>
                <a14:m>
                  <m:oMath xmlns:m="http://schemas.openxmlformats.org/officeDocument/2006/math">
                    <m:r>
                      <a:rPr lang="en-GB" sz="1600" i="1">
                        <a:latin typeface="Cambria Math" panose="02040503050406030204" pitchFamily="18" charset="0"/>
                      </a:rPr>
                      <m:t>3×2×1=3!=6</m:t>
                    </m:r>
                  </m:oMath>
                </a14:m>
                <a:r>
                  <a:rPr lang="en-GB" sz="1600" dirty="0"/>
                  <a:t> possible combinations.</a:t>
                </a:r>
              </a:p>
              <a:p>
                <a:r>
                  <a:rPr lang="en-GB" sz="1600" b="1" dirty="0"/>
                  <a:t>Your calculator can calculate a factorial using the </a:t>
                </a:r>
                <a14:m>
                  <m:oMath xmlns:m="http://schemas.openxmlformats.org/officeDocument/2006/math">
                    <m:r>
                      <a:rPr lang="en-GB" sz="1600" b="1" i="1">
                        <a:latin typeface="Cambria Math" panose="02040503050406030204" pitchFamily="18" charset="0"/>
                      </a:rPr>
                      <m:t>𝒙</m:t>
                    </m:r>
                    <m:r>
                      <a:rPr lang="en-GB" sz="1600" b="1" i="1">
                        <a:latin typeface="Cambria Math" panose="02040503050406030204" pitchFamily="18" charset="0"/>
                      </a:rPr>
                      <m:t>!</m:t>
                    </m:r>
                  </m:oMath>
                </a14:m>
                <a:r>
                  <a:rPr lang="en-GB" sz="1600" b="1" dirty="0"/>
                  <a:t> button.</a:t>
                </a:r>
              </a:p>
            </p:txBody>
          </p:sp>
        </mc:Choice>
        <mc:Fallback xmlns="">
          <p:sp>
            <p:nvSpPr>
              <p:cNvPr id="7" name="TextBox 6"/>
              <p:cNvSpPr txBox="1">
                <a:spLocks noRot="1" noChangeAspect="1" noMove="1" noResize="1" noEditPoints="1" noAdjustHandles="1" noChangeArrowheads="1" noChangeShapeType="1" noTextEdit="1"/>
              </p:cNvSpPr>
              <p:nvPr/>
            </p:nvSpPr>
            <p:spPr>
              <a:xfrm>
                <a:off x="2626668" y="1527448"/>
                <a:ext cx="6840760" cy="2123658"/>
              </a:xfrm>
              <a:prstGeom prst="rect">
                <a:avLst/>
              </a:prstGeom>
              <a:blipFill>
                <a:blip r:embed="rId3"/>
                <a:stretch>
                  <a:fillRect l="-535" t="-8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271705" y="3673693"/>
                <a:ext cx="7272808" cy="150483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latin typeface="Wingdings" panose="05000000000000000000" pitchFamily="2" charset="2"/>
                  </a:rPr>
                  <a:t>!</a:t>
                </a:r>
                <a:r>
                  <a:rPr lang="en-GB" dirty="0"/>
                  <a:t> </a:t>
                </a:r>
                <a14:m>
                  <m:oMath xmlns:m="http://schemas.openxmlformats.org/officeDocument/2006/math">
                    <m:r>
                      <a:rPr lang="en-GB" sz="2400" i="1" baseline="30000">
                        <a:latin typeface="Cambria Math" panose="02040503050406030204" pitchFamily="18" charset="0"/>
                      </a:rPr>
                      <m:t>𝑛</m:t>
                    </m:r>
                    <m:r>
                      <a:rPr lang="en-GB" sz="2400" i="1">
                        <a:latin typeface="Cambria Math" panose="02040503050406030204" pitchFamily="18" charset="0"/>
                      </a:rPr>
                      <m:t>𝐶𝑟</m:t>
                    </m:r>
                    <m:r>
                      <a:rPr lang="en-GB" sz="2400" i="1">
                        <a:latin typeface="Cambria Math" panose="02040503050406030204" pitchFamily="18" charset="0"/>
                      </a:rPr>
                      <m:t>=</m:t>
                    </m:r>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𝑛</m:t>
                              </m:r>
                            </m:e>
                          </m:mr>
                          <m:mr>
                            <m:e>
                              <m:r>
                                <a:rPr lang="en-GB" sz="2400" i="1">
                                  <a:latin typeface="Cambria Math" panose="02040503050406030204" pitchFamily="18" charset="0"/>
                                </a:rPr>
                                <m:t>𝑟</m:t>
                              </m:r>
                            </m:e>
                          </m:mr>
                        </m:m>
                      </m:e>
                    </m:d>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𝑛</m:t>
                        </m:r>
                        <m:r>
                          <a:rPr lang="en-GB" sz="2400" i="1">
                            <a:latin typeface="Cambria Math" panose="02040503050406030204" pitchFamily="18" charset="0"/>
                          </a:rPr>
                          <m:t>!</m:t>
                        </m:r>
                      </m:num>
                      <m:den>
                        <m:r>
                          <a:rPr lang="en-GB" sz="2400" i="1">
                            <a:latin typeface="Cambria Math" panose="02040503050406030204" pitchFamily="18" charset="0"/>
                          </a:rPr>
                          <m:t>𝑟</m:t>
                        </m:r>
                        <m:r>
                          <a:rPr lang="en-GB" sz="2400" i="1">
                            <a:latin typeface="Cambria Math" panose="02040503050406030204" pitchFamily="18" charset="0"/>
                          </a:rPr>
                          <m:t>!</m:t>
                        </m:r>
                        <m:d>
                          <m:dPr>
                            <m:ctrlPr>
                              <a:rPr lang="en-GB" sz="2400" i="1">
                                <a:latin typeface="Cambria Math" panose="02040503050406030204" pitchFamily="18" charset="0"/>
                              </a:rPr>
                            </m:ctrlPr>
                          </m:dPr>
                          <m:e>
                            <m:r>
                              <a:rPr lang="en-GB" sz="2400" i="1">
                                <a:latin typeface="Cambria Math" panose="02040503050406030204" pitchFamily="18" charset="0"/>
                              </a:rPr>
                              <m:t>𝑛</m:t>
                            </m:r>
                            <m:r>
                              <a:rPr lang="en-GB" sz="2400" i="1">
                                <a:latin typeface="Cambria Math" panose="02040503050406030204" pitchFamily="18" charset="0"/>
                              </a:rPr>
                              <m:t>−</m:t>
                            </m:r>
                            <m:r>
                              <a:rPr lang="en-GB" sz="2400" i="1">
                                <a:latin typeface="Cambria Math" panose="02040503050406030204" pitchFamily="18" charset="0"/>
                              </a:rPr>
                              <m:t>𝑟</m:t>
                            </m:r>
                          </m:e>
                        </m:d>
                        <m:r>
                          <a:rPr lang="en-GB" sz="2400" i="1">
                            <a:latin typeface="Cambria Math" panose="02040503050406030204" pitchFamily="18" charset="0"/>
                          </a:rPr>
                          <m:t>!</m:t>
                        </m:r>
                      </m:den>
                    </m:f>
                  </m:oMath>
                </a14:m>
                <a:br>
                  <a:rPr lang="en-GB" dirty="0"/>
                </a:br>
                <a:r>
                  <a:rPr lang="en-GB" dirty="0"/>
                  <a:t>said “</a:t>
                </a:r>
                <a14:m>
                  <m:oMath xmlns:m="http://schemas.openxmlformats.org/officeDocument/2006/math">
                    <m:r>
                      <a:rPr lang="en-GB" i="1">
                        <a:latin typeface="Cambria Math" panose="02040503050406030204" pitchFamily="18" charset="0"/>
                      </a:rPr>
                      <m:t>𝑛</m:t>
                    </m:r>
                  </m:oMath>
                </a14:m>
                <a:r>
                  <a:rPr lang="en-GB" dirty="0"/>
                  <a:t> choose </a:t>
                </a:r>
                <a14:m>
                  <m:oMath xmlns:m="http://schemas.openxmlformats.org/officeDocument/2006/math">
                    <m:r>
                      <a:rPr lang="en-GB" i="1">
                        <a:latin typeface="Cambria Math" panose="02040503050406030204" pitchFamily="18" charset="0"/>
                      </a:rPr>
                      <m:t>𝑟</m:t>
                    </m:r>
                  </m:oMath>
                </a14:m>
                <a:r>
                  <a:rPr lang="en-GB" dirty="0"/>
                  <a:t>”, is the number of ways of ‘choosing’ </a:t>
                </a:r>
                <a14:m>
                  <m:oMath xmlns:m="http://schemas.openxmlformats.org/officeDocument/2006/math">
                    <m:r>
                      <a:rPr lang="en-GB" i="1">
                        <a:latin typeface="Cambria Math" panose="02040503050406030204" pitchFamily="18" charset="0"/>
                      </a:rPr>
                      <m:t>𝑟</m:t>
                    </m:r>
                  </m:oMath>
                </a14:m>
                <a:r>
                  <a:rPr lang="en-GB" dirty="0"/>
                  <a:t> things from </a:t>
                </a:r>
                <a14:m>
                  <m:oMath xmlns:m="http://schemas.openxmlformats.org/officeDocument/2006/math">
                    <m:r>
                      <a:rPr lang="en-GB" i="1">
                        <a:latin typeface="Cambria Math" panose="02040503050406030204" pitchFamily="18" charset="0"/>
                      </a:rPr>
                      <m:t>𝑛</m:t>
                    </m:r>
                  </m:oMath>
                </a14:m>
                <a:r>
                  <a:rPr lang="en-GB" dirty="0"/>
                  <a:t>, such that the order in our selection does not matter.</a:t>
                </a:r>
              </a:p>
              <a:p>
                <a:r>
                  <a:rPr lang="en-GB" dirty="0"/>
                  <a:t>These are also known as </a:t>
                </a:r>
                <a:r>
                  <a:rPr lang="en-GB" b="1" u="sng" dirty="0"/>
                  <a:t>binomial coefficients</a:t>
                </a:r>
                <a:r>
                  <a:rPr lang="en-GB" dirty="0"/>
                  <a:t>.</a:t>
                </a:r>
              </a:p>
            </p:txBody>
          </p:sp>
        </mc:Choice>
        <mc:Fallback xmlns="">
          <p:sp>
            <p:nvSpPr>
              <p:cNvPr id="8" name="TextBox 7"/>
              <p:cNvSpPr txBox="1">
                <a:spLocks noRot="1" noChangeAspect="1" noMove="1" noResize="1" noEditPoints="1" noAdjustHandles="1" noChangeArrowheads="1" noChangeShapeType="1" noTextEdit="1"/>
              </p:cNvSpPr>
              <p:nvPr/>
            </p:nvSpPr>
            <p:spPr>
              <a:xfrm>
                <a:off x="2271705" y="3673693"/>
                <a:ext cx="7272808" cy="1504836"/>
              </a:xfrm>
              <a:prstGeom prst="rect">
                <a:avLst/>
              </a:prstGeom>
              <a:blipFill>
                <a:blip r:embed="rId4"/>
                <a:stretch>
                  <a:fillRect l="-585" r="-167" b="-52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559224" y="5318472"/>
                <a:ext cx="7321376" cy="1402820"/>
              </a:xfrm>
              <a:prstGeom prst="rect">
                <a:avLst/>
              </a:prstGeom>
              <a:noFill/>
            </p:spPr>
            <p:txBody>
              <a:bodyPr wrap="square" rtlCol="0">
                <a:spAutoFit/>
              </a:bodyPr>
              <a:lstStyle/>
              <a:p>
                <a:r>
                  <a:rPr lang="en-GB" sz="1600" dirty="0"/>
                  <a:t>For example, if you a football team captain and need to choose 4 people from amongst 10 in your class, there are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10</m:t>
                              </m:r>
                            </m:e>
                          </m:mr>
                          <m:mr>
                            <m:e>
                              <m:r>
                                <a:rPr lang="en-GB" sz="1600" i="1">
                                  <a:latin typeface="Cambria Math" panose="02040503050406030204" pitchFamily="18" charset="0"/>
                                </a:rPr>
                                <m:t>4</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10!</m:t>
                        </m:r>
                      </m:num>
                      <m:den>
                        <m:r>
                          <a:rPr lang="en-GB" sz="1600" i="1">
                            <a:latin typeface="Cambria Math" panose="02040503050406030204" pitchFamily="18" charset="0"/>
                          </a:rPr>
                          <m:t>4!6! </m:t>
                        </m:r>
                      </m:den>
                    </m:f>
                    <m:r>
                      <a:rPr lang="en-GB" sz="1600" i="1">
                        <a:latin typeface="Cambria Math" panose="02040503050406030204" pitchFamily="18" charset="0"/>
                      </a:rPr>
                      <m:t>=210</m:t>
                    </m:r>
                  </m:oMath>
                </a14:m>
                <a:r>
                  <a:rPr lang="en-GB" sz="1600" dirty="0"/>
                  <a:t> possible selections. </a:t>
                </a:r>
              </a:p>
              <a:p>
                <a:r>
                  <a:rPr lang="en-GB" sz="1600" i="1" dirty="0"/>
                  <a:t>(Note: the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10</m:t>
                              </m:r>
                            </m:e>
                          </m:mr>
                          <m:mr>
                            <m:e>
                              <m:r>
                                <a:rPr lang="en-GB" sz="1600" i="1">
                                  <a:latin typeface="Cambria Math" panose="02040503050406030204" pitchFamily="18" charset="0"/>
                                </a:rPr>
                                <m:t>4</m:t>
                              </m:r>
                            </m:e>
                          </m:mr>
                        </m:m>
                      </m:e>
                    </m:d>
                  </m:oMath>
                </a14:m>
                <a:r>
                  <a:rPr lang="en-GB" sz="1600" i="1" dirty="0"/>
                  <a:t> notation is preferable to </a:t>
                </a:r>
                <a14:m>
                  <m:oMath xmlns:m="http://schemas.openxmlformats.org/officeDocument/2006/math">
                    <m:r>
                      <a:rPr lang="en-GB" sz="1600" i="1" baseline="30000">
                        <a:latin typeface="Cambria Math" panose="02040503050406030204" pitchFamily="18" charset="0"/>
                      </a:rPr>
                      <m:t>10</m:t>
                    </m:r>
                    <m:r>
                      <a:rPr lang="en-GB" sz="1600" i="1">
                        <a:latin typeface="Cambria Math" panose="02040503050406030204" pitchFamily="18" charset="0"/>
                      </a:rPr>
                      <m:t>𝐶</m:t>
                    </m:r>
                    <m:r>
                      <a:rPr lang="en-GB" sz="1600" i="1" baseline="-25000">
                        <a:latin typeface="Cambria Math" panose="02040503050406030204" pitchFamily="18" charset="0"/>
                      </a:rPr>
                      <m:t>4</m:t>
                    </m:r>
                  </m:oMath>
                </a14:m>
                <a:r>
                  <a:rPr lang="en-GB" sz="1600" i="1" dirty="0"/>
                  <a:t>)</a:t>
                </a:r>
              </a:p>
              <a:p>
                <a:r>
                  <a:rPr lang="en-GB" sz="1600" b="1" dirty="0"/>
                  <a:t>Use the </a:t>
                </a:r>
                <a14:m>
                  <m:oMath xmlns:m="http://schemas.openxmlformats.org/officeDocument/2006/math">
                    <m:r>
                      <a:rPr lang="en-GB" sz="1600" b="1" i="1">
                        <a:latin typeface="Cambria Math" panose="02040503050406030204" pitchFamily="18" charset="0"/>
                      </a:rPr>
                      <m:t>𝒏𝑪𝒓</m:t>
                    </m:r>
                  </m:oMath>
                </a14:m>
                <a:r>
                  <a:rPr lang="en-GB" sz="1600" b="1" dirty="0"/>
                  <a:t> button on your calculator (your calculator input should display “10C4”)</a:t>
                </a:r>
                <a:endParaRPr lang="en-GB" b="1" dirty="0"/>
              </a:p>
            </p:txBody>
          </p:sp>
        </mc:Choice>
        <mc:Fallback xmlns="">
          <p:sp>
            <p:nvSpPr>
              <p:cNvPr id="9" name="TextBox 8"/>
              <p:cNvSpPr txBox="1">
                <a:spLocks noRot="1" noChangeAspect="1" noMove="1" noResize="1" noEditPoints="1" noAdjustHandles="1" noChangeArrowheads="1" noChangeShapeType="1" noTextEdit="1"/>
              </p:cNvSpPr>
              <p:nvPr/>
            </p:nvSpPr>
            <p:spPr>
              <a:xfrm>
                <a:off x="2559224" y="5318472"/>
                <a:ext cx="7321376" cy="1402820"/>
              </a:xfrm>
              <a:prstGeom prst="rect">
                <a:avLst/>
              </a:prstGeom>
              <a:blipFill>
                <a:blip r:embed="rId5"/>
                <a:stretch>
                  <a:fillRect l="-500" t="-1299" b="-4329"/>
                </a:stretch>
              </a:blipFill>
            </p:spPr>
            <p:txBody>
              <a:bodyPr/>
              <a:lstStyle/>
              <a:p>
                <a:r>
                  <a:rPr lang="en-GB">
                    <a:noFill/>
                  </a:rPr>
                  <a:t> </a:t>
                </a:r>
              </a:p>
            </p:txBody>
          </p:sp>
        </mc:Fallback>
      </mc:AlternateContent>
    </p:spTree>
    <p:extLst>
      <p:ext uri="{BB962C8B-B14F-4D97-AF65-F5344CB8AC3E}">
        <p14:creationId xmlns:p14="http://schemas.microsoft.com/office/powerpoint/2010/main" val="282262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Lst>
  </p:timing>
</p:sld>
</file>

<file path=ppt/c8/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6" name="TextBox 5"/>
              <p:cNvSpPr txBox="1"/>
              <p:nvPr/>
            </p:nvSpPr>
            <p:spPr>
              <a:xfrm>
                <a:off x="1940744" y="828328"/>
                <a:ext cx="2770956" cy="575946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Calculate the value of the following. You may use the factorial button, but not the </a:t>
                </a:r>
                <a:r>
                  <a:rPr lang="en-GB" sz="2400" dirty="0" err="1"/>
                  <a:t>nCr</a:t>
                </a:r>
                <a:r>
                  <a:rPr lang="en-GB" sz="2400" dirty="0"/>
                  <a:t> button.</a:t>
                </a:r>
              </a:p>
              <a:p>
                <a:pPr marL="457200" indent="-457200">
                  <a:buAutoNum type="alphaLcParenR"/>
                </a:pPr>
                <a:r>
                  <a:rPr lang="en-GB" sz="2400" dirty="0"/>
                  <a:t> </a:t>
                </a:r>
                <a14:m>
                  <m:oMath xmlns:m="http://schemas.openxmlformats.org/officeDocument/2006/math">
                    <m:r>
                      <a:rPr lang="en-GB" sz="2400" i="1">
                        <a:latin typeface="Cambria Math" panose="02040503050406030204" pitchFamily="18" charset="0"/>
                      </a:rPr>
                      <m:t>5!</m:t>
                    </m:r>
                  </m:oMath>
                </a14:m>
                <a:endParaRPr lang="en-GB" sz="2400" dirty="0"/>
              </a:p>
              <a:p>
                <a:pPr marL="457200" indent="-457200">
                  <a:buAutoNum type="alphaLcParenR"/>
                </a:pPr>
                <a:r>
                  <a:rPr lang="en-GB" sz="2400" dirty="0"/>
                  <a:t> </a:t>
                </a:r>
                <a14:m>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5</m:t>
                              </m:r>
                            </m:e>
                          </m:mr>
                          <m:mr>
                            <m:e>
                              <m:r>
                                <a:rPr lang="en-GB" sz="2400" i="1">
                                  <a:latin typeface="Cambria Math" panose="02040503050406030204" pitchFamily="18" charset="0"/>
                                </a:rPr>
                                <m:t>3</m:t>
                              </m:r>
                            </m:e>
                          </m:mr>
                        </m:m>
                      </m:e>
                    </m:d>
                  </m:oMath>
                </a14:m>
                <a:endParaRPr lang="en-GB" sz="2400" dirty="0"/>
              </a:p>
              <a:p>
                <a:pPr marL="457200" indent="-457200">
                  <a:buAutoNum type="alphaLcParenR"/>
                </a:pPr>
                <a:r>
                  <a:rPr lang="en-GB" sz="2400" dirty="0"/>
                  <a:t> </a:t>
                </a:r>
                <a14:m>
                  <m:oMath xmlns:m="http://schemas.openxmlformats.org/officeDocument/2006/math">
                    <m:r>
                      <a:rPr lang="en-GB" sz="2400" i="1">
                        <a:latin typeface="Cambria Math" panose="02040503050406030204" pitchFamily="18" charset="0"/>
                      </a:rPr>
                      <m:t>0!</m:t>
                    </m:r>
                  </m:oMath>
                </a14:m>
                <a:endParaRPr lang="en-GB" sz="2400" dirty="0"/>
              </a:p>
              <a:p>
                <a:pPr marL="457200" indent="-457200">
                  <a:buAutoNum type="alphaLcParenR"/>
                </a:pPr>
                <a:r>
                  <a:rPr lang="en-GB" sz="2400" dirty="0"/>
                  <a:t> </a:t>
                </a:r>
                <a14:m>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20</m:t>
                              </m:r>
                            </m:e>
                          </m:mr>
                          <m:mr>
                            <m:e>
                              <m:r>
                                <a:rPr lang="en-GB" sz="2400" i="1">
                                  <a:latin typeface="Cambria Math" panose="02040503050406030204" pitchFamily="18" charset="0"/>
                                </a:rPr>
                                <m:t>1</m:t>
                              </m:r>
                            </m:e>
                          </m:mr>
                        </m:m>
                      </m:e>
                    </m:d>
                  </m:oMath>
                </a14:m>
                <a:endParaRPr lang="en-GB" sz="2400" dirty="0"/>
              </a:p>
              <a:p>
                <a:pPr marL="457200" indent="-457200">
                  <a:buAutoNum type="alphaLcParenR"/>
                </a:pPr>
                <a:r>
                  <a:rPr lang="en-GB" sz="2400" dirty="0"/>
                  <a:t> </a:t>
                </a:r>
                <a14:m>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20</m:t>
                              </m:r>
                            </m:e>
                          </m:mr>
                          <m:mr>
                            <m:e>
                              <m:r>
                                <a:rPr lang="en-GB" sz="2400" i="1">
                                  <a:latin typeface="Cambria Math" panose="02040503050406030204" pitchFamily="18" charset="0"/>
                                </a:rPr>
                                <m:t>0</m:t>
                              </m:r>
                            </m:e>
                          </m:mr>
                        </m:m>
                      </m:e>
                    </m:d>
                  </m:oMath>
                </a14:m>
                <a:endParaRPr lang="en-GB" sz="2400" dirty="0"/>
              </a:p>
              <a:p>
                <a:pPr marL="457200" indent="-457200">
                  <a:buAutoNum type="alphaLcParenR"/>
                </a:pPr>
                <a:r>
                  <a:rPr lang="en-GB" sz="2400" dirty="0"/>
                  <a:t> </a:t>
                </a:r>
                <a14:m>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20</m:t>
                              </m:r>
                            </m:e>
                          </m:mr>
                          <m:mr>
                            <m:e>
                              <m:r>
                                <a:rPr lang="en-GB" sz="2400" i="1">
                                  <a:latin typeface="Cambria Math" panose="02040503050406030204" pitchFamily="18" charset="0"/>
                                </a:rPr>
                                <m:t>2</m:t>
                              </m:r>
                            </m:e>
                          </m:mr>
                        </m:m>
                      </m:e>
                    </m:d>
                  </m:oMath>
                </a14:m>
                <a:endParaRPr lang="en-GB" sz="2400" dirty="0"/>
              </a:p>
              <a:p>
                <a:pPr marL="457200" indent="-457200">
                  <a:buAutoNum type="alphaLcParenR"/>
                </a:pPr>
                <a:r>
                  <a:rPr lang="en-GB" sz="2400" dirty="0"/>
                  <a:t> </a:t>
                </a:r>
                <a14:m>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20</m:t>
                              </m:r>
                            </m:e>
                          </m:mr>
                          <m:mr>
                            <m:e>
                              <m:r>
                                <a:rPr lang="en-GB" sz="2400" i="1">
                                  <a:latin typeface="Cambria Math" panose="02040503050406030204" pitchFamily="18" charset="0"/>
                                </a:rPr>
                                <m:t>18</m:t>
                              </m:r>
                            </m:e>
                          </m:mr>
                        </m:m>
                      </m:e>
                    </m:d>
                  </m:oMath>
                </a14:m>
                <a:endParaRPr lang="en-GB"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1940744" y="828328"/>
                <a:ext cx="2770956" cy="5759462"/>
              </a:xfrm>
              <a:prstGeom prst="rect">
                <a:avLst/>
              </a:prstGeom>
              <a:blipFill>
                <a:blip r:embed="rId2"/>
                <a:stretch>
                  <a:fillRect l="-206" r="-226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087888" y="675931"/>
                <a:ext cx="5389612" cy="651825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1600" i="1">
                          <a:latin typeface="Cambria Math" panose="02040503050406030204" pitchFamily="18" charset="0"/>
                        </a:rPr>
                        <m:t>5!=5×4×3×2×1=120</m:t>
                      </m:r>
                    </m:oMath>
                  </m:oMathPara>
                </a14:m>
                <a:endParaRPr lang="en-GB" sz="1600" dirty="0"/>
              </a:p>
              <a:p>
                <a:endParaRPr lang="en-GB" sz="800" dirty="0"/>
              </a:p>
              <a:p>
                <a:pPr/>
                <a14:m>
                  <m:oMathPara xmlns:m="http://schemas.openxmlformats.org/officeDocument/2006/math">
                    <m:oMathParaPr>
                      <m:jc m:val="left"/>
                    </m:oMathParaPr>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5</m:t>
                                </m:r>
                              </m:e>
                            </m:mr>
                            <m:mr>
                              <m:e>
                                <m:r>
                                  <a:rPr lang="en-GB" sz="1600" i="1">
                                    <a:latin typeface="Cambria Math" panose="02040503050406030204" pitchFamily="18" charset="0"/>
                                  </a:rPr>
                                  <m:t>3</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5!</m:t>
                          </m:r>
                        </m:num>
                        <m:den>
                          <m:r>
                            <a:rPr lang="en-GB" sz="1600" i="1">
                              <a:latin typeface="Cambria Math" panose="02040503050406030204" pitchFamily="18" charset="0"/>
                            </a:rPr>
                            <m:t>3!2!</m:t>
                          </m:r>
                        </m:den>
                      </m:f>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120</m:t>
                          </m:r>
                        </m:num>
                        <m:den>
                          <m:r>
                            <a:rPr lang="en-GB" sz="1600" i="1">
                              <a:latin typeface="Cambria Math" panose="02040503050406030204" pitchFamily="18" charset="0"/>
                            </a:rPr>
                            <m:t>6×2</m:t>
                          </m:r>
                        </m:den>
                      </m:f>
                      <m:r>
                        <a:rPr lang="en-GB" sz="1600" i="1">
                          <a:latin typeface="Cambria Math" panose="02040503050406030204" pitchFamily="18" charset="0"/>
                        </a:rPr>
                        <m:t>=10</m:t>
                      </m:r>
                    </m:oMath>
                  </m:oMathPara>
                </a14:m>
                <a:endParaRPr lang="en-GB" sz="1600" dirty="0"/>
              </a:p>
              <a:p>
                <a:endParaRPr lang="en-GB" sz="1100" dirty="0"/>
              </a:p>
              <a:p>
                <a14:m>
                  <m:oMath xmlns:m="http://schemas.openxmlformats.org/officeDocument/2006/math">
                    <m:r>
                      <a:rPr lang="en-GB" sz="1600" i="1">
                        <a:latin typeface="Cambria Math" panose="02040503050406030204" pitchFamily="18" charset="0"/>
                      </a:rPr>
                      <m:t>0!=1</m:t>
                    </m:r>
                  </m:oMath>
                </a14:m>
                <a:r>
                  <a:rPr lang="en-GB" sz="1600" dirty="0"/>
                  <a:t>. Accept this for the moment, but all will be explained in part (e).</a:t>
                </a:r>
              </a:p>
              <a:p>
                <a:endParaRPr lang="en-GB" sz="1050" dirty="0"/>
              </a:p>
              <a:p>
                <a:r>
                  <a:rPr lang="en-GB" sz="1600" dirty="0"/>
                  <a:t>Conceptually, there is clearly 20 ways to choose 1 thing from 20. But using the formula: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20</m:t>
                              </m:r>
                            </m:e>
                          </m:mr>
                          <m:mr>
                            <m:e>
                              <m:r>
                                <a:rPr lang="en-GB" sz="1600" i="1">
                                  <a:latin typeface="Cambria Math" panose="02040503050406030204" pitchFamily="18" charset="0"/>
                                </a:rPr>
                                <m:t>1</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20!</m:t>
                        </m:r>
                      </m:num>
                      <m:den>
                        <m:r>
                          <a:rPr lang="en-GB" sz="1600" i="1">
                            <a:latin typeface="Cambria Math" panose="02040503050406030204" pitchFamily="18" charset="0"/>
                          </a:rPr>
                          <m:t>1!19!</m:t>
                        </m:r>
                      </m:den>
                    </m:f>
                    <m:r>
                      <a:rPr lang="en-GB" sz="1600" i="1">
                        <a:latin typeface="Cambria Math" panose="02040503050406030204" pitchFamily="18" charset="0"/>
                      </a:rPr>
                      <m:t>=20</m:t>
                    </m:r>
                  </m:oMath>
                </a14:m>
                <a:endParaRPr lang="en-GB" sz="1600" dirty="0"/>
              </a:p>
              <a:p>
                <a:r>
                  <a:rPr lang="en-GB" sz="1600" b="1" dirty="0">
                    <a:latin typeface="Wingdings" panose="05000000000000000000" pitchFamily="2" charset="2"/>
                  </a:rPr>
                  <a:t>!</a:t>
                </a:r>
                <a:r>
                  <a:rPr lang="en-GB" sz="1600" b="1" dirty="0"/>
                  <a:t> </a:t>
                </a:r>
                <a14:m>
                  <m:oMath xmlns:m="http://schemas.openxmlformats.org/officeDocument/2006/math">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𝟏</m:t>
                              </m:r>
                            </m:e>
                          </m:mr>
                        </m:m>
                      </m:e>
                    </m:d>
                    <m:r>
                      <a:rPr lang="en-GB" sz="1600" b="1" i="1">
                        <a:latin typeface="Cambria Math" panose="02040503050406030204" pitchFamily="18" charset="0"/>
                      </a:rPr>
                      <m:t>=</m:t>
                    </m:r>
                    <m:r>
                      <a:rPr lang="en-GB" sz="1600" b="1" i="1">
                        <a:latin typeface="Cambria Math" panose="02040503050406030204" pitchFamily="18" charset="0"/>
                      </a:rPr>
                      <m:t>𝒏</m:t>
                    </m:r>
                  </m:oMath>
                </a14:m>
                <a:r>
                  <a:rPr lang="en-GB" sz="1600" b="1" dirty="0"/>
                  <a:t> for all </a:t>
                </a:r>
                <a14:m>
                  <m:oMath xmlns:m="http://schemas.openxmlformats.org/officeDocument/2006/math">
                    <m:r>
                      <a:rPr lang="en-GB" sz="1600" b="1" i="1">
                        <a:latin typeface="Cambria Math" panose="02040503050406030204" pitchFamily="18" charset="0"/>
                      </a:rPr>
                      <m:t>𝒏</m:t>
                    </m:r>
                  </m:oMath>
                </a14:m>
                <a:r>
                  <a:rPr lang="en-GB" sz="1600" b="1" dirty="0"/>
                  <a:t>.</a:t>
                </a:r>
              </a:p>
              <a:p>
                <a:endParaRPr lang="en-GB" sz="1000" dirty="0"/>
              </a:p>
              <a:p>
                <a:r>
                  <a:rPr lang="en-GB" sz="1600" dirty="0"/>
                  <a:t>We’d expect there to be 1 way to choose no things (since ‘no selection’ is itself a possibility we should count).</a:t>
                </a:r>
              </a:p>
              <a:p>
                <a:r>
                  <a:rPr lang="en-GB" sz="1600" dirty="0"/>
                  <a:t>Using the formula:</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20</m:t>
                              </m:r>
                            </m:e>
                          </m:mr>
                          <m:mr>
                            <m:e>
                              <m:r>
                                <a:rPr lang="en-GB" sz="1600" i="1">
                                  <a:latin typeface="Cambria Math" panose="02040503050406030204" pitchFamily="18" charset="0"/>
                                </a:rPr>
                                <m:t>0</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20!</m:t>
                        </m:r>
                      </m:num>
                      <m:den>
                        <m:r>
                          <a:rPr lang="en-GB" sz="1600" i="1">
                            <a:latin typeface="Cambria Math" panose="02040503050406030204" pitchFamily="18" charset="0"/>
                          </a:rPr>
                          <m:t>0!20!</m:t>
                        </m:r>
                      </m:den>
                    </m:f>
                    <m:r>
                      <a:rPr lang="en-GB" sz="1600" i="1">
                        <a:latin typeface="Cambria Math" panose="02040503050406030204" pitchFamily="18" charset="0"/>
                      </a:rPr>
                      <m:t>=1</m:t>
                    </m:r>
                  </m:oMath>
                </a14:m>
                <a:endParaRPr lang="en-GB" sz="1600" dirty="0"/>
              </a:p>
              <a:p>
                <a:r>
                  <a:rPr lang="en-GB" sz="1600" dirty="0"/>
                  <a:t>This provides justification for letting </a:t>
                </a:r>
                <a14:m>
                  <m:oMath xmlns:m="http://schemas.openxmlformats.org/officeDocument/2006/math">
                    <m:r>
                      <a:rPr lang="en-GB" sz="1600" i="1">
                        <a:latin typeface="Cambria Math" panose="02040503050406030204" pitchFamily="18" charset="0"/>
                      </a:rPr>
                      <m:t>0!=1</m:t>
                    </m:r>
                  </m:oMath>
                </a14:m>
                <a:r>
                  <a:rPr lang="en-GB" sz="1600" dirty="0"/>
                  <a:t>.   </a:t>
                </a:r>
                <a:r>
                  <a:rPr lang="en-GB" sz="1600" b="1" dirty="0">
                    <a:latin typeface="Wingdings" panose="05000000000000000000" pitchFamily="2" charset="2"/>
                  </a:rPr>
                  <a:t>!</a:t>
                </a:r>
                <a:r>
                  <a:rPr lang="en-GB" sz="1600" b="1" dirty="0"/>
                  <a:t>  </a:t>
                </a:r>
                <a14:m>
                  <m:oMath xmlns:m="http://schemas.openxmlformats.org/officeDocument/2006/math">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𝟎</m:t>
                              </m:r>
                              <m:r>
                                <a:rPr lang="en-GB" sz="1600" b="1" i="1">
                                  <a:latin typeface="Cambria Math" panose="02040503050406030204" pitchFamily="18" charset="0"/>
                                </a:rPr>
                                <m:t> </m:t>
                              </m:r>
                            </m:e>
                          </m:mr>
                        </m:m>
                      </m:e>
                    </m:d>
                    <m:r>
                      <a:rPr lang="en-GB" sz="1600" b="1" i="1">
                        <a:latin typeface="Cambria Math" panose="02040503050406030204" pitchFamily="18" charset="0"/>
                      </a:rPr>
                      <m:t>=</m:t>
                    </m:r>
                    <m:r>
                      <a:rPr lang="en-GB" sz="1600" b="1" i="1">
                        <a:latin typeface="Cambria Math" panose="02040503050406030204" pitchFamily="18" charset="0"/>
                      </a:rPr>
                      <m:t>𝟏</m:t>
                    </m:r>
                  </m:oMath>
                </a14:m>
                <a:endParaRPr lang="en-GB" sz="1600" b="1" dirty="0"/>
              </a:p>
              <a:p>
                <a:endParaRPr lang="en-GB" sz="400" dirty="0"/>
              </a:p>
              <a:p>
                <a:pPr/>
                <a14:m>
                  <m:oMathPara xmlns:m="http://schemas.openxmlformats.org/officeDocument/2006/math">
                    <m:oMathParaPr>
                      <m:jc m:val="centerGroup"/>
                    </m:oMathParaPr>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20</m:t>
                                </m:r>
                              </m:e>
                            </m:mr>
                            <m:mr>
                              <m:e>
                                <m:r>
                                  <a:rPr lang="en-GB" sz="1600" i="1">
                                    <a:latin typeface="Cambria Math" panose="02040503050406030204" pitchFamily="18" charset="0"/>
                                  </a:rPr>
                                  <m:t>2</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20!</m:t>
                          </m:r>
                        </m:num>
                        <m:den>
                          <m:r>
                            <a:rPr lang="en-GB" sz="1600" i="1">
                              <a:latin typeface="Cambria Math" panose="02040503050406030204" pitchFamily="18" charset="0"/>
                            </a:rPr>
                            <m:t>2!18!</m:t>
                          </m:r>
                        </m:den>
                      </m:f>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20×19×18×…×1</m:t>
                          </m:r>
                        </m:num>
                        <m:den>
                          <m:r>
                            <a:rPr lang="en-GB" sz="1600" i="1">
                              <a:latin typeface="Cambria Math" panose="02040503050406030204" pitchFamily="18" charset="0"/>
                            </a:rPr>
                            <m:t>2!×18×17×…×1</m:t>
                          </m:r>
                        </m:den>
                      </m:f>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20×19</m:t>
                          </m:r>
                        </m:num>
                        <m:den>
                          <m:r>
                            <a:rPr lang="en-GB" sz="1600" i="1">
                              <a:latin typeface="Cambria Math" panose="02040503050406030204" pitchFamily="18" charset="0"/>
                            </a:rPr>
                            <m:t>2!</m:t>
                          </m:r>
                        </m:den>
                      </m:f>
                      <m:r>
                        <a:rPr lang="en-GB" sz="1600" i="1">
                          <a:latin typeface="Cambria Math" panose="02040503050406030204" pitchFamily="18" charset="0"/>
                        </a:rPr>
                        <m:t>=190</m:t>
                      </m:r>
                    </m:oMath>
                  </m:oMathPara>
                </a14:m>
                <a:endParaRPr lang="en-GB" sz="1600" dirty="0"/>
              </a:p>
              <a:p>
                <a:pPr marL="285750" indent="-285750">
                  <a:buFont typeface="Wingdings" panose="05000000000000000000" pitchFamily="2" charset="2"/>
                  <a:buChar char="!"/>
                </a:pPr>
                <a14:m>
                  <m:oMath xmlns:m="http://schemas.openxmlformats.org/officeDocument/2006/math">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𝟐</m:t>
                              </m:r>
                            </m:e>
                          </m:mr>
                        </m:m>
                      </m:e>
                    </m:d>
                    <m:r>
                      <a:rPr lang="en-GB" sz="1600" b="1" i="1">
                        <a:latin typeface="Cambria Math" panose="02040503050406030204" pitchFamily="18" charset="0"/>
                      </a:rPr>
                      <m:t>=</m:t>
                    </m:r>
                    <m:f>
                      <m:fPr>
                        <m:ctrlPr>
                          <a:rPr lang="en-GB" sz="1600" b="1" i="1">
                            <a:latin typeface="Cambria Math" panose="02040503050406030204" pitchFamily="18" charset="0"/>
                          </a:rPr>
                        </m:ctrlPr>
                      </m:fPr>
                      <m:num>
                        <m:r>
                          <a:rPr lang="en-GB" sz="1600" b="1" i="1">
                            <a:latin typeface="Cambria Math" panose="02040503050406030204" pitchFamily="18" charset="0"/>
                          </a:rPr>
                          <m:t>𝒏</m:t>
                        </m:r>
                        <m:d>
                          <m:dPr>
                            <m:ctrlPr>
                              <a:rPr lang="en-GB" sz="1600" b="1" i="1">
                                <a:latin typeface="Cambria Math" panose="02040503050406030204" pitchFamily="18" charset="0"/>
                              </a:rPr>
                            </m:ctrlPr>
                          </m:dPr>
                          <m:e>
                            <m:r>
                              <a:rPr lang="en-GB" sz="1600" b="1" i="1">
                                <a:latin typeface="Cambria Math" panose="02040503050406030204" pitchFamily="18" charset="0"/>
                              </a:rPr>
                              <m:t>𝒏</m:t>
                            </m:r>
                            <m:r>
                              <a:rPr lang="en-GB" sz="1600" b="1" i="1">
                                <a:latin typeface="Cambria Math" panose="02040503050406030204" pitchFamily="18" charset="0"/>
                              </a:rPr>
                              <m:t>−</m:t>
                            </m:r>
                            <m:r>
                              <a:rPr lang="en-GB" sz="1600" b="1" i="1">
                                <a:latin typeface="Cambria Math" panose="02040503050406030204" pitchFamily="18" charset="0"/>
                              </a:rPr>
                              <m:t>𝟏</m:t>
                            </m:r>
                          </m:e>
                        </m:d>
                      </m:num>
                      <m:den>
                        <m:r>
                          <a:rPr lang="en-GB" sz="1600" b="1" i="1">
                            <a:latin typeface="Cambria Math" panose="02040503050406030204" pitchFamily="18" charset="0"/>
                          </a:rPr>
                          <m:t>𝟐</m:t>
                        </m:r>
                      </m:den>
                    </m:f>
                  </m:oMath>
                </a14:m>
                <a:r>
                  <a:rPr lang="en-GB" sz="1600" b="1" dirty="0"/>
                  <a:t> for all </a:t>
                </a:r>
                <a14:m>
                  <m:oMath xmlns:m="http://schemas.openxmlformats.org/officeDocument/2006/math">
                    <m:r>
                      <a:rPr lang="en-GB" sz="1600" b="1" i="1">
                        <a:latin typeface="Cambria Math" panose="02040503050406030204" pitchFamily="18" charset="0"/>
                      </a:rPr>
                      <m:t>𝒏</m:t>
                    </m:r>
                  </m:oMath>
                </a14:m>
                <a:r>
                  <a:rPr lang="en-GB" sz="1600" b="1" dirty="0"/>
                  <a:t>.</a:t>
                </a:r>
              </a:p>
              <a:p>
                <a:endParaRPr lang="en-GB" sz="800" dirty="0"/>
              </a:p>
              <a:p>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20</m:t>
                              </m:r>
                            </m:e>
                          </m:mr>
                          <m:mr>
                            <m:e>
                              <m:r>
                                <a:rPr lang="en-GB" sz="1600" i="1">
                                  <a:latin typeface="Cambria Math" panose="02040503050406030204" pitchFamily="18" charset="0"/>
                                </a:rPr>
                                <m:t>18</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20!</m:t>
                        </m:r>
                      </m:num>
                      <m:den>
                        <m:r>
                          <a:rPr lang="en-GB" sz="1600" i="1">
                            <a:latin typeface="Cambria Math" panose="02040503050406030204" pitchFamily="18" charset="0"/>
                          </a:rPr>
                          <m:t>18!2!</m:t>
                        </m:r>
                      </m:den>
                    </m:f>
                  </m:oMath>
                </a14:m>
                <a:r>
                  <a:rPr lang="en-GB" sz="1600" dirty="0"/>
                  <a:t>. This is the same as above. In general, where the bottom number is above half of the top, we can subtract it from the top, i.e.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20</m:t>
                              </m:r>
                            </m:e>
                          </m:mr>
                          <m:mr>
                            <m:e>
                              <m:r>
                                <a:rPr lang="en-GB" sz="1600" i="1">
                                  <a:latin typeface="Cambria Math" panose="02040503050406030204" pitchFamily="18" charset="0"/>
                                </a:rPr>
                                <m:t>18</m:t>
                              </m:r>
                            </m:e>
                          </m:mr>
                        </m:m>
                      </m:e>
                    </m:d>
                    <m:r>
                      <a:rPr lang="en-GB" sz="1600" i="1">
                        <a:latin typeface="Cambria Math" panose="02040503050406030204" pitchFamily="18" charset="0"/>
                      </a:rPr>
                      <m:t>=</m:t>
                    </m:r>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20</m:t>
                              </m:r>
                            </m:e>
                          </m:mr>
                          <m:mr>
                            <m:e>
                              <m:r>
                                <a:rPr lang="en-GB" sz="1600" i="1">
                                  <a:latin typeface="Cambria Math" panose="02040503050406030204" pitchFamily="18" charset="0"/>
                                </a:rPr>
                                <m:t>2</m:t>
                              </m:r>
                            </m:e>
                          </m:mr>
                        </m:m>
                      </m:e>
                    </m:d>
                  </m:oMath>
                </a14:m>
                <a:r>
                  <a:rPr lang="en-GB" sz="1600" dirty="0"/>
                  <a:t>.</a:t>
                </a:r>
              </a:p>
            </p:txBody>
          </p:sp>
        </mc:Choice>
        <mc:Fallback xmlns="">
          <p:sp>
            <p:nvSpPr>
              <p:cNvPr id="7" name="TextBox 6"/>
              <p:cNvSpPr txBox="1">
                <a:spLocks noRot="1" noChangeAspect="1" noMove="1" noResize="1" noEditPoints="1" noAdjustHandles="1" noChangeArrowheads="1" noChangeShapeType="1" noTextEdit="1"/>
              </p:cNvSpPr>
              <p:nvPr/>
            </p:nvSpPr>
            <p:spPr>
              <a:xfrm>
                <a:off x="5087888" y="675931"/>
                <a:ext cx="5389612" cy="6518259"/>
              </a:xfrm>
              <a:prstGeom prst="rect">
                <a:avLst/>
              </a:prstGeom>
              <a:blipFill>
                <a:blip r:embed="rId3"/>
                <a:stretch>
                  <a:fillRect l="-679" r="-339"/>
                </a:stretch>
              </a:blipFill>
            </p:spPr>
            <p:txBody>
              <a:bodyPr/>
              <a:lstStyle/>
              <a:p>
                <a:r>
                  <a:rPr lang="en-GB">
                    <a:noFill/>
                  </a:rPr>
                  <a:t> </a:t>
                </a:r>
              </a:p>
            </p:txBody>
          </p:sp>
        </mc:Fallback>
      </mc:AlternateContent>
      <p:sp>
        <p:nvSpPr>
          <p:cNvPr id="8" name="Rectangle 7"/>
          <p:cNvSpPr/>
          <p:nvPr/>
        </p:nvSpPr>
        <p:spPr>
          <a:xfrm>
            <a:off x="4866992" y="738350"/>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a</a:t>
            </a:r>
          </a:p>
        </p:txBody>
      </p:sp>
      <p:sp>
        <p:nvSpPr>
          <p:cNvPr id="9" name="Rectangle 8"/>
          <p:cNvSpPr/>
          <p:nvPr/>
        </p:nvSpPr>
        <p:spPr>
          <a:xfrm>
            <a:off x="4866992" y="1119738"/>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b</a:t>
            </a:r>
          </a:p>
        </p:txBody>
      </p:sp>
      <p:sp>
        <p:nvSpPr>
          <p:cNvPr id="10" name="Rectangle 9"/>
          <p:cNvSpPr/>
          <p:nvPr/>
        </p:nvSpPr>
        <p:spPr>
          <a:xfrm>
            <a:off x="4866992" y="1732209"/>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c</a:t>
            </a:r>
          </a:p>
        </p:txBody>
      </p:sp>
      <p:sp>
        <p:nvSpPr>
          <p:cNvPr id="11" name="Rectangle 10"/>
          <p:cNvSpPr/>
          <p:nvPr/>
        </p:nvSpPr>
        <p:spPr>
          <a:xfrm>
            <a:off x="4866992" y="2420891"/>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d</a:t>
            </a:r>
          </a:p>
        </p:txBody>
      </p:sp>
      <p:sp>
        <p:nvSpPr>
          <p:cNvPr id="12" name="Rectangle 11"/>
          <p:cNvSpPr/>
          <p:nvPr/>
        </p:nvSpPr>
        <p:spPr>
          <a:xfrm>
            <a:off x="4866992" y="3531793"/>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e</a:t>
            </a:r>
          </a:p>
        </p:txBody>
      </p:sp>
      <p:sp>
        <p:nvSpPr>
          <p:cNvPr id="13" name="Rectangle 12"/>
          <p:cNvSpPr/>
          <p:nvPr/>
        </p:nvSpPr>
        <p:spPr>
          <a:xfrm>
            <a:off x="4856708" y="4855655"/>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f</a:t>
            </a:r>
          </a:p>
        </p:txBody>
      </p:sp>
      <p:sp>
        <p:nvSpPr>
          <p:cNvPr id="14" name="Rectangle 13"/>
          <p:cNvSpPr/>
          <p:nvPr/>
        </p:nvSpPr>
        <p:spPr>
          <a:xfrm>
            <a:off x="4871862" y="5851767"/>
            <a:ext cx="216024" cy="2159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g</a:t>
            </a:r>
          </a:p>
        </p:txBody>
      </p:sp>
      <p:sp>
        <p:nvSpPr>
          <p:cNvPr id="15" name="Rectangle 14"/>
          <p:cNvSpPr/>
          <p:nvPr/>
        </p:nvSpPr>
        <p:spPr>
          <a:xfrm>
            <a:off x="5083017" y="706637"/>
            <a:ext cx="3044984" cy="29666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6" name="Rectangle 15"/>
          <p:cNvSpPr/>
          <p:nvPr/>
        </p:nvSpPr>
        <p:spPr>
          <a:xfrm>
            <a:off x="5091156" y="1080104"/>
            <a:ext cx="3078195" cy="49351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7" name="Rectangle 16"/>
          <p:cNvSpPr/>
          <p:nvPr/>
        </p:nvSpPr>
        <p:spPr>
          <a:xfrm>
            <a:off x="5091156" y="1710640"/>
            <a:ext cx="5253319" cy="49351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8" name="Rectangle 17"/>
          <p:cNvSpPr/>
          <p:nvPr/>
        </p:nvSpPr>
        <p:spPr>
          <a:xfrm>
            <a:off x="5083016" y="2390045"/>
            <a:ext cx="5261456" cy="100757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9" name="Rectangle 18"/>
          <p:cNvSpPr/>
          <p:nvPr/>
        </p:nvSpPr>
        <p:spPr>
          <a:xfrm>
            <a:off x="5078026" y="3531790"/>
            <a:ext cx="5266446" cy="125257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0" name="Rectangle 19"/>
          <p:cNvSpPr/>
          <p:nvPr/>
        </p:nvSpPr>
        <p:spPr>
          <a:xfrm>
            <a:off x="5087887" y="4861161"/>
            <a:ext cx="5266446" cy="88042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1" name="Rectangle 20"/>
          <p:cNvSpPr/>
          <p:nvPr/>
        </p:nvSpPr>
        <p:spPr>
          <a:xfrm>
            <a:off x="5087887" y="5818382"/>
            <a:ext cx="5266446" cy="103961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49862763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14" restart="whenNotActive" fill="hold" evtFilter="cancelBubble" nodeType="interactiveSeq">
                <p:stCondLst>
                  <p:cond evt="onClick" delay="0">
                    <p:tgtEl>
                      <p:spTgt spid="17"/>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20" restart="whenNotActive" fill="hold" evtFilter="cancelBubble" nodeType="interactiveSeq">
                <p:stCondLst>
                  <p:cond evt="onClick" delay="0">
                    <p:tgtEl>
                      <p:spTgt spid="18"/>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8"/>
                                        </p:tgtEl>
                                      </p:cBhvr>
                                    </p:animEffect>
                                    <p:set>
                                      <p:cBhvr>
                                        <p:cTn id="25"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26" restart="whenNotActive" fill="hold" evtFilter="cancelBubble" nodeType="interactiveSeq">
                <p:stCondLst>
                  <p:cond evt="onClick" delay="0">
                    <p:tgtEl>
                      <p:spTgt spid="19"/>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19"/>
                                        </p:tgtEl>
                                      </p:cBhvr>
                                    </p:animEffect>
                                    <p:set>
                                      <p:cBhvr>
                                        <p:cTn id="31"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32" restart="whenNotActive" fill="hold" evtFilter="cancelBubble" nodeType="interactiveSeq">
                <p:stCondLst>
                  <p:cond evt="onClick" delay="0">
                    <p:tgtEl>
                      <p:spTgt spid="20"/>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20"/>
                                        </p:tgtEl>
                                      </p:cBhvr>
                                    </p:animEffect>
                                    <p:set>
                                      <p:cBhvr>
                                        <p:cTn id="37"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38" restart="whenNotActive" fill="hold" evtFilter="cancelBubble" nodeType="interactiveSeq">
                <p:stCondLst>
                  <p:cond evt="onClick" delay="0">
                    <p:tgtEl>
                      <p:spTgt spid="21"/>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21"/>
                                        </p:tgtEl>
                                      </p:cBhvr>
                                    </p:animEffect>
                                    <p:set>
                                      <p:cBhvr>
                                        <p:cTn id="43"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childTnLst>
        </p:cTn>
      </p:par>
    </p:tnLst>
    <p:bldLst>
      <p:bldP spid="15" grpId="0" animBg="1"/>
      <p:bldP spid="16" grpId="0" animBg="1"/>
      <p:bldP spid="17" grpId="0" animBg="1"/>
      <p:bldP spid="18" grpId="0" animBg="1"/>
      <p:bldP spid="19" grpId="0" animBg="1"/>
      <p:bldP spid="20" grpId="0" animBg="1"/>
      <p:bldP spid="21" grpId="0" animBg="1"/>
    </p:bldLst>
  </p:timing>
</p:sld>
</file>

<file path=ppt/c8/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Why do we care?</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6" name="TextBox 5"/>
          <p:cNvSpPr txBox="1"/>
          <p:nvPr/>
        </p:nvSpPr>
        <p:spPr>
          <a:xfrm>
            <a:off x="3681409" y="1644485"/>
            <a:ext cx="504056" cy="523220"/>
          </a:xfrm>
          <a:prstGeom prst="rect">
            <a:avLst/>
          </a:prstGeom>
          <a:noFill/>
        </p:spPr>
        <p:txBody>
          <a:bodyPr wrap="square" rtlCol="0">
            <a:spAutoFit/>
          </a:bodyPr>
          <a:lstStyle/>
          <a:p>
            <a:pPr algn="ctr"/>
            <a:r>
              <a:rPr lang="en-GB" sz="2800" dirty="0"/>
              <a:t>1</a:t>
            </a:r>
            <a:endParaRPr lang="en-GB" dirty="0"/>
          </a:p>
        </p:txBody>
      </p:sp>
      <p:sp>
        <p:nvSpPr>
          <p:cNvPr id="7" name="TextBox 6"/>
          <p:cNvSpPr txBox="1"/>
          <p:nvPr/>
        </p:nvSpPr>
        <p:spPr>
          <a:xfrm>
            <a:off x="3306300" y="2167705"/>
            <a:ext cx="504056" cy="523220"/>
          </a:xfrm>
          <a:prstGeom prst="rect">
            <a:avLst/>
          </a:prstGeom>
          <a:noFill/>
        </p:spPr>
        <p:txBody>
          <a:bodyPr wrap="square" rtlCol="0">
            <a:spAutoFit/>
          </a:bodyPr>
          <a:lstStyle/>
          <a:p>
            <a:pPr algn="ctr"/>
            <a:r>
              <a:rPr lang="en-GB" sz="2800" dirty="0"/>
              <a:t>1</a:t>
            </a:r>
            <a:endParaRPr lang="en-GB" dirty="0"/>
          </a:p>
        </p:txBody>
      </p:sp>
      <p:sp>
        <p:nvSpPr>
          <p:cNvPr id="8" name="TextBox 7"/>
          <p:cNvSpPr txBox="1"/>
          <p:nvPr/>
        </p:nvSpPr>
        <p:spPr>
          <a:xfrm>
            <a:off x="4056518" y="2167705"/>
            <a:ext cx="504056" cy="523220"/>
          </a:xfrm>
          <a:prstGeom prst="rect">
            <a:avLst/>
          </a:prstGeom>
          <a:noFill/>
        </p:spPr>
        <p:txBody>
          <a:bodyPr wrap="square" rtlCol="0">
            <a:spAutoFit/>
          </a:bodyPr>
          <a:lstStyle/>
          <a:p>
            <a:pPr algn="ctr"/>
            <a:r>
              <a:rPr lang="en-GB" sz="2800" dirty="0"/>
              <a:t>1</a:t>
            </a:r>
            <a:endParaRPr lang="en-GB" dirty="0"/>
          </a:p>
        </p:txBody>
      </p:sp>
      <p:sp>
        <p:nvSpPr>
          <p:cNvPr id="9" name="TextBox 8"/>
          <p:cNvSpPr txBox="1"/>
          <p:nvPr/>
        </p:nvSpPr>
        <p:spPr>
          <a:xfrm>
            <a:off x="2946260" y="2796613"/>
            <a:ext cx="504056" cy="523220"/>
          </a:xfrm>
          <a:prstGeom prst="rect">
            <a:avLst/>
          </a:prstGeom>
          <a:noFill/>
        </p:spPr>
        <p:txBody>
          <a:bodyPr wrap="square" rtlCol="0">
            <a:spAutoFit/>
          </a:bodyPr>
          <a:lstStyle/>
          <a:p>
            <a:pPr algn="ctr"/>
            <a:r>
              <a:rPr lang="en-GB" sz="2800" dirty="0"/>
              <a:t>1</a:t>
            </a:r>
            <a:endParaRPr lang="en-GB" dirty="0"/>
          </a:p>
        </p:txBody>
      </p:sp>
      <p:sp>
        <p:nvSpPr>
          <p:cNvPr id="10" name="TextBox 9"/>
          <p:cNvSpPr txBox="1"/>
          <p:nvPr/>
        </p:nvSpPr>
        <p:spPr>
          <a:xfrm>
            <a:off x="3665768" y="2796613"/>
            <a:ext cx="504056" cy="523220"/>
          </a:xfrm>
          <a:prstGeom prst="rect">
            <a:avLst/>
          </a:prstGeom>
          <a:noFill/>
        </p:spPr>
        <p:txBody>
          <a:bodyPr wrap="square" rtlCol="0">
            <a:spAutoFit/>
          </a:bodyPr>
          <a:lstStyle/>
          <a:p>
            <a:pPr algn="ctr"/>
            <a:r>
              <a:rPr lang="en-GB" sz="2800" dirty="0"/>
              <a:t>2</a:t>
            </a:r>
            <a:endParaRPr lang="en-GB" dirty="0"/>
          </a:p>
        </p:txBody>
      </p:sp>
      <p:sp>
        <p:nvSpPr>
          <p:cNvPr id="11" name="TextBox 10"/>
          <p:cNvSpPr txBox="1"/>
          <p:nvPr/>
        </p:nvSpPr>
        <p:spPr>
          <a:xfrm>
            <a:off x="4430886" y="2796613"/>
            <a:ext cx="504056" cy="523220"/>
          </a:xfrm>
          <a:prstGeom prst="rect">
            <a:avLst/>
          </a:prstGeom>
          <a:noFill/>
        </p:spPr>
        <p:txBody>
          <a:bodyPr wrap="square" rtlCol="0">
            <a:spAutoFit/>
          </a:bodyPr>
          <a:lstStyle/>
          <a:p>
            <a:pPr algn="ctr"/>
            <a:r>
              <a:rPr lang="en-GB" sz="2800" dirty="0"/>
              <a:t>1</a:t>
            </a:r>
            <a:endParaRPr lang="en-GB" dirty="0"/>
          </a:p>
        </p:txBody>
      </p:sp>
      <p:sp>
        <p:nvSpPr>
          <p:cNvPr id="12" name="TextBox 11"/>
          <p:cNvSpPr txBox="1"/>
          <p:nvPr/>
        </p:nvSpPr>
        <p:spPr>
          <a:xfrm>
            <a:off x="2514212" y="3425521"/>
            <a:ext cx="504056" cy="523220"/>
          </a:xfrm>
          <a:prstGeom prst="rect">
            <a:avLst/>
          </a:prstGeom>
          <a:noFill/>
        </p:spPr>
        <p:txBody>
          <a:bodyPr wrap="square" rtlCol="0">
            <a:spAutoFit/>
          </a:bodyPr>
          <a:lstStyle/>
          <a:p>
            <a:pPr algn="ctr"/>
            <a:r>
              <a:rPr lang="en-GB" sz="2800" dirty="0"/>
              <a:t>1</a:t>
            </a:r>
            <a:endParaRPr lang="en-GB" dirty="0"/>
          </a:p>
        </p:txBody>
      </p:sp>
      <p:sp>
        <p:nvSpPr>
          <p:cNvPr id="13" name="TextBox 12"/>
          <p:cNvSpPr txBox="1"/>
          <p:nvPr/>
        </p:nvSpPr>
        <p:spPr>
          <a:xfrm>
            <a:off x="3306300" y="3425521"/>
            <a:ext cx="504056" cy="523220"/>
          </a:xfrm>
          <a:prstGeom prst="rect">
            <a:avLst/>
          </a:prstGeom>
          <a:noFill/>
        </p:spPr>
        <p:txBody>
          <a:bodyPr wrap="square" rtlCol="0">
            <a:spAutoFit/>
          </a:bodyPr>
          <a:lstStyle/>
          <a:p>
            <a:pPr algn="ctr"/>
            <a:r>
              <a:rPr lang="en-GB" sz="2800" dirty="0"/>
              <a:t>3</a:t>
            </a:r>
            <a:endParaRPr lang="en-GB" dirty="0"/>
          </a:p>
        </p:txBody>
      </p:sp>
      <p:sp>
        <p:nvSpPr>
          <p:cNvPr id="14" name="TextBox 13"/>
          <p:cNvSpPr txBox="1"/>
          <p:nvPr/>
        </p:nvSpPr>
        <p:spPr>
          <a:xfrm>
            <a:off x="4056518" y="3425521"/>
            <a:ext cx="504056" cy="523220"/>
          </a:xfrm>
          <a:prstGeom prst="rect">
            <a:avLst/>
          </a:prstGeom>
          <a:noFill/>
        </p:spPr>
        <p:txBody>
          <a:bodyPr wrap="square" rtlCol="0">
            <a:spAutoFit/>
          </a:bodyPr>
          <a:lstStyle/>
          <a:p>
            <a:pPr algn="ctr"/>
            <a:r>
              <a:rPr lang="en-GB" sz="2800" dirty="0"/>
              <a:t>3</a:t>
            </a:r>
            <a:endParaRPr lang="en-GB" dirty="0"/>
          </a:p>
        </p:txBody>
      </p:sp>
      <p:sp>
        <p:nvSpPr>
          <p:cNvPr id="15" name="TextBox 14"/>
          <p:cNvSpPr txBox="1"/>
          <p:nvPr/>
        </p:nvSpPr>
        <p:spPr>
          <a:xfrm>
            <a:off x="4806736" y="3425521"/>
            <a:ext cx="504056" cy="523220"/>
          </a:xfrm>
          <a:prstGeom prst="rect">
            <a:avLst/>
          </a:prstGeom>
          <a:noFill/>
        </p:spPr>
        <p:txBody>
          <a:bodyPr wrap="square" rtlCol="0">
            <a:spAutoFit/>
          </a:bodyPr>
          <a:lstStyle/>
          <a:p>
            <a:pPr algn="ctr"/>
            <a:r>
              <a:rPr lang="en-GB" sz="2800" dirty="0"/>
              <a:t>1</a:t>
            </a:r>
            <a:endParaRPr lang="en-GB" dirty="0"/>
          </a:p>
        </p:txBody>
      </p:sp>
      <p:sp>
        <p:nvSpPr>
          <p:cNvPr id="16" name="TextBox 15"/>
          <p:cNvSpPr txBox="1"/>
          <p:nvPr/>
        </p:nvSpPr>
        <p:spPr>
          <a:xfrm>
            <a:off x="2138362" y="4054429"/>
            <a:ext cx="504056" cy="523220"/>
          </a:xfrm>
          <a:prstGeom prst="rect">
            <a:avLst/>
          </a:prstGeom>
          <a:noFill/>
        </p:spPr>
        <p:txBody>
          <a:bodyPr wrap="square" rtlCol="0">
            <a:spAutoFit/>
          </a:bodyPr>
          <a:lstStyle/>
          <a:p>
            <a:pPr algn="ctr"/>
            <a:r>
              <a:rPr lang="en-GB" sz="2800" dirty="0"/>
              <a:t>1</a:t>
            </a:r>
            <a:endParaRPr lang="en-GB" dirty="0"/>
          </a:p>
        </p:txBody>
      </p:sp>
      <p:sp>
        <p:nvSpPr>
          <p:cNvPr id="17" name="TextBox 16"/>
          <p:cNvSpPr txBox="1"/>
          <p:nvPr/>
        </p:nvSpPr>
        <p:spPr>
          <a:xfrm>
            <a:off x="2930450" y="4054429"/>
            <a:ext cx="504056" cy="523220"/>
          </a:xfrm>
          <a:prstGeom prst="rect">
            <a:avLst/>
          </a:prstGeom>
          <a:noFill/>
        </p:spPr>
        <p:txBody>
          <a:bodyPr wrap="square" rtlCol="0">
            <a:spAutoFit/>
          </a:bodyPr>
          <a:lstStyle/>
          <a:p>
            <a:pPr algn="ctr"/>
            <a:r>
              <a:rPr lang="en-GB" sz="2800" dirty="0"/>
              <a:t>4</a:t>
            </a:r>
            <a:endParaRPr lang="en-GB" dirty="0"/>
          </a:p>
        </p:txBody>
      </p:sp>
      <p:sp>
        <p:nvSpPr>
          <p:cNvPr id="18" name="TextBox 17"/>
          <p:cNvSpPr txBox="1"/>
          <p:nvPr/>
        </p:nvSpPr>
        <p:spPr>
          <a:xfrm>
            <a:off x="3680668" y="4054429"/>
            <a:ext cx="504056" cy="523220"/>
          </a:xfrm>
          <a:prstGeom prst="rect">
            <a:avLst/>
          </a:prstGeom>
          <a:noFill/>
        </p:spPr>
        <p:txBody>
          <a:bodyPr wrap="square" rtlCol="0">
            <a:spAutoFit/>
          </a:bodyPr>
          <a:lstStyle/>
          <a:p>
            <a:pPr algn="ctr"/>
            <a:r>
              <a:rPr lang="en-GB" sz="2800" dirty="0"/>
              <a:t>6</a:t>
            </a:r>
            <a:endParaRPr lang="en-GB" dirty="0"/>
          </a:p>
        </p:txBody>
      </p:sp>
      <p:sp>
        <p:nvSpPr>
          <p:cNvPr id="19" name="TextBox 18"/>
          <p:cNvSpPr txBox="1"/>
          <p:nvPr/>
        </p:nvSpPr>
        <p:spPr>
          <a:xfrm>
            <a:off x="4430886" y="4054429"/>
            <a:ext cx="504056" cy="523220"/>
          </a:xfrm>
          <a:prstGeom prst="rect">
            <a:avLst/>
          </a:prstGeom>
          <a:noFill/>
        </p:spPr>
        <p:txBody>
          <a:bodyPr wrap="square" rtlCol="0">
            <a:spAutoFit/>
          </a:bodyPr>
          <a:lstStyle/>
          <a:p>
            <a:pPr algn="ctr"/>
            <a:r>
              <a:rPr lang="en-GB" sz="2800" dirty="0"/>
              <a:t>4</a:t>
            </a:r>
            <a:endParaRPr lang="en-GB" dirty="0"/>
          </a:p>
        </p:txBody>
      </p:sp>
      <p:sp>
        <p:nvSpPr>
          <p:cNvPr id="20" name="TextBox 19"/>
          <p:cNvSpPr txBox="1"/>
          <p:nvPr/>
        </p:nvSpPr>
        <p:spPr>
          <a:xfrm>
            <a:off x="5181104" y="4054429"/>
            <a:ext cx="504056" cy="523220"/>
          </a:xfrm>
          <a:prstGeom prst="rect">
            <a:avLst/>
          </a:prstGeom>
          <a:noFill/>
        </p:spPr>
        <p:txBody>
          <a:bodyPr wrap="square" rtlCol="0">
            <a:spAutoFit/>
          </a:bodyPr>
          <a:lstStyle/>
          <a:p>
            <a:pPr algn="ctr"/>
            <a:r>
              <a:rPr lang="en-GB" sz="2800" dirty="0"/>
              <a:t>1</a:t>
            </a:r>
            <a:endParaRPr lang="en-GB" dirty="0"/>
          </a:p>
        </p:txBody>
      </p:sp>
      <mc:AlternateContent xmlns:mc="http://schemas.openxmlformats.org/markup-compatibility/2006" xmlns:a14="http://schemas.microsoft.com/office/drawing/2010/main">
        <mc:Choice Requires="a14">
          <p:sp>
            <p:nvSpPr>
              <p:cNvPr id="51" name="TextBox 50"/>
              <p:cNvSpPr txBox="1"/>
              <p:nvPr/>
            </p:nvSpPr>
            <p:spPr>
              <a:xfrm>
                <a:off x="8275572" y="1734716"/>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0</m:t>
                                </m:r>
                              </m:e>
                            </m:mr>
                            <m:mr>
                              <m:e>
                                <m:r>
                                  <a:rPr lang="en-GB" i="1">
                                    <a:latin typeface="Cambria Math" panose="02040503050406030204" pitchFamily="18" charset="0"/>
                                  </a:rPr>
                                  <m:t>0</m:t>
                                </m:r>
                              </m:e>
                            </m:mr>
                          </m:m>
                        </m:e>
                      </m:d>
                    </m:oMath>
                  </m:oMathPara>
                </a14:m>
                <a:endParaRPr lang="en-GB" dirty="0"/>
              </a:p>
            </p:txBody>
          </p:sp>
        </mc:Choice>
        <mc:Fallback xmlns="">
          <p:sp>
            <p:nvSpPr>
              <p:cNvPr id="51" name="TextBox 50"/>
              <p:cNvSpPr txBox="1">
                <a:spLocks noRot="1" noChangeAspect="1" noMove="1" noResize="1" noEditPoints="1" noAdjustHandles="1" noChangeArrowheads="1" noChangeShapeType="1" noTextEdit="1"/>
              </p:cNvSpPr>
              <p:nvPr/>
            </p:nvSpPr>
            <p:spPr>
              <a:xfrm>
                <a:off x="8275572" y="1734716"/>
                <a:ext cx="504056" cy="554254"/>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7893443" y="2253643"/>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1</m:t>
                                </m:r>
                              </m:e>
                            </m:mr>
                            <m:mr>
                              <m:e>
                                <m:r>
                                  <a:rPr lang="en-GB" i="1">
                                    <a:latin typeface="Cambria Math" panose="02040503050406030204" pitchFamily="18" charset="0"/>
                                  </a:rPr>
                                  <m:t>0</m:t>
                                </m:r>
                              </m:e>
                            </m:mr>
                          </m:m>
                        </m:e>
                      </m:d>
                    </m:oMath>
                  </m:oMathPara>
                </a14:m>
                <a:endParaRPr lang="en-GB" dirty="0"/>
              </a:p>
            </p:txBody>
          </p:sp>
        </mc:Choice>
        <mc:Fallback xmlns="">
          <p:sp>
            <p:nvSpPr>
              <p:cNvPr id="52" name="TextBox 51"/>
              <p:cNvSpPr txBox="1">
                <a:spLocks noRot="1" noChangeAspect="1" noMove="1" noResize="1" noEditPoints="1" noAdjustHandles="1" noChangeArrowheads="1" noChangeShapeType="1" noTextEdit="1"/>
              </p:cNvSpPr>
              <p:nvPr/>
            </p:nvSpPr>
            <p:spPr>
              <a:xfrm>
                <a:off x="7893443" y="2253643"/>
                <a:ext cx="504056" cy="554254"/>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8622205" y="2271307"/>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1</m:t>
                                </m:r>
                              </m:e>
                            </m:mr>
                            <m:mr>
                              <m:e>
                                <m:r>
                                  <a:rPr lang="en-GB" i="1">
                                    <a:latin typeface="Cambria Math" panose="02040503050406030204" pitchFamily="18" charset="0"/>
                                  </a:rPr>
                                  <m:t>1</m:t>
                                </m:r>
                              </m:e>
                            </m:mr>
                          </m:m>
                        </m:e>
                      </m:d>
                    </m:oMath>
                  </m:oMathPara>
                </a14:m>
                <a:endParaRPr lang="en-GB" dirty="0"/>
              </a:p>
            </p:txBody>
          </p:sp>
        </mc:Choice>
        <mc:Fallback xmlns="">
          <p:sp>
            <p:nvSpPr>
              <p:cNvPr id="53" name="TextBox 52"/>
              <p:cNvSpPr txBox="1">
                <a:spLocks noRot="1" noChangeAspect="1" noMove="1" noResize="1" noEditPoints="1" noAdjustHandles="1" noChangeArrowheads="1" noChangeShapeType="1" noTextEdit="1"/>
              </p:cNvSpPr>
              <p:nvPr/>
            </p:nvSpPr>
            <p:spPr>
              <a:xfrm>
                <a:off x="8622205" y="2271307"/>
                <a:ext cx="504056" cy="554254"/>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7462400" y="2881425"/>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2</m:t>
                                </m:r>
                              </m:e>
                            </m:mr>
                            <m:mr>
                              <m:e>
                                <m:r>
                                  <a:rPr lang="en-GB" i="1">
                                    <a:latin typeface="Cambria Math" panose="02040503050406030204" pitchFamily="18" charset="0"/>
                                  </a:rPr>
                                  <m:t>0</m:t>
                                </m:r>
                              </m:e>
                            </m:mr>
                          </m:m>
                        </m:e>
                      </m:d>
                    </m:oMath>
                  </m:oMathPara>
                </a14:m>
                <a:endParaRPr lang="en-GB" dirty="0"/>
              </a:p>
            </p:txBody>
          </p:sp>
        </mc:Choice>
        <mc:Fallback xmlns="">
          <p:sp>
            <p:nvSpPr>
              <p:cNvPr id="54" name="TextBox 53"/>
              <p:cNvSpPr txBox="1">
                <a:spLocks noRot="1" noChangeAspect="1" noMove="1" noResize="1" noEditPoints="1" noAdjustHandles="1" noChangeArrowheads="1" noChangeShapeType="1" noTextEdit="1"/>
              </p:cNvSpPr>
              <p:nvPr/>
            </p:nvSpPr>
            <p:spPr>
              <a:xfrm>
                <a:off x="7462400" y="2881425"/>
                <a:ext cx="504056" cy="554254"/>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8256474" y="2893448"/>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2</m:t>
                                </m:r>
                              </m:e>
                            </m:mr>
                            <m:mr>
                              <m:e>
                                <m:r>
                                  <a:rPr lang="en-GB" i="1">
                                    <a:latin typeface="Cambria Math" panose="02040503050406030204" pitchFamily="18" charset="0"/>
                                  </a:rPr>
                                  <m:t>1</m:t>
                                </m:r>
                              </m:e>
                            </m:mr>
                          </m:m>
                        </m:e>
                      </m:d>
                    </m:oMath>
                  </m:oMathPara>
                </a14:m>
                <a:endParaRPr lang="en-GB" dirty="0"/>
              </a:p>
            </p:txBody>
          </p:sp>
        </mc:Choice>
        <mc:Fallback xmlns="">
          <p:sp>
            <p:nvSpPr>
              <p:cNvPr id="55" name="TextBox 54"/>
              <p:cNvSpPr txBox="1">
                <a:spLocks noRot="1" noChangeAspect="1" noMove="1" noResize="1" noEditPoints="1" noAdjustHandles="1" noChangeArrowheads="1" noChangeShapeType="1" noTextEdit="1"/>
              </p:cNvSpPr>
              <p:nvPr/>
            </p:nvSpPr>
            <p:spPr>
              <a:xfrm>
                <a:off x="8256474" y="2893448"/>
                <a:ext cx="504056" cy="554254"/>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9050548" y="2893448"/>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2</m:t>
                                </m:r>
                              </m:e>
                            </m:mr>
                            <m:mr>
                              <m:e>
                                <m:r>
                                  <a:rPr lang="en-GB" i="1">
                                    <a:latin typeface="Cambria Math" panose="02040503050406030204" pitchFamily="18" charset="0"/>
                                  </a:rPr>
                                  <m:t>2</m:t>
                                </m:r>
                              </m:e>
                            </m:mr>
                          </m:m>
                        </m:e>
                      </m:d>
                    </m:oMath>
                  </m:oMathPara>
                </a14:m>
                <a:endParaRPr lang="en-GB" dirty="0"/>
              </a:p>
            </p:txBody>
          </p:sp>
        </mc:Choice>
        <mc:Fallback xmlns="">
          <p:sp>
            <p:nvSpPr>
              <p:cNvPr id="56" name="TextBox 55"/>
              <p:cNvSpPr txBox="1">
                <a:spLocks noRot="1" noChangeAspect="1" noMove="1" noResize="1" noEditPoints="1" noAdjustHandles="1" noChangeArrowheads="1" noChangeShapeType="1" noTextEdit="1"/>
              </p:cNvSpPr>
              <p:nvPr/>
            </p:nvSpPr>
            <p:spPr>
              <a:xfrm>
                <a:off x="9050548" y="2893448"/>
                <a:ext cx="504056" cy="554254"/>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7028741" y="3453913"/>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0</m:t>
                                </m:r>
                              </m:e>
                            </m:mr>
                          </m:m>
                        </m:e>
                      </m:d>
                    </m:oMath>
                  </m:oMathPara>
                </a14:m>
                <a:endParaRPr lang="en-GB" dirty="0"/>
              </a:p>
            </p:txBody>
          </p:sp>
        </mc:Choice>
        <mc:Fallback xmlns="">
          <p:sp>
            <p:nvSpPr>
              <p:cNvPr id="57" name="TextBox 56"/>
              <p:cNvSpPr txBox="1">
                <a:spLocks noRot="1" noChangeAspect="1" noMove="1" noResize="1" noEditPoints="1" noAdjustHandles="1" noChangeArrowheads="1" noChangeShapeType="1" noTextEdit="1"/>
              </p:cNvSpPr>
              <p:nvPr/>
            </p:nvSpPr>
            <p:spPr>
              <a:xfrm>
                <a:off x="7028741" y="3453913"/>
                <a:ext cx="504056" cy="554254"/>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7833522" y="3462944"/>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1</m:t>
                                </m:r>
                              </m:e>
                            </m:mr>
                          </m:m>
                        </m:e>
                      </m:d>
                    </m:oMath>
                  </m:oMathPara>
                </a14:m>
                <a:endParaRPr lang="en-GB" dirty="0"/>
              </a:p>
            </p:txBody>
          </p:sp>
        </mc:Choice>
        <mc:Fallback xmlns="">
          <p:sp>
            <p:nvSpPr>
              <p:cNvPr id="58" name="TextBox 57"/>
              <p:cNvSpPr txBox="1">
                <a:spLocks noRot="1" noChangeAspect="1" noMove="1" noResize="1" noEditPoints="1" noAdjustHandles="1" noChangeArrowheads="1" noChangeShapeType="1" noTextEdit="1"/>
              </p:cNvSpPr>
              <p:nvPr/>
            </p:nvSpPr>
            <p:spPr>
              <a:xfrm>
                <a:off x="7833522" y="3462944"/>
                <a:ext cx="504056" cy="554254"/>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9" name="TextBox 58"/>
              <p:cNvSpPr txBox="1"/>
              <p:nvPr/>
            </p:nvSpPr>
            <p:spPr>
              <a:xfrm>
                <a:off x="8650831" y="3472286"/>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2</m:t>
                                </m:r>
                              </m:e>
                            </m:mr>
                          </m:m>
                        </m:e>
                      </m:d>
                    </m:oMath>
                  </m:oMathPara>
                </a14:m>
                <a:endParaRPr lang="en-GB" dirty="0"/>
              </a:p>
            </p:txBody>
          </p:sp>
        </mc:Choice>
        <mc:Fallback xmlns="">
          <p:sp>
            <p:nvSpPr>
              <p:cNvPr id="59" name="TextBox 58"/>
              <p:cNvSpPr txBox="1">
                <a:spLocks noRot="1" noChangeAspect="1" noMove="1" noResize="1" noEditPoints="1" noAdjustHandles="1" noChangeArrowheads="1" noChangeShapeType="1" noTextEdit="1"/>
              </p:cNvSpPr>
              <p:nvPr/>
            </p:nvSpPr>
            <p:spPr>
              <a:xfrm>
                <a:off x="8650831" y="3472286"/>
                <a:ext cx="504056" cy="554254"/>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0" name="TextBox 59"/>
              <p:cNvSpPr txBox="1"/>
              <p:nvPr/>
            </p:nvSpPr>
            <p:spPr>
              <a:xfrm>
                <a:off x="9439485" y="3447702"/>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3</m:t>
                                </m:r>
                              </m:e>
                            </m:mr>
                          </m:m>
                        </m:e>
                      </m:d>
                    </m:oMath>
                  </m:oMathPara>
                </a14:m>
                <a:endParaRPr lang="en-GB" dirty="0"/>
              </a:p>
            </p:txBody>
          </p:sp>
        </mc:Choice>
        <mc:Fallback xmlns="">
          <p:sp>
            <p:nvSpPr>
              <p:cNvPr id="60" name="TextBox 59"/>
              <p:cNvSpPr txBox="1">
                <a:spLocks noRot="1" noChangeAspect="1" noMove="1" noResize="1" noEditPoints="1" noAdjustHandles="1" noChangeArrowheads="1" noChangeShapeType="1" noTextEdit="1"/>
              </p:cNvSpPr>
              <p:nvPr/>
            </p:nvSpPr>
            <p:spPr>
              <a:xfrm>
                <a:off x="9439485" y="3447702"/>
                <a:ext cx="504056" cy="554254"/>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6616455" y="4026401"/>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0</m:t>
                                </m:r>
                              </m:e>
                            </m:mr>
                          </m:m>
                        </m:e>
                      </m:d>
                    </m:oMath>
                  </m:oMathPara>
                </a14:m>
                <a:endParaRPr lang="en-GB" dirty="0"/>
              </a:p>
            </p:txBody>
          </p:sp>
        </mc:Choice>
        <mc:Fallback xmlns="">
          <p:sp>
            <p:nvSpPr>
              <p:cNvPr id="61" name="TextBox 60"/>
              <p:cNvSpPr txBox="1">
                <a:spLocks noRot="1" noChangeAspect="1" noMove="1" noResize="1" noEditPoints="1" noAdjustHandles="1" noChangeArrowheads="1" noChangeShapeType="1" noTextEdit="1"/>
              </p:cNvSpPr>
              <p:nvPr/>
            </p:nvSpPr>
            <p:spPr>
              <a:xfrm>
                <a:off x="6616455" y="4026401"/>
                <a:ext cx="504056" cy="554254"/>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2" name="TextBox 61"/>
              <p:cNvSpPr txBox="1"/>
              <p:nvPr/>
            </p:nvSpPr>
            <p:spPr>
              <a:xfrm>
                <a:off x="7444834" y="4012133"/>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1</m:t>
                                </m:r>
                              </m:e>
                            </m:mr>
                          </m:m>
                        </m:e>
                      </m:d>
                    </m:oMath>
                  </m:oMathPara>
                </a14:m>
                <a:endParaRPr lang="en-GB" dirty="0"/>
              </a:p>
            </p:txBody>
          </p:sp>
        </mc:Choice>
        <mc:Fallback xmlns="">
          <p:sp>
            <p:nvSpPr>
              <p:cNvPr id="62" name="TextBox 61"/>
              <p:cNvSpPr txBox="1">
                <a:spLocks noRot="1" noChangeAspect="1" noMove="1" noResize="1" noEditPoints="1" noAdjustHandles="1" noChangeArrowheads="1" noChangeShapeType="1" noTextEdit="1"/>
              </p:cNvSpPr>
              <p:nvPr/>
            </p:nvSpPr>
            <p:spPr>
              <a:xfrm>
                <a:off x="7444834" y="4012133"/>
                <a:ext cx="504056" cy="554254"/>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8253410" y="4017198"/>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2</m:t>
                                </m:r>
                              </m:e>
                            </m:mr>
                          </m:m>
                        </m:e>
                      </m:d>
                    </m:oMath>
                  </m:oMathPara>
                </a14:m>
                <a:endParaRPr lang="en-GB" dirty="0"/>
              </a:p>
            </p:txBody>
          </p:sp>
        </mc:Choice>
        <mc:Fallback xmlns="">
          <p:sp>
            <p:nvSpPr>
              <p:cNvPr id="63" name="TextBox 62"/>
              <p:cNvSpPr txBox="1">
                <a:spLocks noRot="1" noChangeAspect="1" noMove="1" noResize="1" noEditPoints="1" noAdjustHandles="1" noChangeArrowheads="1" noChangeShapeType="1" noTextEdit="1"/>
              </p:cNvSpPr>
              <p:nvPr/>
            </p:nvSpPr>
            <p:spPr>
              <a:xfrm>
                <a:off x="8253410" y="4017198"/>
                <a:ext cx="504056" cy="554254"/>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a:off x="9081789" y="3993760"/>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3</m:t>
                                </m:r>
                              </m:e>
                            </m:mr>
                          </m:m>
                        </m:e>
                      </m:d>
                    </m:oMath>
                  </m:oMathPara>
                </a14:m>
                <a:endParaRPr lang="en-GB" dirty="0"/>
              </a:p>
            </p:txBody>
          </p:sp>
        </mc:Choice>
        <mc:Fallback xmlns="">
          <p:sp>
            <p:nvSpPr>
              <p:cNvPr id="64" name="TextBox 63"/>
              <p:cNvSpPr txBox="1">
                <a:spLocks noRot="1" noChangeAspect="1" noMove="1" noResize="1" noEditPoints="1" noAdjustHandles="1" noChangeArrowheads="1" noChangeShapeType="1" noTextEdit="1"/>
              </p:cNvSpPr>
              <p:nvPr/>
            </p:nvSpPr>
            <p:spPr>
              <a:xfrm>
                <a:off x="9081789" y="3993760"/>
                <a:ext cx="504056" cy="554254"/>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p:cNvSpPr txBox="1"/>
              <p:nvPr/>
            </p:nvSpPr>
            <p:spPr>
              <a:xfrm>
                <a:off x="9828422" y="4003285"/>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4</m:t>
                                </m:r>
                              </m:e>
                            </m:mr>
                          </m:m>
                        </m:e>
                      </m:d>
                    </m:oMath>
                  </m:oMathPara>
                </a14:m>
                <a:endParaRPr lang="en-GB" dirty="0"/>
              </a:p>
            </p:txBody>
          </p:sp>
        </mc:Choice>
        <mc:Fallback xmlns="">
          <p:sp>
            <p:nvSpPr>
              <p:cNvPr id="65" name="TextBox 64"/>
              <p:cNvSpPr txBox="1">
                <a:spLocks noRot="1" noChangeAspect="1" noMove="1" noResize="1" noEditPoints="1" noAdjustHandles="1" noChangeArrowheads="1" noChangeShapeType="1" noTextEdit="1"/>
              </p:cNvSpPr>
              <p:nvPr/>
            </p:nvSpPr>
            <p:spPr>
              <a:xfrm>
                <a:off x="9828422" y="4003285"/>
                <a:ext cx="504056" cy="554254"/>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1809772" y="702373"/>
                <a:ext cx="8522706" cy="923330"/>
              </a:xfrm>
              <a:prstGeom prst="rect">
                <a:avLst/>
              </a:prstGeom>
              <a:noFill/>
            </p:spPr>
            <p:txBody>
              <a:bodyPr wrap="square" rtlCol="0">
                <a:spAutoFit/>
              </a:bodyPr>
              <a:lstStyle/>
              <a:p>
                <a:r>
                  <a:rPr lang="en-GB" dirty="0"/>
                  <a:t>If the power in the binomial expansion is large, e.g.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𝑥</m:t>
                            </m:r>
                            <m:r>
                              <a:rPr lang="en-GB" i="1">
                                <a:latin typeface="Cambria Math" panose="02040503050406030204" pitchFamily="18" charset="0"/>
                              </a:rPr>
                              <m:t>+3</m:t>
                            </m:r>
                          </m:e>
                        </m:d>
                      </m:e>
                      <m:sup>
                        <m:r>
                          <a:rPr lang="en-GB" i="1">
                            <a:latin typeface="Cambria Math" panose="02040503050406030204" pitchFamily="18" charset="0"/>
                          </a:rPr>
                          <m:t>20</m:t>
                        </m:r>
                      </m:sup>
                    </m:sSup>
                  </m:oMath>
                </a14:m>
                <a:r>
                  <a:rPr lang="en-GB" dirty="0"/>
                  <a:t>, it is no longer practical to go this far down Pascal’s triangle. We can instead use the choose function to get numbers from anywhere within the triangle. We’ll practise doing this after the next exercise.</a:t>
                </a:r>
              </a:p>
            </p:txBody>
          </p:sp>
        </mc:Choice>
        <mc:Fallback xmlns="">
          <p:sp>
            <p:nvSpPr>
              <p:cNvPr id="66" name="TextBox 65"/>
              <p:cNvSpPr txBox="1">
                <a:spLocks noRot="1" noChangeAspect="1" noMove="1" noResize="1" noEditPoints="1" noAdjustHandles="1" noChangeArrowheads="1" noChangeShapeType="1" noTextEdit="1"/>
              </p:cNvSpPr>
              <p:nvPr/>
            </p:nvSpPr>
            <p:spPr>
              <a:xfrm>
                <a:off x="1809772" y="702373"/>
                <a:ext cx="8522706" cy="923330"/>
              </a:xfrm>
              <a:prstGeom prst="rect">
                <a:avLst/>
              </a:prstGeom>
              <a:blipFill>
                <a:blip r:embed="rId17"/>
                <a:stretch>
                  <a:fillRect l="-644" t="-3289" r="-715" b="-92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1926261" y="4995506"/>
                <a:ext cx="8528496" cy="152881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Textbook Note: </a:t>
                </a:r>
                <a:r>
                  <a:rPr lang="en-GB" sz="1400" dirty="0"/>
                  <a:t>The textbook refers to the top row as the “1</a:t>
                </a:r>
                <a:r>
                  <a:rPr lang="en-GB" sz="1400" baseline="30000" dirty="0"/>
                  <a:t>st</a:t>
                </a:r>
                <a:r>
                  <a:rPr lang="en-GB" sz="1400" dirty="0"/>
                  <a:t> row” and the first number in each row as the “1</a:t>
                </a:r>
                <a:r>
                  <a:rPr lang="en-GB" sz="1400" baseline="30000" dirty="0"/>
                  <a:t>st</a:t>
                </a:r>
                <a:r>
                  <a:rPr lang="en-GB" sz="1400" dirty="0"/>
                  <a:t> entry”. This might sound sensible, but is against accepted practice: It makes much more sense that the row number matches the number at the top of the binomial coefficient, and the entry number matches the bottom number. </a:t>
                </a:r>
              </a:p>
              <a:p>
                <a:r>
                  <a:rPr lang="en-GB" sz="1400" dirty="0"/>
                  <a:t>We therefore call the top row the “0</a:t>
                </a:r>
                <a:r>
                  <a:rPr lang="en-GB" sz="1400" baseline="30000" dirty="0"/>
                  <a:t>th</a:t>
                </a:r>
                <a:r>
                  <a:rPr lang="en-GB" sz="1400" dirty="0"/>
                  <a:t> row” and the first entry of each row the “0</a:t>
                </a:r>
                <a:r>
                  <a:rPr lang="en-GB" sz="1400" baseline="30000" dirty="0"/>
                  <a:t>th</a:t>
                </a:r>
                <a:r>
                  <a:rPr lang="en-GB" sz="1400" dirty="0"/>
                  <a:t> entry”.</a:t>
                </a:r>
              </a:p>
              <a:p>
                <a:r>
                  <a:rPr lang="en-GB" sz="1400" dirty="0"/>
                  <a:t>So the </a:t>
                </a:r>
                <a14:m>
                  <m:oMath xmlns:m="http://schemas.openxmlformats.org/officeDocument/2006/math">
                    <m:r>
                      <a:rPr lang="en-GB" sz="1400" i="1">
                        <a:latin typeface="Cambria Math" panose="02040503050406030204" pitchFamily="18" charset="0"/>
                      </a:rPr>
                      <m:t>𝑘</m:t>
                    </m:r>
                  </m:oMath>
                </a14:m>
                <a:r>
                  <a:rPr lang="en-GB" sz="1400" dirty="0" err="1"/>
                  <a:t>th</a:t>
                </a:r>
                <a:r>
                  <a:rPr lang="en-GB" sz="1400" dirty="0"/>
                  <a:t> entry of the </a:t>
                </a:r>
                <a14:m>
                  <m:oMath xmlns:m="http://schemas.openxmlformats.org/officeDocument/2006/math">
                    <m:r>
                      <a:rPr lang="en-GB" sz="1400" i="1">
                        <a:latin typeface="Cambria Math" panose="02040503050406030204" pitchFamily="18" charset="0"/>
                      </a:rPr>
                      <m:t>𝑛</m:t>
                    </m:r>
                  </m:oMath>
                </a14:m>
                <a:r>
                  <a:rPr lang="en-GB" sz="1400" dirty="0" err="1"/>
                  <a:t>th</a:t>
                </a:r>
                <a:r>
                  <a:rPr lang="en-GB" sz="1400" dirty="0"/>
                  <a:t> row of Pascal’s Triangle is therefore a nice clean </a:t>
                </a:r>
                <a14:m>
                  <m:oMath xmlns:m="http://schemas.openxmlformats.org/officeDocument/2006/math">
                    <m:d>
                      <m:dPr>
                        <m:ctrlPr>
                          <a:rPr lang="en-GB" sz="1400" i="1">
                            <a:latin typeface="Cambria Math" panose="02040503050406030204" pitchFamily="18" charset="0"/>
                          </a:rPr>
                        </m:ctrlPr>
                      </m:dPr>
                      <m:e>
                        <m:m>
                          <m:mPr>
                            <m:plcHide m:val="on"/>
                            <m:mcs>
                              <m:mc>
                                <m:mcPr>
                                  <m:count m:val="1"/>
                                  <m:mcJc m:val="center"/>
                                </m:mcPr>
                              </m:mc>
                            </m:mcs>
                            <m:ctrlPr>
                              <a:rPr lang="en-GB" sz="1400" i="1">
                                <a:latin typeface="Cambria Math" panose="02040503050406030204" pitchFamily="18" charset="0"/>
                              </a:rPr>
                            </m:ctrlPr>
                          </m:mPr>
                          <m:mr>
                            <m:e>
                              <m:r>
                                <a:rPr lang="en-GB" sz="1400" i="1">
                                  <a:latin typeface="Cambria Math" panose="02040503050406030204" pitchFamily="18" charset="0"/>
                                </a:rPr>
                                <m:t>𝑛</m:t>
                              </m:r>
                            </m:e>
                          </m:mr>
                          <m:mr>
                            <m:e>
                              <m:r>
                                <a:rPr lang="en-GB" sz="1400" i="1">
                                  <a:latin typeface="Cambria Math" panose="02040503050406030204" pitchFamily="18" charset="0"/>
                                </a:rPr>
                                <m:t>𝑘</m:t>
                              </m:r>
                            </m:e>
                          </m:mr>
                        </m:m>
                      </m:e>
                    </m:d>
                  </m:oMath>
                </a14:m>
                <a:r>
                  <a:rPr lang="en-GB" sz="1400" dirty="0"/>
                  <a:t>, not </a:t>
                </a:r>
                <a14:m>
                  <m:oMath xmlns:m="http://schemas.openxmlformats.org/officeDocument/2006/math">
                    <m:d>
                      <m:dPr>
                        <m:ctrlPr>
                          <a:rPr lang="en-GB" sz="1400" i="1">
                            <a:latin typeface="Cambria Math" panose="02040503050406030204" pitchFamily="18" charset="0"/>
                          </a:rPr>
                        </m:ctrlPr>
                      </m:dPr>
                      <m:e>
                        <m:m>
                          <m:mPr>
                            <m:plcHide m:val="on"/>
                            <m:mcs>
                              <m:mc>
                                <m:mcPr>
                                  <m:count m:val="1"/>
                                  <m:mcJc m:val="center"/>
                                </m:mcPr>
                              </m:mc>
                            </m:mcs>
                            <m:ctrlPr>
                              <a:rPr lang="en-GB" sz="1400" i="1">
                                <a:latin typeface="Cambria Math" panose="02040503050406030204" pitchFamily="18" charset="0"/>
                              </a:rPr>
                            </m:ctrlPr>
                          </m:mPr>
                          <m:mr>
                            <m:e>
                              <m:r>
                                <a:rPr lang="en-GB" sz="1400" i="1">
                                  <a:latin typeface="Cambria Math" panose="02040503050406030204" pitchFamily="18" charset="0"/>
                                </a:rPr>
                                <m:t>𝑛</m:t>
                              </m:r>
                              <m:r>
                                <a:rPr lang="en-GB" sz="1400" i="1">
                                  <a:latin typeface="Cambria Math" panose="02040503050406030204" pitchFamily="18" charset="0"/>
                                </a:rPr>
                                <m:t>−1</m:t>
                              </m:r>
                            </m:e>
                          </m:mr>
                          <m:mr>
                            <m:e>
                              <m:r>
                                <a:rPr lang="en-GB" sz="1400" i="1">
                                  <a:latin typeface="Cambria Math" panose="02040503050406030204" pitchFamily="18" charset="0"/>
                                </a:rPr>
                                <m:t>𝑘</m:t>
                              </m:r>
                              <m:r>
                                <a:rPr lang="en-GB" sz="1400" i="1">
                                  <a:latin typeface="Cambria Math" panose="02040503050406030204" pitchFamily="18" charset="0"/>
                                </a:rPr>
                                <m:t>−1</m:t>
                              </m:r>
                            </m:e>
                          </m:mr>
                        </m:m>
                      </m:e>
                    </m:d>
                  </m:oMath>
                </a14:m>
                <a:r>
                  <a:rPr lang="en-GB" sz="1400" dirty="0"/>
                  <a:t> as suggested by the textbook. </a:t>
                </a:r>
              </a:p>
            </p:txBody>
          </p:sp>
        </mc:Choice>
        <mc:Fallback xmlns="">
          <p:sp>
            <p:nvSpPr>
              <p:cNvPr id="67" name="TextBox 66"/>
              <p:cNvSpPr txBox="1">
                <a:spLocks noRot="1" noChangeAspect="1" noMove="1" noResize="1" noEditPoints="1" noAdjustHandles="1" noChangeArrowheads="1" noChangeShapeType="1" noTextEdit="1"/>
              </p:cNvSpPr>
              <p:nvPr/>
            </p:nvSpPr>
            <p:spPr>
              <a:xfrm>
                <a:off x="1926261" y="4995506"/>
                <a:ext cx="8528496" cy="1528816"/>
              </a:xfrm>
              <a:prstGeom prst="rect">
                <a:avLst/>
              </a:prstGeom>
              <a:blipFill>
                <a:blip r:embed="rId18"/>
                <a:stretch>
                  <a:fillRect l="-71" r="-71" b="-2745"/>
                </a:stretch>
              </a:blipFill>
            </p:spPr>
            <p:txBody>
              <a:bodyPr/>
              <a:lstStyle/>
              <a:p>
                <a:r>
                  <a:rPr lang="en-GB">
                    <a:noFill/>
                  </a:rPr>
                  <a:t> </a:t>
                </a:r>
              </a:p>
            </p:txBody>
          </p:sp>
        </mc:Fallback>
      </mc:AlternateContent>
      <p:sp>
        <p:nvSpPr>
          <p:cNvPr id="69" name="TextBox 68"/>
          <p:cNvSpPr txBox="1"/>
          <p:nvPr/>
        </p:nvSpPr>
        <p:spPr>
          <a:xfrm>
            <a:off x="5735963" y="1772819"/>
            <a:ext cx="918595" cy="36948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0</a:t>
            </a:r>
            <a:r>
              <a:rPr lang="en-GB" baseline="30000" dirty="0"/>
              <a:t>th</a:t>
            </a:r>
            <a:r>
              <a:rPr lang="en-GB" dirty="0"/>
              <a:t> row</a:t>
            </a:r>
          </a:p>
        </p:txBody>
      </p:sp>
      <p:sp>
        <p:nvSpPr>
          <p:cNvPr id="70" name="TextBox 69"/>
          <p:cNvSpPr txBox="1"/>
          <p:nvPr/>
        </p:nvSpPr>
        <p:spPr>
          <a:xfrm>
            <a:off x="5734996" y="2279043"/>
            <a:ext cx="918595"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1</a:t>
            </a:r>
            <a:r>
              <a:rPr lang="en-GB" baseline="30000" dirty="0"/>
              <a:t>st</a:t>
            </a:r>
            <a:r>
              <a:rPr lang="en-GB" dirty="0"/>
              <a:t> row</a:t>
            </a:r>
          </a:p>
        </p:txBody>
      </p:sp>
      <p:sp>
        <p:nvSpPr>
          <p:cNvPr id="71" name="TextBox 70"/>
          <p:cNvSpPr txBox="1"/>
          <p:nvPr/>
        </p:nvSpPr>
        <p:spPr>
          <a:xfrm>
            <a:off x="5734996" y="2897389"/>
            <a:ext cx="918595"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2</a:t>
            </a:r>
            <a:r>
              <a:rPr lang="en-GB" baseline="30000" dirty="0"/>
              <a:t>nd</a:t>
            </a:r>
            <a:r>
              <a:rPr lang="en-GB" dirty="0"/>
              <a:t> row</a:t>
            </a:r>
          </a:p>
        </p:txBody>
      </p:sp>
      <p:sp>
        <p:nvSpPr>
          <p:cNvPr id="72" name="TextBox 71"/>
          <p:cNvSpPr txBox="1"/>
          <p:nvPr/>
        </p:nvSpPr>
        <p:spPr>
          <a:xfrm>
            <a:off x="5736327" y="3443692"/>
            <a:ext cx="918595"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3</a:t>
            </a:r>
            <a:r>
              <a:rPr lang="en-GB" baseline="30000" dirty="0"/>
              <a:t>rd</a:t>
            </a:r>
            <a:r>
              <a:rPr lang="en-GB" dirty="0"/>
              <a:t> row</a:t>
            </a:r>
          </a:p>
        </p:txBody>
      </p:sp>
      <p:cxnSp>
        <p:nvCxnSpPr>
          <p:cNvPr id="74" name="Straight Arrow Connector 73"/>
          <p:cNvCxnSpPr/>
          <p:nvPr/>
        </p:nvCxnSpPr>
        <p:spPr>
          <a:xfrm flipV="1">
            <a:off x="5985888" y="4011568"/>
            <a:ext cx="95091" cy="9725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5" name="TextBox 74"/>
              <p:cNvSpPr txBox="1"/>
              <p:nvPr/>
            </p:nvSpPr>
            <p:spPr>
              <a:xfrm>
                <a:off x="1902624" y="1925302"/>
                <a:ext cx="3444079" cy="1312603"/>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Notice: </a:t>
                </a:r>
                <a:r>
                  <a:rPr lang="en-GB" sz="1400" dirty="0"/>
                  <a:t>The top number matches the row number. The bottom number goes from 0 and eventually matches the top number. It’s easy to see from the symmetry of Pascal’s Triangle that </a:t>
                </a:r>
                <a14:m>
                  <m:oMath xmlns:m="http://schemas.openxmlformats.org/officeDocument/2006/math">
                    <m:d>
                      <m:dPr>
                        <m:ctrlPr>
                          <a:rPr lang="en-GB" sz="1400" i="1">
                            <a:latin typeface="Cambria Math" panose="02040503050406030204" pitchFamily="18" charset="0"/>
                          </a:rPr>
                        </m:ctrlPr>
                      </m:dPr>
                      <m:e>
                        <m:m>
                          <m:mPr>
                            <m:plcHide m:val="on"/>
                            <m:mcs>
                              <m:mc>
                                <m:mcPr>
                                  <m:count m:val="1"/>
                                  <m:mcJc m:val="center"/>
                                </m:mcPr>
                              </m:mc>
                            </m:mcs>
                            <m:ctrlPr>
                              <a:rPr lang="en-GB" sz="1400" i="1">
                                <a:latin typeface="Cambria Math" panose="02040503050406030204" pitchFamily="18" charset="0"/>
                              </a:rPr>
                            </m:ctrlPr>
                          </m:mPr>
                          <m:mr>
                            <m:e>
                              <m:r>
                                <a:rPr lang="en-GB" sz="1400" i="1">
                                  <a:latin typeface="Cambria Math" panose="02040503050406030204" pitchFamily="18" charset="0"/>
                                </a:rPr>
                                <m:t>4</m:t>
                              </m:r>
                            </m:e>
                          </m:mr>
                          <m:mr>
                            <m:e>
                              <m:r>
                                <a:rPr lang="en-GB" sz="1400" i="1">
                                  <a:latin typeface="Cambria Math" panose="02040503050406030204" pitchFamily="18" charset="0"/>
                                </a:rPr>
                                <m:t>1</m:t>
                              </m:r>
                            </m:e>
                          </m:mr>
                        </m:m>
                      </m:e>
                    </m:d>
                    <m:r>
                      <a:rPr lang="en-GB" sz="1400" i="1">
                        <a:latin typeface="Cambria Math" panose="02040503050406030204" pitchFamily="18" charset="0"/>
                      </a:rPr>
                      <m:t>=</m:t>
                    </m:r>
                    <m:d>
                      <m:dPr>
                        <m:ctrlPr>
                          <a:rPr lang="en-GB" sz="1400" i="1">
                            <a:latin typeface="Cambria Math" panose="02040503050406030204" pitchFamily="18" charset="0"/>
                          </a:rPr>
                        </m:ctrlPr>
                      </m:dPr>
                      <m:e>
                        <m:m>
                          <m:mPr>
                            <m:plcHide m:val="on"/>
                            <m:mcs>
                              <m:mc>
                                <m:mcPr>
                                  <m:count m:val="1"/>
                                  <m:mcJc m:val="center"/>
                                </m:mcPr>
                              </m:mc>
                            </m:mcs>
                            <m:ctrlPr>
                              <a:rPr lang="en-GB" sz="1400" i="1">
                                <a:latin typeface="Cambria Math" panose="02040503050406030204" pitchFamily="18" charset="0"/>
                              </a:rPr>
                            </m:ctrlPr>
                          </m:mPr>
                          <m:mr>
                            <m:e>
                              <m:r>
                                <a:rPr lang="en-GB" sz="1400" i="1">
                                  <a:latin typeface="Cambria Math" panose="02040503050406030204" pitchFamily="18" charset="0"/>
                                </a:rPr>
                                <m:t>4</m:t>
                              </m:r>
                            </m:e>
                          </m:mr>
                          <m:mr>
                            <m:e>
                              <m:r>
                                <a:rPr lang="en-GB" sz="1400" i="1">
                                  <a:latin typeface="Cambria Math" panose="02040503050406030204" pitchFamily="18" charset="0"/>
                                </a:rPr>
                                <m:t>3</m:t>
                              </m:r>
                            </m:e>
                          </m:mr>
                        </m:m>
                      </m:e>
                    </m:d>
                  </m:oMath>
                </a14:m>
                <a:r>
                  <a:rPr lang="en-GB" sz="1400" dirty="0"/>
                  <a:t> for example.</a:t>
                </a:r>
              </a:p>
            </p:txBody>
          </p:sp>
        </mc:Choice>
        <mc:Fallback xmlns="">
          <p:sp>
            <p:nvSpPr>
              <p:cNvPr id="75" name="TextBox 74"/>
              <p:cNvSpPr txBox="1">
                <a:spLocks noRot="1" noChangeAspect="1" noMove="1" noResize="1" noEditPoints="1" noAdjustHandles="1" noChangeArrowheads="1" noChangeShapeType="1" noTextEdit="1"/>
              </p:cNvSpPr>
              <p:nvPr/>
            </p:nvSpPr>
            <p:spPr>
              <a:xfrm>
                <a:off x="1902624" y="1925302"/>
                <a:ext cx="3444079" cy="1312603"/>
              </a:xfrm>
              <a:prstGeom prst="rect">
                <a:avLst/>
              </a:prstGeom>
              <a:blipFill>
                <a:blip r:embed="rId19"/>
                <a:stretch>
                  <a:fillRect l="-176"/>
                </a:stretch>
              </a:blipFill>
            </p:spPr>
            <p:txBody>
              <a:bodyPr/>
              <a:lstStyle/>
              <a:p>
                <a:r>
                  <a:rPr lang="en-GB">
                    <a:noFill/>
                  </a:rPr>
                  <a:t> </a:t>
                </a:r>
              </a:p>
            </p:txBody>
          </p:sp>
        </mc:Fallback>
      </mc:AlternateContent>
      <p:cxnSp>
        <p:nvCxnSpPr>
          <p:cNvPr id="76" name="Straight Arrow Connector 75"/>
          <p:cNvCxnSpPr/>
          <p:nvPr/>
        </p:nvCxnSpPr>
        <p:spPr>
          <a:xfrm>
            <a:off x="5218222" y="2687556"/>
            <a:ext cx="1944581" cy="2461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8" name="Arrow: Right 77"/>
          <p:cNvSpPr/>
          <p:nvPr/>
        </p:nvSpPr>
        <p:spPr>
          <a:xfrm>
            <a:off x="5475096" y="2607352"/>
            <a:ext cx="1440160" cy="51281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76712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wipe(left)">
                                      <p:cBhvr>
                                        <p:cTn id="7" dur="500"/>
                                        <p:tgtEl>
                                          <p:spTgt spid="7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500"/>
                                        <p:tgtEl>
                                          <p:spTgt spid="5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2"/>
                                        </p:tgtEl>
                                        <p:attrNameLst>
                                          <p:attrName>style.visibility</p:attrName>
                                        </p:attrNameLst>
                                      </p:cBhvr>
                                      <p:to>
                                        <p:strVal val="visible"/>
                                      </p:to>
                                    </p:set>
                                    <p:animEffect transition="in" filter="fade">
                                      <p:cBhvr>
                                        <p:cTn id="14" dur="500"/>
                                        <p:tgtEl>
                                          <p:spTgt spid="5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fade">
                                      <p:cBhvr>
                                        <p:cTn id="17" dur="500"/>
                                        <p:tgtEl>
                                          <p:spTgt spid="5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4"/>
                                        </p:tgtEl>
                                        <p:attrNameLst>
                                          <p:attrName>style.visibility</p:attrName>
                                        </p:attrNameLst>
                                      </p:cBhvr>
                                      <p:to>
                                        <p:strVal val="visible"/>
                                      </p:to>
                                    </p:set>
                                    <p:animEffect transition="in" filter="fade">
                                      <p:cBhvr>
                                        <p:cTn id="20" dur="500"/>
                                        <p:tgtEl>
                                          <p:spTgt spid="5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fade">
                                      <p:cBhvr>
                                        <p:cTn id="23" dur="500"/>
                                        <p:tgtEl>
                                          <p:spTgt spid="5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6"/>
                                        </p:tgtEl>
                                        <p:attrNameLst>
                                          <p:attrName>style.visibility</p:attrName>
                                        </p:attrNameLst>
                                      </p:cBhvr>
                                      <p:to>
                                        <p:strVal val="visible"/>
                                      </p:to>
                                    </p:set>
                                    <p:animEffect transition="in" filter="fade">
                                      <p:cBhvr>
                                        <p:cTn id="26" dur="500"/>
                                        <p:tgtEl>
                                          <p:spTgt spid="5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7"/>
                                        </p:tgtEl>
                                        <p:attrNameLst>
                                          <p:attrName>style.visibility</p:attrName>
                                        </p:attrNameLst>
                                      </p:cBhvr>
                                      <p:to>
                                        <p:strVal val="visible"/>
                                      </p:to>
                                    </p:set>
                                    <p:animEffect transition="in" filter="fade">
                                      <p:cBhvr>
                                        <p:cTn id="29" dur="500"/>
                                        <p:tgtEl>
                                          <p:spTgt spid="5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8"/>
                                        </p:tgtEl>
                                        <p:attrNameLst>
                                          <p:attrName>style.visibility</p:attrName>
                                        </p:attrNameLst>
                                      </p:cBhvr>
                                      <p:to>
                                        <p:strVal val="visible"/>
                                      </p:to>
                                    </p:set>
                                    <p:animEffect transition="in" filter="fade">
                                      <p:cBhvr>
                                        <p:cTn id="32" dur="500"/>
                                        <p:tgtEl>
                                          <p:spTgt spid="5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9"/>
                                        </p:tgtEl>
                                        <p:attrNameLst>
                                          <p:attrName>style.visibility</p:attrName>
                                        </p:attrNameLst>
                                      </p:cBhvr>
                                      <p:to>
                                        <p:strVal val="visible"/>
                                      </p:to>
                                    </p:set>
                                    <p:animEffect transition="in" filter="fade">
                                      <p:cBhvr>
                                        <p:cTn id="35" dur="500"/>
                                        <p:tgtEl>
                                          <p:spTgt spid="5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60"/>
                                        </p:tgtEl>
                                        <p:attrNameLst>
                                          <p:attrName>style.visibility</p:attrName>
                                        </p:attrNameLst>
                                      </p:cBhvr>
                                      <p:to>
                                        <p:strVal val="visible"/>
                                      </p:to>
                                    </p:set>
                                    <p:animEffect transition="in" filter="fade">
                                      <p:cBhvr>
                                        <p:cTn id="38" dur="500"/>
                                        <p:tgtEl>
                                          <p:spTgt spid="6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1"/>
                                        </p:tgtEl>
                                        <p:attrNameLst>
                                          <p:attrName>style.visibility</p:attrName>
                                        </p:attrNameLst>
                                      </p:cBhvr>
                                      <p:to>
                                        <p:strVal val="visible"/>
                                      </p:to>
                                    </p:set>
                                    <p:animEffect transition="in" filter="fade">
                                      <p:cBhvr>
                                        <p:cTn id="41" dur="500"/>
                                        <p:tgtEl>
                                          <p:spTgt spid="6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2"/>
                                        </p:tgtEl>
                                        <p:attrNameLst>
                                          <p:attrName>style.visibility</p:attrName>
                                        </p:attrNameLst>
                                      </p:cBhvr>
                                      <p:to>
                                        <p:strVal val="visible"/>
                                      </p:to>
                                    </p:set>
                                    <p:animEffect transition="in" filter="fade">
                                      <p:cBhvr>
                                        <p:cTn id="44" dur="500"/>
                                        <p:tgtEl>
                                          <p:spTgt spid="6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3"/>
                                        </p:tgtEl>
                                        <p:attrNameLst>
                                          <p:attrName>style.visibility</p:attrName>
                                        </p:attrNameLst>
                                      </p:cBhvr>
                                      <p:to>
                                        <p:strVal val="visible"/>
                                      </p:to>
                                    </p:set>
                                    <p:animEffect transition="in" filter="fade">
                                      <p:cBhvr>
                                        <p:cTn id="47" dur="500"/>
                                        <p:tgtEl>
                                          <p:spTgt spid="6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4"/>
                                        </p:tgtEl>
                                        <p:attrNameLst>
                                          <p:attrName>style.visibility</p:attrName>
                                        </p:attrNameLst>
                                      </p:cBhvr>
                                      <p:to>
                                        <p:strVal val="visible"/>
                                      </p:to>
                                    </p:set>
                                    <p:animEffect transition="in" filter="fade">
                                      <p:cBhvr>
                                        <p:cTn id="50" dur="500"/>
                                        <p:tgtEl>
                                          <p:spTgt spid="6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5"/>
                                        </p:tgtEl>
                                        <p:attrNameLst>
                                          <p:attrName>style.visibility</p:attrName>
                                        </p:attrNameLst>
                                      </p:cBhvr>
                                      <p:to>
                                        <p:strVal val="visible"/>
                                      </p:to>
                                    </p:set>
                                    <p:animEffect transition="in" filter="fade">
                                      <p:cBhvr>
                                        <p:cTn id="53" dur="500"/>
                                        <p:tgtEl>
                                          <p:spTgt spid="65"/>
                                        </p:tgtEl>
                                      </p:cBhvr>
                                    </p:animEffect>
                                  </p:childTnLst>
                                </p:cTn>
                              </p:par>
                            </p:childTnLst>
                          </p:cTn>
                        </p:par>
                        <p:par>
                          <p:cTn id="54" fill="hold">
                            <p:stCondLst>
                              <p:cond delay="1000"/>
                            </p:stCondLst>
                            <p:childTnLst>
                              <p:par>
                                <p:cTn id="55" presetID="22" presetClass="exit" presetSubtype="8" fill="hold" grpId="1" nodeType="afterEffect">
                                  <p:stCondLst>
                                    <p:cond delay="0"/>
                                  </p:stCondLst>
                                  <p:childTnLst>
                                    <p:animEffect transition="out" filter="wipe(left)">
                                      <p:cBhvr>
                                        <p:cTn id="56" dur="500"/>
                                        <p:tgtEl>
                                          <p:spTgt spid="78"/>
                                        </p:tgtEl>
                                      </p:cBhvr>
                                    </p:animEffect>
                                    <p:set>
                                      <p:cBhvr>
                                        <p:cTn id="57" dur="1" fill="hold">
                                          <p:stCondLst>
                                            <p:cond delay="499"/>
                                          </p:stCondLst>
                                        </p:cTn>
                                        <p:tgtEl>
                                          <p:spTgt spid="7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75"/>
                                        </p:tgtEl>
                                        <p:attrNameLst>
                                          <p:attrName>style.visibility</p:attrName>
                                        </p:attrNameLst>
                                      </p:cBhvr>
                                      <p:to>
                                        <p:strVal val="visible"/>
                                      </p:to>
                                    </p:set>
                                    <p:animEffect transition="in" filter="fade">
                                      <p:cBhvr>
                                        <p:cTn id="62" dur="500"/>
                                        <p:tgtEl>
                                          <p:spTgt spid="75"/>
                                        </p:tgtEl>
                                      </p:cBhvr>
                                    </p:animEffect>
                                  </p:childTnLst>
                                </p:cTn>
                              </p:par>
                              <p:par>
                                <p:cTn id="63" presetID="10" presetClass="entr" presetSubtype="0" fill="hold" nodeType="withEffect">
                                  <p:stCondLst>
                                    <p:cond delay="0"/>
                                  </p:stCondLst>
                                  <p:childTnLst>
                                    <p:set>
                                      <p:cBhvr>
                                        <p:cTn id="64" dur="1" fill="hold">
                                          <p:stCondLst>
                                            <p:cond delay="0"/>
                                          </p:stCondLst>
                                        </p:cTn>
                                        <p:tgtEl>
                                          <p:spTgt spid="76"/>
                                        </p:tgtEl>
                                        <p:attrNameLst>
                                          <p:attrName>style.visibility</p:attrName>
                                        </p:attrNameLst>
                                      </p:cBhvr>
                                      <p:to>
                                        <p:strVal val="visible"/>
                                      </p:to>
                                    </p:set>
                                    <p:animEffect transition="in" filter="fade">
                                      <p:cBhvr>
                                        <p:cTn id="65" dur="500"/>
                                        <p:tgtEl>
                                          <p:spTgt spid="76"/>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74"/>
                                        </p:tgtEl>
                                        <p:attrNameLst>
                                          <p:attrName>style.visibility</p:attrName>
                                        </p:attrNameLst>
                                      </p:cBhvr>
                                      <p:to>
                                        <p:strVal val="visible"/>
                                      </p:to>
                                    </p:set>
                                    <p:animEffect transition="in" filter="fade">
                                      <p:cBhvr>
                                        <p:cTn id="70" dur="500"/>
                                        <p:tgtEl>
                                          <p:spTgt spid="7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7"/>
                                        </p:tgtEl>
                                        <p:attrNameLst>
                                          <p:attrName>style.visibility</p:attrName>
                                        </p:attrNameLst>
                                      </p:cBhvr>
                                      <p:to>
                                        <p:strVal val="visible"/>
                                      </p:to>
                                    </p:set>
                                    <p:animEffect transition="in" filter="fade">
                                      <p:cBhvr>
                                        <p:cTn id="73"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P spid="67" grpId="0" animBg="1"/>
      <p:bldP spid="75" grpId="0" animBg="1"/>
      <p:bldP spid="78" grpId="0" animBg="1"/>
      <p:bldP spid="78" grpId="1" animBg="1"/>
    </p:bldLst>
  </p:timing>
</p:sld>
</file>

<file path=ppt/c8/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Interesting facts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3754194" y="802299"/>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0</m:t>
                                </m:r>
                              </m:e>
                            </m:mr>
                            <m:mr>
                              <m:e>
                                <m:r>
                                  <a:rPr lang="en-GB" i="1">
                                    <a:latin typeface="Cambria Math" panose="02040503050406030204" pitchFamily="18" charset="0"/>
                                  </a:rPr>
                                  <m:t>0</m:t>
                                </m:r>
                              </m:e>
                            </m:mr>
                          </m:m>
                        </m:e>
                      </m:d>
                    </m:oMath>
                  </m:oMathPara>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3754194" y="802299"/>
                <a:ext cx="504056" cy="554254"/>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372065" y="1321226"/>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1</m:t>
                                </m:r>
                              </m:e>
                            </m:mr>
                            <m:mr>
                              <m:e>
                                <m:r>
                                  <a:rPr lang="en-GB" i="1">
                                    <a:latin typeface="Cambria Math" panose="02040503050406030204" pitchFamily="18" charset="0"/>
                                  </a:rPr>
                                  <m:t>0</m:t>
                                </m:r>
                              </m:e>
                            </m:mr>
                          </m:m>
                        </m:e>
                      </m:d>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3372065" y="1321226"/>
                <a:ext cx="504056" cy="554254"/>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100827" y="1338890"/>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1</m:t>
                                </m:r>
                              </m:e>
                            </m:mr>
                            <m:mr>
                              <m:e>
                                <m:r>
                                  <a:rPr lang="en-GB" i="1">
                                    <a:latin typeface="Cambria Math" panose="02040503050406030204" pitchFamily="18" charset="0"/>
                                  </a:rPr>
                                  <m:t>1</m:t>
                                </m:r>
                              </m:e>
                            </m:mr>
                          </m:m>
                        </m:e>
                      </m:d>
                    </m:oMath>
                  </m:oMathPara>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4100827" y="1338890"/>
                <a:ext cx="504056" cy="554254"/>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941022" y="1949008"/>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2</m:t>
                                </m:r>
                              </m:e>
                            </m:mr>
                            <m:mr>
                              <m:e>
                                <m:r>
                                  <a:rPr lang="en-GB" i="1">
                                    <a:latin typeface="Cambria Math" panose="02040503050406030204" pitchFamily="18" charset="0"/>
                                  </a:rPr>
                                  <m:t>0</m:t>
                                </m:r>
                              </m:e>
                            </m:mr>
                          </m:m>
                        </m:e>
                      </m:d>
                    </m:oMath>
                  </m:oMathPara>
                </a14:m>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2941022" y="1949008"/>
                <a:ext cx="504056" cy="554254"/>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735096" y="1961031"/>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2</m:t>
                                </m:r>
                              </m:e>
                            </m:mr>
                            <m:mr>
                              <m:e>
                                <m:r>
                                  <a:rPr lang="en-GB" i="1">
                                    <a:latin typeface="Cambria Math" panose="02040503050406030204" pitchFamily="18" charset="0"/>
                                  </a:rPr>
                                  <m:t>1</m:t>
                                </m:r>
                              </m:e>
                            </m:mr>
                          </m:m>
                        </m:e>
                      </m:d>
                    </m:oMath>
                  </m:oMathPara>
                </a14:m>
                <a:endParaRPr lang="en-GB" dirty="0"/>
              </a:p>
            </p:txBody>
          </p:sp>
        </mc:Choice>
        <mc:Fallback xmlns="">
          <p:sp>
            <p:nvSpPr>
              <p:cNvPr id="9" name="TextBox 8"/>
              <p:cNvSpPr txBox="1">
                <a:spLocks noRot="1" noChangeAspect="1" noMove="1" noResize="1" noEditPoints="1" noAdjustHandles="1" noChangeArrowheads="1" noChangeShapeType="1" noTextEdit="1"/>
              </p:cNvSpPr>
              <p:nvPr/>
            </p:nvSpPr>
            <p:spPr>
              <a:xfrm>
                <a:off x="3735096" y="1961031"/>
                <a:ext cx="504056" cy="554254"/>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529170" y="1961031"/>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2</m:t>
                                </m:r>
                              </m:e>
                            </m:mr>
                            <m:mr>
                              <m:e>
                                <m:r>
                                  <a:rPr lang="en-GB" i="1">
                                    <a:latin typeface="Cambria Math" panose="02040503050406030204" pitchFamily="18" charset="0"/>
                                  </a:rPr>
                                  <m:t>2</m:t>
                                </m:r>
                              </m:e>
                            </m:mr>
                          </m:m>
                        </m:e>
                      </m:d>
                    </m:oMath>
                  </m:oMathPara>
                </a14:m>
                <a:endParaRPr lang="en-GB" dirty="0"/>
              </a:p>
            </p:txBody>
          </p:sp>
        </mc:Choice>
        <mc:Fallback xmlns="">
          <p:sp>
            <p:nvSpPr>
              <p:cNvPr id="10" name="TextBox 9"/>
              <p:cNvSpPr txBox="1">
                <a:spLocks noRot="1" noChangeAspect="1" noMove="1" noResize="1" noEditPoints="1" noAdjustHandles="1" noChangeArrowheads="1" noChangeShapeType="1" noTextEdit="1"/>
              </p:cNvSpPr>
              <p:nvPr/>
            </p:nvSpPr>
            <p:spPr>
              <a:xfrm>
                <a:off x="4529170" y="1961031"/>
                <a:ext cx="504056" cy="554254"/>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2507363" y="2521496"/>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0</m:t>
                                </m:r>
                              </m:e>
                            </m:mr>
                          </m:m>
                        </m:e>
                      </m:d>
                    </m:oMath>
                  </m:oMathPara>
                </a14:m>
                <a:endParaRPr lang="en-GB" dirty="0"/>
              </a:p>
            </p:txBody>
          </p:sp>
        </mc:Choice>
        <mc:Fallback xmlns="">
          <p:sp>
            <p:nvSpPr>
              <p:cNvPr id="11" name="TextBox 10"/>
              <p:cNvSpPr txBox="1">
                <a:spLocks noRot="1" noChangeAspect="1" noMove="1" noResize="1" noEditPoints="1" noAdjustHandles="1" noChangeArrowheads="1" noChangeShapeType="1" noTextEdit="1"/>
              </p:cNvSpPr>
              <p:nvPr/>
            </p:nvSpPr>
            <p:spPr>
              <a:xfrm>
                <a:off x="2507363" y="2521496"/>
                <a:ext cx="504056" cy="554254"/>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3312144" y="2530527"/>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1</m:t>
                                </m:r>
                              </m:e>
                            </m:mr>
                          </m:m>
                        </m:e>
                      </m:d>
                    </m:oMath>
                  </m:oMathPara>
                </a14:m>
                <a:endParaRPr lang="en-GB" dirty="0"/>
              </a:p>
            </p:txBody>
          </p:sp>
        </mc:Choice>
        <mc:Fallback xmlns="">
          <p:sp>
            <p:nvSpPr>
              <p:cNvPr id="12" name="TextBox 11"/>
              <p:cNvSpPr txBox="1">
                <a:spLocks noRot="1" noChangeAspect="1" noMove="1" noResize="1" noEditPoints="1" noAdjustHandles="1" noChangeArrowheads="1" noChangeShapeType="1" noTextEdit="1"/>
              </p:cNvSpPr>
              <p:nvPr/>
            </p:nvSpPr>
            <p:spPr>
              <a:xfrm>
                <a:off x="3312144" y="2530527"/>
                <a:ext cx="504056" cy="554254"/>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129453" y="2539869"/>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2</m:t>
                                </m:r>
                              </m:e>
                            </m:mr>
                          </m:m>
                        </m:e>
                      </m:d>
                    </m:oMath>
                  </m:oMathPara>
                </a14:m>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4129453" y="2539869"/>
                <a:ext cx="504056" cy="554254"/>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918107" y="2515285"/>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3</m:t>
                                </m:r>
                              </m:e>
                            </m:mr>
                          </m:m>
                        </m:e>
                      </m:d>
                    </m:oMath>
                  </m:oMathPara>
                </a14:m>
                <a:endParaRPr lang="en-GB" dirty="0"/>
              </a:p>
            </p:txBody>
          </p:sp>
        </mc:Choice>
        <mc:Fallback xmlns="">
          <p:sp>
            <p:nvSpPr>
              <p:cNvPr id="14" name="TextBox 13"/>
              <p:cNvSpPr txBox="1">
                <a:spLocks noRot="1" noChangeAspect="1" noMove="1" noResize="1" noEditPoints="1" noAdjustHandles="1" noChangeArrowheads="1" noChangeShapeType="1" noTextEdit="1"/>
              </p:cNvSpPr>
              <p:nvPr/>
            </p:nvSpPr>
            <p:spPr>
              <a:xfrm>
                <a:off x="4918107" y="2515285"/>
                <a:ext cx="504056" cy="554254"/>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923456" y="3079716"/>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1</m:t>
                                </m:r>
                              </m:e>
                            </m:mr>
                          </m:m>
                        </m:e>
                      </m:d>
                    </m:oMath>
                  </m:oMathPara>
                </a14:m>
                <a:endParaRPr lang="en-GB" dirty="0"/>
              </a:p>
            </p:txBody>
          </p:sp>
        </mc:Choice>
        <mc:Fallback xmlns="">
          <p:sp>
            <p:nvSpPr>
              <p:cNvPr id="15" name="TextBox 14"/>
              <p:cNvSpPr txBox="1">
                <a:spLocks noRot="1" noChangeAspect="1" noMove="1" noResize="1" noEditPoints="1" noAdjustHandles="1" noChangeArrowheads="1" noChangeShapeType="1" noTextEdit="1"/>
              </p:cNvSpPr>
              <p:nvPr/>
            </p:nvSpPr>
            <p:spPr>
              <a:xfrm>
                <a:off x="2923456" y="3079716"/>
                <a:ext cx="504056" cy="554254"/>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3732032" y="3084781"/>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2</m:t>
                                </m:r>
                              </m:e>
                            </m:mr>
                          </m:m>
                        </m:e>
                      </m:d>
                    </m:oMath>
                  </m:oMathPara>
                </a14:m>
                <a:endParaRPr lang="en-GB" dirty="0"/>
              </a:p>
            </p:txBody>
          </p:sp>
        </mc:Choice>
        <mc:Fallback xmlns="">
          <p:sp>
            <p:nvSpPr>
              <p:cNvPr id="16" name="TextBox 15"/>
              <p:cNvSpPr txBox="1">
                <a:spLocks noRot="1" noChangeAspect="1" noMove="1" noResize="1" noEditPoints="1" noAdjustHandles="1" noChangeArrowheads="1" noChangeShapeType="1" noTextEdit="1"/>
              </p:cNvSpPr>
              <p:nvPr/>
            </p:nvSpPr>
            <p:spPr>
              <a:xfrm>
                <a:off x="3732032" y="3084781"/>
                <a:ext cx="504056" cy="554254"/>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4560411" y="3061343"/>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3</m:t>
                                </m:r>
                              </m:e>
                            </m:mr>
                          </m:m>
                        </m:e>
                      </m:d>
                    </m:oMath>
                  </m:oMathPara>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4560411" y="3061343"/>
                <a:ext cx="504056" cy="554254"/>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307044" y="3070868"/>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4</m:t>
                                </m:r>
                              </m:e>
                            </m:mr>
                          </m:m>
                        </m:e>
                      </m:d>
                    </m:oMath>
                  </m:oMathPara>
                </a14:m>
                <a:endParaRPr lang="en-GB" dirty="0"/>
              </a:p>
            </p:txBody>
          </p:sp>
        </mc:Choice>
        <mc:Fallback xmlns="">
          <p:sp>
            <p:nvSpPr>
              <p:cNvPr id="18" name="TextBox 17"/>
              <p:cNvSpPr txBox="1">
                <a:spLocks noRot="1" noChangeAspect="1" noMove="1" noResize="1" noEditPoints="1" noAdjustHandles="1" noChangeArrowheads="1" noChangeShapeType="1" noTextEdit="1"/>
              </p:cNvSpPr>
              <p:nvPr/>
            </p:nvSpPr>
            <p:spPr>
              <a:xfrm>
                <a:off x="5307044" y="3070868"/>
                <a:ext cx="504056" cy="554254"/>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2073409" y="3079716"/>
                <a:ext cx="504056" cy="5542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0</m:t>
                                </m:r>
                              </m:e>
                            </m:mr>
                          </m:m>
                        </m:e>
                      </m:d>
                    </m:oMath>
                  </m:oMathPara>
                </a14:m>
                <a:endParaRPr lang="en-GB" dirty="0"/>
              </a:p>
            </p:txBody>
          </p:sp>
        </mc:Choice>
        <mc:Fallback xmlns="">
          <p:sp>
            <p:nvSpPr>
              <p:cNvPr id="19" name="TextBox 18"/>
              <p:cNvSpPr txBox="1">
                <a:spLocks noRot="1" noChangeAspect="1" noMove="1" noResize="1" noEditPoints="1" noAdjustHandles="1" noChangeArrowheads="1" noChangeShapeType="1" noTextEdit="1"/>
              </p:cNvSpPr>
              <p:nvPr/>
            </p:nvSpPr>
            <p:spPr>
              <a:xfrm>
                <a:off x="2073409" y="3079716"/>
                <a:ext cx="504056" cy="554254"/>
              </a:xfrm>
              <a:prstGeom prst="rect">
                <a:avLst/>
              </a:prstGeom>
              <a:blipFill>
                <a:blip r:embed="rId16"/>
                <a:stretch>
                  <a:fillRect/>
                </a:stretch>
              </a:blipFill>
            </p:spPr>
            <p:txBody>
              <a:bodyPr/>
              <a:lstStyle/>
              <a:p>
                <a:r>
                  <a:rPr lang="en-GB">
                    <a:noFill/>
                  </a:rPr>
                  <a:t> </a:t>
                </a:r>
              </a:p>
            </p:txBody>
          </p:sp>
        </mc:Fallback>
      </mc:AlternateContent>
      <p:sp>
        <p:nvSpPr>
          <p:cNvPr id="20" name="TextBox 19"/>
          <p:cNvSpPr txBox="1"/>
          <p:nvPr/>
        </p:nvSpPr>
        <p:spPr>
          <a:xfrm>
            <a:off x="4664106" y="760564"/>
            <a:ext cx="5787994" cy="369332"/>
          </a:xfrm>
          <a:prstGeom prst="rect">
            <a:avLst/>
          </a:prstGeom>
          <a:noFill/>
        </p:spPr>
        <p:txBody>
          <a:bodyPr wrap="square" rtlCol="0">
            <a:spAutoFit/>
          </a:bodyPr>
          <a:lstStyle/>
          <a:p>
            <a:r>
              <a:rPr lang="en-GB" i="1" dirty="0"/>
              <a:t>(You are not required to know this, but it is helpful for STEP)</a:t>
            </a:r>
          </a:p>
        </p:txBody>
      </p:sp>
      <p:cxnSp>
        <p:nvCxnSpPr>
          <p:cNvPr id="22" name="Straight Arrow Connector 21"/>
          <p:cNvCxnSpPr/>
          <p:nvPr/>
        </p:nvCxnSpPr>
        <p:spPr>
          <a:xfrm>
            <a:off x="3699070" y="2954436"/>
            <a:ext cx="164273" cy="2002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flipH="1">
            <a:off x="4084320" y="3017520"/>
            <a:ext cx="129540" cy="1371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8" name="TextBox 27"/>
              <p:cNvSpPr txBox="1"/>
              <p:nvPr/>
            </p:nvSpPr>
            <p:spPr>
              <a:xfrm>
                <a:off x="6240016" y="1257226"/>
                <a:ext cx="3456384" cy="2676374"/>
              </a:xfrm>
              <a:prstGeom prst="rect">
                <a:avLst/>
              </a:prstGeom>
              <a:noFill/>
            </p:spPr>
            <p:txBody>
              <a:bodyPr wrap="square" rtlCol="0">
                <a:spAutoFit/>
              </a:bodyPr>
              <a:lstStyle/>
              <a:p>
                <a:r>
                  <a:rPr lang="en-GB" dirty="0"/>
                  <a:t>We earlier saw that each entry of Pascal’s Triangle is the sum of the two above it. Thus for example:</a:t>
                </a:r>
              </a:p>
              <a:p>
                <a:pP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1</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3</m:t>
                                </m:r>
                              </m:e>
                            </m:mr>
                            <m:mr>
                              <m:e>
                                <m:r>
                                  <a:rPr lang="en-GB" i="1">
                                    <a:latin typeface="Cambria Math" panose="02040503050406030204" pitchFamily="18" charset="0"/>
                                  </a:rPr>
                                  <m:t>2</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4</m:t>
                                </m:r>
                              </m:e>
                            </m:mr>
                            <m:mr>
                              <m:e>
                                <m:r>
                                  <a:rPr lang="en-GB" i="1">
                                    <a:latin typeface="Cambria Math" panose="02040503050406030204" pitchFamily="18" charset="0"/>
                                  </a:rPr>
                                  <m:t>2</m:t>
                                </m:r>
                              </m:e>
                            </m:mr>
                          </m:m>
                        </m:e>
                      </m:d>
                    </m:oMath>
                  </m:oMathPara>
                </a14:m>
                <a:endParaRPr lang="en-GB" dirty="0"/>
              </a:p>
              <a:p>
                <a:endParaRPr lang="en-GB" dirty="0"/>
              </a:p>
              <a:p>
                <a:r>
                  <a:rPr lang="en-GB" dirty="0"/>
                  <a:t>More generally:</a:t>
                </a:r>
              </a:p>
              <a:p>
                <a:pP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r>
                                  <a:rPr lang="en-GB" i="1">
                                    <a:latin typeface="Cambria Math" panose="02040503050406030204" pitchFamily="18" charset="0"/>
                                  </a:rPr>
                                  <m:t>−1</m:t>
                                </m:r>
                              </m:e>
                            </m:mr>
                            <m:mr>
                              <m:e>
                                <m:r>
                                  <a:rPr lang="en-GB" i="1">
                                    <a:latin typeface="Cambria Math" panose="02040503050406030204" pitchFamily="18" charset="0"/>
                                  </a:rPr>
                                  <m:t>𝑘</m:t>
                                </m:r>
                                <m:r>
                                  <a:rPr lang="en-GB" i="1">
                                    <a:latin typeface="Cambria Math" panose="02040503050406030204" pitchFamily="18" charset="0"/>
                                  </a:rPr>
                                  <m:t>−1</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r>
                                  <a:rPr lang="en-GB" i="1">
                                    <a:latin typeface="Cambria Math" panose="02040503050406030204" pitchFamily="18" charset="0"/>
                                  </a:rPr>
                                  <m:t>−1</m:t>
                                </m:r>
                              </m:e>
                            </m:mr>
                            <m:mr>
                              <m:e>
                                <m:r>
                                  <a:rPr lang="en-GB" i="1">
                                    <a:latin typeface="Cambria Math" panose="02040503050406030204" pitchFamily="18" charset="0"/>
                                  </a:rPr>
                                  <m:t>𝑘</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𝑘</m:t>
                                </m:r>
                              </m:e>
                            </m:mr>
                          </m:m>
                        </m:e>
                      </m:d>
                    </m:oMath>
                  </m:oMathPara>
                </a14:m>
                <a:endParaRPr lang="en-GB" dirty="0"/>
              </a:p>
              <a:p>
                <a:r>
                  <a:rPr lang="en-GB" b="1" dirty="0"/>
                  <a:t>This is known as Pascal’s Rule.</a:t>
                </a:r>
              </a:p>
            </p:txBody>
          </p:sp>
        </mc:Choice>
        <mc:Fallback xmlns="">
          <p:sp>
            <p:nvSpPr>
              <p:cNvPr id="28" name="TextBox 27"/>
              <p:cNvSpPr txBox="1">
                <a:spLocks noRot="1" noChangeAspect="1" noMove="1" noResize="1" noEditPoints="1" noAdjustHandles="1" noChangeArrowheads="1" noChangeShapeType="1" noTextEdit="1"/>
              </p:cNvSpPr>
              <p:nvPr/>
            </p:nvSpPr>
            <p:spPr>
              <a:xfrm>
                <a:off x="6240016" y="1257226"/>
                <a:ext cx="3456384" cy="2676374"/>
              </a:xfrm>
              <a:prstGeom prst="rect">
                <a:avLst/>
              </a:prstGeom>
              <a:blipFill>
                <a:blip r:embed="rId17"/>
                <a:stretch>
                  <a:fillRect l="-1587" t="-1139" b="-27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2113012" y="3998482"/>
                <a:ext cx="7996191" cy="267881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Informal proof of Pascal’s Rule:</a:t>
                </a:r>
              </a:p>
              <a:p>
                <a:r>
                  <a:rPr lang="en-GB" sz="1600" dirty="0"/>
                  <a:t>Suppose I have </a:t>
                </a:r>
                <a14:m>
                  <m:oMath xmlns:m="http://schemas.openxmlformats.org/officeDocument/2006/math">
                    <m:r>
                      <a:rPr lang="en-GB" sz="1600" i="1">
                        <a:latin typeface="Cambria Math" panose="02040503050406030204" pitchFamily="18" charset="0"/>
                      </a:rPr>
                      <m:t>𝑛</m:t>
                    </m:r>
                  </m:oMath>
                </a14:m>
                <a:r>
                  <a:rPr lang="en-GB" sz="1600" dirty="0"/>
                  <a:t> items and I have to choose </a:t>
                </a:r>
                <a14:m>
                  <m:oMath xmlns:m="http://schemas.openxmlformats.org/officeDocument/2006/math">
                    <m:r>
                      <a:rPr lang="en-GB" sz="1600" i="1">
                        <a:latin typeface="Cambria Math" panose="02040503050406030204" pitchFamily="18" charset="0"/>
                      </a:rPr>
                      <m:t>𝑘</m:t>
                    </m:r>
                  </m:oMath>
                </a14:m>
                <a:r>
                  <a:rPr lang="en-GB" sz="1600" dirty="0"/>
                  <a:t> of them. Clearly there’s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e>
                          </m:mr>
                          <m:mr>
                            <m:e>
                              <m:r>
                                <a:rPr lang="en-GB" sz="1600" i="1">
                                  <a:latin typeface="Cambria Math" panose="02040503050406030204" pitchFamily="18" charset="0"/>
                                </a:rPr>
                                <m:t>𝑘</m:t>
                              </m:r>
                            </m:e>
                          </m:mr>
                        </m:m>
                      </m:e>
                    </m:d>
                  </m:oMath>
                </a14:m>
                <a:r>
                  <a:rPr lang="en-GB" sz="1600" dirty="0"/>
                  <a:t> possible selections. But we could also find the number of selections by considering the first item of the </a:t>
                </a:r>
                <a14:m>
                  <m:oMath xmlns:m="http://schemas.openxmlformats.org/officeDocument/2006/math">
                    <m:r>
                      <a:rPr lang="en-GB" sz="1600" i="1">
                        <a:latin typeface="Cambria Math" panose="02040503050406030204" pitchFamily="18" charset="0"/>
                      </a:rPr>
                      <m:t>𝑛</m:t>
                    </m:r>
                  </m:oMath>
                </a14:m>
                <a:r>
                  <a:rPr lang="en-GB" sz="1600" dirty="0"/>
                  <a:t> available:</a:t>
                </a:r>
              </a:p>
              <a:p>
                <a:pPr marL="285750" indent="-285750">
                  <a:buFont typeface="Arial" panose="020B0604020202020204" pitchFamily="34" charset="0"/>
                  <a:buChar char="•"/>
                </a:pPr>
                <a:r>
                  <a:rPr lang="en-GB" sz="1600" dirty="0"/>
                  <a:t>It might be chosen. If so, we have </a:t>
                </a:r>
                <a14:m>
                  <m:oMath xmlns:m="http://schemas.openxmlformats.org/officeDocument/2006/math">
                    <m:r>
                      <a:rPr lang="en-GB" sz="1600" i="1">
                        <a:latin typeface="Cambria Math" panose="02040503050406030204" pitchFamily="18" charset="0"/>
                      </a:rPr>
                      <m:t>𝑘</m:t>
                    </m:r>
                    <m:r>
                      <a:rPr lang="en-GB" sz="1600" i="1">
                        <a:latin typeface="Cambria Math" panose="02040503050406030204" pitchFamily="18" charset="0"/>
                      </a:rPr>
                      <m:t>−1</m:t>
                    </m:r>
                  </m:oMath>
                </a14:m>
                <a:r>
                  <a:rPr lang="en-GB" sz="1600" dirty="0"/>
                  <a:t> items left to choose from amongst the </a:t>
                </a:r>
                <a14:m>
                  <m:oMath xmlns:m="http://schemas.openxmlformats.org/officeDocument/2006/math">
                    <m:r>
                      <a:rPr lang="en-GB" sz="1600" i="1">
                        <a:latin typeface="Cambria Math" panose="02040503050406030204" pitchFamily="18" charset="0"/>
                      </a:rPr>
                      <m:t>𝑛</m:t>
                    </m:r>
                    <m:r>
                      <a:rPr lang="en-GB" sz="1600" i="1">
                        <a:latin typeface="Cambria Math" panose="02040503050406030204" pitchFamily="18" charset="0"/>
                      </a:rPr>
                      <m:t>−1</m:t>
                    </m:r>
                  </m:oMath>
                </a14:m>
                <a:r>
                  <a:rPr lang="en-GB" sz="1600" dirty="0"/>
                  <a:t> remaining. That’s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r>
                                <a:rPr lang="en-GB" sz="1600" i="1">
                                  <a:latin typeface="Cambria Math" panose="02040503050406030204" pitchFamily="18" charset="0"/>
                                </a:rPr>
                                <m:t>−1</m:t>
                              </m:r>
                            </m:e>
                          </m:mr>
                          <m:mr>
                            <m:e>
                              <m:r>
                                <a:rPr lang="en-GB" sz="1600" i="1">
                                  <a:latin typeface="Cambria Math" panose="02040503050406030204" pitchFamily="18" charset="0"/>
                                </a:rPr>
                                <m:t>𝑘</m:t>
                              </m:r>
                              <m:r>
                                <a:rPr lang="en-GB" sz="1600" i="1">
                                  <a:latin typeface="Cambria Math" panose="02040503050406030204" pitchFamily="18" charset="0"/>
                                </a:rPr>
                                <m:t>−1</m:t>
                              </m:r>
                            </m:e>
                          </m:mr>
                        </m:m>
                      </m:e>
                    </m:d>
                  </m:oMath>
                </a14:m>
                <a:r>
                  <a:rPr lang="en-GB" sz="1600" dirty="0"/>
                  <a:t> possible selections.</a:t>
                </a:r>
              </a:p>
              <a:p>
                <a:pPr marL="285750" indent="-285750">
                  <a:buFont typeface="Arial" panose="020B0604020202020204" pitchFamily="34" charset="0"/>
                  <a:buChar char="•"/>
                </a:pPr>
                <a:r>
                  <a:rPr lang="en-GB" sz="1600" dirty="0"/>
                  <a:t>Otherwise it is not chosen. We still have </a:t>
                </a:r>
                <a14:m>
                  <m:oMath xmlns:m="http://schemas.openxmlformats.org/officeDocument/2006/math">
                    <m:r>
                      <a:rPr lang="en-GB" sz="1600" i="1">
                        <a:latin typeface="Cambria Math" panose="02040503050406030204" pitchFamily="18" charset="0"/>
                      </a:rPr>
                      <m:t>𝑘</m:t>
                    </m:r>
                  </m:oMath>
                </a14:m>
                <a:r>
                  <a:rPr lang="en-GB" sz="1600" dirty="0"/>
                  <a:t> items to choose, from amongst the remaining </a:t>
                </a:r>
                <a14:m>
                  <m:oMath xmlns:m="http://schemas.openxmlformats.org/officeDocument/2006/math">
                    <m:r>
                      <a:rPr lang="en-GB" sz="1600" i="1">
                        <a:latin typeface="Cambria Math" panose="02040503050406030204" pitchFamily="18" charset="0"/>
                      </a:rPr>
                      <m:t>𝑛</m:t>
                    </m:r>
                    <m:r>
                      <a:rPr lang="en-GB" sz="1600" i="1">
                        <a:latin typeface="Cambria Math" panose="02040503050406030204" pitchFamily="18" charset="0"/>
                      </a:rPr>
                      <m:t>−1</m:t>
                    </m:r>
                  </m:oMath>
                </a14:m>
                <a:r>
                  <a:rPr lang="en-GB" sz="1600" dirty="0"/>
                  <a:t> items. That’s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r>
                                <a:rPr lang="en-GB" sz="1600" i="1">
                                  <a:latin typeface="Cambria Math" panose="02040503050406030204" pitchFamily="18" charset="0"/>
                                </a:rPr>
                                <m:t>−1</m:t>
                              </m:r>
                            </m:e>
                          </m:mr>
                          <m:mr>
                            <m:e>
                              <m:r>
                                <a:rPr lang="en-GB" sz="1600" i="1">
                                  <a:latin typeface="Cambria Math" panose="02040503050406030204" pitchFamily="18" charset="0"/>
                                </a:rPr>
                                <m:t>𝑘</m:t>
                              </m:r>
                            </m:e>
                          </m:mr>
                        </m:m>
                      </m:e>
                    </m:d>
                  </m:oMath>
                </a14:m>
                <a:r>
                  <a:rPr lang="en-GB" sz="1600" dirty="0"/>
                  <a:t> possible selections.</a:t>
                </a:r>
              </a:p>
              <a:p>
                <a:r>
                  <a:rPr lang="en-GB" sz="1600" dirty="0"/>
                  <a:t>Thus in total there are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r>
                                <a:rPr lang="en-GB" sz="1600" i="1">
                                  <a:latin typeface="Cambria Math" panose="02040503050406030204" pitchFamily="18" charset="0"/>
                                </a:rPr>
                                <m:t>−1</m:t>
                              </m:r>
                            </m:e>
                          </m:mr>
                          <m:mr>
                            <m:e>
                              <m:r>
                                <a:rPr lang="en-GB" sz="1600" i="1">
                                  <a:latin typeface="Cambria Math" panose="02040503050406030204" pitchFamily="18" charset="0"/>
                                </a:rPr>
                                <m:t>𝑘</m:t>
                              </m:r>
                              <m:r>
                                <a:rPr lang="en-GB" sz="1600" i="1">
                                  <a:latin typeface="Cambria Math" panose="02040503050406030204" pitchFamily="18" charset="0"/>
                                </a:rPr>
                                <m:t>−1</m:t>
                              </m:r>
                            </m:e>
                          </m:mr>
                        </m:m>
                      </m:e>
                    </m:d>
                    <m:r>
                      <a:rPr lang="en-GB" sz="1600" i="1">
                        <a:latin typeface="Cambria Math" panose="02040503050406030204" pitchFamily="18" charset="0"/>
                      </a:rPr>
                      <m:t>+</m:t>
                    </m:r>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r>
                                <a:rPr lang="en-GB" sz="1600" i="1">
                                  <a:latin typeface="Cambria Math" panose="02040503050406030204" pitchFamily="18" charset="0"/>
                                </a:rPr>
                                <m:t>−1</m:t>
                              </m:r>
                            </m:e>
                          </m:mr>
                          <m:mr>
                            <m:e>
                              <m:r>
                                <a:rPr lang="en-GB" sz="1600" i="1">
                                  <a:latin typeface="Cambria Math" panose="02040503050406030204" pitchFamily="18" charset="0"/>
                                </a:rPr>
                                <m:t>𝑘</m:t>
                              </m:r>
                            </m:e>
                          </m:mr>
                        </m:m>
                      </m:e>
                    </m:d>
                  </m:oMath>
                </a14:m>
                <a:r>
                  <a:rPr lang="en-GB" sz="1600" dirty="0"/>
                  <a:t> possible selections.</a:t>
                </a:r>
              </a:p>
            </p:txBody>
          </p:sp>
        </mc:Choice>
        <mc:Fallback xmlns="">
          <p:sp>
            <p:nvSpPr>
              <p:cNvPr id="29" name="TextBox 28"/>
              <p:cNvSpPr txBox="1">
                <a:spLocks noRot="1" noChangeAspect="1" noMove="1" noResize="1" noEditPoints="1" noAdjustHandles="1" noChangeArrowheads="1" noChangeShapeType="1" noTextEdit="1"/>
              </p:cNvSpPr>
              <p:nvPr/>
            </p:nvSpPr>
            <p:spPr>
              <a:xfrm>
                <a:off x="2113012" y="3998482"/>
                <a:ext cx="7996191" cy="2678810"/>
              </a:xfrm>
              <a:prstGeom prst="rect">
                <a:avLst/>
              </a:prstGeom>
              <a:blipFill>
                <a:blip r:embed="rId18"/>
                <a:stretch>
                  <a:fillRect l="-304" t="-226" r="-456"/>
                </a:stretch>
              </a:blipFill>
            </p:spPr>
            <p:txBody>
              <a:bodyPr/>
              <a:lstStyle/>
              <a:p>
                <a:r>
                  <a:rPr lang="en-GB">
                    <a:noFill/>
                  </a:rPr>
                  <a:t> </a:t>
                </a:r>
              </a:p>
            </p:txBody>
          </p:sp>
        </mc:Fallback>
      </mc:AlternateContent>
    </p:spTree>
    <p:extLst>
      <p:ext uri="{BB962C8B-B14F-4D97-AF65-F5344CB8AC3E}">
        <p14:creationId xmlns:p14="http://schemas.microsoft.com/office/powerpoint/2010/main" val="2467817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c8/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8B  – Y1 page 162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9" name="Picture 8">
            <a:extLst>
              <a:ext uri="{FF2B5EF4-FFF2-40B4-BE49-F238E27FC236}">
                <a16:creationId xmlns:a16="http://schemas.microsoft.com/office/drawing/2014/main" id="{B6201555-0E7A-6421-88A8-F6CA752F39C6}"/>
              </a:ext>
            </a:extLst>
          </p:cNvPr>
          <p:cNvPicPr>
            <a:picLocks noChangeAspect="1"/>
          </p:cNvPicPr>
          <p:nvPr/>
        </p:nvPicPr>
        <p:blipFill>
          <a:blip r:embed="rId2"/>
          <a:stretch>
            <a:fillRect/>
          </a:stretch>
        </p:blipFill>
        <p:spPr>
          <a:xfrm>
            <a:off x="1524000" y="587744"/>
            <a:ext cx="6239746" cy="819264"/>
          </a:xfrm>
          <a:prstGeom prst="rect">
            <a:avLst/>
          </a:prstGeom>
        </p:spPr>
      </p:pic>
      <p:pic>
        <p:nvPicPr>
          <p:cNvPr id="11" name="Picture 10">
            <a:extLst>
              <a:ext uri="{FF2B5EF4-FFF2-40B4-BE49-F238E27FC236}">
                <a16:creationId xmlns:a16="http://schemas.microsoft.com/office/drawing/2014/main" id="{2916E12B-CD50-922D-6153-DA28894E69D8}"/>
              </a:ext>
            </a:extLst>
          </p:cNvPr>
          <p:cNvPicPr>
            <a:picLocks noChangeAspect="1"/>
          </p:cNvPicPr>
          <p:nvPr/>
        </p:nvPicPr>
        <p:blipFill>
          <a:blip r:embed="rId3"/>
          <a:stretch>
            <a:fillRect/>
          </a:stretch>
        </p:blipFill>
        <p:spPr>
          <a:xfrm>
            <a:off x="1524003" y="3284984"/>
            <a:ext cx="6211167" cy="647790"/>
          </a:xfrm>
          <a:prstGeom prst="rect">
            <a:avLst/>
          </a:prstGeom>
        </p:spPr>
      </p:pic>
      <p:pic>
        <p:nvPicPr>
          <p:cNvPr id="13" name="Picture 12">
            <a:extLst>
              <a:ext uri="{FF2B5EF4-FFF2-40B4-BE49-F238E27FC236}">
                <a16:creationId xmlns:a16="http://schemas.microsoft.com/office/drawing/2014/main" id="{0B48D981-0A68-E3CF-731C-3BB359C22912}"/>
              </a:ext>
            </a:extLst>
          </p:cNvPr>
          <p:cNvPicPr>
            <a:picLocks noChangeAspect="1"/>
          </p:cNvPicPr>
          <p:nvPr/>
        </p:nvPicPr>
        <p:blipFill rotWithShape="1">
          <a:blip r:embed="rId4"/>
          <a:srcRect l="20767"/>
          <a:stretch/>
        </p:blipFill>
        <p:spPr>
          <a:xfrm>
            <a:off x="2063552" y="1268762"/>
            <a:ext cx="1512168" cy="1803063"/>
          </a:xfrm>
          <a:prstGeom prst="rect">
            <a:avLst/>
          </a:prstGeom>
        </p:spPr>
      </p:pic>
      <p:pic>
        <p:nvPicPr>
          <p:cNvPr id="15" name="Picture 14">
            <a:extLst>
              <a:ext uri="{FF2B5EF4-FFF2-40B4-BE49-F238E27FC236}">
                <a16:creationId xmlns:a16="http://schemas.microsoft.com/office/drawing/2014/main" id="{5A1470FA-8A1E-F98D-BB6A-4F1F75C77951}"/>
              </a:ext>
            </a:extLst>
          </p:cNvPr>
          <p:cNvPicPr>
            <a:picLocks noChangeAspect="1"/>
          </p:cNvPicPr>
          <p:nvPr/>
        </p:nvPicPr>
        <p:blipFill>
          <a:blip r:embed="rId5"/>
          <a:stretch>
            <a:fillRect/>
          </a:stretch>
        </p:blipFill>
        <p:spPr>
          <a:xfrm>
            <a:off x="2148030" y="3969767"/>
            <a:ext cx="1526934" cy="1840985"/>
          </a:xfrm>
          <a:prstGeom prst="rect">
            <a:avLst/>
          </a:prstGeom>
        </p:spPr>
      </p:pic>
      <p:sp>
        <p:nvSpPr>
          <p:cNvPr id="16" name="Rectangle 15">
            <a:extLst>
              <a:ext uri="{FF2B5EF4-FFF2-40B4-BE49-F238E27FC236}">
                <a16:creationId xmlns:a16="http://schemas.microsoft.com/office/drawing/2014/main" id="{BB915459-7B0A-A9F7-2CBF-8050143D2160}"/>
              </a:ext>
            </a:extLst>
          </p:cNvPr>
          <p:cNvSpPr/>
          <p:nvPr/>
        </p:nvSpPr>
        <p:spPr>
          <a:xfrm>
            <a:off x="1867582" y="3977690"/>
            <a:ext cx="5832648" cy="194421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7" name="Rectangle 16">
            <a:extLst>
              <a:ext uri="{FF2B5EF4-FFF2-40B4-BE49-F238E27FC236}">
                <a16:creationId xmlns:a16="http://schemas.microsoft.com/office/drawing/2014/main" id="{E8A91B67-DF5E-3F0B-1D96-3FB57EAF0641}"/>
              </a:ext>
            </a:extLst>
          </p:cNvPr>
          <p:cNvSpPr/>
          <p:nvPr/>
        </p:nvSpPr>
        <p:spPr>
          <a:xfrm>
            <a:off x="1847674" y="1321988"/>
            <a:ext cx="5832648" cy="178682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3098632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6" grpId="0" animBg="1"/>
      <p:bldP spid="17" grpId="0" animBg="1"/>
    </p:bldLst>
  </p:timing>
</p:sld>
</file>

<file path=ppt/c8/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8B  – Y1 page 162</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6D6F4B62-CB12-08DF-B323-007D68F705DE}"/>
              </a:ext>
            </a:extLst>
          </p:cNvPr>
          <p:cNvPicPr>
            <a:picLocks noChangeAspect="1"/>
          </p:cNvPicPr>
          <p:nvPr/>
        </p:nvPicPr>
        <p:blipFill>
          <a:blip r:embed="rId2"/>
          <a:stretch>
            <a:fillRect/>
          </a:stretch>
        </p:blipFill>
        <p:spPr>
          <a:xfrm>
            <a:off x="1524000" y="599126"/>
            <a:ext cx="6182588" cy="1905266"/>
          </a:xfrm>
          <a:prstGeom prst="rect">
            <a:avLst/>
          </a:prstGeom>
        </p:spPr>
      </p:pic>
      <p:pic>
        <p:nvPicPr>
          <p:cNvPr id="9" name="Picture 8">
            <a:extLst>
              <a:ext uri="{FF2B5EF4-FFF2-40B4-BE49-F238E27FC236}">
                <a16:creationId xmlns:a16="http://schemas.microsoft.com/office/drawing/2014/main" id="{CA7A0571-D52D-4863-18DC-1C8A23BEEEF7}"/>
              </a:ext>
            </a:extLst>
          </p:cNvPr>
          <p:cNvPicPr>
            <a:picLocks noChangeAspect="1"/>
          </p:cNvPicPr>
          <p:nvPr/>
        </p:nvPicPr>
        <p:blipFill>
          <a:blip r:embed="rId3"/>
          <a:stretch>
            <a:fillRect/>
          </a:stretch>
        </p:blipFill>
        <p:spPr>
          <a:xfrm>
            <a:off x="1990972" y="2529787"/>
            <a:ext cx="7973538" cy="4220164"/>
          </a:xfrm>
          <a:prstGeom prst="rect">
            <a:avLst/>
          </a:prstGeom>
        </p:spPr>
      </p:pic>
      <p:sp>
        <p:nvSpPr>
          <p:cNvPr id="10" name="Rectangle 9">
            <a:extLst>
              <a:ext uri="{FF2B5EF4-FFF2-40B4-BE49-F238E27FC236}">
                <a16:creationId xmlns:a16="http://schemas.microsoft.com/office/drawing/2014/main" id="{2B6F24FF-882B-3347-5DA5-E554D616032D}"/>
              </a:ext>
            </a:extLst>
          </p:cNvPr>
          <p:cNvSpPr/>
          <p:nvPr/>
        </p:nvSpPr>
        <p:spPr>
          <a:xfrm>
            <a:off x="1774948" y="2530061"/>
            <a:ext cx="8640960" cy="122294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1" name="Rectangle 10">
            <a:extLst>
              <a:ext uri="{FF2B5EF4-FFF2-40B4-BE49-F238E27FC236}">
                <a16:creationId xmlns:a16="http://schemas.microsoft.com/office/drawing/2014/main" id="{D6457C38-4211-BA76-70B9-9FF8AEDF32ED}"/>
              </a:ext>
            </a:extLst>
          </p:cNvPr>
          <p:cNvSpPr/>
          <p:nvPr/>
        </p:nvSpPr>
        <p:spPr>
          <a:xfrm>
            <a:off x="1774376" y="3800266"/>
            <a:ext cx="8640960" cy="122294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
        <p:nvSpPr>
          <p:cNvPr id="12" name="Rectangle 11">
            <a:extLst>
              <a:ext uri="{FF2B5EF4-FFF2-40B4-BE49-F238E27FC236}">
                <a16:creationId xmlns:a16="http://schemas.microsoft.com/office/drawing/2014/main" id="{F794465A-2DF8-C027-166E-8225F95BE2C1}"/>
              </a:ext>
            </a:extLst>
          </p:cNvPr>
          <p:cNvSpPr/>
          <p:nvPr/>
        </p:nvSpPr>
        <p:spPr>
          <a:xfrm>
            <a:off x="1774376" y="5070471"/>
            <a:ext cx="8640960" cy="350363"/>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c?</a:t>
            </a:r>
          </a:p>
        </p:txBody>
      </p:sp>
      <p:sp>
        <p:nvSpPr>
          <p:cNvPr id="13" name="Rectangle 12">
            <a:extLst>
              <a:ext uri="{FF2B5EF4-FFF2-40B4-BE49-F238E27FC236}">
                <a16:creationId xmlns:a16="http://schemas.microsoft.com/office/drawing/2014/main" id="{9264F1AF-4DE2-D0EF-D1C0-34D3C7E86BF5}"/>
              </a:ext>
            </a:extLst>
          </p:cNvPr>
          <p:cNvSpPr/>
          <p:nvPr/>
        </p:nvSpPr>
        <p:spPr>
          <a:xfrm>
            <a:off x="1767952" y="5468099"/>
            <a:ext cx="8640960" cy="122294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d?</a:t>
            </a:r>
          </a:p>
        </p:txBody>
      </p:sp>
    </p:spTree>
    <p:extLst>
      <p:ext uri="{BB962C8B-B14F-4D97-AF65-F5344CB8AC3E}">
        <p14:creationId xmlns:p14="http://schemas.microsoft.com/office/powerpoint/2010/main" val="91180152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4" restart="whenNotActive" fill="hold" evtFilter="cancelBubble" nodeType="interactiveSeq">
                <p:stCondLst>
                  <p:cond evt="onClick" delay="0">
                    <p:tgtEl>
                      <p:spTgt spid="1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2"/>
                                        </p:tgtEl>
                                      </p:cBhvr>
                                    </p:animEffect>
                                    <p:set>
                                      <p:cBhvr>
                                        <p:cTn id="19"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20" restart="whenNotActive" fill="hold" evtFilter="cancelBubble" nodeType="interactiveSeq">
                <p:stCondLst>
                  <p:cond evt="onClick" delay="0">
                    <p:tgtEl>
                      <p:spTgt spid="13"/>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3"/>
                                        </p:tgtEl>
                                      </p:cBhvr>
                                    </p:animEffect>
                                    <p:set>
                                      <p:cBhvr>
                                        <p:cTn id="25"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0" grpId="0" animBg="1"/>
      <p:bldP spid="11" grpId="0" animBg="1"/>
      <p:bldP spid="12" grpId="0" animBg="1"/>
      <p:bldP spid="13" grpId="0" animBg="1"/>
    </p:bldLst>
  </p:timing>
</p:sld>
</file>

<file path=ppt/c8/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Using Binomial Coefficients to Expand</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1919536" y="836712"/>
            <a:ext cx="7920880" cy="707886"/>
          </a:xfrm>
          <a:prstGeom prst="rect">
            <a:avLst/>
          </a:prstGeom>
          <a:noFill/>
        </p:spPr>
        <p:txBody>
          <a:bodyPr wrap="square" rtlCol="0">
            <a:spAutoFit/>
          </a:bodyPr>
          <a:lstStyle/>
          <a:p>
            <a:r>
              <a:rPr lang="en-GB" sz="2000" dirty="0"/>
              <a:t>In the previous section we learnt about the ‘choose’ function and how this related to Pascal’s Triangle.</a:t>
            </a:r>
          </a:p>
        </p:txBody>
      </p:sp>
      <mc:AlternateContent xmlns:mc="http://schemas.openxmlformats.org/markup-compatibility/2006" xmlns:a14="http://schemas.microsoft.com/office/drawing/2010/main">
        <mc:Choice Requires="a14">
          <p:sp>
            <p:nvSpPr>
              <p:cNvPr id="6" name="TextBox 5"/>
              <p:cNvSpPr txBox="1"/>
              <p:nvPr/>
            </p:nvSpPr>
            <p:spPr>
              <a:xfrm>
                <a:off x="2963652" y="1544598"/>
                <a:ext cx="5832648" cy="1681358"/>
              </a:xfrm>
              <a:prstGeom prst="rect">
                <a:avLst/>
              </a:prstGeom>
              <a:noFill/>
            </p:spPr>
            <p:txBody>
              <a:bodyPr wrap="square" rtlCol="0">
                <a:spAutoFit/>
              </a:bodyPr>
              <a:lstStyle/>
              <a:p>
                <a:pPr algn="ctr"/>
                <a:r>
                  <a:rPr lang="en-GB" sz="2800" dirty="0"/>
                  <a:t>1      5      10     10      5      1</a:t>
                </a:r>
              </a:p>
              <a:p>
                <a:pPr algn="ctr"/>
                <a:br>
                  <a:rPr lang="en-GB" sz="2800" dirty="0"/>
                </a:br>
                <a14:m>
                  <m:oMath xmlns:m="http://schemas.openxmlformats.org/officeDocument/2006/math">
                    <m:d>
                      <m:dPr>
                        <m:ctrlPr>
                          <a:rPr lang="en-GB" sz="2800" i="1">
                            <a:latin typeface="Cambria Math" panose="02040503050406030204" pitchFamily="18" charset="0"/>
                          </a:rPr>
                        </m:ctrlPr>
                      </m:dPr>
                      <m:e>
                        <m:m>
                          <m:mPr>
                            <m:plcHide m:val="on"/>
                            <m:mcs>
                              <m:mc>
                                <m:mcPr>
                                  <m:count m:val="1"/>
                                  <m:mcJc m:val="center"/>
                                </m:mcPr>
                              </m:mc>
                            </m:mcs>
                            <m:ctrlPr>
                              <a:rPr lang="en-GB" sz="2800" i="1">
                                <a:latin typeface="Cambria Math" panose="02040503050406030204" pitchFamily="18" charset="0"/>
                              </a:rPr>
                            </m:ctrlPr>
                          </m:mPr>
                          <m:mr>
                            <m:e>
                              <m:r>
                                <a:rPr lang="en-GB" sz="2800" i="1">
                                  <a:latin typeface="Cambria Math" panose="02040503050406030204" pitchFamily="18" charset="0"/>
                                </a:rPr>
                                <m:t>5</m:t>
                              </m:r>
                            </m:e>
                          </m:mr>
                          <m:mr>
                            <m:e>
                              <m:r>
                                <a:rPr lang="en-GB" sz="2800" i="1">
                                  <a:latin typeface="Cambria Math" panose="02040503050406030204" pitchFamily="18" charset="0"/>
                                </a:rPr>
                                <m:t>0 </m:t>
                              </m:r>
                            </m:e>
                          </m:mr>
                        </m:m>
                      </m:e>
                    </m:d>
                    <m:d>
                      <m:dPr>
                        <m:ctrlPr>
                          <a:rPr lang="en-GB" sz="2800" i="1">
                            <a:latin typeface="Cambria Math" panose="02040503050406030204" pitchFamily="18" charset="0"/>
                          </a:rPr>
                        </m:ctrlPr>
                      </m:dPr>
                      <m:e>
                        <m:m>
                          <m:mPr>
                            <m:plcHide m:val="on"/>
                            <m:mcs>
                              <m:mc>
                                <m:mcPr>
                                  <m:count m:val="1"/>
                                  <m:mcJc m:val="center"/>
                                </m:mcPr>
                              </m:mc>
                            </m:mcs>
                            <m:ctrlPr>
                              <a:rPr lang="en-GB" sz="2800" i="1">
                                <a:latin typeface="Cambria Math" panose="02040503050406030204" pitchFamily="18" charset="0"/>
                              </a:rPr>
                            </m:ctrlPr>
                          </m:mPr>
                          <m:mr>
                            <m:e>
                              <m:r>
                                <a:rPr lang="en-GB" sz="2800" i="1">
                                  <a:latin typeface="Cambria Math" panose="02040503050406030204" pitchFamily="18" charset="0"/>
                                </a:rPr>
                                <m:t>5</m:t>
                              </m:r>
                            </m:e>
                          </m:mr>
                          <m:mr>
                            <m:e>
                              <m:r>
                                <a:rPr lang="en-GB" sz="2800" i="1">
                                  <a:latin typeface="Cambria Math" panose="02040503050406030204" pitchFamily="18" charset="0"/>
                                </a:rPr>
                                <m:t>1 </m:t>
                              </m:r>
                            </m:e>
                          </m:mr>
                        </m:m>
                      </m:e>
                    </m:d>
                  </m:oMath>
                </a14:m>
                <a:r>
                  <a:rPr lang="en-GB" sz="2800" dirty="0"/>
                  <a:t> </a:t>
                </a:r>
                <a14:m>
                  <m:oMath xmlns:m="http://schemas.openxmlformats.org/officeDocument/2006/math">
                    <m:d>
                      <m:dPr>
                        <m:ctrlPr>
                          <a:rPr lang="en-GB" sz="2800" i="1">
                            <a:latin typeface="Cambria Math" panose="02040503050406030204" pitchFamily="18" charset="0"/>
                          </a:rPr>
                        </m:ctrlPr>
                      </m:dPr>
                      <m:e>
                        <m:m>
                          <m:mPr>
                            <m:plcHide m:val="on"/>
                            <m:mcs>
                              <m:mc>
                                <m:mcPr>
                                  <m:count m:val="1"/>
                                  <m:mcJc m:val="center"/>
                                </m:mcPr>
                              </m:mc>
                            </m:mcs>
                            <m:ctrlPr>
                              <a:rPr lang="en-GB" sz="2800" i="1">
                                <a:latin typeface="Cambria Math" panose="02040503050406030204" pitchFamily="18" charset="0"/>
                              </a:rPr>
                            </m:ctrlPr>
                          </m:mPr>
                          <m:mr>
                            <m:e>
                              <m:r>
                                <a:rPr lang="en-GB" sz="2800" i="1">
                                  <a:latin typeface="Cambria Math" panose="02040503050406030204" pitchFamily="18" charset="0"/>
                                </a:rPr>
                                <m:t>5</m:t>
                              </m:r>
                            </m:e>
                          </m:mr>
                          <m:mr>
                            <m:e>
                              <m:r>
                                <a:rPr lang="en-GB" sz="2800" i="1">
                                  <a:latin typeface="Cambria Math" panose="02040503050406030204" pitchFamily="18" charset="0"/>
                                </a:rPr>
                                <m:t>2 </m:t>
                              </m:r>
                            </m:e>
                          </m:mr>
                        </m:m>
                      </m:e>
                    </m:d>
                  </m:oMath>
                </a14:m>
                <a:r>
                  <a:rPr lang="en-GB" sz="2800" dirty="0"/>
                  <a:t> </a:t>
                </a:r>
                <a14:m>
                  <m:oMath xmlns:m="http://schemas.openxmlformats.org/officeDocument/2006/math">
                    <m:d>
                      <m:dPr>
                        <m:ctrlPr>
                          <a:rPr lang="en-GB" sz="2800" i="1">
                            <a:latin typeface="Cambria Math" panose="02040503050406030204" pitchFamily="18" charset="0"/>
                          </a:rPr>
                        </m:ctrlPr>
                      </m:dPr>
                      <m:e>
                        <m:m>
                          <m:mPr>
                            <m:plcHide m:val="on"/>
                            <m:mcs>
                              <m:mc>
                                <m:mcPr>
                                  <m:count m:val="1"/>
                                  <m:mcJc m:val="center"/>
                                </m:mcPr>
                              </m:mc>
                            </m:mcs>
                            <m:ctrlPr>
                              <a:rPr lang="en-GB" sz="2800" i="1">
                                <a:latin typeface="Cambria Math" panose="02040503050406030204" pitchFamily="18" charset="0"/>
                              </a:rPr>
                            </m:ctrlPr>
                          </m:mPr>
                          <m:mr>
                            <m:e>
                              <m:r>
                                <a:rPr lang="en-GB" sz="2800" i="1">
                                  <a:latin typeface="Cambria Math" panose="02040503050406030204" pitchFamily="18" charset="0"/>
                                </a:rPr>
                                <m:t>5</m:t>
                              </m:r>
                            </m:e>
                          </m:mr>
                          <m:mr>
                            <m:e>
                              <m:r>
                                <a:rPr lang="en-GB" sz="2800" i="1">
                                  <a:latin typeface="Cambria Math" panose="02040503050406030204" pitchFamily="18" charset="0"/>
                                </a:rPr>
                                <m:t>3 </m:t>
                              </m:r>
                            </m:e>
                          </m:mr>
                        </m:m>
                      </m:e>
                    </m:d>
                  </m:oMath>
                </a14:m>
                <a:r>
                  <a:rPr lang="en-GB" sz="2800" dirty="0"/>
                  <a:t> </a:t>
                </a:r>
                <a14:m>
                  <m:oMath xmlns:m="http://schemas.openxmlformats.org/officeDocument/2006/math">
                    <m:d>
                      <m:dPr>
                        <m:ctrlPr>
                          <a:rPr lang="en-GB" sz="2800" i="1">
                            <a:latin typeface="Cambria Math" panose="02040503050406030204" pitchFamily="18" charset="0"/>
                          </a:rPr>
                        </m:ctrlPr>
                      </m:dPr>
                      <m:e>
                        <m:m>
                          <m:mPr>
                            <m:plcHide m:val="on"/>
                            <m:mcs>
                              <m:mc>
                                <m:mcPr>
                                  <m:count m:val="1"/>
                                  <m:mcJc m:val="center"/>
                                </m:mcPr>
                              </m:mc>
                            </m:mcs>
                            <m:ctrlPr>
                              <a:rPr lang="en-GB" sz="2800" i="1">
                                <a:latin typeface="Cambria Math" panose="02040503050406030204" pitchFamily="18" charset="0"/>
                              </a:rPr>
                            </m:ctrlPr>
                          </m:mPr>
                          <m:mr>
                            <m:e>
                              <m:r>
                                <a:rPr lang="en-GB" sz="2800" i="1">
                                  <a:latin typeface="Cambria Math" panose="02040503050406030204" pitchFamily="18" charset="0"/>
                                </a:rPr>
                                <m:t>5</m:t>
                              </m:r>
                            </m:e>
                          </m:mr>
                          <m:mr>
                            <m:e>
                              <m:r>
                                <a:rPr lang="en-GB" sz="2800" i="1">
                                  <a:latin typeface="Cambria Math" panose="02040503050406030204" pitchFamily="18" charset="0"/>
                                </a:rPr>
                                <m:t>4 </m:t>
                              </m:r>
                            </m:e>
                          </m:mr>
                        </m:m>
                      </m:e>
                    </m:d>
                  </m:oMath>
                </a14:m>
                <a:r>
                  <a:rPr lang="en-GB" sz="2800" dirty="0"/>
                  <a:t> </a:t>
                </a:r>
                <a14:m>
                  <m:oMath xmlns:m="http://schemas.openxmlformats.org/officeDocument/2006/math">
                    <m:d>
                      <m:dPr>
                        <m:ctrlPr>
                          <a:rPr lang="en-GB" sz="2800" i="1">
                            <a:latin typeface="Cambria Math" panose="02040503050406030204" pitchFamily="18" charset="0"/>
                          </a:rPr>
                        </m:ctrlPr>
                      </m:dPr>
                      <m:e>
                        <m:m>
                          <m:mPr>
                            <m:plcHide m:val="on"/>
                            <m:mcs>
                              <m:mc>
                                <m:mcPr>
                                  <m:count m:val="1"/>
                                  <m:mcJc m:val="center"/>
                                </m:mcPr>
                              </m:mc>
                            </m:mcs>
                            <m:ctrlPr>
                              <a:rPr lang="en-GB" sz="2800" i="1">
                                <a:latin typeface="Cambria Math" panose="02040503050406030204" pitchFamily="18" charset="0"/>
                              </a:rPr>
                            </m:ctrlPr>
                          </m:mPr>
                          <m:mr>
                            <m:e>
                              <m:r>
                                <a:rPr lang="en-GB" sz="2800" i="1">
                                  <a:latin typeface="Cambria Math" panose="02040503050406030204" pitchFamily="18" charset="0"/>
                                </a:rPr>
                                <m:t>5</m:t>
                              </m:r>
                            </m:e>
                          </m:mr>
                          <m:mr>
                            <m:e>
                              <m:r>
                                <a:rPr lang="en-GB" sz="2800" i="1">
                                  <a:latin typeface="Cambria Math" panose="02040503050406030204" pitchFamily="18" charset="0"/>
                                </a:rPr>
                                <m:t>5 </m:t>
                              </m:r>
                            </m:e>
                          </m:mr>
                        </m:m>
                      </m:e>
                    </m:d>
                  </m:oMath>
                </a14:m>
                <a:endParaRPr lang="en-GB"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2963652" y="1544598"/>
                <a:ext cx="5832648" cy="1681358"/>
              </a:xfrm>
              <a:prstGeom prst="rect">
                <a:avLst/>
              </a:prstGeom>
              <a:blipFill>
                <a:blip r:embed="rId2"/>
                <a:stretch>
                  <a:fillRect t="-3261"/>
                </a:stretch>
              </a:blipFill>
            </p:spPr>
            <p:txBody>
              <a:bodyPr/>
              <a:lstStyle/>
              <a:p>
                <a:r>
                  <a:rPr lang="en-GB">
                    <a:noFill/>
                  </a:rPr>
                  <a:t> </a:t>
                </a:r>
              </a:p>
            </p:txBody>
          </p:sp>
        </mc:Fallback>
      </mc:AlternateContent>
      <p:sp>
        <p:nvSpPr>
          <p:cNvPr id="7" name="Arrow: Down 6"/>
          <p:cNvSpPr/>
          <p:nvPr/>
        </p:nvSpPr>
        <p:spPr>
          <a:xfrm>
            <a:off x="5447928" y="2060851"/>
            <a:ext cx="1080120" cy="324429"/>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8" name="TextBox 7"/>
          <p:cNvSpPr txBox="1"/>
          <p:nvPr/>
        </p:nvSpPr>
        <p:spPr>
          <a:xfrm>
            <a:off x="1842350" y="3489314"/>
            <a:ext cx="8621306"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dirty="0"/>
              <a:t>Why do rows of Pascal’s Triangle give us the coefficients in a Binomial Expansion?</a:t>
            </a:r>
          </a:p>
        </p:txBody>
      </p:sp>
      <mc:AlternateContent xmlns:mc="http://schemas.openxmlformats.org/markup-compatibility/2006" xmlns:a14="http://schemas.microsoft.com/office/drawing/2010/main">
        <mc:Choice Requires="a14">
          <p:sp>
            <p:nvSpPr>
              <p:cNvPr id="9" name="TextBox 8"/>
              <p:cNvSpPr txBox="1"/>
              <p:nvPr/>
            </p:nvSpPr>
            <p:spPr>
              <a:xfrm>
                <a:off x="2034929" y="4653136"/>
                <a:ext cx="8236148" cy="1853456"/>
              </a:xfrm>
              <a:prstGeom prst="rect">
                <a:avLst/>
              </a:prstGeom>
              <a:noFill/>
            </p:spPr>
            <p:txBody>
              <a:bodyPr wrap="square" rtlCol="0">
                <a:spAutoFit/>
              </a:bodyPr>
              <a:lstStyle/>
              <a:p>
                <a:r>
                  <a:rPr lang="en-GB" sz="2000" dirty="0"/>
                  <a:t>Consider: </a:t>
                </a:r>
                <a14:m>
                  <m:oMath xmlns:m="http://schemas.openxmlformats.org/officeDocument/2006/math">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e>
                        </m:d>
                      </m:e>
                      <m:sup>
                        <m:r>
                          <a:rPr lang="en-GB" sz="2000" i="1">
                            <a:latin typeface="Cambria Math" panose="02040503050406030204" pitchFamily="18" charset="0"/>
                          </a:rPr>
                          <m:t>5</m:t>
                        </m:r>
                      </m:sup>
                    </m:sSup>
                    <m:r>
                      <a:rPr lang="en-GB" sz="2000" i="1">
                        <a:latin typeface="Cambria Math" panose="02040503050406030204" pitchFamily="18" charset="0"/>
                      </a:rPr>
                      <m:t>=</m:t>
                    </m:r>
                    <m:d>
                      <m:dPr>
                        <m:ctrlPr>
                          <a:rPr lang="en-GB" sz="2000" i="1">
                            <a:latin typeface="Cambria Math" panose="02040503050406030204" pitchFamily="18" charset="0"/>
                          </a:rPr>
                        </m:ctrlPr>
                      </m:dPr>
                      <m:e>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e>
                    </m:d>
                    <m:d>
                      <m:dPr>
                        <m:ctrlPr>
                          <a:rPr lang="en-GB" sz="2000" i="1">
                            <a:latin typeface="Cambria Math" panose="02040503050406030204" pitchFamily="18" charset="0"/>
                          </a:rPr>
                        </m:ctrlPr>
                      </m:dPr>
                      <m:e>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e>
                    </m:d>
                    <m:d>
                      <m:dPr>
                        <m:ctrlPr>
                          <a:rPr lang="en-GB" sz="2000" i="1">
                            <a:latin typeface="Cambria Math" panose="02040503050406030204" pitchFamily="18" charset="0"/>
                          </a:rPr>
                        </m:ctrlPr>
                      </m:dPr>
                      <m:e>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e>
                    </m:d>
                    <m:d>
                      <m:dPr>
                        <m:ctrlPr>
                          <a:rPr lang="en-GB" sz="2000" i="1">
                            <a:latin typeface="Cambria Math" panose="02040503050406030204" pitchFamily="18" charset="0"/>
                          </a:rPr>
                        </m:ctrlPr>
                      </m:dPr>
                      <m:e>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e>
                    </m:d>
                    <m:r>
                      <a:rPr lang="en-GB" sz="2000" i="1">
                        <a:latin typeface="Cambria Math" panose="02040503050406030204" pitchFamily="18" charset="0"/>
                      </a:rPr>
                      <m:t>(</m:t>
                    </m:r>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r>
                      <a:rPr lang="en-GB" sz="2000" i="1">
                        <a:latin typeface="Cambria Math" panose="02040503050406030204" pitchFamily="18" charset="0"/>
                      </a:rPr>
                      <m:t>)</m:t>
                    </m:r>
                  </m:oMath>
                </a14:m>
                <a:endParaRPr lang="en-GB" sz="1600" dirty="0"/>
              </a:p>
              <a:p>
                <a:r>
                  <a:rPr lang="en-GB" sz="2000" dirty="0"/>
                  <a:t>Each term of the expansion involves picking one term from each bracket.</a:t>
                </a:r>
              </a:p>
              <a:p>
                <a:r>
                  <a:rPr lang="en-GB" sz="2000" dirty="0"/>
                  <a:t>How many times will </a:t>
                </a:r>
                <a14:m>
                  <m:oMath xmlns:m="http://schemas.openxmlformats.org/officeDocument/2006/math">
                    <m:sSup>
                      <m:sSupPr>
                        <m:ctrlPr>
                          <a:rPr lang="en-GB" sz="2000" i="1">
                            <a:latin typeface="Cambria Math" panose="02040503050406030204" pitchFamily="18" charset="0"/>
                          </a:rPr>
                        </m:ctrlPr>
                      </m:sSupPr>
                      <m:e>
                        <m:r>
                          <a:rPr lang="en-GB" sz="2000" i="1">
                            <a:latin typeface="Cambria Math" panose="02040503050406030204" pitchFamily="18" charset="0"/>
                          </a:rPr>
                          <m:t>𝑎</m:t>
                        </m:r>
                      </m:e>
                      <m:sup>
                        <m:r>
                          <a:rPr lang="en-GB" sz="2000" i="1">
                            <a:latin typeface="Cambria Math" panose="02040503050406030204" pitchFamily="18" charset="0"/>
                          </a:rPr>
                          <m:t>3</m:t>
                        </m:r>
                      </m:sup>
                    </m:sSup>
                    <m:sSup>
                      <m:sSupPr>
                        <m:ctrlPr>
                          <a:rPr lang="en-GB" sz="2000" i="1">
                            <a:latin typeface="Cambria Math" panose="02040503050406030204" pitchFamily="18" charset="0"/>
                          </a:rPr>
                        </m:ctrlPr>
                      </m:sSupPr>
                      <m:e>
                        <m:r>
                          <a:rPr lang="en-GB" sz="2000" i="1">
                            <a:latin typeface="Cambria Math" panose="02040503050406030204" pitchFamily="18" charset="0"/>
                          </a:rPr>
                          <m:t>𝑏</m:t>
                        </m:r>
                      </m:e>
                      <m:sup>
                        <m:r>
                          <a:rPr lang="en-GB" sz="2000" i="1">
                            <a:latin typeface="Cambria Math" panose="02040503050406030204" pitchFamily="18" charset="0"/>
                          </a:rPr>
                          <m:t>2</m:t>
                        </m:r>
                      </m:sup>
                    </m:sSup>
                  </m:oMath>
                </a14:m>
                <a:r>
                  <a:rPr lang="en-GB" sz="2000" dirty="0"/>
                  <a:t> appear in the expansion?</a:t>
                </a:r>
              </a:p>
              <a:p>
                <a:r>
                  <a:rPr lang="en-GB" sz="2000" b="1" dirty="0"/>
                  <a:t>To get </a:t>
                </a:r>
                <a14:m>
                  <m:oMath xmlns:m="http://schemas.openxmlformats.org/officeDocument/2006/math">
                    <m:sSup>
                      <m:sSupPr>
                        <m:ctrlPr>
                          <a:rPr lang="en-GB" sz="2000" b="1" i="1">
                            <a:latin typeface="Cambria Math" panose="02040503050406030204" pitchFamily="18" charset="0"/>
                          </a:rPr>
                        </m:ctrlPr>
                      </m:sSupPr>
                      <m:e>
                        <m:r>
                          <a:rPr lang="en-GB" sz="2000" b="1" i="1">
                            <a:latin typeface="Cambria Math" panose="02040503050406030204" pitchFamily="18" charset="0"/>
                          </a:rPr>
                          <m:t>𝒂</m:t>
                        </m:r>
                      </m:e>
                      <m:sup>
                        <m:r>
                          <a:rPr lang="en-GB" sz="2000" b="1" i="1">
                            <a:latin typeface="Cambria Math" panose="02040503050406030204" pitchFamily="18" charset="0"/>
                          </a:rPr>
                          <m:t>𝟑</m:t>
                        </m:r>
                      </m:sup>
                    </m:sSup>
                    <m:sSup>
                      <m:sSupPr>
                        <m:ctrlPr>
                          <a:rPr lang="en-GB" sz="2000" b="1" i="1">
                            <a:latin typeface="Cambria Math" panose="02040503050406030204" pitchFamily="18" charset="0"/>
                          </a:rPr>
                        </m:ctrlPr>
                      </m:sSupPr>
                      <m:e>
                        <m:r>
                          <a:rPr lang="en-GB" sz="2000" b="1" i="1">
                            <a:latin typeface="Cambria Math" panose="02040503050406030204" pitchFamily="18" charset="0"/>
                          </a:rPr>
                          <m:t>𝒃</m:t>
                        </m:r>
                      </m:e>
                      <m:sup>
                        <m:r>
                          <a:rPr lang="en-GB" sz="2000" b="1" i="1">
                            <a:latin typeface="Cambria Math" panose="02040503050406030204" pitchFamily="18" charset="0"/>
                          </a:rPr>
                          <m:t>𝟐</m:t>
                        </m:r>
                      </m:sup>
                    </m:sSup>
                  </m:oMath>
                </a14:m>
                <a:r>
                  <a:rPr lang="en-GB" sz="2000" b="1" dirty="0"/>
                  <a:t> we must have chosen 3 </a:t>
                </a:r>
                <a14:m>
                  <m:oMath xmlns:m="http://schemas.openxmlformats.org/officeDocument/2006/math">
                    <m:r>
                      <a:rPr lang="en-GB" sz="2000" b="1" i="1">
                        <a:latin typeface="Cambria Math" panose="02040503050406030204" pitchFamily="18" charset="0"/>
                      </a:rPr>
                      <m:t>𝒂</m:t>
                    </m:r>
                  </m:oMath>
                </a14:m>
                <a:r>
                  <a:rPr lang="en-GB" sz="2000" b="1" dirty="0"/>
                  <a:t>’s from the 5 brackets (the rest </a:t>
                </a:r>
                <a14:m>
                  <m:oMath xmlns:m="http://schemas.openxmlformats.org/officeDocument/2006/math">
                    <m:r>
                      <a:rPr lang="en-GB" sz="2000" b="1" i="1">
                        <a:latin typeface="Cambria Math" panose="02040503050406030204" pitchFamily="18" charset="0"/>
                      </a:rPr>
                      <m:t>𝒃</m:t>
                    </m:r>
                  </m:oMath>
                </a14:m>
                <a:r>
                  <a:rPr lang="en-GB" sz="2000" b="1" dirty="0"/>
                  <a:t>’s). That’s </a:t>
                </a:r>
                <a14:m>
                  <m:oMath xmlns:m="http://schemas.openxmlformats.org/officeDocument/2006/math">
                    <m:d>
                      <m:dPr>
                        <m:ctrlPr>
                          <a:rPr lang="en-GB" sz="2000" b="1" i="1">
                            <a:latin typeface="Cambria Math" panose="02040503050406030204" pitchFamily="18" charset="0"/>
                          </a:rPr>
                        </m:ctrlPr>
                      </m:dPr>
                      <m:e>
                        <m:m>
                          <m:mPr>
                            <m:plcHide m:val="on"/>
                            <m:mcs>
                              <m:mc>
                                <m:mcPr>
                                  <m:count m:val="1"/>
                                  <m:mcJc m:val="center"/>
                                </m:mcPr>
                              </m:mc>
                            </m:mcs>
                            <m:ctrlPr>
                              <a:rPr lang="en-GB" sz="2000" b="1" i="1">
                                <a:latin typeface="Cambria Math" panose="02040503050406030204" pitchFamily="18" charset="0"/>
                              </a:rPr>
                            </m:ctrlPr>
                          </m:mPr>
                          <m:mr>
                            <m:e>
                              <m:r>
                                <a:rPr lang="en-GB" sz="2000" b="1" i="1">
                                  <a:latin typeface="Cambria Math" panose="02040503050406030204" pitchFamily="18" charset="0"/>
                                </a:rPr>
                                <m:t>𝟓</m:t>
                              </m:r>
                            </m:e>
                          </m:mr>
                          <m:mr>
                            <m:e>
                              <m:r>
                                <a:rPr lang="en-GB" sz="2000" b="1" i="1">
                                  <a:latin typeface="Cambria Math" panose="02040503050406030204" pitchFamily="18" charset="0"/>
                                </a:rPr>
                                <m:t>𝟑</m:t>
                              </m:r>
                            </m:e>
                          </m:mr>
                        </m:m>
                      </m:e>
                    </m:d>
                  </m:oMath>
                </a14:m>
                <a:r>
                  <a:rPr lang="en-GB" sz="2000" b="1" dirty="0"/>
                  <a:t> ways, giving us </a:t>
                </a:r>
                <a14:m>
                  <m:oMath xmlns:m="http://schemas.openxmlformats.org/officeDocument/2006/math">
                    <m:d>
                      <m:dPr>
                        <m:ctrlPr>
                          <a:rPr lang="en-GB" sz="2000" b="1" i="1">
                            <a:latin typeface="Cambria Math" panose="02040503050406030204" pitchFamily="18" charset="0"/>
                          </a:rPr>
                        </m:ctrlPr>
                      </m:dPr>
                      <m:e>
                        <m:m>
                          <m:mPr>
                            <m:plcHide m:val="on"/>
                            <m:mcs>
                              <m:mc>
                                <m:mcPr>
                                  <m:count m:val="1"/>
                                  <m:mcJc m:val="center"/>
                                </m:mcPr>
                              </m:mc>
                            </m:mcs>
                            <m:ctrlPr>
                              <a:rPr lang="en-GB" sz="2000" b="1" i="1">
                                <a:latin typeface="Cambria Math" panose="02040503050406030204" pitchFamily="18" charset="0"/>
                              </a:rPr>
                            </m:ctrlPr>
                          </m:mPr>
                          <m:mr>
                            <m:e>
                              <m:r>
                                <a:rPr lang="en-GB" sz="2000" b="1" i="1">
                                  <a:latin typeface="Cambria Math" panose="02040503050406030204" pitchFamily="18" charset="0"/>
                                </a:rPr>
                                <m:t>𝟓</m:t>
                              </m:r>
                            </m:e>
                          </m:mr>
                          <m:mr>
                            <m:e>
                              <m:r>
                                <a:rPr lang="en-GB" sz="2000" b="1" i="1">
                                  <a:latin typeface="Cambria Math" panose="02040503050406030204" pitchFamily="18" charset="0"/>
                                </a:rPr>
                                <m:t>𝟑</m:t>
                              </m:r>
                            </m:e>
                          </m:mr>
                        </m:m>
                      </m:e>
                    </m:d>
                    <m:sSup>
                      <m:sSupPr>
                        <m:ctrlPr>
                          <a:rPr lang="en-GB" sz="2000" b="1" i="1">
                            <a:latin typeface="Cambria Math" panose="02040503050406030204" pitchFamily="18" charset="0"/>
                          </a:rPr>
                        </m:ctrlPr>
                      </m:sSupPr>
                      <m:e>
                        <m:r>
                          <a:rPr lang="en-GB" sz="2000" b="1" i="1">
                            <a:latin typeface="Cambria Math" panose="02040503050406030204" pitchFamily="18" charset="0"/>
                          </a:rPr>
                          <m:t>𝒂</m:t>
                        </m:r>
                      </m:e>
                      <m:sup>
                        <m:r>
                          <a:rPr lang="en-GB" sz="2000" b="1" i="1">
                            <a:latin typeface="Cambria Math" panose="02040503050406030204" pitchFamily="18" charset="0"/>
                          </a:rPr>
                          <m:t>𝟑</m:t>
                        </m:r>
                      </m:sup>
                    </m:sSup>
                    <m:sSup>
                      <m:sSupPr>
                        <m:ctrlPr>
                          <a:rPr lang="en-GB" sz="2000" b="1" i="1">
                            <a:latin typeface="Cambria Math" panose="02040503050406030204" pitchFamily="18" charset="0"/>
                          </a:rPr>
                        </m:ctrlPr>
                      </m:sSupPr>
                      <m:e>
                        <m:r>
                          <a:rPr lang="en-GB" sz="2000" b="1" i="1">
                            <a:latin typeface="Cambria Math" panose="02040503050406030204" pitchFamily="18" charset="0"/>
                          </a:rPr>
                          <m:t>𝒃</m:t>
                        </m:r>
                      </m:e>
                      <m:sup>
                        <m:r>
                          <a:rPr lang="en-GB" sz="2000" b="1" i="1">
                            <a:latin typeface="Cambria Math" panose="02040503050406030204" pitchFamily="18" charset="0"/>
                          </a:rPr>
                          <m:t>𝟐</m:t>
                        </m:r>
                      </m:sup>
                    </m:sSup>
                  </m:oMath>
                </a14:m>
                <a:r>
                  <a:rPr lang="en-GB" sz="2000" b="1" dirty="0"/>
                  <a:t> in the expansion of </a:t>
                </a:r>
                <a14:m>
                  <m:oMath xmlns:m="http://schemas.openxmlformats.org/officeDocument/2006/math">
                    <m:sSup>
                      <m:sSupPr>
                        <m:ctrlPr>
                          <a:rPr lang="en-GB" sz="2000" b="1" i="1">
                            <a:latin typeface="Cambria Math" panose="02040503050406030204" pitchFamily="18" charset="0"/>
                          </a:rPr>
                        </m:ctrlPr>
                      </m:sSupPr>
                      <m:e>
                        <m:d>
                          <m:dPr>
                            <m:ctrlPr>
                              <a:rPr lang="en-GB" sz="2000" b="1" i="1">
                                <a:latin typeface="Cambria Math" panose="02040503050406030204" pitchFamily="18" charset="0"/>
                              </a:rPr>
                            </m:ctrlPr>
                          </m:dPr>
                          <m:e>
                            <m:r>
                              <a:rPr lang="en-GB" sz="2000" b="1" i="1">
                                <a:latin typeface="Cambria Math" panose="02040503050406030204" pitchFamily="18" charset="0"/>
                              </a:rPr>
                              <m:t>𝒂</m:t>
                            </m:r>
                            <m:r>
                              <a:rPr lang="en-GB" sz="2000" b="1" i="1">
                                <a:latin typeface="Cambria Math" panose="02040503050406030204" pitchFamily="18" charset="0"/>
                              </a:rPr>
                              <m:t>+</m:t>
                            </m:r>
                            <m:r>
                              <a:rPr lang="en-GB" sz="2000" b="1" i="1">
                                <a:latin typeface="Cambria Math" panose="02040503050406030204" pitchFamily="18" charset="0"/>
                              </a:rPr>
                              <m:t>𝒃</m:t>
                            </m:r>
                          </m:e>
                        </m:d>
                      </m:e>
                      <m:sup>
                        <m:r>
                          <a:rPr lang="en-GB" sz="2000" b="1" i="1">
                            <a:latin typeface="Cambria Math" panose="02040503050406030204" pitchFamily="18" charset="0"/>
                          </a:rPr>
                          <m:t>𝟓</m:t>
                        </m:r>
                      </m:sup>
                    </m:sSup>
                  </m:oMath>
                </a14:m>
                <a:r>
                  <a:rPr lang="en-GB" sz="2000" b="1" dirty="0"/>
                  <a:t>.</a:t>
                </a:r>
              </a:p>
            </p:txBody>
          </p:sp>
        </mc:Choice>
        <mc:Fallback xmlns="">
          <p:sp>
            <p:nvSpPr>
              <p:cNvPr id="9" name="TextBox 8"/>
              <p:cNvSpPr txBox="1">
                <a:spLocks noRot="1" noChangeAspect="1" noMove="1" noResize="1" noEditPoints="1" noAdjustHandles="1" noChangeArrowheads="1" noChangeShapeType="1" noTextEdit="1"/>
              </p:cNvSpPr>
              <p:nvPr/>
            </p:nvSpPr>
            <p:spPr>
              <a:xfrm>
                <a:off x="2034929" y="4653136"/>
                <a:ext cx="8236148" cy="1853456"/>
              </a:xfrm>
              <a:prstGeom prst="rect">
                <a:avLst/>
              </a:prstGeom>
              <a:blipFill>
                <a:blip r:embed="rId3"/>
                <a:stretch>
                  <a:fillRect l="-814" t="-1316"/>
                </a:stretch>
              </a:blipFill>
            </p:spPr>
            <p:txBody>
              <a:bodyPr/>
              <a:lstStyle/>
              <a:p>
                <a:r>
                  <a:rPr lang="en-GB">
                    <a:noFill/>
                  </a:rPr>
                  <a:t> </a:t>
                </a:r>
              </a:p>
            </p:txBody>
          </p:sp>
        </mc:Fallback>
      </mc:AlternateContent>
      <p:sp>
        <p:nvSpPr>
          <p:cNvPr id="15" name="Freeform: Shape 14"/>
          <p:cNvSpPr/>
          <p:nvPr/>
        </p:nvSpPr>
        <p:spPr>
          <a:xfrm>
            <a:off x="4572003" y="4362409"/>
            <a:ext cx="809625" cy="371516"/>
          </a:xfrm>
          <a:custGeom>
            <a:avLst/>
            <a:gdLst>
              <a:gd name="connsiteX0" fmla="*/ 0 w 809625"/>
              <a:gd name="connsiteY0" fmla="*/ 371516 h 371516"/>
              <a:gd name="connsiteX1" fmla="*/ 447675 w 809625"/>
              <a:gd name="connsiteY1" fmla="*/ 41 h 371516"/>
              <a:gd name="connsiteX2" fmla="*/ 809625 w 809625"/>
              <a:gd name="connsiteY2" fmla="*/ 352466 h 371516"/>
            </a:gdLst>
            <a:ahLst/>
            <a:cxnLst>
              <a:cxn ang="0">
                <a:pos x="connsiteX0" y="connsiteY0"/>
              </a:cxn>
              <a:cxn ang="0">
                <a:pos x="connsiteX1" y="connsiteY1"/>
              </a:cxn>
              <a:cxn ang="0">
                <a:pos x="connsiteX2" y="connsiteY2"/>
              </a:cxn>
            </a:cxnLst>
            <a:rect l="l" t="t" r="r" b="b"/>
            <a:pathLst>
              <a:path w="809625" h="371516">
                <a:moveTo>
                  <a:pt x="0" y="371516"/>
                </a:moveTo>
                <a:cubicBezTo>
                  <a:pt x="156369" y="187366"/>
                  <a:pt x="312738" y="3216"/>
                  <a:pt x="447675" y="41"/>
                </a:cubicBezTo>
                <a:cubicBezTo>
                  <a:pt x="582612" y="-3134"/>
                  <a:pt x="696118" y="174666"/>
                  <a:pt x="809625" y="352466"/>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6" name="Freeform: Shape 15"/>
          <p:cNvSpPr/>
          <p:nvPr/>
        </p:nvSpPr>
        <p:spPr>
          <a:xfrm>
            <a:off x="5381625" y="4429111"/>
            <a:ext cx="1219200" cy="266714"/>
          </a:xfrm>
          <a:custGeom>
            <a:avLst/>
            <a:gdLst>
              <a:gd name="connsiteX0" fmla="*/ 0 w 1219200"/>
              <a:gd name="connsiteY0" fmla="*/ 266714 h 266714"/>
              <a:gd name="connsiteX1" fmla="*/ 590550 w 1219200"/>
              <a:gd name="connsiteY1" fmla="*/ 14 h 266714"/>
              <a:gd name="connsiteX2" fmla="*/ 1219200 w 1219200"/>
              <a:gd name="connsiteY2" fmla="*/ 257189 h 266714"/>
            </a:gdLst>
            <a:ahLst/>
            <a:cxnLst>
              <a:cxn ang="0">
                <a:pos x="connsiteX0" y="connsiteY0"/>
              </a:cxn>
              <a:cxn ang="0">
                <a:pos x="connsiteX1" y="connsiteY1"/>
              </a:cxn>
              <a:cxn ang="0">
                <a:pos x="connsiteX2" y="connsiteY2"/>
              </a:cxn>
            </a:cxnLst>
            <a:rect l="l" t="t" r="r" b="b"/>
            <a:pathLst>
              <a:path w="1219200" h="266714">
                <a:moveTo>
                  <a:pt x="0" y="266714"/>
                </a:moveTo>
                <a:cubicBezTo>
                  <a:pt x="193675" y="134157"/>
                  <a:pt x="387350" y="1601"/>
                  <a:pt x="590550" y="14"/>
                </a:cubicBezTo>
                <a:cubicBezTo>
                  <a:pt x="793750" y="-1573"/>
                  <a:pt x="1006475" y="127808"/>
                  <a:pt x="1219200" y="257189"/>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7" name="Freeform: Shape 16"/>
          <p:cNvSpPr/>
          <p:nvPr/>
        </p:nvSpPr>
        <p:spPr>
          <a:xfrm>
            <a:off x="6619878" y="4467162"/>
            <a:ext cx="809625" cy="238191"/>
          </a:xfrm>
          <a:custGeom>
            <a:avLst/>
            <a:gdLst>
              <a:gd name="connsiteX0" fmla="*/ 0 w 809625"/>
              <a:gd name="connsiteY0" fmla="*/ 238191 h 238191"/>
              <a:gd name="connsiteX1" fmla="*/ 447675 w 809625"/>
              <a:gd name="connsiteY1" fmla="*/ 66 h 238191"/>
              <a:gd name="connsiteX2" fmla="*/ 809625 w 809625"/>
              <a:gd name="connsiteY2" fmla="*/ 219141 h 238191"/>
            </a:gdLst>
            <a:ahLst/>
            <a:cxnLst>
              <a:cxn ang="0">
                <a:pos x="connsiteX0" y="connsiteY0"/>
              </a:cxn>
              <a:cxn ang="0">
                <a:pos x="connsiteX1" y="connsiteY1"/>
              </a:cxn>
              <a:cxn ang="0">
                <a:pos x="connsiteX2" y="connsiteY2"/>
              </a:cxn>
            </a:cxnLst>
            <a:rect l="l" t="t" r="r" b="b"/>
            <a:pathLst>
              <a:path w="809625" h="238191">
                <a:moveTo>
                  <a:pt x="0" y="238191"/>
                </a:moveTo>
                <a:cubicBezTo>
                  <a:pt x="156369" y="120716"/>
                  <a:pt x="312738" y="3241"/>
                  <a:pt x="447675" y="66"/>
                </a:cubicBezTo>
                <a:cubicBezTo>
                  <a:pt x="582612" y="-3109"/>
                  <a:pt x="696118" y="108016"/>
                  <a:pt x="809625" y="219141"/>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8" name="Freeform: Shape 17"/>
          <p:cNvSpPr/>
          <p:nvPr/>
        </p:nvSpPr>
        <p:spPr>
          <a:xfrm>
            <a:off x="7429503" y="4495647"/>
            <a:ext cx="390525" cy="238278"/>
          </a:xfrm>
          <a:custGeom>
            <a:avLst/>
            <a:gdLst>
              <a:gd name="connsiteX0" fmla="*/ 0 w 390525"/>
              <a:gd name="connsiteY0" fmla="*/ 209703 h 238278"/>
              <a:gd name="connsiteX1" fmla="*/ 238125 w 390525"/>
              <a:gd name="connsiteY1" fmla="*/ 153 h 238278"/>
              <a:gd name="connsiteX2" fmla="*/ 390525 w 390525"/>
              <a:gd name="connsiteY2" fmla="*/ 238278 h 238278"/>
            </a:gdLst>
            <a:ahLst/>
            <a:cxnLst>
              <a:cxn ang="0">
                <a:pos x="connsiteX0" y="connsiteY0"/>
              </a:cxn>
              <a:cxn ang="0">
                <a:pos x="connsiteX1" y="connsiteY1"/>
              </a:cxn>
              <a:cxn ang="0">
                <a:pos x="connsiteX2" y="connsiteY2"/>
              </a:cxn>
            </a:cxnLst>
            <a:rect l="l" t="t" r="r" b="b"/>
            <a:pathLst>
              <a:path w="390525" h="238278">
                <a:moveTo>
                  <a:pt x="0" y="209703"/>
                </a:moveTo>
                <a:cubicBezTo>
                  <a:pt x="86519" y="102547"/>
                  <a:pt x="173038" y="-4609"/>
                  <a:pt x="238125" y="153"/>
                </a:cubicBezTo>
                <a:cubicBezTo>
                  <a:pt x="303212" y="4915"/>
                  <a:pt x="346868" y="121596"/>
                  <a:pt x="390525" y="238278"/>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9" name="TextBox 18"/>
          <p:cNvSpPr txBox="1"/>
          <p:nvPr/>
        </p:nvSpPr>
        <p:spPr>
          <a:xfrm>
            <a:off x="7820028" y="4124592"/>
            <a:ext cx="2308423" cy="461665"/>
          </a:xfrm>
          <a:prstGeom prst="rect">
            <a:avLst/>
          </a:prstGeom>
          <a:noFill/>
        </p:spPr>
        <p:txBody>
          <a:bodyPr wrap="square" rtlCol="0">
            <a:spAutoFit/>
          </a:bodyPr>
          <a:lstStyle/>
          <a:p>
            <a:r>
              <a:rPr lang="en-GB" sz="1200" dirty="0"/>
              <a:t>One possible selection of terms from each bracket.</a:t>
            </a:r>
          </a:p>
        </p:txBody>
      </p:sp>
      <p:sp>
        <p:nvSpPr>
          <p:cNvPr id="20" name="Rectangle 19"/>
          <p:cNvSpPr/>
          <p:nvPr/>
        </p:nvSpPr>
        <p:spPr>
          <a:xfrm>
            <a:off x="1959622" y="5619374"/>
            <a:ext cx="7840713" cy="88721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94079929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nextCondLst>
                <p:cond evt="onClick" delay="0">
                  <p:tgtEl>
                    <p:spTgt spid="20"/>
                  </p:tgtEl>
                </p:cond>
              </p:nextCondLst>
            </p:seq>
          </p:childTnLst>
        </p:cTn>
      </p:par>
    </p:tnLst>
    <p:bldLst>
      <p:bldP spid="15" grpId="0" animBg="1"/>
      <p:bldP spid="16" grpId="0" animBg="1"/>
      <p:bldP spid="17" grpId="0" animBg="1"/>
      <p:bldP spid="18" grpId="0" animBg="1"/>
      <p:bldP spid="19" grpId="0"/>
      <p:bldP spid="20" grpId="0" animBg="1"/>
    </p:bldLst>
  </p:timing>
</p:sld>
</file>

<file path=ppt/c8/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Using Binomial Coefficients to Expand</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19536" y="1268760"/>
                <a:ext cx="7848872" cy="7834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latin typeface="Wingdings" panose="05000000000000000000" pitchFamily="2" charset="2"/>
                  </a:rPr>
                  <a:t>!</a:t>
                </a:r>
                <a:r>
                  <a:rPr lang="en-GB" dirty="0"/>
                  <a:t> The binomial expansion, when </a:t>
                </a:r>
                <a14:m>
                  <m:oMath xmlns:m="http://schemas.openxmlformats.org/officeDocument/2006/math">
                    <m:r>
                      <a:rPr lang="en-GB" i="1">
                        <a:latin typeface="Cambria Math" panose="02040503050406030204" pitchFamily="18" charset="0"/>
                      </a:rPr>
                      <m:t>𝑛</m:t>
                    </m:r>
                    <m:r>
                      <a:rPr lang="en-GB" i="1">
                        <a:latin typeface="Cambria Math" panose="02040503050406030204" pitchFamily="18" charset="0"/>
                      </a:rPr>
                      <m:t>∈</m:t>
                    </m:r>
                    <m:r>
                      <a:rPr lang="en-GB" i="1">
                        <a:latin typeface="Cambria Math" panose="02040503050406030204" pitchFamily="18" charset="0"/>
                      </a:rPr>
                      <m:t>ℕ</m:t>
                    </m:r>
                  </m:oMath>
                </a14:m>
                <a:r>
                  <a:rPr lang="en-GB" dirty="0"/>
                  <a:t>:</a:t>
                </a:r>
              </a:p>
              <a:p>
                <a:pPr/>
                <a14:m>
                  <m:oMathPara xmlns:m="http://schemas.openxmlformats.org/officeDocument/2006/math">
                    <m:oMathParaPr>
                      <m:jc m:val="centerGroup"/>
                    </m:oMathParaPr>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𝑎</m:t>
                              </m:r>
                              <m:r>
                                <a:rPr lang="en-GB" i="1">
                                  <a:latin typeface="Cambria Math" panose="02040503050406030204" pitchFamily="18" charset="0"/>
                                </a:rPr>
                                <m:t>+</m:t>
                              </m:r>
                              <m:r>
                                <a:rPr lang="en-GB" i="1">
                                  <a:latin typeface="Cambria Math" panose="02040503050406030204" pitchFamily="18" charset="0"/>
                                </a:rPr>
                                <m:t>𝑏</m:t>
                              </m:r>
                            </m:e>
                          </m:d>
                        </m:e>
                        <m:sup>
                          <m:r>
                            <a:rPr lang="en-GB" i="1">
                              <a:latin typeface="Cambria Math" panose="02040503050406030204" pitchFamily="18" charset="0"/>
                            </a:rPr>
                            <m:t>𝑛</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𝑛</m:t>
                          </m:r>
                        </m:sup>
                      </m:sSup>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1</m:t>
                                </m:r>
                              </m:e>
                            </m:mr>
                          </m:m>
                        </m:e>
                      </m:d>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𝑛</m:t>
                          </m:r>
                          <m:r>
                            <a:rPr lang="en-GB" i="1">
                              <a:latin typeface="Cambria Math" panose="02040503050406030204" pitchFamily="18" charset="0"/>
                            </a:rPr>
                            <m:t>−1</m:t>
                          </m:r>
                        </m:sup>
                      </m:sSup>
                      <m:r>
                        <a:rPr lang="en-GB" i="1">
                          <a:latin typeface="Cambria Math" panose="02040503050406030204" pitchFamily="18" charset="0"/>
                        </a:rPr>
                        <m:t>𝑏</m:t>
                      </m:r>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2</m:t>
                                </m:r>
                              </m:e>
                            </m:mr>
                          </m:m>
                        </m:e>
                      </m:d>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𝑛</m:t>
                          </m:r>
                          <m:r>
                            <a:rPr lang="en-GB" i="1">
                              <a:latin typeface="Cambria Math" panose="02040503050406030204" pitchFamily="18" charset="0"/>
                            </a:rPr>
                            <m:t>−2</m:t>
                          </m:r>
                        </m:sup>
                      </m:sSup>
                      <m:sSup>
                        <m:sSupPr>
                          <m:ctrlPr>
                            <a:rPr lang="en-GB" i="1">
                              <a:latin typeface="Cambria Math" panose="02040503050406030204" pitchFamily="18" charset="0"/>
                            </a:rPr>
                          </m:ctrlPr>
                        </m:sSupPr>
                        <m:e>
                          <m:r>
                            <a:rPr lang="en-GB" i="1">
                              <a:latin typeface="Cambria Math" panose="02040503050406030204" pitchFamily="18" charset="0"/>
                            </a:rPr>
                            <m:t>𝑏</m:t>
                          </m:r>
                        </m:e>
                        <m:sup>
                          <m:r>
                            <a:rPr lang="en-GB" i="1">
                              <a:latin typeface="Cambria Math" panose="02040503050406030204" pitchFamily="18" charset="0"/>
                            </a:rPr>
                            <m:t>2</m:t>
                          </m:r>
                        </m:sup>
                      </m:sSup>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𝑟</m:t>
                                </m:r>
                              </m:e>
                            </m:mr>
                          </m:m>
                        </m:e>
                      </m:d>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𝑛</m:t>
                          </m:r>
                          <m:r>
                            <a:rPr lang="en-GB" i="1">
                              <a:latin typeface="Cambria Math" panose="02040503050406030204" pitchFamily="18" charset="0"/>
                            </a:rPr>
                            <m:t>−</m:t>
                          </m:r>
                          <m:r>
                            <a:rPr lang="en-GB" i="1">
                              <a:latin typeface="Cambria Math" panose="02040503050406030204" pitchFamily="18" charset="0"/>
                            </a:rPr>
                            <m:t>𝑟</m:t>
                          </m:r>
                        </m:sup>
                      </m:sSup>
                      <m:sSup>
                        <m:sSupPr>
                          <m:ctrlPr>
                            <a:rPr lang="en-GB" i="1">
                              <a:latin typeface="Cambria Math" panose="02040503050406030204" pitchFamily="18" charset="0"/>
                            </a:rPr>
                          </m:ctrlPr>
                        </m:sSupPr>
                        <m:e>
                          <m:r>
                            <a:rPr lang="en-GB" i="1">
                              <a:latin typeface="Cambria Math" panose="02040503050406030204" pitchFamily="18" charset="0"/>
                            </a:rPr>
                            <m:t>𝑏</m:t>
                          </m:r>
                        </m:e>
                        <m:sup>
                          <m:r>
                            <a:rPr lang="en-GB" i="1">
                              <a:latin typeface="Cambria Math" panose="02040503050406030204" pitchFamily="18" charset="0"/>
                            </a:rPr>
                            <m:t>𝑟</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𝑏</m:t>
                          </m:r>
                        </m:e>
                        <m:sup>
                          <m:r>
                            <a:rPr lang="en-GB" i="1">
                              <a:latin typeface="Cambria Math" panose="02040503050406030204" pitchFamily="18" charset="0"/>
                            </a:rPr>
                            <m:t>𝑛</m:t>
                          </m:r>
                        </m:sup>
                      </m:sSup>
                    </m:oMath>
                  </m:oMathPara>
                </a14:m>
                <a:endParaRPr lang="en-GB" dirty="0"/>
              </a:p>
            </p:txBody>
          </p:sp>
        </mc:Choice>
        <mc:Fallback xmlns="">
          <p:sp>
            <p:nvSpPr>
              <p:cNvPr id="5" name="TextBox 4"/>
              <p:cNvSpPr txBox="1">
                <a:spLocks noRot="1" noChangeAspect="1" noMove="1" noResize="1" noEditPoints="1" noAdjustHandles="1" noChangeArrowheads="1" noChangeShapeType="1" noTextEdit="1"/>
              </p:cNvSpPr>
              <p:nvPr/>
            </p:nvSpPr>
            <p:spPr>
              <a:xfrm>
                <a:off x="1919536" y="1268760"/>
                <a:ext cx="7848872" cy="783420"/>
              </a:xfrm>
              <a:prstGeom prst="rect">
                <a:avLst/>
              </a:prstGeom>
              <a:blipFill>
                <a:blip r:embed="rId2"/>
                <a:stretch>
                  <a:fillRect l="-542" t="-3008" b="-150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374268" y="693118"/>
                <a:ext cx="5292588" cy="461665"/>
              </a:xfrm>
              <a:prstGeom prst="rect">
                <a:avLst/>
              </a:prstGeom>
              <a:noFill/>
            </p:spPr>
            <p:txBody>
              <a:bodyPr wrap="square" rtlCol="0">
                <a:spAutoFit/>
              </a:bodyPr>
              <a:lstStyle/>
              <a:p>
                <a14:m>
                  <m:oMath xmlns:m="http://schemas.openxmlformats.org/officeDocument/2006/math">
                    <m:r>
                      <a:rPr lang="en-GB" sz="1200" i="1">
                        <a:latin typeface="Cambria Math" panose="02040503050406030204" pitchFamily="18" charset="0"/>
                      </a:rPr>
                      <m:t>ℕ</m:t>
                    </m:r>
                  </m:oMath>
                </a14:m>
                <a:r>
                  <a:rPr lang="en-GB" sz="1200" dirty="0"/>
                  <a:t> is the set of natural numbers, i.e. positive integers. This formula is only valid for positive integers </a:t>
                </a:r>
                <a14:m>
                  <m:oMath xmlns:m="http://schemas.openxmlformats.org/officeDocument/2006/math">
                    <m:r>
                      <a:rPr lang="en-GB" sz="1200" i="1">
                        <a:latin typeface="Cambria Math" panose="02040503050406030204" pitchFamily="18" charset="0"/>
                      </a:rPr>
                      <m:t>𝑛</m:t>
                    </m:r>
                  </m:oMath>
                </a14:m>
                <a:r>
                  <a:rPr lang="en-GB" sz="1200" dirty="0"/>
                  <a:t>. In Year 2 you will see how to deal with fractional/negative </a:t>
                </a:r>
                <a14:m>
                  <m:oMath xmlns:m="http://schemas.openxmlformats.org/officeDocument/2006/math">
                    <m:r>
                      <a:rPr lang="en-GB" sz="1200" i="1">
                        <a:latin typeface="Cambria Math" panose="02040503050406030204" pitchFamily="18" charset="0"/>
                      </a:rPr>
                      <m:t>𝑛</m:t>
                    </m:r>
                  </m:oMath>
                </a14:m>
                <a:r>
                  <a:rPr lang="en-GB" sz="12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5374268" y="693118"/>
                <a:ext cx="5292588" cy="461665"/>
              </a:xfrm>
              <a:prstGeom prst="rect">
                <a:avLst/>
              </a:prstGeom>
              <a:blipFill>
                <a:blip r:embed="rId3"/>
                <a:stretch>
                  <a:fillRect l="-115" t="-1333" b="-10667"/>
                </a:stretch>
              </a:blipFill>
            </p:spPr>
            <p:txBody>
              <a:bodyPr/>
              <a:lstStyle/>
              <a:p>
                <a:r>
                  <a:rPr lang="en-GB">
                    <a:noFill/>
                  </a:rPr>
                  <a:t> </a:t>
                </a:r>
              </a:p>
            </p:txBody>
          </p:sp>
        </mc:Fallback>
      </mc:AlternateContent>
      <p:cxnSp>
        <p:nvCxnSpPr>
          <p:cNvPr id="8" name="Straight Arrow Connector 7"/>
          <p:cNvCxnSpPr/>
          <p:nvPr/>
        </p:nvCxnSpPr>
        <p:spPr>
          <a:xfrm flipH="1">
            <a:off x="5303912" y="939803"/>
            <a:ext cx="68188" cy="2356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1731082" y="3041733"/>
                <a:ext cx="2808312"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r>
                                <a:rPr lang="en-GB" sz="3200" i="1">
                                  <a:latin typeface="Cambria Math" panose="02040503050406030204" pitchFamily="18" charset="0"/>
                                </a:rPr>
                                <m:t>+1</m:t>
                              </m:r>
                            </m:e>
                          </m:d>
                        </m:e>
                        <m:sup>
                          <m:r>
                            <a:rPr lang="en-GB" sz="3200" i="1">
                              <a:latin typeface="Cambria Math" panose="02040503050406030204" pitchFamily="18" charset="0"/>
                            </a:rPr>
                            <m:t>10</m:t>
                          </m:r>
                        </m:sup>
                      </m:sSup>
                      <m:r>
                        <a:rPr lang="en-GB" sz="3200" i="1">
                          <a:latin typeface="Cambria Math" panose="02040503050406030204" pitchFamily="18" charset="0"/>
                        </a:rPr>
                        <m:t>=</m:t>
                      </m:r>
                    </m:oMath>
                  </m:oMathPara>
                </a14:m>
                <a:endParaRPr lang="en-GB" sz="3200" dirty="0"/>
              </a:p>
            </p:txBody>
          </p:sp>
        </mc:Choice>
        <mc:Fallback xmlns="">
          <p:sp>
            <p:nvSpPr>
              <p:cNvPr id="10" name="TextBox 9"/>
              <p:cNvSpPr txBox="1">
                <a:spLocks noRot="1" noChangeAspect="1" noMove="1" noResize="1" noEditPoints="1" noAdjustHandles="1" noChangeArrowheads="1" noChangeShapeType="1" noTextEdit="1"/>
              </p:cNvSpPr>
              <p:nvPr/>
            </p:nvSpPr>
            <p:spPr>
              <a:xfrm>
                <a:off x="1731082" y="3041733"/>
                <a:ext cx="2808312" cy="584775"/>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874864" y="2888858"/>
                <a:ext cx="1691866" cy="2141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000" i="1">
                          <a:latin typeface="Cambria Math" panose="02040503050406030204" pitchFamily="18" charset="0"/>
                        </a:rPr>
                        <m:t>   </m:t>
                      </m:r>
                      <m:d>
                        <m:dPr>
                          <m:ctrlPr>
                            <a:rPr lang="en-GB" sz="2000" i="1">
                              <a:latin typeface="Cambria Math" panose="02040503050406030204" pitchFamily="18" charset="0"/>
                            </a:rPr>
                          </m:ctrlPr>
                        </m:dPr>
                        <m:e>
                          <m:m>
                            <m:mPr>
                              <m:plcHide m:val="on"/>
                              <m:mcs>
                                <m:mc>
                                  <m:mcPr>
                                    <m:count m:val="1"/>
                                    <m:mcJc m:val="center"/>
                                  </m:mcPr>
                                </m:mc>
                              </m:mcs>
                              <m:ctrlPr>
                                <a:rPr lang="en-GB" sz="2000" i="1">
                                  <a:latin typeface="Cambria Math" panose="02040503050406030204" pitchFamily="18" charset="0"/>
                                </a:rPr>
                              </m:ctrlPr>
                            </m:mPr>
                            <m:mr>
                              <m:e>
                                <m:r>
                                  <a:rPr lang="en-GB" sz="2000" i="1">
                                    <a:latin typeface="Cambria Math" panose="02040503050406030204" pitchFamily="18" charset="0"/>
                                  </a:rPr>
                                  <m:t>10</m:t>
                                </m:r>
                              </m:e>
                            </m:mr>
                            <m:mr>
                              <m:e>
                                <m:r>
                                  <a:rPr lang="en-GB" sz="2000" i="1">
                                    <a:latin typeface="Cambria Math" panose="02040503050406030204" pitchFamily="18" charset="0"/>
                                  </a:rPr>
                                  <m:t>0</m:t>
                                </m:r>
                              </m:e>
                            </m:mr>
                          </m:m>
                        </m:e>
                      </m:d>
                    </m:oMath>
                    <m:oMath xmlns:m="http://schemas.openxmlformats.org/officeDocument/2006/math">
                      <m:r>
                        <a:rPr lang="en-GB" sz="2000" i="1">
                          <a:latin typeface="Cambria Math" panose="02040503050406030204" pitchFamily="18" charset="0"/>
                        </a:rPr>
                        <m:t>+</m:t>
                      </m:r>
                      <m:d>
                        <m:dPr>
                          <m:ctrlPr>
                            <a:rPr lang="en-GB" sz="2000" i="1">
                              <a:latin typeface="Cambria Math" panose="02040503050406030204" pitchFamily="18" charset="0"/>
                            </a:rPr>
                          </m:ctrlPr>
                        </m:dPr>
                        <m:e>
                          <m:m>
                            <m:mPr>
                              <m:plcHide m:val="on"/>
                              <m:mcs>
                                <m:mc>
                                  <m:mcPr>
                                    <m:count m:val="1"/>
                                    <m:mcJc m:val="center"/>
                                  </m:mcPr>
                                </m:mc>
                              </m:mcs>
                              <m:ctrlPr>
                                <a:rPr lang="en-GB" sz="2000" i="1">
                                  <a:latin typeface="Cambria Math" panose="02040503050406030204" pitchFamily="18" charset="0"/>
                                </a:rPr>
                              </m:ctrlPr>
                            </m:mPr>
                            <m:mr>
                              <m:e>
                                <m:r>
                                  <a:rPr lang="en-GB" sz="2000" i="1">
                                    <a:latin typeface="Cambria Math" panose="02040503050406030204" pitchFamily="18" charset="0"/>
                                  </a:rPr>
                                  <m:t>10</m:t>
                                </m:r>
                              </m:e>
                            </m:mr>
                            <m:mr>
                              <m:e>
                                <m:r>
                                  <a:rPr lang="en-GB" sz="2000" i="1">
                                    <a:latin typeface="Cambria Math" panose="02040503050406030204" pitchFamily="18" charset="0"/>
                                  </a:rPr>
                                  <m:t>1</m:t>
                                </m:r>
                              </m:e>
                            </m:mr>
                          </m:m>
                        </m:e>
                      </m:d>
                    </m:oMath>
                    <m:oMath xmlns:m="http://schemas.openxmlformats.org/officeDocument/2006/math">
                      <m:r>
                        <a:rPr lang="en-GB" sz="2000" i="1">
                          <a:latin typeface="Cambria Math" panose="02040503050406030204" pitchFamily="18" charset="0"/>
                        </a:rPr>
                        <m:t>+</m:t>
                      </m:r>
                      <m:d>
                        <m:dPr>
                          <m:ctrlPr>
                            <a:rPr lang="en-GB" sz="2000" i="1">
                              <a:latin typeface="Cambria Math" panose="02040503050406030204" pitchFamily="18" charset="0"/>
                            </a:rPr>
                          </m:ctrlPr>
                        </m:dPr>
                        <m:e>
                          <m:m>
                            <m:mPr>
                              <m:plcHide m:val="on"/>
                              <m:mcs>
                                <m:mc>
                                  <m:mcPr>
                                    <m:count m:val="1"/>
                                    <m:mcJc m:val="center"/>
                                  </m:mcPr>
                                </m:mc>
                              </m:mcs>
                              <m:ctrlPr>
                                <a:rPr lang="en-GB" sz="2000" i="1">
                                  <a:latin typeface="Cambria Math" panose="02040503050406030204" pitchFamily="18" charset="0"/>
                                </a:rPr>
                              </m:ctrlPr>
                            </m:mPr>
                            <m:mr>
                              <m:e>
                                <m:r>
                                  <a:rPr lang="en-GB" sz="2000" i="1">
                                    <a:latin typeface="Cambria Math" panose="02040503050406030204" pitchFamily="18" charset="0"/>
                                  </a:rPr>
                                  <m:t>10</m:t>
                                </m:r>
                              </m:e>
                            </m:mr>
                            <m:mr>
                              <m:e>
                                <m:r>
                                  <a:rPr lang="en-GB" sz="2000" i="1">
                                    <a:latin typeface="Cambria Math" panose="02040503050406030204" pitchFamily="18" charset="0"/>
                                  </a:rPr>
                                  <m:t>2</m:t>
                                </m:r>
                              </m:e>
                            </m:mr>
                          </m:m>
                        </m:e>
                      </m:d>
                    </m:oMath>
                    <m:oMath xmlns:m="http://schemas.openxmlformats.org/officeDocument/2006/math">
                      <m:r>
                        <a:rPr lang="en-GB" sz="2000" i="1">
                          <a:latin typeface="Cambria Math" panose="02040503050406030204" pitchFamily="18" charset="0"/>
                        </a:rPr>
                        <m:t>+</m:t>
                      </m:r>
                      <m:d>
                        <m:dPr>
                          <m:ctrlPr>
                            <a:rPr lang="en-GB" sz="2000" i="1">
                              <a:latin typeface="Cambria Math" panose="02040503050406030204" pitchFamily="18" charset="0"/>
                            </a:rPr>
                          </m:ctrlPr>
                        </m:dPr>
                        <m:e>
                          <m:m>
                            <m:mPr>
                              <m:plcHide m:val="on"/>
                              <m:mcs>
                                <m:mc>
                                  <m:mcPr>
                                    <m:count m:val="1"/>
                                    <m:mcJc m:val="center"/>
                                  </m:mcPr>
                                </m:mc>
                              </m:mcs>
                              <m:ctrlPr>
                                <a:rPr lang="en-GB" sz="2000" i="1">
                                  <a:latin typeface="Cambria Math" panose="02040503050406030204" pitchFamily="18" charset="0"/>
                                </a:rPr>
                              </m:ctrlPr>
                            </m:mPr>
                            <m:mr>
                              <m:e>
                                <m:r>
                                  <a:rPr lang="en-GB" sz="2000" i="1">
                                    <a:latin typeface="Cambria Math" panose="02040503050406030204" pitchFamily="18" charset="0"/>
                                  </a:rPr>
                                  <m:t>10</m:t>
                                </m:r>
                              </m:e>
                            </m:mr>
                            <m:mr>
                              <m:e>
                                <m:r>
                                  <a:rPr lang="en-GB" sz="2000" i="1">
                                    <a:latin typeface="Cambria Math" panose="02040503050406030204" pitchFamily="18" charset="0"/>
                                  </a:rPr>
                                  <m:t>3</m:t>
                                </m:r>
                              </m:e>
                            </m:mr>
                          </m:m>
                        </m:e>
                      </m:d>
                    </m:oMath>
                  </m:oMathPara>
                </a14:m>
                <a:br>
                  <a:rPr lang="en-GB" sz="3200" dirty="0"/>
                </a:br>
                <a:endParaRPr lang="en-GB" sz="32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874864" y="2888858"/>
                <a:ext cx="1691866" cy="2141164"/>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022118" y="2937979"/>
                <a:ext cx="876548" cy="20621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3200" i="1">
                          <a:latin typeface="Cambria Math" panose="02040503050406030204" pitchFamily="18" charset="0"/>
                        </a:rPr>
                        <m:t>(</m:t>
                      </m:r>
                      <m:sSup>
                        <m:sSupPr>
                          <m:ctrlPr>
                            <a:rPr lang="en-GB" sz="3200" i="1">
                              <a:latin typeface="Cambria Math" panose="02040503050406030204" pitchFamily="18" charset="0"/>
                            </a:rPr>
                          </m:ctrlPr>
                        </m:sSupPr>
                        <m:e>
                          <m:r>
                            <a:rPr lang="en-GB" sz="3200" i="1">
                              <a:latin typeface="Cambria Math" panose="02040503050406030204" pitchFamily="18" charset="0"/>
                            </a:rPr>
                            <m:t>1</m:t>
                          </m:r>
                        </m:e>
                        <m:sup>
                          <m:r>
                            <a:rPr lang="en-GB" sz="3200" i="1">
                              <a:latin typeface="Cambria Math" panose="02040503050406030204" pitchFamily="18" charset="0"/>
                            </a:rPr>
                            <m:t>10</m:t>
                          </m:r>
                        </m:sup>
                      </m:sSup>
                      <m:r>
                        <a:rPr lang="en-GB" sz="3200" i="1">
                          <a:latin typeface="Cambria Math" panose="02040503050406030204" pitchFamily="18" charset="0"/>
                        </a:rPr>
                        <m:t>)</m:t>
                      </m:r>
                    </m:oMath>
                    <m:oMath xmlns:m="http://schemas.openxmlformats.org/officeDocument/2006/math">
                      <m:d>
                        <m:dPr>
                          <m:ctrlPr>
                            <a:rPr lang="en-GB" sz="3200" i="1">
                              <a:latin typeface="Cambria Math" panose="02040503050406030204" pitchFamily="18" charset="0"/>
                            </a:rPr>
                          </m:ctrlPr>
                        </m:dPr>
                        <m:e>
                          <m:sSup>
                            <m:sSupPr>
                              <m:ctrlPr>
                                <a:rPr lang="en-GB" sz="3200" i="1">
                                  <a:latin typeface="Cambria Math" panose="02040503050406030204" pitchFamily="18" charset="0"/>
                                </a:rPr>
                              </m:ctrlPr>
                            </m:sSupPr>
                            <m:e>
                              <m:r>
                                <a:rPr lang="en-GB" sz="3200" i="1">
                                  <a:latin typeface="Cambria Math" panose="02040503050406030204" pitchFamily="18" charset="0"/>
                                </a:rPr>
                                <m:t>1</m:t>
                              </m:r>
                            </m:e>
                            <m:sup>
                              <m:r>
                                <a:rPr lang="en-GB" sz="3200" i="1">
                                  <a:latin typeface="Cambria Math" panose="02040503050406030204" pitchFamily="18" charset="0"/>
                                </a:rPr>
                                <m:t>9</m:t>
                              </m:r>
                            </m:sup>
                          </m:sSup>
                        </m:e>
                      </m:d>
                    </m:oMath>
                    <m:oMath xmlns:m="http://schemas.openxmlformats.org/officeDocument/2006/math">
                      <m:d>
                        <m:dPr>
                          <m:ctrlPr>
                            <a:rPr lang="en-GB" sz="3200" i="1">
                              <a:latin typeface="Cambria Math" panose="02040503050406030204" pitchFamily="18" charset="0"/>
                            </a:rPr>
                          </m:ctrlPr>
                        </m:dPr>
                        <m:e>
                          <m:sSup>
                            <m:sSupPr>
                              <m:ctrlPr>
                                <a:rPr lang="en-GB" sz="3200" i="1">
                                  <a:latin typeface="Cambria Math" panose="02040503050406030204" pitchFamily="18" charset="0"/>
                                </a:rPr>
                              </m:ctrlPr>
                            </m:sSupPr>
                            <m:e>
                              <m:r>
                                <a:rPr lang="en-GB" sz="3200" i="1">
                                  <a:latin typeface="Cambria Math" panose="02040503050406030204" pitchFamily="18" charset="0"/>
                                </a:rPr>
                                <m:t>1</m:t>
                              </m:r>
                            </m:e>
                            <m:sup>
                              <m:r>
                                <a:rPr lang="en-GB" sz="3200" i="1">
                                  <a:latin typeface="Cambria Math" panose="02040503050406030204" pitchFamily="18" charset="0"/>
                                </a:rPr>
                                <m:t>8</m:t>
                              </m:r>
                            </m:sup>
                          </m:sSup>
                        </m:e>
                      </m:d>
                    </m:oMath>
                    <m:oMath xmlns:m="http://schemas.openxmlformats.org/officeDocument/2006/math">
                      <m:d>
                        <m:dPr>
                          <m:ctrlPr>
                            <a:rPr lang="en-GB" sz="3200" i="1">
                              <a:latin typeface="Cambria Math" panose="02040503050406030204" pitchFamily="18" charset="0"/>
                            </a:rPr>
                          </m:ctrlPr>
                        </m:dPr>
                        <m:e>
                          <m:sSup>
                            <m:sSupPr>
                              <m:ctrlPr>
                                <a:rPr lang="en-GB" sz="3200" i="1">
                                  <a:latin typeface="Cambria Math" panose="02040503050406030204" pitchFamily="18" charset="0"/>
                                </a:rPr>
                              </m:ctrlPr>
                            </m:sSupPr>
                            <m:e>
                              <m:r>
                                <a:rPr lang="en-GB" sz="3200" i="1">
                                  <a:latin typeface="Cambria Math" panose="02040503050406030204" pitchFamily="18" charset="0"/>
                                </a:rPr>
                                <m:t>1</m:t>
                              </m:r>
                            </m:e>
                            <m:sup>
                              <m:r>
                                <a:rPr lang="en-GB" sz="3200" i="1">
                                  <a:latin typeface="Cambria Math" panose="02040503050406030204" pitchFamily="18" charset="0"/>
                                </a:rPr>
                                <m:t>7</m:t>
                              </m:r>
                            </m:sup>
                          </m:sSup>
                        </m:e>
                      </m:d>
                    </m:oMath>
                  </m:oMathPara>
                </a14:m>
                <a:br>
                  <a:rPr lang="en-GB" sz="3200" dirty="0"/>
                </a:br>
                <a:endParaRPr lang="en-GB" sz="3200" dirty="0"/>
              </a:p>
            </p:txBody>
          </p:sp>
        </mc:Choice>
        <mc:Fallback xmlns="">
          <p:sp>
            <p:nvSpPr>
              <p:cNvPr id="12" name="TextBox 11"/>
              <p:cNvSpPr txBox="1">
                <a:spLocks noRot="1" noChangeAspect="1" noMove="1" noResize="1" noEditPoints="1" noAdjustHandles="1" noChangeArrowheads="1" noChangeShapeType="1" noTextEdit="1"/>
              </p:cNvSpPr>
              <p:nvPr/>
            </p:nvSpPr>
            <p:spPr>
              <a:xfrm>
                <a:off x="5022118" y="2937979"/>
                <a:ext cx="876548" cy="2062168"/>
              </a:xfrm>
              <a:prstGeom prst="rect">
                <a:avLst/>
              </a:prstGeom>
              <a:blipFill>
                <a:blip r:embed="rId6"/>
                <a:stretch>
                  <a:fillRect r="-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5665502" y="3422970"/>
                <a:ext cx="2310098" cy="15697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e>
                          </m:d>
                        </m:e>
                        <m:sup>
                          <m:r>
                            <a:rPr lang="en-GB" sz="3200" i="1">
                              <a:latin typeface="Cambria Math" panose="02040503050406030204" pitchFamily="18" charset="0"/>
                            </a:rPr>
                            <m:t>1</m:t>
                          </m:r>
                        </m:sup>
                      </m:sSup>
                    </m:oMath>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e>
                          </m:d>
                        </m:e>
                        <m:sup>
                          <m:r>
                            <a:rPr lang="en-GB" sz="3200" i="1">
                              <a:latin typeface="Cambria Math" panose="02040503050406030204" pitchFamily="18" charset="0"/>
                            </a:rPr>
                            <m:t>2</m:t>
                          </m:r>
                        </m:sup>
                      </m:sSup>
                    </m:oMath>
                    <m:oMath xmlns:m="http://schemas.openxmlformats.org/officeDocument/2006/math">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3</m:t>
                              </m:r>
                              <m:r>
                                <a:rPr lang="en-GB" sz="3200" i="1">
                                  <a:latin typeface="Cambria Math" panose="02040503050406030204" pitchFamily="18" charset="0"/>
                                </a:rPr>
                                <m:t>𝑥</m:t>
                              </m:r>
                            </m:e>
                          </m:d>
                        </m:e>
                        <m:sup>
                          <m:r>
                            <a:rPr lang="en-GB" sz="3200" i="1">
                              <a:latin typeface="Cambria Math" panose="02040503050406030204" pitchFamily="18" charset="0"/>
                            </a:rPr>
                            <m:t>3</m:t>
                          </m:r>
                        </m:sup>
                      </m:sSup>
                      <m:r>
                        <a:rPr lang="en-GB" sz="3200" i="1">
                          <a:latin typeface="Cambria Math" panose="02040503050406030204" pitchFamily="18" charset="0"/>
                        </a:rPr>
                        <m:t>+…</m:t>
                      </m:r>
                    </m:oMath>
                  </m:oMathPara>
                </a14:m>
                <a:br>
                  <a:rPr lang="en-GB" sz="3200" dirty="0"/>
                </a:br>
                <a:endParaRPr lang="en-GB" sz="3200" dirty="0"/>
              </a:p>
            </p:txBody>
          </p:sp>
        </mc:Choice>
        <mc:Fallback xmlns="">
          <p:sp>
            <p:nvSpPr>
              <p:cNvPr id="13" name="TextBox 12"/>
              <p:cNvSpPr txBox="1">
                <a:spLocks noRot="1" noChangeAspect="1" noMove="1" noResize="1" noEditPoints="1" noAdjustHandles="1" noChangeArrowheads="1" noChangeShapeType="1" noTextEdit="1"/>
              </p:cNvSpPr>
              <p:nvPr/>
            </p:nvSpPr>
            <p:spPr>
              <a:xfrm>
                <a:off x="5665502" y="3422970"/>
                <a:ext cx="2310098" cy="1569725"/>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850432" y="5117133"/>
                <a:ext cx="6624736" cy="58477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GB" sz="3200" i="1">
                          <a:latin typeface="Cambria Math" panose="02040503050406030204" pitchFamily="18" charset="0"/>
                        </a:rPr>
                        <m:t>=1+30</m:t>
                      </m:r>
                      <m:r>
                        <a:rPr lang="en-GB" sz="3200" i="1">
                          <a:latin typeface="Cambria Math" panose="02040503050406030204" pitchFamily="18" charset="0"/>
                        </a:rPr>
                        <m:t>𝑥</m:t>
                      </m:r>
                      <m:r>
                        <a:rPr lang="en-GB" sz="3200" i="1">
                          <a:latin typeface="Cambria Math" panose="02040503050406030204" pitchFamily="18" charset="0"/>
                        </a:rPr>
                        <m:t>+405</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2</m:t>
                          </m:r>
                        </m:sup>
                      </m:sSup>
                      <m:r>
                        <a:rPr lang="en-GB" sz="3200" i="1">
                          <a:latin typeface="Cambria Math" panose="02040503050406030204" pitchFamily="18" charset="0"/>
                        </a:rPr>
                        <m:t>+3240</m:t>
                      </m:r>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1">
                              <a:latin typeface="Cambria Math" panose="02040503050406030204" pitchFamily="18" charset="0"/>
                            </a:rPr>
                            <m:t>3</m:t>
                          </m:r>
                        </m:sup>
                      </m:sSup>
                      <m:r>
                        <a:rPr lang="en-GB" sz="3200" i="1">
                          <a:latin typeface="Cambria Math" panose="02040503050406030204" pitchFamily="18" charset="0"/>
                        </a:rPr>
                        <m:t>+…</m:t>
                      </m:r>
                    </m:oMath>
                  </m:oMathPara>
                </a14:m>
                <a:endParaRPr lang="en-GB" sz="3200" dirty="0"/>
              </a:p>
            </p:txBody>
          </p:sp>
        </mc:Choice>
        <mc:Fallback xmlns="">
          <p:sp>
            <p:nvSpPr>
              <p:cNvPr id="14" name="TextBox 13"/>
              <p:cNvSpPr txBox="1">
                <a:spLocks noRot="1" noChangeAspect="1" noMove="1" noResize="1" noEditPoints="1" noAdjustHandles="1" noChangeArrowheads="1" noChangeShapeType="1" noTextEdit="1"/>
              </p:cNvSpPr>
              <p:nvPr/>
            </p:nvSpPr>
            <p:spPr>
              <a:xfrm>
                <a:off x="3850432" y="5117133"/>
                <a:ext cx="6624736" cy="584775"/>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880450" y="2193914"/>
                <a:ext cx="8621306"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dirty="0"/>
                  <a:t>Find the first 4 terms in the expansion of </a:t>
                </a:r>
                <a14:m>
                  <m:oMath xmlns:m="http://schemas.openxmlformats.org/officeDocument/2006/math">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3</m:t>
                            </m:r>
                            <m:r>
                              <a:rPr lang="en-GB" sz="2000" i="1">
                                <a:latin typeface="Cambria Math" panose="02040503050406030204" pitchFamily="18" charset="0"/>
                              </a:rPr>
                              <m:t>𝑥</m:t>
                            </m:r>
                            <m:r>
                              <a:rPr lang="en-GB" sz="2000" i="1">
                                <a:latin typeface="Cambria Math" panose="02040503050406030204" pitchFamily="18" charset="0"/>
                              </a:rPr>
                              <m:t>+1</m:t>
                            </m:r>
                          </m:e>
                        </m:d>
                      </m:e>
                      <m:sup>
                        <m:r>
                          <a:rPr lang="en-GB" sz="2000" i="1">
                            <a:latin typeface="Cambria Math" panose="02040503050406030204" pitchFamily="18" charset="0"/>
                          </a:rPr>
                          <m:t>10</m:t>
                        </m:r>
                      </m:sup>
                    </m:sSup>
                  </m:oMath>
                </a14:m>
                <a:r>
                  <a:rPr lang="en-GB" sz="2000" dirty="0"/>
                  <a:t>, in ascending powers of </a:t>
                </a:r>
                <a14:m>
                  <m:oMath xmlns:m="http://schemas.openxmlformats.org/officeDocument/2006/math">
                    <m:r>
                      <a:rPr lang="en-GB" sz="2000" i="1">
                        <a:latin typeface="Cambria Math" panose="02040503050406030204" pitchFamily="18" charset="0"/>
                      </a:rPr>
                      <m:t>𝑥</m:t>
                    </m:r>
                  </m:oMath>
                </a14:m>
                <a:r>
                  <a:rPr lang="en-GB" sz="2000" dirty="0"/>
                  <a:t>.</a:t>
                </a:r>
              </a:p>
            </p:txBody>
          </p:sp>
        </mc:Choice>
        <mc:Fallback xmlns="">
          <p:sp>
            <p:nvSpPr>
              <p:cNvPr id="15" name="TextBox 14"/>
              <p:cNvSpPr txBox="1">
                <a:spLocks noRot="1" noChangeAspect="1" noMove="1" noResize="1" noEditPoints="1" noAdjustHandles="1" noChangeArrowheads="1" noChangeShapeType="1" noTextEdit="1"/>
              </p:cNvSpPr>
              <p:nvPr/>
            </p:nvSpPr>
            <p:spPr>
              <a:xfrm>
                <a:off x="1880450" y="2193914"/>
                <a:ext cx="8621306" cy="400110"/>
              </a:xfrm>
              <a:prstGeom prst="rect">
                <a:avLst/>
              </a:prstGeom>
              <a:blipFill>
                <a:blip r:embed="rId9"/>
                <a:stretch>
                  <a:fillRect b="-5556"/>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16" name="TextBox 15"/>
          <p:cNvSpPr txBox="1"/>
          <p:nvPr/>
        </p:nvSpPr>
        <p:spPr>
          <a:xfrm>
            <a:off x="7921600" y="2823468"/>
            <a:ext cx="2606700" cy="1569660"/>
          </a:xfrm>
          <a:prstGeom prst="rect">
            <a:avLst/>
          </a:prstGeom>
          <a:noFill/>
        </p:spPr>
        <p:txBody>
          <a:bodyPr wrap="square" rtlCol="0">
            <a:spAutoFit/>
          </a:bodyPr>
          <a:lstStyle/>
          <a:p>
            <a:r>
              <a:rPr lang="en-GB" sz="1600" dirty="0"/>
              <a:t>This is exactly the same method as before, except we’ve just had to calculate the Binomial coefficients ourselves rather than read them off Pascal’s Triangle.</a:t>
            </a:r>
          </a:p>
        </p:txBody>
      </p:sp>
      <p:sp>
        <p:nvSpPr>
          <p:cNvPr id="17" name="Rectangle 16"/>
          <p:cNvSpPr/>
          <p:nvPr/>
        </p:nvSpPr>
        <p:spPr>
          <a:xfrm>
            <a:off x="1887486" y="2617982"/>
            <a:ext cx="8614270" cy="340330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59962828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7" grpId="0" animBg="1"/>
    </p:bldLst>
  </p:timing>
</p:sld>
</file>

<file path=ppt/c8/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816950" y="796917"/>
                <a:ext cx="8621306" cy="61202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000" dirty="0"/>
                  <a:t>Find the first 3 terms in the expansion of </a:t>
                </a:r>
                <a14:m>
                  <m:oMath xmlns:m="http://schemas.openxmlformats.org/officeDocument/2006/math">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2−</m:t>
                            </m:r>
                            <m:f>
                              <m:fPr>
                                <m:ctrlPr>
                                  <a:rPr lang="en-GB" sz="2000" i="1">
                                    <a:latin typeface="Cambria Math" panose="02040503050406030204" pitchFamily="18" charset="0"/>
                                  </a:rPr>
                                </m:ctrlPr>
                              </m:fPr>
                              <m:num>
                                <m:r>
                                  <a:rPr lang="en-GB" sz="2000" i="1">
                                    <a:latin typeface="Cambria Math" panose="02040503050406030204" pitchFamily="18" charset="0"/>
                                  </a:rPr>
                                  <m:t>1</m:t>
                                </m:r>
                              </m:num>
                              <m:den>
                                <m:r>
                                  <a:rPr lang="en-GB" sz="2000" i="1">
                                    <a:latin typeface="Cambria Math" panose="02040503050406030204" pitchFamily="18" charset="0"/>
                                  </a:rPr>
                                  <m:t>3</m:t>
                                </m:r>
                              </m:den>
                            </m:f>
                            <m:r>
                              <a:rPr lang="en-GB" sz="2000" i="1">
                                <a:latin typeface="Cambria Math" panose="02040503050406030204" pitchFamily="18" charset="0"/>
                              </a:rPr>
                              <m:t>𝑥</m:t>
                            </m:r>
                          </m:e>
                        </m:d>
                      </m:e>
                      <m:sup>
                        <m:r>
                          <a:rPr lang="en-GB" sz="2000" i="1">
                            <a:latin typeface="Cambria Math" panose="02040503050406030204" pitchFamily="18" charset="0"/>
                          </a:rPr>
                          <m:t>7</m:t>
                        </m:r>
                      </m:sup>
                    </m:sSup>
                  </m:oMath>
                </a14:m>
                <a:r>
                  <a:rPr lang="en-GB" sz="2000" dirty="0"/>
                  <a:t>, in ascending powers of </a:t>
                </a:r>
                <a14:m>
                  <m:oMath xmlns:m="http://schemas.openxmlformats.org/officeDocument/2006/math">
                    <m:r>
                      <a:rPr lang="en-GB" sz="2000" i="1">
                        <a:latin typeface="Cambria Math" panose="02040503050406030204" pitchFamily="18" charset="0"/>
                      </a:rPr>
                      <m:t>𝑥</m:t>
                    </m:r>
                  </m:oMath>
                </a14:m>
                <a:r>
                  <a:rPr lang="en-GB" sz="20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1816950" y="796917"/>
                <a:ext cx="8621306" cy="612027"/>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279576" y="1772816"/>
                <a:ext cx="4392488" cy="25875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2−</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3</m:t>
                                  </m:r>
                                </m:den>
                              </m:f>
                              <m:r>
                                <a:rPr lang="en-GB" i="1">
                                  <a:latin typeface="Cambria Math" panose="02040503050406030204" pitchFamily="18" charset="0"/>
                                </a:rPr>
                                <m:t>𝑥</m:t>
                              </m:r>
                            </m:e>
                          </m:d>
                        </m:e>
                        <m:sup>
                          <m:r>
                            <a:rPr lang="en-GB" i="1">
                              <a:latin typeface="Cambria Math" panose="02040503050406030204" pitchFamily="18" charset="0"/>
                            </a:rPr>
                            <m:t>7</m:t>
                          </m:r>
                        </m:sup>
                      </m:sSup>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7</m:t>
                                </m:r>
                              </m:e>
                            </m:mr>
                            <m:mr>
                              <m:e>
                                <m:r>
                                  <a:rPr lang="en-GB" i="1">
                                    <a:latin typeface="Cambria Math" panose="02040503050406030204" pitchFamily="18" charset="0"/>
                                  </a:rPr>
                                  <m:t>0</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7</m:t>
                              </m:r>
                            </m:sup>
                          </m:sSup>
                        </m:e>
                      </m:d>
                    </m:oMath>
                    <m:oMath xmlns:m="http://schemas.openxmlformats.org/officeDocument/2006/math">
                      <m:r>
                        <a:rPr lang="en-GB" i="1">
                          <a:latin typeface="Cambria Math" panose="02040503050406030204" pitchFamily="18" charset="0"/>
                        </a:rPr>
                        <m:t>                        +</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7</m:t>
                                </m:r>
                              </m:e>
                            </m:mr>
                            <m:mr>
                              <m:e>
                                <m:r>
                                  <a:rPr lang="en-GB" i="1">
                                    <a:latin typeface="Cambria Math" panose="02040503050406030204" pitchFamily="18" charset="0"/>
                                  </a:rPr>
                                  <m:t>1</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6</m:t>
                              </m:r>
                            </m:sup>
                          </m:sSup>
                        </m:e>
                      </m:d>
                      <m:d>
                        <m:dPr>
                          <m:ctrlPr>
                            <a:rPr lang="en-GB" i="1">
                              <a:latin typeface="Cambria Math" panose="02040503050406030204" pitchFamily="18" charset="0"/>
                            </a:rPr>
                          </m:ctrlPr>
                        </m:dPr>
                        <m:e>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3</m:t>
                              </m:r>
                            </m:den>
                          </m:f>
                        </m:e>
                      </m:d>
                    </m:oMath>
                    <m:oMath xmlns:m="http://schemas.openxmlformats.org/officeDocument/2006/math">
                      <m:r>
                        <a:rPr lang="en-GB" i="1">
                          <a:latin typeface="Cambria Math" panose="02040503050406030204" pitchFamily="18" charset="0"/>
                        </a:rPr>
                        <m:t>                        +</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7</m:t>
                                </m:r>
                              </m:e>
                            </m:mr>
                            <m:mr>
                              <m:e>
                                <m:r>
                                  <a:rPr lang="en-GB" i="1">
                                    <a:latin typeface="Cambria Math" panose="02040503050406030204" pitchFamily="18" charset="0"/>
                                  </a:rPr>
                                  <m:t>2</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5</m:t>
                              </m:r>
                            </m:sup>
                          </m:sSup>
                        </m:e>
                      </m:d>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3</m:t>
                                  </m:r>
                                </m:den>
                              </m:f>
                            </m:e>
                          </m:d>
                        </m:e>
                        <m:sup>
                          <m:r>
                            <a:rPr lang="en-GB" i="1">
                              <a:latin typeface="Cambria Math" panose="02040503050406030204" pitchFamily="18" charset="0"/>
                            </a:rPr>
                            <m:t>2</m:t>
                          </m:r>
                        </m:sup>
                      </m:sSup>
                      <m:r>
                        <a:rPr lang="en-GB" i="1">
                          <a:latin typeface="Cambria Math" panose="02040503050406030204" pitchFamily="18" charset="0"/>
                        </a:rPr>
                        <m:t>+…</m:t>
                      </m:r>
                    </m:oMath>
                    <m:oMath xmlns:m="http://schemas.openxmlformats.org/officeDocument/2006/math">
                      <m:r>
                        <a:rPr lang="en-GB" i="1">
                          <a:latin typeface="Cambria Math" panose="02040503050406030204" pitchFamily="18" charset="0"/>
                        </a:rPr>
                        <m:t>=128−</m:t>
                      </m:r>
                      <m:f>
                        <m:fPr>
                          <m:ctrlPr>
                            <a:rPr lang="en-GB" i="1">
                              <a:latin typeface="Cambria Math" panose="02040503050406030204" pitchFamily="18" charset="0"/>
                            </a:rPr>
                          </m:ctrlPr>
                        </m:fPr>
                        <m:num>
                          <m:r>
                            <a:rPr lang="en-GB" i="1">
                              <a:latin typeface="Cambria Math" panose="02040503050406030204" pitchFamily="18" charset="0"/>
                            </a:rPr>
                            <m:t>448</m:t>
                          </m:r>
                        </m:num>
                        <m:den>
                          <m:r>
                            <a:rPr lang="en-GB" i="1">
                              <a:latin typeface="Cambria Math" panose="02040503050406030204" pitchFamily="18" charset="0"/>
                            </a:rPr>
                            <m:t>3</m:t>
                          </m:r>
                        </m:den>
                      </m:f>
                      <m:r>
                        <a:rPr lang="en-GB" i="1">
                          <a:latin typeface="Cambria Math" panose="02040503050406030204" pitchFamily="18" charset="0"/>
                        </a:rPr>
                        <m:t>𝑥</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224</m:t>
                          </m:r>
                        </m:num>
                        <m:den>
                          <m:r>
                            <a:rPr lang="en-GB" i="1">
                              <a:latin typeface="Cambria Math" panose="02040503050406030204" pitchFamily="18" charset="0"/>
                            </a:rPr>
                            <m:t>3</m:t>
                          </m:r>
                        </m:den>
                      </m:f>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2279576" y="1772816"/>
                <a:ext cx="4392488" cy="2587568"/>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672064" y="2132859"/>
                <a:ext cx="3550168" cy="8309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Note</a:t>
                </a:r>
                <a:r>
                  <a:rPr lang="en-GB" sz="1600" dirty="0"/>
                  <a:t>: The “</a:t>
                </a:r>
                <a14:m>
                  <m:oMath xmlns:m="http://schemas.openxmlformats.org/officeDocument/2006/math">
                    <m:r>
                      <a:rPr lang="en-GB" sz="1600" i="1">
                        <a:latin typeface="Cambria Math" panose="02040503050406030204" pitchFamily="18" charset="0"/>
                      </a:rPr>
                      <m:t>+…“</m:t>
                    </m:r>
                  </m:oMath>
                </a14:m>
                <a:r>
                  <a:rPr lang="en-GB" sz="1600" dirty="0"/>
                  <a:t> indicates that there would have been other terms in the expansion.</a:t>
                </a:r>
              </a:p>
            </p:txBody>
          </p:sp>
        </mc:Choice>
        <mc:Fallback xmlns="">
          <p:sp>
            <p:nvSpPr>
              <p:cNvPr id="7" name="TextBox 6"/>
              <p:cNvSpPr txBox="1">
                <a:spLocks noRot="1" noChangeAspect="1" noMove="1" noResize="1" noEditPoints="1" noAdjustHandles="1" noChangeArrowheads="1" noChangeShapeType="1" noTextEdit="1"/>
              </p:cNvSpPr>
              <p:nvPr/>
            </p:nvSpPr>
            <p:spPr>
              <a:xfrm>
                <a:off x="6672064" y="2132859"/>
                <a:ext cx="3550168" cy="830997"/>
              </a:xfrm>
              <a:prstGeom prst="rect">
                <a:avLst/>
              </a:prstGeom>
              <a:blipFill>
                <a:blip r:embed="rId4"/>
                <a:stretch>
                  <a:fillRect l="-511" t="-714" b="-7143"/>
                </a:stretch>
              </a:blipFill>
            </p:spPr>
            <p:txBody>
              <a:bodyPr/>
              <a:lstStyle/>
              <a:p>
                <a:r>
                  <a:rPr lang="en-GB">
                    <a:noFill/>
                  </a:rPr>
                  <a:t> </a:t>
                </a:r>
              </a:p>
            </p:txBody>
          </p:sp>
        </mc:Fallback>
      </mc:AlternateContent>
      <p:cxnSp>
        <p:nvCxnSpPr>
          <p:cNvPr id="9" name="Straight Arrow Connector 8"/>
          <p:cNvCxnSpPr>
            <a:stCxn id="7" idx="1"/>
          </p:cNvCxnSpPr>
          <p:nvPr/>
        </p:nvCxnSpPr>
        <p:spPr>
          <a:xfrm flipH="1">
            <a:off x="6240016" y="2548358"/>
            <a:ext cx="432048" cy="664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Rectangle 9"/>
          <p:cNvSpPr/>
          <p:nvPr/>
        </p:nvSpPr>
        <p:spPr>
          <a:xfrm>
            <a:off x="1784775" y="1700808"/>
            <a:ext cx="8621306" cy="340330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306759055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10" grpId="0" animBg="1"/>
    </p:bldLst>
  </p:timing>
</p:sld>
</file>

<file path=ppt/c8/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8C – Y1 page 164</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C900BF30-2535-1C4F-DCC0-C987C4616B1F}"/>
              </a:ext>
            </a:extLst>
          </p:cNvPr>
          <p:cNvPicPr>
            <a:picLocks noChangeAspect="1"/>
          </p:cNvPicPr>
          <p:nvPr/>
        </p:nvPicPr>
        <p:blipFill>
          <a:blip r:embed="rId2"/>
          <a:stretch>
            <a:fillRect/>
          </a:stretch>
        </p:blipFill>
        <p:spPr>
          <a:xfrm>
            <a:off x="1522856" y="599129"/>
            <a:ext cx="9144000" cy="643695"/>
          </a:xfrm>
          <a:prstGeom prst="rect">
            <a:avLst/>
          </a:prstGeom>
        </p:spPr>
      </p:pic>
      <p:pic>
        <p:nvPicPr>
          <p:cNvPr id="18" name="Picture 17">
            <a:extLst>
              <a:ext uri="{FF2B5EF4-FFF2-40B4-BE49-F238E27FC236}">
                <a16:creationId xmlns:a16="http://schemas.microsoft.com/office/drawing/2014/main" id="{B196E2F1-A732-1E74-9A21-561F462A3054}"/>
              </a:ext>
            </a:extLst>
          </p:cNvPr>
          <p:cNvPicPr>
            <a:picLocks noChangeAspect="1"/>
          </p:cNvPicPr>
          <p:nvPr/>
        </p:nvPicPr>
        <p:blipFill>
          <a:blip r:embed="rId3"/>
          <a:stretch>
            <a:fillRect/>
          </a:stretch>
        </p:blipFill>
        <p:spPr>
          <a:xfrm>
            <a:off x="1524000" y="2498701"/>
            <a:ext cx="9144000" cy="609600"/>
          </a:xfrm>
          <a:prstGeom prst="rect">
            <a:avLst/>
          </a:prstGeom>
        </p:spPr>
      </p:pic>
      <p:pic>
        <p:nvPicPr>
          <p:cNvPr id="23" name="Picture 22">
            <a:extLst>
              <a:ext uri="{FF2B5EF4-FFF2-40B4-BE49-F238E27FC236}">
                <a16:creationId xmlns:a16="http://schemas.microsoft.com/office/drawing/2014/main" id="{411C7710-850B-C102-FD05-ADABD1D67E80}"/>
              </a:ext>
            </a:extLst>
          </p:cNvPr>
          <p:cNvPicPr>
            <a:picLocks noChangeAspect="1"/>
          </p:cNvPicPr>
          <p:nvPr/>
        </p:nvPicPr>
        <p:blipFill>
          <a:blip r:embed="rId4"/>
          <a:stretch>
            <a:fillRect/>
          </a:stretch>
        </p:blipFill>
        <p:spPr>
          <a:xfrm>
            <a:off x="2760098" y="1186871"/>
            <a:ext cx="3905795" cy="1333686"/>
          </a:xfrm>
          <a:prstGeom prst="rect">
            <a:avLst/>
          </a:prstGeom>
        </p:spPr>
      </p:pic>
      <p:pic>
        <p:nvPicPr>
          <p:cNvPr id="25" name="Picture 24">
            <a:extLst>
              <a:ext uri="{FF2B5EF4-FFF2-40B4-BE49-F238E27FC236}">
                <a16:creationId xmlns:a16="http://schemas.microsoft.com/office/drawing/2014/main" id="{3EE997B1-B27F-2C0B-C461-639868D21403}"/>
              </a:ext>
            </a:extLst>
          </p:cNvPr>
          <p:cNvPicPr>
            <a:picLocks noChangeAspect="1"/>
          </p:cNvPicPr>
          <p:nvPr/>
        </p:nvPicPr>
        <p:blipFill rotWithShape="1">
          <a:blip r:embed="rId5"/>
          <a:srcRect l="6460"/>
          <a:stretch/>
        </p:blipFill>
        <p:spPr>
          <a:xfrm>
            <a:off x="2495600" y="3278149"/>
            <a:ext cx="4170290" cy="943107"/>
          </a:xfrm>
          <a:prstGeom prst="rect">
            <a:avLst/>
          </a:prstGeom>
        </p:spPr>
      </p:pic>
      <p:pic>
        <p:nvPicPr>
          <p:cNvPr id="26" name="Picture 25">
            <a:extLst>
              <a:ext uri="{FF2B5EF4-FFF2-40B4-BE49-F238E27FC236}">
                <a16:creationId xmlns:a16="http://schemas.microsoft.com/office/drawing/2014/main" id="{1EA2A540-62BE-0D63-FC36-1A88A3B83E26}"/>
              </a:ext>
            </a:extLst>
          </p:cNvPr>
          <p:cNvPicPr>
            <a:picLocks noChangeAspect="1"/>
          </p:cNvPicPr>
          <p:nvPr/>
        </p:nvPicPr>
        <p:blipFill>
          <a:blip r:embed="rId6"/>
          <a:stretch>
            <a:fillRect/>
          </a:stretch>
        </p:blipFill>
        <p:spPr>
          <a:xfrm>
            <a:off x="1522858" y="4221256"/>
            <a:ext cx="9116697" cy="552527"/>
          </a:xfrm>
          <a:prstGeom prst="rect">
            <a:avLst/>
          </a:prstGeom>
        </p:spPr>
      </p:pic>
      <p:pic>
        <p:nvPicPr>
          <p:cNvPr id="28" name="Picture 27">
            <a:extLst>
              <a:ext uri="{FF2B5EF4-FFF2-40B4-BE49-F238E27FC236}">
                <a16:creationId xmlns:a16="http://schemas.microsoft.com/office/drawing/2014/main" id="{FC9C3A4B-3CC7-FFAE-1E6E-F80FC6D1C016}"/>
              </a:ext>
            </a:extLst>
          </p:cNvPr>
          <p:cNvPicPr>
            <a:picLocks noChangeAspect="1"/>
          </p:cNvPicPr>
          <p:nvPr/>
        </p:nvPicPr>
        <p:blipFill>
          <a:blip r:embed="rId7"/>
          <a:stretch>
            <a:fillRect/>
          </a:stretch>
        </p:blipFill>
        <p:spPr>
          <a:xfrm>
            <a:off x="2495603" y="5164360"/>
            <a:ext cx="6220693" cy="1276528"/>
          </a:xfrm>
          <a:prstGeom prst="rect">
            <a:avLst/>
          </a:prstGeom>
        </p:spPr>
      </p:pic>
      <p:sp>
        <p:nvSpPr>
          <p:cNvPr id="29" name="Rectangle 28">
            <a:extLst>
              <a:ext uri="{FF2B5EF4-FFF2-40B4-BE49-F238E27FC236}">
                <a16:creationId xmlns:a16="http://schemas.microsoft.com/office/drawing/2014/main" id="{5000031D-CDE8-FFC3-3151-874AF3733E16}"/>
              </a:ext>
            </a:extLst>
          </p:cNvPr>
          <p:cNvSpPr/>
          <p:nvPr/>
        </p:nvSpPr>
        <p:spPr>
          <a:xfrm>
            <a:off x="1805415" y="1200523"/>
            <a:ext cx="8621306" cy="115525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0" name="Rectangle 29">
            <a:extLst>
              <a:ext uri="{FF2B5EF4-FFF2-40B4-BE49-F238E27FC236}">
                <a16:creationId xmlns:a16="http://schemas.microsoft.com/office/drawing/2014/main" id="{F17072A8-E736-5E6C-DA48-C23BBB7BF33E}"/>
              </a:ext>
            </a:extLst>
          </p:cNvPr>
          <p:cNvSpPr/>
          <p:nvPr/>
        </p:nvSpPr>
        <p:spPr>
          <a:xfrm>
            <a:off x="1805415" y="3122037"/>
            <a:ext cx="8621306" cy="1155250"/>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1" name="Rectangle 30">
            <a:extLst>
              <a:ext uri="{FF2B5EF4-FFF2-40B4-BE49-F238E27FC236}">
                <a16:creationId xmlns:a16="http://schemas.microsoft.com/office/drawing/2014/main" id="{E1EB6178-E1CC-6251-1D2D-F826189765D7}"/>
              </a:ext>
            </a:extLst>
          </p:cNvPr>
          <p:cNvSpPr/>
          <p:nvPr/>
        </p:nvSpPr>
        <p:spPr>
          <a:xfrm>
            <a:off x="1805415" y="4931485"/>
            <a:ext cx="8621306" cy="159386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77049669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9"/>
                                        </p:tgtEl>
                                      </p:cBhvr>
                                    </p:animEffect>
                                    <p:set>
                                      <p:cBhvr>
                                        <p:cTn id="7"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seq concurrent="1" nextAc="seek">
              <p:cTn id="8" restart="whenNotActive" fill="hold" evtFilter="cancelBubble" nodeType="interactiveSeq">
                <p:stCondLst>
                  <p:cond evt="onClick" delay="0">
                    <p:tgtEl>
                      <p:spTgt spid="3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0"/>
                                        </p:tgtEl>
                                      </p:cBhvr>
                                    </p:animEffect>
                                    <p:set>
                                      <p:cBhvr>
                                        <p:cTn id="13"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14" restart="whenNotActive" fill="hold" evtFilter="cancelBubble" nodeType="interactiveSeq">
                <p:stCondLst>
                  <p:cond evt="onClick" delay="0">
                    <p:tgtEl>
                      <p:spTgt spid="3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1"/>
                                        </p:tgtEl>
                                      </p:cBhvr>
                                    </p:animEffect>
                                    <p:set>
                                      <p:cBhvr>
                                        <p:cTn id="19"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29" grpId="0" animBg="1"/>
      <p:bldP spid="30" grpId="0" animBg="1"/>
      <p:bldP spid="31" grpId="0" animBg="1"/>
    </p:bldLst>
  </p:timing>
</p:sld>
</file>

<file path=ppt/c8/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7" name="TextBox 6"/>
              <p:cNvSpPr txBox="1"/>
              <p:nvPr/>
            </p:nvSpPr>
            <p:spPr>
              <a:xfrm>
                <a:off x="1974652" y="860467"/>
                <a:ext cx="5760640" cy="1092992"/>
              </a:xfrm>
              <a:prstGeom prst="rect">
                <a:avLst/>
              </a:prstGeom>
              <a:noFill/>
            </p:spPr>
            <p:txBody>
              <a:bodyPr wrap="square" rtlCol="0">
                <a:spAutoFit/>
              </a:bodyPr>
              <a:lstStyle/>
              <a:p>
                <a:r>
                  <a:rPr lang="en-GB" dirty="0"/>
                  <a:t>[AEA 2013 Q1a] In the binomial expansion of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1+</m:t>
                            </m:r>
                            <m:f>
                              <m:fPr>
                                <m:ctrlPr>
                                  <a:rPr lang="en-GB" i="1">
                                    <a:latin typeface="Cambria Math" panose="02040503050406030204" pitchFamily="18" charset="0"/>
                                  </a:rPr>
                                </m:ctrlPr>
                              </m:fPr>
                              <m:num>
                                <m:r>
                                  <a:rPr lang="en-GB" i="1">
                                    <a:latin typeface="Cambria Math" panose="02040503050406030204" pitchFamily="18" charset="0"/>
                                  </a:rPr>
                                  <m:t>12</m:t>
                                </m:r>
                                <m:r>
                                  <a:rPr lang="en-GB" i="1">
                                    <a:latin typeface="Cambria Math" panose="02040503050406030204" pitchFamily="18" charset="0"/>
                                  </a:rPr>
                                  <m:t>𝑛</m:t>
                                </m:r>
                              </m:num>
                              <m:den>
                                <m:r>
                                  <a:rPr lang="en-GB" i="1">
                                    <a:latin typeface="Cambria Math" panose="02040503050406030204" pitchFamily="18" charset="0"/>
                                  </a:rPr>
                                  <m:t>5</m:t>
                                </m:r>
                              </m:den>
                            </m:f>
                            <m:r>
                              <a:rPr lang="en-GB" i="1">
                                <a:latin typeface="Cambria Math" panose="02040503050406030204" pitchFamily="18" charset="0"/>
                              </a:rPr>
                              <m:t>𝑥</m:t>
                            </m:r>
                          </m:e>
                        </m:d>
                      </m:e>
                      <m:sup>
                        <m:r>
                          <a:rPr lang="en-GB" i="1">
                            <a:latin typeface="Cambria Math" panose="02040503050406030204" pitchFamily="18" charset="0"/>
                          </a:rPr>
                          <m:t>𝑛</m:t>
                        </m:r>
                      </m:sup>
                    </m:sSup>
                  </m:oMath>
                </a14:m>
                <a:r>
                  <a:rPr lang="en-GB" dirty="0"/>
                  <a:t> the coefficients of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a14:m>
                <a:r>
                  <a:rPr lang="en-GB" dirty="0"/>
                  <a:t> and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oMath>
                </a14:m>
                <a:r>
                  <a:rPr lang="en-GB" dirty="0"/>
                  <a:t> are equal and non-zero.</a:t>
                </a:r>
              </a:p>
              <a:p>
                <a:r>
                  <a:rPr lang="en-GB" dirty="0"/>
                  <a:t>Find the possible values of </a:t>
                </a:r>
                <a14:m>
                  <m:oMath xmlns:m="http://schemas.openxmlformats.org/officeDocument/2006/math">
                    <m:r>
                      <a:rPr lang="en-GB" i="1">
                        <a:latin typeface="Cambria Math" panose="02040503050406030204" pitchFamily="18" charset="0"/>
                      </a:rPr>
                      <m:t>𝑛</m:t>
                    </m:r>
                  </m:oMath>
                </a14:m>
                <a:r>
                  <a:rPr lang="en-GB" dirty="0"/>
                  <a:t>.</a:t>
                </a:r>
              </a:p>
            </p:txBody>
          </p:sp>
        </mc:Choice>
        <mc:Fallback xmlns="">
          <p:sp>
            <p:nvSpPr>
              <p:cNvPr id="7" name="TextBox 6"/>
              <p:cNvSpPr txBox="1">
                <a:spLocks noRot="1" noChangeAspect="1" noMove="1" noResize="1" noEditPoints="1" noAdjustHandles="1" noChangeArrowheads="1" noChangeShapeType="1" noTextEdit="1"/>
              </p:cNvSpPr>
              <p:nvPr/>
            </p:nvSpPr>
            <p:spPr>
              <a:xfrm>
                <a:off x="1974652" y="860467"/>
                <a:ext cx="5760640" cy="1092992"/>
              </a:xfrm>
              <a:prstGeom prst="rect">
                <a:avLst/>
              </a:prstGeom>
              <a:blipFill>
                <a:blip r:embed="rId2"/>
                <a:stretch>
                  <a:fillRect l="-952" b="-838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7811492" y="873167"/>
                <a:ext cx="2737892" cy="157286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r>
                  <a:rPr lang="en-GB" sz="1600" b="1" dirty="0"/>
                  <a:t>Hint</a:t>
                </a:r>
                <a:r>
                  <a:rPr lang="en-GB" sz="1600" dirty="0"/>
                  <a:t>: Remember that </a:t>
                </a:r>
                <a:br>
                  <a:rPr lang="en-GB" sz="1600" dirty="0"/>
                </a:br>
                <a14:m>
                  <m:oMathPara xmlns:m="http://schemas.openxmlformats.org/officeDocument/2006/math">
                    <m:oMathParaPr>
                      <m:jc m:val="centerGroup"/>
                    </m:oMathParaPr>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e>
                            </m:mr>
                            <m:mr>
                              <m:e>
                                <m:r>
                                  <a:rPr lang="en-GB" sz="1600" i="1">
                                    <a:latin typeface="Cambria Math" panose="02040503050406030204" pitchFamily="18" charset="0"/>
                                  </a:rPr>
                                  <m:t>2</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𝑛</m:t>
                          </m:r>
                          <m:d>
                            <m:dPr>
                              <m:ctrlPr>
                                <a:rPr lang="en-GB" sz="1600" i="1">
                                  <a:latin typeface="Cambria Math" panose="02040503050406030204" pitchFamily="18" charset="0"/>
                                </a:rPr>
                              </m:ctrlPr>
                            </m:dPr>
                            <m:e>
                              <m:r>
                                <a:rPr lang="en-GB" sz="1600" i="1">
                                  <a:latin typeface="Cambria Math" panose="02040503050406030204" pitchFamily="18" charset="0"/>
                                </a:rPr>
                                <m:t>𝑛</m:t>
                              </m:r>
                              <m:r>
                                <a:rPr lang="en-GB" sz="1600" i="1">
                                  <a:latin typeface="Cambria Math" panose="02040503050406030204" pitchFamily="18" charset="0"/>
                                </a:rPr>
                                <m:t>−1</m:t>
                              </m:r>
                            </m:e>
                          </m:d>
                        </m:num>
                        <m:den>
                          <m:r>
                            <a:rPr lang="en-GB" sz="1600" i="1">
                              <a:latin typeface="Cambria Math" panose="02040503050406030204" pitchFamily="18" charset="0"/>
                            </a:rPr>
                            <m:t>2!</m:t>
                          </m:r>
                        </m:den>
                      </m:f>
                    </m:oMath>
                  </m:oMathPara>
                </a14:m>
                <a:endParaRPr lang="en-GB" sz="1600" dirty="0"/>
              </a:p>
              <a:p>
                <a:r>
                  <a:rPr lang="en-GB" sz="1600" dirty="0"/>
                  <a:t>Can you similarly simplify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e>
                          </m:mr>
                          <m:mr>
                            <m:e>
                              <m:r>
                                <a:rPr lang="en-GB" sz="1600" i="1">
                                  <a:latin typeface="Cambria Math" panose="02040503050406030204" pitchFamily="18" charset="0"/>
                                </a:rPr>
                                <m:t>3</m:t>
                              </m:r>
                            </m:e>
                          </m:mr>
                        </m:m>
                      </m:e>
                    </m:d>
                  </m:oMath>
                </a14:m>
                <a:r>
                  <a:rPr lang="en-GB" sz="1600" dirty="0"/>
                  <a:t> using </a:t>
                </a:r>
                <a14:m>
                  <m:oMath xmlns:m="http://schemas.openxmlformats.org/officeDocument/2006/math">
                    <m:d>
                      <m:dPr>
                        <m:ctrlPr>
                          <a:rPr lang="en-GB" sz="1600" i="1">
                            <a:latin typeface="Cambria Math" panose="02040503050406030204" pitchFamily="18" charset="0"/>
                          </a:rPr>
                        </m:ctrlPr>
                      </m:dPr>
                      <m:e>
                        <m:m>
                          <m:mPr>
                            <m:plcHide m:val="on"/>
                            <m:mcs>
                              <m:mc>
                                <m:mcPr>
                                  <m:count m:val="1"/>
                                  <m:mcJc m:val="center"/>
                                </m:mcPr>
                              </m:mc>
                            </m:mcs>
                            <m:ctrlPr>
                              <a:rPr lang="en-GB" sz="1600" i="1">
                                <a:latin typeface="Cambria Math" panose="02040503050406030204" pitchFamily="18" charset="0"/>
                              </a:rPr>
                            </m:ctrlPr>
                          </m:mPr>
                          <m:mr>
                            <m:e>
                              <m:r>
                                <a:rPr lang="en-GB" sz="1600" i="1">
                                  <a:latin typeface="Cambria Math" panose="02040503050406030204" pitchFamily="18" charset="0"/>
                                </a:rPr>
                                <m:t>𝑛</m:t>
                              </m:r>
                            </m:e>
                          </m:mr>
                          <m:mr>
                            <m:e>
                              <m:r>
                                <a:rPr lang="en-GB" sz="1600" i="1">
                                  <a:latin typeface="Cambria Math" panose="02040503050406030204" pitchFamily="18" charset="0"/>
                                </a:rPr>
                                <m:t>𝑟</m:t>
                              </m:r>
                            </m:e>
                          </m:mr>
                        </m:m>
                      </m:e>
                    </m:d>
                    <m:r>
                      <a:rPr lang="en-GB" sz="1600" i="1">
                        <a:latin typeface="Cambria Math" panose="02040503050406030204" pitchFamily="18" charset="0"/>
                      </a:rPr>
                      <m:t>=</m:t>
                    </m:r>
                    <m:f>
                      <m:fPr>
                        <m:ctrlPr>
                          <a:rPr lang="en-GB" sz="1600" i="1">
                            <a:latin typeface="Cambria Math" panose="02040503050406030204" pitchFamily="18" charset="0"/>
                          </a:rPr>
                        </m:ctrlPr>
                      </m:fPr>
                      <m:num>
                        <m:r>
                          <a:rPr lang="en-GB" sz="1600" i="1">
                            <a:latin typeface="Cambria Math" panose="02040503050406030204" pitchFamily="18" charset="0"/>
                          </a:rPr>
                          <m:t>𝑛</m:t>
                        </m:r>
                        <m:r>
                          <a:rPr lang="en-GB" sz="1600" i="1">
                            <a:latin typeface="Cambria Math" panose="02040503050406030204" pitchFamily="18" charset="0"/>
                          </a:rPr>
                          <m:t>!</m:t>
                        </m:r>
                      </m:num>
                      <m:den>
                        <m:r>
                          <a:rPr lang="en-GB" sz="1600" i="1">
                            <a:latin typeface="Cambria Math" panose="02040503050406030204" pitchFamily="18" charset="0"/>
                          </a:rPr>
                          <m:t>𝑟</m:t>
                        </m:r>
                        <m:r>
                          <a:rPr lang="en-GB" sz="1600" i="1">
                            <a:latin typeface="Cambria Math" panose="02040503050406030204" pitchFamily="18" charset="0"/>
                          </a:rPr>
                          <m:t>!</m:t>
                        </m:r>
                        <m:d>
                          <m:dPr>
                            <m:ctrlPr>
                              <a:rPr lang="en-GB" sz="1600" i="1">
                                <a:latin typeface="Cambria Math" panose="02040503050406030204" pitchFamily="18" charset="0"/>
                              </a:rPr>
                            </m:ctrlPr>
                          </m:dPr>
                          <m:e>
                            <m:r>
                              <a:rPr lang="en-GB" sz="1600" i="1">
                                <a:latin typeface="Cambria Math" panose="02040503050406030204" pitchFamily="18" charset="0"/>
                              </a:rPr>
                              <m:t>𝑛</m:t>
                            </m:r>
                            <m:r>
                              <a:rPr lang="en-GB" sz="1600" i="1">
                                <a:latin typeface="Cambria Math" panose="02040503050406030204" pitchFamily="18" charset="0"/>
                              </a:rPr>
                              <m:t>−</m:t>
                            </m:r>
                            <m:r>
                              <a:rPr lang="en-GB" sz="1600" i="1">
                                <a:latin typeface="Cambria Math" panose="02040503050406030204" pitchFamily="18" charset="0"/>
                              </a:rPr>
                              <m:t>𝑟</m:t>
                            </m:r>
                          </m:e>
                        </m:d>
                        <m:r>
                          <a:rPr lang="en-GB" sz="1600" i="1">
                            <a:latin typeface="Cambria Math" panose="02040503050406030204" pitchFamily="18" charset="0"/>
                          </a:rPr>
                          <m:t>!</m:t>
                        </m:r>
                      </m:den>
                    </m:f>
                  </m:oMath>
                </a14:m>
                <a:r>
                  <a:rPr lang="en-GB" sz="1600" dirty="0"/>
                  <a:t>?</a:t>
                </a:r>
              </a:p>
            </p:txBody>
          </p:sp>
        </mc:Choice>
        <mc:Fallback xmlns="">
          <p:sp>
            <p:nvSpPr>
              <p:cNvPr id="9" name="TextBox 8"/>
              <p:cNvSpPr txBox="1">
                <a:spLocks noRot="1" noChangeAspect="1" noMove="1" noResize="1" noEditPoints="1" noAdjustHandles="1" noChangeArrowheads="1" noChangeShapeType="1" noTextEdit="1"/>
              </p:cNvSpPr>
              <p:nvPr/>
            </p:nvSpPr>
            <p:spPr>
              <a:xfrm>
                <a:off x="7811492" y="873167"/>
                <a:ext cx="2737892" cy="1572866"/>
              </a:xfrm>
              <a:prstGeom prst="rect">
                <a:avLst/>
              </a:prstGeom>
              <a:blipFill>
                <a:blip r:embed="rId3"/>
                <a:stretch>
                  <a:fillRect l="-661" t="-3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953320" y="3239272"/>
                <a:ext cx="5760640" cy="2216761"/>
              </a:xfrm>
              <a:prstGeom prst="rect">
                <a:avLst/>
              </a:prstGeom>
              <a:noFill/>
            </p:spPr>
            <p:txBody>
              <a:bodyPr wrap="square" rtlCol="0">
                <a:spAutoFit/>
              </a:bodyPr>
              <a:lstStyle/>
              <a:p>
                <a:r>
                  <a:rPr lang="en-GB" dirty="0"/>
                  <a:t>[STEP I 2010 Q5a] By considering the expansion of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1+</m:t>
                            </m:r>
                            <m:r>
                              <a:rPr lang="en-GB" i="1">
                                <a:latin typeface="Cambria Math" panose="02040503050406030204" pitchFamily="18" charset="0"/>
                              </a:rPr>
                              <m:t>𝑥</m:t>
                            </m:r>
                          </m:e>
                        </m:d>
                      </m:e>
                      <m:sup>
                        <m:r>
                          <a:rPr lang="en-GB" i="1">
                            <a:latin typeface="Cambria Math" panose="02040503050406030204" pitchFamily="18" charset="0"/>
                          </a:rPr>
                          <m:t>𝑛</m:t>
                        </m:r>
                      </m:sup>
                    </m:sSup>
                  </m:oMath>
                </a14:m>
                <a:r>
                  <a:rPr lang="en-GB" dirty="0"/>
                  <a:t>, where </a:t>
                </a:r>
                <a14:m>
                  <m:oMath xmlns:m="http://schemas.openxmlformats.org/officeDocument/2006/math">
                    <m:r>
                      <a:rPr lang="en-GB" i="1">
                        <a:latin typeface="Cambria Math" panose="02040503050406030204" pitchFamily="18" charset="0"/>
                      </a:rPr>
                      <m:t>𝑛</m:t>
                    </m:r>
                  </m:oMath>
                </a14:m>
                <a:r>
                  <a:rPr lang="en-GB" dirty="0"/>
                  <a:t> is a positive integer, or otherwise, show that:</a:t>
                </a:r>
              </a:p>
              <a:p>
                <a:pP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0</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1</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2</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𝑛</m:t>
                                </m:r>
                              </m:e>
                            </m:mr>
                          </m:m>
                        </m:e>
                      </m:d>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𝑛</m:t>
                          </m:r>
                        </m:sup>
                      </m:sSup>
                    </m:oMath>
                  </m:oMathPara>
                </a14:m>
                <a:endParaRPr lang="en-GB" dirty="0"/>
              </a:p>
              <a:p>
                <a:endParaRPr lang="en-GB" sz="700" dirty="0"/>
              </a:p>
              <a:p>
                <a:pPr/>
                <a14:m>
                  <m:oMathPara xmlns:m="http://schemas.openxmlformats.org/officeDocument/2006/math">
                    <m:oMathParaPr>
                      <m:jc m:val="centerGroup"/>
                    </m:oMathParaPr>
                    <m:oMath xmlns:m="http://schemas.openxmlformats.org/officeDocument/2006/math">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r>
                                <a:rPr lang="en-GB" b="1" i="1">
                                  <a:latin typeface="Cambria Math" panose="02040503050406030204" pitchFamily="18" charset="0"/>
                                </a:rPr>
                                <m:t>𝟏</m:t>
                              </m:r>
                              <m:r>
                                <a:rPr lang="en-GB" b="1" i="1">
                                  <a:latin typeface="Cambria Math" panose="02040503050406030204" pitchFamily="18" charset="0"/>
                                </a:rPr>
                                <m:t>+</m:t>
                              </m:r>
                              <m:r>
                                <a:rPr lang="en-GB" b="1" i="1">
                                  <a:latin typeface="Cambria Math" panose="02040503050406030204" pitchFamily="18" charset="0"/>
                                </a:rPr>
                                <m:t>𝒙</m:t>
                              </m:r>
                            </m:e>
                          </m:d>
                        </m:e>
                        <m:sup>
                          <m:r>
                            <a:rPr lang="en-GB" b="1" i="1">
                              <a:latin typeface="Cambria Math" panose="02040503050406030204" pitchFamily="18" charset="0"/>
                            </a:rPr>
                            <m:t>𝒏</m:t>
                          </m:r>
                        </m:sup>
                      </m:sSup>
                      <m:r>
                        <a:rPr lang="en-GB" b="1" i="1">
                          <a:latin typeface="Cambria Math" panose="02040503050406030204" pitchFamily="18" charset="0"/>
                        </a:rPr>
                        <m:t>=</m:t>
                      </m:r>
                      <m:d>
                        <m:dPr>
                          <m:ctrlPr>
                            <a:rPr lang="en-GB" b="1" i="1">
                              <a:latin typeface="Cambria Math" panose="02040503050406030204" pitchFamily="18" charset="0"/>
                            </a:rPr>
                          </m:ctrlPr>
                        </m:dPr>
                        <m:e>
                          <m:m>
                            <m:mPr>
                              <m:plcHide m:val="on"/>
                              <m:mcs>
                                <m:mc>
                                  <m:mcPr>
                                    <m:count m:val="1"/>
                                    <m:mcJc m:val="center"/>
                                  </m:mcPr>
                                </m:mc>
                              </m:mcs>
                              <m:ctrlPr>
                                <a:rPr lang="en-GB" b="1" i="1">
                                  <a:latin typeface="Cambria Math" panose="02040503050406030204" pitchFamily="18" charset="0"/>
                                </a:rPr>
                              </m:ctrlPr>
                            </m:mPr>
                            <m:mr>
                              <m:e>
                                <m:r>
                                  <a:rPr lang="en-GB" b="1" i="1">
                                    <a:latin typeface="Cambria Math" panose="02040503050406030204" pitchFamily="18" charset="0"/>
                                  </a:rPr>
                                  <m:t>𝒏</m:t>
                                </m:r>
                              </m:e>
                            </m:mr>
                            <m:mr>
                              <m:e>
                                <m:r>
                                  <a:rPr lang="en-GB" b="1" i="1">
                                    <a:latin typeface="Cambria Math" panose="02040503050406030204" pitchFamily="18" charset="0"/>
                                  </a:rPr>
                                  <m:t>𝟎</m:t>
                                </m:r>
                              </m:e>
                            </m:mr>
                          </m:m>
                        </m:e>
                      </m:d>
                      <m:r>
                        <a:rPr lang="en-GB" b="1" i="1">
                          <a:latin typeface="Cambria Math" panose="02040503050406030204" pitchFamily="18" charset="0"/>
                        </a:rPr>
                        <m:t>+</m:t>
                      </m:r>
                      <m:d>
                        <m:dPr>
                          <m:ctrlPr>
                            <a:rPr lang="en-GB" b="1" i="1">
                              <a:latin typeface="Cambria Math" panose="02040503050406030204" pitchFamily="18" charset="0"/>
                            </a:rPr>
                          </m:ctrlPr>
                        </m:dPr>
                        <m:e>
                          <m:m>
                            <m:mPr>
                              <m:plcHide m:val="on"/>
                              <m:mcs>
                                <m:mc>
                                  <m:mcPr>
                                    <m:count m:val="1"/>
                                    <m:mcJc m:val="center"/>
                                  </m:mcPr>
                                </m:mc>
                              </m:mcs>
                              <m:ctrlPr>
                                <a:rPr lang="en-GB" b="1" i="1">
                                  <a:latin typeface="Cambria Math" panose="02040503050406030204" pitchFamily="18" charset="0"/>
                                </a:rPr>
                              </m:ctrlPr>
                            </m:mPr>
                            <m:mr>
                              <m:e>
                                <m:r>
                                  <a:rPr lang="en-GB" b="1" i="1">
                                    <a:latin typeface="Cambria Math" panose="02040503050406030204" pitchFamily="18" charset="0"/>
                                  </a:rPr>
                                  <m:t>𝒏</m:t>
                                </m:r>
                              </m:e>
                            </m:mr>
                            <m:mr>
                              <m:e>
                                <m:r>
                                  <a:rPr lang="en-GB" b="1" i="1">
                                    <a:latin typeface="Cambria Math" panose="02040503050406030204" pitchFamily="18" charset="0"/>
                                  </a:rPr>
                                  <m:t>𝟏</m:t>
                                </m:r>
                              </m:e>
                            </m:mr>
                          </m:m>
                        </m:e>
                      </m:d>
                      <m:r>
                        <a:rPr lang="en-GB" b="1" i="1">
                          <a:latin typeface="Cambria Math" panose="02040503050406030204" pitchFamily="18" charset="0"/>
                        </a:rPr>
                        <m:t>𝒙</m:t>
                      </m:r>
                      <m:r>
                        <a:rPr lang="en-GB" b="1" i="1">
                          <a:latin typeface="Cambria Math" panose="02040503050406030204" pitchFamily="18" charset="0"/>
                        </a:rPr>
                        <m:t>+</m:t>
                      </m:r>
                      <m:d>
                        <m:dPr>
                          <m:ctrlPr>
                            <a:rPr lang="en-GB" b="1" i="1">
                              <a:latin typeface="Cambria Math" panose="02040503050406030204" pitchFamily="18" charset="0"/>
                            </a:rPr>
                          </m:ctrlPr>
                        </m:dPr>
                        <m:e>
                          <m:m>
                            <m:mPr>
                              <m:plcHide m:val="on"/>
                              <m:mcs>
                                <m:mc>
                                  <m:mcPr>
                                    <m:count m:val="1"/>
                                    <m:mcJc m:val="center"/>
                                  </m:mcPr>
                                </m:mc>
                              </m:mcs>
                              <m:ctrlPr>
                                <a:rPr lang="en-GB" b="1" i="1">
                                  <a:latin typeface="Cambria Math" panose="02040503050406030204" pitchFamily="18" charset="0"/>
                                </a:rPr>
                              </m:ctrlPr>
                            </m:mPr>
                            <m:mr>
                              <m:e>
                                <m:r>
                                  <a:rPr lang="en-GB" b="1" i="1">
                                    <a:latin typeface="Cambria Math" panose="02040503050406030204" pitchFamily="18" charset="0"/>
                                  </a:rPr>
                                  <m:t>𝒏</m:t>
                                </m:r>
                              </m:e>
                            </m:mr>
                            <m:mr>
                              <m:e>
                                <m:r>
                                  <a:rPr lang="en-GB" b="1" i="1">
                                    <a:latin typeface="Cambria Math" panose="02040503050406030204" pitchFamily="18" charset="0"/>
                                  </a:rPr>
                                  <m:t>𝟐</m:t>
                                </m:r>
                              </m:e>
                            </m:mr>
                          </m:m>
                        </m:e>
                      </m:d>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𝟐</m:t>
                          </m:r>
                        </m:sup>
                      </m:sSup>
                      <m:r>
                        <a:rPr lang="en-GB" b="1" i="1">
                          <a:latin typeface="Cambria Math" panose="02040503050406030204" pitchFamily="18" charset="0"/>
                        </a:rPr>
                        <m:t>+…+</m:t>
                      </m:r>
                      <m:d>
                        <m:dPr>
                          <m:ctrlPr>
                            <a:rPr lang="en-GB" b="1" i="1">
                              <a:latin typeface="Cambria Math" panose="02040503050406030204" pitchFamily="18" charset="0"/>
                            </a:rPr>
                          </m:ctrlPr>
                        </m:dPr>
                        <m:e>
                          <m:m>
                            <m:mPr>
                              <m:plcHide m:val="on"/>
                              <m:mcs>
                                <m:mc>
                                  <m:mcPr>
                                    <m:count m:val="1"/>
                                    <m:mcJc m:val="center"/>
                                  </m:mcPr>
                                </m:mc>
                              </m:mcs>
                              <m:ctrlPr>
                                <a:rPr lang="en-GB" b="1" i="1">
                                  <a:latin typeface="Cambria Math" panose="02040503050406030204" pitchFamily="18" charset="0"/>
                                </a:rPr>
                              </m:ctrlPr>
                            </m:mPr>
                            <m:mr>
                              <m:e>
                                <m:r>
                                  <a:rPr lang="en-GB" b="1" i="1">
                                    <a:latin typeface="Cambria Math" panose="02040503050406030204" pitchFamily="18" charset="0"/>
                                  </a:rPr>
                                  <m:t>𝒏</m:t>
                                </m:r>
                              </m:e>
                            </m:mr>
                            <m:mr>
                              <m:e>
                                <m:r>
                                  <a:rPr lang="en-GB" b="1" i="1">
                                    <a:latin typeface="Cambria Math" panose="02040503050406030204" pitchFamily="18" charset="0"/>
                                  </a:rPr>
                                  <m:t>𝒏</m:t>
                                </m:r>
                              </m:e>
                            </m:mr>
                          </m:m>
                        </m:e>
                      </m:d>
                      <m:sSup>
                        <m:sSupPr>
                          <m:ctrlPr>
                            <a:rPr lang="en-GB" b="1" i="1">
                              <a:latin typeface="Cambria Math" panose="02040503050406030204" pitchFamily="18" charset="0"/>
                            </a:rPr>
                          </m:ctrlPr>
                        </m:sSupPr>
                        <m:e>
                          <m:r>
                            <a:rPr lang="en-GB" b="1" i="1">
                              <a:latin typeface="Cambria Math" panose="02040503050406030204" pitchFamily="18" charset="0"/>
                            </a:rPr>
                            <m:t>𝒙</m:t>
                          </m:r>
                        </m:e>
                        <m:sup>
                          <m:r>
                            <a:rPr lang="en-GB" b="1" i="1">
                              <a:latin typeface="Cambria Math" panose="02040503050406030204" pitchFamily="18" charset="0"/>
                            </a:rPr>
                            <m:t>𝒏</m:t>
                          </m:r>
                        </m:sup>
                      </m:sSup>
                    </m:oMath>
                  </m:oMathPara>
                </a14:m>
                <a:endParaRPr lang="en-GB" b="1" dirty="0"/>
              </a:p>
              <a:p>
                <a:r>
                  <a:rPr lang="en-GB" b="1" dirty="0"/>
                  <a:t>Letting </a:t>
                </a:r>
                <a14:m>
                  <m:oMath xmlns:m="http://schemas.openxmlformats.org/officeDocument/2006/math">
                    <m:r>
                      <a:rPr lang="en-GB" b="1" i="1">
                        <a:latin typeface="Cambria Math" panose="02040503050406030204" pitchFamily="18" charset="0"/>
                      </a:rPr>
                      <m:t>𝒙</m:t>
                    </m:r>
                    <m:r>
                      <a:rPr lang="en-GB" b="1" i="1">
                        <a:latin typeface="Cambria Math" panose="02040503050406030204" pitchFamily="18" charset="0"/>
                      </a:rPr>
                      <m:t>=</m:t>
                    </m:r>
                    <m:r>
                      <a:rPr lang="en-GB" b="1" i="1">
                        <a:latin typeface="Cambria Math" panose="02040503050406030204" pitchFamily="18" charset="0"/>
                      </a:rPr>
                      <m:t>𝟏</m:t>
                    </m:r>
                  </m:oMath>
                </a14:m>
                <a:r>
                  <a:rPr lang="en-GB" b="1" dirty="0"/>
                  <a:t> gives the desired result.</a:t>
                </a:r>
              </a:p>
            </p:txBody>
          </p:sp>
        </mc:Choice>
        <mc:Fallback xmlns="">
          <p:sp>
            <p:nvSpPr>
              <p:cNvPr id="10" name="TextBox 9"/>
              <p:cNvSpPr txBox="1">
                <a:spLocks noRot="1" noChangeAspect="1" noMove="1" noResize="1" noEditPoints="1" noAdjustHandles="1" noChangeArrowheads="1" noChangeShapeType="1" noTextEdit="1"/>
              </p:cNvSpPr>
              <p:nvPr/>
            </p:nvSpPr>
            <p:spPr>
              <a:xfrm>
                <a:off x="1953320" y="3239272"/>
                <a:ext cx="5760640" cy="2216761"/>
              </a:xfrm>
              <a:prstGeom prst="rect">
                <a:avLst/>
              </a:prstGeom>
              <a:blipFill>
                <a:blip r:embed="rId4"/>
                <a:stretch>
                  <a:fillRect l="-847" t="-1374"/>
                </a:stretch>
              </a:blipFill>
            </p:spPr>
            <p:txBody>
              <a:bodyPr/>
              <a:lstStyle/>
              <a:p>
                <a:r>
                  <a:rPr lang="en-GB">
                    <a:noFill/>
                  </a:rPr>
                  <a:t> </a:t>
                </a:r>
              </a:p>
            </p:txBody>
          </p:sp>
        </mc:Fallback>
      </mc:AlternateContent>
      <p:sp>
        <p:nvSpPr>
          <p:cNvPr id="11" name="TextBox 10"/>
          <p:cNvSpPr txBox="1"/>
          <p:nvPr/>
        </p:nvSpPr>
        <p:spPr>
          <a:xfrm>
            <a:off x="7824192" y="3068960"/>
            <a:ext cx="2737892" cy="107721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b="1" dirty="0"/>
              <a:t>reflection</a:t>
            </a:r>
            <a:r>
              <a:rPr lang="en-GB" sz="1600" dirty="0"/>
              <a:t>: This means that the sum of each row in Pascal’s Triangle gives successive powers of 2. Safe!</a:t>
            </a:r>
          </a:p>
        </p:txBody>
      </p:sp>
      <p:pic>
        <p:nvPicPr>
          <p:cNvPr id="12" name="Picture 11"/>
          <p:cNvPicPr>
            <a:picLocks noChangeAspect="1"/>
          </p:cNvPicPr>
          <p:nvPr/>
        </p:nvPicPr>
        <p:blipFill>
          <a:blip r:embed="rId5"/>
          <a:stretch>
            <a:fillRect/>
          </a:stretch>
        </p:blipFill>
        <p:spPr>
          <a:xfrm>
            <a:off x="3231011" y="1932773"/>
            <a:ext cx="3029257" cy="1354138"/>
          </a:xfrm>
          <a:prstGeom prst="rect">
            <a:avLst/>
          </a:prstGeom>
        </p:spPr>
      </p:pic>
      <p:cxnSp>
        <p:nvCxnSpPr>
          <p:cNvPr id="14" name="Straight Arrow Connector 13"/>
          <p:cNvCxnSpPr/>
          <p:nvPr/>
        </p:nvCxnSpPr>
        <p:spPr>
          <a:xfrm flipH="1">
            <a:off x="7399784" y="3286911"/>
            <a:ext cx="411708" cy="215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1639888" y="1068205"/>
            <a:ext cx="288032" cy="25553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cxnSp>
        <p:nvCxnSpPr>
          <p:cNvPr id="16" name="Straight Arrow Connector 15"/>
          <p:cNvCxnSpPr/>
          <p:nvPr/>
        </p:nvCxnSpPr>
        <p:spPr>
          <a:xfrm flipH="1" flipV="1">
            <a:off x="7488684" y="1623211"/>
            <a:ext cx="317500" cy="635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Rectangle 18"/>
          <p:cNvSpPr/>
          <p:nvPr/>
        </p:nvSpPr>
        <p:spPr>
          <a:xfrm>
            <a:off x="2079334" y="1901855"/>
            <a:ext cx="5231550" cy="133425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0" name="Rectangle 19"/>
          <p:cNvSpPr/>
          <p:nvPr/>
        </p:nvSpPr>
        <p:spPr>
          <a:xfrm>
            <a:off x="1987600" y="4620844"/>
            <a:ext cx="5564584" cy="72346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1" name="Rectangle 20"/>
          <p:cNvSpPr/>
          <p:nvPr/>
        </p:nvSpPr>
        <p:spPr>
          <a:xfrm>
            <a:off x="1639888" y="3335155"/>
            <a:ext cx="288032" cy="25553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Tree>
    <p:extLst>
      <p:ext uri="{BB962C8B-B14F-4D97-AF65-F5344CB8AC3E}">
        <p14:creationId xmlns:p14="http://schemas.microsoft.com/office/powerpoint/2010/main" val="399299327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0"/>
                                        </p:tgtEl>
                                      </p:cBhvr>
                                    </p:animEffect>
                                    <p:set>
                                      <p:cBhvr>
                                        <p:cTn id="13"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19" grpId="0" animBg="1"/>
      <p:bldP spid="20" grpId="0" animBg="1"/>
    </p:bldLst>
  </p:timing>
</p:sld>
</file>

<file path=ppt/c8/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Getting a single term in the expansion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23852" y="912912"/>
                <a:ext cx="7899672" cy="55297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2000" dirty="0"/>
                  <a:t>In the expansion of </a:t>
                </a:r>
                <a14:m>
                  <m:oMath xmlns:m="http://schemas.openxmlformats.org/officeDocument/2006/math">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r>
                              <a:rPr lang="en-GB" sz="2000" i="1">
                                <a:latin typeface="Cambria Math" panose="02040503050406030204" pitchFamily="18" charset="0"/>
                              </a:rPr>
                              <m:t>𝑎</m:t>
                            </m:r>
                            <m:r>
                              <a:rPr lang="en-GB" sz="2000" i="1">
                                <a:latin typeface="Cambria Math" panose="02040503050406030204" pitchFamily="18" charset="0"/>
                              </a:rPr>
                              <m:t>+</m:t>
                            </m:r>
                            <m:r>
                              <a:rPr lang="en-GB" sz="2000" i="1">
                                <a:latin typeface="Cambria Math" panose="02040503050406030204" pitchFamily="18" charset="0"/>
                              </a:rPr>
                              <m:t>𝑏</m:t>
                            </m:r>
                          </m:e>
                        </m:d>
                      </m:e>
                      <m:sup>
                        <m:r>
                          <a:rPr lang="en-GB" sz="2000" i="1">
                            <a:latin typeface="Cambria Math" panose="02040503050406030204" pitchFamily="18" charset="0"/>
                          </a:rPr>
                          <m:t>𝑛</m:t>
                        </m:r>
                      </m:sup>
                    </m:sSup>
                  </m:oMath>
                </a14:m>
                <a:r>
                  <a:rPr lang="en-GB" sz="2000" dirty="0"/>
                  <a:t> the general term is given by </a:t>
                </a:r>
                <a14:m>
                  <m:oMath xmlns:m="http://schemas.openxmlformats.org/officeDocument/2006/math">
                    <m:d>
                      <m:dPr>
                        <m:ctrlPr>
                          <a:rPr lang="en-GB" sz="2000" i="1">
                            <a:latin typeface="Cambria Math" panose="02040503050406030204" pitchFamily="18" charset="0"/>
                          </a:rPr>
                        </m:ctrlPr>
                      </m:dPr>
                      <m:e>
                        <m:m>
                          <m:mPr>
                            <m:plcHide m:val="on"/>
                            <m:mcs>
                              <m:mc>
                                <m:mcPr>
                                  <m:count m:val="1"/>
                                  <m:mcJc m:val="center"/>
                                </m:mcPr>
                              </m:mc>
                            </m:mcs>
                            <m:ctrlPr>
                              <a:rPr lang="en-GB" sz="2000" i="1">
                                <a:latin typeface="Cambria Math" panose="02040503050406030204" pitchFamily="18" charset="0"/>
                              </a:rPr>
                            </m:ctrlPr>
                          </m:mPr>
                          <m:mr>
                            <m:e>
                              <m:r>
                                <a:rPr lang="en-GB" sz="2000" i="1">
                                  <a:latin typeface="Cambria Math" panose="02040503050406030204" pitchFamily="18" charset="0"/>
                                </a:rPr>
                                <m:t>𝑛</m:t>
                              </m:r>
                            </m:e>
                          </m:mr>
                          <m:mr>
                            <m:e>
                              <m:r>
                                <a:rPr lang="en-GB" sz="2000" i="1">
                                  <a:latin typeface="Cambria Math" panose="02040503050406030204" pitchFamily="18" charset="0"/>
                                </a:rPr>
                                <m:t>𝑟</m:t>
                              </m:r>
                            </m:e>
                          </m:mr>
                        </m:m>
                      </m:e>
                    </m:d>
                    <m:sSup>
                      <m:sSupPr>
                        <m:ctrlPr>
                          <a:rPr lang="en-GB" sz="2000" i="1">
                            <a:latin typeface="Cambria Math" panose="02040503050406030204" pitchFamily="18" charset="0"/>
                          </a:rPr>
                        </m:ctrlPr>
                      </m:sSupPr>
                      <m:e>
                        <m:r>
                          <a:rPr lang="en-GB" sz="2000" i="1">
                            <a:latin typeface="Cambria Math" panose="02040503050406030204" pitchFamily="18" charset="0"/>
                          </a:rPr>
                          <m:t>𝑎</m:t>
                        </m:r>
                      </m:e>
                      <m:sup>
                        <m:r>
                          <a:rPr lang="en-GB" sz="2000" i="1">
                            <a:latin typeface="Cambria Math" panose="02040503050406030204" pitchFamily="18" charset="0"/>
                          </a:rPr>
                          <m:t>𝑛</m:t>
                        </m:r>
                        <m:r>
                          <a:rPr lang="en-GB" sz="2000" i="1">
                            <a:latin typeface="Cambria Math" panose="02040503050406030204" pitchFamily="18" charset="0"/>
                          </a:rPr>
                          <m:t>−</m:t>
                        </m:r>
                        <m:r>
                          <a:rPr lang="en-GB" sz="2000" i="1">
                            <a:latin typeface="Cambria Math" panose="02040503050406030204" pitchFamily="18" charset="0"/>
                          </a:rPr>
                          <m:t>𝑟</m:t>
                        </m:r>
                      </m:sup>
                    </m:sSup>
                    <m:sSup>
                      <m:sSupPr>
                        <m:ctrlPr>
                          <a:rPr lang="en-GB" sz="2000" i="1">
                            <a:latin typeface="Cambria Math" panose="02040503050406030204" pitchFamily="18" charset="0"/>
                          </a:rPr>
                        </m:ctrlPr>
                      </m:sSupPr>
                      <m:e>
                        <m:r>
                          <a:rPr lang="en-GB" sz="2000" i="1">
                            <a:latin typeface="Cambria Math" panose="02040503050406030204" pitchFamily="18" charset="0"/>
                          </a:rPr>
                          <m:t>𝑏</m:t>
                        </m:r>
                      </m:e>
                      <m:sup>
                        <m:r>
                          <a:rPr lang="en-GB" sz="2000" i="1">
                            <a:latin typeface="Cambria Math" panose="02040503050406030204" pitchFamily="18" charset="0"/>
                          </a:rPr>
                          <m:t>𝑟</m:t>
                        </m:r>
                      </m:sup>
                    </m:sSup>
                  </m:oMath>
                </a14:m>
                <a:endParaRPr lang="en-GB"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1923852" y="912912"/>
                <a:ext cx="7899672" cy="552972"/>
              </a:xfrm>
              <a:prstGeom prst="rect">
                <a:avLst/>
              </a:prstGeom>
              <a:blipFill>
                <a:blip r:embed="rId2"/>
                <a:stretch>
                  <a:fillRect l="-693" b="-42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079776" y="1988840"/>
                <a:ext cx="2520280" cy="707886"/>
              </a:xfrm>
              <a:prstGeom prst="rect">
                <a:avLst/>
              </a:prstGeom>
              <a:noFill/>
            </p:spPr>
            <p:txBody>
              <a:bodyPr wrap="square" rtlCol="0">
                <a:spAutoFit/>
              </a:bodyPr>
              <a:lstStyle/>
              <a:p>
                <a:r>
                  <a:rPr lang="en-GB" sz="2000" dirty="0"/>
                  <a:t>Power of </a:t>
                </a:r>
                <a14:m>
                  <m:oMath xmlns:m="http://schemas.openxmlformats.org/officeDocument/2006/math">
                    <m:r>
                      <a:rPr lang="en-GB" sz="2000" i="1">
                        <a:latin typeface="Cambria Math" panose="02040503050406030204" pitchFamily="18" charset="0"/>
                      </a:rPr>
                      <m:t>𝑥</m:t>
                    </m:r>
                  </m:oMath>
                </a14:m>
                <a:r>
                  <a:rPr lang="en-GB" sz="2000" dirty="0"/>
                  <a:t> in term wanted.</a:t>
                </a:r>
              </a:p>
            </p:txBody>
          </p:sp>
        </mc:Choice>
        <mc:Fallback xmlns="">
          <p:sp>
            <p:nvSpPr>
              <p:cNvPr id="6" name="TextBox 5"/>
              <p:cNvSpPr txBox="1">
                <a:spLocks noRot="1" noChangeAspect="1" noMove="1" noResize="1" noEditPoints="1" noAdjustHandles="1" noChangeArrowheads="1" noChangeShapeType="1" noTextEdit="1"/>
              </p:cNvSpPr>
              <p:nvPr/>
            </p:nvSpPr>
            <p:spPr>
              <a:xfrm>
                <a:off x="4079776" y="1988840"/>
                <a:ext cx="2520280" cy="707886"/>
              </a:xfrm>
              <a:prstGeom prst="rect">
                <a:avLst/>
              </a:prstGeom>
              <a:blipFill>
                <a:blip r:embed="rId3"/>
                <a:stretch>
                  <a:fillRect l="-2415" t="-4310" b="-14655"/>
                </a:stretch>
              </a:blipFill>
            </p:spPr>
            <p:txBody>
              <a:bodyPr/>
              <a:lstStyle/>
              <a:p>
                <a:r>
                  <a:rPr lang="en-GB">
                    <a:noFill/>
                  </a:rPr>
                  <a:t> </a:t>
                </a:r>
              </a:p>
            </p:txBody>
          </p:sp>
        </mc:Fallback>
      </mc:AlternateContent>
      <p:sp>
        <p:nvSpPr>
          <p:cNvPr id="7" name="TextBox 6"/>
          <p:cNvSpPr txBox="1"/>
          <p:nvPr/>
        </p:nvSpPr>
        <p:spPr>
          <a:xfrm>
            <a:off x="6960096" y="1988840"/>
            <a:ext cx="2520280" cy="400110"/>
          </a:xfrm>
          <a:prstGeom prst="rect">
            <a:avLst/>
          </a:prstGeom>
          <a:noFill/>
        </p:spPr>
        <p:txBody>
          <a:bodyPr wrap="square" rtlCol="0">
            <a:spAutoFit/>
          </a:bodyPr>
          <a:lstStyle/>
          <a:p>
            <a:r>
              <a:rPr lang="en-GB" sz="2000" dirty="0"/>
              <a:t>Term in expansion</a:t>
            </a:r>
          </a:p>
        </p:txBody>
      </p:sp>
      <p:sp>
        <p:nvSpPr>
          <p:cNvPr id="8" name="TextBox 7"/>
          <p:cNvSpPr txBox="1"/>
          <p:nvPr/>
        </p:nvSpPr>
        <p:spPr>
          <a:xfrm>
            <a:off x="2063552" y="1988840"/>
            <a:ext cx="2520280" cy="400110"/>
          </a:xfrm>
          <a:prstGeom prst="rect">
            <a:avLst/>
          </a:prstGeom>
          <a:noFill/>
        </p:spPr>
        <p:txBody>
          <a:bodyPr wrap="square" rtlCol="0">
            <a:spAutoFit/>
          </a:bodyPr>
          <a:lstStyle/>
          <a:p>
            <a:r>
              <a:rPr lang="en-GB" sz="2000" dirty="0"/>
              <a:t>Expression</a:t>
            </a:r>
          </a:p>
        </p:txBody>
      </p:sp>
      <p:cxnSp>
        <p:nvCxnSpPr>
          <p:cNvPr id="10" name="Straight Connector 9"/>
          <p:cNvCxnSpPr/>
          <p:nvPr/>
        </p:nvCxnSpPr>
        <p:spPr>
          <a:xfrm>
            <a:off x="2063552" y="2852936"/>
            <a:ext cx="7759972"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flipV="1">
            <a:off x="3863752" y="1988840"/>
            <a:ext cx="0" cy="4464496"/>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V="1">
            <a:off x="6744072" y="1988840"/>
            <a:ext cx="0" cy="4464496"/>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a:off x="2063552" y="3068963"/>
                <a:ext cx="16561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𝑎</m:t>
                              </m:r>
                              <m:r>
                                <a:rPr lang="en-GB" sz="2400" i="1">
                                  <a:latin typeface="Cambria Math" panose="02040503050406030204" pitchFamily="18" charset="0"/>
                                </a:rPr>
                                <m:t>+</m:t>
                              </m:r>
                              <m:r>
                                <a:rPr lang="en-GB" sz="2400" i="1">
                                  <a:latin typeface="Cambria Math" panose="02040503050406030204" pitchFamily="18" charset="0"/>
                                </a:rPr>
                                <m:t>𝑥</m:t>
                              </m:r>
                            </m:e>
                          </m:d>
                        </m:e>
                        <m:sup>
                          <m:r>
                            <a:rPr lang="en-GB" sz="2400" i="1">
                              <a:latin typeface="Cambria Math" panose="02040503050406030204" pitchFamily="18" charset="0"/>
                            </a:rPr>
                            <m:t>10</m:t>
                          </m:r>
                        </m:sup>
                      </m:sSup>
                    </m:oMath>
                  </m:oMathPara>
                </a14:m>
                <a:endParaRPr lang="en-GB" dirty="0"/>
              </a:p>
            </p:txBody>
          </p:sp>
        </mc:Choice>
        <mc:Fallback xmlns="">
          <p:sp>
            <p:nvSpPr>
              <p:cNvPr id="15" name="TextBox 14"/>
              <p:cNvSpPr txBox="1">
                <a:spLocks noRot="1" noChangeAspect="1" noMove="1" noResize="1" noEditPoints="1" noAdjustHandles="1" noChangeArrowheads="1" noChangeShapeType="1" noTextEdit="1"/>
              </p:cNvSpPr>
              <p:nvPr/>
            </p:nvSpPr>
            <p:spPr>
              <a:xfrm>
                <a:off x="2063552" y="3068963"/>
                <a:ext cx="1656184" cy="461665"/>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431369" y="3068963"/>
                <a:ext cx="16561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3</m:t>
                      </m:r>
                    </m:oMath>
                  </m:oMathPara>
                </a14:m>
                <a:endParaRPr lang="en-GB"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4431369" y="3068963"/>
                <a:ext cx="1656184" cy="46166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7133888" y="2979860"/>
                <a:ext cx="1656184" cy="708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10</m:t>
                                </m:r>
                              </m:e>
                            </m:mr>
                            <m:mr>
                              <m:e>
                                <m:r>
                                  <a:rPr lang="en-GB" sz="2400" i="1">
                                    <a:latin typeface="Cambria Math" panose="02040503050406030204" pitchFamily="18" charset="0"/>
                                  </a:rPr>
                                  <m:t>3</m:t>
                                </m:r>
                              </m:e>
                            </m:mr>
                          </m:m>
                        </m:e>
                      </m:d>
                      <m:sSup>
                        <m:sSupPr>
                          <m:ctrlPr>
                            <a:rPr lang="en-GB" sz="2400" i="1">
                              <a:latin typeface="Cambria Math" panose="02040503050406030204" pitchFamily="18" charset="0"/>
                            </a:rPr>
                          </m:ctrlPr>
                        </m:sSupPr>
                        <m:e>
                          <m:sSup>
                            <m:sSupPr>
                              <m:ctrlPr>
                                <a:rPr lang="en-GB" sz="2400" i="1">
                                  <a:latin typeface="Cambria Math" panose="02040503050406030204" pitchFamily="18" charset="0"/>
                                </a:rPr>
                              </m:ctrlPr>
                            </m:sSupPr>
                            <m:e>
                              <m:r>
                                <a:rPr lang="en-GB" sz="2400" i="1">
                                  <a:latin typeface="Cambria Math" panose="02040503050406030204" pitchFamily="18" charset="0"/>
                                </a:rPr>
                                <m:t>𝑎</m:t>
                              </m:r>
                            </m:e>
                            <m:sup>
                              <m:r>
                                <a:rPr lang="en-GB" sz="2400" i="1">
                                  <a:latin typeface="Cambria Math" panose="02040503050406030204" pitchFamily="18" charset="0"/>
                                </a:rPr>
                                <m:t>7</m:t>
                              </m:r>
                            </m:sup>
                          </m:sSup>
                          <m:r>
                            <a:rPr lang="en-GB" sz="2400" i="1">
                              <a:latin typeface="Cambria Math" panose="02040503050406030204" pitchFamily="18" charset="0"/>
                            </a:rPr>
                            <m:t>𝑥</m:t>
                          </m:r>
                        </m:e>
                        <m:sup>
                          <m:r>
                            <a:rPr lang="en-GB" sz="2400" i="1">
                              <a:latin typeface="Cambria Math" panose="02040503050406030204" pitchFamily="18" charset="0"/>
                            </a:rPr>
                            <m:t>3</m:t>
                          </m:r>
                        </m:sup>
                      </m:sSup>
                    </m:oMath>
                  </m:oMathPara>
                </a14:m>
                <a:endParaRPr lang="en-GB" dirty="0"/>
              </a:p>
            </p:txBody>
          </p:sp>
        </mc:Choice>
        <mc:Fallback xmlns="">
          <p:sp>
            <p:nvSpPr>
              <p:cNvPr id="17" name="TextBox 16"/>
              <p:cNvSpPr txBox="1">
                <a:spLocks noRot="1" noChangeAspect="1" noMove="1" noResize="1" noEditPoints="1" noAdjustHandles="1" noChangeArrowheads="1" noChangeShapeType="1" noTextEdit="1"/>
              </p:cNvSpPr>
              <p:nvPr/>
            </p:nvSpPr>
            <p:spPr>
              <a:xfrm>
                <a:off x="7133888" y="2979860"/>
                <a:ext cx="1656184" cy="708143"/>
              </a:xfrm>
              <a:prstGeom prst="rect">
                <a:avLst/>
              </a:prstGeom>
              <a:blipFill>
                <a:blip r:embed="rId6"/>
                <a:stretch>
                  <a:fillRect/>
                </a:stretch>
              </a:blipFill>
            </p:spPr>
            <p:txBody>
              <a:bodyPr/>
              <a:lstStyle/>
              <a:p>
                <a:r>
                  <a:rPr lang="en-GB">
                    <a:noFill/>
                  </a:rPr>
                  <a:t> </a:t>
                </a:r>
              </a:p>
            </p:txBody>
          </p:sp>
        </mc:Fallback>
      </mc:AlternateContent>
      <p:sp>
        <p:nvSpPr>
          <p:cNvPr id="18" name="TextBox 17"/>
          <p:cNvSpPr txBox="1"/>
          <p:nvPr/>
        </p:nvSpPr>
        <p:spPr>
          <a:xfrm>
            <a:off x="8709372" y="3014588"/>
            <a:ext cx="1728192" cy="523220"/>
          </a:xfrm>
          <a:prstGeom prst="rect">
            <a:avLst/>
          </a:prstGeom>
          <a:noFill/>
        </p:spPr>
        <p:txBody>
          <a:bodyPr wrap="square" rtlCol="0">
            <a:spAutoFit/>
          </a:bodyPr>
          <a:lstStyle/>
          <a:p>
            <a:r>
              <a:rPr lang="en-GB" sz="1400" b="1" dirty="0"/>
              <a:t>Note</a:t>
            </a:r>
            <a:r>
              <a:rPr lang="en-GB" sz="1400" dirty="0"/>
              <a:t>: The two powers add up to 10.</a:t>
            </a:r>
          </a:p>
        </p:txBody>
      </p:sp>
      <mc:AlternateContent xmlns:mc="http://schemas.openxmlformats.org/markup-compatibility/2006" xmlns:a14="http://schemas.microsoft.com/office/drawing/2010/main">
        <mc:Choice Requires="a14">
          <p:sp>
            <p:nvSpPr>
              <p:cNvPr id="19" name="TextBox 18"/>
              <p:cNvSpPr txBox="1"/>
              <p:nvPr/>
            </p:nvSpPr>
            <p:spPr>
              <a:xfrm>
                <a:off x="2063552" y="3776005"/>
                <a:ext cx="16561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2</m:t>
                              </m:r>
                              <m:r>
                                <a:rPr lang="en-GB" sz="2400" i="1">
                                  <a:latin typeface="Cambria Math" panose="02040503050406030204" pitchFamily="18" charset="0"/>
                                </a:rPr>
                                <m:t>𝑥</m:t>
                              </m:r>
                              <m:r>
                                <a:rPr lang="en-GB" sz="2400" i="1">
                                  <a:latin typeface="Cambria Math" panose="02040503050406030204" pitchFamily="18" charset="0"/>
                                </a:rPr>
                                <m:t>−1</m:t>
                              </m:r>
                            </m:e>
                          </m:d>
                        </m:e>
                        <m:sup>
                          <m:r>
                            <a:rPr lang="en-GB" sz="2400" i="1">
                              <a:latin typeface="Cambria Math" panose="02040503050406030204" pitchFamily="18" charset="0"/>
                            </a:rPr>
                            <m:t>75</m:t>
                          </m:r>
                        </m:sup>
                      </m:sSup>
                    </m:oMath>
                  </m:oMathPara>
                </a14:m>
                <a:endParaRPr lang="en-GB" dirty="0"/>
              </a:p>
            </p:txBody>
          </p:sp>
        </mc:Choice>
        <mc:Fallback xmlns="">
          <p:sp>
            <p:nvSpPr>
              <p:cNvPr id="19" name="TextBox 18"/>
              <p:cNvSpPr txBox="1">
                <a:spLocks noRot="1" noChangeAspect="1" noMove="1" noResize="1" noEditPoints="1" noAdjustHandles="1" noChangeArrowheads="1" noChangeShapeType="1" noTextEdit="1"/>
              </p:cNvSpPr>
              <p:nvPr/>
            </p:nvSpPr>
            <p:spPr>
              <a:xfrm>
                <a:off x="2063552" y="3776005"/>
                <a:ext cx="1656184" cy="461665"/>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4425502" y="3776005"/>
                <a:ext cx="16561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50</m:t>
                      </m:r>
                    </m:oMath>
                  </m:oMathPara>
                </a14:m>
                <a:endParaRPr lang="en-GB" sz="2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4425502" y="3776005"/>
                <a:ext cx="1656184" cy="461665"/>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7202666" y="3659973"/>
                <a:ext cx="2697058" cy="7156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75</m:t>
                                </m:r>
                              </m:e>
                            </m:mr>
                            <m:mr>
                              <m:e>
                                <m:r>
                                  <a:rPr lang="en-GB" sz="2400" i="1">
                                    <a:latin typeface="Cambria Math" panose="02040503050406030204" pitchFamily="18" charset="0"/>
                                  </a:rPr>
                                  <m:t>50</m:t>
                                </m:r>
                              </m:e>
                            </m:mr>
                          </m:m>
                        </m:e>
                      </m:d>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−1</m:t>
                              </m:r>
                            </m:e>
                          </m:d>
                        </m:e>
                        <m:sup>
                          <m:r>
                            <a:rPr lang="en-GB" sz="2400" i="1">
                              <a:latin typeface="Cambria Math" panose="02040503050406030204" pitchFamily="18" charset="0"/>
                            </a:rPr>
                            <m:t>25</m:t>
                          </m:r>
                        </m:sup>
                      </m:sSup>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2</m:t>
                              </m:r>
                              <m:r>
                                <a:rPr lang="en-GB" sz="2400" i="1">
                                  <a:latin typeface="Cambria Math" panose="02040503050406030204" pitchFamily="18" charset="0"/>
                                </a:rPr>
                                <m:t>𝑥</m:t>
                              </m:r>
                            </m:e>
                          </m:d>
                        </m:e>
                        <m:sup>
                          <m:r>
                            <a:rPr lang="en-GB" sz="2400" i="1">
                              <a:latin typeface="Cambria Math" panose="02040503050406030204" pitchFamily="18" charset="0"/>
                            </a:rPr>
                            <m:t>50</m:t>
                          </m:r>
                        </m:sup>
                      </m:sSup>
                    </m:oMath>
                  </m:oMathPara>
                </a14:m>
                <a:endParaRPr lang="en-GB" dirty="0"/>
              </a:p>
            </p:txBody>
          </p:sp>
        </mc:Choice>
        <mc:Fallback xmlns="">
          <p:sp>
            <p:nvSpPr>
              <p:cNvPr id="21" name="TextBox 20"/>
              <p:cNvSpPr txBox="1">
                <a:spLocks noRot="1" noChangeAspect="1" noMove="1" noResize="1" noEditPoints="1" noAdjustHandles="1" noChangeArrowheads="1" noChangeShapeType="1" noTextEdit="1"/>
              </p:cNvSpPr>
              <p:nvPr/>
            </p:nvSpPr>
            <p:spPr>
              <a:xfrm>
                <a:off x="7202666" y="3659973"/>
                <a:ext cx="2697058" cy="715645"/>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7050266" y="4329721"/>
                <a:ext cx="2697058" cy="7156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12</m:t>
                                </m:r>
                              </m:e>
                            </m:mr>
                            <m:mr>
                              <m:e>
                                <m:r>
                                  <a:rPr lang="en-GB" sz="2400" i="1">
                                    <a:latin typeface="Cambria Math" panose="02040503050406030204" pitchFamily="18" charset="0"/>
                                  </a:rPr>
                                  <m:t>7</m:t>
                                </m:r>
                              </m:e>
                            </m:mr>
                          </m:m>
                        </m:e>
                      </m:d>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3</m:t>
                              </m:r>
                            </m:e>
                          </m:d>
                        </m:e>
                        <m:sup>
                          <m:r>
                            <a:rPr lang="en-GB" sz="2400" i="1">
                              <a:latin typeface="Cambria Math" panose="02040503050406030204" pitchFamily="18" charset="0"/>
                            </a:rPr>
                            <m:t>5</m:t>
                          </m:r>
                        </m:sup>
                      </m:sSup>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m:t>
                              </m:r>
                              <m:r>
                                <a:rPr lang="en-GB" sz="2400" i="1">
                                  <a:latin typeface="Cambria Math" panose="02040503050406030204" pitchFamily="18" charset="0"/>
                                </a:rPr>
                                <m:t>𝑥</m:t>
                              </m:r>
                            </m:e>
                          </m:d>
                        </m:e>
                        <m:sup>
                          <m:r>
                            <a:rPr lang="en-GB" sz="2400" i="1">
                              <a:latin typeface="Cambria Math" panose="02040503050406030204" pitchFamily="18" charset="0"/>
                            </a:rPr>
                            <m:t>7</m:t>
                          </m:r>
                        </m:sup>
                      </m:sSup>
                    </m:oMath>
                  </m:oMathPara>
                </a14:m>
                <a:endParaRPr lang="en-GB" dirty="0"/>
              </a:p>
            </p:txBody>
          </p:sp>
        </mc:Choice>
        <mc:Fallback xmlns="">
          <p:sp>
            <p:nvSpPr>
              <p:cNvPr id="22" name="TextBox 21"/>
              <p:cNvSpPr txBox="1">
                <a:spLocks noRot="1" noChangeAspect="1" noMove="1" noResize="1" noEditPoints="1" noAdjustHandles="1" noChangeArrowheads="1" noChangeShapeType="1" noTextEdit="1"/>
              </p:cNvSpPr>
              <p:nvPr/>
            </p:nvSpPr>
            <p:spPr>
              <a:xfrm>
                <a:off x="7050266" y="4329721"/>
                <a:ext cx="2697058" cy="715645"/>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2063552" y="4414295"/>
                <a:ext cx="1656184" cy="4658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3−</m:t>
                              </m:r>
                              <m:r>
                                <a:rPr lang="en-GB" sz="2400" i="1">
                                  <a:latin typeface="Cambria Math" panose="02040503050406030204" pitchFamily="18" charset="0"/>
                                </a:rPr>
                                <m:t>𝑥</m:t>
                              </m:r>
                            </m:e>
                          </m:d>
                        </m:e>
                        <m:sup>
                          <m:r>
                            <a:rPr lang="en-GB" sz="2400" i="1">
                              <a:latin typeface="Cambria Math" panose="02040503050406030204" pitchFamily="18" charset="0"/>
                            </a:rPr>
                            <m:t>12</m:t>
                          </m:r>
                        </m:sup>
                      </m:sSup>
                    </m:oMath>
                  </m:oMathPara>
                </a14:m>
                <a:endParaRPr lang="en-GB" dirty="0"/>
              </a:p>
            </p:txBody>
          </p:sp>
        </mc:Choice>
        <mc:Fallback xmlns="">
          <p:sp>
            <p:nvSpPr>
              <p:cNvPr id="23" name="TextBox 22"/>
              <p:cNvSpPr txBox="1">
                <a:spLocks noRot="1" noChangeAspect="1" noMove="1" noResize="1" noEditPoints="1" noAdjustHandles="1" noChangeArrowheads="1" noChangeShapeType="1" noTextEdit="1"/>
              </p:cNvSpPr>
              <p:nvPr/>
            </p:nvSpPr>
            <p:spPr>
              <a:xfrm>
                <a:off x="2063552" y="4414295"/>
                <a:ext cx="1656184" cy="46583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4425502" y="4393006"/>
                <a:ext cx="16561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7</m:t>
                      </m:r>
                    </m:oMath>
                  </m:oMathPara>
                </a14:m>
                <a:endParaRPr lang="en-GB" sz="2400" dirty="0"/>
              </a:p>
            </p:txBody>
          </p:sp>
        </mc:Choice>
        <mc:Fallback xmlns="">
          <p:sp>
            <p:nvSpPr>
              <p:cNvPr id="24" name="TextBox 23"/>
              <p:cNvSpPr txBox="1">
                <a:spLocks noRot="1" noChangeAspect="1" noMove="1" noResize="1" noEditPoints="1" noAdjustHandles="1" noChangeArrowheads="1" noChangeShapeType="1" noTextEdit="1"/>
              </p:cNvSpPr>
              <p:nvPr/>
            </p:nvSpPr>
            <p:spPr>
              <a:xfrm>
                <a:off x="4425502" y="4393006"/>
                <a:ext cx="1656184" cy="461665"/>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7050266" y="5055731"/>
                <a:ext cx="2697058" cy="7156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GB" sz="2400" i="1">
                              <a:latin typeface="Cambria Math" panose="02040503050406030204" pitchFamily="18" charset="0"/>
                            </a:rPr>
                          </m:ctrlPr>
                        </m:dPr>
                        <m:e>
                          <m:m>
                            <m:mPr>
                              <m:plcHide m:val="on"/>
                              <m:mcs>
                                <m:mc>
                                  <m:mcPr>
                                    <m:count m:val="1"/>
                                    <m:mcJc m:val="center"/>
                                  </m:mcPr>
                                </m:mc>
                              </m:mcs>
                              <m:ctrlPr>
                                <a:rPr lang="en-GB" sz="2400" i="1">
                                  <a:latin typeface="Cambria Math" panose="02040503050406030204" pitchFamily="18" charset="0"/>
                                </a:rPr>
                              </m:ctrlPr>
                            </m:mPr>
                            <m:mr>
                              <m:e>
                                <m:r>
                                  <a:rPr lang="en-GB" sz="2400" i="1">
                                    <a:latin typeface="Cambria Math" panose="02040503050406030204" pitchFamily="18" charset="0"/>
                                  </a:rPr>
                                  <m:t>16</m:t>
                                </m:r>
                              </m:e>
                            </m:mr>
                            <m:mr>
                              <m:e>
                                <m:r>
                                  <a:rPr lang="en-GB" sz="2400" i="1">
                                    <a:latin typeface="Cambria Math" panose="02040503050406030204" pitchFamily="18" charset="0"/>
                                  </a:rPr>
                                  <m:t>3</m:t>
                                </m:r>
                              </m:e>
                            </m:mr>
                          </m:m>
                        </m:e>
                      </m:d>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4</m:t>
                              </m:r>
                            </m:e>
                          </m:d>
                        </m:e>
                        <m:sup>
                          <m:r>
                            <a:rPr lang="en-GB" sz="2400" i="1">
                              <a:latin typeface="Cambria Math" panose="02040503050406030204" pitchFamily="18" charset="0"/>
                            </a:rPr>
                            <m:t>13</m:t>
                          </m:r>
                        </m:sup>
                      </m:sSup>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3</m:t>
                              </m:r>
                              <m:r>
                                <a:rPr lang="en-GB" sz="2400" i="1">
                                  <a:latin typeface="Cambria Math" panose="02040503050406030204" pitchFamily="18" charset="0"/>
                                </a:rPr>
                                <m:t>𝑥</m:t>
                              </m:r>
                            </m:e>
                          </m:d>
                        </m:e>
                        <m:sup>
                          <m:r>
                            <a:rPr lang="en-GB" sz="2400" i="1">
                              <a:latin typeface="Cambria Math" panose="02040503050406030204" pitchFamily="18" charset="0"/>
                            </a:rPr>
                            <m:t>3</m:t>
                          </m:r>
                        </m:sup>
                      </m:sSup>
                    </m:oMath>
                  </m:oMathPara>
                </a14:m>
                <a:endParaRPr lang="en-GB" dirty="0"/>
              </a:p>
            </p:txBody>
          </p:sp>
        </mc:Choice>
        <mc:Fallback xmlns="">
          <p:sp>
            <p:nvSpPr>
              <p:cNvPr id="25" name="TextBox 24"/>
              <p:cNvSpPr txBox="1">
                <a:spLocks noRot="1" noChangeAspect="1" noMove="1" noResize="1" noEditPoints="1" noAdjustHandles="1" noChangeArrowheads="1" noChangeShapeType="1" noTextEdit="1"/>
              </p:cNvSpPr>
              <p:nvPr/>
            </p:nvSpPr>
            <p:spPr>
              <a:xfrm>
                <a:off x="7050266" y="5055731"/>
                <a:ext cx="2697058" cy="715645"/>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4412894" y="5160735"/>
                <a:ext cx="16561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3</m:t>
                      </m:r>
                    </m:oMath>
                  </m:oMathPara>
                </a14:m>
                <a:endParaRPr lang="en-GB" sz="2400" dirty="0"/>
              </a:p>
            </p:txBody>
          </p:sp>
        </mc:Choice>
        <mc:Fallback xmlns="">
          <p:sp>
            <p:nvSpPr>
              <p:cNvPr id="26" name="TextBox 25"/>
              <p:cNvSpPr txBox="1">
                <a:spLocks noRot="1" noChangeAspect="1" noMove="1" noResize="1" noEditPoints="1" noAdjustHandles="1" noChangeArrowheads="1" noChangeShapeType="1" noTextEdit="1"/>
              </p:cNvSpPr>
              <p:nvPr/>
            </p:nvSpPr>
            <p:spPr>
              <a:xfrm>
                <a:off x="4412894" y="5160735"/>
                <a:ext cx="1656184" cy="461665"/>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2081716" y="5156567"/>
                <a:ext cx="165618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3</m:t>
                              </m:r>
                              <m:r>
                                <a:rPr lang="en-GB" sz="2400" i="1">
                                  <a:latin typeface="Cambria Math" panose="02040503050406030204" pitchFamily="18" charset="0"/>
                                </a:rPr>
                                <m:t>𝑥</m:t>
                              </m:r>
                              <m:r>
                                <a:rPr lang="en-GB" sz="2400" i="1">
                                  <a:latin typeface="Cambria Math" panose="02040503050406030204" pitchFamily="18" charset="0"/>
                                </a:rPr>
                                <m:t>+4</m:t>
                              </m:r>
                            </m:e>
                          </m:d>
                        </m:e>
                        <m:sup>
                          <m:r>
                            <a:rPr lang="en-GB" sz="2400" i="1">
                              <a:latin typeface="Cambria Math" panose="02040503050406030204" pitchFamily="18" charset="0"/>
                            </a:rPr>
                            <m:t>16</m:t>
                          </m:r>
                        </m:sup>
                      </m:sSup>
                    </m:oMath>
                  </m:oMathPara>
                </a14:m>
                <a:endParaRPr lang="en-GB" dirty="0"/>
              </a:p>
            </p:txBody>
          </p:sp>
        </mc:Choice>
        <mc:Fallback xmlns="">
          <p:sp>
            <p:nvSpPr>
              <p:cNvPr id="27" name="TextBox 26"/>
              <p:cNvSpPr txBox="1">
                <a:spLocks noRot="1" noChangeAspect="1" noMove="1" noResize="1" noEditPoints="1" noAdjustHandles="1" noChangeArrowheads="1" noChangeShapeType="1" noTextEdit="1"/>
              </p:cNvSpPr>
              <p:nvPr/>
            </p:nvSpPr>
            <p:spPr>
              <a:xfrm>
                <a:off x="2081716" y="5156567"/>
                <a:ext cx="1656184" cy="461665"/>
              </a:xfrm>
              <a:prstGeom prst="rect">
                <a:avLst/>
              </a:prstGeom>
              <a:blipFill>
                <a:blip r:embed="rId15"/>
                <a:stretch>
                  <a:fillRect/>
                </a:stretch>
              </a:blipFill>
            </p:spPr>
            <p:txBody>
              <a:bodyPr/>
              <a:lstStyle/>
              <a:p>
                <a:r>
                  <a:rPr lang="en-GB">
                    <a:noFill/>
                  </a:rPr>
                  <a:t> </a:t>
                </a:r>
              </a:p>
            </p:txBody>
          </p:sp>
        </mc:Fallback>
      </mc:AlternateContent>
      <p:sp>
        <p:nvSpPr>
          <p:cNvPr id="28" name="Rectangle 27"/>
          <p:cNvSpPr/>
          <p:nvPr/>
        </p:nvSpPr>
        <p:spPr>
          <a:xfrm>
            <a:off x="7122716" y="2921433"/>
            <a:ext cx="3314848" cy="72346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9" name="Rectangle 28"/>
          <p:cNvSpPr/>
          <p:nvPr/>
        </p:nvSpPr>
        <p:spPr>
          <a:xfrm>
            <a:off x="7122716" y="3694052"/>
            <a:ext cx="3314848" cy="66205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0" name="Rectangle 29"/>
          <p:cNvSpPr/>
          <p:nvPr/>
        </p:nvSpPr>
        <p:spPr>
          <a:xfrm>
            <a:off x="7122716" y="4356103"/>
            <a:ext cx="3314848" cy="66205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31" name="Rectangle 30"/>
          <p:cNvSpPr/>
          <p:nvPr/>
        </p:nvSpPr>
        <p:spPr>
          <a:xfrm>
            <a:off x="7122716" y="5019253"/>
            <a:ext cx="3314848" cy="774721"/>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59053169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8"/>
                                        </p:tgtEl>
                                      </p:cBhvr>
                                    </p:animEffect>
                                    <p:set>
                                      <p:cBhvr>
                                        <p:cTn id="7"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8" restart="whenNotActive" fill="hold" evtFilter="cancelBubble" nodeType="interactiveSeq">
                <p:stCondLst>
                  <p:cond evt="onClick" delay="0">
                    <p:tgtEl>
                      <p:spTgt spid="2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9"/>
                                        </p:tgtEl>
                                      </p:cBhvr>
                                    </p:animEffect>
                                    <p:set>
                                      <p:cBhvr>
                                        <p:cTn id="13"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seq concurrent="1" nextAc="seek">
              <p:cTn id="14" restart="whenNotActive" fill="hold" evtFilter="cancelBubble" nodeType="interactiveSeq">
                <p:stCondLst>
                  <p:cond evt="onClick" delay="0">
                    <p:tgtEl>
                      <p:spTgt spid="30"/>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0"/>
                                        </p:tgtEl>
                                      </p:cBhvr>
                                    </p:animEffect>
                                    <p:set>
                                      <p:cBhvr>
                                        <p:cTn id="19"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20" restart="whenNotActive" fill="hold" evtFilter="cancelBubble" nodeType="interactiveSeq">
                <p:stCondLst>
                  <p:cond evt="onClick" delay="0">
                    <p:tgtEl>
                      <p:spTgt spid="31"/>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31"/>
                                        </p:tgtEl>
                                      </p:cBhvr>
                                    </p:animEffect>
                                    <p:set>
                                      <p:cBhvr>
                                        <p:cTn id="25"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28" grpId="0" animBg="1"/>
      <p:bldP spid="29" grpId="0" animBg="1"/>
      <p:bldP spid="30" grpId="0" animBg="1"/>
      <p:bldP spid="31" grpId="0" animBg="1"/>
    </p:bldLst>
  </p:timing>
</p:sld>
</file>

<file path=ppt/c8/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Getting a single term in the expansion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91544" y="958165"/>
                <a:ext cx="7800156" cy="86260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The coefficient of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4</m:t>
                        </m:r>
                      </m:sup>
                    </m:sSup>
                  </m:oMath>
                </a14:m>
                <a:r>
                  <a:rPr lang="en-GB" sz="2400" dirty="0"/>
                  <a:t> in the expansion of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1+</m:t>
                            </m:r>
                            <m:r>
                              <a:rPr lang="en-GB" sz="2400" i="1">
                                <a:latin typeface="Cambria Math" panose="02040503050406030204" pitchFamily="18" charset="0"/>
                              </a:rPr>
                              <m:t>𝑞𝑥</m:t>
                            </m:r>
                          </m:e>
                        </m:d>
                      </m:e>
                      <m:sup>
                        <m:r>
                          <a:rPr lang="en-GB" sz="2400" i="1">
                            <a:latin typeface="Cambria Math" panose="02040503050406030204" pitchFamily="18" charset="0"/>
                          </a:rPr>
                          <m:t>10</m:t>
                        </m:r>
                      </m:sup>
                    </m:sSup>
                  </m:oMath>
                </a14:m>
                <a:r>
                  <a:rPr lang="en-GB" sz="2400" dirty="0"/>
                  <a:t> is 3360. Find the possible value(s) of the constant  </a:t>
                </a:r>
                <a14:m>
                  <m:oMath xmlns:m="http://schemas.openxmlformats.org/officeDocument/2006/math">
                    <m:r>
                      <a:rPr lang="en-GB" sz="2400" i="1">
                        <a:latin typeface="Cambria Math" panose="02040503050406030204" pitchFamily="18" charset="0"/>
                      </a:rPr>
                      <m:t>𝑞</m:t>
                    </m:r>
                  </m:oMath>
                </a14:m>
                <a:r>
                  <a:rPr lang="en-GB" sz="24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1991544" y="958165"/>
                <a:ext cx="7800156" cy="862608"/>
              </a:xfrm>
              <a:prstGeom prst="rect">
                <a:avLst/>
              </a:prstGeom>
              <a:blipFill>
                <a:blip r:embed="rId2"/>
                <a:stretch>
                  <a:fillRect b="-2410"/>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991544" y="2148203"/>
                <a:ext cx="7776864" cy="2936381"/>
              </a:xfrm>
              <a:prstGeom prst="rect">
                <a:avLst/>
              </a:prstGeom>
              <a:noFill/>
            </p:spPr>
            <p:txBody>
              <a:bodyPr wrap="square" rtlCol="0">
                <a:spAutoFit/>
              </a:bodyPr>
              <a:lstStyle/>
              <a:p>
                <a:r>
                  <a:rPr lang="en-GB" sz="2400" dirty="0"/>
                  <a:t>Term is:</a:t>
                </a:r>
              </a:p>
              <a:p>
                <a:pPr/>
                <a14:m>
                  <m:oMathPara xmlns:m="http://schemas.openxmlformats.org/officeDocument/2006/math">
                    <m:oMathParaPr>
                      <m:jc m:val="centerGroup"/>
                    </m:oMathParaPr>
                    <m:oMath xmlns:m="http://schemas.openxmlformats.org/officeDocument/2006/math">
                      <m:d>
                        <m:dPr>
                          <m:ctrlPr>
                            <a:rPr lang="en-GB" sz="2400" b="1" i="1">
                              <a:latin typeface="Cambria Math" panose="02040503050406030204" pitchFamily="18" charset="0"/>
                            </a:rPr>
                          </m:ctrlPr>
                        </m:dPr>
                        <m:e>
                          <m:m>
                            <m:mPr>
                              <m:plcHide m:val="on"/>
                              <m:mcs>
                                <m:mc>
                                  <m:mcPr>
                                    <m:count m:val="1"/>
                                    <m:mcJc m:val="center"/>
                                  </m:mcPr>
                                </m:mc>
                              </m:mcs>
                              <m:ctrlPr>
                                <a:rPr lang="en-GB" sz="2400" b="1" i="1">
                                  <a:latin typeface="Cambria Math" panose="02040503050406030204" pitchFamily="18" charset="0"/>
                                </a:rPr>
                              </m:ctrlPr>
                            </m:mPr>
                            <m:mr>
                              <m:e>
                                <m:r>
                                  <a:rPr lang="en-GB" sz="2400" b="1" i="1">
                                    <a:latin typeface="Cambria Math" panose="02040503050406030204" pitchFamily="18" charset="0"/>
                                  </a:rPr>
                                  <m:t>𝟏𝟎</m:t>
                                </m:r>
                              </m:e>
                            </m:mr>
                            <m:mr>
                              <m:e>
                                <m:r>
                                  <a:rPr lang="en-GB" sz="2400" b="1" i="1">
                                    <a:latin typeface="Cambria Math" panose="02040503050406030204" pitchFamily="18" charset="0"/>
                                  </a:rPr>
                                  <m:t>𝟒</m:t>
                                </m:r>
                              </m:e>
                            </m:mr>
                          </m:m>
                        </m:e>
                      </m:d>
                      <m:d>
                        <m:dPr>
                          <m:ctrlPr>
                            <a:rPr lang="en-GB" sz="2400" b="1" i="1">
                              <a:latin typeface="Cambria Math" panose="02040503050406030204" pitchFamily="18" charset="0"/>
                            </a:rPr>
                          </m:ctrlPr>
                        </m:dPr>
                        <m:e>
                          <m:sSup>
                            <m:sSupPr>
                              <m:ctrlPr>
                                <a:rPr lang="en-GB" sz="2400" b="1" i="1">
                                  <a:latin typeface="Cambria Math" panose="02040503050406030204" pitchFamily="18" charset="0"/>
                                </a:rPr>
                              </m:ctrlPr>
                            </m:sSupPr>
                            <m:e>
                              <m:r>
                                <a:rPr lang="en-GB" sz="2400" b="1" i="1">
                                  <a:latin typeface="Cambria Math" panose="02040503050406030204" pitchFamily="18" charset="0"/>
                                </a:rPr>
                                <m:t>𝟏</m:t>
                              </m:r>
                            </m:e>
                            <m:sup>
                              <m:r>
                                <a:rPr lang="en-GB" sz="2400" b="1" i="1">
                                  <a:latin typeface="Cambria Math" panose="02040503050406030204" pitchFamily="18" charset="0"/>
                                </a:rPr>
                                <m:t>𝟔</m:t>
                              </m:r>
                            </m:sup>
                          </m:sSup>
                        </m:e>
                      </m:d>
                      <m:sSup>
                        <m:sSupPr>
                          <m:ctrlPr>
                            <a:rPr lang="en-GB" sz="2400" b="1" i="1">
                              <a:latin typeface="Cambria Math" panose="02040503050406030204" pitchFamily="18" charset="0"/>
                            </a:rPr>
                          </m:ctrlPr>
                        </m:sSupPr>
                        <m:e>
                          <m:d>
                            <m:dPr>
                              <m:ctrlPr>
                                <a:rPr lang="en-GB" sz="2400" b="1" i="1">
                                  <a:latin typeface="Cambria Math" panose="02040503050406030204" pitchFamily="18" charset="0"/>
                                </a:rPr>
                              </m:ctrlPr>
                            </m:dPr>
                            <m:e>
                              <m:r>
                                <a:rPr lang="en-GB" sz="2400" b="1" i="1">
                                  <a:latin typeface="Cambria Math" panose="02040503050406030204" pitchFamily="18" charset="0"/>
                                </a:rPr>
                                <m:t>𝒒𝒙</m:t>
                              </m:r>
                            </m:e>
                          </m:d>
                        </m:e>
                        <m:sup>
                          <m:r>
                            <a:rPr lang="en-GB" sz="2400" b="1" i="1">
                              <a:latin typeface="Cambria Math" panose="02040503050406030204" pitchFamily="18" charset="0"/>
                            </a:rPr>
                            <m:t>𝟒</m:t>
                          </m:r>
                        </m:sup>
                      </m:sSup>
                      <m:r>
                        <a:rPr lang="en-GB" sz="2400" b="1" i="1">
                          <a:latin typeface="Cambria Math" panose="02040503050406030204" pitchFamily="18" charset="0"/>
                        </a:rPr>
                        <m:t>=</m:t>
                      </m:r>
                      <m:r>
                        <a:rPr lang="en-GB" sz="2400" b="1" i="1">
                          <a:latin typeface="Cambria Math" panose="02040503050406030204" pitchFamily="18" charset="0"/>
                        </a:rPr>
                        <m:t>𝟐𝟏𝟎</m:t>
                      </m:r>
                      <m:sSup>
                        <m:sSupPr>
                          <m:ctrlPr>
                            <a:rPr lang="en-GB" sz="2400" b="1" i="1">
                              <a:latin typeface="Cambria Math" panose="02040503050406030204" pitchFamily="18" charset="0"/>
                            </a:rPr>
                          </m:ctrlPr>
                        </m:sSupPr>
                        <m:e>
                          <m:r>
                            <a:rPr lang="en-GB" sz="2400" b="1" i="1">
                              <a:latin typeface="Cambria Math" panose="02040503050406030204" pitchFamily="18" charset="0"/>
                            </a:rPr>
                            <m:t>𝒒</m:t>
                          </m:r>
                        </m:e>
                        <m:sup>
                          <m:r>
                            <a:rPr lang="en-GB" sz="2400" b="1" i="1">
                              <a:latin typeface="Cambria Math" panose="02040503050406030204" pitchFamily="18" charset="0"/>
                            </a:rPr>
                            <m:t>𝟒</m:t>
                          </m:r>
                        </m:sup>
                      </m:sSup>
                      <m:sSup>
                        <m:sSupPr>
                          <m:ctrlPr>
                            <a:rPr lang="en-GB" sz="2400" b="1" i="1">
                              <a:latin typeface="Cambria Math" panose="02040503050406030204" pitchFamily="18" charset="0"/>
                            </a:rPr>
                          </m:ctrlPr>
                        </m:sSupPr>
                        <m:e>
                          <m:r>
                            <a:rPr lang="en-GB" sz="2400" b="1" i="1">
                              <a:latin typeface="Cambria Math" panose="02040503050406030204" pitchFamily="18" charset="0"/>
                            </a:rPr>
                            <m:t>𝒙</m:t>
                          </m:r>
                        </m:e>
                        <m:sup>
                          <m:r>
                            <a:rPr lang="en-GB" sz="2400" b="1" i="1">
                              <a:latin typeface="Cambria Math" panose="02040503050406030204" pitchFamily="18" charset="0"/>
                            </a:rPr>
                            <m:t>𝟒</m:t>
                          </m:r>
                        </m:sup>
                      </m:sSup>
                    </m:oMath>
                  </m:oMathPara>
                </a14:m>
                <a:endParaRPr lang="en-GB" sz="2400" b="1" dirty="0"/>
              </a:p>
              <a:p>
                <a:pPr marL="285750" indent="-285750">
                  <a:buFont typeface="Arial" panose="020B0604020202020204" pitchFamily="34" charset="0"/>
                  <a:buChar char="•"/>
                </a:pPr>
                <a:endParaRPr lang="en-GB" sz="2400" dirty="0"/>
              </a:p>
              <a:p>
                <a:r>
                  <a:rPr lang="en-GB" sz="2400" dirty="0"/>
                  <a:t>Therefore:</a:t>
                </a:r>
              </a:p>
              <a:p>
                <a:pPr/>
                <a14:m>
                  <m:oMathPara xmlns:m="http://schemas.openxmlformats.org/officeDocument/2006/math">
                    <m:oMathParaPr>
                      <m:jc m:val="centerGroup"/>
                    </m:oMathParaPr>
                    <m:oMath xmlns:m="http://schemas.openxmlformats.org/officeDocument/2006/math">
                      <m:r>
                        <a:rPr lang="en-GB" sz="2400" b="1" i="1">
                          <a:latin typeface="Cambria Math" panose="02040503050406030204" pitchFamily="18" charset="0"/>
                        </a:rPr>
                        <m:t>𝟐𝟏𝟎</m:t>
                      </m:r>
                      <m:sSup>
                        <m:sSupPr>
                          <m:ctrlPr>
                            <a:rPr lang="en-GB" sz="2400" b="1" i="1">
                              <a:latin typeface="Cambria Math" panose="02040503050406030204" pitchFamily="18" charset="0"/>
                            </a:rPr>
                          </m:ctrlPr>
                        </m:sSupPr>
                        <m:e>
                          <m:r>
                            <a:rPr lang="en-GB" sz="2400" b="1" i="1">
                              <a:latin typeface="Cambria Math" panose="02040503050406030204" pitchFamily="18" charset="0"/>
                            </a:rPr>
                            <m:t>𝒒</m:t>
                          </m:r>
                        </m:e>
                        <m:sup>
                          <m:r>
                            <a:rPr lang="en-GB" sz="2400" b="1" i="1">
                              <a:latin typeface="Cambria Math" panose="02040503050406030204" pitchFamily="18" charset="0"/>
                            </a:rPr>
                            <m:t>𝟒</m:t>
                          </m:r>
                        </m:sup>
                      </m:sSup>
                      <m:r>
                        <a:rPr lang="en-GB" sz="2400" b="1" i="1">
                          <a:latin typeface="Cambria Math" panose="02040503050406030204" pitchFamily="18" charset="0"/>
                        </a:rPr>
                        <m:t>=</m:t>
                      </m:r>
                      <m:r>
                        <a:rPr lang="en-GB" sz="2400" b="1" i="1">
                          <a:latin typeface="Cambria Math" panose="02040503050406030204" pitchFamily="18" charset="0"/>
                        </a:rPr>
                        <m:t>𝟑𝟑𝟔𝟎</m:t>
                      </m:r>
                    </m:oMath>
                    <m:oMath xmlns:m="http://schemas.openxmlformats.org/officeDocument/2006/math">
                      <m:sSup>
                        <m:sSupPr>
                          <m:ctrlPr>
                            <a:rPr lang="en-GB" sz="2400" b="1" i="1">
                              <a:latin typeface="Cambria Math" panose="02040503050406030204" pitchFamily="18" charset="0"/>
                            </a:rPr>
                          </m:ctrlPr>
                        </m:sSupPr>
                        <m:e>
                          <m:r>
                            <a:rPr lang="en-GB" sz="2400" b="1" i="1">
                              <a:latin typeface="Cambria Math" panose="02040503050406030204" pitchFamily="18" charset="0"/>
                            </a:rPr>
                            <m:t>𝒒</m:t>
                          </m:r>
                        </m:e>
                        <m:sup>
                          <m:r>
                            <a:rPr lang="en-GB" sz="2400" b="1" i="1">
                              <a:latin typeface="Cambria Math" panose="02040503050406030204" pitchFamily="18" charset="0"/>
                            </a:rPr>
                            <m:t>𝟒</m:t>
                          </m:r>
                        </m:sup>
                      </m:sSup>
                      <m:r>
                        <a:rPr lang="en-GB" sz="2400" b="1" i="1">
                          <a:latin typeface="Cambria Math" panose="02040503050406030204" pitchFamily="18" charset="0"/>
                        </a:rPr>
                        <m:t>=</m:t>
                      </m:r>
                      <m:r>
                        <a:rPr lang="en-GB" sz="2400" b="1" i="1">
                          <a:latin typeface="Cambria Math" panose="02040503050406030204" pitchFamily="18" charset="0"/>
                        </a:rPr>
                        <m:t>𝟏𝟔</m:t>
                      </m:r>
                    </m:oMath>
                    <m:oMath xmlns:m="http://schemas.openxmlformats.org/officeDocument/2006/math">
                      <m:r>
                        <a:rPr lang="en-GB" sz="2400" b="1" i="1">
                          <a:latin typeface="Cambria Math" panose="02040503050406030204" pitchFamily="18" charset="0"/>
                        </a:rPr>
                        <m:t>𝒒</m:t>
                      </m:r>
                      <m:r>
                        <a:rPr lang="en-GB" sz="2400" b="1" i="1">
                          <a:latin typeface="Cambria Math" panose="02040503050406030204" pitchFamily="18" charset="0"/>
                        </a:rPr>
                        <m:t>=±</m:t>
                      </m:r>
                      <m:r>
                        <a:rPr lang="en-GB" sz="2400" b="1" i="1">
                          <a:latin typeface="Cambria Math" panose="02040503050406030204" pitchFamily="18" charset="0"/>
                        </a:rPr>
                        <m:t>𝟐</m:t>
                      </m:r>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1991544" y="2148203"/>
                <a:ext cx="7776864" cy="2936381"/>
              </a:xfrm>
              <a:prstGeom prst="rect">
                <a:avLst/>
              </a:prstGeom>
              <a:blipFill>
                <a:blip r:embed="rId3"/>
                <a:stretch>
                  <a:fillRect l="-1255" t="-1660" b="-830"/>
                </a:stretch>
              </a:blipFill>
            </p:spPr>
            <p:txBody>
              <a:bodyPr/>
              <a:lstStyle/>
              <a:p>
                <a:r>
                  <a:rPr lang="en-GB">
                    <a:noFill/>
                  </a:rPr>
                  <a:t> </a:t>
                </a:r>
              </a:p>
            </p:txBody>
          </p:sp>
        </mc:Fallback>
      </mc:AlternateContent>
      <p:sp>
        <p:nvSpPr>
          <p:cNvPr id="9" name="Rectangle 8"/>
          <p:cNvSpPr/>
          <p:nvPr/>
        </p:nvSpPr>
        <p:spPr>
          <a:xfrm>
            <a:off x="4007768" y="2492899"/>
            <a:ext cx="4032448" cy="85007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1" name="Rectangle 10"/>
          <p:cNvSpPr/>
          <p:nvPr/>
        </p:nvSpPr>
        <p:spPr>
          <a:xfrm>
            <a:off x="4007768" y="3782381"/>
            <a:ext cx="4032448" cy="145172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93530204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9" grpId="0" animBg="1"/>
      <p:bldP spid="11" grpId="0" animBg="1"/>
    </p:bldLst>
  </p:timing>
</p:sld>
</file>

<file path=ppt/c8/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1980911" y="851842"/>
                <a:ext cx="7800156"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2400" dirty="0"/>
                  <a:t>In the expansion of </a:t>
                </a:r>
                <a14:m>
                  <m:oMath xmlns:m="http://schemas.openxmlformats.org/officeDocument/2006/math">
                    <m:sSup>
                      <m:sSupPr>
                        <m:ctrlPr>
                          <a:rPr lang="en-GB" sz="2400" i="1">
                            <a:latin typeface="Cambria Math" panose="02040503050406030204" pitchFamily="18" charset="0"/>
                          </a:rPr>
                        </m:ctrlPr>
                      </m:sSupPr>
                      <m:e>
                        <m:d>
                          <m:dPr>
                            <m:ctrlPr>
                              <a:rPr lang="en-GB" sz="2400" i="1">
                                <a:latin typeface="Cambria Math" panose="02040503050406030204" pitchFamily="18" charset="0"/>
                              </a:rPr>
                            </m:ctrlPr>
                          </m:dPr>
                          <m:e>
                            <m:r>
                              <a:rPr lang="en-GB" sz="2400" i="1">
                                <a:latin typeface="Cambria Math" panose="02040503050406030204" pitchFamily="18" charset="0"/>
                              </a:rPr>
                              <m:t>1+</m:t>
                            </m:r>
                            <m:r>
                              <a:rPr lang="en-GB" sz="2400" i="1">
                                <a:latin typeface="Cambria Math" panose="02040503050406030204" pitchFamily="18" charset="0"/>
                              </a:rPr>
                              <m:t>𝑎𝑥</m:t>
                            </m:r>
                          </m:e>
                        </m:d>
                      </m:e>
                      <m:sup>
                        <m:r>
                          <a:rPr lang="en-GB" sz="2400" i="1">
                            <a:latin typeface="Cambria Math" panose="02040503050406030204" pitchFamily="18" charset="0"/>
                          </a:rPr>
                          <m:t>10</m:t>
                        </m:r>
                      </m:sup>
                    </m:sSup>
                  </m:oMath>
                </a14:m>
                <a:r>
                  <a:rPr lang="en-GB" sz="2400" dirty="0"/>
                  <a:t>, where </a:t>
                </a:r>
                <a14:m>
                  <m:oMath xmlns:m="http://schemas.openxmlformats.org/officeDocument/2006/math">
                    <m:r>
                      <a:rPr lang="en-GB" sz="2400" i="1">
                        <a:latin typeface="Cambria Math" panose="02040503050406030204" pitchFamily="18" charset="0"/>
                      </a:rPr>
                      <m:t>𝑎</m:t>
                    </m:r>
                  </m:oMath>
                </a14:m>
                <a:r>
                  <a:rPr lang="en-GB" sz="2400" dirty="0"/>
                  <a:t> is a non-zero constant the coefficient of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3</m:t>
                        </m:r>
                      </m:sup>
                    </m:sSup>
                  </m:oMath>
                </a14:m>
                <a:r>
                  <a:rPr lang="en-GB" sz="2400" dirty="0"/>
                  <a:t> is double the coefficient of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𝑥</m:t>
                        </m:r>
                      </m:e>
                      <m:sup>
                        <m:r>
                          <a:rPr lang="en-GB" sz="2400" i="1">
                            <a:latin typeface="Cambria Math" panose="02040503050406030204" pitchFamily="18" charset="0"/>
                          </a:rPr>
                          <m:t>2</m:t>
                        </m:r>
                      </m:sup>
                    </m:sSup>
                  </m:oMath>
                </a14:m>
                <a:r>
                  <a:rPr lang="en-GB" sz="2400" dirty="0"/>
                  <a:t>. Find the value of </a:t>
                </a:r>
                <a14:m>
                  <m:oMath xmlns:m="http://schemas.openxmlformats.org/officeDocument/2006/math">
                    <m:r>
                      <a:rPr lang="en-GB" sz="2400" i="1">
                        <a:latin typeface="Cambria Math" panose="02040503050406030204" pitchFamily="18" charset="0"/>
                      </a:rPr>
                      <m:t>𝑎</m:t>
                    </m:r>
                  </m:oMath>
                </a14:m>
                <a:r>
                  <a:rPr lang="en-GB" sz="2400"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1980911" y="851842"/>
                <a:ext cx="7800156" cy="1200329"/>
              </a:xfrm>
              <a:prstGeom prst="rect">
                <a:avLst/>
              </a:prstGeom>
              <a:blipFill>
                <a:blip r:embed="rId2"/>
                <a:stretch>
                  <a:fillRect b="-3587"/>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201776" y="2529636"/>
                <a:ext cx="5760640" cy="3309689"/>
              </a:xfrm>
              <a:prstGeom prst="rect">
                <a:avLst/>
              </a:prstGeom>
              <a:noFill/>
            </p:spPr>
            <p:txBody>
              <a:bodyPr wrap="square" rtlCol="0">
                <a:spAutoFit/>
              </a:bodyPr>
              <a:lstStyle/>
              <a:p>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a14:m>
                <a:r>
                  <a:rPr lang="en-GB" dirty="0"/>
                  <a:t> term: 		</a:t>
                </a:r>
                <a14:m>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10</m:t>
                              </m:r>
                            </m:e>
                          </m:mr>
                          <m:mr>
                            <m:e>
                              <m:r>
                                <a:rPr lang="en-GB" i="1">
                                  <a:latin typeface="Cambria Math" panose="02040503050406030204" pitchFamily="18" charset="0"/>
                                </a:rPr>
                                <m:t>2</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1</m:t>
                            </m:r>
                          </m:e>
                          <m:sup>
                            <m:r>
                              <a:rPr lang="en-GB" i="1">
                                <a:latin typeface="Cambria Math" panose="02040503050406030204" pitchFamily="18" charset="0"/>
                              </a:rPr>
                              <m:t>8</m:t>
                            </m:r>
                          </m:sup>
                        </m:sSup>
                      </m:e>
                    </m:d>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𝑎𝑥</m:t>
                            </m:r>
                          </m:e>
                        </m:d>
                      </m:e>
                      <m:sup>
                        <m:r>
                          <a:rPr lang="en-GB" i="1">
                            <a:latin typeface="Cambria Math" panose="02040503050406030204" pitchFamily="18" charset="0"/>
                          </a:rPr>
                          <m:t>2</m:t>
                        </m:r>
                      </m:sup>
                    </m:sSup>
                    <m:r>
                      <a:rPr lang="en-GB" i="1">
                        <a:latin typeface="Cambria Math" panose="02040503050406030204" pitchFamily="18" charset="0"/>
                      </a:rPr>
                      <m:t>=45</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2</m:t>
                        </m:r>
                      </m:sup>
                    </m:sSup>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oMath>
                </a14:m>
                <a:endParaRPr lang="en-GB" dirty="0"/>
              </a:p>
              <a:p>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oMath>
                </a14:m>
                <a:r>
                  <a:rPr lang="en-GB" dirty="0"/>
                  <a:t> term:		 </a:t>
                </a:r>
                <a14:m>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10</m:t>
                              </m:r>
                            </m:e>
                          </m:mr>
                          <m:mr>
                            <m:e>
                              <m:r>
                                <a:rPr lang="en-GB" i="1">
                                  <a:latin typeface="Cambria Math" panose="02040503050406030204" pitchFamily="18" charset="0"/>
                                </a:rPr>
                                <m:t>3</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1</m:t>
                            </m:r>
                          </m:e>
                          <m:sup>
                            <m:r>
                              <a:rPr lang="en-GB" i="1">
                                <a:latin typeface="Cambria Math" panose="02040503050406030204" pitchFamily="18" charset="0"/>
                              </a:rPr>
                              <m:t>7</m:t>
                            </m:r>
                          </m:sup>
                        </m:sSup>
                      </m:e>
                    </m:d>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𝑎𝑥</m:t>
                            </m:r>
                          </m:e>
                        </m:d>
                      </m:e>
                      <m:sup>
                        <m:r>
                          <a:rPr lang="en-GB" i="1">
                            <a:latin typeface="Cambria Math" panose="02040503050406030204" pitchFamily="18" charset="0"/>
                          </a:rPr>
                          <m:t>3</m:t>
                        </m:r>
                      </m:sup>
                    </m:sSup>
                    <m:r>
                      <a:rPr lang="en-GB" i="1">
                        <a:latin typeface="Cambria Math" panose="02040503050406030204" pitchFamily="18" charset="0"/>
                      </a:rPr>
                      <m:t>=120</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3</m:t>
                        </m:r>
                      </m:sup>
                    </m:sSup>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oMath>
                </a14:m>
                <a:endParaRPr lang="en-GB" dirty="0"/>
              </a:p>
              <a:p>
                <a:endParaRPr lang="en-GB" dirty="0"/>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∴120</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3</m:t>
                          </m:r>
                        </m:sup>
                      </m:sSup>
                      <m:r>
                        <a:rPr lang="en-GB" i="1">
                          <a:latin typeface="Cambria Math" panose="02040503050406030204" pitchFamily="18" charset="0"/>
                        </a:rPr>
                        <m:t>=2</m:t>
                      </m:r>
                      <m:d>
                        <m:dPr>
                          <m:ctrlPr>
                            <a:rPr lang="en-GB" i="1">
                              <a:latin typeface="Cambria Math" panose="02040503050406030204" pitchFamily="18" charset="0"/>
                            </a:rPr>
                          </m:ctrlPr>
                        </m:dPr>
                        <m:e>
                          <m:r>
                            <a:rPr lang="en-GB" i="1">
                              <a:latin typeface="Cambria Math" panose="02040503050406030204" pitchFamily="18" charset="0"/>
                            </a:rPr>
                            <m:t>45</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2</m:t>
                              </m:r>
                            </m:sup>
                          </m:sSup>
                        </m:e>
                      </m:d>
                    </m:oMath>
                    <m:oMath xmlns:m="http://schemas.openxmlformats.org/officeDocument/2006/math">
                      <m:r>
                        <a:rPr lang="en-GB" i="1">
                          <a:latin typeface="Cambria Math" panose="02040503050406030204" pitchFamily="18" charset="0"/>
                        </a:rPr>
                        <m:t>120</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3</m:t>
                          </m:r>
                        </m:sup>
                      </m:sSup>
                      <m:r>
                        <a:rPr lang="en-GB" i="1">
                          <a:latin typeface="Cambria Math" panose="02040503050406030204" pitchFamily="18" charset="0"/>
                        </a:rPr>
                        <m:t>=90</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2</m:t>
                          </m:r>
                        </m:sup>
                      </m:sSup>
                    </m:oMath>
                    <m:oMath xmlns:m="http://schemas.openxmlformats.org/officeDocument/2006/math">
                      <m:r>
                        <a:rPr lang="en-GB" i="1">
                          <a:latin typeface="Cambria Math" panose="02040503050406030204" pitchFamily="18" charset="0"/>
                        </a:rPr>
                        <m:t>4</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3</m:t>
                          </m:r>
                        </m:sup>
                      </m:sSup>
                      <m:r>
                        <a:rPr lang="en-GB" i="1">
                          <a:latin typeface="Cambria Math" panose="02040503050406030204" pitchFamily="18" charset="0"/>
                        </a:rPr>
                        <m:t>−3</m:t>
                      </m:r>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2</m:t>
                          </m:r>
                        </m:sup>
                      </m:sSup>
                      <m:r>
                        <a:rPr lang="en-GB" i="1">
                          <a:latin typeface="Cambria Math" panose="02040503050406030204" pitchFamily="18" charset="0"/>
                        </a:rPr>
                        <m:t>=0</m:t>
                      </m:r>
                    </m:oMath>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𝑎</m:t>
                          </m:r>
                        </m:e>
                        <m:sup>
                          <m:r>
                            <a:rPr lang="en-GB" i="1">
                              <a:latin typeface="Cambria Math" panose="02040503050406030204" pitchFamily="18" charset="0"/>
                            </a:rPr>
                            <m:t>2</m:t>
                          </m:r>
                        </m:sup>
                      </m:sSup>
                      <m:d>
                        <m:dPr>
                          <m:ctrlPr>
                            <a:rPr lang="en-GB" i="1">
                              <a:latin typeface="Cambria Math" panose="02040503050406030204" pitchFamily="18" charset="0"/>
                            </a:rPr>
                          </m:ctrlPr>
                        </m:dPr>
                        <m:e>
                          <m:r>
                            <a:rPr lang="en-GB" i="1">
                              <a:latin typeface="Cambria Math" panose="02040503050406030204" pitchFamily="18" charset="0"/>
                            </a:rPr>
                            <m:t>4</m:t>
                          </m:r>
                          <m:r>
                            <a:rPr lang="en-GB" i="1">
                              <a:latin typeface="Cambria Math" panose="02040503050406030204" pitchFamily="18" charset="0"/>
                            </a:rPr>
                            <m:t>𝑎</m:t>
                          </m:r>
                          <m:r>
                            <a:rPr lang="en-GB" i="1">
                              <a:latin typeface="Cambria Math" panose="02040503050406030204" pitchFamily="18" charset="0"/>
                            </a:rPr>
                            <m:t>−3</m:t>
                          </m:r>
                        </m:e>
                      </m:d>
                      <m:r>
                        <a:rPr lang="en-GB" i="1">
                          <a:latin typeface="Cambria Math" panose="02040503050406030204" pitchFamily="18" charset="0"/>
                        </a:rPr>
                        <m:t>=0</m:t>
                      </m:r>
                    </m:oMath>
                    <m:oMath xmlns:m="http://schemas.openxmlformats.org/officeDocument/2006/math">
                      <m:r>
                        <a:rPr lang="en-GB" i="1">
                          <a:latin typeface="Cambria Math" panose="02040503050406030204" pitchFamily="18" charset="0"/>
                        </a:rPr>
                        <m:t>𝑎</m:t>
                      </m:r>
                      <m:r>
                        <a:rPr lang="en-GB" i="1">
                          <a:latin typeface="Cambria Math" panose="02040503050406030204" pitchFamily="18" charset="0"/>
                        </a:rPr>
                        <m:t>=0 </m:t>
                      </m:r>
                      <m:r>
                        <a:rPr lang="en-GB" i="1">
                          <a:latin typeface="Cambria Math" panose="02040503050406030204" pitchFamily="18" charset="0"/>
                        </a:rPr>
                        <m:t>𝑜𝑟</m:t>
                      </m:r>
                      <m:r>
                        <a:rPr lang="en-GB" i="1">
                          <a:latin typeface="Cambria Math" panose="02040503050406030204" pitchFamily="18" charset="0"/>
                        </a:rPr>
                        <m:t> </m:t>
                      </m:r>
                      <m:r>
                        <a:rPr lang="en-GB" i="1">
                          <a:latin typeface="Cambria Math" panose="02040503050406030204" pitchFamily="18" charset="0"/>
                        </a:rPr>
                        <m:t>𝑎</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4</m:t>
                          </m:r>
                        </m:den>
                      </m:f>
                    </m:oMath>
                  </m:oMathPara>
                </a14:m>
                <a:endParaRPr lang="en-GB" dirty="0"/>
              </a:p>
              <a:p>
                <a:r>
                  <a:rPr lang="en-GB" dirty="0"/>
                  <a:t>But </a:t>
                </a:r>
                <a14:m>
                  <m:oMath xmlns:m="http://schemas.openxmlformats.org/officeDocument/2006/math">
                    <m:r>
                      <a:rPr lang="en-GB" i="1">
                        <a:latin typeface="Cambria Math" panose="02040503050406030204" pitchFamily="18" charset="0"/>
                      </a:rPr>
                      <m:t>𝑎</m:t>
                    </m:r>
                  </m:oMath>
                </a14:m>
                <a:r>
                  <a:rPr lang="en-GB" dirty="0"/>
                  <a:t> is non-zero, so </a:t>
                </a:r>
                <a14:m>
                  <m:oMath xmlns:m="http://schemas.openxmlformats.org/officeDocument/2006/math">
                    <m:r>
                      <a:rPr lang="en-GB" i="1">
                        <a:latin typeface="Cambria Math" panose="02040503050406030204" pitchFamily="18" charset="0"/>
                      </a:rPr>
                      <m:t>𝑎</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4</m:t>
                        </m:r>
                      </m:den>
                    </m:f>
                  </m:oMath>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2201776" y="2529636"/>
                <a:ext cx="5760640" cy="3309689"/>
              </a:xfrm>
              <a:prstGeom prst="rect">
                <a:avLst/>
              </a:prstGeom>
              <a:blipFill>
                <a:blip r:embed="rId3"/>
                <a:stretch>
                  <a:fillRect l="-847" b="-368"/>
                </a:stretch>
              </a:blipFill>
            </p:spPr>
            <p:txBody>
              <a:bodyPr/>
              <a:lstStyle/>
              <a:p>
                <a:r>
                  <a:rPr lang="en-GB">
                    <a:noFill/>
                  </a:rPr>
                  <a:t> </a:t>
                </a:r>
              </a:p>
            </p:txBody>
          </p:sp>
        </mc:Fallback>
      </mc:AlternateContent>
      <p:sp>
        <p:nvSpPr>
          <p:cNvPr id="7" name="Rectangle 6"/>
          <p:cNvSpPr/>
          <p:nvPr/>
        </p:nvSpPr>
        <p:spPr>
          <a:xfrm>
            <a:off x="1980911" y="2052168"/>
            <a:ext cx="7800156" cy="389711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4791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childTnLst>
        </p:cTn>
      </p:par>
    </p:tnLst>
    <p:bldLst>
      <p:bldP spid="7" grpId="0" animBg="1"/>
      <p:bldP spid="7" grpId="1" animBg="1"/>
    </p:bldLst>
  </p:timing>
</p:sld>
</file>

<file path=ppt/c8/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8D – Y1 page 166-167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0" name="Group 9">
            <a:extLst>
              <a:ext uri="{FF2B5EF4-FFF2-40B4-BE49-F238E27FC236}">
                <a16:creationId xmlns:a16="http://schemas.microsoft.com/office/drawing/2014/main" id="{71A0ADA8-959F-5F21-A90A-360D37B6CB4F}"/>
              </a:ext>
            </a:extLst>
          </p:cNvPr>
          <p:cNvGrpSpPr/>
          <p:nvPr/>
        </p:nvGrpSpPr>
        <p:grpSpPr>
          <a:xfrm>
            <a:off x="1522856" y="599126"/>
            <a:ext cx="9144000" cy="1507186"/>
            <a:chOff x="-1144" y="599126"/>
            <a:chExt cx="9144000" cy="1507186"/>
          </a:xfrm>
        </p:grpSpPr>
        <p:pic>
          <p:nvPicPr>
            <p:cNvPr id="6" name="Picture 5">
              <a:extLst>
                <a:ext uri="{FF2B5EF4-FFF2-40B4-BE49-F238E27FC236}">
                  <a16:creationId xmlns:a16="http://schemas.microsoft.com/office/drawing/2014/main" id="{FB24291D-157A-CA85-B630-6A4295CD1D0B}"/>
                </a:ext>
              </a:extLst>
            </p:cNvPr>
            <p:cNvPicPr>
              <a:picLocks noChangeAspect="1"/>
            </p:cNvPicPr>
            <p:nvPr/>
          </p:nvPicPr>
          <p:blipFill>
            <a:blip r:embed="rId2"/>
            <a:stretch>
              <a:fillRect/>
            </a:stretch>
          </p:blipFill>
          <p:spPr>
            <a:xfrm>
              <a:off x="-1144" y="599126"/>
              <a:ext cx="9144000" cy="299936"/>
            </a:xfrm>
            <a:prstGeom prst="rect">
              <a:avLst/>
            </a:prstGeom>
          </p:spPr>
        </p:pic>
        <p:pic>
          <p:nvPicPr>
            <p:cNvPr id="8" name="Picture 7">
              <a:extLst>
                <a:ext uri="{FF2B5EF4-FFF2-40B4-BE49-F238E27FC236}">
                  <a16:creationId xmlns:a16="http://schemas.microsoft.com/office/drawing/2014/main" id="{2C488979-FA63-830D-3BA2-7FCA0B358C8D}"/>
                </a:ext>
              </a:extLst>
            </p:cNvPr>
            <p:cNvPicPr>
              <a:picLocks noChangeAspect="1"/>
            </p:cNvPicPr>
            <p:nvPr/>
          </p:nvPicPr>
          <p:blipFill>
            <a:blip r:embed="rId3"/>
            <a:stretch>
              <a:fillRect/>
            </a:stretch>
          </p:blipFill>
          <p:spPr>
            <a:xfrm>
              <a:off x="467544" y="910443"/>
              <a:ext cx="2592288" cy="1195869"/>
            </a:xfrm>
            <a:prstGeom prst="rect">
              <a:avLst/>
            </a:prstGeom>
          </p:spPr>
        </p:pic>
      </p:grpSp>
      <p:pic>
        <p:nvPicPr>
          <p:cNvPr id="12" name="Picture 11">
            <a:extLst>
              <a:ext uri="{FF2B5EF4-FFF2-40B4-BE49-F238E27FC236}">
                <a16:creationId xmlns:a16="http://schemas.microsoft.com/office/drawing/2014/main" id="{F24E0EF5-DFBD-3388-6400-DA861B9946BA}"/>
              </a:ext>
            </a:extLst>
          </p:cNvPr>
          <p:cNvPicPr>
            <a:picLocks noChangeAspect="1"/>
          </p:cNvPicPr>
          <p:nvPr/>
        </p:nvPicPr>
        <p:blipFill>
          <a:blip r:embed="rId4"/>
          <a:stretch>
            <a:fillRect/>
          </a:stretch>
        </p:blipFill>
        <p:spPr>
          <a:xfrm>
            <a:off x="1857159" y="2348880"/>
            <a:ext cx="4763165" cy="3772426"/>
          </a:xfrm>
          <a:prstGeom prst="rect">
            <a:avLst/>
          </a:prstGeom>
        </p:spPr>
      </p:pic>
      <p:pic>
        <p:nvPicPr>
          <p:cNvPr id="14" name="Picture 13">
            <a:extLst>
              <a:ext uri="{FF2B5EF4-FFF2-40B4-BE49-F238E27FC236}">
                <a16:creationId xmlns:a16="http://schemas.microsoft.com/office/drawing/2014/main" id="{F3BD06F1-5BA6-6EFC-B210-22242ACB8A3D}"/>
              </a:ext>
            </a:extLst>
          </p:cNvPr>
          <p:cNvPicPr>
            <a:picLocks noChangeAspect="1"/>
          </p:cNvPicPr>
          <p:nvPr/>
        </p:nvPicPr>
        <p:blipFill>
          <a:blip r:embed="rId5"/>
          <a:stretch>
            <a:fillRect/>
          </a:stretch>
        </p:blipFill>
        <p:spPr>
          <a:xfrm>
            <a:off x="7104112" y="2204867"/>
            <a:ext cx="3124636" cy="2791215"/>
          </a:xfrm>
          <a:prstGeom prst="rect">
            <a:avLst/>
          </a:prstGeom>
        </p:spPr>
      </p:pic>
      <p:sp>
        <p:nvSpPr>
          <p:cNvPr id="15" name="Rectangle 14">
            <a:extLst>
              <a:ext uri="{FF2B5EF4-FFF2-40B4-BE49-F238E27FC236}">
                <a16:creationId xmlns:a16="http://schemas.microsoft.com/office/drawing/2014/main" id="{94272D6E-B636-AE1B-28FB-FAF68F882606}"/>
              </a:ext>
            </a:extLst>
          </p:cNvPr>
          <p:cNvSpPr/>
          <p:nvPr/>
        </p:nvSpPr>
        <p:spPr>
          <a:xfrm>
            <a:off x="1805418" y="2204867"/>
            <a:ext cx="4866649" cy="432047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6" name="Rectangle 15">
            <a:extLst>
              <a:ext uri="{FF2B5EF4-FFF2-40B4-BE49-F238E27FC236}">
                <a16:creationId xmlns:a16="http://schemas.microsoft.com/office/drawing/2014/main" id="{AE2FE694-6135-9D4A-A920-212E9EF058F2}"/>
              </a:ext>
            </a:extLst>
          </p:cNvPr>
          <p:cNvSpPr/>
          <p:nvPr/>
        </p:nvSpPr>
        <p:spPr>
          <a:xfrm>
            <a:off x="7104115" y="2204866"/>
            <a:ext cx="3426489" cy="4320479"/>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67659302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childTnLst>
        </p:cTn>
      </p:par>
    </p:tnLst>
    <p:bldLst>
      <p:bldP spid="15" grpId="0" animBg="1"/>
      <p:bldP spid="16" grpId="0" animBg="1"/>
    </p:bldLst>
  </p:timing>
</p:sld>
</file>

<file path=ppt/c8/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8D – Y1 page 166-167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38EC2096-F6AE-9105-1401-021630AC8967}"/>
              </a:ext>
            </a:extLst>
          </p:cNvPr>
          <p:cNvPicPr>
            <a:picLocks noChangeAspect="1"/>
          </p:cNvPicPr>
          <p:nvPr/>
        </p:nvPicPr>
        <p:blipFill>
          <a:blip r:embed="rId2"/>
          <a:stretch>
            <a:fillRect/>
          </a:stretch>
        </p:blipFill>
        <p:spPr>
          <a:xfrm>
            <a:off x="1522856" y="619620"/>
            <a:ext cx="9144000" cy="1377491"/>
          </a:xfrm>
          <a:prstGeom prst="rect">
            <a:avLst/>
          </a:prstGeom>
        </p:spPr>
      </p:pic>
      <p:pic>
        <p:nvPicPr>
          <p:cNvPr id="14" name="Picture 13">
            <a:extLst>
              <a:ext uri="{FF2B5EF4-FFF2-40B4-BE49-F238E27FC236}">
                <a16:creationId xmlns:a16="http://schemas.microsoft.com/office/drawing/2014/main" id="{E8726E32-14B2-E4DD-75F3-9CCA8D2EA9C2}"/>
              </a:ext>
            </a:extLst>
          </p:cNvPr>
          <p:cNvPicPr>
            <a:picLocks noChangeAspect="1"/>
          </p:cNvPicPr>
          <p:nvPr/>
        </p:nvPicPr>
        <p:blipFill>
          <a:blip r:embed="rId3"/>
          <a:stretch>
            <a:fillRect/>
          </a:stretch>
        </p:blipFill>
        <p:spPr>
          <a:xfrm>
            <a:off x="2279576" y="2204867"/>
            <a:ext cx="5664470" cy="3745487"/>
          </a:xfrm>
          <a:prstGeom prst="rect">
            <a:avLst/>
          </a:prstGeom>
        </p:spPr>
      </p:pic>
      <p:sp>
        <p:nvSpPr>
          <p:cNvPr id="16" name="Rectangle 15">
            <a:extLst>
              <a:ext uri="{FF2B5EF4-FFF2-40B4-BE49-F238E27FC236}">
                <a16:creationId xmlns:a16="http://schemas.microsoft.com/office/drawing/2014/main" id="{842250C3-1D6E-D12E-DDBF-66D374BDF287}"/>
              </a:ext>
            </a:extLst>
          </p:cNvPr>
          <p:cNvSpPr/>
          <p:nvPr/>
        </p:nvSpPr>
        <p:spPr>
          <a:xfrm>
            <a:off x="1805418" y="2204865"/>
            <a:ext cx="8395041" cy="122413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7" name="Rectangle 16">
            <a:extLst>
              <a:ext uri="{FF2B5EF4-FFF2-40B4-BE49-F238E27FC236}">
                <a16:creationId xmlns:a16="http://schemas.microsoft.com/office/drawing/2014/main" id="{5B4E05DF-F46F-28BB-41E8-B7BD27A2D879}"/>
              </a:ext>
            </a:extLst>
          </p:cNvPr>
          <p:cNvSpPr/>
          <p:nvPr/>
        </p:nvSpPr>
        <p:spPr>
          <a:xfrm>
            <a:off x="1805418" y="3465539"/>
            <a:ext cx="8395041" cy="248481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17523516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6" grpId="0" animBg="1"/>
      <p:bldP spid="17" grpId="0" animBg="1"/>
    </p:bldLst>
  </p:timing>
</p:sld>
</file>

<file path=ppt/c8/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8D – Y1 page 166-167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F79795E7-C6FF-09F3-AA71-51485A4DE601}"/>
              </a:ext>
            </a:extLst>
          </p:cNvPr>
          <p:cNvPicPr>
            <a:picLocks noChangeAspect="1"/>
          </p:cNvPicPr>
          <p:nvPr/>
        </p:nvPicPr>
        <p:blipFill>
          <a:blip r:embed="rId2"/>
          <a:stretch>
            <a:fillRect/>
          </a:stretch>
        </p:blipFill>
        <p:spPr>
          <a:xfrm>
            <a:off x="1524000" y="603787"/>
            <a:ext cx="9144000" cy="1435988"/>
          </a:xfrm>
          <a:prstGeom prst="rect">
            <a:avLst/>
          </a:prstGeom>
        </p:spPr>
      </p:pic>
      <p:pic>
        <p:nvPicPr>
          <p:cNvPr id="8" name="Picture 7">
            <a:extLst>
              <a:ext uri="{FF2B5EF4-FFF2-40B4-BE49-F238E27FC236}">
                <a16:creationId xmlns:a16="http://schemas.microsoft.com/office/drawing/2014/main" id="{D0DD1A91-A8C2-8F5B-36E0-4E781240E752}"/>
              </a:ext>
            </a:extLst>
          </p:cNvPr>
          <p:cNvPicPr>
            <a:picLocks noChangeAspect="1"/>
          </p:cNvPicPr>
          <p:nvPr/>
        </p:nvPicPr>
        <p:blipFill>
          <a:blip r:embed="rId3"/>
          <a:stretch>
            <a:fillRect/>
          </a:stretch>
        </p:blipFill>
        <p:spPr>
          <a:xfrm>
            <a:off x="1919538" y="2204864"/>
            <a:ext cx="7205285" cy="3960440"/>
          </a:xfrm>
          <a:prstGeom prst="rect">
            <a:avLst/>
          </a:prstGeom>
        </p:spPr>
      </p:pic>
      <p:sp>
        <p:nvSpPr>
          <p:cNvPr id="10" name="Rectangle 9">
            <a:extLst>
              <a:ext uri="{FF2B5EF4-FFF2-40B4-BE49-F238E27FC236}">
                <a16:creationId xmlns:a16="http://schemas.microsoft.com/office/drawing/2014/main" id="{73517257-D105-A7FC-458A-57FA24858F38}"/>
              </a:ext>
            </a:extLst>
          </p:cNvPr>
          <p:cNvSpPr/>
          <p:nvPr/>
        </p:nvSpPr>
        <p:spPr>
          <a:xfrm>
            <a:off x="1805418" y="2204867"/>
            <a:ext cx="8395041" cy="122413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1" name="Rectangle 10">
            <a:extLst>
              <a:ext uri="{FF2B5EF4-FFF2-40B4-BE49-F238E27FC236}">
                <a16:creationId xmlns:a16="http://schemas.microsoft.com/office/drawing/2014/main" id="{6E52FC8B-E3AB-4873-7614-D6A2ABB681AD}"/>
              </a:ext>
            </a:extLst>
          </p:cNvPr>
          <p:cNvSpPr/>
          <p:nvPr/>
        </p:nvSpPr>
        <p:spPr>
          <a:xfrm>
            <a:off x="1811147" y="3501011"/>
            <a:ext cx="8395041" cy="265618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96975549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10" grpId="0" animBg="1"/>
      <p:bldP spid="11" grpId="0" animBg="1"/>
    </p:bldLst>
  </p:timing>
</p:sld>
</file>

<file path=ppt/c8/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8D – Y1 page 166-167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71C3975C-EEDB-CE4F-BB15-FDB98482A18F}"/>
              </a:ext>
            </a:extLst>
          </p:cNvPr>
          <p:cNvPicPr>
            <a:picLocks noChangeAspect="1"/>
          </p:cNvPicPr>
          <p:nvPr/>
        </p:nvPicPr>
        <p:blipFill>
          <a:blip r:embed="rId2"/>
          <a:stretch>
            <a:fillRect/>
          </a:stretch>
        </p:blipFill>
        <p:spPr>
          <a:xfrm>
            <a:off x="1556242" y="599129"/>
            <a:ext cx="9111724" cy="1407285"/>
          </a:xfrm>
          <a:prstGeom prst="rect">
            <a:avLst/>
          </a:prstGeom>
        </p:spPr>
      </p:pic>
      <p:pic>
        <p:nvPicPr>
          <p:cNvPr id="8" name="Picture 7">
            <a:extLst>
              <a:ext uri="{FF2B5EF4-FFF2-40B4-BE49-F238E27FC236}">
                <a16:creationId xmlns:a16="http://schemas.microsoft.com/office/drawing/2014/main" id="{714ADC70-1424-EC37-9AF8-1108C3B82340}"/>
              </a:ext>
            </a:extLst>
          </p:cNvPr>
          <p:cNvPicPr>
            <a:picLocks noChangeAspect="1"/>
          </p:cNvPicPr>
          <p:nvPr/>
        </p:nvPicPr>
        <p:blipFill>
          <a:blip r:embed="rId3"/>
          <a:stretch>
            <a:fillRect/>
          </a:stretch>
        </p:blipFill>
        <p:spPr>
          <a:xfrm>
            <a:off x="1991547" y="2006411"/>
            <a:ext cx="5410955" cy="2600688"/>
          </a:xfrm>
          <a:prstGeom prst="rect">
            <a:avLst/>
          </a:prstGeom>
        </p:spPr>
      </p:pic>
      <p:sp>
        <p:nvSpPr>
          <p:cNvPr id="10" name="Rectangle 9">
            <a:extLst>
              <a:ext uri="{FF2B5EF4-FFF2-40B4-BE49-F238E27FC236}">
                <a16:creationId xmlns:a16="http://schemas.microsoft.com/office/drawing/2014/main" id="{425389A8-DE6C-17DB-E97B-0EB252903D4C}"/>
              </a:ext>
            </a:extLst>
          </p:cNvPr>
          <p:cNvSpPr/>
          <p:nvPr/>
        </p:nvSpPr>
        <p:spPr>
          <a:xfrm>
            <a:off x="1837755" y="2027856"/>
            <a:ext cx="8395041" cy="122413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1" name="Rectangle 10">
            <a:extLst>
              <a:ext uri="{FF2B5EF4-FFF2-40B4-BE49-F238E27FC236}">
                <a16:creationId xmlns:a16="http://schemas.microsoft.com/office/drawing/2014/main" id="{677D5378-D156-8AD9-C153-EBAF29B793F3}"/>
              </a:ext>
            </a:extLst>
          </p:cNvPr>
          <p:cNvSpPr/>
          <p:nvPr/>
        </p:nvSpPr>
        <p:spPr>
          <a:xfrm>
            <a:off x="1837754" y="3394955"/>
            <a:ext cx="8395041" cy="265618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26970356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10" grpId="0" animBg="1"/>
      <p:bldP spid="11" grpId="0" animBg="1"/>
    </p:bldLst>
  </p:timing>
</p:sld>
</file>

<file path=ppt/c8/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8D – Y1 page 166-167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77A5D198-76D0-3846-0FF4-D297CCD2FD18}"/>
              </a:ext>
            </a:extLst>
          </p:cNvPr>
          <p:cNvPicPr>
            <a:picLocks noChangeAspect="1"/>
          </p:cNvPicPr>
          <p:nvPr/>
        </p:nvPicPr>
        <p:blipFill>
          <a:blip r:embed="rId2"/>
          <a:stretch>
            <a:fillRect/>
          </a:stretch>
        </p:blipFill>
        <p:spPr>
          <a:xfrm>
            <a:off x="1524000" y="599126"/>
            <a:ext cx="9144000" cy="1475742"/>
          </a:xfrm>
          <a:prstGeom prst="rect">
            <a:avLst/>
          </a:prstGeom>
        </p:spPr>
      </p:pic>
      <p:pic>
        <p:nvPicPr>
          <p:cNvPr id="8" name="Picture 7">
            <a:extLst>
              <a:ext uri="{FF2B5EF4-FFF2-40B4-BE49-F238E27FC236}">
                <a16:creationId xmlns:a16="http://schemas.microsoft.com/office/drawing/2014/main" id="{E96DB054-DD08-DEFB-9A28-3565A7555F43}"/>
              </a:ext>
            </a:extLst>
          </p:cNvPr>
          <p:cNvPicPr>
            <a:picLocks noChangeAspect="1"/>
          </p:cNvPicPr>
          <p:nvPr/>
        </p:nvPicPr>
        <p:blipFill>
          <a:blip r:embed="rId3"/>
          <a:stretch>
            <a:fillRect/>
          </a:stretch>
        </p:blipFill>
        <p:spPr>
          <a:xfrm>
            <a:off x="2135560" y="2086252"/>
            <a:ext cx="5112568" cy="4605681"/>
          </a:xfrm>
          <a:prstGeom prst="rect">
            <a:avLst/>
          </a:prstGeom>
        </p:spPr>
      </p:pic>
      <p:sp>
        <p:nvSpPr>
          <p:cNvPr id="10" name="Rectangle 9">
            <a:extLst>
              <a:ext uri="{FF2B5EF4-FFF2-40B4-BE49-F238E27FC236}">
                <a16:creationId xmlns:a16="http://schemas.microsoft.com/office/drawing/2014/main" id="{EC614119-0313-67C7-4753-C585B593B22E}"/>
              </a:ext>
            </a:extLst>
          </p:cNvPr>
          <p:cNvSpPr/>
          <p:nvPr/>
        </p:nvSpPr>
        <p:spPr>
          <a:xfrm>
            <a:off x="1805418" y="2204865"/>
            <a:ext cx="8395041" cy="100811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1" name="Rectangle 10">
            <a:extLst>
              <a:ext uri="{FF2B5EF4-FFF2-40B4-BE49-F238E27FC236}">
                <a16:creationId xmlns:a16="http://schemas.microsoft.com/office/drawing/2014/main" id="{ABF3DA46-2AA4-0012-CCFA-063FD259CA44}"/>
              </a:ext>
            </a:extLst>
          </p:cNvPr>
          <p:cNvSpPr/>
          <p:nvPr/>
        </p:nvSpPr>
        <p:spPr>
          <a:xfrm>
            <a:off x="1805417" y="3331593"/>
            <a:ext cx="8395041" cy="3371718"/>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91105643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10" grpId="0" animBg="1"/>
      <p:bldP spid="11" grpId="0" animBg="1"/>
    </p:bldLst>
  </p:timing>
</p:sld>
</file>

<file path=ppt/c8/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8D – Y1 page 166-167</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0" name="Group 9">
            <a:extLst>
              <a:ext uri="{FF2B5EF4-FFF2-40B4-BE49-F238E27FC236}">
                <a16:creationId xmlns:a16="http://schemas.microsoft.com/office/drawing/2014/main" id="{D569DC36-2D7A-FDF7-A664-96A6EAD00A2F}"/>
              </a:ext>
            </a:extLst>
          </p:cNvPr>
          <p:cNvGrpSpPr/>
          <p:nvPr/>
        </p:nvGrpSpPr>
        <p:grpSpPr>
          <a:xfrm>
            <a:off x="1524000" y="692696"/>
            <a:ext cx="9144000" cy="936104"/>
            <a:chOff x="0" y="692696"/>
            <a:chExt cx="9144000" cy="936104"/>
          </a:xfrm>
        </p:grpSpPr>
        <p:pic>
          <p:nvPicPr>
            <p:cNvPr id="7" name="Picture 6">
              <a:extLst>
                <a:ext uri="{FF2B5EF4-FFF2-40B4-BE49-F238E27FC236}">
                  <a16:creationId xmlns:a16="http://schemas.microsoft.com/office/drawing/2014/main" id="{D78C2ABB-C588-1FF0-39E0-A229C92E8626}"/>
                </a:ext>
              </a:extLst>
            </p:cNvPr>
            <p:cNvPicPr>
              <a:picLocks noChangeAspect="1"/>
            </p:cNvPicPr>
            <p:nvPr/>
          </p:nvPicPr>
          <p:blipFill>
            <a:blip r:embed="rId2"/>
            <a:stretch>
              <a:fillRect/>
            </a:stretch>
          </p:blipFill>
          <p:spPr>
            <a:xfrm>
              <a:off x="0" y="692696"/>
              <a:ext cx="9144000" cy="795130"/>
            </a:xfrm>
            <a:prstGeom prst="rect">
              <a:avLst/>
            </a:prstGeom>
          </p:spPr>
        </p:pic>
        <p:sp>
          <p:nvSpPr>
            <p:cNvPr id="8" name="Rectangle 7">
              <a:extLst>
                <a:ext uri="{FF2B5EF4-FFF2-40B4-BE49-F238E27FC236}">
                  <a16:creationId xmlns:a16="http://schemas.microsoft.com/office/drawing/2014/main" id="{D784E78D-5E2B-ACE3-A186-49682C1540E6}"/>
                </a:ext>
              </a:extLst>
            </p:cNvPr>
            <p:cNvSpPr/>
            <p:nvPr/>
          </p:nvSpPr>
          <p:spPr>
            <a:xfrm>
              <a:off x="8208912" y="1029673"/>
              <a:ext cx="933944" cy="5991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3" name="Picture 12">
            <a:extLst>
              <a:ext uri="{FF2B5EF4-FFF2-40B4-BE49-F238E27FC236}">
                <a16:creationId xmlns:a16="http://schemas.microsoft.com/office/drawing/2014/main" id="{95890094-07FE-7233-12C4-C346F2308ABE}"/>
              </a:ext>
            </a:extLst>
          </p:cNvPr>
          <p:cNvPicPr>
            <a:picLocks noChangeAspect="1"/>
          </p:cNvPicPr>
          <p:nvPr/>
        </p:nvPicPr>
        <p:blipFill>
          <a:blip r:embed="rId3"/>
          <a:stretch>
            <a:fillRect/>
          </a:stretch>
        </p:blipFill>
        <p:spPr>
          <a:xfrm>
            <a:off x="1919539" y="1629100"/>
            <a:ext cx="4077269" cy="2991267"/>
          </a:xfrm>
          <a:prstGeom prst="rect">
            <a:avLst/>
          </a:prstGeom>
        </p:spPr>
      </p:pic>
      <p:sp>
        <p:nvSpPr>
          <p:cNvPr id="15" name="Rectangle 14">
            <a:extLst>
              <a:ext uri="{FF2B5EF4-FFF2-40B4-BE49-F238E27FC236}">
                <a16:creationId xmlns:a16="http://schemas.microsoft.com/office/drawing/2014/main" id="{C3847A06-E0CB-7885-DCC6-CEF4191704FE}"/>
              </a:ext>
            </a:extLst>
          </p:cNvPr>
          <p:cNvSpPr/>
          <p:nvPr/>
        </p:nvSpPr>
        <p:spPr>
          <a:xfrm>
            <a:off x="1811147" y="1592778"/>
            <a:ext cx="8395041" cy="320437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256857298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childTnLst>
        </p:cTn>
      </p:par>
    </p:tnLst>
    <p:bldLst>
      <p:bldP spid="15" grpId="0" animBg="1"/>
    </p:bldLst>
  </p:timing>
</p:sld>
</file>

<file path=ppt/c8/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Extension</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7" name="TextBox 6"/>
              <p:cNvSpPr txBox="1"/>
              <p:nvPr/>
            </p:nvSpPr>
            <p:spPr>
              <a:xfrm>
                <a:off x="1948756" y="1202335"/>
                <a:ext cx="4069928" cy="4453335"/>
              </a:xfrm>
              <a:prstGeom prst="rect">
                <a:avLst/>
              </a:prstGeom>
              <a:noFill/>
            </p:spPr>
            <p:txBody>
              <a:bodyPr wrap="square" rtlCol="0">
                <a:spAutoFit/>
              </a:bodyPr>
              <a:lstStyle/>
              <a:p>
                <a:r>
                  <a:rPr lang="en-GB" i="1" dirty="0"/>
                  <a:t>[MAT 2014 1G] </a:t>
                </a:r>
                <a:r>
                  <a:rPr lang="en-GB" dirty="0"/>
                  <a:t>Let </a:t>
                </a:r>
                <a14:m>
                  <m:oMath xmlns:m="http://schemas.openxmlformats.org/officeDocument/2006/math">
                    <m:r>
                      <a:rPr lang="en-GB" i="1">
                        <a:latin typeface="Cambria Math" panose="02040503050406030204" pitchFamily="18" charset="0"/>
                      </a:rPr>
                      <m:t>𝑛</m:t>
                    </m:r>
                  </m:oMath>
                </a14:m>
                <a:r>
                  <a:rPr lang="en-GB" dirty="0"/>
                  <a:t> be a positive integer. The coefficient of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5</m:t>
                        </m:r>
                      </m:sup>
                    </m:sSup>
                  </m:oMath>
                </a14:m>
                <a:r>
                  <a:rPr lang="en-GB" dirty="0"/>
                  <a:t> in the expansion of </a:t>
                </a: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1+</m:t>
                            </m:r>
                            <m:r>
                              <a:rPr lang="en-GB" i="1">
                                <a:latin typeface="Cambria Math" panose="02040503050406030204" pitchFamily="18" charset="0"/>
                              </a:rPr>
                              <m:t>𝑥𝑦</m:t>
                            </m:r>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2</m:t>
                                </m:r>
                              </m:sup>
                            </m:sSup>
                          </m:e>
                        </m:d>
                      </m:e>
                      <m:sup>
                        <m:r>
                          <a:rPr lang="en-GB" i="1">
                            <a:latin typeface="Cambria Math" panose="02040503050406030204" pitchFamily="18" charset="0"/>
                          </a:rPr>
                          <m:t>𝑛</m:t>
                        </m:r>
                      </m:sup>
                    </m:sSup>
                  </m:oMath>
                </a14:m>
                <a:r>
                  <a:rPr lang="en-GB" dirty="0"/>
                  <a:t> equals:</a:t>
                </a:r>
              </a:p>
              <a:p>
                <a:pPr marL="342900" indent="-342900">
                  <a:buAutoNum type="alphaUcParenR"/>
                </a:pPr>
                <a:r>
                  <a:rPr lang="en-GB" dirty="0"/>
                  <a:t> </a:t>
                </a:r>
                <a14:m>
                  <m:oMath xmlns:m="http://schemas.openxmlformats.org/officeDocument/2006/math">
                    <m:r>
                      <a:rPr lang="en-GB" i="1">
                        <a:latin typeface="Cambria Math" panose="02040503050406030204" pitchFamily="18" charset="0"/>
                      </a:rPr>
                      <m:t>𝑛</m:t>
                    </m:r>
                  </m:oMath>
                </a14:m>
                <a:endParaRPr lang="en-GB" dirty="0"/>
              </a:p>
              <a:p>
                <a:pPr marL="342900" indent="-342900">
                  <a:buAutoNum type="alphaUcParenR"/>
                </a:pPr>
                <a:r>
                  <a:rPr lang="en-GB" dirty="0"/>
                  <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𝑛</m:t>
                        </m:r>
                      </m:sup>
                    </m:sSup>
                  </m:oMath>
                </a14:m>
                <a:endParaRPr lang="en-GB" dirty="0"/>
              </a:p>
              <a:p>
                <a:pPr marL="342900" indent="-342900">
                  <a:buAutoNum type="alphaUcParenR"/>
                </a:pPr>
                <a:r>
                  <a:rPr lang="en-GB" dirty="0"/>
                  <a:t> </a:t>
                </a:r>
                <a14:m>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3</m:t>
                              </m:r>
                            </m:e>
                          </m:mr>
                        </m:m>
                      </m:e>
                    </m:d>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5</m:t>
                              </m:r>
                            </m:e>
                          </m:mr>
                        </m:m>
                      </m:e>
                    </m:d>
                  </m:oMath>
                </a14:m>
                <a:endParaRPr lang="en-GB" dirty="0"/>
              </a:p>
              <a:p>
                <a:pPr marL="342900" indent="-342900">
                  <a:buAutoNum type="alphaUcParenR"/>
                </a:pPr>
                <a:r>
                  <a:rPr lang="en-GB" dirty="0"/>
                  <a:t> </a:t>
                </a:r>
                <a14:m>
                  <m:oMath xmlns:m="http://schemas.openxmlformats.org/officeDocument/2006/math">
                    <m:r>
                      <a:rPr lang="en-GB" i="1">
                        <a:latin typeface="Cambria Math" panose="02040503050406030204" pitchFamily="18" charset="0"/>
                      </a:rPr>
                      <m:t>4</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4</m:t>
                              </m:r>
                            </m:e>
                          </m:mr>
                        </m:m>
                      </m:e>
                    </m:d>
                  </m:oMath>
                </a14:m>
                <a:endParaRPr lang="en-GB" dirty="0"/>
              </a:p>
              <a:p>
                <a:pPr marL="342900" indent="-342900">
                  <a:buAutoNum type="alphaUcParenR"/>
                </a:pPr>
                <a:r>
                  <a:rPr lang="en-GB" dirty="0"/>
                  <a:t> </a:t>
                </a:r>
                <a14:m>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8</m:t>
                              </m:r>
                            </m:e>
                          </m:mr>
                        </m:m>
                      </m:e>
                    </m:d>
                  </m:oMath>
                </a14:m>
                <a:endParaRPr lang="en-GB" dirty="0"/>
              </a:p>
              <a:p>
                <a:r>
                  <a:rPr lang="en-GB" sz="1400" b="1" dirty="0"/>
                  <a:t>Try to imagine </a:t>
                </a:r>
                <a14:m>
                  <m:oMath xmlns:m="http://schemas.openxmlformats.org/officeDocument/2006/math">
                    <m:r>
                      <a:rPr lang="en-GB" sz="1400" b="1" i="1">
                        <a:latin typeface="Cambria Math" panose="02040503050406030204" pitchFamily="18" charset="0"/>
                      </a:rPr>
                      <m:t>𝒏</m:t>
                    </m:r>
                  </m:oMath>
                </a14:m>
                <a:r>
                  <a:rPr lang="en-GB" sz="1400" b="1" dirty="0"/>
                  <a:t> brackets written out. To get </a:t>
                </a:r>
                <a14:m>
                  <m:oMath xmlns:m="http://schemas.openxmlformats.org/officeDocument/2006/math">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𝟑</m:t>
                        </m:r>
                      </m:sup>
                    </m:sSup>
                    <m:sSup>
                      <m:sSupPr>
                        <m:ctrlPr>
                          <a:rPr lang="en-GB" sz="1400" b="1" i="1">
                            <a:latin typeface="Cambria Math" panose="02040503050406030204" pitchFamily="18" charset="0"/>
                          </a:rPr>
                        </m:ctrlPr>
                      </m:sSupPr>
                      <m:e>
                        <m:r>
                          <a:rPr lang="en-GB" sz="1400" b="1" i="1">
                            <a:latin typeface="Cambria Math" panose="02040503050406030204" pitchFamily="18" charset="0"/>
                          </a:rPr>
                          <m:t>𝒚</m:t>
                        </m:r>
                      </m:e>
                      <m:sup>
                        <m:r>
                          <a:rPr lang="en-GB" sz="1400" b="1" i="1">
                            <a:latin typeface="Cambria Math" panose="02040503050406030204" pitchFamily="18" charset="0"/>
                          </a:rPr>
                          <m:t>𝟓</m:t>
                        </m:r>
                      </m:sup>
                    </m:sSup>
                  </m:oMath>
                </a14:m>
                <a:r>
                  <a:rPr lang="en-GB" sz="1400" b="1" dirty="0"/>
                  <a:t>, we must have chosen </a:t>
                </a:r>
                <a14:m>
                  <m:oMath xmlns:m="http://schemas.openxmlformats.org/officeDocument/2006/math">
                    <m:r>
                      <a:rPr lang="en-GB" sz="1400" b="1" i="1">
                        <a:latin typeface="Cambria Math" panose="02040503050406030204" pitchFamily="18" charset="0"/>
                      </a:rPr>
                      <m:t>𝒙𝒚</m:t>
                    </m:r>
                  </m:oMath>
                </a14:m>
                <a:r>
                  <a:rPr lang="en-GB" sz="1400" b="1" dirty="0"/>
                  <a:t> from 3 brackets, </a:t>
                </a:r>
                <a14:m>
                  <m:oMath xmlns:m="http://schemas.openxmlformats.org/officeDocument/2006/math">
                    <m:sSup>
                      <m:sSupPr>
                        <m:ctrlPr>
                          <a:rPr lang="en-GB" sz="1400" b="1" i="1">
                            <a:latin typeface="Cambria Math" panose="02040503050406030204" pitchFamily="18" charset="0"/>
                          </a:rPr>
                        </m:ctrlPr>
                      </m:sSupPr>
                      <m:e>
                        <m:r>
                          <a:rPr lang="en-GB" sz="1400" b="1" i="1">
                            <a:latin typeface="Cambria Math" panose="02040503050406030204" pitchFamily="18" charset="0"/>
                          </a:rPr>
                          <m:t>𝒚</m:t>
                        </m:r>
                      </m:e>
                      <m:sup>
                        <m:r>
                          <a:rPr lang="en-GB" sz="1400" b="1" i="1">
                            <a:latin typeface="Cambria Math" panose="02040503050406030204" pitchFamily="18" charset="0"/>
                          </a:rPr>
                          <m:t>𝟐</m:t>
                        </m:r>
                      </m:sup>
                    </m:sSup>
                  </m:oMath>
                </a14:m>
                <a:r>
                  <a:rPr lang="en-GB" sz="1400" b="1" dirty="0"/>
                  <a:t> from one and 1 from the remaining brackets. That’s </a:t>
                </a:r>
                <a14:m>
                  <m:oMath xmlns:m="http://schemas.openxmlformats.org/officeDocument/2006/math">
                    <m:d>
                      <m:dPr>
                        <m:ctrlPr>
                          <a:rPr lang="en-GB" sz="1400" b="1" i="1">
                            <a:latin typeface="Cambria Math" panose="02040503050406030204" pitchFamily="18" charset="0"/>
                          </a:rPr>
                        </m:ctrlPr>
                      </m:dPr>
                      <m:e>
                        <m:m>
                          <m:mPr>
                            <m:plcHide m:val="on"/>
                            <m:mcs>
                              <m:mc>
                                <m:mcPr>
                                  <m:count m:val="1"/>
                                  <m:mcJc m:val="center"/>
                                </m:mcPr>
                              </m:mc>
                            </m:mcs>
                            <m:ctrlPr>
                              <a:rPr lang="en-GB" sz="1400" b="1" i="1">
                                <a:latin typeface="Cambria Math" panose="02040503050406030204" pitchFamily="18" charset="0"/>
                              </a:rPr>
                            </m:ctrlPr>
                          </m:mPr>
                          <m:mr>
                            <m:e>
                              <m:r>
                                <a:rPr lang="en-GB" sz="1400" b="1" i="1">
                                  <a:latin typeface="Cambria Math" panose="02040503050406030204" pitchFamily="18" charset="0"/>
                                </a:rPr>
                                <m:t>𝒏</m:t>
                              </m:r>
                            </m:e>
                          </m:mr>
                          <m:mr>
                            <m:e>
                              <m:r>
                                <a:rPr lang="en-GB" sz="1400" b="1" i="1">
                                  <a:latin typeface="Cambria Math" panose="02040503050406030204" pitchFamily="18" charset="0"/>
                                </a:rPr>
                                <m:t>𝟑</m:t>
                              </m:r>
                            </m:e>
                          </m:mr>
                        </m:m>
                      </m:e>
                    </m:d>
                  </m:oMath>
                </a14:m>
                <a:r>
                  <a:rPr lang="en-GB" sz="1400" b="1" dirty="0"/>
                  <a:t> choices for the </a:t>
                </a:r>
                <a14:m>
                  <m:oMath xmlns:m="http://schemas.openxmlformats.org/officeDocument/2006/math">
                    <m:r>
                      <a:rPr lang="en-GB" sz="1400" b="1" i="1">
                        <a:latin typeface="Cambria Math" panose="02040503050406030204" pitchFamily="18" charset="0"/>
                      </a:rPr>
                      <m:t>𝒙𝒚</m:t>
                    </m:r>
                  </m:oMath>
                </a14:m>
                <a:r>
                  <a:rPr lang="en-GB" sz="1400" b="1" dirty="0"/>
                  <a:t> term, and </a:t>
                </a:r>
                <a14:m>
                  <m:oMath xmlns:m="http://schemas.openxmlformats.org/officeDocument/2006/math">
                    <m:r>
                      <a:rPr lang="en-GB" sz="1400" b="1" i="1">
                        <a:latin typeface="Cambria Math" panose="02040503050406030204" pitchFamily="18" charset="0"/>
                      </a:rPr>
                      <m:t>𝒏</m:t>
                    </m:r>
                    <m:r>
                      <a:rPr lang="en-GB" sz="1400" b="1" i="1">
                        <a:latin typeface="Cambria Math" panose="02040503050406030204" pitchFamily="18" charset="0"/>
                      </a:rPr>
                      <m:t>−</m:t>
                    </m:r>
                    <m:r>
                      <a:rPr lang="en-GB" sz="1400" b="1" i="1">
                        <a:latin typeface="Cambria Math" panose="02040503050406030204" pitchFamily="18" charset="0"/>
                      </a:rPr>
                      <m:t>𝟑</m:t>
                    </m:r>
                  </m:oMath>
                </a14:m>
                <a:r>
                  <a:rPr lang="en-GB" sz="1400" b="1" dirty="0"/>
                  <a:t> choices for the </a:t>
                </a:r>
                <a14:m>
                  <m:oMath xmlns:m="http://schemas.openxmlformats.org/officeDocument/2006/math">
                    <m:sSup>
                      <m:sSupPr>
                        <m:ctrlPr>
                          <a:rPr lang="en-GB" sz="1400" b="1" i="1">
                            <a:latin typeface="Cambria Math" panose="02040503050406030204" pitchFamily="18" charset="0"/>
                          </a:rPr>
                        </m:ctrlPr>
                      </m:sSupPr>
                      <m:e>
                        <m:r>
                          <a:rPr lang="en-GB" sz="1400" b="1" i="1">
                            <a:latin typeface="Cambria Math" panose="02040503050406030204" pitchFamily="18" charset="0"/>
                          </a:rPr>
                          <m:t>𝒚</m:t>
                        </m:r>
                      </m:e>
                      <m:sup>
                        <m:r>
                          <a:rPr lang="en-GB" sz="1400" b="1" i="1">
                            <a:latin typeface="Cambria Math" panose="02040503050406030204" pitchFamily="18" charset="0"/>
                          </a:rPr>
                          <m:t>𝟐</m:t>
                        </m:r>
                      </m:sup>
                    </m:sSup>
                  </m:oMath>
                </a14:m>
                <a:r>
                  <a:rPr lang="en-GB" sz="1400" b="1" dirty="0"/>
                  <a:t> term.</a:t>
                </a:r>
              </a:p>
              <a:p>
                <a:r>
                  <a:rPr lang="en-GB" sz="1400" b="1" dirty="0"/>
                  <a:t>Using the definition of the choose function, you can show that </a:t>
                </a:r>
                <a14:m>
                  <m:oMath xmlns:m="http://schemas.openxmlformats.org/officeDocument/2006/math">
                    <m:r>
                      <a:rPr lang="en-GB" sz="1400" b="1" i="1">
                        <a:latin typeface="Cambria Math" panose="02040503050406030204" pitchFamily="18" charset="0"/>
                      </a:rPr>
                      <m:t>𝟒</m:t>
                    </m:r>
                    <m:d>
                      <m:dPr>
                        <m:ctrlPr>
                          <a:rPr lang="en-GB" sz="1400" b="1" i="1">
                            <a:latin typeface="Cambria Math" panose="02040503050406030204" pitchFamily="18" charset="0"/>
                          </a:rPr>
                        </m:ctrlPr>
                      </m:dPr>
                      <m:e>
                        <m:m>
                          <m:mPr>
                            <m:plcHide m:val="on"/>
                            <m:mcs>
                              <m:mc>
                                <m:mcPr>
                                  <m:count m:val="1"/>
                                  <m:mcJc m:val="center"/>
                                </m:mcPr>
                              </m:mc>
                            </m:mcs>
                            <m:ctrlPr>
                              <a:rPr lang="en-GB" sz="1400" b="1" i="1">
                                <a:latin typeface="Cambria Math" panose="02040503050406030204" pitchFamily="18" charset="0"/>
                              </a:rPr>
                            </m:ctrlPr>
                          </m:mPr>
                          <m:mr>
                            <m:e>
                              <m:r>
                                <a:rPr lang="en-GB" sz="1400" b="1" i="1">
                                  <a:latin typeface="Cambria Math" panose="02040503050406030204" pitchFamily="18" charset="0"/>
                                </a:rPr>
                                <m:t>𝒏</m:t>
                              </m:r>
                            </m:e>
                          </m:mr>
                          <m:mr>
                            <m:e>
                              <m:r>
                                <a:rPr lang="en-GB" sz="1400" b="1" i="1">
                                  <a:latin typeface="Cambria Math" panose="02040503050406030204" pitchFamily="18" charset="0"/>
                                </a:rPr>
                                <m:t>𝟒</m:t>
                              </m:r>
                            </m:e>
                          </m:mr>
                        </m:m>
                      </m:e>
                    </m:d>
                    <m:r>
                      <a:rPr lang="en-GB" sz="1400" b="1" i="1">
                        <a:latin typeface="Cambria Math" panose="02040503050406030204" pitchFamily="18" charset="0"/>
                      </a:rPr>
                      <m:t>=</m:t>
                    </m:r>
                    <m:d>
                      <m:dPr>
                        <m:ctrlPr>
                          <a:rPr lang="en-GB" sz="1400" b="1" i="1">
                            <a:latin typeface="Cambria Math" panose="02040503050406030204" pitchFamily="18" charset="0"/>
                          </a:rPr>
                        </m:ctrlPr>
                      </m:dPr>
                      <m:e>
                        <m:r>
                          <a:rPr lang="en-GB" sz="1400" b="1" i="1">
                            <a:latin typeface="Cambria Math" panose="02040503050406030204" pitchFamily="18" charset="0"/>
                          </a:rPr>
                          <m:t>𝒏</m:t>
                        </m:r>
                        <m:r>
                          <a:rPr lang="en-GB" sz="1400" b="1" i="1">
                            <a:latin typeface="Cambria Math" panose="02040503050406030204" pitchFamily="18" charset="0"/>
                          </a:rPr>
                          <m:t>−</m:t>
                        </m:r>
                        <m:r>
                          <a:rPr lang="en-GB" sz="1400" b="1" i="1">
                            <a:latin typeface="Cambria Math" panose="02040503050406030204" pitchFamily="18" charset="0"/>
                          </a:rPr>
                          <m:t>𝟑</m:t>
                        </m:r>
                      </m:e>
                    </m:d>
                    <m:d>
                      <m:dPr>
                        <m:ctrlPr>
                          <a:rPr lang="en-GB" sz="1400" b="1" i="1">
                            <a:latin typeface="Cambria Math" panose="02040503050406030204" pitchFamily="18" charset="0"/>
                          </a:rPr>
                        </m:ctrlPr>
                      </m:dPr>
                      <m:e>
                        <m:m>
                          <m:mPr>
                            <m:plcHide m:val="on"/>
                            <m:mcs>
                              <m:mc>
                                <m:mcPr>
                                  <m:count m:val="1"/>
                                  <m:mcJc m:val="center"/>
                                </m:mcPr>
                              </m:mc>
                            </m:mcs>
                            <m:ctrlPr>
                              <a:rPr lang="en-GB" sz="1400" b="1" i="1">
                                <a:latin typeface="Cambria Math" panose="02040503050406030204" pitchFamily="18" charset="0"/>
                              </a:rPr>
                            </m:ctrlPr>
                          </m:mPr>
                          <m:mr>
                            <m:e>
                              <m:r>
                                <a:rPr lang="en-GB" sz="1400" b="1" i="1">
                                  <a:latin typeface="Cambria Math" panose="02040503050406030204" pitchFamily="18" charset="0"/>
                                </a:rPr>
                                <m:t>𝒏</m:t>
                              </m:r>
                            </m:e>
                          </m:mr>
                          <m:mr>
                            <m:e>
                              <m:r>
                                <a:rPr lang="en-GB" sz="1400" b="1" i="1">
                                  <a:latin typeface="Cambria Math" panose="02040503050406030204" pitchFamily="18" charset="0"/>
                                </a:rPr>
                                <m:t>𝟑</m:t>
                              </m:r>
                            </m:e>
                          </m:mr>
                        </m:m>
                      </m:e>
                    </m:d>
                  </m:oMath>
                </a14:m>
                <a:endParaRPr lang="en-GB" sz="1400" b="1" dirty="0"/>
              </a:p>
            </p:txBody>
          </p:sp>
        </mc:Choice>
        <mc:Fallback xmlns="">
          <p:sp>
            <p:nvSpPr>
              <p:cNvPr id="7" name="TextBox 6"/>
              <p:cNvSpPr txBox="1">
                <a:spLocks noRot="1" noChangeAspect="1" noMove="1" noResize="1" noEditPoints="1" noAdjustHandles="1" noChangeArrowheads="1" noChangeShapeType="1" noTextEdit="1"/>
              </p:cNvSpPr>
              <p:nvPr/>
            </p:nvSpPr>
            <p:spPr>
              <a:xfrm>
                <a:off x="1948756" y="1202335"/>
                <a:ext cx="4069928" cy="4453335"/>
              </a:xfrm>
              <a:prstGeom prst="rect">
                <a:avLst/>
              </a:prstGeom>
              <a:blipFill>
                <a:blip r:embed="rId2"/>
                <a:stretch>
                  <a:fillRect l="-1349" t="-684"/>
                </a:stretch>
              </a:blipFill>
            </p:spPr>
            <p:txBody>
              <a:bodyPr/>
              <a:lstStyle/>
              <a:p>
                <a:r>
                  <a:rPr lang="en-GB">
                    <a:noFill/>
                  </a:rPr>
                  <a:t> </a:t>
                </a:r>
              </a:p>
            </p:txBody>
          </p:sp>
        </mc:Fallback>
      </mc:AlternateContent>
      <p:sp>
        <p:nvSpPr>
          <p:cNvPr id="15" name="Rectangle 14"/>
          <p:cNvSpPr/>
          <p:nvPr/>
        </p:nvSpPr>
        <p:spPr>
          <a:xfrm>
            <a:off x="1599308" y="1277833"/>
            <a:ext cx="288032" cy="25553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21" name="Rectangle 20"/>
          <p:cNvSpPr/>
          <p:nvPr/>
        </p:nvSpPr>
        <p:spPr>
          <a:xfrm>
            <a:off x="6240016" y="1272246"/>
            <a:ext cx="288032" cy="25553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mc:AlternateContent xmlns:mc="http://schemas.openxmlformats.org/markup-compatibility/2006" xmlns:a14="http://schemas.microsoft.com/office/drawing/2010/main">
        <mc:Choice Requires="a14">
          <p:sp>
            <p:nvSpPr>
              <p:cNvPr id="13" name="TextBox 12"/>
              <p:cNvSpPr txBox="1"/>
              <p:nvPr/>
            </p:nvSpPr>
            <p:spPr>
              <a:xfrm>
                <a:off x="6528048" y="1175489"/>
                <a:ext cx="3953644" cy="4845878"/>
              </a:xfrm>
              <a:prstGeom prst="rect">
                <a:avLst/>
              </a:prstGeom>
              <a:noFill/>
            </p:spPr>
            <p:txBody>
              <a:bodyPr wrap="square" rtlCol="0">
                <a:spAutoFit/>
              </a:bodyPr>
              <a:lstStyle/>
              <a:p>
                <a:r>
                  <a:rPr lang="en-GB" dirty="0"/>
                  <a:t>[STEP I 2013 Q6] By considering the coefficient of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𝑟</m:t>
                        </m:r>
                      </m:sup>
                    </m:sSup>
                  </m:oMath>
                </a14:m>
                <a:r>
                  <a:rPr lang="en-GB" dirty="0"/>
                  <a:t> in the series for </a:t>
                </a:r>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1+</m:t>
                        </m:r>
                        <m:r>
                          <a:rPr lang="en-GB" i="1">
                            <a:latin typeface="Cambria Math" panose="02040503050406030204" pitchFamily="18" charset="0"/>
                          </a:rPr>
                          <m:t>𝑥</m:t>
                        </m:r>
                      </m:e>
                    </m:d>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1+</m:t>
                            </m:r>
                            <m:r>
                              <a:rPr lang="en-GB" i="1">
                                <a:latin typeface="Cambria Math" panose="02040503050406030204" pitchFamily="18" charset="0"/>
                              </a:rPr>
                              <m:t>𝑥</m:t>
                            </m:r>
                          </m:e>
                        </m:d>
                      </m:e>
                      <m:sup>
                        <m:r>
                          <a:rPr lang="en-GB" i="1">
                            <a:latin typeface="Cambria Math" panose="02040503050406030204" pitchFamily="18" charset="0"/>
                          </a:rPr>
                          <m:t>𝑛</m:t>
                        </m:r>
                      </m:sup>
                    </m:sSup>
                  </m:oMath>
                </a14:m>
                <a:r>
                  <a:rPr lang="en-GB" dirty="0"/>
                  <a:t>, or otherwise, obtain the following relation between binomial coefficients:</a:t>
                </a:r>
              </a:p>
              <a:p>
                <a:pPr/>
                <a14:m>
                  <m:oMathPara xmlns:m="http://schemas.openxmlformats.org/officeDocument/2006/math">
                    <m:oMathParaPr>
                      <m:jc m:val="centerGroup"/>
                    </m:oMathParaPr>
                    <m:oMath xmlns:m="http://schemas.openxmlformats.org/officeDocument/2006/math">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𝑟</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e>
                            </m:mr>
                            <m:mr>
                              <m:e>
                                <m:r>
                                  <a:rPr lang="en-GB" i="1">
                                    <a:latin typeface="Cambria Math" panose="02040503050406030204" pitchFamily="18" charset="0"/>
                                  </a:rPr>
                                  <m:t>𝑟</m:t>
                                </m:r>
                                <m:r>
                                  <a:rPr lang="en-GB" i="1">
                                    <a:latin typeface="Cambria Math" panose="02040503050406030204" pitchFamily="18" charset="0"/>
                                  </a:rPr>
                                  <m:t>−1</m:t>
                                </m:r>
                              </m:e>
                            </m:mr>
                          </m:m>
                        </m:e>
                      </m:d>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𝑛</m:t>
                                </m:r>
                                <m:r>
                                  <a:rPr lang="en-GB" i="1">
                                    <a:latin typeface="Cambria Math" panose="02040503050406030204" pitchFamily="18" charset="0"/>
                                  </a:rPr>
                                  <m:t>+1</m:t>
                                </m:r>
                              </m:e>
                            </m:mr>
                            <m:mr>
                              <m:e>
                                <m:r>
                                  <a:rPr lang="en-GB" i="1">
                                    <a:latin typeface="Cambria Math" panose="02040503050406030204" pitchFamily="18" charset="0"/>
                                  </a:rPr>
                                  <m:t>𝑟</m:t>
                                </m:r>
                              </m:e>
                            </m:mr>
                          </m:m>
                        </m:e>
                      </m:d>
                    </m:oMath>
                  </m:oMathPara>
                </a14:m>
                <a:endParaRPr lang="en-GB" dirty="0"/>
              </a:p>
              <a:p>
                <a:r>
                  <a:rPr lang="en-GB" sz="1600" b="1" dirty="0"/>
                  <a:t>Noting that </a:t>
                </a:r>
                <a14:m>
                  <m:oMath xmlns:m="http://schemas.openxmlformats.org/officeDocument/2006/math">
                    <m:d>
                      <m:dPr>
                        <m:ctrlPr>
                          <a:rPr lang="en-GB" sz="1600" b="1" i="1">
                            <a:latin typeface="Cambria Math" panose="02040503050406030204" pitchFamily="18" charset="0"/>
                          </a:rPr>
                        </m:ctrlPr>
                      </m:dPr>
                      <m:e>
                        <m:r>
                          <a:rPr lang="en-GB" sz="1600" b="1" i="1">
                            <a:latin typeface="Cambria Math" panose="02040503050406030204" pitchFamily="18" charset="0"/>
                          </a:rPr>
                          <m:t>𝟏</m:t>
                        </m:r>
                        <m:r>
                          <a:rPr lang="en-GB" sz="1600" b="1" i="1">
                            <a:latin typeface="Cambria Math" panose="02040503050406030204" pitchFamily="18" charset="0"/>
                          </a:rPr>
                          <m:t>+</m:t>
                        </m:r>
                        <m:r>
                          <a:rPr lang="en-GB" sz="1600" b="1" i="1">
                            <a:latin typeface="Cambria Math" panose="02040503050406030204" pitchFamily="18" charset="0"/>
                          </a:rPr>
                          <m:t>𝒙</m:t>
                        </m:r>
                      </m:e>
                    </m:d>
                    <m:sSup>
                      <m:sSupPr>
                        <m:ctrlPr>
                          <a:rPr lang="en-GB" sz="1600" b="1" i="1">
                            <a:latin typeface="Cambria Math" panose="02040503050406030204" pitchFamily="18" charset="0"/>
                          </a:rPr>
                        </m:ctrlPr>
                      </m:sSupPr>
                      <m:e>
                        <m:d>
                          <m:dPr>
                            <m:ctrlPr>
                              <a:rPr lang="en-GB" sz="1600" b="1" i="1">
                                <a:latin typeface="Cambria Math" panose="02040503050406030204" pitchFamily="18" charset="0"/>
                              </a:rPr>
                            </m:ctrlPr>
                          </m:dPr>
                          <m:e>
                            <m:r>
                              <a:rPr lang="en-GB" sz="1600" b="1" i="1">
                                <a:latin typeface="Cambria Math" panose="02040503050406030204" pitchFamily="18" charset="0"/>
                              </a:rPr>
                              <m:t>𝟏</m:t>
                            </m:r>
                            <m:r>
                              <a:rPr lang="en-GB" sz="1600" b="1" i="1">
                                <a:latin typeface="Cambria Math" panose="02040503050406030204" pitchFamily="18" charset="0"/>
                              </a:rPr>
                              <m:t>+</m:t>
                            </m:r>
                            <m:r>
                              <a:rPr lang="en-GB" sz="1600" b="1" i="1">
                                <a:latin typeface="Cambria Math" panose="02040503050406030204" pitchFamily="18" charset="0"/>
                              </a:rPr>
                              <m:t>𝒙</m:t>
                            </m:r>
                          </m:e>
                        </m:d>
                      </m:e>
                      <m:sup>
                        <m:r>
                          <a:rPr lang="en-GB" sz="1600" b="1" i="1">
                            <a:latin typeface="Cambria Math" panose="02040503050406030204" pitchFamily="18" charset="0"/>
                          </a:rPr>
                          <m:t>𝒏</m:t>
                        </m:r>
                      </m:sup>
                    </m:sSup>
                    <m:r>
                      <a:rPr lang="en-GB" sz="1600" b="1" i="1">
                        <a:latin typeface="Cambria Math" panose="02040503050406030204" pitchFamily="18" charset="0"/>
                      </a:rPr>
                      <m:t>=</m:t>
                    </m:r>
                    <m:sSup>
                      <m:sSupPr>
                        <m:ctrlPr>
                          <a:rPr lang="en-GB" sz="1600" b="1" i="1">
                            <a:latin typeface="Cambria Math" panose="02040503050406030204" pitchFamily="18" charset="0"/>
                          </a:rPr>
                        </m:ctrlPr>
                      </m:sSupPr>
                      <m:e>
                        <m:d>
                          <m:dPr>
                            <m:ctrlPr>
                              <a:rPr lang="en-GB" sz="1600" b="1" i="1">
                                <a:latin typeface="Cambria Math" panose="02040503050406030204" pitchFamily="18" charset="0"/>
                              </a:rPr>
                            </m:ctrlPr>
                          </m:dPr>
                          <m:e>
                            <m:r>
                              <a:rPr lang="en-GB" sz="1600" b="1" i="1">
                                <a:latin typeface="Cambria Math" panose="02040503050406030204" pitchFamily="18" charset="0"/>
                              </a:rPr>
                              <m:t>𝟏</m:t>
                            </m:r>
                            <m:r>
                              <a:rPr lang="en-GB" sz="1600" b="1" i="1">
                                <a:latin typeface="Cambria Math" panose="02040503050406030204" pitchFamily="18" charset="0"/>
                              </a:rPr>
                              <m:t>+</m:t>
                            </m:r>
                            <m:r>
                              <a:rPr lang="en-GB" sz="1600" b="1" i="1">
                                <a:latin typeface="Cambria Math" panose="02040503050406030204" pitchFamily="18" charset="0"/>
                              </a:rPr>
                              <m:t>𝒙</m:t>
                            </m:r>
                          </m:e>
                        </m:d>
                      </m:e>
                      <m:sup>
                        <m:r>
                          <a:rPr lang="en-GB" sz="1600" b="1" i="1">
                            <a:latin typeface="Cambria Math" panose="02040503050406030204" pitchFamily="18" charset="0"/>
                          </a:rPr>
                          <m:t>𝒏</m:t>
                        </m:r>
                        <m:r>
                          <a:rPr lang="en-GB" sz="1600" b="1" i="1">
                            <a:latin typeface="Cambria Math" panose="02040503050406030204" pitchFamily="18" charset="0"/>
                          </a:rPr>
                          <m:t>+</m:t>
                        </m:r>
                        <m:r>
                          <a:rPr lang="en-GB" sz="1600" b="1" i="1">
                            <a:latin typeface="Cambria Math" panose="02040503050406030204" pitchFamily="18" charset="0"/>
                          </a:rPr>
                          <m:t>𝟏</m:t>
                        </m:r>
                      </m:sup>
                    </m:sSup>
                  </m:oMath>
                </a14:m>
                <a:r>
                  <a:rPr lang="en-GB" sz="1600" b="1" dirty="0"/>
                  <a:t>, the </a:t>
                </a:r>
                <a14:m>
                  <m:oMath xmlns:m="http://schemas.openxmlformats.org/officeDocument/2006/math">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sup>
                    </m:sSup>
                  </m:oMath>
                </a14:m>
                <a:r>
                  <a:rPr lang="en-GB" sz="1600" b="1" dirty="0"/>
                  <a:t> term is </a:t>
                </a:r>
                <a14:m>
                  <m:oMath xmlns:m="http://schemas.openxmlformats.org/officeDocument/2006/math">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r>
                                <a:rPr lang="en-GB" sz="1600" b="1" i="1">
                                  <a:latin typeface="Cambria Math" panose="02040503050406030204" pitchFamily="18" charset="0"/>
                                </a:rPr>
                                <m:t>+</m:t>
                              </m:r>
                              <m:r>
                                <a:rPr lang="en-GB" sz="1600" b="1" i="1">
                                  <a:latin typeface="Cambria Math" panose="02040503050406030204" pitchFamily="18" charset="0"/>
                                </a:rPr>
                                <m:t>𝟏</m:t>
                              </m:r>
                            </m:e>
                          </m:mr>
                          <m:mr>
                            <m:e>
                              <m:r>
                                <a:rPr lang="en-GB" sz="1600" b="1" i="1">
                                  <a:latin typeface="Cambria Math" panose="02040503050406030204" pitchFamily="18" charset="0"/>
                                </a:rPr>
                                <m:t>𝒓</m:t>
                              </m:r>
                            </m:e>
                          </m:mr>
                        </m:m>
                      </m:e>
                    </m:d>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sup>
                    </m:sSup>
                  </m:oMath>
                </a14:m>
                <a:r>
                  <a:rPr lang="en-GB" sz="1600" b="1" dirty="0"/>
                  <a:t>.</a:t>
                </a:r>
              </a:p>
              <a:p>
                <a:pPr/>
                <a:r>
                  <a:rPr lang="en-GB" sz="1600" b="1" dirty="0"/>
                  <a:t>But the </a:t>
                </a:r>
                <a14:m>
                  <m:oMath xmlns:m="http://schemas.openxmlformats.org/officeDocument/2006/math">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sup>
                    </m:sSup>
                  </m:oMath>
                </a14:m>
                <a:r>
                  <a:rPr lang="en-GB" sz="1600" b="1" dirty="0"/>
                  <a:t> term could be obtained either by 1 in the first bracket multiplied by </a:t>
                </a:r>
                <a14:m>
                  <m:oMath xmlns:m="http://schemas.openxmlformats.org/officeDocument/2006/math">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sup>
                    </m:sSup>
                  </m:oMath>
                </a14:m>
                <a:r>
                  <a:rPr lang="en-GB" sz="1600" b="1" dirty="0"/>
                  <a:t> term in the second, giving </a:t>
                </a:r>
                <a14:m>
                  <m:oMath xmlns:m="http://schemas.openxmlformats.org/officeDocument/2006/math">
                    <m:r>
                      <a:rPr lang="en-GB" sz="1600" b="1" i="1">
                        <a:latin typeface="Cambria Math" panose="02040503050406030204" pitchFamily="18" charset="0"/>
                      </a:rPr>
                      <m:t>𝟏</m:t>
                    </m:r>
                    <m:r>
                      <a:rPr lang="en-GB" sz="1600" b="1" i="1">
                        <a:latin typeface="Cambria Math" panose="02040503050406030204" pitchFamily="18" charset="0"/>
                      </a:rPr>
                      <m:t>×</m:t>
                    </m:r>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𝒓</m:t>
                              </m:r>
                            </m:e>
                          </m:mr>
                        </m:m>
                      </m:e>
                    </m:d>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sup>
                    </m:sSup>
                  </m:oMath>
                </a14:m>
                <a:r>
                  <a:rPr lang="en-GB" sz="1600" b="1" dirty="0"/>
                  <a:t>, or the </a:t>
                </a:r>
                <a14:m>
                  <m:oMath xmlns:m="http://schemas.openxmlformats.org/officeDocument/2006/math">
                    <m:r>
                      <a:rPr lang="en-GB" sz="1600" b="1" i="1">
                        <a:latin typeface="Cambria Math" panose="02040503050406030204" pitchFamily="18" charset="0"/>
                      </a:rPr>
                      <m:t>𝒙</m:t>
                    </m:r>
                  </m:oMath>
                </a14:m>
                <a:r>
                  <a:rPr lang="en-GB" sz="1600" b="1" dirty="0"/>
                  <a:t> in the first bracket multiplied by the </a:t>
                </a:r>
                <a14:m>
                  <m:oMath xmlns:m="http://schemas.openxmlformats.org/officeDocument/2006/math">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r>
                          <a:rPr lang="en-GB" sz="1600" b="1" i="1">
                            <a:latin typeface="Cambria Math" panose="02040503050406030204" pitchFamily="18" charset="0"/>
                          </a:rPr>
                          <m:t>−</m:t>
                        </m:r>
                        <m:r>
                          <a:rPr lang="en-GB" sz="1600" b="1" i="1">
                            <a:latin typeface="Cambria Math" panose="02040503050406030204" pitchFamily="18" charset="0"/>
                          </a:rPr>
                          <m:t>𝟏</m:t>
                        </m:r>
                      </m:sup>
                    </m:sSup>
                  </m:oMath>
                </a14:m>
                <a:r>
                  <a:rPr lang="en-GB" sz="1600" b="1" dirty="0"/>
                  <a:t> term in the second, </a:t>
                </a:r>
                <a14:m>
                  <m:oMath xmlns:m="http://schemas.openxmlformats.org/officeDocument/2006/math">
                    <m:r>
                      <a:rPr lang="en-GB" sz="1600" b="1" i="1">
                        <a:latin typeface="Cambria Math" panose="02040503050406030204" pitchFamily="18" charset="0"/>
                      </a:rPr>
                      <m:t>𝒙</m:t>
                    </m:r>
                    <m:r>
                      <a:rPr lang="en-GB" sz="1600" b="1" i="1">
                        <a:latin typeface="Cambria Math" panose="02040503050406030204" pitchFamily="18" charset="0"/>
                      </a:rPr>
                      <m:t>×</m:t>
                    </m:r>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𝒓</m:t>
                              </m:r>
                              <m:r>
                                <a:rPr lang="en-GB" sz="1600" b="1" i="1">
                                  <a:latin typeface="Cambria Math" panose="02040503050406030204" pitchFamily="18" charset="0"/>
                                </a:rPr>
                                <m:t>−</m:t>
                              </m:r>
                              <m:r>
                                <a:rPr lang="en-GB" sz="1600" b="1" i="1">
                                  <a:latin typeface="Cambria Math" panose="02040503050406030204" pitchFamily="18" charset="0"/>
                                </a:rPr>
                                <m:t>𝟏</m:t>
                              </m:r>
                            </m:e>
                          </m:mr>
                        </m:m>
                      </m:e>
                    </m:d>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r>
                          <a:rPr lang="en-GB" sz="1600" b="1" i="1">
                            <a:latin typeface="Cambria Math" panose="02040503050406030204" pitchFamily="18" charset="0"/>
                          </a:rPr>
                          <m:t>−</m:t>
                        </m:r>
                        <m:r>
                          <a:rPr lang="en-GB" sz="1600" b="1" i="1">
                            <a:latin typeface="Cambria Math" panose="02040503050406030204" pitchFamily="18" charset="0"/>
                          </a:rPr>
                          <m:t>𝟏</m:t>
                        </m:r>
                      </m:sup>
                    </m:sSup>
                    <m:r>
                      <a:rPr lang="en-GB" sz="1600" b="1" i="1">
                        <a:latin typeface="Cambria Math" panose="02040503050406030204" pitchFamily="18" charset="0"/>
                      </a:rPr>
                      <m:t>=</m:t>
                    </m:r>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𝒓</m:t>
                              </m:r>
                              <m:r>
                                <a:rPr lang="en-GB" sz="1600" b="1" i="1">
                                  <a:latin typeface="Cambria Math" panose="02040503050406030204" pitchFamily="18" charset="0"/>
                                </a:rPr>
                                <m:t>−</m:t>
                              </m:r>
                              <m:r>
                                <a:rPr lang="en-GB" sz="1600" b="1" i="1">
                                  <a:latin typeface="Cambria Math" panose="02040503050406030204" pitchFamily="18" charset="0"/>
                                </a:rPr>
                                <m:t>𝟏</m:t>
                              </m:r>
                            </m:e>
                          </m:mr>
                        </m:m>
                      </m:e>
                    </m:d>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𝒓</m:t>
                        </m:r>
                      </m:sup>
                    </m:sSup>
                  </m:oMath>
                </a14:m>
                <a:r>
                  <a:rPr lang="en-GB" sz="1600" b="1" dirty="0"/>
                  <a:t>. Thus comparing coefficients: </a:t>
                </a:r>
                <a:br>
                  <a:rPr lang="en-GB" sz="1600" b="1"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𝒓</m:t>
                                </m:r>
                              </m:e>
                            </m:mr>
                          </m:m>
                        </m:e>
                      </m:d>
                      <m:r>
                        <a:rPr lang="en-GB" sz="1600" b="1" i="1">
                          <a:latin typeface="Cambria Math" panose="02040503050406030204" pitchFamily="18" charset="0"/>
                        </a:rPr>
                        <m:t>+</m:t>
                      </m:r>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e>
                            </m:mr>
                            <m:mr>
                              <m:e>
                                <m:r>
                                  <a:rPr lang="en-GB" sz="1600" b="1" i="1">
                                    <a:latin typeface="Cambria Math" panose="02040503050406030204" pitchFamily="18" charset="0"/>
                                  </a:rPr>
                                  <m:t>𝒓</m:t>
                                </m:r>
                                <m:r>
                                  <a:rPr lang="en-GB" sz="1600" b="1" i="1">
                                    <a:latin typeface="Cambria Math" panose="02040503050406030204" pitchFamily="18" charset="0"/>
                                  </a:rPr>
                                  <m:t>−</m:t>
                                </m:r>
                                <m:r>
                                  <a:rPr lang="en-GB" sz="1600" b="1" i="1">
                                    <a:latin typeface="Cambria Math" panose="02040503050406030204" pitchFamily="18" charset="0"/>
                                  </a:rPr>
                                  <m:t>𝟏</m:t>
                                </m:r>
                              </m:e>
                            </m:mr>
                          </m:m>
                        </m:e>
                      </m:d>
                      <m:r>
                        <a:rPr lang="en-GB" sz="1600" b="1" i="1">
                          <a:latin typeface="Cambria Math" panose="02040503050406030204" pitchFamily="18" charset="0"/>
                        </a:rPr>
                        <m:t>=</m:t>
                      </m:r>
                      <m:d>
                        <m:dPr>
                          <m:ctrlPr>
                            <a:rPr lang="en-GB" sz="1600" b="1" i="1">
                              <a:latin typeface="Cambria Math" panose="02040503050406030204" pitchFamily="18" charset="0"/>
                            </a:rPr>
                          </m:ctrlPr>
                        </m:dPr>
                        <m:e>
                          <m:m>
                            <m:mPr>
                              <m:plcHide m:val="on"/>
                              <m:mcs>
                                <m:mc>
                                  <m:mcPr>
                                    <m:count m:val="1"/>
                                    <m:mcJc m:val="center"/>
                                  </m:mcPr>
                                </m:mc>
                              </m:mcs>
                              <m:ctrlPr>
                                <a:rPr lang="en-GB" sz="1600" b="1" i="1">
                                  <a:latin typeface="Cambria Math" panose="02040503050406030204" pitchFamily="18" charset="0"/>
                                </a:rPr>
                              </m:ctrlPr>
                            </m:mPr>
                            <m:mr>
                              <m:e>
                                <m:r>
                                  <a:rPr lang="en-GB" sz="1600" b="1" i="1">
                                    <a:latin typeface="Cambria Math" panose="02040503050406030204" pitchFamily="18" charset="0"/>
                                  </a:rPr>
                                  <m:t>𝒏</m:t>
                                </m:r>
                                <m:r>
                                  <a:rPr lang="en-GB" sz="1600" b="1" i="1">
                                    <a:latin typeface="Cambria Math" panose="02040503050406030204" pitchFamily="18" charset="0"/>
                                  </a:rPr>
                                  <m:t>+</m:t>
                                </m:r>
                                <m:r>
                                  <a:rPr lang="en-GB" sz="1600" b="1" i="1">
                                    <a:latin typeface="Cambria Math" panose="02040503050406030204" pitchFamily="18" charset="0"/>
                                  </a:rPr>
                                  <m:t>𝟏</m:t>
                                </m:r>
                              </m:e>
                            </m:mr>
                            <m:mr>
                              <m:e>
                                <m:r>
                                  <a:rPr lang="en-GB" sz="1600" b="1" i="1">
                                    <a:latin typeface="Cambria Math" panose="02040503050406030204" pitchFamily="18" charset="0"/>
                                  </a:rPr>
                                  <m:t>𝒓</m:t>
                                </m:r>
                              </m:e>
                            </m:mr>
                          </m:m>
                        </m:e>
                      </m:d>
                    </m:oMath>
                  </m:oMathPara>
                </a14:m>
                <a:endParaRPr lang="en-GB" sz="1600" b="1" dirty="0"/>
              </a:p>
            </p:txBody>
          </p:sp>
        </mc:Choice>
        <mc:Fallback xmlns="">
          <p:sp>
            <p:nvSpPr>
              <p:cNvPr id="13" name="TextBox 12"/>
              <p:cNvSpPr txBox="1">
                <a:spLocks noRot="1" noChangeAspect="1" noMove="1" noResize="1" noEditPoints="1" noAdjustHandles="1" noChangeArrowheads="1" noChangeShapeType="1" noTextEdit="1"/>
              </p:cNvSpPr>
              <p:nvPr/>
            </p:nvSpPr>
            <p:spPr>
              <a:xfrm>
                <a:off x="6528048" y="1175489"/>
                <a:ext cx="3953644" cy="4845878"/>
              </a:xfrm>
              <a:prstGeom prst="rect">
                <a:avLst/>
              </a:prstGeom>
              <a:blipFill>
                <a:blip r:embed="rId3"/>
                <a:stretch>
                  <a:fillRect l="-1389" t="-755" r="-1698"/>
                </a:stretch>
              </a:blipFill>
            </p:spPr>
            <p:txBody>
              <a:bodyPr/>
              <a:lstStyle/>
              <a:p>
                <a:r>
                  <a:rPr lang="en-GB">
                    <a:noFill/>
                  </a:rPr>
                  <a:t> </a:t>
                </a:r>
              </a:p>
            </p:txBody>
          </p:sp>
        </mc:Fallback>
      </mc:AlternateContent>
      <p:sp>
        <p:nvSpPr>
          <p:cNvPr id="22" name="Rectangle 21"/>
          <p:cNvSpPr/>
          <p:nvPr/>
        </p:nvSpPr>
        <p:spPr>
          <a:xfrm>
            <a:off x="1934327" y="3895438"/>
            <a:ext cx="3934466" cy="173852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23" name="Rectangle 22"/>
          <p:cNvSpPr/>
          <p:nvPr/>
        </p:nvSpPr>
        <p:spPr>
          <a:xfrm>
            <a:off x="6583498" y="3084638"/>
            <a:ext cx="3842744" cy="297026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142572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9" restart="whenNotActive" fill="hold" evtFilter="cancelBubble" nodeType="interactiveSeq">
                <p:stCondLst>
                  <p:cond evt="onClick" delay="0">
                    <p:tgtEl>
                      <p:spTgt spid="22"/>
                    </p:tgtEl>
                  </p:cond>
                </p:stCondLst>
                <p:endSync evt="end" delay="0">
                  <p:rtn val="all"/>
                </p:endSync>
                <p:childTnLst>
                  <p:par>
                    <p:cTn id="10" fill="hold">
                      <p:stCondLst>
                        <p:cond delay="0"/>
                      </p:stCondLst>
                      <p:childTnLst>
                        <p:par>
                          <p:cTn id="11" fill="hold">
                            <p:stCondLst>
                              <p:cond delay="0"/>
                            </p:stCondLst>
                            <p:childTnLst>
                              <p:par>
                                <p:cTn id="12" presetID="10" presetClass="exit" presetSubtype="0" fill="hold" grpId="0" nodeType="clickEffect">
                                  <p:stCondLst>
                                    <p:cond delay="0"/>
                                  </p:stCondLst>
                                  <p:childTnLst>
                                    <p:animEffect transition="out" filter="fade">
                                      <p:cBhvr>
                                        <p:cTn id="13" dur="500"/>
                                        <p:tgtEl>
                                          <p:spTgt spid="22"/>
                                        </p:tgtEl>
                                      </p:cBhvr>
                                    </p:animEffect>
                                    <p:set>
                                      <p:cBhvr>
                                        <p:cTn id="14"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15" restart="whenNotActive" fill="hold" evtFilter="cancelBubble" nodeType="interactiveSeq">
                <p:stCondLst>
                  <p:cond evt="onClick" delay="0">
                    <p:tgtEl>
                      <p:spTgt spid="23"/>
                    </p:tgtEl>
                  </p:cond>
                </p:stCondLst>
                <p:endSync evt="end" delay="0">
                  <p:rtn val="all"/>
                </p:endSync>
                <p:childTnLst>
                  <p:par>
                    <p:cTn id="16" fill="hold">
                      <p:stCondLst>
                        <p:cond delay="0"/>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23"/>
                                        </p:tgtEl>
                                      </p:cBhvr>
                                    </p:animEffect>
                                    <p:set>
                                      <p:cBhvr>
                                        <p:cTn id="20"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22" grpId="0" animBg="1"/>
      <p:bldP spid="22" grpId="1" animBg="1"/>
      <p:bldP spid="23" grpId="0" animBg="1"/>
      <p:bldP spid="23" grpId="1" animBg="1"/>
    </p:bldLst>
  </p:timing>
</p:sld>
</file>

<file path=ppt/c8/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Estimating Powers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p:cNvPicPr>
            <a:picLocks noChangeAspect="1"/>
          </p:cNvPicPr>
          <p:nvPr/>
        </p:nvPicPr>
        <p:blipFill>
          <a:blip r:embed="rId2"/>
          <a:stretch>
            <a:fillRect/>
          </a:stretch>
        </p:blipFill>
        <p:spPr>
          <a:xfrm>
            <a:off x="1956475" y="1172639"/>
            <a:ext cx="7046997" cy="2304256"/>
          </a:xfrm>
          <a:prstGeom prst="rect">
            <a:avLst/>
          </a:prstGeom>
          <a:effectLst>
            <a:outerShdw blurRad="63500" sx="102000" sy="102000" algn="ctr" rotWithShape="0">
              <a:prstClr val="black">
                <a:alpha val="40000"/>
              </a:prstClr>
            </a:outerShdw>
          </a:effectLst>
        </p:spPr>
      </p:pic>
      <p:sp>
        <p:nvSpPr>
          <p:cNvPr id="6" name="TextBox 5"/>
          <p:cNvSpPr txBox="1"/>
          <p:nvPr/>
        </p:nvSpPr>
        <p:spPr>
          <a:xfrm>
            <a:off x="1919536" y="764704"/>
            <a:ext cx="252028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C2 Jan 2012 Q3</a:t>
            </a:r>
          </a:p>
        </p:txBody>
      </p:sp>
      <mc:AlternateContent xmlns:mc="http://schemas.openxmlformats.org/markup-compatibility/2006" xmlns:a14="http://schemas.microsoft.com/office/drawing/2010/main">
        <mc:Choice Requires="a14">
          <p:sp>
            <p:nvSpPr>
              <p:cNvPr id="7" name="TextBox 6"/>
              <p:cNvSpPr txBox="1"/>
              <p:nvPr/>
            </p:nvSpPr>
            <p:spPr>
              <a:xfrm>
                <a:off x="1952532" y="3703006"/>
                <a:ext cx="3825847" cy="26634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1+</m:t>
                              </m:r>
                              <m:f>
                                <m:fPr>
                                  <m:ctrlPr>
                                    <a:rPr lang="en-GB" i="1">
                                      <a:latin typeface="Cambria Math" panose="02040503050406030204" pitchFamily="18" charset="0"/>
                                    </a:rPr>
                                  </m:ctrlPr>
                                </m:fPr>
                                <m:num>
                                  <m:r>
                                    <a:rPr lang="en-GB" i="1">
                                      <a:latin typeface="Cambria Math" panose="02040503050406030204" pitchFamily="18" charset="0"/>
                                    </a:rPr>
                                    <m:t>𝑥</m:t>
                                  </m:r>
                                </m:num>
                                <m:den>
                                  <m:r>
                                    <a:rPr lang="en-GB" i="1">
                                      <a:latin typeface="Cambria Math" panose="02040503050406030204" pitchFamily="18" charset="0"/>
                                    </a:rPr>
                                    <m:t>4</m:t>
                                  </m:r>
                                </m:den>
                              </m:f>
                            </m:e>
                          </m:d>
                        </m:e>
                        <m:sup>
                          <m:r>
                            <a:rPr lang="en-GB" i="1">
                              <a:latin typeface="Cambria Math" panose="02040503050406030204" pitchFamily="18" charset="0"/>
                            </a:rPr>
                            <m:t>8</m:t>
                          </m:r>
                        </m:sup>
                      </m:sSup>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8</m:t>
                                </m:r>
                              </m:e>
                            </m:mr>
                            <m:mr>
                              <m:e>
                                <m:r>
                                  <a:rPr lang="en-GB" i="1">
                                    <a:latin typeface="Cambria Math" panose="02040503050406030204" pitchFamily="18" charset="0"/>
                                  </a:rPr>
                                  <m:t>0</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1</m:t>
                              </m:r>
                            </m:e>
                            <m:sup>
                              <m:r>
                                <a:rPr lang="en-GB" i="1">
                                  <a:latin typeface="Cambria Math" panose="02040503050406030204" pitchFamily="18" charset="0"/>
                                </a:rPr>
                                <m:t>8</m:t>
                              </m:r>
                            </m:sup>
                          </m:sSup>
                        </m:e>
                      </m:d>
                    </m:oMath>
                    <m:oMath xmlns:m="http://schemas.openxmlformats.org/officeDocument/2006/math">
                      <m:r>
                        <a:rPr lang="en-GB" i="1">
                          <a:latin typeface="Cambria Math" panose="02040503050406030204" pitchFamily="18" charset="0"/>
                        </a:rPr>
                        <m:t>                  +</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8</m:t>
                                </m:r>
                              </m:e>
                            </m:mr>
                            <m:mr>
                              <m:e>
                                <m:r>
                                  <a:rPr lang="en-GB" i="1">
                                    <a:latin typeface="Cambria Math" panose="02040503050406030204" pitchFamily="18" charset="0"/>
                                  </a:rPr>
                                  <m:t>1</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1</m:t>
                              </m:r>
                            </m:e>
                            <m:sup>
                              <m:r>
                                <a:rPr lang="en-GB" i="1">
                                  <a:latin typeface="Cambria Math" panose="02040503050406030204" pitchFamily="18" charset="0"/>
                                </a:rPr>
                                <m:t>7</m:t>
                              </m:r>
                            </m:sup>
                          </m:sSup>
                        </m:e>
                      </m:d>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𝑥</m:t>
                              </m:r>
                            </m:num>
                            <m:den>
                              <m:r>
                                <a:rPr lang="en-GB" i="1">
                                  <a:latin typeface="Cambria Math" panose="02040503050406030204" pitchFamily="18" charset="0"/>
                                </a:rPr>
                                <m:t>4</m:t>
                              </m:r>
                            </m:den>
                          </m:f>
                        </m:e>
                      </m:d>
                    </m:oMath>
                    <m:oMath xmlns:m="http://schemas.openxmlformats.org/officeDocument/2006/math">
                      <m:r>
                        <a:rPr lang="en-GB" i="1">
                          <a:latin typeface="Cambria Math" panose="02040503050406030204" pitchFamily="18" charset="0"/>
                        </a:rPr>
                        <m:t>                  +</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8</m:t>
                                </m:r>
                              </m:e>
                            </m:mr>
                            <m:mr>
                              <m:e>
                                <m:r>
                                  <a:rPr lang="en-GB" i="1">
                                    <a:latin typeface="Cambria Math" panose="02040503050406030204" pitchFamily="18" charset="0"/>
                                  </a:rPr>
                                  <m:t>2</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1</m:t>
                              </m:r>
                            </m:e>
                            <m:sup>
                              <m:r>
                                <a:rPr lang="en-GB" i="1">
                                  <a:latin typeface="Cambria Math" panose="02040503050406030204" pitchFamily="18" charset="0"/>
                                </a:rPr>
                                <m:t>6</m:t>
                              </m:r>
                            </m:sup>
                          </m:sSup>
                        </m:e>
                      </m:d>
                      <m:sSup>
                        <m:sSupPr>
                          <m:ctrlPr>
                            <a:rPr lang="en-GB" i="1">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𝑥</m:t>
                                  </m:r>
                                </m:num>
                                <m:den>
                                  <m:r>
                                    <a:rPr lang="en-GB" i="1">
                                      <a:latin typeface="Cambria Math" panose="02040503050406030204" pitchFamily="18" charset="0"/>
                                    </a:rPr>
                                    <m:t>4</m:t>
                                  </m:r>
                                </m:den>
                              </m:f>
                            </m:e>
                          </m:d>
                        </m:e>
                        <m:sup>
                          <m:r>
                            <a:rPr lang="en-GB" i="1">
                              <a:latin typeface="Cambria Math" panose="02040503050406030204" pitchFamily="18" charset="0"/>
                            </a:rPr>
                            <m:t>2</m:t>
                          </m:r>
                        </m:sup>
                      </m:sSup>
                    </m:oMath>
                    <m:oMath xmlns:m="http://schemas.openxmlformats.org/officeDocument/2006/math">
                      <m:r>
                        <a:rPr lang="en-GB">
                          <a:latin typeface="Cambria Math" panose="02040503050406030204" pitchFamily="18" charset="0"/>
                        </a:rPr>
                        <m:t>                  </m:t>
                      </m:r>
                      <m:r>
                        <a:rPr lang="en-GB" i="1">
                          <a:latin typeface="Cambria Math" panose="02040503050406030204" pitchFamily="18" charset="0"/>
                        </a:rPr>
                        <m:t>+</m:t>
                      </m:r>
                      <m:d>
                        <m:dPr>
                          <m:ctrlPr>
                            <a:rPr lang="en-GB" i="1">
                              <a:latin typeface="Cambria Math" panose="02040503050406030204" pitchFamily="18" charset="0"/>
                            </a:rPr>
                          </m:ctrlPr>
                        </m:dPr>
                        <m:e>
                          <m:m>
                            <m:mPr>
                              <m:plcHide m:val="on"/>
                              <m:mcs>
                                <m:mc>
                                  <m:mcPr>
                                    <m:count m:val="1"/>
                                    <m:mcJc m:val="center"/>
                                  </m:mcPr>
                                </m:mc>
                              </m:mcs>
                              <m:ctrlPr>
                                <a:rPr lang="en-GB" i="1">
                                  <a:latin typeface="Cambria Math" panose="02040503050406030204" pitchFamily="18" charset="0"/>
                                </a:rPr>
                              </m:ctrlPr>
                            </m:mPr>
                            <m:mr>
                              <m:e>
                                <m:r>
                                  <a:rPr lang="en-GB" i="1">
                                    <a:latin typeface="Cambria Math" panose="02040503050406030204" pitchFamily="18" charset="0"/>
                                  </a:rPr>
                                  <m:t>8</m:t>
                                </m:r>
                              </m:e>
                            </m:mr>
                            <m:mr>
                              <m:e>
                                <m:r>
                                  <a:rPr lang="en-GB" i="1">
                                    <a:latin typeface="Cambria Math" panose="02040503050406030204" pitchFamily="18" charset="0"/>
                                  </a:rPr>
                                  <m:t>3</m:t>
                                </m:r>
                              </m:e>
                            </m:mr>
                          </m:m>
                        </m:e>
                      </m:d>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1</m:t>
                              </m:r>
                            </m:e>
                            <m:sup>
                              <m:r>
                                <a:rPr lang="en-GB" i="1">
                                  <a:latin typeface="Cambria Math" panose="02040503050406030204" pitchFamily="18" charset="0"/>
                                </a:rPr>
                                <m:t>5</m:t>
                              </m:r>
                            </m:sup>
                          </m:sSup>
                        </m:e>
                      </m:d>
                      <m:sSup>
                        <m:sSupPr>
                          <m:ctrlPr>
                            <a:rPr lang="en-GB" i="1">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𝑥</m:t>
                                  </m:r>
                                </m:num>
                                <m:den>
                                  <m:r>
                                    <a:rPr lang="en-GB" i="1">
                                      <a:latin typeface="Cambria Math" panose="02040503050406030204" pitchFamily="18" charset="0"/>
                                    </a:rPr>
                                    <m:t>4</m:t>
                                  </m:r>
                                </m:den>
                              </m:f>
                            </m:e>
                          </m:d>
                        </m:e>
                        <m:sup>
                          <m:r>
                            <a:rPr lang="en-GB" i="1">
                              <a:latin typeface="Cambria Math" panose="02040503050406030204" pitchFamily="18" charset="0"/>
                            </a:rPr>
                            <m:t>3</m:t>
                          </m:r>
                        </m:sup>
                      </m:sSup>
                    </m:oMath>
                    <m:oMath xmlns:m="http://schemas.openxmlformats.org/officeDocument/2006/math">
                      <m:r>
                        <a:rPr lang="en-GB" i="1">
                          <a:latin typeface="Cambria Math" panose="02040503050406030204" pitchFamily="18" charset="0"/>
                        </a:rPr>
                        <m:t>=1+2</m:t>
                      </m:r>
                      <m:r>
                        <a:rPr lang="en-GB" i="1">
                          <a:latin typeface="Cambria Math" panose="02040503050406030204" pitchFamily="18" charset="0"/>
                        </a:rPr>
                        <m:t>𝑥</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7</m:t>
                          </m:r>
                        </m:num>
                        <m:den>
                          <m:r>
                            <a:rPr lang="en-GB" i="1">
                              <a:latin typeface="Cambria Math" panose="02040503050406030204" pitchFamily="18" charset="0"/>
                            </a:rPr>
                            <m:t>4</m:t>
                          </m:r>
                        </m:den>
                      </m:f>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2</m:t>
                          </m:r>
                        </m:sup>
                      </m:sSup>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7</m:t>
                          </m:r>
                        </m:num>
                        <m:den>
                          <m:r>
                            <a:rPr lang="en-GB" i="1">
                              <a:latin typeface="Cambria Math" panose="02040503050406030204" pitchFamily="18" charset="0"/>
                            </a:rPr>
                            <m:t>8</m:t>
                          </m:r>
                        </m:den>
                      </m:f>
                      <m:sSup>
                        <m:sSupPr>
                          <m:ctrlPr>
                            <a:rPr lang="en-GB"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3</m:t>
                          </m:r>
                        </m:sup>
                      </m:sSup>
                      <m:r>
                        <a:rPr lang="en-GB" i="1">
                          <a:latin typeface="Cambria Math" panose="02040503050406030204" pitchFamily="18" charset="0"/>
                        </a:rPr>
                        <m:t>+…</m:t>
                      </m:r>
                    </m:oMath>
                  </m:oMathPara>
                </a14:m>
                <a:endParaRPr lang="en-GB" dirty="0"/>
              </a:p>
            </p:txBody>
          </p:sp>
        </mc:Choice>
        <mc:Fallback xmlns="">
          <p:sp>
            <p:nvSpPr>
              <p:cNvPr id="7" name="TextBox 6"/>
              <p:cNvSpPr txBox="1">
                <a:spLocks noRot="1" noChangeAspect="1" noMove="1" noResize="1" noEditPoints="1" noAdjustHandles="1" noChangeArrowheads="1" noChangeShapeType="1" noTextEdit="1"/>
              </p:cNvSpPr>
              <p:nvPr/>
            </p:nvSpPr>
            <p:spPr>
              <a:xfrm>
                <a:off x="1952532" y="3703006"/>
                <a:ext cx="3825847" cy="266342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095428" y="3538822"/>
                <a:ext cx="4210816" cy="3319178"/>
              </a:xfrm>
              <a:prstGeom prst="rect">
                <a:avLst/>
              </a:prstGeom>
              <a:noFill/>
            </p:spPr>
            <p:txBody>
              <a:bodyPr wrap="square" rtlCol="0">
                <a:spAutoFit/>
              </a:bodyPr>
              <a:lstStyle/>
              <a:p>
                <a:r>
                  <a:rPr lang="en-GB" sz="1400" b="1" dirty="0"/>
                  <a:t>Comparing </a:t>
                </a:r>
                <a14:m>
                  <m:oMath xmlns:m="http://schemas.openxmlformats.org/officeDocument/2006/math">
                    <m:sSup>
                      <m:sSupPr>
                        <m:ctrlPr>
                          <a:rPr lang="en-GB" sz="1400" b="1" i="1">
                            <a:latin typeface="Cambria Math" panose="02040503050406030204" pitchFamily="18" charset="0"/>
                          </a:rPr>
                        </m:ctrlPr>
                      </m:sSupPr>
                      <m:e>
                        <m:r>
                          <a:rPr lang="en-GB" sz="1400" b="1" i="1">
                            <a:latin typeface="Cambria Math" panose="02040503050406030204" pitchFamily="18" charset="0"/>
                          </a:rPr>
                          <m:t>𝟏</m:t>
                        </m:r>
                        <m:r>
                          <a:rPr lang="en-GB" sz="1400" b="1" i="1">
                            <a:latin typeface="Cambria Math" panose="02040503050406030204" pitchFamily="18" charset="0"/>
                          </a:rPr>
                          <m:t>.</m:t>
                        </m:r>
                        <m:r>
                          <a:rPr lang="en-GB" sz="1400" b="1" i="1">
                            <a:latin typeface="Cambria Math" panose="02040503050406030204" pitchFamily="18" charset="0"/>
                          </a:rPr>
                          <m:t>𝟎𝟐𝟓</m:t>
                        </m:r>
                      </m:e>
                      <m:sup>
                        <m:r>
                          <a:rPr lang="en-GB" sz="1400" b="1" i="1">
                            <a:latin typeface="Cambria Math" panose="02040503050406030204" pitchFamily="18" charset="0"/>
                          </a:rPr>
                          <m:t>𝟖</m:t>
                        </m:r>
                      </m:sup>
                    </m:sSup>
                  </m:oMath>
                </a14:m>
                <a:r>
                  <a:rPr lang="en-GB" sz="1400" b="1" dirty="0"/>
                  <a:t> to </a:t>
                </a:r>
                <a14:m>
                  <m:oMath xmlns:m="http://schemas.openxmlformats.org/officeDocument/2006/math">
                    <m:sSup>
                      <m:sSupPr>
                        <m:ctrlPr>
                          <a:rPr lang="en-GB" sz="1400" b="1" i="1">
                            <a:latin typeface="Cambria Math" panose="02040503050406030204" pitchFamily="18" charset="0"/>
                          </a:rPr>
                        </m:ctrlPr>
                      </m:sSupPr>
                      <m:e>
                        <m:d>
                          <m:dPr>
                            <m:ctrlPr>
                              <a:rPr lang="en-GB" sz="1400" b="1" i="1">
                                <a:latin typeface="Cambria Math" panose="02040503050406030204" pitchFamily="18" charset="0"/>
                              </a:rPr>
                            </m:ctrlPr>
                          </m:dPr>
                          <m:e>
                            <m:r>
                              <a:rPr lang="en-GB" sz="1400" b="1" i="1">
                                <a:latin typeface="Cambria Math" panose="02040503050406030204" pitchFamily="18" charset="0"/>
                              </a:rPr>
                              <m:t>𝟏</m:t>
                            </m:r>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𝒙</m:t>
                                </m:r>
                              </m:num>
                              <m:den>
                                <m:r>
                                  <a:rPr lang="en-GB" sz="1400" b="1" i="1">
                                    <a:latin typeface="Cambria Math" panose="02040503050406030204" pitchFamily="18" charset="0"/>
                                  </a:rPr>
                                  <m:t>𝟒</m:t>
                                </m:r>
                              </m:den>
                            </m:f>
                          </m:e>
                        </m:d>
                      </m:e>
                      <m:sup>
                        <m:r>
                          <a:rPr lang="en-GB" sz="1400" b="1" i="1">
                            <a:latin typeface="Cambria Math" panose="02040503050406030204" pitchFamily="18" charset="0"/>
                          </a:rPr>
                          <m:t>𝟖</m:t>
                        </m:r>
                      </m:sup>
                    </m:sSup>
                  </m:oMath>
                </a14:m>
                <a:r>
                  <a:rPr lang="en-GB" sz="1400" b="1" dirty="0"/>
                  <a:t>, then:</a:t>
                </a:r>
              </a:p>
              <a:p>
                <a:pPr/>
                <a14:m>
                  <m:oMathPara xmlns:m="http://schemas.openxmlformats.org/officeDocument/2006/math">
                    <m:oMathParaPr>
                      <m:jc m:val="centerGroup"/>
                    </m:oMathParaPr>
                    <m:oMath xmlns:m="http://schemas.openxmlformats.org/officeDocument/2006/math">
                      <m:r>
                        <a:rPr lang="en-GB" sz="1400" b="1" i="1">
                          <a:latin typeface="Cambria Math" panose="02040503050406030204" pitchFamily="18" charset="0"/>
                        </a:rPr>
                        <m:t>𝟏</m:t>
                      </m:r>
                      <m:r>
                        <a:rPr lang="en-GB" sz="1400" b="1" i="1">
                          <a:latin typeface="Cambria Math" panose="02040503050406030204" pitchFamily="18" charset="0"/>
                        </a:rPr>
                        <m:t>.</m:t>
                      </m:r>
                      <m:r>
                        <a:rPr lang="en-GB" sz="1400" b="1" i="1">
                          <a:latin typeface="Cambria Math" panose="02040503050406030204" pitchFamily="18" charset="0"/>
                        </a:rPr>
                        <m:t>𝟎𝟐𝟓</m:t>
                      </m:r>
                      <m:r>
                        <a:rPr lang="en-GB" sz="1400" b="1" i="1">
                          <a:latin typeface="Cambria Math" panose="02040503050406030204" pitchFamily="18" charset="0"/>
                        </a:rPr>
                        <m:t>=</m:t>
                      </m:r>
                      <m:r>
                        <a:rPr lang="en-GB" sz="1400" b="1" i="1">
                          <a:latin typeface="Cambria Math" panose="02040503050406030204" pitchFamily="18" charset="0"/>
                        </a:rPr>
                        <m:t>𝟏</m:t>
                      </m:r>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𝒙</m:t>
                          </m:r>
                        </m:num>
                        <m:den>
                          <m:r>
                            <a:rPr lang="en-GB" sz="1400" b="1" i="1">
                              <a:latin typeface="Cambria Math" panose="02040503050406030204" pitchFamily="18" charset="0"/>
                            </a:rPr>
                            <m:t>𝟒</m:t>
                          </m:r>
                        </m:den>
                      </m:f>
                    </m:oMath>
                    <m:oMath xmlns:m="http://schemas.openxmlformats.org/officeDocument/2006/math">
                      <m:r>
                        <a:rPr lang="en-GB" sz="1400" b="1" i="1">
                          <a:latin typeface="Cambria Math" panose="02040503050406030204" pitchFamily="18" charset="0"/>
                        </a:rPr>
                        <m:t>𝟎</m:t>
                      </m:r>
                      <m:r>
                        <a:rPr lang="en-GB" sz="1400" b="1" i="1">
                          <a:latin typeface="Cambria Math" panose="02040503050406030204" pitchFamily="18" charset="0"/>
                        </a:rPr>
                        <m:t>.</m:t>
                      </m:r>
                      <m:r>
                        <a:rPr lang="en-GB" sz="1400" b="1" i="1">
                          <a:latin typeface="Cambria Math" panose="02040503050406030204" pitchFamily="18" charset="0"/>
                        </a:rPr>
                        <m:t>𝟎𝟐𝟓</m:t>
                      </m:r>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𝒙</m:t>
                          </m:r>
                        </m:num>
                        <m:den>
                          <m:r>
                            <a:rPr lang="en-GB" sz="1400" b="1" i="1">
                              <a:latin typeface="Cambria Math" panose="02040503050406030204" pitchFamily="18" charset="0"/>
                            </a:rPr>
                            <m:t>𝟒</m:t>
                          </m:r>
                        </m:den>
                      </m:f>
                    </m:oMath>
                    <m:oMath xmlns:m="http://schemas.openxmlformats.org/officeDocument/2006/math">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𝟎</m:t>
                      </m:r>
                      <m:r>
                        <a:rPr lang="en-GB" sz="1400" b="1" i="1">
                          <a:latin typeface="Cambria Math" panose="02040503050406030204" pitchFamily="18" charset="0"/>
                        </a:rPr>
                        <m:t>.</m:t>
                      </m:r>
                      <m:r>
                        <a:rPr lang="en-GB" sz="1400" b="1" i="1">
                          <a:latin typeface="Cambria Math" panose="02040503050406030204" pitchFamily="18" charset="0"/>
                        </a:rPr>
                        <m:t>𝟏</m:t>
                      </m:r>
                    </m:oMath>
                  </m:oMathPara>
                </a14:m>
                <a:endParaRPr lang="en-GB" sz="1400" b="1" dirty="0"/>
              </a:p>
              <a:p>
                <a:r>
                  <a:rPr lang="en-GB" sz="1400" b="1" dirty="0"/>
                  <a:t>Using our expansion with </a:t>
                </a:r>
                <a14:m>
                  <m:oMath xmlns:m="http://schemas.openxmlformats.org/officeDocument/2006/math">
                    <m:r>
                      <a:rPr lang="en-GB" sz="1400" b="1" i="1">
                        <a:latin typeface="Cambria Math" panose="02040503050406030204" pitchFamily="18" charset="0"/>
                      </a:rPr>
                      <m:t>𝒙</m:t>
                    </m:r>
                    <m:r>
                      <a:rPr lang="en-GB" sz="1400" b="1" i="1">
                        <a:latin typeface="Cambria Math" panose="02040503050406030204" pitchFamily="18" charset="0"/>
                      </a:rPr>
                      <m:t>=</m:t>
                    </m:r>
                    <m:r>
                      <a:rPr lang="en-GB" sz="1400" b="1" i="1">
                        <a:latin typeface="Cambria Math" panose="02040503050406030204" pitchFamily="18" charset="0"/>
                      </a:rPr>
                      <m:t>𝟎</m:t>
                    </m:r>
                    <m:r>
                      <a:rPr lang="en-GB" sz="1400" b="1" i="1">
                        <a:latin typeface="Cambria Math" panose="02040503050406030204" pitchFamily="18" charset="0"/>
                      </a:rPr>
                      <m:t>.</m:t>
                    </m:r>
                    <m:r>
                      <a:rPr lang="en-GB" sz="1400" b="1" i="1">
                        <a:latin typeface="Cambria Math" panose="02040503050406030204" pitchFamily="18" charset="0"/>
                      </a:rPr>
                      <m:t>𝟏</m:t>
                    </m:r>
                  </m:oMath>
                </a14:m>
                <a:r>
                  <a:rPr lang="en-GB" sz="1400" b="1" dirty="0"/>
                  <a:t>:</a:t>
                </a:r>
              </a:p>
              <a:p>
                <a:pPr/>
                <a14:m>
                  <m:oMathPara xmlns:m="http://schemas.openxmlformats.org/officeDocument/2006/math">
                    <m:oMathParaPr>
                      <m:jc m:val="centerGroup"/>
                    </m:oMathParaPr>
                    <m:oMath xmlns:m="http://schemas.openxmlformats.org/officeDocument/2006/math">
                      <m:r>
                        <a:rPr lang="en-GB" sz="1400" b="1" i="1">
                          <a:latin typeface="Cambria Math" panose="02040503050406030204" pitchFamily="18" charset="0"/>
                        </a:rPr>
                        <m:t>𝟏</m:t>
                      </m:r>
                      <m:r>
                        <a:rPr lang="en-GB" sz="1400" b="1" i="1">
                          <a:latin typeface="Cambria Math" panose="02040503050406030204" pitchFamily="18" charset="0"/>
                        </a:rPr>
                        <m:t>+</m:t>
                      </m:r>
                      <m:r>
                        <a:rPr lang="en-GB" sz="1400" b="1" i="1">
                          <a:latin typeface="Cambria Math" panose="02040503050406030204" pitchFamily="18" charset="0"/>
                        </a:rPr>
                        <m:t>𝟐</m:t>
                      </m:r>
                      <m:d>
                        <m:dPr>
                          <m:ctrlPr>
                            <a:rPr lang="en-GB" sz="1400" b="1" i="1">
                              <a:latin typeface="Cambria Math" panose="02040503050406030204" pitchFamily="18" charset="0"/>
                            </a:rPr>
                          </m:ctrlPr>
                        </m:dPr>
                        <m:e>
                          <m:r>
                            <a:rPr lang="en-GB" sz="1400" b="1" i="1">
                              <a:latin typeface="Cambria Math" panose="02040503050406030204" pitchFamily="18" charset="0"/>
                            </a:rPr>
                            <m:t>𝟎</m:t>
                          </m:r>
                          <m:r>
                            <a:rPr lang="en-GB" sz="1400" b="1" i="1">
                              <a:latin typeface="Cambria Math" panose="02040503050406030204" pitchFamily="18" charset="0"/>
                            </a:rPr>
                            <m:t>.</m:t>
                          </m:r>
                          <m:r>
                            <a:rPr lang="en-GB" sz="1400" b="1" i="1">
                              <a:latin typeface="Cambria Math" panose="02040503050406030204" pitchFamily="18" charset="0"/>
                            </a:rPr>
                            <m:t>𝟏</m:t>
                          </m:r>
                        </m:e>
                      </m:d>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𝟕</m:t>
                          </m:r>
                        </m:num>
                        <m:den>
                          <m:r>
                            <a:rPr lang="en-GB" sz="1400" b="1" i="1">
                              <a:latin typeface="Cambria Math" panose="02040503050406030204" pitchFamily="18" charset="0"/>
                            </a:rPr>
                            <m:t>𝟒</m:t>
                          </m:r>
                        </m:den>
                      </m:f>
                      <m:sSup>
                        <m:sSupPr>
                          <m:ctrlPr>
                            <a:rPr lang="en-GB" sz="1400" b="1" i="1">
                              <a:latin typeface="Cambria Math" panose="02040503050406030204" pitchFamily="18" charset="0"/>
                            </a:rPr>
                          </m:ctrlPr>
                        </m:sSupPr>
                        <m:e>
                          <m:d>
                            <m:dPr>
                              <m:ctrlPr>
                                <a:rPr lang="en-GB" sz="1400" b="1" i="1">
                                  <a:latin typeface="Cambria Math" panose="02040503050406030204" pitchFamily="18" charset="0"/>
                                </a:rPr>
                              </m:ctrlPr>
                            </m:dPr>
                            <m:e>
                              <m:r>
                                <a:rPr lang="en-GB" sz="1400" b="1" i="1">
                                  <a:latin typeface="Cambria Math" panose="02040503050406030204" pitchFamily="18" charset="0"/>
                                </a:rPr>
                                <m:t>𝟎</m:t>
                              </m:r>
                              <m:r>
                                <a:rPr lang="en-GB" sz="1400" b="1" i="1">
                                  <a:latin typeface="Cambria Math" panose="02040503050406030204" pitchFamily="18" charset="0"/>
                                </a:rPr>
                                <m:t>.</m:t>
                              </m:r>
                              <m:r>
                                <a:rPr lang="en-GB" sz="1400" b="1" i="1">
                                  <a:latin typeface="Cambria Math" panose="02040503050406030204" pitchFamily="18" charset="0"/>
                                </a:rPr>
                                <m:t>𝟏</m:t>
                              </m:r>
                            </m:e>
                          </m:d>
                        </m:e>
                        <m:sup>
                          <m:r>
                            <a:rPr lang="en-GB" sz="1400" b="1" i="1">
                              <a:latin typeface="Cambria Math" panose="02040503050406030204" pitchFamily="18" charset="0"/>
                            </a:rPr>
                            <m:t>𝟐</m:t>
                          </m:r>
                        </m:sup>
                      </m:sSup>
                      <m:r>
                        <a:rPr lang="en-GB" sz="1400" b="1" i="1">
                          <a:latin typeface="Cambria Math" panose="02040503050406030204" pitchFamily="18" charset="0"/>
                        </a:rPr>
                        <m:t>+</m:t>
                      </m:r>
                      <m:f>
                        <m:fPr>
                          <m:ctrlPr>
                            <a:rPr lang="en-GB" sz="1400" b="1" i="1">
                              <a:latin typeface="Cambria Math" panose="02040503050406030204" pitchFamily="18" charset="0"/>
                            </a:rPr>
                          </m:ctrlPr>
                        </m:fPr>
                        <m:num>
                          <m:r>
                            <a:rPr lang="en-GB" sz="1400" b="1" i="1">
                              <a:latin typeface="Cambria Math" panose="02040503050406030204" pitchFamily="18" charset="0"/>
                            </a:rPr>
                            <m:t>𝟕</m:t>
                          </m:r>
                        </m:num>
                        <m:den>
                          <m:r>
                            <a:rPr lang="en-GB" sz="1400" b="1" i="1">
                              <a:latin typeface="Cambria Math" panose="02040503050406030204" pitchFamily="18" charset="0"/>
                            </a:rPr>
                            <m:t>𝟖</m:t>
                          </m:r>
                        </m:den>
                      </m:f>
                      <m:sSup>
                        <m:sSupPr>
                          <m:ctrlPr>
                            <a:rPr lang="en-GB" sz="1400" b="1" i="1">
                              <a:latin typeface="Cambria Math" panose="02040503050406030204" pitchFamily="18" charset="0"/>
                            </a:rPr>
                          </m:ctrlPr>
                        </m:sSupPr>
                        <m:e>
                          <m:d>
                            <m:dPr>
                              <m:ctrlPr>
                                <a:rPr lang="en-GB" sz="1400" b="1" i="1">
                                  <a:latin typeface="Cambria Math" panose="02040503050406030204" pitchFamily="18" charset="0"/>
                                </a:rPr>
                              </m:ctrlPr>
                            </m:dPr>
                            <m:e>
                              <m:r>
                                <a:rPr lang="en-GB" sz="1400" b="1" i="1">
                                  <a:latin typeface="Cambria Math" panose="02040503050406030204" pitchFamily="18" charset="0"/>
                                </a:rPr>
                                <m:t>𝟎</m:t>
                              </m:r>
                              <m:r>
                                <a:rPr lang="en-GB" sz="1400" b="1" i="1">
                                  <a:latin typeface="Cambria Math" panose="02040503050406030204" pitchFamily="18" charset="0"/>
                                </a:rPr>
                                <m:t>.</m:t>
                              </m:r>
                              <m:r>
                                <a:rPr lang="en-GB" sz="1400" b="1" i="1">
                                  <a:latin typeface="Cambria Math" panose="02040503050406030204" pitchFamily="18" charset="0"/>
                                </a:rPr>
                                <m:t>𝟏</m:t>
                              </m:r>
                            </m:e>
                          </m:d>
                        </m:e>
                        <m:sup>
                          <m:r>
                            <a:rPr lang="en-GB" sz="1400" b="1" i="1">
                              <a:latin typeface="Cambria Math" panose="02040503050406030204" pitchFamily="18" charset="0"/>
                            </a:rPr>
                            <m:t>𝟑</m:t>
                          </m:r>
                        </m:sup>
                      </m:sSup>
                    </m:oMath>
                    <m:oMath xmlns:m="http://schemas.openxmlformats.org/officeDocument/2006/math">
                      <m:r>
                        <a:rPr lang="en-GB" sz="1400" b="1" i="1">
                          <a:latin typeface="Cambria Math" panose="02040503050406030204" pitchFamily="18" charset="0"/>
                        </a:rPr>
                        <m:t>=</m:t>
                      </m:r>
                      <m:r>
                        <a:rPr lang="en-GB" sz="1400" b="1" i="1">
                          <a:latin typeface="Cambria Math" panose="02040503050406030204" pitchFamily="18" charset="0"/>
                        </a:rPr>
                        <m:t>𝟏</m:t>
                      </m:r>
                      <m:r>
                        <a:rPr lang="en-GB" sz="1400" b="1" i="1">
                          <a:latin typeface="Cambria Math" panose="02040503050406030204" pitchFamily="18" charset="0"/>
                        </a:rPr>
                        <m:t>.</m:t>
                      </m:r>
                      <m:r>
                        <a:rPr lang="en-GB" sz="1400" b="1" i="1">
                          <a:latin typeface="Cambria Math" panose="02040503050406030204" pitchFamily="18" charset="0"/>
                        </a:rPr>
                        <m:t>𝟐𝟏𝟖𝟒</m:t>
                      </m:r>
                      <m:r>
                        <a:rPr lang="en-GB" sz="1400" b="1" i="1">
                          <a:latin typeface="Cambria Math" panose="02040503050406030204" pitchFamily="18" charset="0"/>
                        </a:rPr>
                        <m:t> </m:t>
                      </m:r>
                      <m:r>
                        <a:rPr lang="en-GB" sz="1400" b="1" i="1">
                          <a:latin typeface="Cambria Math" panose="02040503050406030204" pitchFamily="18" charset="0"/>
                        </a:rPr>
                        <m:t>𝒕𝒐</m:t>
                      </m:r>
                      <m:r>
                        <a:rPr lang="en-GB" sz="1400" b="1" i="1">
                          <a:latin typeface="Cambria Math" panose="02040503050406030204" pitchFamily="18" charset="0"/>
                        </a:rPr>
                        <m:t> </m:t>
                      </m:r>
                      <m:r>
                        <a:rPr lang="en-GB" sz="1400" b="1" i="1">
                          <a:latin typeface="Cambria Math" panose="02040503050406030204" pitchFamily="18" charset="0"/>
                        </a:rPr>
                        <m:t>𝟒</m:t>
                      </m:r>
                      <m:r>
                        <a:rPr lang="en-GB" sz="1400" b="1" i="1">
                          <a:latin typeface="Cambria Math" panose="02040503050406030204" pitchFamily="18" charset="0"/>
                        </a:rPr>
                        <m:t>𝒅𝒑</m:t>
                      </m:r>
                    </m:oMath>
                  </m:oMathPara>
                </a14:m>
                <a:endParaRPr lang="en-GB" sz="1400" b="1" dirty="0"/>
              </a:p>
              <a:p>
                <a:r>
                  <a:rPr lang="en-GB" sz="1400" dirty="0"/>
                  <a:t>Why should this be a reasonably good approximation of </a:t>
                </a:r>
                <a14:m>
                  <m:oMath xmlns:m="http://schemas.openxmlformats.org/officeDocument/2006/math">
                    <m:sSup>
                      <m:sSupPr>
                        <m:ctrlPr>
                          <a:rPr lang="en-GB" sz="1400" i="1">
                            <a:latin typeface="Cambria Math" panose="02040503050406030204" pitchFamily="18" charset="0"/>
                          </a:rPr>
                        </m:ctrlPr>
                      </m:sSupPr>
                      <m:e>
                        <m:r>
                          <a:rPr lang="en-GB" sz="1400" i="1">
                            <a:latin typeface="Cambria Math" panose="02040503050406030204" pitchFamily="18" charset="0"/>
                          </a:rPr>
                          <m:t>1.025</m:t>
                        </m:r>
                      </m:e>
                      <m:sup>
                        <m:r>
                          <a:rPr lang="en-GB" sz="1400" i="1">
                            <a:latin typeface="Cambria Math" panose="02040503050406030204" pitchFamily="18" charset="0"/>
                          </a:rPr>
                          <m:t>8</m:t>
                        </m:r>
                      </m:sup>
                    </m:sSup>
                  </m:oMath>
                </a14:m>
                <a:r>
                  <a:rPr lang="en-GB" sz="1400" dirty="0"/>
                  <a:t> despite the missing terms in the expansion?</a:t>
                </a:r>
              </a:p>
              <a:p>
                <a14:m>
                  <m:oMath xmlns:m="http://schemas.openxmlformats.org/officeDocument/2006/math">
                    <m:sSup>
                      <m:sSupPr>
                        <m:ctrlPr>
                          <a:rPr lang="en-GB" sz="1400" b="1" i="1">
                            <a:latin typeface="Cambria Math" panose="02040503050406030204" pitchFamily="18" charset="0"/>
                          </a:rPr>
                        </m:ctrlPr>
                      </m:sSupPr>
                      <m:e>
                        <m:r>
                          <a:rPr lang="en-GB" sz="1400" b="1" i="1">
                            <a:latin typeface="Cambria Math" panose="02040503050406030204" pitchFamily="18" charset="0"/>
                          </a:rPr>
                          <m:t>𝒙</m:t>
                        </m:r>
                      </m:e>
                      <m:sup>
                        <m:r>
                          <a:rPr lang="en-GB" sz="1400" b="1" i="1">
                            <a:latin typeface="Cambria Math" panose="02040503050406030204" pitchFamily="18" charset="0"/>
                          </a:rPr>
                          <m:t>𝒓</m:t>
                        </m:r>
                      </m:sup>
                    </m:sSup>
                  </m:oMath>
                </a14:m>
                <a:r>
                  <a:rPr lang="en-GB" sz="1400" b="1" dirty="0"/>
                  <a:t> becomes increasingly small when </a:t>
                </a:r>
                <a14:m>
                  <m:oMath xmlns:m="http://schemas.openxmlformats.org/officeDocument/2006/math">
                    <m:r>
                      <a:rPr lang="en-GB" sz="1400" b="1" i="1">
                        <a:latin typeface="Cambria Math" panose="02040503050406030204" pitchFamily="18" charset="0"/>
                      </a:rPr>
                      <m:t>𝒙</m:t>
                    </m:r>
                    <m:r>
                      <a:rPr lang="en-GB" sz="1400" b="1" i="1">
                        <a:latin typeface="Cambria Math" panose="02040503050406030204" pitchFamily="18" charset="0"/>
                      </a:rPr>
                      <m:t>&lt;</m:t>
                    </m:r>
                    <m:r>
                      <a:rPr lang="en-GB" sz="1400" b="1" i="1">
                        <a:latin typeface="Cambria Math" panose="02040503050406030204" pitchFamily="18" charset="0"/>
                      </a:rPr>
                      <m:t>𝟏</m:t>
                    </m:r>
                  </m:oMath>
                </a14:m>
                <a:r>
                  <a:rPr lang="en-GB" sz="1400" b="1" dirty="0"/>
                  <a:t> as the power increases. Thus the </a:t>
                </a:r>
                <a14:m>
                  <m:oMath xmlns:m="http://schemas.openxmlformats.org/officeDocument/2006/math">
                    <m:sSup>
                      <m:sSupPr>
                        <m:ctrlPr>
                          <a:rPr lang="en-GB" sz="1400" b="1" i="1">
                            <a:latin typeface="Cambria Math" panose="02040503050406030204" pitchFamily="18" charset="0"/>
                          </a:rPr>
                        </m:ctrlPr>
                      </m:sSupPr>
                      <m:e>
                        <m:r>
                          <a:rPr lang="en-GB" sz="1400" b="1" i="1">
                            <a:latin typeface="Cambria Math" panose="02040503050406030204" pitchFamily="18" charset="0"/>
                          </a:rPr>
                          <m:t>𝟎</m:t>
                        </m:r>
                        <m:r>
                          <a:rPr lang="en-GB" sz="1400" b="1" i="1">
                            <a:latin typeface="Cambria Math" panose="02040503050406030204" pitchFamily="18" charset="0"/>
                          </a:rPr>
                          <m:t>.</m:t>
                        </m:r>
                        <m:r>
                          <a:rPr lang="en-GB" sz="1400" b="1" i="1">
                            <a:latin typeface="Cambria Math" panose="02040503050406030204" pitchFamily="18" charset="0"/>
                          </a:rPr>
                          <m:t>𝟏</m:t>
                        </m:r>
                      </m:e>
                      <m:sup>
                        <m:r>
                          <a:rPr lang="en-GB" sz="1400" b="1" i="1">
                            <a:latin typeface="Cambria Math" panose="02040503050406030204" pitchFamily="18" charset="0"/>
                          </a:rPr>
                          <m:t>𝟒</m:t>
                        </m:r>
                      </m:sup>
                    </m:sSup>
                  </m:oMath>
                </a14:m>
                <a:r>
                  <a:rPr lang="en-GB" sz="1400" b="1" dirty="0"/>
                  <a:t> terms and beyond will be negligibly small.</a:t>
                </a:r>
              </a:p>
            </p:txBody>
          </p:sp>
        </mc:Choice>
        <mc:Fallback xmlns="">
          <p:sp>
            <p:nvSpPr>
              <p:cNvPr id="8" name="TextBox 7"/>
              <p:cNvSpPr txBox="1">
                <a:spLocks noRot="1" noChangeAspect="1" noMove="1" noResize="1" noEditPoints="1" noAdjustHandles="1" noChangeArrowheads="1" noChangeShapeType="1" noTextEdit="1"/>
              </p:cNvSpPr>
              <p:nvPr/>
            </p:nvSpPr>
            <p:spPr>
              <a:xfrm>
                <a:off x="6095428" y="3538822"/>
                <a:ext cx="4210816" cy="3319178"/>
              </a:xfrm>
              <a:prstGeom prst="rect">
                <a:avLst/>
              </a:prstGeom>
              <a:blipFill>
                <a:blip r:embed="rId4"/>
                <a:stretch>
                  <a:fillRect l="-434" r="-1302" b="-1471"/>
                </a:stretch>
              </a:blipFill>
            </p:spPr>
            <p:txBody>
              <a:bodyPr/>
              <a:lstStyle/>
              <a:p>
                <a:r>
                  <a:rPr lang="en-GB">
                    <a:noFill/>
                  </a:rPr>
                  <a:t> </a:t>
                </a:r>
              </a:p>
            </p:txBody>
          </p:sp>
        </mc:Fallback>
      </mc:AlternateContent>
      <p:sp>
        <p:nvSpPr>
          <p:cNvPr id="9" name="Rectangle 8"/>
          <p:cNvSpPr/>
          <p:nvPr/>
        </p:nvSpPr>
        <p:spPr>
          <a:xfrm>
            <a:off x="6180377" y="6186312"/>
            <a:ext cx="4250556" cy="63221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0" name="Rectangle 9"/>
          <p:cNvSpPr/>
          <p:nvPr/>
        </p:nvSpPr>
        <p:spPr>
          <a:xfrm>
            <a:off x="6154306" y="3550479"/>
            <a:ext cx="4276629" cy="326804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1" name="Rectangle 10"/>
          <p:cNvSpPr/>
          <p:nvPr/>
        </p:nvSpPr>
        <p:spPr>
          <a:xfrm>
            <a:off x="2301504" y="3550476"/>
            <a:ext cx="3290443" cy="324559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12" name="Rectangle 11"/>
          <p:cNvSpPr/>
          <p:nvPr/>
        </p:nvSpPr>
        <p:spPr>
          <a:xfrm>
            <a:off x="5879979" y="3550476"/>
            <a:ext cx="274327" cy="31057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b</a:t>
            </a:r>
          </a:p>
        </p:txBody>
      </p:sp>
      <p:sp>
        <p:nvSpPr>
          <p:cNvPr id="13" name="Rectangle 12"/>
          <p:cNvSpPr/>
          <p:nvPr/>
        </p:nvSpPr>
        <p:spPr>
          <a:xfrm>
            <a:off x="2020325" y="3550476"/>
            <a:ext cx="274327" cy="31057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a</a:t>
            </a:r>
          </a:p>
        </p:txBody>
      </p:sp>
      <mc:AlternateContent xmlns:mc="http://schemas.openxmlformats.org/markup-compatibility/2006" xmlns:a14="http://schemas.microsoft.com/office/drawing/2010/main">
        <mc:Choice Requires="a14">
          <p:sp>
            <p:nvSpPr>
              <p:cNvPr id="14" name="TextBox 13"/>
              <p:cNvSpPr txBox="1"/>
              <p:nvPr/>
            </p:nvSpPr>
            <p:spPr>
              <a:xfrm>
                <a:off x="9141764" y="1632272"/>
                <a:ext cx="1302775" cy="138499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dirty="0"/>
                  <a:t>Tip</a:t>
                </a:r>
                <a:r>
                  <a:rPr lang="en-GB" sz="1400" dirty="0"/>
                  <a:t>: Use your calculator to compare against the exact value of </a:t>
                </a:r>
                <a14:m>
                  <m:oMath xmlns:m="http://schemas.openxmlformats.org/officeDocument/2006/math">
                    <m:sSup>
                      <m:sSupPr>
                        <m:ctrlPr>
                          <a:rPr lang="en-GB" sz="1400" i="1">
                            <a:latin typeface="Cambria Math" panose="02040503050406030204" pitchFamily="18" charset="0"/>
                          </a:rPr>
                        </m:ctrlPr>
                      </m:sSupPr>
                      <m:e>
                        <m:r>
                          <a:rPr lang="en-GB" sz="1400" i="1">
                            <a:latin typeface="Cambria Math" panose="02040503050406030204" pitchFamily="18" charset="0"/>
                          </a:rPr>
                          <m:t>1.025</m:t>
                        </m:r>
                      </m:e>
                      <m:sup>
                        <m:r>
                          <a:rPr lang="en-GB" sz="1400" i="1">
                            <a:latin typeface="Cambria Math" panose="02040503050406030204" pitchFamily="18" charset="0"/>
                          </a:rPr>
                          <m:t>8</m:t>
                        </m:r>
                      </m:sup>
                    </m:sSup>
                  </m:oMath>
                </a14:m>
                <a:r>
                  <a:rPr lang="en-GB" sz="1400" dirty="0"/>
                  <a:t>.</a:t>
                </a:r>
              </a:p>
            </p:txBody>
          </p:sp>
        </mc:Choice>
        <mc:Fallback xmlns="">
          <p:sp>
            <p:nvSpPr>
              <p:cNvPr id="14" name="TextBox 13"/>
              <p:cNvSpPr txBox="1">
                <a:spLocks noRot="1" noChangeAspect="1" noMove="1" noResize="1" noEditPoints="1" noAdjustHandles="1" noChangeArrowheads="1" noChangeShapeType="1" noTextEdit="1"/>
              </p:cNvSpPr>
              <p:nvPr/>
            </p:nvSpPr>
            <p:spPr>
              <a:xfrm>
                <a:off x="9141764" y="1632272"/>
                <a:ext cx="1302775" cy="1384995"/>
              </a:xfrm>
              <a:prstGeom prst="rect">
                <a:avLst/>
              </a:prstGeom>
              <a:blipFill>
                <a:blip r:embed="rId5"/>
                <a:stretch>
                  <a:fillRect l="-461" b="-3030"/>
                </a:stretch>
              </a:blipFill>
            </p:spPr>
            <p:txBody>
              <a:bodyPr/>
              <a:lstStyle/>
              <a:p>
                <a:r>
                  <a:rPr lang="en-GB">
                    <a:noFill/>
                  </a:rPr>
                  <a:t> </a:t>
                </a:r>
              </a:p>
            </p:txBody>
          </p:sp>
        </mc:Fallback>
      </mc:AlternateContent>
      <p:cxnSp>
        <p:nvCxnSpPr>
          <p:cNvPr id="16" name="Straight Arrow Connector 15"/>
          <p:cNvCxnSpPr>
            <a:stCxn id="14" idx="2"/>
          </p:cNvCxnSpPr>
          <p:nvPr/>
        </p:nvCxnSpPr>
        <p:spPr>
          <a:xfrm flipH="1">
            <a:off x="9624395" y="3017264"/>
            <a:ext cx="168757" cy="3397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8221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9"/>
                    </p:tgtEl>
                  </p:cond>
                </p:stCondLst>
                <p:endSync evt="end" delay="0">
                  <p:rtn val="all"/>
                </p:endSync>
                <p:childTnLst>
                  <p:par>
                    <p:cTn id="12" fill="hold">
                      <p:stCondLst>
                        <p:cond delay="0"/>
                      </p:stCondLst>
                      <p:childTnLst>
                        <p:par>
                          <p:cTn id="13" fill="hold">
                            <p:stCondLst>
                              <p:cond delay="0"/>
                            </p:stCondLst>
                            <p:childTnLst>
                              <p:par>
                                <p:cTn id="14" presetID="10" presetClass="exit" presetSubtype="0" fill="hold" grpId="0" nodeType="clickEffect">
                                  <p:stCondLst>
                                    <p:cond delay="0"/>
                                  </p:stCondLst>
                                  <p:childTnLst>
                                    <p:animEffect transition="out" filter="fade">
                                      <p:cBhvr>
                                        <p:cTn id="15" dur="500"/>
                                        <p:tgtEl>
                                          <p:spTgt spid="9"/>
                                        </p:tgtEl>
                                      </p:cBhvr>
                                    </p:animEffect>
                                    <p:set>
                                      <p:cBhvr>
                                        <p:cTn id="16"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17" restart="whenNotActive" fill="hold" evtFilter="cancelBubble" nodeType="interactiveSeq">
                <p:stCondLst>
                  <p:cond evt="onClick" delay="0">
                    <p:tgtEl>
                      <p:spTgt spid="10"/>
                    </p:tgtEl>
                  </p:cond>
                </p:stCondLst>
                <p:endSync evt="end" delay="0">
                  <p:rtn val="all"/>
                </p:endSync>
                <p:childTnLst>
                  <p:par>
                    <p:cTn id="18" fill="hold">
                      <p:stCondLst>
                        <p:cond delay="0"/>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23" restart="whenNotActive" fill="hold" evtFilter="cancelBubble" nodeType="interactiveSeq">
                <p:stCondLst>
                  <p:cond evt="onClick" delay="0">
                    <p:tgtEl>
                      <p:spTgt spid="11"/>
                    </p:tgtEl>
                  </p:cond>
                </p:stCondLst>
                <p:endSync evt="end" delay="0">
                  <p:rtn val="all"/>
                </p:endSync>
                <p:childTnLst>
                  <p:par>
                    <p:cTn id="24" fill="hold">
                      <p:stCondLst>
                        <p:cond delay="0"/>
                      </p:stCondLst>
                      <p:childTnLst>
                        <p:par>
                          <p:cTn id="25" fill="hold">
                            <p:stCondLst>
                              <p:cond delay="0"/>
                            </p:stCondLst>
                            <p:childTnLst>
                              <p:par>
                                <p:cTn id="26" presetID="10" presetClass="exit" presetSubtype="0" fill="hold" grpId="0" nodeType="clickEffect">
                                  <p:stCondLst>
                                    <p:cond delay="0"/>
                                  </p:stCondLst>
                                  <p:childTnLst>
                                    <p:animEffect transition="out" filter="fade">
                                      <p:cBhvr>
                                        <p:cTn id="27" dur="500"/>
                                        <p:tgtEl>
                                          <p:spTgt spid="11"/>
                                        </p:tgtEl>
                                      </p:cBhvr>
                                    </p:animEffect>
                                    <p:set>
                                      <p:cBhvr>
                                        <p:cTn id="28"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childTnLst>
        </p:cTn>
      </p:par>
    </p:tnLst>
    <p:bldLst>
      <p:bldP spid="9" grpId="0" animBg="1"/>
      <p:bldP spid="9" grpId="1" animBg="1"/>
      <p:bldP spid="10" grpId="0" animBg="1"/>
      <p:bldP spid="10" grpId="1" animBg="1"/>
      <p:bldP spid="11" grpId="0" animBg="1"/>
      <p:bldP spid="11" grpId="1" animBg="1"/>
    </p:bldLst>
  </p:timing>
</p:sld>
</file>

<file path=ppt/c8/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23268" y="1134039"/>
            <a:ext cx="7010620" cy="1769347"/>
          </a:xfrm>
          <a:prstGeom prst="rect">
            <a:avLst/>
          </a:prstGeom>
          <a:effectLst>
            <a:outerShdw blurRad="63500" sx="102000" sy="102000" algn="ctr" rotWithShape="0">
              <a:prstClr val="black">
                <a:alpha val="40000"/>
              </a:prstClr>
            </a:outerShdw>
          </a:effectLst>
        </p:spPr>
      </p:pic>
      <p:grpSp>
        <p:nvGrpSpPr>
          <p:cNvPr id="3" name="Group 2"/>
          <p:cNvGrpSpPr/>
          <p:nvPr/>
        </p:nvGrpSpPr>
        <p:grpSpPr>
          <a:xfrm>
            <a:off x="1524000" y="3"/>
            <a:ext cx="9143074" cy="599127"/>
            <a:chOff x="0" y="13335"/>
            <a:chExt cx="9144218" cy="599127"/>
          </a:xfrm>
        </p:grpSpPr>
        <p:sp>
          <p:nvSpPr>
            <p:cNvPr id="4"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Test Your Understanding</a:t>
              </a:r>
            </a:p>
          </p:txBody>
        </p:sp>
        <p:cxnSp>
          <p:nvCxnSpPr>
            <p:cNvPr id="5" name="Straight Connector 4"/>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sp>
        <p:nvSpPr>
          <p:cNvPr id="6" name="TextBox 5"/>
          <p:cNvSpPr txBox="1"/>
          <p:nvPr/>
        </p:nvSpPr>
        <p:spPr>
          <a:xfrm>
            <a:off x="1919536" y="764704"/>
            <a:ext cx="252028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C2 Jan 2008 Q3</a:t>
            </a:r>
          </a:p>
        </p:txBody>
      </p:sp>
      <p:pic>
        <p:nvPicPr>
          <p:cNvPr id="7" name="Picture 6"/>
          <p:cNvPicPr>
            <a:picLocks noChangeAspect="1"/>
          </p:cNvPicPr>
          <p:nvPr/>
        </p:nvPicPr>
        <p:blipFill>
          <a:blip r:embed="rId3"/>
          <a:stretch>
            <a:fillRect/>
          </a:stretch>
        </p:blipFill>
        <p:spPr>
          <a:xfrm>
            <a:off x="2209130" y="3068960"/>
            <a:ext cx="7399759" cy="2473884"/>
          </a:xfrm>
          <a:prstGeom prst="rect">
            <a:avLst/>
          </a:prstGeom>
        </p:spPr>
      </p:pic>
      <p:sp>
        <p:nvSpPr>
          <p:cNvPr id="8" name="Rectangle 7"/>
          <p:cNvSpPr/>
          <p:nvPr/>
        </p:nvSpPr>
        <p:spPr>
          <a:xfrm>
            <a:off x="2640170" y="3076343"/>
            <a:ext cx="7068277" cy="1529524"/>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
        <p:nvSpPr>
          <p:cNvPr id="9" name="Rectangle 8"/>
          <p:cNvSpPr/>
          <p:nvPr/>
        </p:nvSpPr>
        <p:spPr>
          <a:xfrm>
            <a:off x="2640169" y="4605870"/>
            <a:ext cx="7068277" cy="124177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t>
            </a:r>
          </a:p>
        </p:txBody>
      </p:sp>
    </p:spTree>
    <p:extLst>
      <p:ext uri="{BB962C8B-B14F-4D97-AF65-F5344CB8AC3E}">
        <p14:creationId xmlns:p14="http://schemas.microsoft.com/office/powerpoint/2010/main" val="95144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9" restart="whenNotActive" fill="hold" evtFilter="cancelBubble" nodeType="interactiveSeq">
                <p:stCondLst>
                  <p:cond evt="onClick" delay="0">
                    <p:tgtEl>
                      <p:spTgt spid="8"/>
                    </p:tgtEl>
                  </p:cond>
                </p:stCondLst>
                <p:endSync evt="end" delay="0">
                  <p:rtn val="all"/>
                </p:endSync>
                <p:childTnLst>
                  <p:par>
                    <p:cTn id="10" fill="hold">
                      <p:stCondLst>
                        <p:cond delay="0"/>
                      </p:stCondLst>
                      <p:childTnLst>
                        <p:par>
                          <p:cTn id="11" fill="hold">
                            <p:stCondLst>
                              <p:cond delay="0"/>
                            </p:stCondLst>
                            <p:childTnLst>
                              <p:par>
                                <p:cTn id="12" presetID="10" presetClass="exit" presetSubtype="0" fill="hold" grpId="0" nodeType="clickEffect">
                                  <p:stCondLst>
                                    <p:cond delay="0"/>
                                  </p:stCondLst>
                                  <p:childTnLst>
                                    <p:animEffect transition="out" filter="fade">
                                      <p:cBhvr>
                                        <p:cTn id="13" dur="500"/>
                                        <p:tgtEl>
                                          <p:spTgt spid="8"/>
                                        </p:tgtEl>
                                      </p:cBhvr>
                                    </p:animEffect>
                                    <p:set>
                                      <p:cBhvr>
                                        <p:cTn id="14"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15" restart="whenNotActive" fill="hold" evtFilter="cancelBubble" nodeType="interactiveSeq">
                <p:stCondLst>
                  <p:cond evt="onClick" delay="0">
                    <p:tgtEl>
                      <p:spTgt spid="9"/>
                    </p:tgtEl>
                  </p:cond>
                </p:stCondLst>
                <p:endSync evt="end" delay="0">
                  <p:rtn val="all"/>
                </p:endSync>
                <p:childTnLst>
                  <p:par>
                    <p:cTn id="16" fill="hold">
                      <p:stCondLst>
                        <p:cond delay="0"/>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9"/>
                                        </p:tgtEl>
                                      </p:cBhvr>
                                    </p:animEffect>
                                    <p:set>
                                      <p:cBhvr>
                                        <p:cTn id="20"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8" grpId="0" animBg="1"/>
      <p:bldP spid="8" grpId="1" animBg="1"/>
      <p:bldP spid="9" grpId="0" animBg="1"/>
      <p:bldP spid="9" grpId="1" animBg="1"/>
    </p:bldLst>
  </p:timing>
</p:sld>
</file>

<file path=ppt/c8/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8E – Y1 Page 168-169</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9" name="Group 8">
            <a:extLst>
              <a:ext uri="{FF2B5EF4-FFF2-40B4-BE49-F238E27FC236}">
                <a16:creationId xmlns:a16="http://schemas.microsoft.com/office/drawing/2014/main" id="{3A53ADD7-5CEB-9DAF-1922-6BD7495C21F4}"/>
              </a:ext>
            </a:extLst>
          </p:cNvPr>
          <p:cNvGrpSpPr/>
          <p:nvPr/>
        </p:nvGrpSpPr>
        <p:grpSpPr>
          <a:xfrm>
            <a:off x="1524003" y="602229"/>
            <a:ext cx="8627895" cy="1103291"/>
            <a:chOff x="0" y="602226"/>
            <a:chExt cx="9144000" cy="1169288"/>
          </a:xfrm>
        </p:grpSpPr>
        <p:pic>
          <p:nvPicPr>
            <p:cNvPr id="6" name="Picture 5">
              <a:extLst>
                <a:ext uri="{FF2B5EF4-FFF2-40B4-BE49-F238E27FC236}">
                  <a16:creationId xmlns:a16="http://schemas.microsoft.com/office/drawing/2014/main" id="{7FFD67B8-6561-F794-C062-4B3768F86769}"/>
                </a:ext>
              </a:extLst>
            </p:cNvPr>
            <p:cNvPicPr>
              <a:picLocks noChangeAspect="1"/>
            </p:cNvPicPr>
            <p:nvPr/>
          </p:nvPicPr>
          <p:blipFill>
            <a:blip r:embed="rId2"/>
            <a:stretch>
              <a:fillRect/>
            </a:stretch>
          </p:blipFill>
          <p:spPr>
            <a:xfrm>
              <a:off x="0" y="602226"/>
              <a:ext cx="9144000" cy="1169288"/>
            </a:xfrm>
            <a:prstGeom prst="rect">
              <a:avLst/>
            </a:prstGeom>
          </p:spPr>
        </p:pic>
        <p:sp>
          <p:nvSpPr>
            <p:cNvPr id="8" name="Rectangle 7">
              <a:extLst>
                <a:ext uri="{FF2B5EF4-FFF2-40B4-BE49-F238E27FC236}">
                  <a16:creationId xmlns:a16="http://schemas.microsoft.com/office/drawing/2014/main" id="{9E1C0442-70AD-73D1-539C-5178A35763F6}"/>
                </a:ext>
              </a:extLst>
            </p:cNvPr>
            <p:cNvSpPr/>
            <p:nvPr/>
          </p:nvSpPr>
          <p:spPr>
            <a:xfrm>
              <a:off x="8820472" y="1052736"/>
              <a:ext cx="322384" cy="71877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1" name="Picture 10">
            <a:extLst>
              <a:ext uri="{FF2B5EF4-FFF2-40B4-BE49-F238E27FC236}">
                <a16:creationId xmlns:a16="http://schemas.microsoft.com/office/drawing/2014/main" id="{61FE5731-FE69-7CC9-9927-EB24A69309C3}"/>
              </a:ext>
            </a:extLst>
          </p:cNvPr>
          <p:cNvPicPr>
            <a:picLocks noChangeAspect="1"/>
          </p:cNvPicPr>
          <p:nvPr/>
        </p:nvPicPr>
        <p:blipFill rotWithShape="1">
          <a:blip r:embed="rId3"/>
          <a:srcRect l="7131"/>
          <a:stretch/>
        </p:blipFill>
        <p:spPr>
          <a:xfrm>
            <a:off x="1919536" y="1916835"/>
            <a:ext cx="4968552" cy="3533061"/>
          </a:xfrm>
          <a:prstGeom prst="rect">
            <a:avLst/>
          </a:prstGeom>
        </p:spPr>
      </p:pic>
      <p:sp>
        <p:nvSpPr>
          <p:cNvPr id="12" name="Rectangle 11">
            <a:extLst>
              <a:ext uri="{FF2B5EF4-FFF2-40B4-BE49-F238E27FC236}">
                <a16:creationId xmlns:a16="http://schemas.microsoft.com/office/drawing/2014/main" id="{55F91361-3D66-D991-CE22-109E8F3A0060}"/>
              </a:ext>
            </a:extLst>
          </p:cNvPr>
          <p:cNvSpPr/>
          <p:nvPr/>
        </p:nvSpPr>
        <p:spPr>
          <a:xfrm>
            <a:off x="1755778" y="1988843"/>
            <a:ext cx="8395041" cy="122413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02406FA6-A96A-CC8C-7BB6-FA504E08DBCF}"/>
                  </a:ext>
                </a:extLst>
              </p14:cNvPr>
              <p14:cNvContentPartPr/>
              <p14:nvPr/>
            </p14:nvContentPartPr>
            <p14:xfrm>
              <a:off x="4403880" y="3409560"/>
              <a:ext cx="2989080" cy="424440"/>
            </p14:xfrm>
          </p:contentPart>
        </mc:Choice>
        <mc:Fallback xmlns="">
          <p:pic>
            <p:nvPicPr>
              <p:cNvPr id="5" name="Ink 4">
                <a:extLst>
                  <a:ext uri="{FF2B5EF4-FFF2-40B4-BE49-F238E27FC236}">
                    <a16:creationId xmlns:a16="http://schemas.microsoft.com/office/drawing/2014/main" id="{02406FA6-A96A-CC8C-7BB6-FA504E08DBCF}"/>
                  </a:ext>
                </a:extLst>
              </p:cNvPr>
              <p:cNvPicPr/>
              <p:nvPr/>
            </p:nvPicPr>
            <p:blipFill>
              <a:blip r:embed="rId5"/>
              <a:stretch>
                <a:fillRect/>
              </a:stretch>
            </p:blipFill>
            <p:spPr>
              <a:xfrm>
                <a:off x="4394520" y="3400200"/>
                <a:ext cx="3007800" cy="443160"/>
              </a:xfrm>
              <a:prstGeom prst="rect">
                <a:avLst/>
              </a:prstGeom>
            </p:spPr>
          </p:pic>
        </mc:Fallback>
      </mc:AlternateContent>
      <p:sp>
        <p:nvSpPr>
          <p:cNvPr id="7" name="Rectangle 6">
            <a:extLst>
              <a:ext uri="{FF2B5EF4-FFF2-40B4-BE49-F238E27FC236}">
                <a16:creationId xmlns:a16="http://schemas.microsoft.com/office/drawing/2014/main" id="{7654861A-86AC-2770-CD14-6A93A01B4AD7}"/>
              </a:ext>
            </a:extLst>
          </p:cNvPr>
          <p:cNvSpPr/>
          <p:nvPr/>
        </p:nvSpPr>
        <p:spPr>
          <a:xfrm>
            <a:off x="1761507" y="3284985"/>
            <a:ext cx="8395041" cy="2656186"/>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4076620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7"/>
                                        </p:tgtEl>
                                      </p:cBhvr>
                                    </p:animEffect>
                                    <p:set>
                                      <p:cBhvr>
                                        <p:cTn id="13"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childTnLst>
        </p:cTn>
      </p:par>
    </p:tnLst>
    <p:bldLst>
      <p:bldP spid="12" grpId="0" animBg="1"/>
      <p:bldP spid="7" grpId="0" animBg="1"/>
    </p:bldLst>
  </p:timing>
</p:sld>
</file>

<file path=ppt/c8/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8E – Y1 Page 168-169</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1" name="Group 10">
            <a:extLst>
              <a:ext uri="{FF2B5EF4-FFF2-40B4-BE49-F238E27FC236}">
                <a16:creationId xmlns:a16="http://schemas.microsoft.com/office/drawing/2014/main" id="{CA7C6EBB-21F2-DE48-415A-87F3D43566DE}"/>
              </a:ext>
            </a:extLst>
          </p:cNvPr>
          <p:cNvGrpSpPr/>
          <p:nvPr/>
        </p:nvGrpSpPr>
        <p:grpSpPr>
          <a:xfrm>
            <a:off x="1631504" y="634487"/>
            <a:ext cx="8748464" cy="1287454"/>
            <a:chOff x="0" y="620879"/>
            <a:chExt cx="9144000" cy="1345662"/>
          </a:xfrm>
        </p:grpSpPr>
        <p:pic>
          <p:nvPicPr>
            <p:cNvPr id="9" name="Picture 8">
              <a:extLst>
                <a:ext uri="{FF2B5EF4-FFF2-40B4-BE49-F238E27FC236}">
                  <a16:creationId xmlns:a16="http://schemas.microsoft.com/office/drawing/2014/main" id="{D1C47BA4-58A4-D3FD-41A8-C8E8A2BCDB02}"/>
                </a:ext>
              </a:extLst>
            </p:cNvPr>
            <p:cNvPicPr>
              <a:picLocks noChangeAspect="1"/>
            </p:cNvPicPr>
            <p:nvPr/>
          </p:nvPicPr>
          <p:blipFill>
            <a:blip r:embed="rId2"/>
            <a:stretch>
              <a:fillRect/>
            </a:stretch>
          </p:blipFill>
          <p:spPr>
            <a:xfrm>
              <a:off x="0" y="620879"/>
              <a:ext cx="9144000" cy="1312333"/>
            </a:xfrm>
            <a:prstGeom prst="rect">
              <a:avLst/>
            </a:prstGeom>
          </p:spPr>
        </p:pic>
        <p:sp>
          <p:nvSpPr>
            <p:cNvPr id="10" name="Rectangle 9">
              <a:extLst>
                <a:ext uri="{FF2B5EF4-FFF2-40B4-BE49-F238E27FC236}">
                  <a16:creationId xmlns:a16="http://schemas.microsoft.com/office/drawing/2014/main" id="{2CDA9CD9-653A-8F75-812B-1D6D5066107F}"/>
                </a:ext>
              </a:extLst>
            </p:cNvPr>
            <p:cNvSpPr/>
            <p:nvPr/>
          </p:nvSpPr>
          <p:spPr>
            <a:xfrm>
              <a:off x="8350768" y="980923"/>
              <a:ext cx="792088" cy="9856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3" name="Picture 12">
            <a:extLst>
              <a:ext uri="{FF2B5EF4-FFF2-40B4-BE49-F238E27FC236}">
                <a16:creationId xmlns:a16="http://schemas.microsoft.com/office/drawing/2014/main" id="{1F4C59FE-C788-BFAA-E7FB-473AA2AB995B}"/>
              </a:ext>
            </a:extLst>
          </p:cNvPr>
          <p:cNvPicPr>
            <a:picLocks noChangeAspect="1"/>
          </p:cNvPicPr>
          <p:nvPr/>
        </p:nvPicPr>
        <p:blipFill>
          <a:blip r:embed="rId3"/>
          <a:stretch>
            <a:fillRect/>
          </a:stretch>
        </p:blipFill>
        <p:spPr>
          <a:xfrm>
            <a:off x="1883530" y="1988840"/>
            <a:ext cx="8567007" cy="2232248"/>
          </a:xfrm>
          <a:prstGeom prst="rect">
            <a:avLst/>
          </a:prstGeom>
        </p:spPr>
      </p:pic>
      <p:sp>
        <p:nvSpPr>
          <p:cNvPr id="14" name="Rectangle 13">
            <a:extLst>
              <a:ext uri="{FF2B5EF4-FFF2-40B4-BE49-F238E27FC236}">
                <a16:creationId xmlns:a16="http://schemas.microsoft.com/office/drawing/2014/main" id="{80ABE5FC-D61D-DA6B-23CE-6EC44757CD58}"/>
              </a:ext>
            </a:extLst>
          </p:cNvPr>
          <p:cNvSpPr/>
          <p:nvPr/>
        </p:nvSpPr>
        <p:spPr>
          <a:xfrm>
            <a:off x="1757072" y="2055631"/>
            <a:ext cx="8748464" cy="94132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5" name="Rectangle 14">
            <a:extLst>
              <a:ext uri="{FF2B5EF4-FFF2-40B4-BE49-F238E27FC236}">
                <a16:creationId xmlns:a16="http://schemas.microsoft.com/office/drawing/2014/main" id="{56BC366C-7224-FEDA-E112-86A51C5B2C21}"/>
              </a:ext>
            </a:extLst>
          </p:cNvPr>
          <p:cNvSpPr/>
          <p:nvPr/>
        </p:nvSpPr>
        <p:spPr>
          <a:xfrm>
            <a:off x="1760714" y="3140971"/>
            <a:ext cx="8748464" cy="2656187"/>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Tree>
    <p:extLst>
      <p:ext uri="{BB962C8B-B14F-4D97-AF65-F5344CB8AC3E}">
        <p14:creationId xmlns:p14="http://schemas.microsoft.com/office/powerpoint/2010/main" val="225437315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childTnLst>
        </p:cTn>
      </p:par>
    </p:tnLst>
    <p:bldLst>
      <p:bldP spid="14" grpId="0" animBg="1"/>
      <p:bldP spid="15" grpId="0" animBg="1"/>
    </p:bldLst>
  </p:timing>
</p:sld>
</file>

<file path=ppt/c8/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0" y="3"/>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8E – Y1 Page 168-169</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0" name="Group 9">
            <a:extLst>
              <a:ext uri="{FF2B5EF4-FFF2-40B4-BE49-F238E27FC236}">
                <a16:creationId xmlns:a16="http://schemas.microsoft.com/office/drawing/2014/main" id="{E0C580CF-BBAE-0C82-C610-084EE327839F}"/>
              </a:ext>
            </a:extLst>
          </p:cNvPr>
          <p:cNvGrpSpPr/>
          <p:nvPr/>
        </p:nvGrpSpPr>
        <p:grpSpPr>
          <a:xfrm>
            <a:off x="1522859" y="619472"/>
            <a:ext cx="7525471" cy="2863016"/>
            <a:chOff x="-1144" y="619471"/>
            <a:chExt cx="8331251" cy="3169569"/>
          </a:xfrm>
        </p:grpSpPr>
        <p:pic>
          <p:nvPicPr>
            <p:cNvPr id="6" name="Picture 5">
              <a:extLst>
                <a:ext uri="{FF2B5EF4-FFF2-40B4-BE49-F238E27FC236}">
                  <a16:creationId xmlns:a16="http://schemas.microsoft.com/office/drawing/2014/main" id="{20EA990F-7CA3-5596-97B2-E846DC9B29E7}"/>
                </a:ext>
              </a:extLst>
            </p:cNvPr>
            <p:cNvPicPr>
              <a:picLocks noChangeAspect="1"/>
            </p:cNvPicPr>
            <p:nvPr/>
          </p:nvPicPr>
          <p:blipFill>
            <a:blip r:embed="rId2"/>
            <a:stretch>
              <a:fillRect/>
            </a:stretch>
          </p:blipFill>
          <p:spPr>
            <a:xfrm>
              <a:off x="-1144" y="619471"/>
              <a:ext cx="8173544" cy="3039985"/>
            </a:xfrm>
            <a:prstGeom prst="rect">
              <a:avLst/>
            </a:prstGeom>
          </p:spPr>
        </p:pic>
        <p:sp>
          <p:nvSpPr>
            <p:cNvPr id="8" name="Rectangle 7">
              <a:extLst>
                <a:ext uri="{FF2B5EF4-FFF2-40B4-BE49-F238E27FC236}">
                  <a16:creationId xmlns:a16="http://schemas.microsoft.com/office/drawing/2014/main" id="{D8C002DE-603C-992F-200E-EDF1A83007C3}"/>
                </a:ext>
              </a:extLst>
            </p:cNvPr>
            <p:cNvSpPr/>
            <p:nvPr/>
          </p:nvSpPr>
          <p:spPr>
            <a:xfrm>
              <a:off x="7524328" y="2060848"/>
              <a:ext cx="792088" cy="7920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554714F4-8EDC-2429-F41C-A6C89F020BB6}"/>
                </a:ext>
              </a:extLst>
            </p:cNvPr>
            <p:cNvSpPr/>
            <p:nvPr/>
          </p:nvSpPr>
          <p:spPr>
            <a:xfrm>
              <a:off x="7538019" y="3477753"/>
              <a:ext cx="792088" cy="3112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2" name="Picture 11">
            <a:extLst>
              <a:ext uri="{FF2B5EF4-FFF2-40B4-BE49-F238E27FC236}">
                <a16:creationId xmlns:a16="http://schemas.microsoft.com/office/drawing/2014/main" id="{B7613D81-0040-CC94-7995-47C098183B88}"/>
              </a:ext>
            </a:extLst>
          </p:cNvPr>
          <p:cNvPicPr>
            <a:picLocks noChangeAspect="1"/>
          </p:cNvPicPr>
          <p:nvPr/>
        </p:nvPicPr>
        <p:blipFill>
          <a:blip r:embed="rId3"/>
          <a:stretch>
            <a:fillRect/>
          </a:stretch>
        </p:blipFill>
        <p:spPr>
          <a:xfrm>
            <a:off x="3719736" y="3467120"/>
            <a:ext cx="4479228" cy="3373444"/>
          </a:xfrm>
          <a:prstGeom prst="rect">
            <a:avLst/>
          </a:prstGeom>
        </p:spPr>
      </p:pic>
      <p:sp>
        <p:nvSpPr>
          <p:cNvPr id="13" name="Rectangle 12">
            <a:extLst>
              <a:ext uri="{FF2B5EF4-FFF2-40B4-BE49-F238E27FC236}">
                <a16:creationId xmlns:a16="http://schemas.microsoft.com/office/drawing/2014/main" id="{5C243F44-106D-BA98-875E-E28D644EDA36}"/>
              </a:ext>
            </a:extLst>
          </p:cNvPr>
          <p:cNvSpPr/>
          <p:nvPr/>
        </p:nvSpPr>
        <p:spPr>
          <a:xfrm>
            <a:off x="3143672" y="3365437"/>
            <a:ext cx="5635072" cy="508032"/>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a:t>
            </a:r>
          </a:p>
        </p:txBody>
      </p:sp>
      <p:sp>
        <p:nvSpPr>
          <p:cNvPr id="15" name="Rectangle 14">
            <a:extLst>
              <a:ext uri="{FF2B5EF4-FFF2-40B4-BE49-F238E27FC236}">
                <a16:creationId xmlns:a16="http://schemas.microsoft.com/office/drawing/2014/main" id="{95F934B1-E3E9-0D46-CB65-94C48D861664}"/>
              </a:ext>
            </a:extLst>
          </p:cNvPr>
          <p:cNvSpPr/>
          <p:nvPr/>
        </p:nvSpPr>
        <p:spPr>
          <a:xfrm>
            <a:off x="3143672" y="3933059"/>
            <a:ext cx="5635072" cy="772885"/>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a:t>
            </a:r>
          </a:p>
        </p:txBody>
      </p:sp>
      <p:sp>
        <p:nvSpPr>
          <p:cNvPr id="16" name="Rectangle 15">
            <a:extLst>
              <a:ext uri="{FF2B5EF4-FFF2-40B4-BE49-F238E27FC236}">
                <a16:creationId xmlns:a16="http://schemas.microsoft.com/office/drawing/2014/main" id="{9074160F-4F22-E063-3537-63434800B4DD}"/>
              </a:ext>
            </a:extLst>
          </p:cNvPr>
          <p:cNvSpPr/>
          <p:nvPr/>
        </p:nvSpPr>
        <p:spPr>
          <a:xfrm>
            <a:off x="3143672" y="4789437"/>
            <a:ext cx="5635072" cy="1951933"/>
          </a:xfrm>
          <a:prstGeom prst="rect">
            <a:avLst/>
          </a:prstGeom>
          <a:solidFill>
            <a:schemeClr val="tx2">
              <a:lumMod val="20000"/>
              <a:lumOff val="80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c?</a:t>
            </a:r>
          </a:p>
        </p:txBody>
      </p:sp>
    </p:spTree>
    <p:extLst>
      <p:ext uri="{BB962C8B-B14F-4D97-AF65-F5344CB8AC3E}">
        <p14:creationId xmlns:p14="http://schemas.microsoft.com/office/powerpoint/2010/main" val="245807481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14" restart="whenNotActive" fill="hold" evtFilter="cancelBubble" nodeType="interactiveSeq">
                <p:stCondLst>
                  <p:cond evt="onClick" delay="0">
                    <p:tgtEl>
                      <p:spTgt spid="16"/>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6"/>
                                        </p:tgtEl>
                                      </p:cBhvr>
                                    </p:animEffect>
                                    <p:set>
                                      <p:cBhvr>
                                        <p:cTn id="19"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childTnLst>
        </p:cTn>
      </p:par>
    </p:tnLst>
    <p:bldLst>
      <p:bldP spid="13" grpId="0" animBg="1"/>
      <p:bldP spid="15" grpId="0" animBg="1"/>
      <p:bldP spid="16" grpId="0" animBg="1"/>
    </p:bldLst>
  </p:timing>
</p:sld>
</file>

<file path=ppt/c8/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bg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c8/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