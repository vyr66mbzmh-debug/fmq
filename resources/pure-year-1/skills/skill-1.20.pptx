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3/ppt/slideMasters/slideMaster1.xml" ContentType="application/vnd.openxmlformats-officedocument.presentationml.slideMaster+xml"/>
  <ns0:Override PartName="/ppt/c3/ppt/slides/slide17.xml" ContentType="application/vnd.openxmlformats-officedocument.presentationml.slide+xml"/>
  <ns0:Override PartName="/ppt/c3/ppt/slides/slide18.xml" ContentType="application/vnd.openxmlformats-officedocument.presentationml.slide+xml"/>
  <ns0:Override PartName="/ppt/c3/ppt/slides/slide19.xml" ContentType="application/vnd.openxmlformats-officedocument.presentationml.slide+xml"/>
  <ns0:Override PartName="/ppt/c3/ppt/slides/slide20.xml" ContentType="application/vnd.openxmlformats-officedocument.presentationml.slide+xml"/>
  <ns0:Override PartName="/ppt/c3/ppt/slides/slide21.xml" ContentType="application/vnd.openxmlformats-officedocument.presentationml.slide+xml"/>
  <ns0:Override PartName="/ppt/c3/ppt/slides/slide22.xml" ContentType="application/vnd.openxmlformats-officedocument.presentationml.slide+xml"/>
  <ns0:Override PartName="/ppt/c3/ppt/slides/slide23.xml" ContentType="application/vnd.openxmlformats-officedocument.presentationml.slide+xml"/>
  <ns0:Override PartName="/ppt/c3/ppt/slides/slide24.xml" ContentType="application/vnd.openxmlformats-officedocument.presentationml.slide+xml"/>
  <ns0:Override PartName="/ppt/c3/ppt/slides/slide25.xml" ContentType="application/vnd.openxmlformats-officedocument.presentationml.slide+xml"/>
  <ns0:Override PartName="/ppt/c3/ppt/slides/slide26.xml" ContentType="application/vnd.openxmlformats-officedocument.presentationml.slide+xml"/>
  <ns0:Override PartName="/ppt/c3/ppt/slides/slide27.xml" ContentType="application/vnd.openxmlformats-officedocument.presentationml.slide+xml"/>
  <ns0:Override PartName="/ppt/c3/ppt/slides/slide28.xml" ContentType="application/vnd.openxmlformats-officedocument.presentationml.slide+xml"/>
  <ns0:Override PartName="/ppt/c3/ppt/slides/slide29.xml" ContentType="application/vnd.openxmlformats-officedocument.presentationml.slide+xml"/>
  <ns0:Override PartName="/ppt/c3/ppt/notesMasters/notesMaster1.xml" ContentType="application/vnd.openxmlformats-officedocument.presentationml.notesMaster+xml"/>
  <ns0:Override PartName="/ppt/c3/ppt/theme/theme1.xml" ContentType="application/vnd.openxmlformats-officedocument.theme+xml"/>
  <ns0:Override PartName="/ppt/c3/ppt/slideLayouts/slideLayout1.xml" ContentType="application/vnd.openxmlformats-officedocument.presentationml.slideLayout+xml"/>
  <ns0:Override PartName="/ppt/c3/ppt/slideLayouts/slideLayout2.xml" ContentType="application/vnd.openxmlformats-officedocument.presentationml.slideLayout+xml"/>
  <ns0:Override PartName="/ppt/c3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948" r:id="rId14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3/ppt/slides/slide17.xml" /><ns0:Relationship Id="rId2" Type="http://schemas.openxmlformats.org/officeDocument/2006/relationships/slide" Target="c3/ppt/slides/slide18.xml" /><ns0:Relationship Id="rId3" Type="http://schemas.openxmlformats.org/officeDocument/2006/relationships/slide" Target="c3/ppt/slides/slide19.xml" /><ns0:Relationship Id="rId4" Type="http://schemas.openxmlformats.org/officeDocument/2006/relationships/slide" Target="c3/ppt/slides/slide20.xml" /><ns0:Relationship Id="rId5" Type="http://schemas.openxmlformats.org/officeDocument/2006/relationships/slide" Target="c3/ppt/slides/slide21.xml" /><ns0:Relationship Id="rId6" Type="http://schemas.openxmlformats.org/officeDocument/2006/relationships/slide" Target="c3/ppt/slides/slide22.xml" /><ns0:Relationship Id="rId7" Type="http://schemas.openxmlformats.org/officeDocument/2006/relationships/slide" Target="c3/ppt/slides/slide23.xml" /><ns0:Relationship Id="rId8" Type="http://schemas.openxmlformats.org/officeDocument/2006/relationships/slide" Target="c3/ppt/slides/slide24.xml" /><ns0:Relationship Id="rId9" Type="http://schemas.openxmlformats.org/officeDocument/2006/relationships/slide" Target="c3/ppt/slides/slide25.xml" /><ns0:Relationship Id="rId10" Type="http://schemas.openxmlformats.org/officeDocument/2006/relationships/slide" Target="c3/ppt/slides/slide26.xml" /><ns0:Relationship Id="rId11" Type="http://schemas.openxmlformats.org/officeDocument/2006/relationships/slide" Target="c3/ppt/slides/slide27.xml" /><ns0:Relationship Id="rId12" Type="http://schemas.openxmlformats.org/officeDocument/2006/relationships/slide" Target="c3/ppt/slides/slide28.xml" /><ns0:Relationship Id="rId13" Type="http://schemas.openxmlformats.org/officeDocument/2006/relationships/slide" Target="c3/ppt/slides/slide29.xml" /><ns0:Relationship Id="rId14" Type="http://schemas.openxmlformats.org/officeDocument/2006/relationships/slideMaster" Target="c3/ppt/slideMasters/slideMaster1.xml" /><ns0:Relationship Id="rId15" Type="http://schemas.openxmlformats.org/officeDocument/2006/relationships/notesMaster" Target="c3/ppt/notesMasters/notesMaster1.xml" /></ns0:Relationships>
</file>

<file path=ppt/c3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3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3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3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3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399880775"/>
      </p:ext>
    </p:extLst>
  </p:cSld>
  <p:clrMapOvr>
    <a:masterClrMapping/>
  </p:clrMapOvr>
</p:sldLayout>
</file>

<file path=ppt/c3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3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3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24/09/2026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9126"/>
            <a:ext cx="109728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3/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56.png" /><ns0:Relationship Id="rId2" Type="http://schemas.openxmlformats.org/officeDocument/2006/relationships/image" Target="../media/image55.png" /><ns0:Relationship Id="rId1" Type="http://schemas.openxmlformats.org/officeDocument/2006/relationships/slideLayout" Target="../slideLayouts/slideLayout2.xml" /></ns0:Relationships>
</file>

<file path=ppt/c3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58.png" /><ns0:Relationship Id="rId2" Type="http://schemas.openxmlformats.org/officeDocument/2006/relationships/image" Target="../media/image5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1.png" /><ns0:Relationship Id="rId5" Type="http://schemas.openxmlformats.org/officeDocument/2006/relationships/image" Target="../media/image60.png" /><ns0:Relationship Id="rId4" Type="http://schemas.openxmlformats.org/officeDocument/2006/relationships/image" Target="../media/image59.png" /></ns0:Relationships>
</file>

<file path=ppt/c3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63.png" /><ns0:Relationship Id="rId7" Type="http://schemas.openxmlformats.org/officeDocument/2006/relationships/image" Target="../media/image67.png" /><ns0:Relationship Id="rId2" Type="http://schemas.openxmlformats.org/officeDocument/2006/relationships/image" Target="../media/image6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6.png" /><ns0:Relationship Id="rId5" Type="http://schemas.openxmlformats.org/officeDocument/2006/relationships/image" Target="../media/image65.png" /><ns0:Relationship Id="rId4" Type="http://schemas.openxmlformats.org/officeDocument/2006/relationships/image" Target="../media/image64.png" /></ns0:Relationships>
</file>

<file path=ppt/c3/ppt/slides/_rels/slide20.xml.rels><?xml version='1.0' encoding='utf-8'?>
<ns0:Relationships xmlns:ns0="http://schemas.openxmlformats.org/package/2006/relationships"><ns0:Relationship Id="rId8" Type="http://schemas.openxmlformats.org/officeDocument/2006/relationships/image" Target="../media/image74.png" /><ns0:Relationship Id="rId3" Type="http://schemas.openxmlformats.org/officeDocument/2006/relationships/image" Target="../media/image69.png" /><ns0:Relationship Id="rId7" Type="http://schemas.openxmlformats.org/officeDocument/2006/relationships/image" Target="../media/image73.png" /><ns0:Relationship Id="rId2" Type="http://schemas.openxmlformats.org/officeDocument/2006/relationships/image" Target="../media/image6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72.png" /><ns0:Relationship Id="rId5" Type="http://schemas.openxmlformats.org/officeDocument/2006/relationships/image" Target="../media/image71.png" /><ns0:Relationship Id="rId4" Type="http://schemas.openxmlformats.org/officeDocument/2006/relationships/image" Target="../media/image70.png" /><ns0:Relationship Id="rId9" Type="http://schemas.openxmlformats.org/officeDocument/2006/relationships/image" Target="../media/image75.png" /></ns0:Relationships>
</file>

<file path=ppt/c3/ppt/slides/_rels/slide21.xml.rels><?xml version='1.0' encoding='utf-8'?>
<ns0:Relationships xmlns:ns0="http://schemas.openxmlformats.org/package/2006/relationships"><ns0:Relationship Id="rId8" Type="http://schemas.openxmlformats.org/officeDocument/2006/relationships/image" Target="../media/image150.png" /><ns0:Relationship Id="rId13" Type="http://schemas.openxmlformats.org/officeDocument/2006/relationships/image" Target="../media/image82.png" /><ns0:Relationship Id="rId3" Type="http://schemas.openxmlformats.org/officeDocument/2006/relationships/image" Target="../media/image77.png" /><ns0:Relationship Id="rId7" Type="http://schemas.openxmlformats.org/officeDocument/2006/relationships/image" Target="../media/image141.png" /><ns0:Relationship Id="rId12" Type="http://schemas.openxmlformats.org/officeDocument/2006/relationships/image" Target="../media/image81.png" /><ns0:Relationship Id="rId2" Type="http://schemas.openxmlformats.org/officeDocument/2006/relationships/image" Target="../media/image7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4.png" /><ns0:Relationship Id="rId11" Type="http://schemas.openxmlformats.org/officeDocument/2006/relationships/image" Target="../media/image80.png" /><ns0:Relationship Id="rId5" Type="http://schemas.openxmlformats.org/officeDocument/2006/relationships/image" Target="../media/image122.png" /><ns0:Relationship Id="rId10" Type="http://schemas.openxmlformats.org/officeDocument/2006/relationships/image" Target="../media/image79.png" /><ns0:Relationship Id="rId4" Type="http://schemas.openxmlformats.org/officeDocument/2006/relationships/image" Target="../media/image110.png" /><ns0:Relationship Id="rId9" Type="http://schemas.openxmlformats.org/officeDocument/2006/relationships/image" Target="../media/image78.png" /></ns0:Relationships>
</file>

<file path=ppt/c3/ppt/slides/_rels/slide22.xml.rels><?xml version='1.0' encoding='utf-8'?>
<ns0:Relationships xmlns:ns0="http://schemas.openxmlformats.org/package/2006/relationships"><ns0:Relationship Id="rId8" Type="http://schemas.openxmlformats.org/officeDocument/2006/relationships/image" Target="../media/image150.png" /><ns0:Relationship Id="rId3" Type="http://schemas.openxmlformats.org/officeDocument/2006/relationships/image" Target="../media/image84.png" /><ns0:Relationship Id="rId7" Type="http://schemas.openxmlformats.org/officeDocument/2006/relationships/image" Target="../media/image141.png" /><ns0:Relationship Id="rId2" Type="http://schemas.openxmlformats.org/officeDocument/2006/relationships/image" Target="../media/image8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4.png" /><ns0:Relationship Id="rId11" Type="http://schemas.openxmlformats.org/officeDocument/2006/relationships/image" Target="../media/image87.png" /><ns0:Relationship Id="rId5" Type="http://schemas.openxmlformats.org/officeDocument/2006/relationships/image" Target="../media/image122.png" /><ns0:Relationship Id="rId10" Type="http://schemas.openxmlformats.org/officeDocument/2006/relationships/image" Target="../media/image86.png" /><ns0:Relationship Id="rId4" Type="http://schemas.openxmlformats.org/officeDocument/2006/relationships/image" Target="../media/image110.png" /><ns0:Relationship Id="rId9" Type="http://schemas.openxmlformats.org/officeDocument/2006/relationships/image" Target="../media/image85.png" /></ns0:Relationships>
</file>

<file path=ppt/c3/ppt/slides/_rels/slide23.xml.rels><?xml version='1.0' encoding='utf-8'?>
<ns0:Relationships xmlns:ns0="http://schemas.openxmlformats.org/package/2006/relationships"><ns0:Relationship Id="rId8" Type="http://schemas.openxmlformats.org/officeDocument/2006/relationships/image" Target="../media/image89.png" /><ns0:Relationship Id="rId13" Type="http://schemas.openxmlformats.org/officeDocument/2006/relationships/image" Target="../media/image380.png" /><ns0:Relationship Id="rId3" Type="http://schemas.openxmlformats.org/officeDocument/2006/relationships/image" Target="../media/image280.png" /><ns0:Relationship Id="rId7" Type="http://schemas.openxmlformats.org/officeDocument/2006/relationships/image" Target="../media/image320.png" /><ns0:Relationship Id="rId12" Type="http://schemas.openxmlformats.org/officeDocument/2006/relationships/image" Target="../media/image370.png" /><ns0:Relationship Id="rId2" Type="http://schemas.openxmlformats.org/officeDocument/2006/relationships/image" Target="../media/image88.png" /><ns0:Relationship Id="rId16" Type="http://schemas.openxmlformats.org/officeDocument/2006/relationships/image" Target="../media/image9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10.png" /><ns0:Relationship Id="rId11" Type="http://schemas.openxmlformats.org/officeDocument/2006/relationships/image" Target="../media/image360.png" /><ns0:Relationship Id="rId5" Type="http://schemas.openxmlformats.org/officeDocument/2006/relationships/image" Target="../media/image300.png" /><ns0:Relationship Id="rId15" Type="http://schemas.openxmlformats.org/officeDocument/2006/relationships/image" Target="../media/image91.png" /><ns0:Relationship Id="rId10" Type="http://schemas.openxmlformats.org/officeDocument/2006/relationships/image" Target="../media/image350.png" /><ns0:Relationship Id="rId4" Type="http://schemas.openxmlformats.org/officeDocument/2006/relationships/image" Target="../media/image290.png" /><ns0:Relationship Id="rId9" Type="http://schemas.openxmlformats.org/officeDocument/2006/relationships/image" Target="../media/image90.png" /><ns0:Relationship Id="rId14" Type="http://schemas.openxmlformats.org/officeDocument/2006/relationships/image" Target="../media/image390.png" /></ns0:Relationships>
</file>

<file path=ppt/c3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94.png" /><ns0:Relationship Id="rId2" Type="http://schemas.openxmlformats.org/officeDocument/2006/relationships/image" Target="../media/image9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7.png" /><ns0:Relationship Id="rId5" Type="http://schemas.openxmlformats.org/officeDocument/2006/relationships/image" Target="../media/image96.png" /><ns0:Relationship Id="rId4" Type="http://schemas.openxmlformats.org/officeDocument/2006/relationships/image" Target="../media/image95.png" /></ns0:Relationships>
</file>

<file path=ppt/c3/ppt/slides/_rels/slide25.xml.rels><?xml version='1.0' encoding='utf-8'?>
<ns0:Relationships xmlns:ns0="http://schemas.openxmlformats.org/package/2006/relationships"><ns0:Relationship Id="rId8" Type="http://schemas.openxmlformats.org/officeDocument/2006/relationships/image" Target="../media/image122.png" /><ns0:Relationship Id="rId3" Type="http://schemas.openxmlformats.org/officeDocument/2006/relationships/image" Target="../media/image98.png" /><ns0:Relationship Id="rId7" Type="http://schemas.openxmlformats.org/officeDocument/2006/relationships/image" Target="../media/image110.png" /><ns0:Relationship Id="rId2" Type="http://schemas.openxmlformats.org/officeDocument/2006/relationships/image" Target="../media/image530.png" /><ns0:Relationship Id="rId1" Type="http://schemas.openxmlformats.org/officeDocument/2006/relationships/slideLayout" Target="../slideLayouts/slideLayout2.xml" /><ns0:Relationship Id="rId11" Type="http://schemas.openxmlformats.org/officeDocument/2006/relationships/image" Target="../media/image620.png" /><ns0:Relationship Id="rId5" Type="http://schemas.openxmlformats.org/officeDocument/2006/relationships/image" Target="../media/image100.png" /><ns0:Relationship Id="rId10" Type="http://schemas.openxmlformats.org/officeDocument/2006/relationships/image" Target="../media/image610.png" /><ns0:Relationship Id="rId4" Type="http://schemas.openxmlformats.org/officeDocument/2006/relationships/image" Target="../media/image99.png" /><ns0:Relationship Id="rId9" Type="http://schemas.openxmlformats.org/officeDocument/2006/relationships/image" Target="../media/image601.png" /></ns0:Relationships>
</file>

<file path=ppt/c3/ppt/slides/_rels/slide26.xml.rels><?xml version='1.0' encoding='utf-8'?>
<ns0:Relationships xmlns:ns0="http://schemas.openxmlformats.org/package/2006/relationships"><ns0:Relationship Id="rId8" Type="http://schemas.openxmlformats.org/officeDocument/2006/relationships/image" Target="../media/image107.png" /><ns0:Relationship Id="rId3" Type="http://schemas.openxmlformats.org/officeDocument/2006/relationships/image" Target="../media/image102.png" /><ns0:Relationship Id="rId7" Type="http://schemas.openxmlformats.org/officeDocument/2006/relationships/image" Target="../media/image106.png" /><ns0:Relationship Id="rId2" Type="http://schemas.openxmlformats.org/officeDocument/2006/relationships/image" Target="../media/image10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05.png" /><ns0:Relationship Id="rId5" Type="http://schemas.openxmlformats.org/officeDocument/2006/relationships/image" Target="../media/image104.png" /><ns0:Relationship Id="rId4" Type="http://schemas.openxmlformats.org/officeDocument/2006/relationships/image" Target="../media/image103.png" /></ns0:Relationships>
</file>

<file path=ppt/c3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109.png" /><ns0:Relationship Id="rId2" Type="http://schemas.openxmlformats.org/officeDocument/2006/relationships/image" Target="../media/image108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11.png" /></ns0:Relationships>
</file>

<file path=ppt/c3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113.png" /><ns0:Relationship Id="rId2" Type="http://schemas.openxmlformats.org/officeDocument/2006/relationships/image" Target="../media/image112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14.png" /></ns0:Relationships>
</file>

<file path=ppt/c3/ppt/slides/_rels/slide29.xml.rels><?xml version='1.0' encoding='utf-8'?>
<ns0:Relationships xmlns:ns0="http://schemas.openxmlformats.org/package/2006/relationships"><ns0:Relationship Id="rId8" Type="http://schemas.openxmlformats.org/officeDocument/2006/relationships/image" Target="../media/image150.png" /><ns0:Relationship Id="rId13" Type="http://schemas.openxmlformats.org/officeDocument/2006/relationships/image" Target="../media/image590.png" /><ns0:Relationship Id="rId18" Type="http://schemas.openxmlformats.org/officeDocument/2006/relationships/image" Target="../media/image120.png" /><ns0:Relationship Id="rId7" Type="http://schemas.openxmlformats.org/officeDocument/2006/relationships/image" Target="../media/image141.png" /><ns0:Relationship Id="rId12" Type="http://schemas.openxmlformats.org/officeDocument/2006/relationships/image" Target="../media/image580.png" /><ns0:Relationship Id="rId17" Type="http://schemas.openxmlformats.org/officeDocument/2006/relationships/image" Target="../media/image119.png" /><ns0:Relationship Id="rId16" Type="http://schemas.openxmlformats.org/officeDocument/2006/relationships/image" Target="../media/image11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4.png" /><ns0:Relationship Id="rId11" Type="http://schemas.openxmlformats.org/officeDocument/2006/relationships/image" Target="../media/image570.png" /><ns0:Relationship Id="rId5" Type="http://schemas.openxmlformats.org/officeDocument/2006/relationships/image" Target="../media/image122.png" /><ns0:Relationship Id="rId15" Type="http://schemas.openxmlformats.org/officeDocument/2006/relationships/image" Target="../media/image117.png" /><ns0:Relationship Id="rId10" Type="http://schemas.openxmlformats.org/officeDocument/2006/relationships/image" Target="../media/image116.png" /><ns0:Relationship Id="rId4" Type="http://schemas.openxmlformats.org/officeDocument/2006/relationships/image" Target="../media/image110.png" /><ns0:Relationship Id="rId9" Type="http://schemas.openxmlformats.org/officeDocument/2006/relationships/image" Target="../media/image115.png" /><ns0:Relationship Id="rId14" Type="http://schemas.openxmlformats.org/officeDocument/2006/relationships/image" Target="../media/image600.png" /></ns0:Relationships>
</file>

<file path=ppt/c3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Set Builder Notation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9536" y="836713"/>
            <a:ext cx="82089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Recall that a </a:t>
            </a:r>
            <a:r>
              <a:rPr lang="en-GB" sz="2000" b="1" dirty="0"/>
              <a:t>set</a:t>
            </a:r>
            <a:r>
              <a:rPr lang="en-GB" sz="2000" dirty="0"/>
              <a:t> is a </a:t>
            </a:r>
            <a:r>
              <a:rPr lang="en-GB" sz="2000" b="1" dirty="0"/>
              <a:t>collection of values </a:t>
            </a:r>
            <a:r>
              <a:rPr lang="en-GB" sz="2000" dirty="0"/>
              <a:t>such that:</a:t>
            </a:r>
          </a:p>
          <a:p>
            <a:pPr marL="342900" indent="-342900">
              <a:buAutoNum type="alphaLcParenR"/>
            </a:pPr>
            <a:r>
              <a:rPr lang="en-GB" sz="2000" dirty="0"/>
              <a:t>The </a:t>
            </a:r>
            <a:r>
              <a:rPr lang="en-GB" sz="2000" b="1" dirty="0"/>
              <a:t>order of values does not matter</a:t>
            </a:r>
            <a:r>
              <a:rPr lang="en-GB" sz="2000" dirty="0"/>
              <a:t>.</a:t>
            </a:r>
          </a:p>
          <a:p>
            <a:pPr marL="342900" indent="-342900">
              <a:buAutoNum type="alphaLcParenR"/>
            </a:pPr>
            <a:r>
              <a:rPr lang="en-GB" sz="2000" dirty="0"/>
              <a:t>There are </a:t>
            </a:r>
            <a:r>
              <a:rPr lang="en-GB" sz="2000" b="1" dirty="0"/>
              <a:t>no duplicates</a:t>
            </a:r>
            <a:r>
              <a:rPr lang="en-GB" sz="2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87638" y="1975955"/>
                <a:ext cx="7416824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Recap from GCSE: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We use curly braces to list the values in a set, e.g.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700" i="1">
                            <a:latin typeface="Cambria Math" panose="02040503050406030204" pitchFamily="18" charset="0"/>
                          </a:rPr>
                          <m:t>1,4,6,7</m:t>
                        </m:r>
                      </m:e>
                    </m:d>
                  </m:oMath>
                </a14:m>
                <a:endParaRPr lang="en-GB" sz="1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If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are sets then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is the </a:t>
                </a:r>
                <a:r>
                  <a:rPr lang="en-GB" sz="1700" b="1" dirty="0"/>
                  <a:t>intersection</a:t>
                </a:r>
                <a:r>
                  <a:rPr lang="en-GB" sz="1700" dirty="0"/>
                  <a:t> of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, giving a set which has the elements in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</a:t>
                </a:r>
                <a:r>
                  <a:rPr lang="en-GB" sz="1700" b="1" u="sng" dirty="0"/>
                  <a:t>and</a:t>
                </a:r>
                <a:r>
                  <a:rPr lang="en-GB" sz="1700" dirty="0"/>
                  <a:t>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 is the </a:t>
                </a:r>
                <a:r>
                  <a:rPr lang="en-GB" sz="1700" b="1" dirty="0"/>
                  <a:t>union</a:t>
                </a:r>
                <a:r>
                  <a:rPr lang="en-GB" sz="1700" dirty="0"/>
                  <a:t> of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, giving a set which has the elements in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</a:t>
                </a:r>
                <a:r>
                  <a:rPr lang="en-GB" sz="1700" b="1" u="sng" dirty="0"/>
                  <a:t>or</a:t>
                </a:r>
                <a:r>
                  <a:rPr lang="en-GB" sz="1700" dirty="0"/>
                  <a:t> in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7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1700" dirty="0"/>
                  <a:t> is the empty set, i.e. the set with nothing in it.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Sets can also be infinitely large.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sz="1700" dirty="0"/>
                  <a:t> is the set of natural numbers (all positive integers),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1700" dirty="0"/>
                  <a:t> is the set of all integers (including negative numbers and 0) and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700" dirty="0"/>
                  <a:t> is the set of all real numbers (including all possible decimals).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700" dirty="0"/>
                  <a:t>We write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700" dirty="0"/>
                  <a:t> to mean “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 </a:t>
                </a:r>
                <a:r>
                  <a:rPr lang="en-GB" sz="1700" u="sng" dirty="0"/>
                  <a:t>is a member of</a:t>
                </a:r>
                <a:r>
                  <a:rPr lang="en-GB" sz="1700" dirty="0"/>
                  <a:t> the set A”. So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7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700" dirty="0"/>
                  <a:t> would mean “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700" dirty="0"/>
                  <a:t> is a real number”.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638" y="1975955"/>
                <a:ext cx="7416824" cy="3354765"/>
              </a:xfrm>
              <a:prstGeom prst="rect">
                <a:avLst/>
              </a:prstGeom>
              <a:blipFill>
                <a:blip r:embed="rId2"/>
                <a:stretch>
                  <a:fillRect l="-1197" t="-1509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53048" y="5292825"/>
                <a:ext cx="626469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3,4,5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3,4,5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3,4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       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048" y="5292825"/>
                <a:ext cx="6264696" cy="1384995"/>
              </a:xfrm>
              <a:prstGeom prst="rect">
                <a:avLst/>
              </a:prstGeom>
              <a:blipFill>
                <a:blip r:embed="rId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605836" y="5232400"/>
            <a:ext cx="2258764" cy="500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5836" y="5732782"/>
            <a:ext cx="2258764" cy="500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5836" y="6233164"/>
            <a:ext cx="2258764" cy="5003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3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c3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Set Builder Notation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91544" y="771373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It is possible to construct sets without having to explicitly list its values. We use: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23792" y="1844825"/>
                <a:ext cx="345638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𝑒𝑥𝑝𝑟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𝑒𝑥𝑝𝑟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𝑐𝑜𝑛𝑑𝑖𝑡𝑖𝑜𝑛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1844825"/>
                <a:ext cx="3456384" cy="646331"/>
              </a:xfrm>
              <a:prstGeom prst="rect">
                <a:avLst/>
              </a:prstGeom>
              <a:blipFill>
                <a:blip r:embed="rId2"/>
                <a:stretch>
                  <a:fillRect l="-1091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954806" y="2831671"/>
            <a:ext cx="5523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Can you guess what sets the following give?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99280" y="3945509"/>
                <a:ext cx="69253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={0,2,−2,4,−4,6,−6,…}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280" y="3945509"/>
                <a:ext cx="6925382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95193" y="3572376"/>
                <a:ext cx="42074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(In words “All numbers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</a:t>
                </a:r>
                <a:r>
                  <a:rPr lang="en-GB" sz="1400" u="sng" dirty="0"/>
                  <a:t>such that</a:t>
                </a:r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an integer)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193" y="3572376"/>
                <a:ext cx="4207409" cy="307777"/>
              </a:xfrm>
              <a:prstGeom prst="rect">
                <a:avLst/>
              </a:prstGeom>
              <a:blipFill>
                <a:blip r:embed="rId4"/>
                <a:stretch>
                  <a:fillRect l="-602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112224" y="1557125"/>
            <a:ext cx="2304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| or : means “such that”.</a:t>
            </a:r>
            <a:endParaRPr lang="en-GB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735321" y="1679945"/>
            <a:ext cx="391499" cy="164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849598" y="3790060"/>
            <a:ext cx="303065" cy="123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44404" y="3943695"/>
            <a:ext cx="1636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i.e. The set of all even numbers!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09912" y="4499290"/>
                <a:ext cx="69253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ℕ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={2,4,8,16,32,…}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912" y="4499290"/>
                <a:ext cx="6925382" cy="523220"/>
              </a:xfrm>
              <a:prstGeom prst="rect">
                <a:avLst/>
              </a:prstGeom>
              <a:blipFill>
                <a:blip r:embed="rId5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09912" y="5079202"/>
                <a:ext cx="69253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𝑝𝑟𝑖𝑚𝑒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={4,6,10,14,15,…}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912" y="5079202"/>
                <a:ext cx="6925382" cy="523220"/>
              </a:xfrm>
              <a:prstGeom prst="rect">
                <a:avLst/>
              </a:prstGeom>
              <a:blipFill>
                <a:blip r:embed="rId6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544273" y="5112466"/>
            <a:ext cx="1974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i.e. All possible products of two primes.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5018" y="3850167"/>
            <a:ext cx="5380601" cy="6367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5018" y="4488754"/>
            <a:ext cx="5380601" cy="519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3972" y="5064628"/>
            <a:ext cx="4643908" cy="519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735" y="5896195"/>
            <a:ext cx="753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We previously talked about ‘solutions sets’, so set builder notation is very useful for specifying the set of solutions!</a:t>
            </a:r>
          </a:p>
        </p:txBody>
      </p:sp>
    </p:spTree>
    <p:extLst>
      <p:ext uri="{BB962C8B-B14F-4D97-AF65-F5344CB8AC3E}">
        <p14:creationId xmlns:p14="http://schemas.microsoft.com/office/powerpoint/2010/main" val="308626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5" grpId="0"/>
      <p:bldP spid="17" grpId="0"/>
      <p:bldP spid="18" grpId="0"/>
      <p:bldP spid="19" grpId="0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/>
    </p:bldLst>
  </p:timing>
</p:sld>
</file>

<file path=ppt/c3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8480" y="854016"/>
            <a:ext cx="7127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Can you use set builder notation to specify the following sets?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Set Builder Notation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1962141" y="2035579"/>
            <a:ext cx="2892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odd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86879" y="2030856"/>
                <a:ext cx="3600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{2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  : 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879" y="2030856"/>
                <a:ext cx="3600400" cy="523220"/>
              </a:xfrm>
              <a:prstGeom prst="rect">
                <a:avLst/>
              </a:prstGeom>
              <a:blipFill>
                <a:blip r:embed="rId2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962142" y="2821472"/>
            <a:ext cx="2892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(real) numbers greater than 5.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69652" y="2876329"/>
                <a:ext cx="29253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&gt;5}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52" y="2876329"/>
                <a:ext cx="2925345" cy="523220"/>
              </a:xfrm>
              <a:prstGeom prst="rect">
                <a:avLst/>
              </a:prstGeom>
              <a:blipFill>
                <a:blip r:embed="rId3"/>
                <a:stretch>
                  <a:fillRect l="-258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627595" y="3358484"/>
                <a:ext cx="3600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Technically it should be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&gt;5,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1400" dirty="0"/>
                  <a:t> but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GB" sz="1400" dirty="0"/>
                  <a:t> by default implies </a:t>
                </a:r>
                <a:r>
                  <a:rPr lang="en-GB" sz="1400" b="1" dirty="0"/>
                  <a:t>real numbers</a:t>
                </a:r>
                <a:r>
                  <a:rPr lang="en-GB" sz="1400" dirty="0"/>
                  <a:t> greater than 5.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595" y="3358484"/>
                <a:ext cx="3600400" cy="738664"/>
              </a:xfrm>
              <a:prstGeom prst="rect">
                <a:avLst/>
              </a:prstGeom>
              <a:blipFill>
                <a:blip r:embed="rId4"/>
                <a:stretch>
                  <a:fillRect l="-704" t="-169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991545" y="4032122"/>
            <a:ext cx="3269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(real) numbers less than 5 </a:t>
            </a:r>
            <a:r>
              <a:rPr lang="en-GB" sz="2400" b="1" dirty="0"/>
              <a:t>or</a:t>
            </a:r>
            <a:r>
              <a:rPr lang="en-GB" sz="2400" dirty="0"/>
              <a:t> greater than 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69652" y="4135214"/>
                <a:ext cx="45587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: 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&lt;5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∪{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&gt;7}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52" y="4135214"/>
                <a:ext cx="4558797" cy="523220"/>
              </a:xfrm>
              <a:prstGeom prst="rect">
                <a:avLst/>
              </a:prstGeom>
              <a:blipFill>
                <a:blip r:embed="rId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650766" y="4653746"/>
            <a:ext cx="36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 combine the two sets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3553" y="5400654"/>
            <a:ext cx="3506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(real) numbers between 5 and 7 inclusive.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627596" y="5369234"/>
                <a:ext cx="45587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:  5≤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596" y="5369234"/>
                <a:ext cx="4558797" cy="523220"/>
              </a:xfrm>
              <a:prstGeom prst="rect">
                <a:avLst/>
              </a:prstGeom>
              <a:blipFill>
                <a:blip r:embed="rId6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29940" y="5816151"/>
                <a:ext cx="428248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While we could technically write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≥5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∩{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≤7}</m:t>
                    </m:r>
                  </m:oMath>
                </a14:m>
                <a:r>
                  <a:rPr lang="en-GB" sz="1400" dirty="0"/>
                  <a:t>, we tend to write multiple required conditions within the same set.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940" y="5816151"/>
                <a:ext cx="4282484" cy="738664"/>
              </a:xfrm>
              <a:prstGeom prst="rect">
                <a:avLst/>
              </a:prstGeom>
              <a:blipFill>
                <a:blip r:embed="rId7"/>
                <a:stretch>
                  <a:fillRect l="-592" t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591905" y="1940589"/>
            <a:ext cx="3917147" cy="6643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7110" y="2956698"/>
            <a:ext cx="3917147" cy="10836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91905" y="4198182"/>
            <a:ext cx="3917147" cy="8416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9652" y="5400653"/>
            <a:ext cx="4151063" cy="121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48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c3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 of linear inequalities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135560" y="112474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64558" y="112474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Solution Set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85751" y="1538035"/>
            <a:ext cx="84249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807968" y="1124744"/>
            <a:ext cx="0" cy="2376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35560" y="1772817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+1&gt;5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1772817"/>
                <a:ext cx="3384376" cy="461665"/>
              </a:xfrm>
              <a:prstGeom prst="rect">
                <a:avLst/>
              </a:prstGeom>
              <a:blipFill>
                <a:blip r:embed="rId2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64558" y="1772816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&gt;2}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58" y="1772816"/>
                <a:ext cx="3384376" cy="461665"/>
              </a:xfrm>
              <a:prstGeom prst="rect">
                <a:avLst/>
              </a:prstGeom>
              <a:blipFill>
                <a:blip r:embed="rId3"/>
                <a:stretch>
                  <a:fillRect l="-1498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35560" y="2337884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≥5−2(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−8)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337884"/>
                <a:ext cx="3384376" cy="461665"/>
              </a:xfrm>
              <a:prstGeom prst="rect">
                <a:avLst/>
              </a:prstGeom>
              <a:blipFill>
                <a:blip r:embed="rId4"/>
                <a:stretch>
                  <a:fillRect l="-375" r="-749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73210" y="2292962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≥7.2}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210" y="2292962"/>
                <a:ext cx="3384376" cy="461665"/>
              </a:xfrm>
              <a:prstGeom prst="rect">
                <a:avLst/>
              </a:prstGeom>
              <a:blipFill>
                <a:blip r:embed="rId5"/>
                <a:stretch>
                  <a:fillRect l="-1498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093030" y="3029505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030" y="3029505"/>
                <a:ext cx="338437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73210" y="3012796"/>
                <a:ext cx="33843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≤−2}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210" y="3012796"/>
                <a:ext cx="3384376" cy="461665"/>
              </a:xfrm>
              <a:prstGeom prst="rect">
                <a:avLst/>
              </a:prstGeom>
              <a:blipFill>
                <a:blip r:embed="rId7"/>
                <a:stretch>
                  <a:fillRect l="-1498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963443" y="293454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</a:t>
            </a:r>
            <a:r>
              <a:rPr lang="en-GB" sz="1200" dirty="0"/>
              <a:t>: Multiplying or both sides of an inequality by a negative number reverses the direction.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1002" y="1669312"/>
            <a:ext cx="4321184" cy="520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0531" y="2286493"/>
            <a:ext cx="4321184" cy="520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7315" y="2934548"/>
            <a:ext cx="4321184" cy="8544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09950" y="4149080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Combining Inequalities: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67608" y="4561079"/>
                <a:ext cx="648072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en-GB" dirty="0"/>
                  <a:t>, what is the combined solution set?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4561079"/>
                <a:ext cx="6480720" cy="369332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041369" y="5570227"/>
                <a:ext cx="25182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2≤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369" y="5570227"/>
                <a:ext cx="251822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3328751" y="50957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8079" y="50957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647" y="509570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40" name="Oval 39"/>
          <p:cNvSpPr/>
          <p:nvPr/>
        </p:nvSpPr>
        <p:spPr>
          <a:xfrm>
            <a:off x="4089893" y="5465041"/>
            <a:ext cx="216024" cy="2091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Arrow Connector 41"/>
          <p:cNvCxnSpPr>
            <a:stCxn id="40" idx="2"/>
          </p:cNvCxnSpPr>
          <p:nvPr/>
        </p:nvCxnSpPr>
        <p:spPr>
          <a:xfrm flipH="1">
            <a:off x="2569513" y="5569617"/>
            <a:ext cx="15203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359696" y="5763368"/>
            <a:ext cx="216024" cy="20915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/>
          <p:cNvSpPr/>
          <p:nvPr/>
        </p:nvSpPr>
        <p:spPr>
          <a:xfrm>
            <a:off x="4770526" y="5763368"/>
            <a:ext cx="216024" cy="2091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Arrow Connector 44"/>
          <p:cNvCxnSpPr>
            <a:stCxn id="44" idx="2"/>
            <a:endCxn id="43" idx="6"/>
          </p:cNvCxnSpPr>
          <p:nvPr/>
        </p:nvCxnSpPr>
        <p:spPr>
          <a:xfrm flipH="1">
            <a:off x="3575720" y="5867944"/>
            <a:ext cx="119480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43465" y="6043525"/>
            <a:ext cx="3240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If both inequalities have to be satisfied, we have to be on both lines. Place your finger vertically and scan across.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3466" y="5081225"/>
            <a:ext cx="3364503" cy="17009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Hint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0532" y="5072692"/>
            <a:ext cx="3173821" cy="17094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Solution</a:t>
            </a:r>
          </a:p>
        </p:txBody>
      </p:sp>
    </p:spTree>
    <p:extLst>
      <p:ext uri="{BB962C8B-B14F-4D97-AF65-F5344CB8AC3E}">
        <p14:creationId xmlns:p14="http://schemas.microsoft.com/office/powerpoint/2010/main" val="308974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49" grpId="0" animBg="1"/>
      <p:bldP spid="50" grpId="0" animBg="1"/>
    </p:bldLst>
  </p:timing>
</p:sld>
</file>

<file path=ppt/c3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 :: Solving Quadratic Inequalities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−15&gt;0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blipFill>
                <a:blip r:embed="rId2"/>
                <a:stretch>
                  <a:fillRect l="-732" b="-1355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36180" y="2340824"/>
                <a:ext cx="43204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80" y="2340824"/>
                <a:ext cx="432048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142212" y="1756048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1</a:t>
            </a:r>
            <a:r>
              <a:rPr lang="en-GB" dirty="0"/>
              <a:t>: Get 0 on one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2212" y="2539087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</a:t>
            </a:r>
            <a:r>
              <a:rPr lang="en-GB" dirty="0"/>
              <a:t>: Factorise</a:t>
            </a:r>
            <a:endParaRPr lang="en-GB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7142212" y="3174781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</a:t>
            </a:r>
            <a:r>
              <a:rPr lang="en-GB" dirty="0"/>
              <a:t>: Sketch and reason</a:t>
            </a:r>
            <a:endParaRPr lang="en-GB" sz="14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2279576" y="3333651"/>
            <a:ext cx="4323878" cy="2130560"/>
            <a:chOff x="755576" y="3333651"/>
            <a:chExt cx="4323878" cy="213056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: Shape 16"/>
            <p:cNvSpPr/>
            <p:nvPr/>
          </p:nvSpPr>
          <p:spPr>
            <a:xfrm>
              <a:off x="876300" y="39624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612979" y="3819526"/>
                <a:ext cx="38930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we sketched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+5)(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we’re interested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, i.e. the parts of the line where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is positive.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979" y="3819526"/>
                <a:ext cx="3893096" cy="1200329"/>
              </a:xfrm>
              <a:prstGeom prst="rect">
                <a:avLst/>
              </a:prstGeom>
              <a:blipFill>
                <a:blip r:embed="rId9"/>
                <a:stretch>
                  <a:fillRect l="-1299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348165" y="5059228"/>
            <a:ext cx="2340124" cy="47976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bolden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23" name="Freeform: Shape 22"/>
          <p:cNvSpPr/>
          <p:nvPr/>
        </p:nvSpPr>
        <p:spPr>
          <a:xfrm>
            <a:off x="2400301" y="3971925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/>
          <p:cNvSpPr/>
          <p:nvPr/>
        </p:nvSpPr>
        <p:spPr>
          <a:xfrm flipH="1">
            <a:off x="4048395" y="3967963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638164" y="5628334"/>
                <a:ext cx="22861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What can you say about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values of points in this region?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&lt;−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164" y="5628334"/>
                <a:ext cx="2286136" cy="1077218"/>
              </a:xfrm>
              <a:prstGeom prst="rect">
                <a:avLst/>
              </a:prstGeom>
              <a:blipFill>
                <a:blip r:embed="rId10"/>
                <a:stretch>
                  <a:fillRect l="-1657"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2063552" y="4713434"/>
            <a:ext cx="336748" cy="94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960280" y="5614771"/>
                <a:ext cx="22861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What can you say about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values of points in this region?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280" y="5614771"/>
                <a:ext cx="2286136" cy="1077218"/>
              </a:xfrm>
              <a:prstGeom prst="rect">
                <a:avLst/>
              </a:prstGeom>
              <a:blipFill>
                <a:blip r:embed="rId11"/>
                <a:stretch>
                  <a:fillRect l="-165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 flipV="1">
            <a:off x="4533900" y="4622800"/>
            <a:ext cx="592746" cy="1005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992186" y="5726487"/>
                <a:ext cx="30754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&lt;−5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∪{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&gt;3}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186" y="5726487"/>
                <a:ext cx="3075495" cy="400110"/>
              </a:xfrm>
              <a:prstGeom prst="rect">
                <a:avLst/>
              </a:prstGeom>
              <a:blipFill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794500" y="6129943"/>
                <a:ext cx="37465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 err="1"/>
                  <a:t>Fro</a:t>
                </a:r>
                <a:r>
                  <a:rPr lang="en-GB" sz="1400" b="1" dirty="0"/>
                  <a:t> Note</a:t>
                </a:r>
                <a:r>
                  <a:rPr lang="en-GB" sz="1400" dirty="0"/>
                  <a:t>: If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value is ‘strictly’ greater than 0, i.e. &gt; 0, then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value is strictly less than -5. So the &lt; vs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sz="1400" dirty="0"/>
                  <a:t> must match the original question.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00" y="6129943"/>
                <a:ext cx="3746500" cy="738664"/>
              </a:xfrm>
              <a:prstGeom prst="rect">
                <a:avLst/>
              </a:prstGeom>
              <a:blipFill>
                <a:blip r:embed="rId13"/>
                <a:stretch>
                  <a:fillRect l="-678" t="-1695" r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Right 33"/>
          <p:cNvSpPr/>
          <p:nvPr/>
        </p:nvSpPr>
        <p:spPr>
          <a:xfrm>
            <a:off x="6168132" y="5733724"/>
            <a:ext cx="534144" cy="4230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2173118" y="2298159"/>
            <a:ext cx="3694283" cy="775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6045200" y="2743201"/>
            <a:ext cx="939800" cy="6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93573" y="6385822"/>
            <a:ext cx="1337028" cy="4721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8132" y="6361488"/>
            <a:ext cx="1337028" cy="4721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22517" y="5667805"/>
            <a:ext cx="3673624" cy="11425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834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3" grpId="0" animBg="1"/>
      <p:bldP spid="24" grpId="0" animBg="1"/>
      <p:bldP spid="25" grpId="0"/>
      <p:bldP spid="29" grpId="0"/>
      <p:bldP spid="32" grpId="0"/>
      <p:bldP spid="33" grpId="0"/>
      <p:bldP spid="34" grpId="0" animBg="1"/>
      <p:bldP spid="35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</p:bldLst>
  </p:timing>
</p:sld>
</file>

<file path=ppt/c3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Quadratic Inequalities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</a:rPr>
                      <m:t>−15≤0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624" y="917973"/>
                <a:ext cx="4968552" cy="584775"/>
              </a:xfrm>
              <a:prstGeom prst="rect">
                <a:avLst/>
              </a:prstGeom>
              <a:blipFill>
                <a:blip r:embed="rId2"/>
                <a:stretch>
                  <a:fillRect l="-732" b="-1355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35560" y="2363632"/>
                <a:ext cx="43204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2363632"/>
                <a:ext cx="432048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142212" y="1756048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1</a:t>
            </a:r>
            <a:r>
              <a:rPr lang="en-GB" dirty="0"/>
              <a:t>: Get 0 on one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2212" y="2539087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</a:t>
            </a:r>
            <a:r>
              <a:rPr lang="en-GB" dirty="0"/>
              <a:t>: Factorise</a:t>
            </a:r>
            <a:endParaRPr lang="en-GB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7142212" y="3174781"/>
            <a:ext cx="295232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</a:t>
            </a:r>
            <a:r>
              <a:rPr lang="en-GB" dirty="0"/>
              <a:t>: Sketch and reason</a:t>
            </a:r>
            <a:endParaRPr lang="en-GB" sz="14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2279576" y="3333651"/>
            <a:ext cx="4323878" cy="2130560"/>
            <a:chOff x="755576" y="3333651"/>
            <a:chExt cx="4323878" cy="2130560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eform: Shape 15"/>
            <p:cNvSpPr/>
            <p:nvPr/>
          </p:nvSpPr>
          <p:spPr>
            <a:xfrm>
              <a:off x="876300" y="39624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Freeform: Shape 23"/>
          <p:cNvSpPr/>
          <p:nvPr/>
        </p:nvSpPr>
        <p:spPr>
          <a:xfrm>
            <a:off x="2934494" y="4927600"/>
            <a:ext cx="1143000" cy="482614"/>
          </a:xfrm>
          <a:custGeom>
            <a:avLst/>
            <a:gdLst>
              <a:gd name="connsiteX0" fmla="*/ 0 w 1143000"/>
              <a:gd name="connsiteY0" fmla="*/ 0 h 482614"/>
              <a:gd name="connsiteX1" fmla="*/ 546100 w 1143000"/>
              <a:gd name="connsiteY1" fmla="*/ 482600 h 482614"/>
              <a:gd name="connsiteX2" fmla="*/ 1143000 w 1143000"/>
              <a:gd name="connsiteY2" fmla="*/ 12700 h 4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482614">
                <a:moveTo>
                  <a:pt x="0" y="0"/>
                </a:moveTo>
                <a:cubicBezTo>
                  <a:pt x="177800" y="240241"/>
                  <a:pt x="355600" y="480483"/>
                  <a:pt x="546100" y="482600"/>
                </a:cubicBezTo>
                <a:cubicBezTo>
                  <a:pt x="736600" y="484717"/>
                  <a:pt x="939800" y="248708"/>
                  <a:pt x="1143000" y="1270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/>
          <p:cNvSpPr/>
          <p:nvPr/>
        </p:nvSpPr>
        <p:spPr>
          <a:xfrm>
            <a:off x="6585821" y="4696180"/>
            <a:ext cx="1022890" cy="68168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598341" y="4830914"/>
                <a:ext cx="263052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: −5≤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≤3}</m:t>
                      </m:r>
                    </m:oMath>
                  </m:oMathPara>
                </a14:m>
                <a:endParaRPr lang="en-GB" sz="2400" dirty="0"/>
              </a:p>
              <a:p>
                <a:endParaRPr lang="en-GB" sz="3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341" y="4830914"/>
                <a:ext cx="2630523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982274" y="5719390"/>
                <a:ext cx="226873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Note:</a:t>
                </a:r>
                <a:r>
                  <a:rPr lang="en-GB" sz="1400" dirty="0"/>
                  <a:t> we need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sz="1400" dirty="0"/>
                  <a:t> rather than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GB" sz="1400" dirty="0"/>
                  <a:t> to be consistent with the original inequality.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74" y="5719390"/>
                <a:ext cx="2268736" cy="738664"/>
              </a:xfrm>
              <a:prstGeom prst="rect">
                <a:avLst/>
              </a:prstGeom>
              <a:blipFill>
                <a:blip r:embed="rId10"/>
                <a:stretch>
                  <a:fillRect l="-1111" t="-1695" r="-1111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7725632" y="4347027"/>
            <a:ext cx="2473220" cy="1090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Final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63561" y="5579321"/>
                <a:ext cx="2563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Again, what can we say about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value of any point in this region?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561" y="5579321"/>
                <a:ext cx="2563195" cy="461665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971788" y="3402890"/>
            <a:ext cx="4362400" cy="2914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Sketch with</a:t>
            </a:r>
            <a:br>
              <a:rPr lang="en-GB" sz="2800" dirty="0"/>
            </a:br>
            <a:r>
              <a:rPr lang="en-GB" sz="2800" dirty="0"/>
              <a:t>highlighted region</a:t>
            </a:r>
          </a:p>
        </p:txBody>
      </p:sp>
    </p:spTree>
    <p:extLst>
      <p:ext uri="{BB962C8B-B14F-4D97-AF65-F5344CB8AC3E}">
        <p14:creationId xmlns:p14="http://schemas.microsoft.com/office/powerpoint/2010/main" val="282602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6" grpId="0" animBg="1"/>
    </p:bldLst>
  </p:timing>
</p:sld>
</file>

<file path=ppt/c3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35560" y="836713"/>
                <a:ext cx="345638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≥−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+4≥0</m:t>
                      </m:r>
                    </m:oMath>
                    <m:oMath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836713"/>
                <a:ext cx="3456384" cy="1384995"/>
              </a:xfrm>
              <a:prstGeom prst="rect">
                <a:avLst/>
              </a:prstGeom>
              <a:blipFill>
                <a:blip r:embed="rId2"/>
                <a:stretch>
                  <a:fillRect l="-4029" t="-3636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531556" y="2512373"/>
            <a:ext cx="3840173" cy="2122155"/>
            <a:chOff x="151571" y="3378807"/>
            <a:chExt cx="3840173" cy="2122155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2836837" y="3702983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688172" y="3378807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8172" y="3378807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4167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Freeform: Shape 10"/>
            <p:cNvSpPr/>
            <p:nvPr/>
          </p:nvSpPr>
          <p:spPr>
            <a:xfrm>
              <a:off x="1011766" y="3857990"/>
              <a:ext cx="2123805" cy="1483068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388469" y="489523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8469" y="4895230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51571" y="3499698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+4)(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571" y="3499698"/>
                  <a:ext cx="295232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Freeform: Shape 14"/>
          <p:cNvSpPr/>
          <p:nvPr/>
        </p:nvSpPr>
        <p:spPr>
          <a:xfrm>
            <a:off x="2393245" y="2991557"/>
            <a:ext cx="591608" cy="1071385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 flipH="1">
            <a:off x="3946793" y="3048000"/>
            <a:ext cx="568762" cy="1022268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26349" y="4925086"/>
                <a:ext cx="34563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≤−4</m:t>
                    </m:r>
                  </m:oMath>
                </a14:m>
                <a:r>
                  <a:rPr lang="en-GB" sz="2800" dirty="0"/>
                  <a:t> or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≥−1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349" y="4925086"/>
                <a:ext cx="3456384" cy="523220"/>
              </a:xfrm>
              <a:prstGeom prst="rect">
                <a:avLst/>
              </a:prstGeom>
              <a:blipFill>
                <a:blip r:embed="rId8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97622" y="846539"/>
                <a:ext cx="3456384" cy="1394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800" b="1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8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br>
                  <a:rPr lang="en-GB" sz="28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−9&lt;0</m:t>
                      </m:r>
                    </m:oMath>
                    <m:oMath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622" y="846539"/>
                <a:ext cx="3456384" cy="1394741"/>
              </a:xfrm>
              <a:prstGeom prst="rect">
                <a:avLst/>
              </a:prstGeom>
              <a:blipFill>
                <a:blip r:embed="rId9"/>
                <a:stretch>
                  <a:fillRect l="-4029" t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317839" y="2531922"/>
            <a:ext cx="3808294" cy="2099578"/>
            <a:chOff x="755576" y="3412673"/>
            <a:chExt cx="3964216" cy="2099578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103059" y="371427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931816" y="3412673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1816" y="3412673"/>
                  <a:ext cx="288032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1111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/>
            <p:cNvSpPr/>
            <p:nvPr/>
          </p:nvSpPr>
          <p:spPr>
            <a:xfrm>
              <a:off x="1011766" y="3857990"/>
              <a:ext cx="2123805" cy="1483068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8507" y="4911514"/>
                  <a:ext cx="486468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2399758" y="4872653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758" y="4872653"/>
                  <a:ext cx="486468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330327" y="3567430"/>
                  <a:ext cx="2389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+3)(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327" y="3567430"/>
                  <a:ext cx="2389465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Freeform: Shape 28"/>
          <p:cNvSpPr/>
          <p:nvPr/>
        </p:nvSpPr>
        <p:spPr>
          <a:xfrm>
            <a:off x="7111383" y="4030134"/>
            <a:ext cx="982750" cy="440267"/>
          </a:xfrm>
          <a:custGeom>
            <a:avLst/>
            <a:gdLst>
              <a:gd name="connsiteX0" fmla="*/ 0 w 1143000"/>
              <a:gd name="connsiteY0" fmla="*/ 0 h 482614"/>
              <a:gd name="connsiteX1" fmla="*/ 546100 w 1143000"/>
              <a:gd name="connsiteY1" fmla="*/ 482600 h 482614"/>
              <a:gd name="connsiteX2" fmla="*/ 1143000 w 1143000"/>
              <a:gd name="connsiteY2" fmla="*/ 12700 h 4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482614">
                <a:moveTo>
                  <a:pt x="0" y="0"/>
                </a:moveTo>
                <a:cubicBezTo>
                  <a:pt x="177800" y="240241"/>
                  <a:pt x="355600" y="480483"/>
                  <a:pt x="546100" y="482600"/>
                </a:cubicBezTo>
                <a:cubicBezTo>
                  <a:pt x="736600" y="484717"/>
                  <a:pt x="939800" y="248708"/>
                  <a:pt x="1143000" y="1270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96217" y="4914996"/>
                <a:ext cx="34563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i="1">
                          <a:latin typeface="Cambria Math" panose="02040503050406030204" pitchFamily="18" charset="0"/>
                        </a:rPr>
                        <m:t>−3&lt;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217" y="4914996"/>
                <a:ext cx="345638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834450" y="1349892"/>
            <a:ext cx="3798706" cy="42381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38834" y="1349892"/>
            <a:ext cx="3964722" cy="42381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2212" y="5696422"/>
            <a:ext cx="36795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Note: </a:t>
            </a:r>
            <a:r>
              <a:rPr lang="en-GB" sz="1200" dirty="0"/>
              <a:t>do not skip the ‘sketch step’.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680792" y="5859802"/>
                <a:ext cx="382916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To use the quadratic inequality solver on </a:t>
                </a:r>
                <a:r>
                  <a:rPr lang="en-GB" sz="1200" dirty="0" err="1"/>
                  <a:t>ClassWiz</a:t>
                </a:r>
                <a:r>
                  <a:rPr lang="en-GB" sz="1200" dirty="0"/>
                  <a:t>, go to Menu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200" dirty="0"/>
                  <a:t> Inequalities, then choose ‘order 2’ (i.e. quadratic)</a:t>
                </a:r>
              </a:p>
              <a:p>
                <a:r>
                  <a:rPr lang="en-GB" sz="1200" dirty="0"/>
                  <a:t>Try the same on a CG50.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792" y="5859802"/>
                <a:ext cx="3829165" cy="646331"/>
              </a:xfrm>
              <a:prstGeom prst="rect">
                <a:avLst/>
              </a:prstGeom>
              <a:blipFill>
                <a:blip r:embed="rId1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399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c3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913" y="5324797"/>
            <a:ext cx="5040560" cy="152897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909857" y="3736265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June 2008 Q8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085" y="1315346"/>
            <a:ext cx="4019983" cy="17536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923938" y="946013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2010 Q3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858" y="4105597"/>
            <a:ext cx="5172075" cy="121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08" y="1221227"/>
            <a:ext cx="4392488" cy="2225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52184" y="3898695"/>
                <a:ext cx="280831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Note:  </a:t>
                </a:r>
                <a:r>
                  <a:rPr lang="en-GB" sz="1400" dirty="0"/>
                  <a:t>the original equation has no solutions, but the inequality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400" dirty="0"/>
                  <a:t> </a:t>
                </a:r>
                <a:r>
                  <a:rPr lang="en-GB" sz="1400" i="1" u="sng" dirty="0"/>
                  <a:t>did</a:t>
                </a:r>
                <a:r>
                  <a:rPr lang="en-GB" sz="1400" dirty="0"/>
                  <a:t> have solutions. But we have found the solutions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that result in the original equation not having any solutions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These are different variables, so have different solutions sets, even if the solution set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influences the solution set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4" y="3898695"/>
                <a:ext cx="2808312" cy="2246769"/>
              </a:xfrm>
              <a:prstGeom prst="rect">
                <a:avLst/>
              </a:prstGeom>
              <a:blipFill>
                <a:blip r:embed="rId6"/>
                <a:stretch>
                  <a:fillRect l="-901" t="-565" b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491511" y="1232934"/>
            <a:ext cx="4112694" cy="6809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1511" y="1913860"/>
            <a:ext cx="4112694" cy="8825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1511" y="2796363"/>
            <a:ext cx="4112694" cy="6698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9093" y="5335429"/>
            <a:ext cx="4851670" cy="6719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9093" y="6007395"/>
            <a:ext cx="4851670" cy="8463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085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c3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vert="horz" wrap="square" lIns="324000" tIns="45720" rIns="91440" bIns="45720" rtlCol="0" anchor="ctr">
                  <a:spAutoFit/>
                </a:bodyPr>
                <a:lstStyle>
                  <a:defPPr>
                    <a:defRPr lang="en-US"/>
                  </a:defPPr>
                  <a:lvl1pPr>
                    <a:spcBef>
                      <a:spcPct val="0"/>
                    </a:spcBef>
                    <a:buNone/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Deal with inequalities with a division by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12766" b="-2978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19536" y="908720"/>
                <a:ext cx="5616624" cy="4855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set of values for which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&gt;2,  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908720"/>
                <a:ext cx="5616624" cy="48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6483" y="1556792"/>
                <a:ext cx="6048672" cy="241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Why can’t we just multiply both sides by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 dirty="0"/>
                  <a:t>?</a:t>
                </a:r>
              </a:p>
              <a:p>
                <a:r>
                  <a:rPr lang="en-GB" sz="1600" dirty="0"/>
                  <a:t>We earlier saw that multiplying by a negative number would flip the inequality, but multiplying by a positive number would not. Since we don’t know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, we don’t know whether the inequality would flip or not!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Once solution is to sketch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, find the points of intersection and reason about the graph (see next section, “Inequalities on Graphs”), but an easier way is to </a:t>
                </a:r>
                <a:r>
                  <a:rPr lang="en-GB" sz="1600" b="1" dirty="0"/>
                  <a:t>multiply both sides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600" dirty="0"/>
                  <a:t>, because it is </a:t>
                </a:r>
                <a:r>
                  <a:rPr lang="en-GB" sz="1600" b="1" dirty="0"/>
                  <a:t>guaranteed to be positive</a:t>
                </a:r>
                <a:r>
                  <a:rPr lang="en-GB" sz="1600" dirty="0"/>
                  <a:t>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483" y="1556792"/>
                <a:ext cx="6048672" cy="2411558"/>
              </a:xfrm>
              <a:prstGeom prst="rect">
                <a:avLst/>
              </a:prstGeom>
              <a:blipFill>
                <a:blip r:embed="rId4"/>
                <a:stretch>
                  <a:fillRect l="-629" t="-1047"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28301" y="4416113"/>
                <a:ext cx="2592288" cy="1495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301" y="4416113"/>
                <a:ext cx="2592288" cy="14959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4799856" y="4130904"/>
            <a:ext cx="4323878" cy="2130560"/>
            <a:chOff x="755576" y="3333651"/>
            <a:chExt cx="4323878" cy="213056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: Shape 13"/>
            <p:cNvSpPr/>
            <p:nvPr/>
          </p:nvSpPr>
          <p:spPr>
            <a:xfrm>
              <a:off x="1673742" y="3909237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929559" y="4881831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9559" y="4881831"/>
                  <a:ext cx="48646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105281" y="485905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281" y="4859050"/>
                  <a:ext cx="486468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Freeform: Shape 19"/>
          <p:cNvSpPr/>
          <p:nvPr/>
        </p:nvSpPr>
        <p:spPr>
          <a:xfrm>
            <a:off x="6311900" y="5740201"/>
            <a:ext cx="1009650" cy="400233"/>
          </a:xfrm>
          <a:custGeom>
            <a:avLst/>
            <a:gdLst>
              <a:gd name="connsiteX0" fmla="*/ 0 w 1041400"/>
              <a:gd name="connsiteY0" fmla="*/ 0 h 406416"/>
              <a:gd name="connsiteX1" fmla="*/ 482600 w 1041400"/>
              <a:gd name="connsiteY1" fmla="*/ 406400 h 406416"/>
              <a:gd name="connsiteX2" fmla="*/ 1041400 w 1041400"/>
              <a:gd name="connsiteY2" fmla="*/ 12700 h 406416"/>
              <a:gd name="connsiteX0" fmla="*/ 0 w 946186"/>
              <a:gd name="connsiteY0" fmla="*/ 202 h 406602"/>
              <a:gd name="connsiteX1" fmla="*/ 482600 w 946186"/>
              <a:gd name="connsiteY1" fmla="*/ 406602 h 406602"/>
              <a:gd name="connsiteX2" fmla="*/ 946186 w 946186"/>
              <a:gd name="connsiteY2" fmla="*/ 0 h 406602"/>
              <a:gd name="connsiteX0" fmla="*/ 0 w 946186"/>
              <a:gd name="connsiteY0" fmla="*/ 202 h 406602"/>
              <a:gd name="connsiteX1" fmla="*/ 482600 w 946186"/>
              <a:gd name="connsiteY1" fmla="*/ 406602 h 406602"/>
              <a:gd name="connsiteX2" fmla="*/ 946186 w 946186"/>
              <a:gd name="connsiteY2" fmla="*/ 0 h 40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6186" h="406602">
                <a:moveTo>
                  <a:pt x="0" y="202"/>
                </a:moveTo>
                <a:cubicBezTo>
                  <a:pt x="154516" y="202343"/>
                  <a:pt x="324902" y="406636"/>
                  <a:pt x="482600" y="406602"/>
                </a:cubicBezTo>
                <a:cubicBezTo>
                  <a:pt x="640298" y="406568"/>
                  <a:pt x="824980" y="223712"/>
                  <a:pt x="946186" y="0"/>
                </a:cubicBezTo>
              </a:path>
            </a:pathLst>
          </a:cu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875428" y="4190540"/>
            <a:ext cx="7268573" cy="22102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5428" y="1875116"/>
            <a:ext cx="6160597" cy="21634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9071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c3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3D/3E – Y1 Page 47-48, 50-51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7CF39-8CA6-307C-9DF8-F2C2F182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28" y="741780"/>
            <a:ext cx="4995020" cy="274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1E09C-CA8D-FBF4-20F7-37FC16D84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051842"/>
            <a:ext cx="3386225" cy="43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B762A-59B1-25C8-AF7A-9A7C1099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2" y="3589176"/>
            <a:ext cx="4320480" cy="424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436A79-F936-86DE-4BD1-ECF200941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608" y="1576572"/>
            <a:ext cx="1577082" cy="2012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1A28C-C7BD-3199-E47B-EBA9333C5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016" y="1995462"/>
            <a:ext cx="3744416" cy="981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D7634-2332-8FCA-843F-5C71044A7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527" y="4013774"/>
            <a:ext cx="2527300" cy="152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66F470-3A47-BC08-C5A2-E4EB586DC7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903" y="4088662"/>
            <a:ext cx="3894544" cy="25417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05875E-5D86-B11C-5A3C-46991B9EC11F}"/>
              </a:ext>
            </a:extLst>
          </p:cNvPr>
          <p:cNvSpPr/>
          <p:nvPr/>
        </p:nvSpPr>
        <p:spPr>
          <a:xfrm>
            <a:off x="1919536" y="1553509"/>
            <a:ext cx="7632848" cy="2035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CA63B-1C73-10CE-53D2-BAC3688FAD19}"/>
              </a:ext>
            </a:extLst>
          </p:cNvPr>
          <p:cNvSpPr/>
          <p:nvPr/>
        </p:nvSpPr>
        <p:spPr>
          <a:xfrm>
            <a:off x="1919536" y="4126322"/>
            <a:ext cx="7632848" cy="25040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301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3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3D/3E – Y1 Page 47-48, 50-51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5DF7FAF-97C0-6CFA-D61E-177DEDC6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64705"/>
            <a:ext cx="5616624" cy="583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B297DE-4C89-D91B-D3F6-9FCE8E65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521233"/>
            <a:ext cx="3816424" cy="3175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CFC20-EDC0-816F-D3D1-8E173A1BFD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27"/>
          <a:stretch/>
        </p:blipFill>
        <p:spPr>
          <a:xfrm>
            <a:off x="6795554" y="1628800"/>
            <a:ext cx="3557330" cy="3161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481AD6-B4D3-9D53-9C98-89DC1734DBD9}"/>
              </a:ext>
            </a:extLst>
          </p:cNvPr>
          <p:cNvSpPr/>
          <p:nvPr/>
        </p:nvSpPr>
        <p:spPr>
          <a:xfrm>
            <a:off x="1919536" y="1553508"/>
            <a:ext cx="8424936" cy="36756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972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3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7177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3D/3E – Y1 Page 47-48, 50-51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F735AB2-B5BB-32EB-9DC3-52532130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14372"/>
            <a:ext cx="7772400" cy="824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78F262-A7AE-B8E2-6C6C-8DDD9801F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844824"/>
            <a:ext cx="5219700" cy="298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E86CE-9BDE-072E-AB7E-6ADEF13AE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6" y="3101369"/>
            <a:ext cx="3928860" cy="34317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F9DC36-20E1-E124-B2D5-9E83B7D15225}"/>
              </a:ext>
            </a:extLst>
          </p:cNvPr>
          <p:cNvSpPr/>
          <p:nvPr/>
        </p:nvSpPr>
        <p:spPr>
          <a:xfrm>
            <a:off x="1919536" y="1553509"/>
            <a:ext cx="8424936" cy="4979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3342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3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Inequalities on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2279576" y="836712"/>
            <a:ext cx="4323878" cy="2130560"/>
            <a:chOff x="755576" y="3333651"/>
            <a:chExt cx="4323878" cy="213056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Freeform: Shape 9"/>
            <p:cNvSpPr/>
            <p:nvPr/>
          </p:nvSpPr>
          <p:spPr>
            <a:xfrm>
              <a:off x="876300" y="39624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57" y="4892464"/>
                  <a:ext cx="48646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0369" y="4901580"/>
                  <a:ext cx="48646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+5)(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7126" y="3578721"/>
                  <a:ext cx="295232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Freeform: Shape 13"/>
          <p:cNvSpPr/>
          <p:nvPr/>
        </p:nvSpPr>
        <p:spPr>
          <a:xfrm>
            <a:off x="2400301" y="1474986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/>
          <p:cNvSpPr/>
          <p:nvPr/>
        </p:nvSpPr>
        <p:spPr>
          <a:xfrm flipH="1">
            <a:off x="4048395" y="1471024"/>
            <a:ext cx="561975" cy="971550"/>
          </a:xfrm>
          <a:custGeom>
            <a:avLst/>
            <a:gdLst>
              <a:gd name="connsiteX0" fmla="*/ 561975 w 561975"/>
              <a:gd name="connsiteY0" fmla="*/ 971550 h 971550"/>
              <a:gd name="connsiteX1" fmla="*/ 247650 w 561975"/>
              <a:gd name="connsiteY1" fmla="*/ 466725 h 971550"/>
              <a:gd name="connsiteX2" fmla="*/ 0 w 561975"/>
              <a:gd name="connsiteY2" fmla="*/ 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975" h="971550">
                <a:moveTo>
                  <a:pt x="561975" y="971550"/>
                </a:moveTo>
                <a:cubicBezTo>
                  <a:pt x="451643" y="800100"/>
                  <a:pt x="341312" y="628650"/>
                  <a:pt x="247650" y="466725"/>
                </a:cubicBezTo>
                <a:cubicBezTo>
                  <a:pt x="153988" y="304800"/>
                  <a:pt x="76994" y="152400"/>
                  <a:pt x="0" y="0"/>
                </a:cubicBezTo>
              </a:path>
            </a:pathLst>
          </a:cu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85518" y="741962"/>
                <a:ext cx="381302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solved quadratic inequalities, 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plotted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+5)(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r>
                  <a:rPr lang="en-GB" dirty="0"/>
                  <a:t> and observed the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which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Can we use a similar method when we don’t have 0 on one side?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518" y="741962"/>
                <a:ext cx="3813026" cy="2308324"/>
              </a:xfrm>
              <a:prstGeom prst="rect">
                <a:avLst/>
              </a:prstGeom>
              <a:blipFill>
                <a:blip r:embed="rId9"/>
                <a:stretch>
                  <a:fillRect l="-1329" t="-1093" r="-1329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54348" y="3263601"/>
                <a:ext cx="727338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has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12+4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has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diagram shows a sketch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on the same axes.</a:t>
                </a:r>
              </a:p>
              <a:p>
                <a:pPr marL="457200" indent="-457200">
                  <a:buAutoNum type="alphaLcParenR"/>
                </a:pPr>
                <a:r>
                  <a:rPr lang="en-GB" dirty="0"/>
                  <a:t>Find the coordinates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, the points of intersection.</a:t>
                </a:r>
              </a:p>
              <a:p>
                <a:pPr marL="457200" indent="-457200">
                  <a:buAutoNum type="alphaLcParenR"/>
                </a:pPr>
                <a:r>
                  <a:rPr lang="en-GB" dirty="0"/>
                  <a:t>Hence write down the solution to the inequality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12+4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48" y="3263601"/>
                <a:ext cx="7273380" cy="1200329"/>
              </a:xfrm>
              <a:prstGeom prst="rect">
                <a:avLst/>
              </a:prstGeom>
              <a:blipFill>
                <a:blip r:embed="rId10"/>
                <a:stretch>
                  <a:fillRect b="-185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2024260" y="4566465"/>
            <a:ext cx="3236168" cy="2130560"/>
            <a:chOff x="755576" y="3333651"/>
            <a:chExt cx="3236168" cy="2130560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755576" y="4941168"/>
              <a:ext cx="30243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2267744" y="3666232"/>
              <a:ext cx="0" cy="17979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3712" y="4740064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28" y="3333651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4167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/>
            <p:cNvSpPr/>
            <p:nvPr/>
          </p:nvSpPr>
          <p:spPr>
            <a:xfrm>
              <a:off x="1143000" y="3505200"/>
              <a:ext cx="2171700" cy="1435103"/>
            </a:xfrm>
            <a:custGeom>
              <a:avLst/>
              <a:gdLst>
                <a:gd name="connsiteX0" fmla="*/ 0 w 2070100"/>
                <a:gd name="connsiteY0" fmla="*/ 0 h 1727203"/>
                <a:gd name="connsiteX1" fmla="*/ 1066800 w 2070100"/>
                <a:gd name="connsiteY1" fmla="*/ 1727200 h 1727203"/>
                <a:gd name="connsiteX2" fmla="*/ 2070100 w 2070100"/>
                <a:gd name="connsiteY2" fmla="*/ 12700 h 172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0100" h="1727203">
                  <a:moveTo>
                    <a:pt x="0" y="0"/>
                  </a:moveTo>
                  <a:cubicBezTo>
                    <a:pt x="360891" y="862541"/>
                    <a:pt x="721783" y="1725083"/>
                    <a:pt x="1066800" y="1727200"/>
                  </a:cubicBezTo>
                  <a:cubicBezTo>
                    <a:pt x="1411817" y="1729317"/>
                    <a:pt x="1740958" y="871008"/>
                    <a:pt x="2070100" y="127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720157" y="4422564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157" y="4422564"/>
                  <a:ext cx="486468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 rot="18018905">
                  <a:off x="2304927" y="4111148"/>
                  <a:ext cx="151909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018905">
                  <a:off x="2304927" y="4111148"/>
                  <a:ext cx="1519090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2825553" y="3531666"/>
                  <a:ext cx="4864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553" y="3531666"/>
                  <a:ext cx="486468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 rot="19249879">
                  <a:off x="1780059" y="3983488"/>
                  <a:ext cx="151909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=12+4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249879">
                  <a:off x="1780059" y="3983488"/>
                  <a:ext cx="1519090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Straight Connector 31"/>
          <p:cNvCxnSpPr/>
          <p:nvPr/>
        </p:nvCxnSpPr>
        <p:spPr>
          <a:xfrm flipV="1">
            <a:off x="2681288" y="4724401"/>
            <a:ext cx="2157413" cy="1717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718286" y="4568708"/>
                <a:ext cx="454546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Solve simultaneously to find points of intersection: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=12+4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−12=0</m:t>
                      </m:r>
                    </m:oMath>
                    <m:oMath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=−2   →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=36,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−2,4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6,36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286" y="4568708"/>
                <a:ext cx="4545460" cy="1323439"/>
              </a:xfrm>
              <a:prstGeom prst="rect">
                <a:avLst/>
              </a:prstGeom>
              <a:blipFill>
                <a:blip r:embed="rId15"/>
                <a:stretch>
                  <a:fillRect l="-836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00983" y="6165967"/>
                <a:ext cx="486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83" y="6165967"/>
                <a:ext cx="486468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29443" y="6150905"/>
                <a:ext cx="4864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43" y="6150905"/>
                <a:ext cx="48646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 flipH="1">
            <a:off x="4451350" y="5025876"/>
            <a:ext cx="4904" cy="114632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3218848" y="6017419"/>
            <a:ext cx="603" cy="14835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695757" y="5886272"/>
                <a:ext cx="45454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12+4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/>
                  <a:t> graph is above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600" dirty="0"/>
                  <a:t> graph. This happens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−2&lt;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&lt;6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757" y="5886272"/>
                <a:ext cx="4545460" cy="584775"/>
              </a:xfrm>
              <a:prstGeom prst="rect">
                <a:avLst/>
              </a:prstGeom>
              <a:blipFill>
                <a:blip r:embed="rId18"/>
                <a:stretch>
                  <a:fillRect l="-836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H="1">
            <a:off x="3219451" y="5016500"/>
            <a:ext cx="1244601" cy="10033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448978" y="4623616"/>
            <a:ext cx="211019" cy="2138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8978" y="5953024"/>
            <a:ext cx="211019" cy="21388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2912" y="4623805"/>
            <a:ext cx="4697485" cy="1215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2912" y="5950105"/>
            <a:ext cx="4697485" cy="8035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8262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51" grpId="0" animBg="1"/>
      <p:bldP spid="52" grpId="0" animBg="1"/>
    </p:bldLst>
  </p:timing>
</p:sld>
</file>

<file path=ppt/c3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3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