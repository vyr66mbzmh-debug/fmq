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7/ppt/slideMasters/slideMaster1.xml" ContentType="application/vnd.openxmlformats-officedocument.presentationml.slideMaster+xml"/>
  <ns0:Override PartName="/ppt/c7/ppt/slides/slide24.xml" ContentType="application/vnd.openxmlformats-officedocument.presentationml.slide+xml"/>
  <ns0:Override PartName="/ppt/c7/ppt/slides/slide25.xml" ContentType="application/vnd.openxmlformats-officedocument.presentationml.slide+xml"/>
  <ns0:Override PartName="/ppt/c7/ppt/slides/slide26.xml" ContentType="application/vnd.openxmlformats-officedocument.presentationml.slide+xml"/>
  <ns0:Override PartName="/ppt/c7/ppt/slides/slide27.xml" ContentType="application/vnd.openxmlformats-officedocument.presentationml.slide+xml"/>
  <ns0:Override PartName="/ppt/c7/ppt/slides/slide28.xml" ContentType="application/vnd.openxmlformats-officedocument.presentationml.slide+xml"/>
  <ns0:Override PartName="/ppt/c7/ppt/slides/slide29.xml" ContentType="application/vnd.openxmlformats-officedocument.presentationml.slide+xml"/>
  <ns0:Override PartName="/ppt/c7/ppt/slides/slide30.xml" ContentType="application/vnd.openxmlformats-officedocument.presentationml.slide+xml"/>
  <ns0:Override PartName="/ppt/c7/ppt/slides/slide32.xml" ContentType="application/vnd.openxmlformats-officedocument.presentationml.slide+xml"/>
  <ns0:Override PartName="/ppt/c7/ppt/slides/slide33.xml" ContentType="application/vnd.openxmlformats-officedocument.presentationml.slide+xml"/>
  <ns0:Override PartName="/ppt/c7/ppt/slides/slide34.xml" ContentType="application/vnd.openxmlformats-officedocument.presentationml.slide+xml"/>
  <ns0:Override PartName="/ppt/c7/ppt/notesMasters/notesMaster1.xml" ContentType="application/vnd.openxmlformats-officedocument.presentationml.notesMaster+xml"/>
  <ns0:Override PartName="/ppt/c7/ppt/theme/theme1.xml" ContentType="application/vnd.openxmlformats-officedocument.theme+xml"/>
  <ns0:Override PartName="/ppt/c7/ppt/slideLayouts/slideLayout1.xml" ContentType="application/vnd.openxmlformats-officedocument.presentationml.slideLayout+xml"/>
  <ns0:Override PartName="/ppt/c7/ppt/slideLayouts/slideLayout2.xml" ContentType="application/vnd.openxmlformats-officedocument.presentationml.slideLayout+xml"/>
  <ns0:Override PartName="/ppt/c7/ppt/slideLayouts/slideLayout3.xml" ContentType="application/vnd.openxmlformats-officedocument.presentationml.slideLayout+xml"/>
  <ns0:Override PartName="/ppt/c7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348" r:id="rId11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7/ppt/slides/slide24.xml" /><ns0:Relationship Id="rId2" Type="http://schemas.openxmlformats.org/officeDocument/2006/relationships/slide" Target="c7/ppt/slides/slide25.xml" /><ns0:Relationship Id="rId3" Type="http://schemas.openxmlformats.org/officeDocument/2006/relationships/slide" Target="c7/ppt/slides/slide26.xml" /><ns0:Relationship Id="rId4" Type="http://schemas.openxmlformats.org/officeDocument/2006/relationships/slide" Target="c7/ppt/slides/slide27.xml" /><ns0:Relationship Id="rId5" Type="http://schemas.openxmlformats.org/officeDocument/2006/relationships/slide" Target="c7/ppt/slides/slide28.xml" /><ns0:Relationship Id="rId6" Type="http://schemas.openxmlformats.org/officeDocument/2006/relationships/slide" Target="c7/ppt/slides/slide29.xml" /><ns0:Relationship Id="rId7" Type="http://schemas.openxmlformats.org/officeDocument/2006/relationships/slide" Target="c7/ppt/slides/slide30.xml" /><ns0:Relationship Id="rId8" Type="http://schemas.openxmlformats.org/officeDocument/2006/relationships/slide" Target="c7/ppt/slides/slide32.xml" /><ns0:Relationship Id="rId9" Type="http://schemas.openxmlformats.org/officeDocument/2006/relationships/slide" Target="c7/ppt/slides/slide33.xml" /><ns0:Relationship Id="rId10" Type="http://schemas.openxmlformats.org/officeDocument/2006/relationships/slide" Target="c7/ppt/slides/slide34.xml" /><ns0:Relationship Id="rId11" Type="http://schemas.openxmlformats.org/officeDocument/2006/relationships/slideMaster" Target="c7/ppt/slideMasters/slideMaster1.xml" /><ns0:Relationship Id="rId12" Type="http://schemas.openxmlformats.org/officeDocument/2006/relationships/notesMaster" Target="c7/ppt/notesMasters/notesMaster1.xml" /></ns0:Relationships>
</file>

<file path=ppt/c7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7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02/10/2023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7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68767855"/>
      </p:ext>
    </p:extLst>
  </p:cSld>
  <p:clrMapOvr>
    <a:masterClrMapping/>
  </p:clrMapOvr>
</p:sldLayout>
</file>

<file path=ppt/c7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905891"/>
      </p:ext>
    </p:extLst>
  </p:cSld>
  <p:clrMapOvr>
    <a:masterClrMapping/>
  </p:clrMapOvr>
</p:sldLayout>
</file>

<file path=ppt/c7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96"/>
            <a:ext cx="12192000" cy="691200"/>
          </a:xfrm>
          <a:solidFill>
            <a:srgbClr val="23305E"/>
          </a:solidFill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657312"/>
      </p:ext>
    </p:extLst>
  </p:cSld>
  <p:clrMapOvr>
    <a:masterClrMapping/>
  </p:clrMapOvr>
</p:sldLayout>
</file>

<file path=ppt/c7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7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20688"/>
            <a:ext cx="109728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88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7/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122.png" /><ns0:Relationship Id="rId2" Type="http://schemas.openxmlformats.org/officeDocument/2006/relationships/image" Target="../media/image121.png" /><ns0:Relationship Id="rId1" Type="http://schemas.openxmlformats.org/officeDocument/2006/relationships/slideLayout" Target="../slideLayouts/slideLayout2.xml" /></ns0:Relationships>
</file>

<file path=ppt/c7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124.png" /><ns0:Relationship Id="rId2" Type="http://schemas.openxmlformats.org/officeDocument/2006/relationships/image" Target="../media/image123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25.png" /></ns0:Relationships>
</file>

<file path=ppt/c7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127.png" /><ns0:Relationship Id="rId2" Type="http://schemas.openxmlformats.org/officeDocument/2006/relationships/image" Target="../media/image126.png" /><ns0:Relationship Id="rId1" Type="http://schemas.openxmlformats.org/officeDocument/2006/relationships/slideLayout" Target="../slideLayouts/slideLayout2.xml" /></ns0:Relationships>
</file>

<file path=ppt/c7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129.png" /><ns0:Relationship Id="rId2" Type="http://schemas.openxmlformats.org/officeDocument/2006/relationships/image" Target="../media/image128.png" /><ns0:Relationship Id="rId1" Type="http://schemas.openxmlformats.org/officeDocument/2006/relationships/slideLayout" Target="../slideLayouts/slideLayout2.xml" /></ns0:Relationships>
</file>

<file path=ppt/c7/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image131.png" /><ns0:Relationship Id="rId2" Type="http://schemas.openxmlformats.org/officeDocument/2006/relationships/image" Target="../media/image130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33.png" /><ns0:Relationship Id="rId4" Type="http://schemas.openxmlformats.org/officeDocument/2006/relationships/image" Target="../media/image132.png" /></ns0:Relationships>
</file>

<file path=ppt/c7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135.png" /><ns0:Relationship Id="rId2" Type="http://schemas.openxmlformats.org/officeDocument/2006/relationships/image" Target="../media/image134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37.png" /><ns0:Relationship Id="rId4" Type="http://schemas.openxmlformats.org/officeDocument/2006/relationships/image" Target="../media/image136.png" /></ns0:Relationships>
</file>

<file path=ppt/c7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139.png" /><ns0:Relationship Id="rId7" Type="http://schemas.openxmlformats.org/officeDocument/2006/relationships/image" Target="../media/image143.png" /><ns0:Relationship Id="rId2" Type="http://schemas.openxmlformats.org/officeDocument/2006/relationships/image" Target="../media/image13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42.png" /><ns0:Relationship Id="rId5" Type="http://schemas.openxmlformats.org/officeDocument/2006/relationships/image" Target="../media/image141.png" /><ns0:Relationship Id="rId4" Type="http://schemas.openxmlformats.org/officeDocument/2006/relationships/image" Target="../media/image140.png" /></ns0:Relationships>
</file>

<file path=ppt/c7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147.png" /><ns0:Relationship Id="rId2" Type="http://schemas.openxmlformats.org/officeDocument/2006/relationships/image" Target="../media/image146.png" /><ns0:Relationship Id="rId1" Type="http://schemas.openxmlformats.org/officeDocument/2006/relationships/slideLayout" Target="../slideLayouts/slideLayout2.xml" /></ns0:Relationships>
</file>

<file path=ppt/c7/ppt/slides/_rels/slide33.xml.rels><?xml version='1.0' encoding='utf-8'?>
<ns0:Relationships xmlns:ns0="http://schemas.openxmlformats.org/package/2006/relationships"><ns0:Relationship Id="rId3" Type="http://schemas.openxmlformats.org/officeDocument/2006/relationships/image" Target="../media/image149.png" /><ns0:Relationship Id="rId2" Type="http://schemas.openxmlformats.org/officeDocument/2006/relationships/image" Target="../media/image14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52.png" /><ns0:Relationship Id="rId5" Type="http://schemas.openxmlformats.org/officeDocument/2006/relationships/image" Target="../media/image151.png" /><ns0:Relationship Id="rId4" Type="http://schemas.openxmlformats.org/officeDocument/2006/relationships/image" Target="../media/image150.png" /></ns0:Relationships>
</file>

<file path=ppt/c7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154.png" /><ns0:Relationship Id="rId2" Type="http://schemas.openxmlformats.org/officeDocument/2006/relationships/image" Target="../media/image15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57.png" /><ns0:Relationship Id="rId5" Type="http://schemas.openxmlformats.org/officeDocument/2006/relationships/image" Target="../media/image156.png" /><ns0:Relationship Id="rId4" Type="http://schemas.openxmlformats.org/officeDocument/2006/relationships/image" Target="../media/image155.png" /></ns0:Relationships>
</file>

<file path=ppt/c7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4: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035650" y="152720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conjecture</a:t>
            </a:r>
            <a:r>
              <a:rPr lang="en-GB" sz="2000" dirty="0"/>
              <a:t> is a mathematical statement that has yet to be proven.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4576" y="893597"/>
            <a:ext cx="2112287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755730" y="2099249"/>
                <a:ext cx="6264696" cy="14773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One famous conjecture is </a:t>
                </a:r>
                <a:r>
                  <a:rPr lang="en-GB" b="1" dirty="0" err="1"/>
                  <a:t>Goldbach’s</a:t>
                </a:r>
                <a:r>
                  <a:rPr lang="en-GB" b="1" dirty="0"/>
                  <a:t> Conjecture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It states “</a:t>
                </a:r>
                <a:r>
                  <a:rPr lang="en-GB" i="1" dirty="0"/>
                  <a:t>Every even integer greater than 2 can be expressed as the sum of two primes</a:t>
                </a:r>
                <a:r>
                  <a:rPr lang="en-GB" dirty="0"/>
                  <a:t>.”</a:t>
                </a:r>
              </a:p>
              <a:p>
                <a:r>
                  <a:rPr lang="en-GB" dirty="0"/>
                  <a:t>It has been verified up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lang="en-GB" dirty="0"/>
                  <a:t> (that’s big!); this provides evidence that it is true, but does not prove it is true!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730" y="2099249"/>
                <a:ext cx="6264696" cy="1477328"/>
              </a:xfrm>
              <a:prstGeom prst="rect">
                <a:avLst/>
              </a:prstGeom>
              <a:blipFill>
                <a:blip r:embed="rId2"/>
                <a:stretch>
                  <a:fillRect l="-605" t="-840" b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006193" y="3861048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theorem</a:t>
            </a:r>
            <a:r>
              <a:rPr lang="en-GB" sz="2000" dirty="0"/>
              <a:t> is a mathematical statement that has been proven.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726273" y="4538981"/>
                <a:ext cx="6466071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One famous misnomer was </a:t>
                </a:r>
                <a:r>
                  <a:rPr lang="en-GB" b="1" dirty="0"/>
                  <a:t>Fermat’s Last Theorem</a:t>
                </a:r>
                <a:r>
                  <a:rPr lang="en-GB" dirty="0"/>
                  <a:t>, which states “</a:t>
                </a:r>
                <a:r>
                  <a:rPr lang="en-GB" i="1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an integer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i="1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i="1" dirty="0"/>
                  <a:t> has no non-zero integer solutions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i="1" dirty="0"/>
                  <a:t>.</a:t>
                </a:r>
                <a:r>
                  <a:rPr lang="en-GB" dirty="0"/>
                  <a:t>” It was 300 years until this was proven in 1995. Only then was the ‘Theorem’ in the name then correct!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273" y="4538981"/>
                <a:ext cx="6466071" cy="1200329"/>
              </a:xfrm>
              <a:prstGeom prst="rect">
                <a:avLst/>
              </a:prstGeom>
              <a:blipFill>
                <a:blip r:embed="rId3"/>
                <a:stretch>
                  <a:fillRect l="-586" t="-1031" r="-1172" b="-7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25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c7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Types of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91544" y="2276873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a. Proof by Deduction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5429" y="748501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proof must show all </a:t>
            </a:r>
            <a:r>
              <a:rPr lang="en-GB" b="1" dirty="0"/>
              <a:t>assumptions</a:t>
            </a:r>
            <a:r>
              <a:rPr lang="en-GB" dirty="0"/>
              <a:t> you are using, have a clear </a:t>
            </a:r>
            <a:r>
              <a:rPr lang="en-GB" b="1" dirty="0"/>
              <a:t>sequential list of steps</a:t>
            </a:r>
            <a:r>
              <a:rPr lang="en-GB" dirty="0"/>
              <a:t> that logically follow, and must cover </a:t>
            </a:r>
            <a:r>
              <a:rPr lang="en-GB" b="1" dirty="0"/>
              <a:t>all possible cases</a:t>
            </a:r>
            <a:r>
              <a:rPr lang="en-GB" dirty="0"/>
              <a:t>.</a:t>
            </a:r>
          </a:p>
          <a:p>
            <a:r>
              <a:rPr lang="en-GB" dirty="0"/>
              <a:t>You should usually make a </a:t>
            </a:r>
            <a:r>
              <a:rPr lang="en-GB" b="1" dirty="0"/>
              <a:t>concluding statement</a:t>
            </a:r>
            <a:r>
              <a:rPr lang="en-GB" dirty="0"/>
              <a:t>, e.g. restating the original conjecture that you have proven.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2852936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the simplest type, where you start from known facts and reach the desired conclusion via deductive steps.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991544" y="4221088"/>
                <a:ext cx="403244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“Prove that the product of two odd numbers is odd.”</a:t>
                </a:r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be integers, 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are odd numbers.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𝑝𝑞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𝑝𝑞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This is one more than a multiple of 2, and is therefore odd.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221088"/>
                <a:ext cx="4032448" cy="2308324"/>
              </a:xfrm>
              <a:prstGeom prst="rect">
                <a:avLst/>
              </a:prstGeom>
              <a:blipFill>
                <a:blip r:embed="rId2"/>
                <a:stretch>
                  <a:fillRect l="-1254" t="-109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384032" y="3933056"/>
                <a:ext cx="4032448" cy="2916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“Prove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GB" b="1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𝟖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𝟕𝟎</m:t>
                    </m:r>
                  </m:oMath>
                </a14:m>
                <a:r>
                  <a:rPr lang="en-GB" b="1" dirty="0"/>
                  <a:t>”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−105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−70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−101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−70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≡3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−101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−70</m:t>
                      </m:r>
                    </m:oMath>
                  </m:oMathPara>
                </a14:m>
                <a:endParaRPr lang="en-GB" dirty="0"/>
              </a:p>
              <a:p>
                <a:endParaRPr lang="en-GB" b="1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3933056"/>
                <a:ext cx="4032448" cy="2916504"/>
              </a:xfrm>
              <a:prstGeom prst="rect">
                <a:avLst/>
              </a:prstGeom>
              <a:blipFill>
                <a:blip r:embed="rId3"/>
                <a:stretch>
                  <a:fillRect l="-1254" t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701092" y="2233330"/>
                <a:ext cx="3676622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An </a:t>
                </a:r>
                <a:r>
                  <a:rPr lang="en-GB" b="1" dirty="0"/>
                  <a:t>identity</a:t>
                </a:r>
                <a:r>
                  <a:rPr lang="en-GB" dirty="0"/>
                  <a:t> is an equation that is true for </a:t>
                </a:r>
                <a:r>
                  <a:rPr lang="en-GB" b="1" dirty="0"/>
                  <a:t>all values</a:t>
                </a:r>
                <a:r>
                  <a:rPr lang="en-GB" dirty="0"/>
                  <a:t> of the variables. 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 is true only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=±2</m:t>
                    </m:r>
                  </m:oMath>
                </a14:m>
                <a:r>
                  <a:rPr lang="en-GB" dirty="0"/>
                  <a:t>, 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true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092" y="2233330"/>
                <a:ext cx="3676622" cy="1200329"/>
              </a:xfrm>
              <a:prstGeom prst="rect">
                <a:avLst/>
              </a:prstGeom>
              <a:blipFill>
                <a:blip r:embed="rId4"/>
                <a:stretch>
                  <a:fillRect l="-1027" t="-1020" r="-2055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8400257" y="3439887"/>
            <a:ext cx="105114" cy="37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74542" y="4874795"/>
            <a:ext cx="3977916" cy="1758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6413" y="4538768"/>
            <a:ext cx="3977916" cy="20797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6755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0" grpId="0" animBg="1"/>
      <p:bldP spid="14" grpId="0" animBg="1"/>
      <p:bldP spid="14" grpId="1" animBg="1"/>
      <p:bldP spid="15" grpId="0" animBg="1"/>
      <p:bldP spid="15" grpId="1" animBg="1"/>
    </p:bldLst>
  </p:timing>
</p:sld>
</file>

<file path=ppt/c7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Be Warned…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91544" y="980728"/>
            <a:ext cx="7558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Proof by Deduction requires you to </a:t>
            </a:r>
            <a:r>
              <a:rPr lang="en-GB" b="1" dirty="0"/>
              <a:t>start from known facts </a:t>
            </a:r>
            <a:r>
              <a:rPr lang="en-GB" dirty="0"/>
              <a:t>and end up at the conclusion. It is </a:t>
            </a:r>
            <a:r>
              <a:rPr lang="en-GB" b="1" u="sng" dirty="0"/>
              <a:t>not</a:t>
            </a:r>
            <a:r>
              <a:rPr lang="en-GB" dirty="0"/>
              <a:t> acceptable to start with to the conclusion, and verify it works, </a:t>
            </a:r>
            <a:r>
              <a:rPr lang="en-GB" b="1" dirty="0"/>
              <a:t>because you are assuming the thing you are trying to prove</a:t>
            </a:r>
            <a:r>
              <a:rPr lang="en-GB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6944" y="2086372"/>
            <a:ext cx="7344816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i="1" dirty="0"/>
              <a:t>Example</a:t>
            </a:r>
            <a:r>
              <a:rPr lang="en-GB" sz="2000" dirty="0"/>
              <a:t>: Prove that if three consecutive integers are the sides of a right-angled triangle, they must be 3, 4 and 5.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915344" y="3166369"/>
                <a:ext cx="312655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Incorrect Proof:</a:t>
                </a:r>
              </a:p>
              <a:p>
                <a:endParaRPr lang="en-GB" dirty="0"/>
              </a:p>
              <a:p>
                <a:r>
                  <a:rPr lang="en-GB" dirty="0"/>
                  <a:t>Let the lengths be 3,4,5.</a:t>
                </a:r>
              </a:p>
              <a:p>
                <a:r>
                  <a:rPr lang="en-GB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25=25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This satisfies Pythagoras’ Theorem, and the numbers are consecutive.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344" y="3166369"/>
                <a:ext cx="3126556" cy="2585323"/>
              </a:xfrm>
              <a:prstGeom prst="rect">
                <a:avLst/>
              </a:prstGeom>
              <a:blipFill>
                <a:blip r:embed="rId2"/>
                <a:stretch>
                  <a:fillRect l="-1619" t="-976" r="-2024" b="-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951588" y="3090168"/>
                <a:ext cx="344971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Correct Proof:</a:t>
                </a:r>
              </a:p>
              <a:p>
                <a:endParaRPr lang="en-GB" dirty="0"/>
              </a:p>
              <a:p>
                <a:r>
                  <a:rPr lang="en-GB" dirty="0"/>
                  <a:t>If the sides are consecutive, then let the sides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Then by Pythagoras’ Theorem: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−3=0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(as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can’t be negative)</a:t>
                </a:r>
              </a:p>
              <a:p>
                <a:r>
                  <a:rPr lang="en-GB" dirty="0"/>
                  <a:t>Thus the sides are 3, 4, 5.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88" y="3090168"/>
                <a:ext cx="3449712" cy="3416320"/>
              </a:xfrm>
              <a:prstGeom prst="rect">
                <a:avLst/>
              </a:prstGeom>
              <a:blipFill>
                <a:blip r:embed="rId3"/>
                <a:stretch>
                  <a:fillRect l="-1471" t="-1111" b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8704" y="3577209"/>
            <a:ext cx="1626096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We are assuming the thing we are trying to prove!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419600" y="3924301"/>
            <a:ext cx="609104" cy="6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76512" y="5819002"/>
            <a:ext cx="3751064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The underlying problem is that this technique doesn’t prove there can’t be </a:t>
            </a:r>
            <a:r>
              <a:rPr lang="en-GB" sz="1400" b="1" u="sng" dirty="0"/>
              <a:t>other</a:t>
            </a:r>
            <a:r>
              <a:rPr lang="en-GB" sz="1400" dirty="0"/>
              <a:t> consecutive integers that work – we have only verified 3,4,5 is one such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9282" y="4524749"/>
            <a:ext cx="1626096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We are only assuming things in the ‘if’ bit. This is fine!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705602" y="4305300"/>
            <a:ext cx="292099" cy="24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961085" y="3613476"/>
            <a:ext cx="2967358" cy="2046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8392" y="3577208"/>
            <a:ext cx="3334072" cy="2929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536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8" grpId="0" animBg="1"/>
      <p:bldP spid="19" grpId="0" animBg="1"/>
    </p:bldLst>
  </p:timing>
</p:sld>
</file>

<file path=ppt/c7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Types of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48002" y="883502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a. Proof by Deduction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948002" y="1629541"/>
                <a:ext cx="5588158" cy="1495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b="1" dirty="0"/>
                  <a:t> is positive for all values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+5=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+1≥1&gt;0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002" y="1629541"/>
                <a:ext cx="5588158" cy="1495987"/>
              </a:xfrm>
              <a:prstGeom prst="rect">
                <a:avLst/>
              </a:prstGeom>
              <a:blipFill>
                <a:blip r:embed="rId2"/>
                <a:stretch>
                  <a:fillRect l="-90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379884" y="863917"/>
            <a:ext cx="273630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Exam Tip</a:t>
            </a:r>
            <a:r>
              <a:rPr lang="en-GB" dirty="0"/>
              <a:t>: This is quite a common last </a:t>
            </a:r>
            <a:r>
              <a:rPr lang="en-GB" dirty="0" err="1"/>
              <a:t>parter</a:t>
            </a:r>
            <a:r>
              <a:rPr lang="en-GB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1353" y="2405247"/>
            <a:ext cx="3156092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Anything squared is at least 0. This is formally known as the ‘</a:t>
            </a:r>
            <a:r>
              <a:rPr lang="en-GB" i="1" dirty="0"/>
              <a:t>trivial inequality</a:t>
            </a:r>
            <a:r>
              <a:rPr lang="en-GB" dirty="0"/>
              <a:t>’.</a:t>
            </a:r>
          </a:p>
        </p:txBody>
      </p:sp>
      <p:cxnSp>
        <p:nvCxnSpPr>
          <p:cNvPr id="10" name="Straight Arrow Connector 9"/>
          <p:cNvCxnSpPr>
            <a:stCxn id="7" idx="1"/>
          </p:cNvCxnSpPr>
          <p:nvPr/>
        </p:nvCxnSpPr>
        <p:spPr>
          <a:xfrm flipH="1">
            <a:off x="6888088" y="1187083"/>
            <a:ext cx="491796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705600" y="2685143"/>
            <a:ext cx="536894" cy="133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87456" y="2059024"/>
            <a:ext cx="4413344" cy="1192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973" y="3925108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Test Your Understanding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052973" y="4653137"/>
                <a:ext cx="558815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Prove that the sum of the squares of two consecutive odd numbers is 2 more than a multiple of 8.</a:t>
                </a:r>
              </a:p>
              <a:p>
                <a:endParaRPr lang="en-GB" b="1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be any two consecutive odd numbers,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an integer.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+1+4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     =8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   which is 2 more than a multiple of 8.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973" y="4653137"/>
                <a:ext cx="5588158" cy="2031325"/>
              </a:xfrm>
              <a:prstGeom prst="rect">
                <a:avLst/>
              </a:prstGeom>
              <a:blipFill>
                <a:blip r:embed="rId3"/>
                <a:stretch>
                  <a:fillRect l="-907" t="-124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064688" y="5477875"/>
            <a:ext cx="5687721" cy="1192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479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6" grpId="0" animBg="1"/>
    </p:bldLst>
  </p:timing>
</p:sld>
</file>

<file path=ppt/c7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7D  – Y1 Pages 149-150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95BFB53-A4D6-75D5-FD40-3359AB06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30551"/>
            <a:ext cx="4788024" cy="43348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4AC6318-F60B-88F9-B61A-4EACC805A9A2}"/>
              </a:ext>
            </a:extLst>
          </p:cNvPr>
          <p:cNvGrpSpPr/>
          <p:nvPr/>
        </p:nvGrpSpPr>
        <p:grpSpPr>
          <a:xfrm>
            <a:off x="1631504" y="2335022"/>
            <a:ext cx="7848872" cy="728132"/>
            <a:chOff x="251520" y="3573016"/>
            <a:chExt cx="7848872" cy="7281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C7834A-1B19-3772-2F88-5FBDCD1AA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3573016"/>
              <a:ext cx="7772400" cy="72813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62090D-E893-6B8C-FD80-F08A228B7970}"/>
                </a:ext>
              </a:extLst>
            </p:cNvPr>
            <p:cNvSpPr/>
            <p:nvPr/>
          </p:nvSpPr>
          <p:spPr>
            <a:xfrm>
              <a:off x="7452320" y="3933056"/>
              <a:ext cx="648072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6C465E0-2199-329C-666E-BD2BB093F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552" y="1064036"/>
            <a:ext cx="3240360" cy="768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646393-63DB-7AC5-39C1-D044247F5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371" y="3284984"/>
            <a:ext cx="3219218" cy="28058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36E9FF7-D45C-5563-8A6A-F510BFE75FC0}"/>
              </a:ext>
            </a:extLst>
          </p:cNvPr>
          <p:cNvSpPr/>
          <p:nvPr/>
        </p:nvSpPr>
        <p:spPr>
          <a:xfrm>
            <a:off x="2063552" y="1016298"/>
            <a:ext cx="4413344" cy="955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AC76B9-1E0D-7592-2786-81A81AFF33A9}"/>
              </a:ext>
            </a:extLst>
          </p:cNvPr>
          <p:cNvSpPr/>
          <p:nvPr/>
        </p:nvSpPr>
        <p:spPr>
          <a:xfrm>
            <a:off x="2063552" y="3209699"/>
            <a:ext cx="4413344" cy="3017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8444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c7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7D  – Y1 Pages 149-150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C04F6F8-A7DC-AED3-25D5-D591AF1CF1CD}"/>
              </a:ext>
            </a:extLst>
          </p:cNvPr>
          <p:cNvGrpSpPr/>
          <p:nvPr/>
        </p:nvGrpSpPr>
        <p:grpSpPr>
          <a:xfrm>
            <a:off x="1524000" y="594577"/>
            <a:ext cx="7416824" cy="748487"/>
            <a:chOff x="107504" y="692696"/>
            <a:chExt cx="7848872" cy="79208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DFF7733-561B-E78F-5725-71A2210B0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92696"/>
              <a:ext cx="7772400" cy="72813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C9A46F-081B-7F2F-7BF4-4291CAA0CEAE}"/>
                </a:ext>
              </a:extLst>
            </p:cNvPr>
            <p:cNvSpPr/>
            <p:nvPr/>
          </p:nvSpPr>
          <p:spPr>
            <a:xfrm>
              <a:off x="7308304" y="1052736"/>
              <a:ext cx="648072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B65D245-E2F5-BDE7-F638-03A8C71EB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2527720"/>
            <a:ext cx="5227479" cy="8031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AA0D71-62C5-A726-323C-CB5BD379C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60" y="1193703"/>
            <a:ext cx="3024337" cy="11574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2050B2-245A-E760-DB92-A75FE8AD9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311" y="3318202"/>
            <a:ext cx="3091858" cy="330561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5A50635-3A78-3CD3-C241-19944054F176}"/>
              </a:ext>
            </a:extLst>
          </p:cNvPr>
          <p:cNvSpPr/>
          <p:nvPr/>
        </p:nvSpPr>
        <p:spPr>
          <a:xfrm>
            <a:off x="4652312" y="1084259"/>
            <a:ext cx="3315897" cy="1266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B7EC9-8873-ACCB-9C06-8462B49AC5A3}"/>
              </a:ext>
            </a:extLst>
          </p:cNvPr>
          <p:cNvSpPr/>
          <p:nvPr/>
        </p:nvSpPr>
        <p:spPr>
          <a:xfrm>
            <a:off x="4652312" y="3267548"/>
            <a:ext cx="3315897" cy="3356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330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c7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7D  – Y1 Pages 149-150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4AAEC5B-C6CA-3E7B-6C46-AD05F432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08" y="599127"/>
            <a:ext cx="7772400" cy="424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ADF37D-5A92-474B-3034-420D0575A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554" y="3616868"/>
            <a:ext cx="5326360" cy="1169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AE94B-9BAF-DDE0-9B1F-71E673F2D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994953"/>
            <a:ext cx="2304256" cy="1728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0368E3-998F-5D98-7AED-F84022B4E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6" y="908720"/>
            <a:ext cx="3063526" cy="2383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EB29FB-ED48-2407-E34D-A4BFFC03C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523" y="2706522"/>
            <a:ext cx="2699792" cy="6021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41C17C-7E68-3AA4-4215-DF5F4D065F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7033" y="4771152"/>
            <a:ext cx="3530600" cy="1828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280301-80A6-50EA-5A7E-2783BEFDA9F8}"/>
              </a:ext>
            </a:extLst>
          </p:cNvPr>
          <p:cNvSpPr/>
          <p:nvPr/>
        </p:nvSpPr>
        <p:spPr>
          <a:xfrm>
            <a:off x="1775520" y="1002196"/>
            <a:ext cx="8568952" cy="2426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38E4D0-962A-DB81-0D76-A6C6B3C73CA6}"/>
              </a:ext>
            </a:extLst>
          </p:cNvPr>
          <p:cNvSpPr/>
          <p:nvPr/>
        </p:nvSpPr>
        <p:spPr>
          <a:xfrm>
            <a:off x="1775521" y="4670092"/>
            <a:ext cx="3622113" cy="2046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412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</p:bldLst>
  </p:timing>
</p:sld>
</file>

<file path=ppt/c7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Other Types of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48002" y="883502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b. Proof by Exhaustion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471" y="1492998"/>
            <a:ext cx="41586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means breaking down the statement into </a:t>
            </a:r>
            <a:r>
              <a:rPr lang="en-GB" b="1" dirty="0"/>
              <a:t>all possible smaller cases</a:t>
            </a:r>
            <a:r>
              <a:rPr lang="en-GB" dirty="0"/>
              <a:t>, where we prove each individual case.</a:t>
            </a:r>
          </a:p>
          <a:p>
            <a:r>
              <a:rPr lang="en-GB" sz="1400" dirty="0"/>
              <a:t>(This technique is sometimes known as ‘case analysis’)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4032" y="883501"/>
            <a:ext cx="414426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c. Disproof by Counter-Example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010389" y="2765457"/>
                <a:ext cx="3672408" cy="388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 is even for all integers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either even or odd.</a:t>
                </a:r>
              </a:p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even:</a:t>
                </a:r>
              </a:p>
              <a:p>
                <a:pPr/>
                <a:r>
                  <a:rPr lang="en-GB" sz="1600" dirty="0"/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𝑒𝑣𝑒𝑛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𝑒𝑣𝑒𝑛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𝑒𝑣𝑒𝑛</m:t>
                    </m:r>
                  </m:oMath>
                </a14:m>
                <a:br>
                  <a:rPr lang="en-GB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odd: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even for all integers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389" y="2765457"/>
                <a:ext cx="3672408" cy="3884205"/>
              </a:xfrm>
              <a:prstGeom prst="rect">
                <a:avLst/>
              </a:prstGeom>
              <a:blipFill>
                <a:blip r:embed="rId2"/>
                <a:stretch>
                  <a:fillRect l="-1379" t="-651" b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1948002" y="2765456"/>
            <a:ext cx="40324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84033" y="1492997"/>
            <a:ext cx="41586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 to prove a statement is true, we need to prove every possible case (potentially infinitely many!), </a:t>
            </a:r>
            <a:r>
              <a:rPr lang="en-GB" b="1" dirty="0"/>
              <a:t>we only need one example to disprove</a:t>
            </a:r>
            <a:r>
              <a:rPr lang="en-GB" dirty="0"/>
              <a:t> a statement.</a:t>
            </a:r>
          </a:p>
          <a:p>
            <a:r>
              <a:rPr lang="en-GB" dirty="0"/>
              <a:t>This is known as a </a:t>
            </a:r>
            <a:r>
              <a:rPr lang="en-GB" b="1" dirty="0"/>
              <a:t>counterexample</a:t>
            </a:r>
            <a:r>
              <a:rPr lang="en-GB" dirty="0"/>
              <a:t>.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384032" y="3429000"/>
            <a:ext cx="40324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121401" y="3598103"/>
                <a:ext cx="4406899" cy="1914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Disprove the statement: </a:t>
                </a:r>
              </a:p>
              <a:p>
                <a:r>
                  <a:rPr lang="en-GB" b="1" dirty="0"/>
                  <a:t>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𝟒𝟏</m:t>
                    </m:r>
                  </m:oMath>
                </a14:m>
                <a:r>
                  <a:rPr lang="en-GB" b="1" dirty="0"/>
                  <a:t> is prime for all integers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.”</a:t>
                </a:r>
              </a:p>
              <a:p>
                <a:endParaRPr lang="en-GB" dirty="0"/>
              </a:p>
              <a:p>
                <a:pPr/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=41</m:t>
                    </m:r>
                  </m:oMath>
                </a14:m>
                <a:r>
                  <a:rPr lang="en-GB" sz="1600" dirty="0"/>
                  <a:t>, then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41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−41+41</m:t>
                    </m:r>
                  </m:oMath>
                </a14:m>
                <a:br>
                  <a:rPr lang="en-GB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41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Which is not prime as it has a factor of 41.</a:t>
                </a:r>
              </a:p>
              <a:p>
                <a:r>
                  <a:rPr lang="en-GB" sz="1600" dirty="0"/>
                  <a:t>Thus the statement is not true.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1" y="3598103"/>
                <a:ext cx="4406899" cy="1914435"/>
              </a:xfrm>
              <a:prstGeom prst="rect">
                <a:avLst/>
              </a:prstGeom>
              <a:blipFill>
                <a:blip r:embed="rId3"/>
                <a:stretch>
                  <a:fillRect l="-862" t="-1325" b="-3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012856" y="3570323"/>
            <a:ext cx="3507080" cy="3213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616" y="4318000"/>
            <a:ext cx="4158084" cy="1843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979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c7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7E – Y1 Pages 152-154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EAD0FA9-75AC-0720-939E-A877D2922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9127"/>
            <a:ext cx="7772400" cy="296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5FC5CA-9A6F-14EC-3F55-CBDC0DEE0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717032"/>
            <a:ext cx="3386322" cy="720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BD08AD-E961-3F35-1919-7B013E081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60" y="997208"/>
            <a:ext cx="3515096" cy="2359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061977-969C-DBB8-3566-B508C63C3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441" y="1001461"/>
            <a:ext cx="3550666" cy="17256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948062-5565-1C2C-F27C-E26A66AB2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940" y="4653136"/>
            <a:ext cx="3073400" cy="1320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44E07FE-7AAB-B1A4-0770-9BF6D1516A44}"/>
              </a:ext>
            </a:extLst>
          </p:cNvPr>
          <p:cNvSpPr/>
          <p:nvPr/>
        </p:nvSpPr>
        <p:spPr>
          <a:xfrm>
            <a:off x="2010624" y="980728"/>
            <a:ext cx="7901800" cy="2520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1955CB-8041-BA59-190D-48C907B537A9}"/>
              </a:ext>
            </a:extLst>
          </p:cNvPr>
          <p:cNvSpPr/>
          <p:nvPr/>
        </p:nvSpPr>
        <p:spPr>
          <a:xfrm>
            <a:off x="1991542" y="4149080"/>
            <a:ext cx="3744419" cy="2520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9749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c7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7E – Y1 Pages 152-154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2EBF8FD-A564-EDA1-6900-48E82477C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2697"/>
            <a:ext cx="4197516" cy="81321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2B686B6-01AB-E55C-041B-F0F16218FC71}"/>
              </a:ext>
            </a:extLst>
          </p:cNvPr>
          <p:cNvGrpSpPr/>
          <p:nvPr/>
        </p:nvGrpSpPr>
        <p:grpSpPr>
          <a:xfrm>
            <a:off x="6095428" y="692697"/>
            <a:ext cx="4108946" cy="1391091"/>
            <a:chOff x="21730" y="3040039"/>
            <a:chExt cx="4108946" cy="139109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4DBDDE-077E-D023-0F16-6D70D1B73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30" y="3040039"/>
              <a:ext cx="4108946" cy="139109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4ED2B2-BD67-B7A1-6FD0-12485267EF9C}"/>
                </a:ext>
              </a:extLst>
            </p:cNvPr>
            <p:cNvSpPr/>
            <p:nvPr/>
          </p:nvSpPr>
          <p:spPr>
            <a:xfrm>
              <a:off x="3707904" y="4221088"/>
              <a:ext cx="422772" cy="210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68E3ABB-C94E-D3A5-0BA6-111E4D324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1844796"/>
            <a:ext cx="3632200" cy="157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040EED-E6EC-F210-D7AE-19E66503D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040" y="2247900"/>
            <a:ext cx="3632200" cy="2362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BEB5CC-C226-7318-07B1-D7494927A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040" y="4858114"/>
            <a:ext cx="3086100" cy="1384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1C1F39-4F25-4139-DD40-5370359740EB}"/>
              </a:ext>
            </a:extLst>
          </p:cNvPr>
          <p:cNvSpPr/>
          <p:nvPr/>
        </p:nvSpPr>
        <p:spPr>
          <a:xfrm>
            <a:off x="1826850" y="1099304"/>
            <a:ext cx="3744419" cy="2520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E2636-1984-2026-871A-BF034C80CBE7}"/>
              </a:ext>
            </a:extLst>
          </p:cNvPr>
          <p:cNvSpPr/>
          <p:nvPr/>
        </p:nvSpPr>
        <p:spPr>
          <a:xfrm>
            <a:off x="6394077" y="2242463"/>
            <a:ext cx="3744419" cy="2391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C9F0E2-75DF-471A-8928-96C96F594FB7}"/>
              </a:ext>
            </a:extLst>
          </p:cNvPr>
          <p:cNvSpPr/>
          <p:nvPr/>
        </p:nvSpPr>
        <p:spPr>
          <a:xfrm>
            <a:off x="6388837" y="4768776"/>
            <a:ext cx="3744419" cy="1756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13650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c7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7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