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2/ppt/slideMasters/slideMaster1.xml" ContentType="application/vnd.openxmlformats-officedocument.presentationml.slideMaster+xml"/>
  <ns0:Override PartName="/ppt/c12/ppt/slides/slide3.xml" ContentType="application/vnd.openxmlformats-officedocument.presentationml.slide+xml"/>
  <ns0:Override PartName="/ppt/c12/ppt/slides/slide4.xml" ContentType="application/vnd.openxmlformats-officedocument.presentationml.slide+xml"/>
  <ns0:Override PartName="/ppt/c12/ppt/slides/slide5.xml" ContentType="application/vnd.openxmlformats-officedocument.presentationml.slide+xml"/>
  <ns0:Override PartName="/ppt/c12/ppt/slides/slide6.xml" ContentType="application/vnd.openxmlformats-officedocument.presentationml.slide+xml"/>
  <ns0:Override PartName="/ppt/c12/ppt/slides/slide7.xml" ContentType="application/vnd.openxmlformats-officedocument.presentationml.slide+xml"/>
  <ns0:Override PartName="/ppt/c12/ppt/slides/slide8.xml" ContentType="application/vnd.openxmlformats-officedocument.presentationml.slide+xml"/>
  <ns0:Override PartName="/ppt/c12/ppt/slides/slide9.xml" ContentType="application/vnd.openxmlformats-officedocument.presentationml.slide+xml"/>
  <ns0:Override PartName="/ppt/c12/ppt/slides/slide10.xml" ContentType="application/vnd.openxmlformats-officedocument.presentationml.slide+xml"/>
  <ns0:Override PartName="/ppt/c12/ppt/slides/slide11.xml" ContentType="application/vnd.openxmlformats-officedocument.presentationml.slide+xml"/>
  <ns0:Override PartName="/ppt/c12/ppt/slides/slide12.xml" ContentType="application/vnd.openxmlformats-officedocument.presentationml.slide+xml"/>
  <ns0:Override PartName="/ppt/c12/ppt/notesMasters/notesMaster1.xml" ContentType="application/vnd.openxmlformats-officedocument.presentationml.notesMaster+xml"/>
  <ns0:Override PartName="/ppt/c12/ppt/theme/theme1.xml" ContentType="application/vnd.openxmlformats-officedocument.theme+xml"/>
  <ns0:Override PartName="/ppt/c12/ppt/slideLayouts/slideLayout1.xml" ContentType="application/vnd.openxmlformats-officedocument.presentationml.slideLayout+xml"/>
  <ns0:Override PartName="/ppt/c12/ppt/slideLayouts/slideLayout2.xml" ContentType="application/vnd.openxmlformats-officedocument.presentationml.slideLayout+xml"/>
  <ns0:Override PartName="/ppt/c12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848" r:id="rId11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2/ppt/slides/slide3.xml" /><ns0:Relationship Id="rId2" Type="http://schemas.openxmlformats.org/officeDocument/2006/relationships/slide" Target="c12/ppt/slides/slide4.xml" /><ns0:Relationship Id="rId3" Type="http://schemas.openxmlformats.org/officeDocument/2006/relationships/slide" Target="c12/ppt/slides/slide5.xml" /><ns0:Relationship Id="rId4" Type="http://schemas.openxmlformats.org/officeDocument/2006/relationships/slide" Target="c12/ppt/slides/slide6.xml" /><ns0:Relationship Id="rId5" Type="http://schemas.openxmlformats.org/officeDocument/2006/relationships/slide" Target="c12/ppt/slides/slide7.xml" /><ns0:Relationship Id="rId6" Type="http://schemas.openxmlformats.org/officeDocument/2006/relationships/slide" Target="c12/ppt/slides/slide8.xml" /><ns0:Relationship Id="rId7" Type="http://schemas.openxmlformats.org/officeDocument/2006/relationships/slide" Target="c12/ppt/slides/slide9.xml" /><ns0:Relationship Id="rId8" Type="http://schemas.openxmlformats.org/officeDocument/2006/relationships/slide" Target="c12/ppt/slides/slide10.xml" /><ns0:Relationship Id="rId9" Type="http://schemas.openxmlformats.org/officeDocument/2006/relationships/slide" Target="c12/ppt/slides/slide11.xml" /><ns0:Relationship Id="rId10" Type="http://schemas.openxmlformats.org/officeDocument/2006/relationships/slide" Target="c12/ppt/slides/slide12.xml" /><ns0:Relationship Id="rId11" Type="http://schemas.openxmlformats.org/officeDocument/2006/relationships/slideMaster" Target="c12/ppt/slideMasters/slideMaster1.xml" /><ns0:Relationship Id="rId12" Type="http://schemas.openxmlformats.org/officeDocument/2006/relationships/notesMaster" Target="c12/ppt/notesMasters/notesMaster1.xml" /></ns0:Relationships>
</file>

<file path=ppt/c12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2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30/12/2023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2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2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1839891"/>
      </p:ext>
    </p:extLst>
  </p:cSld>
  <p:clrMapOvr>
    <a:masterClrMapping/>
  </p:clrMapOvr>
</p:sldLayout>
</file>

<file path=ppt/c12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7130973"/>
      </p:ext>
    </p:extLst>
  </p:cSld>
  <p:clrMapOvr>
    <a:masterClrMapping/>
  </p:clrMapOvr>
</p:sldLayout>
</file>

<file path=ppt/c12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2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30/12/2023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968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2/ppt/slides/_rels/slide3.xml.rels><?xml version='1.0' encoding='utf-8'?>
<ns0:Relationships xmlns:ns0="http://schemas.openxmlformats.org/package/2006/relationships"><ns0:Relationship Id="rId8" Type="http://schemas.openxmlformats.org/officeDocument/2006/relationships/image" Target="../media/image17.png" /><ns0:Relationship Id="rId13" Type="http://schemas.openxmlformats.org/officeDocument/2006/relationships/image" Target="../media/image22.png" /><ns0:Relationship Id="rId3" Type="http://schemas.openxmlformats.org/officeDocument/2006/relationships/image" Target="../media/image12.png" /><ns0:Relationship Id="rId7" Type="http://schemas.openxmlformats.org/officeDocument/2006/relationships/image" Target="../media/image16.png" /><ns0:Relationship Id="rId12" Type="http://schemas.openxmlformats.org/officeDocument/2006/relationships/image" Target="../media/image21.png" /><ns0:Relationship Id="rId2" Type="http://schemas.openxmlformats.org/officeDocument/2006/relationships/image" Target="../media/image1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5.png" /><ns0:Relationship Id="rId11" Type="http://schemas.openxmlformats.org/officeDocument/2006/relationships/image" Target="../media/image20.png" /><ns0:Relationship Id="rId5" Type="http://schemas.openxmlformats.org/officeDocument/2006/relationships/image" Target="../media/image7.png" /><ns0:Relationship Id="rId15" Type="http://schemas.openxmlformats.org/officeDocument/2006/relationships/image" Target="../media/image24.png" /><ns0:Relationship Id="rId10" Type="http://schemas.openxmlformats.org/officeDocument/2006/relationships/image" Target="../media/image19.png" /><ns0:Relationship Id="rId4" Type="http://schemas.openxmlformats.org/officeDocument/2006/relationships/image" Target="../media/image13.png" /><ns0:Relationship Id="rId9" Type="http://schemas.openxmlformats.org/officeDocument/2006/relationships/image" Target="../media/image18.png" /><ns0:Relationship Id="rId14" Type="http://schemas.openxmlformats.org/officeDocument/2006/relationships/image" Target="../media/image23.png" /></ns0:Relationships>
</file>

<file path=ppt/c12/ppt/slides/_rels/slide4.xml.rels><?xml version='1.0' encoding='utf-8'?>
<ns0:Relationships xmlns:ns0="http://schemas.openxmlformats.org/package/2006/relationships"><ns0:Relationship Id="rId8" Type="http://schemas.openxmlformats.org/officeDocument/2006/relationships/image" Target="../media/image31.png" /><ns0:Relationship Id="rId13" Type="http://schemas.openxmlformats.org/officeDocument/2006/relationships/image" Target="../media/image36.png" /><ns0:Relationship Id="rId3" Type="http://schemas.openxmlformats.org/officeDocument/2006/relationships/image" Target="../media/image26.png" /><ns0:Relationship Id="rId7" Type="http://schemas.openxmlformats.org/officeDocument/2006/relationships/image" Target="../media/image30.png" /><ns0:Relationship Id="rId12" Type="http://schemas.openxmlformats.org/officeDocument/2006/relationships/image" Target="../media/image35.png" /><ns0:Relationship Id="rId2" Type="http://schemas.openxmlformats.org/officeDocument/2006/relationships/image" Target="../media/image25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9.png" /><ns0:Relationship Id="rId11" Type="http://schemas.openxmlformats.org/officeDocument/2006/relationships/image" Target="../media/image34.png" /><ns0:Relationship Id="rId5" Type="http://schemas.openxmlformats.org/officeDocument/2006/relationships/image" Target="../media/image28.png" /><ns0:Relationship Id="rId10" Type="http://schemas.openxmlformats.org/officeDocument/2006/relationships/image" Target="../media/image33.png" /><ns0:Relationship Id="rId4" Type="http://schemas.openxmlformats.org/officeDocument/2006/relationships/image" Target="../media/image27.png" /><ns0:Relationship Id="rId9" Type="http://schemas.openxmlformats.org/officeDocument/2006/relationships/image" Target="../media/image32.png" /><ns0:Relationship Id="rId14" Type="http://schemas.openxmlformats.org/officeDocument/2006/relationships/image" Target="../media/image37.png" /></ns0:Relationships>
</file>

<file path=ppt/c12/ppt/slides/_rels/slide5.xml.rels><?xml version='1.0' encoding='utf-8'?>
<ns0:Relationships xmlns:ns0="http://schemas.openxmlformats.org/package/2006/relationships"><ns0:Relationship Id="rId8" Type="http://schemas.openxmlformats.org/officeDocument/2006/relationships/image" Target="../media/image44.png" /><ns0:Relationship Id="rId3" Type="http://schemas.openxmlformats.org/officeDocument/2006/relationships/image" Target="../media/image39.png" /><ns0:Relationship Id="rId7" Type="http://schemas.openxmlformats.org/officeDocument/2006/relationships/image" Target="../media/image43.png" /><ns0:Relationship Id="rId12" Type="http://schemas.openxmlformats.org/officeDocument/2006/relationships/image" Target="../media/image48.png" /><ns0:Relationship Id="rId2" Type="http://schemas.openxmlformats.org/officeDocument/2006/relationships/image" Target="../media/image3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42.png" /><ns0:Relationship Id="rId11" Type="http://schemas.openxmlformats.org/officeDocument/2006/relationships/image" Target="../media/image47.png" /><ns0:Relationship Id="rId5" Type="http://schemas.openxmlformats.org/officeDocument/2006/relationships/image" Target="../media/image41.png" /><ns0:Relationship Id="rId10" Type="http://schemas.openxmlformats.org/officeDocument/2006/relationships/image" Target="../media/image46.png" /><ns0:Relationship Id="rId4" Type="http://schemas.openxmlformats.org/officeDocument/2006/relationships/image" Target="../media/image40.png" /><ns0:Relationship Id="rId9" Type="http://schemas.openxmlformats.org/officeDocument/2006/relationships/image" Target="../media/image45.png" /></ns0:Relationships>
</file>

<file path=ppt/c12/ppt/slides/_rels/slide6.xml.rels><?xml version='1.0' encoding='utf-8'?>
<ns0:Relationships xmlns:ns0="http://schemas.openxmlformats.org/package/2006/relationships"><ns0:Relationship Id="rId3" Type="http://schemas.openxmlformats.org/officeDocument/2006/relationships/image" Target="../media/image50.png" /><ns0:Relationship Id="rId7" Type="http://schemas.openxmlformats.org/officeDocument/2006/relationships/image" Target="../media/image54.png" /><ns0:Relationship Id="rId2" Type="http://schemas.openxmlformats.org/officeDocument/2006/relationships/image" Target="../media/image4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53.png" /><ns0:Relationship Id="rId5" Type="http://schemas.openxmlformats.org/officeDocument/2006/relationships/image" Target="../media/image52.png" /><ns0:Relationship Id="rId4" Type="http://schemas.openxmlformats.org/officeDocument/2006/relationships/image" Target="../media/image51.png" /></ns0:Relationships>
</file>

<file path=ppt/c12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56.png" /><ns0:Relationship Id="rId2" Type="http://schemas.openxmlformats.org/officeDocument/2006/relationships/image" Target="../media/image55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58.png" /><ns0:Relationship Id="rId4" Type="http://schemas.openxmlformats.org/officeDocument/2006/relationships/image" Target="../media/image57.png" /></ns0:Relationships>
</file>

<file path=ppt/c12/ppt/slides/_rels/slide8.xml.rels><?xml version='1.0' encoding='utf-8'?>
<ns0:Relationships xmlns:ns0="http://schemas.openxmlformats.org/package/2006/relationships"><ns0:Relationship Id="rId3" Type="http://schemas.openxmlformats.org/officeDocument/2006/relationships/image" Target="../media/image60.png" /><ns0:Relationship Id="rId2" Type="http://schemas.openxmlformats.org/officeDocument/2006/relationships/image" Target="../media/image59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61.png" /></ns0:Relationships>
</file>

<file path=ppt/c12/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9.png" /><ns0:Relationship Id="rId2" Type="http://schemas.openxmlformats.org/officeDocument/2006/relationships/image" Target="../media/image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10.png" /></ns0:Relationships>
</file>

<file path=ppt/c12/ppt/slides/_rels/slide10.xml.rels><?xml version='1.0' encoding='utf-8'?>
<ns0:Relationships xmlns:ns0="http://schemas.openxmlformats.org/package/2006/relationships"><ns0:Relationship Id="rId3" Type="http://schemas.openxmlformats.org/officeDocument/2006/relationships/image" Target="../media/image14.png" /><ns0:Relationship Id="rId2" Type="http://schemas.openxmlformats.org/officeDocument/2006/relationships/image" Target="../media/image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62.png" /></ns0:Relationships>
</file>

<file path=ppt/c12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64.png" /><ns0:Relationship Id="rId2" Type="http://schemas.openxmlformats.org/officeDocument/2006/relationships/image" Target="../media/image63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65.png" /></ns0:Relationships>
</file>

<file path=ppt/c12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67.png" /><ns0:Relationship Id="rId2" Type="http://schemas.openxmlformats.org/officeDocument/2006/relationships/image" Target="../media/image66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68.png" /></ns0:Relationships>
</file>

<file path=ppt/c12/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89635"/>
            <a:ext cx="316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For a straight line, the gradient is </a:t>
            </a:r>
            <a:r>
              <a:rPr lang="en-GB" sz="2000" b="1" dirty="0"/>
              <a:t>constant</a:t>
            </a:r>
            <a:r>
              <a:rPr lang="en-GB" sz="2000" dirty="0"/>
              <a:t>: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00947" y="1594884"/>
            <a:ext cx="638755" cy="1194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rot="17896156">
                <a:off x="63002" y="2011170"/>
                <a:ext cx="15472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96156">
                <a:off x="63002" y="2011170"/>
                <a:ext cx="1547286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/>
          <p:cNvSpPr/>
          <p:nvPr/>
        </p:nvSpPr>
        <p:spPr>
          <a:xfrm>
            <a:off x="1381120" y="2090326"/>
            <a:ext cx="569114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10985" y="2032941"/>
                <a:ext cx="1236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85" y="2032941"/>
                <a:ext cx="12362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5536" y="3389350"/>
                <a:ext cx="316835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However, for a curve </a:t>
                </a:r>
                <a:r>
                  <a:rPr lang="en-GB" sz="2000" b="1" dirty="0"/>
                  <a:t>the gradient varies</a:t>
                </a:r>
                <a:r>
                  <a:rPr lang="en-GB" sz="2000" dirty="0"/>
                  <a:t>. We can no longer have a single value for the gradient; </a:t>
                </a:r>
                <a:r>
                  <a:rPr lang="en-GB" sz="2000" b="1" dirty="0"/>
                  <a:t>we ideally want an expression in terms of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dirty="0"/>
                  <a:t> that gives us the gradient for any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(unsurprisingly known as the </a:t>
                </a:r>
                <a:r>
                  <a:rPr lang="en-GB" sz="2000" b="1" u="sng" dirty="0"/>
                  <a:t>gradient function</a:t>
                </a:r>
                <a:r>
                  <a:rPr lang="en-GB" sz="2000" dirty="0"/>
                  <a:t>).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89350"/>
                <a:ext cx="3168352" cy="2862322"/>
              </a:xfrm>
              <a:prstGeom prst="rect">
                <a:avLst/>
              </a:prstGeom>
              <a:blipFill>
                <a:blip r:embed="rId4"/>
                <a:stretch>
                  <a:fillRect l="-2115" t="-1277" r="-3077" b="-2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905" y="789635"/>
            <a:ext cx="4924384" cy="3250737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flipV="1">
            <a:off x="3699152" y="1202346"/>
            <a:ext cx="0" cy="45086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180210" y="1041978"/>
            <a:ext cx="340990" cy="72332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87900" y="2228850"/>
            <a:ext cx="501650" cy="641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511800" y="3086100"/>
            <a:ext cx="463550" cy="3175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6191250" y="3454400"/>
            <a:ext cx="438150" cy="6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864350" y="3048000"/>
            <a:ext cx="495300" cy="355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7556500" y="2298701"/>
            <a:ext cx="419100" cy="5460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8324850" y="1143000"/>
            <a:ext cx="266700" cy="5778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4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597963"/>
                  </p:ext>
                </p:extLst>
              </p:nvPr>
            </p:nvGraphicFramePr>
            <p:xfrm>
              <a:off x="4097264" y="4097634"/>
              <a:ext cx="4549666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108">
                      <a:extLst>
                        <a:ext uri="{9D8B030D-6E8A-4147-A177-3AD203B41FA5}">
                          <a16:colId xmlns:a16="http://schemas.microsoft.com/office/drawing/2014/main" val="3762797518"/>
                        </a:ext>
                      </a:extLst>
                    </a:gridCol>
                    <a:gridCol w="491480">
                      <a:extLst>
                        <a:ext uri="{9D8B030D-6E8A-4147-A177-3AD203B41FA5}">
                          <a16:colId xmlns:a16="http://schemas.microsoft.com/office/drawing/2014/main" val="4075715404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813219199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701264086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953381454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77659284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124708633"/>
                        </a:ext>
                      </a:extLst>
                    </a:gridCol>
                    <a:gridCol w="662806">
                      <a:extLst>
                        <a:ext uri="{9D8B030D-6E8A-4147-A177-3AD203B41FA5}">
                          <a16:colId xmlns:a16="http://schemas.microsoft.com/office/drawing/2014/main" val="3322843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345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8716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4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597963"/>
                  </p:ext>
                </p:extLst>
              </p:nvPr>
            </p:nvGraphicFramePr>
            <p:xfrm>
              <a:off x="4097264" y="4097634"/>
              <a:ext cx="4549666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108">
                      <a:extLst>
                        <a:ext uri="{9D8B030D-6E8A-4147-A177-3AD203B41FA5}">
                          <a16:colId xmlns:a16="http://schemas.microsoft.com/office/drawing/2014/main" val="3762797518"/>
                        </a:ext>
                      </a:extLst>
                    </a:gridCol>
                    <a:gridCol w="491480">
                      <a:extLst>
                        <a:ext uri="{9D8B030D-6E8A-4147-A177-3AD203B41FA5}">
                          <a16:colId xmlns:a16="http://schemas.microsoft.com/office/drawing/2014/main" val="4075715404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813219199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701264086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953381454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77659284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124708633"/>
                        </a:ext>
                      </a:extLst>
                    </a:gridCol>
                    <a:gridCol w="662806">
                      <a:extLst>
                        <a:ext uri="{9D8B030D-6E8A-4147-A177-3AD203B41FA5}">
                          <a16:colId xmlns:a16="http://schemas.microsoft.com/office/drawing/2014/main" val="3322843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41" t="-3279" r="-38141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345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8716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TextBox 46"/>
          <p:cNvSpPr txBox="1"/>
          <p:nvPr/>
        </p:nvSpPr>
        <p:spPr>
          <a:xfrm>
            <a:off x="6551290" y="771525"/>
            <a:ext cx="1495004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At GCSE, you found the gradient of a curve at a particular point by </a:t>
            </a:r>
            <a:r>
              <a:rPr lang="en-GB" sz="1200" b="1" dirty="0"/>
              <a:t>drawing a tangent</a:t>
            </a:r>
            <a:r>
              <a:rPr lang="en-GB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102225" y="1639402"/>
                <a:ext cx="86422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225" y="1639402"/>
                <a:ext cx="864220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5052481" y="4450649"/>
            <a:ext cx="479807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288" y="4450648"/>
            <a:ext cx="43656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63049" y="4450647"/>
            <a:ext cx="43656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99612" y="4449990"/>
            <a:ext cx="497926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97538" y="4449990"/>
            <a:ext cx="509587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5260" y="4449331"/>
            <a:ext cx="56860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73863" y="4449331"/>
            <a:ext cx="657225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4252069" y="1169569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069" y="1169569"/>
                <a:ext cx="81825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887111" y="2188620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111" y="2188620"/>
                <a:ext cx="81825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463956" y="2837378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56" y="2837378"/>
                <a:ext cx="81825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981571" y="3116965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571" y="3116965"/>
                <a:ext cx="81825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492965" y="2900254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965" y="2900254"/>
                <a:ext cx="81825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081968" y="2305384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968" y="2305384"/>
                <a:ext cx="818257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915721" y="878660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721" y="878660"/>
                <a:ext cx="818257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991243" y="5171118"/>
                <a:ext cx="49821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By looking at the relationship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the gradient at that point, can you come up with an expression,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for the gradient?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𝐺𝑟𝑎𝑑𝑖𝑒𝑛𝑡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243" y="5171118"/>
                <a:ext cx="4982164" cy="1200329"/>
              </a:xfrm>
              <a:prstGeom prst="rect">
                <a:avLst/>
              </a:prstGeom>
              <a:blipFill>
                <a:blip r:embed="rId15"/>
                <a:stretch>
                  <a:fillRect l="-1102"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63"/>
          <p:cNvSpPr/>
          <p:nvPr/>
        </p:nvSpPr>
        <p:spPr>
          <a:xfrm>
            <a:off x="5047470" y="6064351"/>
            <a:ext cx="2947963" cy="388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65" name="Oval 64"/>
          <p:cNvSpPr/>
          <p:nvPr/>
        </p:nvSpPr>
        <p:spPr>
          <a:xfrm>
            <a:off x="4311379" y="1383221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/>
          <p:cNvSpPr/>
          <p:nvPr/>
        </p:nvSpPr>
        <p:spPr>
          <a:xfrm>
            <a:off x="4985676" y="2503715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val 66"/>
          <p:cNvSpPr/>
          <p:nvPr/>
        </p:nvSpPr>
        <p:spPr>
          <a:xfrm>
            <a:off x="5685108" y="3177505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6374361" y="3405718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 68"/>
          <p:cNvSpPr/>
          <p:nvPr/>
        </p:nvSpPr>
        <p:spPr>
          <a:xfrm>
            <a:off x="7064899" y="3177253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 69"/>
          <p:cNvSpPr/>
          <p:nvPr/>
        </p:nvSpPr>
        <p:spPr>
          <a:xfrm>
            <a:off x="7719733" y="2500843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>
            <a:off x="8404599" y="1397886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"/>
                            </p:stCondLst>
                            <p:childTnLst>
                              <p:par>
                                <p:cTn id="6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250"/>
                            </p:stCondLst>
                            <p:childTnLst>
                              <p:par>
                                <p:cTn id="7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750"/>
                            </p:stCondLst>
                            <p:childTnLst>
                              <p:par>
                                <p:cTn id="9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</p:childTnLst>
        </p:cTn>
      </p:par>
    </p:tnLst>
    <p:bldLst>
      <p:bldP spid="13" grpId="0"/>
      <p:bldP spid="47" grpId="0" animBg="1"/>
      <p:bldP spid="48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4" grpId="1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c12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the 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12428" y="826923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question is then: Is there a method to work out the gradient function without having to draw lots of tangents and hoping that we can spot the rule?</a:t>
            </a:r>
          </a:p>
        </p:txBody>
      </p:sp>
      <p:sp>
        <p:nvSpPr>
          <p:cNvPr id="6" name="Freeform 4"/>
          <p:cNvSpPr/>
          <p:nvPr/>
        </p:nvSpPr>
        <p:spPr>
          <a:xfrm>
            <a:off x="437298" y="2956738"/>
            <a:ext cx="3140854" cy="265491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  <a:gd name="connsiteX0" fmla="*/ 0 w 1740870"/>
              <a:gd name="connsiteY0" fmla="*/ 1637397 h 1637397"/>
              <a:gd name="connsiteX1" fmla="*/ 452759 w 1740870"/>
              <a:gd name="connsiteY1" fmla="*/ 1502797 h 1637397"/>
              <a:gd name="connsiteX2" fmla="*/ 1057058 w 1740870"/>
              <a:gd name="connsiteY2" fmla="*/ 1144988 h 1637397"/>
              <a:gd name="connsiteX3" fmla="*/ 1406915 w 1740870"/>
              <a:gd name="connsiteY3" fmla="*/ 755374 h 1637397"/>
              <a:gd name="connsiteX4" fmla="*/ 1740870 w 1740870"/>
              <a:gd name="connsiteY4" fmla="*/ 0 h 16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0870" h="1637397">
                <a:moveTo>
                  <a:pt x="0" y="1637397"/>
                </a:moveTo>
                <a:cubicBezTo>
                  <a:pt x="261068" y="1581075"/>
                  <a:pt x="276583" y="1584865"/>
                  <a:pt x="452759" y="1502797"/>
                </a:cubicBezTo>
                <a:cubicBezTo>
                  <a:pt x="628935" y="1420729"/>
                  <a:pt x="898032" y="1269558"/>
                  <a:pt x="1057058" y="1144988"/>
                </a:cubicBezTo>
                <a:cubicBezTo>
                  <a:pt x="1216084" y="1020418"/>
                  <a:pt x="1292946" y="946205"/>
                  <a:pt x="1406915" y="755374"/>
                </a:cubicBezTo>
                <a:cubicBezTo>
                  <a:pt x="1520884" y="564543"/>
                  <a:pt x="1630877" y="282271"/>
                  <a:pt x="174087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2298554" y="4736790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08480" y="4921461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5,25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480" y="4921461"/>
                <a:ext cx="9434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417676" y="450780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76" y="4507808"/>
                <a:ext cx="648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449994" y="4820610"/>
            <a:ext cx="471420" cy="6748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4"/>
          </p:cNvCxnSpPr>
          <p:nvPr/>
        </p:nvCxnSpPr>
        <p:spPr>
          <a:xfrm flipH="1">
            <a:off x="2997614" y="4144722"/>
            <a:ext cx="1588" cy="713116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56110" y="4957294"/>
            <a:ext cx="415689" cy="42433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854614" y="3288118"/>
            <a:ext cx="1824990" cy="209931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35258" y="3821001"/>
                <a:ext cx="12129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58" y="3821001"/>
                <a:ext cx="1212997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004336" y="3984057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6,36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336" y="3984057"/>
                <a:ext cx="9434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796897" y="433049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897" y="4330497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3443201" y="3975083"/>
            <a:ext cx="366799" cy="41594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37120" y="5639916"/>
                <a:ext cx="210757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20" y="5639916"/>
                <a:ext cx="2107577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2205070" y="5541847"/>
            <a:ext cx="842930" cy="7218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4912" y="1709316"/>
                <a:ext cx="3774548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To approximate the gradient on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600" dirty="0"/>
                  <a:t>, we could pick a point on the curve just slightly to the right, then find the gradient between the two points: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12" y="1709316"/>
                <a:ext cx="3774548" cy="1077218"/>
              </a:xfrm>
              <a:prstGeom prst="rect">
                <a:avLst/>
              </a:prstGeom>
              <a:blipFill>
                <a:blip r:embed="rId8"/>
                <a:stretch>
                  <a:fillRect l="-642" t="-552" b="-4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860032" y="1709316"/>
            <a:ext cx="3774548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As the second point gets closer and closer, the gradient becomes a better approximation of the true gradient:</a:t>
            </a:r>
          </a:p>
        </p:txBody>
      </p:sp>
      <p:sp>
        <p:nvSpPr>
          <p:cNvPr id="33" name="Freeform 4"/>
          <p:cNvSpPr/>
          <p:nvPr/>
        </p:nvSpPr>
        <p:spPr>
          <a:xfrm>
            <a:off x="4617451" y="2949462"/>
            <a:ext cx="3140854" cy="265491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  <a:gd name="connsiteX0" fmla="*/ 0 w 1740870"/>
              <a:gd name="connsiteY0" fmla="*/ 1637397 h 1637397"/>
              <a:gd name="connsiteX1" fmla="*/ 452759 w 1740870"/>
              <a:gd name="connsiteY1" fmla="*/ 1502797 h 1637397"/>
              <a:gd name="connsiteX2" fmla="*/ 1057058 w 1740870"/>
              <a:gd name="connsiteY2" fmla="*/ 1144988 h 1637397"/>
              <a:gd name="connsiteX3" fmla="*/ 1406915 w 1740870"/>
              <a:gd name="connsiteY3" fmla="*/ 755374 h 1637397"/>
              <a:gd name="connsiteX4" fmla="*/ 1740870 w 1740870"/>
              <a:gd name="connsiteY4" fmla="*/ 0 h 16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0870" h="1637397">
                <a:moveTo>
                  <a:pt x="0" y="1637397"/>
                </a:moveTo>
                <a:cubicBezTo>
                  <a:pt x="261068" y="1581075"/>
                  <a:pt x="276583" y="1584865"/>
                  <a:pt x="452759" y="1502797"/>
                </a:cubicBezTo>
                <a:cubicBezTo>
                  <a:pt x="628935" y="1420729"/>
                  <a:pt x="898032" y="1269558"/>
                  <a:pt x="1057058" y="1144988"/>
                </a:cubicBezTo>
                <a:cubicBezTo>
                  <a:pt x="1216084" y="1020418"/>
                  <a:pt x="1292946" y="946205"/>
                  <a:pt x="1406915" y="755374"/>
                </a:cubicBezTo>
                <a:cubicBezTo>
                  <a:pt x="1520884" y="564543"/>
                  <a:pt x="1630877" y="282271"/>
                  <a:pt x="174087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6478707" y="4729514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288633" y="4914185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5,25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633" y="4914185"/>
                <a:ext cx="9434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496229" y="4583082"/>
                <a:ext cx="64807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229" y="4583082"/>
                <a:ext cx="64807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>
            <a:off x="6630147" y="4813334"/>
            <a:ext cx="364378" cy="9491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4"/>
          </p:cNvCxnSpPr>
          <p:nvPr/>
        </p:nvCxnSpPr>
        <p:spPr>
          <a:xfrm>
            <a:off x="6995205" y="4499396"/>
            <a:ext cx="2495" cy="282154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30900" y="3676650"/>
            <a:ext cx="1943100" cy="16637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022564" y="4214906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5.01,25.1001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564" y="4214906"/>
                <a:ext cx="943482" cy="369332"/>
              </a:xfrm>
              <a:prstGeom prst="rect">
                <a:avLst/>
              </a:prstGeom>
              <a:blipFill>
                <a:blip r:embed="rId11"/>
                <a:stretch>
                  <a:fillRect r="-651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919900" y="4551821"/>
                <a:ext cx="64807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0.1001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900" y="4551821"/>
                <a:ext cx="64807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7702729" y="4057650"/>
            <a:ext cx="771346" cy="6000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953001" y="5708840"/>
                <a:ext cx="240995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0.1001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=10.01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5708840"/>
                <a:ext cx="2409950" cy="6127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5641491" y="5598694"/>
            <a:ext cx="1590624" cy="7218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2927194" y="400070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6923197" y="43553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421922" y="5832475"/>
                <a:ext cx="170302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actual gradient 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400" dirty="0"/>
                  <a:t> is 10, so this approximation is damn close!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922" y="5832475"/>
                <a:ext cx="1703028" cy="954107"/>
              </a:xfrm>
              <a:prstGeom prst="rect">
                <a:avLst/>
              </a:prstGeom>
              <a:blipFill>
                <a:blip r:embed="rId14"/>
                <a:stretch>
                  <a:fillRect l="-1075" t="-1282" r="-2867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H="1" flipV="1">
            <a:off x="7200900" y="6391275"/>
            <a:ext cx="231746" cy="200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04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28" grpId="0"/>
      <p:bldP spid="16" grpId="0" animBg="1"/>
      <p:bldP spid="30" grpId="0" animBg="1"/>
      <p:bldP spid="37" grpId="0"/>
      <p:bldP spid="44" grpId="0"/>
      <p:bldP spid="45" grpId="0" animBg="1"/>
      <p:bldP spid="47" grpId="0" animBg="1"/>
      <p:bldP spid="53" grpId="0"/>
    </p:bldLst>
  </p:timing>
</p:sld>
</file>

<file path=ppt/c12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the 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2428" y="826923"/>
                <a:ext cx="819202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gives us a numerical method to get the gradient </a:t>
                </a:r>
                <a:r>
                  <a:rPr lang="en-GB" b="1" dirty="0"/>
                  <a:t>at a particular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dirty="0"/>
                  <a:t>, but doesn’t give us the gradient function in general. Let’s use exactly the same method, but keep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general, and make the ‘small change’ (which was previously 0.01) ‘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dirty="0"/>
                  <a:t>’: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28" y="826923"/>
                <a:ext cx="8192020" cy="923330"/>
              </a:xfrm>
              <a:prstGeom prst="rect">
                <a:avLst/>
              </a:prstGeom>
              <a:blipFill>
                <a:blip r:embed="rId2"/>
                <a:stretch>
                  <a:fillRect l="-670" t="-3974" b="-99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75662" y="2428393"/>
                <a:ext cx="5819775" cy="2978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𝑔𝑟𝑎𝑑𝑖𝑒𝑛𝑡</m:t>
                      </m:r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 b="0" i="0" smtClean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𝑥</m:t>
                                      </m:r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+</m:t>
                                      </m:r>
                                      <m:r>
                                        <a:rPr lang="en-GB" sz="2400" b="0" i="1" smtClean="0">
                                          <a:latin typeface="Cambria Math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sz="2400" b="0" i="1" smtClean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0" smtClean="0">
                          <a:latin typeface="Cambria Math"/>
                        </a:rPr>
                        <m:t>                   </m:t>
                      </m:r>
                      <m:r>
                        <a:rPr lang="en-GB" sz="2400" b="0" i="1" smtClean="0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𝑥h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sz="2400" b="0" i="1" smtClean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=</m:t>
                      </m:r>
                      <m:func>
                        <m:func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240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2400" i="1">
                                  <a:latin typeface="Cambria Math"/>
                                </a:rPr>
                                <m:t>h</m:t>
                              </m:r>
                              <m:r>
                                <a:rPr lang="en-GB" sz="2400" i="1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sz="2400" b="0" i="1" smtClean="0">
                                  <a:latin typeface="Cambria Math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2400" b="0" i="1" smtClean="0">
                          <a:latin typeface="Cambria Math"/>
                        </a:rPr>
                        <m:t>                   =2</m:t>
                      </m:r>
                      <m:r>
                        <a:rPr lang="en-GB" sz="2400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br>
                  <a:rPr lang="en-GB" b="0" dirty="0"/>
                </a:br>
                <a:br>
                  <a:rPr lang="en-GB" b="0" dirty="0"/>
                </a:b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662" y="2428393"/>
                <a:ext cx="5819775" cy="29789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 4"/>
          <p:cNvSpPr/>
          <p:nvPr/>
        </p:nvSpPr>
        <p:spPr>
          <a:xfrm>
            <a:off x="294106" y="2127906"/>
            <a:ext cx="2035534" cy="170953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5534" h="1709531">
                <a:moveTo>
                  <a:pt x="0" y="1709531"/>
                </a:moveTo>
                <a:cubicBezTo>
                  <a:pt x="261068" y="1653209"/>
                  <a:pt x="522136" y="1596887"/>
                  <a:pt x="747423" y="1502797"/>
                </a:cubicBezTo>
                <a:cubicBezTo>
                  <a:pt x="972710" y="1408707"/>
                  <a:pt x="1192696" y="1269558"/>
                  <a:pt x="1351722" y="1144988"/>
                </a:cubicBezTo>
                <a:cubicBezTo>
                  <a:pt x="1510748" y="1020418"/>
                  <a:pt x="1587610" y="946205"/>
                  <a:pt x="1701579" y="755374"/>
                </a:cubicBezTo>
                <a:cubicBezTo>
                  <a:pt x="1815548" y="564543"/>
                  <a:pt x="1925541" y="282271"/>
                  <a:pt x="2035534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51155" y="3095555"/>
                <a:ext cx="720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155" y="3095555"/>
                <a:ext cx="720080" cy="369332"/>
              </a:xfrm>
              <a:prstGeom prst="rect">
                <a:avLst/>
              </a:prstGeom>
              <a:blipFill>
                <a:blip r:embed="rId4"/>
                <a:stretch>
                  <a:fillRect r="-8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/>
          <p:cNvSpPr/>
          <p:nvPr/>
        </p:nvSpPr>
        <p:spPr>
          <a:xfrm>
            <a:off x="1187978" y="3460358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95263" y="2533779"/>
                <a:ext cx="19330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63" y="2533779"/>
                <a:ext cx="193301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6888480" y="2398906"/>
            <a:ext cx="2217714" cy="738664"/>
            <a:chOff x="6744110" y="1575460"/>
            <a:chExt cx="2217714" cy="7386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7017608" y="1575460"/>
                  <a:ext cx="1944216" cy="738664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As always, gradient is change in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GB" sz="1400" dirty="0"/>
                    <a:t> over change in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1400" dirty="0"/>
                    <a:t>.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608" y="1575460"/>
                  <a:ext cx="1944216" cy="738664"/>
                </a:xfrm>
                <a:prstGeom prst="rect">
                  <a:avLst/>
                </a:prstGeom>
                <a:blipFill>
                  <a:blip r:embed="rId6"/>
                  <a:stretch>
                    <a:fillRect l="-310" r="-2167" b="-560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/>
            <p:cNvCxnSpPr>
              <a:stCxn id="14" idx="1"/>
            </p:cNvCxnSpPr>
            <p:nvPr/>
          </p:nvCxnSpPr>
          <p:spPr>
            <a:xfrm flipH="1">
              <a:off x="6744110" y="1944792"/>
              <a:ext cx="273498" cy="16546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6312615" y="4191166"/>
            <a:ext cx="2484276" cy="1242139"/>
            <a:chOff x="5400092" y="4725144"/>
            <a:chExt cx="2484276" cy="12421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940152" y="5013176"/>
                  <a:ext cx="1944216" cy="954107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The </a:t>
                  </a:r>
                  <a14:m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dirty="0"/>
                    <a:t> disappears as </a:t>
                  </a:r>
                  <a14:m>
                    <m:oMath xmlns:m="http://schemas.openxmlformats.org/officeDocument/2006/math">
                      <m:r>
                        <a:rPr lang="en-GB" sz="1400" i="1" dirty="0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dirty="0"/>
                    <a:t> tends towards 0, i.e. we can effectively treat it as 0 at this point.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0152" y="5013176"/>
                  <a:ext cx="1944216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310" b="-43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>
              <a:stCxn id="17" idx="1"/>
            </p:cNvCxnSpPr>
            <p:nvPr/>
          </p:nvCxnSpPr>
          <p:spPr>
            <a:xfrm flipH="1" flipV="1">
              <a:off x="5400092" y="4725144"/>
              <a:ext cx="540060" cy="765086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354090" y="3517126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4090" y="3517126"/>
                <a:ext cx="64807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843499" y="3094531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499" y="3094531"/>
                <a:ext cx="64807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/>
          <p:cNvCxnSpPr>
            <a:stCxn id="9" idx="6"/>
          </p:cNvCxnSpPr>
          <p:nvPr/>
        </p:nvCxnSpPr>
        <p:spPr>
          <a:xfrm>
            <a:off x="1331994" y="3532366"/>
            <a:ext cx="648072" cy="0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0" idx="4"/>
          </p:cNvCxnSpPr>
          <p:nvPr/>
        </p:nvCxnSpPr>
        <p:spPr>
          <a:xfrm>
            <a:off x="1980066" y="3028310"/>
            <a:ext cx="0" cy="504056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18814" y="2995062"/>
            <a:ext cx="345165" cy="3882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5346" y="2423876"/>
            <a:ext cx="806314" cy="4412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cxnSp>
        <p:nvCxnSpPr>
          <p:cNvPr id="27" name="Straight Connector 26"/>
          <p:cNvCxnSpPr/>
          <p:nvPr/>
        </p:nvCxnSpPr>
        <p:spPr>
          <a:xfrm flipV="1">
            <a:off x="914400" y="2565401"/>
            <a:ext cx="1562100" cy="126364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5" name="Group 34"/>
          <p:cNvGrpSpPr/>
          <p:nvPr/>
        </p:nvGrpSpPr>
        <p:grpSpPr>
          <a:xfrm>
            <a:off x="613143" y="3264195"/>
            <a:ext cx="3554820" cy="2648993"/>
            <a:chOff x="7017607" y="633857"/>
            <a:chExt cx="3554820" cy="2648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7017607" y="1575460"/>
                  <a:ext cx="2385237" cy="1707390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The </a:t>
                  </a:r>
                  <a:r>
                    <a:rPr lang="en-GB" sz="1400" dirty="0" err="1"/>
                    <a:t>lim</a:t>
                  </a:r>
                  <a:r>
                    <a:rPr lang="en-GB" sz="1400" dirty="0"/>
                    <a:t> means “</a:t>
                  </a:r>
                  <a:r>
                    <a:rPr lang="en-GB" sz="1400" i="1" dirty="0"/>
                    <a:t>the limit of the following expression as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a14:m>
                  <a:r>
                    <a:rPr lang="en-GB" sz="1400" i="1" dirty="0"/>
                    <a:t> tends towards 0</a:t>
                  </a:r>
                  <a:r>
                    <a:rPr lang="en-GB" sz="1400" dirty="0"/>
                    <a:t>”.</a:t>
                  </a:r>
                </a:p>
                <a:p>
                  <a:r>
                    <a:rPr lang="en-GB" sz="1400" dirty="0"/>
                    <a:t>For example,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</m:e>
                      </m:func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GB" sz="1400" dirty="0"/>
                    <a:t>, because as </a:t>
                  </a:r>
                  <a14:m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GB" sz="1400" dirty="0"/>
                    <a:t> “tends towards” infinity, the “limiting” value of the expression is 0.</a:t>
                  </a: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17607" y="1575460"/>
                  <a:ext cx="2385237" cy="1707390"/>
                </a:xfrm>
                <a:prstGeom prst="rect">
                  <a:avLst/>
                </a:prstGeom>
                <a:blipFill>
                  <a:blip r:embed="rId10"/>
                  <a:stretch>
                    <a:fillRect l="-253" r="-1519" b="-211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/>
            <p:cNvCxnSpPr/>
            <p:nvPr/>
          </p:nvCxnSpPr>
          <p:spPr>
            <a:xfrm flipV="1">
              <a:off x="9381580" y="633857"/>
              <a:ext cx="1190847" cy="1460949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" name="Oval 9"/>
          <p:cNvSpPr/>
          <p:nvPr/>
        </p:nvSpPr>
        <p:spPr>
          <a:xfrm>
            <a:off x="1908058" y="2884294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642048" y="5331199"/>
                <a:ext cx="237336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And voila, we got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we saw earlier!</a:t>
                </a: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2048" y="5331199"/>
                <a:ext cx="2373364" cy="646331"/>
              </a:xfrm>
              <a:prstGeom prst="rect">
                <a:avLst/>
              </a:prstGeom>
              <a:blipFill>
                <a:blip r:embed="rId11"/>
                <a:stretch>
                  <a:fillRect l="-2051" t="-5660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tangle 43"/>
          <p:cNvSpPr/>
          <p:nvPr/>
        </p:nvSpPr>
        <p:spPr>
          <a:xfrm>
            <a:off x="4518837" y="2395223"/>
            <a:ext cx="2349795" cy="8583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08438" y="3253563"/>
            <a:ext cx="2073115" cy="72301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08439" y="3976577"/>
            <a:ext cx="1658446" cy="467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08439" y="4458047"/>
            <a:ext cx="1658446" cy="4678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1801724" y="1789041"/>
                <a:ext cx="1122229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1724" y="1789041"/>
                <a:ext cx="1122229" cy="375552"/>
              </a:xfrm>
              <a:prstGeom prst="rect">
                <a:avLst/>
              </a:prstGeom>
              <a:blipFill>
                <a:blip r:embed="rId12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3143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42" grpId="0"/>
      <p:bldP spid="44" grpId="0" animBg="1"/>
      <p:bldP spid="45" grpId="0" animBg="1"/>
      <p:bldP spid="46" grpId="0" animBg="1"/>
      <p:bldP spid="47" grpId="0" animBg="1"/>
    </p:bldLst>
  </p:timing>
</p:sld>
</file>

<file path=ppt/c12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the Gradient Function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74798" y="980728"/>
                <a:ext cx="6193260" cy="185980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>
                    <a:latin typeface="Wingdings" panose="05000000000000000000" pitchFamily="2" charset="2"/>
                  </a:rPr>
                  <a:t>!</a:t>
                </a:r>
                <a:r>
                  <a:rPr lang="en-GB" dirty="0"/>
                  <a:t> The gradient function, or derivative, of the curve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written as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or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 gradient function can be used to find the gradient of the curve for any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4798" y="980728"/>
                <a:ext cx="6193260" cy="1859805"/>
              </a:xfrm>
              <a:prstGeom prst="rect">
                <a:avLst/>
              </a:prstGeom>
              <a:blipFill>
                <a:blip r:embed="rId2"/>
                <a:stretch>
                  <a:fillRect l="-686" t="-1618" r="-98" b="-3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7712" y="3250666"/>
                <a:ext cx="3742659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We will soon see an easier/quicker way to differentiate expressions like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without using ‘limits’. But this method, known as </a:t>
                </a:r>
                <a:r>
                  <a:rPr lang="en-GB" sz="1400" b="1" dirty="0"/>
                  <a:t>differentiating by first principles</a:t>
                </a:r>
                <a:r>
                  <a:rPr lang="en-GB" sz="1400" dirty="0"/>
                  <a:t>, is now in the A Level syllabus, and you could be tested on it!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12" y="3250666"/>
                <a:ext cx="3742659" cy="1169551"/>
              </a:xfrm>
              <a:prstGeom prst="rect">
                <a:avLst/>
              </a:prstGeom>
              <a:blipFill>
                <a:blip r:embed="rId3"/>
                <a:stretch>
                  <a:fillRect l="-489" t="-1042" r="-1303" b="-468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2456121" y="2943791"/>
            <a:ext cx="347576" cy="288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777392" y="3020115"/>
                <a:ext cx="3314500" cy="20672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Notation Note:</a:t>
                </a:r>
              </a:p>
              <a:p>
                <a:r>
                  <a:rPr lang="en-GB" sz="1400" dirty="0"/>
                  <a:t>Whether we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 for the gradient function depends on whether we use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or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GB" sz="1400" dirty="0"/>
                  <a:t> to start with:</a:t>
                </a:r>
              </a:p>
              <a:p>
                <a:endParaRPr lang="en-GB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      →    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 →   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7392" y="3020115"/>
                <a:ext cx="3314500" cy="2067297"/>
              </a:xfrm>
              <a:prstGeom prst="rect">
                <a:avLst/>
              </a:prstGeom>
              <a:blipFill>
                <a:blip r:embed="rId4"/>
                <a:stretch>
                  <a:fillRect l="-552" t="-294" b="-14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7197888" y="4088042"/>
            <a:ext cx="350522" cy="160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176438" y="4428184"/>
            <a:ext cx="917682" cy="461665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1200" dirty="0"/>
              <a:t>“Lagrange’s notation”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7320517" y="4657060"/>
            <a:ext cx="845288" cy="1041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567676" y="5095572"/>
                <a:ext cx="4493457" cy="8002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There’s in fact a third way to indicate the gradient function, notation used by Newton: (but not used at A Level)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→  </m:t>
                      </m:r>
                      <m:acc>
                        <m:accPr>
                          <m:chr m:val="̇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67676" y="5095572"/>
                <a:ext cx="4493457" cy="800219"/>
              </a:xfrm>
              <a:prstGeom prst="rect">
                <a:avLst/>
              </a:prstGeom>
              <a:blipFill>
                <a:blip r:embed="rId5"/>
                <a:stretch>
                  <a:fillRect l="-407" t="-1527" r="-407" b="-22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59084" y="4694008"/>
                <a:ext cx="3840776" cy="21151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Advanced Notation Note:</a:t>
                </a:r>
              </a:p>
              <a:p>
                <a:r>
                  <a:rPr lang="en-GB" sz="1400" dirty="0"/>
                  <a:t>Rather than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400" dirty="0"/>
                  <a:t> for the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the formal notation is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. So actually: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→0 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400" dirty="0"/>
              </a:p>
              <a:p>
                <a:r>
                  <a:rPr lang="en-GB" sz="1400" dirty="0"/>
                  <a:t>So we in fact have 3 symbols for “change in”!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 any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(as seen in Chp5: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400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: a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400" dirty="0"/>
                  <a:t>: an infinitesimally small change in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 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84" y="4694008"/>
                <a:ext cx="3840776" cy="2115131"/>
              </a:xfrm>
              <a:prstGeom prst="rect">
                <a:avLst/>
              </a:prstGeom>
              <a:blipFill>
                <a:blip r:embed="rId6"/>
                <a:stretch>
                  <a:fillRect l="-476" t="-576" b="-2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775750" y="6080787"/>
                <a:ext cx="3773341" cy="54854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r>
                  <a:rPr lang="en-GB" sz="1200" dirty="0"/>
                  <a:t>So the estimated gradient using some point close by was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200" dirty="0"/>
                  <a:t>, but in the ‘limit’ as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200" dirty="0"/>
                  <a:t>,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GB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2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n-GB" sz="1200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750" y="6080787"/>
                <a:ext cx="3773341" cy="54854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/>
          <p:nvPr/>
        </p:nvCxnSpPr>
        <p:spPr>
          <a:xfrm flipH="1">
            <a:off x="3859619" y="6355061"/>
            <a:ext cx="916131" cy="1626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517522" y="3962922"/>
            <a:ext cx="1416478" cy="307777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GB" sz="1200" dirty="0"/>
              <a:t>“Leibniz’s notation</a:t>
            </a:r>
            <a:r>
              <a:rPr lang="en-GB" sz="14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292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7" grpId="0" animBg="1"/>
      <p:bldP spid="24" grpId="0"/>
      <p:bldP spid="26" grpId="0"/>
      <p:bldP spid="28" grpId="0" animBg="1"/>
      <p:bldP spid="13" grpId="0" animBg="1"/>
    </p:bldLst>
  </p:timing>
</p:sld>
</file>

<file path=ppt/c12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111820" y="722412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Wingdings" panose="05000000000000000000" pitchFamily="2" charset="2"/>
              </a:rPr>
              <a:t>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31900" y="885002"/>
                <a:ext cx="7340500" cy="12003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with coordinates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4,16</m:t>
                        </m:r>
                      </m:e>
                    </m:d>
                  </m:oMath>
                </a14:m>
                <a:r>
                  <a:rPr lang="en-GB" dirty="0"/>
                  <a:t> lies on the curve with equation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At point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/>
                  <a:t> the curve has gradient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dirty="0"/>
                  <a:t>Show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→0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8+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</m:e>
                    </m:func>
                  </m:oMath>
                </a14:m>
                <a:endParaRPr lang="en-GB" dirty="0"/>
              </a:p>
              <a:p>
                <a:pPr marL="342900" indent="-342900">
                  <a:buAutoNum type="alphaLcParenR"/>
                </a:pPr>
                <a:r>
                  <a:rPr lang="en-GB" dirty="0"/>
                  <a:t>Deduce the value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00" y="885002"/>
                <a:ext cx="7340500" cy="1200329"/>
              </a:xfrm>
              <a:prstGeom prst="rect">
                <a:avLst/>
              </a:prstGeom>
              <a:blipFill>
                <a:blip r:embed="rId2"/>
                <a:stretch>
                  <a:fillRect b="-448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19672" y="2492896"/>
                <a:ext cx="4464496" cy="32120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4+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16+8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−16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8+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=8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492896"/>
                <a:ext cx="4464496" cy="32120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02460" y="5174208"/>
                <a:ext cx="29762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As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600" dirty="0"/>
                  <a:t>, clearly the limiting value of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8+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600" dirty="0"/>
                  <a:t> is 8.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460" y="5174208"/>
                <a:ext cx="2976240" cy="584775"/>
              </a:xfrm>
              <a:prstGeom prst="rect">
                <a:avLst/>
              </a:prstGeom>
              <a:blipFill>
                <a:blip r:embed="rId4"/>
                <a:stretch>
                  <a:fillRect l="-1025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 flipV="1">
            <a:off x="2771800" y="5445224"/>
            <a:ext cx="1558900" cy="142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80112" y="3180747"/>
                <a:ext cx="297624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Function is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112" y="3180747"/>
                <a:ext cx="2976240" cy="338554"/>
              </a:xfrm>
              <a:prstGeom prst="rect">
                <a:avLst/>
              </a:prstGeom>
              <a:blipFill>
                <a:blip r:embed="rId5"/>
                <a:stretch>
                  <a:fillRect l="-1022" t="-5455" b="-2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580112" y="2511688"/>
            <a:ext cx="2976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Use the “differentiation by first principles” formula.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 flipH="1" flipV="1">
            <a:off x="5067300" y="2717800"/>
            <a:ext cx="512812" cy="30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5067300" y="3306137"/>
            <a:ext cx="512812" cy="30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15616" y="2447796"/>
            <a:ext cx="216024" cy="2071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15616" y="5220134"/>
            <a:ext cx="216024" cy="20714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1640" y="2447796"/>
            <a:ext cx="6948760" cy="264490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31640" y="5219700"/>
            <a:ext cx="6948760" cy="8509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0289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</p:bldLst>
  </p:timing>
</p:sld>
</file>

<file path=ppt/c12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14400" y="973902"/>
                <a:ext cx="7513984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</a:t>
                </a:r>
                <a:r>
                  <a:rPr lang="en-GB" b="1" dirty="0"/>
                  <a:t>from first principles </a:t>
                </a:r>
                <a:r>
                  <a:rPr lang="en-GB" dirty="0"/>
                  <a:t>that the derivative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00" y="973902"/>
                <a:ext cx="7513984" cy="369332"/>
              </a:xfrm>
              <a:prstGeom prst="rect">
                <a:avLst/>
              </a:prstGeom>
              <a:blipFill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68" y="1844824"/>
                <a:ext cx="6955308" cy="2939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+6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p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e>
                      </m:func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" y="1844824"/>
                <a:ext cx="6955308" cy="29394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465564" y="3967212"/>
                <a:ext cx="28803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As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GB" sz="1400" dirty="0"/>
                  <a:t>, any term involving a multiplication by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1400" dirty="0"/>
                  <a:t> will become 0.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5564" y="3967212"/>
                <a:ext cx="2880320" cy="523220"/>
              </a:xfrm>
              <a:prstGeom prst="rect">
                <a:avLst/>
              </a:prstGeom>
              <a:blipFill>
                <a:blip r:embed="rId4"/>
                <a:stretch>
                  <a:fillRect l="-636" t="-2326" b="-104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 flipH="1" flipV="1">
            <a:off x="4622800" y="4165600"/>
            <a:ext cx="741288" cy="55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14400" y="1359789"/>
            <a:ext cx="7513984" cy="37253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5724" y="1485672"/>
            <a:ext cx="2054572" cy="116955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Support:</a:t>
            </a:r>
          </a:p>
          <a:p>
            <a:r>
              <a:rPr lang="en-GB" sz="1400" dirty="0"/>
              <a:t>“Row 4” of Pascal’s Triangle is:</a:t>
            </a:r>
          </a:p>
          <a:p>
            <a:pPr algn="ctr"/>
            <a:r>
              <a:rPr lang="en-GB" sz="1400" dirty="0"/>
              <a:t>1 4 6 4 1</a:t>
            </a:r>
          </a:p>
          <a:p>
            <a:r>
              <a:rPr lang="en-GB" sz="1400" dirty="0"/>
              <a:t>You’re welcome.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90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c12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Reminder:</a:t>
                </a:r>
              </a:p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1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100" dirty="0"/>
                  <a:t> both mean the gradient function, also known as the derivative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12153ABA-5E63-F87F-7D0C-796EB9725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" y="692697"/>
            <a:ext cx="6150356" cy="4591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42A96D-788A-ACED-A57B-6426FBED0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80" y="1484784"/>
            <a:ext cx="3213100" cy="43053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C3D2CC-024D-CBC3-C5DB-63AC17DD9174}"/>
              </a:ext>
            </a:extLst>
          </p:cNvPr>
          <p:cNvSpPr/>
          <p:nvPr/>
        </p:nvSpPr>
        <p:spPr>
          <a:xfrm>
            <a:off x="514400" y="1359789"/>
            <a:ext cx="5065712" cy="47335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527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c12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Reminder:</a:t>
                </a:r>
              </a:p>
              <a:p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1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100" dirty="0"/>
                  <a:t> both mean the gradient function, also known as the derivative of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1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1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1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1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7591" y="591951"/>
                <a:ext cx="2952328" cy="10031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4B4BD6B-C921-9851-03F7-FA921AF9A8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584" y="668191"/>
            <a:ext cx="5902424" cy="4406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D2552C-D2DB-9257-2B23-E4C17CB8E7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6" y="1340768"/>
            <a:ext cx="3394610" cy="45402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616B38-9140-6D38-F521-2BC23F4CC1FC}"/>
              </a:ext>
            </a:extLst>
          </p:cNvPr>
          <p:cNvSpPr/>
          <p:nvPr/>
        </p:nvSpPr>
        <p:spPr>
          <a:xfrm>
            <a:off x="514400" y="1359789"/>
            <a:ext cx="5065712" cy="47335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600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652120" y="1412776"/>
                <a:ext cx="3451611" cy="125162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b="1" dirty="0"/>
                  <a:t>Reminder:</a:t>
                </a:r>
              </a:p>
              <a:p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400" dirty="0"/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GB" sz="1400" dirty="0"/>
                  <a:t> both mean the gradient function, also known as the derivative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4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1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GB" sz="1400" b="0" i="0" smtClean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</m:d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1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GB" sz="1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1412776"/>
                <a:ext cx="3451611" cy="1251625"/>
              </a:xfrm>
              <a:prstGeom prst="rect">
                <a:avLst/>
              </a:prstGeom>
              <a:blipFill>
                <a:blip r:embed="rId2"/>
                <a:stretch>
                  <a:fillRect l="-3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9715F9C-4D7F-8ED3-B1B7-6E0D864B9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16" y="623852"/>
            <a:ext cx="8567360" cy="5008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530134-17FB-3321-FFA2-95BACC7E1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1156645"/>
            <a:ext cx="3816424" cy="510446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D78DE8B-6AFF-5B27-9B3C-B0C2BB13DE39}"/>
              </a:ext>
            </a:extLst>
          </p:cNvPr>
          <p:cNvSpPr/>
          <p:nvPr/>
        </p:nvSpPr>
        <p:spPr>
          <a:xfrm>
            <a:off x="395536" y="1168313"/>
            <a:ext cx="5112568" cy="51247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6488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c12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7176"/>
            <a:ext cx="9143074" cy="584775"/>
            <a:chOff x="0" y="20511"/>
            <a:chExt cx="9144218" cy="584775"/>
          </a:xfrm>
        </p:grpSpPr>
        <p:sp>
          <p:nvSpPr>
            <p:cNvPr id="3" name="TextBox 32"/>
            <p:cNvSpPr txBox="1"/>
            <p:nvPr/>
          </p:nvSpPr>
          <p:spPr>
            <a:xfrm>
              <a:off x="0" y="20511"/>
              <a:ext cx="9144000" cy="584775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/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12B – Pearson Pure Y1 page 261-262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6CB684E-E426-67B7-83DB-8ED0E11A3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692696"/>
            <a:ext cx="5469655" cy="16561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56D46E-6D21-D340-4E75-DEEB98D8E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2532630"/>
            <a:ext cx="2985831" cy="42828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FB7A14-2ECC-A6B1-6B7C-DF61AC927A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5976" y="2348880"/>
            <a:ext cx="3096344" cy="122886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8C3D138-902A-E738-CB2A-34E6B09BC0F3}"/>
              </a:ext>
            </a:extLst>
          </p:cNvPr>
          <p:cNvSpPr/>
          <p:nvPr/>
        </p:nvSpPr>
        <p:spPr>
          <a:xfrm>
            <a:off x="286046" y="2449624"/>
            <a:ext cx="3709890" cy="43396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A08E0E-B1C5-E858-2011-A73C339D384F}"/>
              </a:ext>
            </a:extLst>
          </p:cNvPr>
          <p:cNvSpPr/>
          <p:nvPr/>
        </p:nvSpPr>
        <p:spPr>
          <a:xfrm>
            <a:off x="4355976" y="2440691"/>
            <a:ext cx="3709890" cy="433960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335202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c12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2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