
<file path=[Content_Types].xml><?xml version="1.0" encoding="utf-8"?>
<ns0:Types xmlns:ns0="http://schemas.openxmlformats.org/package/2006/content-types">
  <ns0:Default Extension="jpeg" ContentType="image/jpeg"/>
  <ns0:Default Extension="png" ContentType="image/png"/>
  <ns0:Default Extension="rels" ContentType="application/vnd.openxmlformats-package.relationships+xml"/>
  <ns0:Default Extension="xml" ContentType="application/xml"/>
  <ns0:Override PartName="/ppt/c1/ppt/slideMasters/slideMaster1.xml" ContentType="application/vnd.openxmlformats-officedocument.presentationml.slideMaster+xml"/>
  <ns0:Override PartName="/ppt/c1/ppt/slides/slide4.xml" ContentType="application/vnd.openxmlformats-officedocument.presentationml.slide+xml"/>
  <ns0:Override PartName="/ppt/c1/ppt/slides/slide5.xml" ContentType="application/vnd.openxmlformats-officedocument.presentationml.slide+xml"/>
  <ns0:Override PartName="/ppt/c1/ppt/slides/slide6.xml" ContentType="application/vnd.openxmlformats-officedocument.presentationml.slide+xml"/>
  <ns0:Override PartName="/ppt/c1/ppt/slides/slide7.xml" ContentType="application/vnd.openxmlformats-officedocument.presentationml.slide+xml"/>
  <ns0:Override PartName="/ppt/c1/ppt/slides/slide17.xml" ContentType="application/vnd.openxmlformats-officedocument.presentationml.slide+xml"/>
  <ns0:Override PartName="/ppt/c1/ppt/slides/slide18.xml" ContentType="application/vnd.openxmlformats-officedocument.presentationml.slide+xml"/>
  <ns0:Override PartName="/ppt/c1/ppt/slides/slide19.xml" ContentType="application/vnd.openxmlformats-officedocument.presentationml.slide+xml"/>
  <ns0:Override PartName="/ppt/c1/ppt/slides/slide20.xml" ContentType="application/vnd.openxmlformats-officedocument.presentationml.slide+xml"/>
  <ns0:Override PartName="/ppt/c1/ppt/slides/slide21.xml" ContentType="application/vnd.openxmlformats-officedocument.presentationml.slide+xml"/>
  <ns0:Override PartName="/ppt/c1/ppt/notesMasters/notesMaster1.xml" ContentType="application/vnd.openxmlformats-officedocument.presentationml.notesMaster+xml"/>
  <ns0:Override PartName="/ppt/c1/ppt/theme/theme1.xml" ContentType="application/vnd.openxmlformats-officedocument.theme+xml"/>
  <ns0:Override PartName="/ppt/c1/ppt/slideLayouts/slideLayout1.xml" ContentType="application/vnd.openxmlformats-officedocument.presentationml.slideLayout+xml"/>
  <ns0:Override PartName="/ppt/c1/ppt/slideLayouts/slideLayout2.xml" ContentType="application/vnd.openxmlformats-officedocument.presentationml.slideLayout+xml"/>
  <ns0:Override PartName="/ppt/c1/ppt/slideLayouts/slideLayout3.xml" ContentType="application/vnd.openxmlformats-officedocument.presentationml.slideLayout+xml"/>
  <ns0:Override PartName="/ppt/c1/ppt/theme/theme2.xml" ContentType="application/vnd.openxmlformats-officedocument.theme+xml"/>
  <ns0:Override PartName="/ppt/c1/ppt/notesSlides/notesSlide2.xml" ContentType="application/vnd.openxmlformats-officedocument.presentationml.notesSlide+xml"/>
  <ns0:Override PartName="/ppt/presentation.xml" ContentType="application/vnd.openxmlformats-officedocument.presentationml.presentation.main+xml"/>
</ns0:Types>
</file>

<file path=_rels/.rels><?xml version='1.0' encoding='utf-8'?>
<ns0:Relationships xmlns:ns0="http://schemas.openxmlformats.org/package/2006/relationships"><ns0:Relationship Id="rId1" Type="http://schemas.openxmlformats.org/officeDocument/2006/relationships/officeDocument" Target="ppt/presentation.xml" /></ns0:Relationships>
</file>

<file path=ppt/presentation.xml><?xml version="1.0" encoding="utf-8"?>
<p:presentation xmlns:p="http://schemas.openxmlformats.org/presentationml/2006/main" xmlns:r="http://schemas.openxmlformats.org/officeDocument/2006/relationships" saveSubsetFonts="1">
  <p:sldMasterIdLst>
    <p:sldMasterId id="2147483748" r:id="rId10"/>
  </p:sldMasterIdLst>
  <p:notesMasterIdLst>
    <p:notesMasterId r:id="rId11"/>
  </p:notesMasterIdLst>
  <p:sldIdLst>
    <p:sldId id="256" r:id="rId1"/>
    <p:sldId id="257" r:id="rId2"/>
    <p:sldId id="258" r:id="rId3"/>
    <p:sldId id="259" r:id="rId4"/>
    <p:sldId id="260" r:id="rId5"/>
    <p:sldId id="261" r:id="rId6"/>
    <p:sldId id="262" r:id="rId7"/>
    <p:sldId id="263" r:id="rId8"/>
    <p:sldId id="264" r:id="rId9"/>
  </p:sldIdLst>
  <p:sldSz cx="9144000" cy="6858000" type="screen4x3"/>
  <p:notesSz cx="6858000" cy="9144000"/>
</p:presentation>
</file>

<file path=ppt/_rels/presentation.xml.rels><?xml version='1.0' encoding='utf-8'?>
<ns0:Relationships xmlns:ns0="http://schemas.openxmlformats.org/package/2006/relationships"><ns0:Relationship Id="rId1" Type="http://schemas.openxmlformats.org/officeDocument/2006/relationships/slide" Target="c1/ppt/slides/slide4.xml" /><ns0:Relationship Id="rId2" Type="http://schemas.openxmlformats.org/officeDocument/2006/relationships/slide" Target="c1/ppt/slides/slide5.xml" /><ns0:Relationship Id="rId3" Type="http://schemas.openxmlformats.org/officeDocument/2006/relationships/slide" Target="c1/ppt/slides/slide6.xml" /><ns0:Relationship Id="rId4" Type="http://schemas.openxmlformats.org/officeDocument/2006/relationships/slide" Target="c1/ppt/slides/slide7.xml" /><ns0:Relationship Id="rId5" Type="http://schemas.openxmlformats.org/officeDocument/2006/relationships/slide" Target="c1/ppt/slides/slide17.xml" /><ns0:Relationship Id="rId6" Type="http://schemas.openxmlformats.org/officeDocument/2006/relationships/slide" Target="c1/ppt/slides/slide18.xml" /><ns0:Relationship Id="rId7" Type="http://schemas.openxmlformats.org/officeDocument/2006/relationships/slide" Target="c1/ppt/slides/slide19.xml" /><ns0:Relationship Id="rId8" Type="http://schemas.openxmlformats.org/officeDocument/2006/relationships/slide" Target="c1/ppt/slides/slide20.xml" /><ns0:Relationship Id="rId9" Type="http://schemas.openxmlformats.org/officeDocument/2006/relationships/slide" Target="c1/ppt/slides/slide21.xml" /><ns0:Relationship Id="rId10" Type="http://schemas.openxmlformats.org/officeDocument/2006/relationships/slideMaster" Target="c1/ppt/slideMasters/slideMaster1.xml" /><ns0:Relationship Id="rId11" Type="http://schemas.openxmlformats.org/officeDocument/2006/relationships/notesMaster" Target="c1/ppt/notesMasters/notesMaster1.xml" /></ns0:Relationships>
</file>

<file path=ppt/c1/ppt/notesMasters/_rels/notesMaster1.xml.rels><?xml version='1.0' encoding='utf-8'?>
<ns0:Relationships xmlns:ns0="http://schemas.openxmlformats.org/package/2006/relationships"><ns0:Relationship Id="rId1" Type="http://schemas.openxmlformats.org/officeDocument/2006/relationships/theme" Target="../theme/theme2.xml" /></ns0:Relationships>
</file>

<file path=ppt/c1/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E87F4A-DD11-41AF-8B76-F2E5B6202836}" type="datetimeFigureOut">
              <a:rPr lang="en-GB" smtClean="0"/>
              <a:pPr/>
              <a:t>12/09/2026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F2399-CD51-4C4C-BC34-03B9F40F9CF8}" type="slidenum">
              <a:rPr lang="en-GB" smtClean="0"/>
              <a:pPr/>
              <a:t>‹#›</a:t>
            </a:fld>
            <a:endParaRPr lang="en-GB"/>
          </a:p>
        </p:txBody>
      </p:sp>
    </p:spTree>
    <p:extLst>
      <p:ext uri="{BB962C8B-B14F-4D97-AF65-F5344CB8AC3E}">
        <p14:creationId xmlns:p14="http://schemas.microsoft.com/office/powerpoint/2010/main" val="547450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c1/ppt/notesSlides/_rels/notesSlide2.xml.rels><?xml version='1.0' encoding='utf-8'?>
<ns0:Relationships xmlns:ns0="http://schemas.openxmlformats.org/package/2006/relationships"><ns0:Relationship Id="rId2" Type="http://schemas.openxmlformats.org/officeDocument/2006/relationships/slide" Target="../slides/slide18.xml" /><ns0:Relationship Id="rId1" Type="http://schemas.openxmlformats.org/officeDocument/2006/relationships/notesMaster" Target="../notesMasters/notesMaster1.xml" /></ns0:Relationships>
</file>

<file path=ppt/c1/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62F2399-CD51-4C4C-BC34-03B9F40F9CF8}" type="slidenum">
              <a:rPr lang="en-GB" smtClean="0"/>
              <a:pPr/>
              <a:t>18</a:t>
            </a:fld>
            <a:endParaRPr lang="en-GB"/>
          </a:p>
        </p:txBody>
      </p:sp>
    </p:spTree>
    <p:extLst>
      <p:ext uri="{BB962C8B-B14F-4D97-AF65-F5344CB8AC3E}">
        <p14:creationId xmlns:p14="http://schemas.microsoft.com/office/powerpoint/2010/main" val="4042057664"/>
      </p:ext>
    </p:extLst>
  </p:cSld>
  <p:clrMapOvr>
    <a:masterClrMapping/>
  </p:clrMapOvr>
</p:notes>
</file>

<file path=ppt/c1/ppt/slideLayouts/_rels/slideLayout1.xml.rels><?xml version='1.0' encoding='utf-8'?>
<ns0:Relationships xmlns:ns0="http://schemas.openxmlformats.org/package/2006/relationships"><ns0:Relationship Id="rId1" Type="http://schemas.openxmlformats.org/officeDocument/2006/relationships/slideMaster" Target="../slideMasters/slideMaster1.xml" /></ns0:Relationships>
</file>

<file path=ppt/c1/ppt/slideLayouts/_rels/slideLayout2.xml.rels><?xml version='1.0' encoding='utf-8'?>
<ns0:Relationships xmlns:ns0="http://schemas.openxmlformats.org/package/2006/relationships"><ns0:Relationship Id="rId1" Type="http://schemas.openxmlformats.org/officeDocument/2006/relationships/slideMaster" Target="../slideMasters/slideMaster1.xml" /></ns0:Relationships>
</file>

<file path=ppt/c1/ppt/slideLayouts/_rels/slideLayout3.xml.rels><?xml version='1.0' encoding='utf-8'?>
<ns0:Relationships xmlns:ns0="http://schemas.openxmlformats.org/package/2006/relationships"><ns0:Relationship Id="rId1" Type="http://schemas.openxmlformats.org/officeDocument/2006/relationships/slideMaster" Target="../slideMasters/slideMaster1.xml" /></ns0:Relationships>
</file>

<file path=ppt/c1/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9AFE4D-3339-4F90-AB07-DAB31D79E32A}" type="datetimeFigureOut">
              <a:rPr lang="en-GB" smtClean="0"/>
              <a:pPr/>
              <a:t>12/09/2026</a:t>
            </a:fld>
            <a:endParaRPr lang="en-GB"/>
          </a:p>
        </p:txBody>
      </p:sp>
      <p:sp>
        <p:nvSpPr>
          <p:cNvPr id="3" name="Footer Placeholder 2"/>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179336913"/>
      </p:ext>
    </p:extLst>
  </p:cSld>
  <p:clrMapOvr>
    <a:masterClrMapping/>
  </p:clrMapOvr>
</p:sldLayout>
</file>

<file path=ppt/c1/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1736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693988"/>
            <a:ext cx="7772400" cy="1470025"/>
          </a:xfrm>
          <a:prstGeom prst="rect">
            <a:avLst/>
          </a:prstGeom>
        </p:spPr>
        <p:txBody>
          <a:bodyPr>
            <a:noAutofit/>
          </a:bodyPr>
          <a:lstStyle>
            <a:lvl1pPr>
              <a:defRPr sz="6000" b="0">
                <a:solidFill>
                  <a:schemeClr val="bg1"/>
                </a:solidFill>
              </a:defRPr>
            </a:lvl1pPr>
          </a:lstStyle>
          <a:p>
            <a:r>
              <a:rPr lang="en-US" dirty="0"/>
              <a:t>Click to edit Master title style</a:t>
            </a:r>
            <a:endParaRPr lang="en-GB" dirty="0"/>
          </a:p>
        </p:txBody>
      </p:sp>
      <p:sp>
        <p:nvSpPr>
          <p:cNvPr id="3" name="Rectangle 2">
            <a:extLst>
              <a:ext uri="{FF2B5EF4-FFF2-40B4-BE49-F238E27FC236}">
                <a16:creationId xmlns:a16="http://schemas.microsoft.com/office/drawing/2014/main" id="{EDECDDC1-0B0A-6E37-1995-A8CC6B0F35AF}"/>
              </a:ext>
            </a:extLst>
          </p:cNvPr>
          <p:cNvSpPr/>
          <p:nvPr userDrawn="1"/>
        </p:nvSpPr>
        <p:spPr>
          <a:xfrm>
            <a:off x="8458200" y="116632"/>
            <a:ext cx="648072" cy="432048"/>
          </a:xfrm>
          <a:prstGeom prst="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50430923"/>
      </p:ext>
    </p:extLst>
  </p:cSld>
  <p:clrMapOvr>
    <a:masterClrMapping/>
  </p:clrMapOvr>
</p:sldLayout>
</file>

<file path=ppt/c1/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7351934"/>
      </p:ext>
    </p:extLst>
  </p:cSld>
  <p:clrMapOvr>
    <a:masterClrMapping/>
  </p:clrMapOvr>
</p:sldLayout>
</file>

<file path=ppt/c1/ppt/slideMasters/_rels/slideMaster1.xml.rels><?xml version='1.0' encoding='utf-8'?>
<ns0:Relationships xmlns:ns0="http://schemas.openxmlformats.org/package/2006/relationships"><ns0:Relationship Id="rId3" Type="http://schemas.openxmlformats.org/officeDocument/2006/relationships/slideLayout" Target="../slideLayouts/slideLayout3.xml" /><ns0:Relationship Id="rId2" Type="http://schemas.openxmlformats.org/officeDocument/2006/relationships/slideLayout" Target="../slideLayouts/slideLayout2.xml" /><ns0:Relationship Id="rId1" Type="http://schemas.openxmlformats.org/officeDocument/2006/relationships/slideLayout" Target="../slideLayouts/slideLayout1.xml" /><ns0:Relationship Id="rId4" Type="http://schemas.openxmlformats.org/officeDocument/2006/relationships/theme" Target="../theme/theme1.xml" /></ns0:Relationships>
</file>

<file path=ppt/c1/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AFE4D-3339-4F90-AB07-DAB31D79E32A}" type="datetimeFigureOut">
              <a:rPr lang="en-GB" smtClean="0"/>
              <a:pPr/>
              <a:t>12/09/2026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7" name="Title Placeholder 1">
            <a:extLst>
              <a:ext uri="{FF2B5EF4-FFF2-40B4-BE49-F238E27FC236}">
                <a16:creationId xmlns:a16="http://schemas.microsoft.com/office/drawing/2014/main" id="{56BE1C5E-5248-9158-42CE-6786A1D85CA5}"/>
              </a:ext>
            </a:extLst>
          </p:cNvPr>
          <p:cNvSpPr>
            <a:spLocks noGrp="1"/>
          </p:cNvSpPr>
          <p:nvPr>
            <p:ph type="title"/>
          </p:nvPr>
        </p:nvSpPr>
        <p:spPr>
          <a:xfrm>
            <a:off x="457200" y="599126"/>
            <a:ext cx="8229600" cy="818512"/>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8" name="Slide Number Placeholder 1">
            <a:extLst>
              <a:ext uri="{FF2B5EF4-FFF2-40B4-BE49-F238E27FC236}">
                <a16:creationId xmlns:a16="http://schemas.microsoft.com/office/drawing/2014/main" id="{C46619E1-8E5E-BED0-8159-D618D0F5B26B}"/>
              </a:ext>
            </a:extLst>
          </p:cNvPr>
          <p:cNvSpPr txBox="1">
            <a:spLocks/>
          </p:cNvSpPr>
          <p:nvPr userDrawn="1"/>
        </p:nvSpPr>
        <p:spPr>
          <a:xfrm>
            <a:off x="0" y="0"/>
            <a:ext cx="9144000" cy="599126"/>
          </a:xfrm>
          <a:prstGeom prst="rect">
            <a:avLst/>
          </a:prstGeom>
          <a:solidFill>
            <a:srgbClr val="17375E"/>
          </a:solidFill>
        </p:spPr>
        <p:txBody>
          <a:bodyPr vert="horz" lIns="0" tIns="0" rIns="144000" bIns="0" rtlCol="0" anchor="ctr"/>
          <a:lstStyle>
            <a:defPPr>
              <a:defRPr lang="en-US"/>
            </a:defPPr>
            <a:lvl1pPr marL="0" algn="r" defTabSz="914400" rtl="0" eaLnBrk="1" latinLnBrk="0" hangingPunct="1">
              <a:defRPr sz="1000" i="1" kern="1200">
                <a:solidFill>
                  <a:srgbClr val="17375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8177B05-5D28-4021-9BD2-A7A72850B659}" type="slidenum">
              <a:rPr lang="en-GB" sz="1600" i="0" smtClean="0">
                <a:solidFill>
                  <a:schemeClr val="bg1"/>
                </a:solidFill>
              </a:rPr>
              <a:pPr algn="r"/>
              <a:t>‹#›</a:t>
            </a:fld>
            <a:endParaRPr lang="en-GB" sz="1600" i="0" dirty="0">
              <a:solidFill>
                <a:schemeClr val="bg1"/>
              </a:solidFill>
            </a:endParaRPr>
          </a:p>
        </p:txBody>
      </p:sp>
    </p:spTree>
    <p:extLst>
      <p:ext uri="{BB962C8B-B14F-4D97-AF65-F5344CB8AC3E}">
        <p14:creationId xmlns:p14="http://schemas.microsoft.com/office/powerpoint/2010/main" val="3896745248"/>
      </p:ext>
    </p:extLst>
  </p:cSld>
  <p:clrMap bg1="lt1" tx1="dk1" bg2="lt2" tx2="dk2" accent1="accent1" accent2="accent2" accent3="accent3" accent4="accent4" accent5="accent5" accent6="accent6" hlink="hlink" folHlink="folHlink"/>
  <p:sldLayoutIdLst>
    <p:sldLayoutId id="2147500100" r:id="rId1"/>
    <p:sldLayoutId id="2147500101" r:id="rId2"/>
    <p:sldLayoutId id="2147500102"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c1/ppt/slides/_rels/slide4.xml.rels><?xml version='1.0' encoding='utf-8'?>
<ns0:Relationships xmlns:ns0="http://schemas.openxmlformats.org/package/2006/relationships"><ns0:Relationship Id="rId8" Type="http://schemas.openxmlformats.org/officeDocument/2006/relationships/image" Target="../media/image16.png" /><ns0:Relationship Id="rId13" Type="http://schemas.openxmlformats.org/officeDocument/2006/relationships/image" Target="../media/image3.png" /><ns0:Relationship Id="rId3" Type="http://schemas.openxmlformats.org/officeDocument/2006/relationships/image" Target="../media/image11.png" /><ns0:Relationship Id="rId7" Type="http://schemas.openxmlformats.org/officeDocument/2006/relationships/image" Target="../media/image15.png" /><ns0:Relationship Id="rId12" Type="http://schemas.openxmlformats.org/officeDocument/2006/relationships/image" Target="../media/image20.png" /><ns0:Relationship Id="rId2" Type="http://schemas.openxmlformats.org/officeDocument/2006/relationships/image" Target="../media/image10.png" /><ns0:Relationship Id="rId1" Type="http://schemas.openxmlformats.org/officeDocument/2006/relationships/slideLayout" Target="../slideLayouts/slideLayout1.xml" /><ns0:Relationship Id="rId6" Type="http://schemas.openxmlformats.org/officeDocument/2006/relationships/image" Target="../media/image14.png" /><ns0:Relationship Id="rId11" Type="http://schemas.openxmlformats.org/officeDocument/2006/relationships/image" Target="../media/image19.png" /><ns0:Relationship Id="rId5" Type="http://schemas.openxmlformats.org/officeDocument/2006/relationships/image" Target="../media/image13.png" /><ns0:Relationship Id="rId10" Type="http://schemas.openxmlformats.org/officeDocument/2006/relationships/image" Target="../media/image18.png" /><ns0:Relationship Id="rId9" Type="http://schemas.openxmlformats.org/officeDocument/2006/relationships/image" Target="../media/image17.png" /><ns0:Relationship Id="rId14" Type="http://schemas.openxmlformats.org/officeDocument/2006/relationships/image" Target="../media/image4.png" /></ns0:Relationships>
</file>

<file path=ppt/c1/ppt/slides/_rels/slide5.xml.rels><?xml version='1.0' encoding='utf-8'?>
<ns0:Relationships xmlns:ns0="http://schemas.openxmlformats.org/package/2006/relationships"><ns0:Relationship Id="rId8" Type="http://schemas.openxmlformats.org/officeDocument/2006/relationships/image" Target="../media/image29.png" /><ns0:Relationship Id="rId3" Type="http://schemas.openxmlformats.org/officeDocument/2006/relationships/image" Target="../media/image24.png" /><ns0:Relationship Id="rId7" Type="http://schemas.openxmlformats.org/officeDocument/2006/relationships/image" Target="../media/image28.png" /><ns0:Relationship Id="rId2" Type="http://schemas.openxmlformats.org/officeDocument/2006/relationships/image" Target="../media/image23.png" /><ns0:Relationship Id="rId1" Type="http://schemas.openxmlformats.org/officeDocument/2006/relationships/slideLayout" Target="../slideLayouts/slideLayout1.xml" /><ns0:Relationship Id="rId6" Type="http://schemas.openxmlformats.org/officeDocument/2006/relationships/image" Target="../media/image5.png" /><ns0:Relationship Id="rId5" Type="http://schemas.openxmlformats.org/officeDocument/2006/relationships/image" Target="../media/image26.png" /><ns0:Relationship Id="rId10" Type="http://schemas.openxmlformats.org/officeDocument/2006/relationships/image" Target="../media/image31.png" /><ns0:Relationship Id="rId4" Type="http://schemas.openxmlformats.org/officeDocument/2006/relationships/image" Target="../media/image25.png" /><ns0:Relationship Id="rId9" Type="http://schemas.openxmlformats.org/officeDocument/2006/relationships/image" Target="../media/image30.png" /></ns0:Relationships>
</file>

<file path=ppt/c1/ppt/slides/_rels/slide6.xml.rels><?xml version='1.0' encoding='utf-8'?>
<ns0:Relationships xmlns:ns0="http://schemas.openxmlformats.org/package/2006/relationships"><ns0:Relationship Id="rId8" Type="http://schemas.openxmlformats.org/officeDocument/2006/relationships/image" Target="../media/image22.png" /><ns0:Relationship Id="rId13" Type="http://schemas.openxmlformats.org/officeDocument/2006/relationships/image" Target="../media/image35.png" /><ns0:Relationship Id="rId3" Type="http://schemas.openxmlformats.org/officeDocument/2006/relationships/image" Target="../media/image7.png" /><ns0:Relationship Id="rId7" Type="http://schemas.openxmlformats.org/officeDocument/2006/relationships/image" Target="../media/image21.png" /><ns0:Relationship Id="rId12" Type="http://schemas.openxmlformats.org/officeDocument/2006/relationships/image" Target="../media/image34.png" /><ns0:Relationship Id="rId2" Type="http://schemas.openxmlformats.org/officeDocument/2006/relationships/image" Target="../media/image1.png" /><ns0:Relationship Id="rId1" Type="http://schemas.openxmlformats.org/officeDocument/2006/relationships/slideLayout" Target="../slideLayouts/slideLayout1.xml" /><ns0:Relationship Id="rId6" Type="http://schemas.openxmlformats.org/officeDocument/2006/relationships/image" Target="../media/image12.png" /><ns0:Relationship Id="rId11" Type="http://schemas.openxmlformats.org/officeDocument/2006/relationships/image" Target="../media/image33.png" /><ns0:Relationship Id="rId5" Type="http://schemas.openxmlformats.org/officeDocument/2006/relationships/image" Target="../media/image9.png" /><ns0:Relationship Id="rId15" Type="http://schemas.openxmlformats.org/officeDocument/2006/relationships/image" Target="../media/image37.png" /><ns0:Relationship Id="rId10" Type="http://schemas.openxmlformats.org/officeDocument/2006/relationships/image" Target="../media/image32.png" /><ns0:Relationship Id="rId4" Type="http://schemas.openxmlformats.org/officeDocument/2006/relationships/image" Target="../media/image8.png" /><ns0:Relationship Id="rId9" Type="http://schemas.openxmlformats.org/officeDocument/2006/relationships/image" Target="../media/image27.png" /><ns0:Relationship Id="rId14" Type="http://schemas.openxmlformats.org/officeDocument/2006/relationships/image" Target="../media/image36.png" /></ns0:Relationships>
</file>

<file path=ppt/c1/ppt/slides/_rels/slide7.xml.rels><?xml version='1.0' encoding='utf-8'?>
<ns0:Relationships xmlns:ns0="http://schemas.openxmlformats.org/package/2006/relationships"><ns0:Relationship Id="rId3" Type="http://schemas.openxmlformats.org/officeDocument/2006/relationships/image" Target="../media/image40.png" /><ns0:Relationship Id="rId2" Type="http://schemas.openxmlformats.org/officeDocument/2006/relationships/image" Target="../media/image38.png" /><ns0:Relationship Id="rId1" Type="http://schemas.openxmlformats.org/officeDocument/2006/relationships/slideLayout" Target="../slideLayouts/slideLayout1.xml" /><ns0:Relationship Id="rId6" Type="http://schemas.openxmlformats.org/officeDocument/2006/relationships/hyperlink" Target="http://www.drfrostmaths.com/resources/resource.php?rid=268" TargetMode="External" /><ns0:Relationship Id="rId5" Type="http://schemas.openxmlformats.org/officeDocument/2006/relationships/image" Target="../media/image42.png" /><ns0:Relationship Id="rId4" Type="http://schemas.openxmlformats.org/officeDocument/2006/relationships/image" Target="../media/image39.png" /></ns0:Relationships>
</file>

<file path=ppt/c1/ppt/slides/_rels/slide17.xml.rels><?xml version='1.0' encoding='utf-8'?>
<ns0:Relationships xmlns:ns0="http://schemas.openxmlformats.org/package/2006/relationships"><ns0:Relationship Id="rId8" Type="http://schemas.openxmlformats.org/officeDocument/2006/relationships/image" Target="../media/image87.png" /><ns0:Relationship Id="rId13" Type="http://schemas.openxmlformats.org/officeDocument/2006/relationships/image" Target="../media/image92.png" /><ns0:Relationship Id="rId3" Type="http://schemas.openxmlformats.org/officeDocument/2006/relationships/image" Target="../media/image320.png" /><ns0:Relationship Id="rId7" Type="http://schemas.openxmlformats.org/officeDocument/2006/relationships/image" Target="../media/image86.png" /><ns0:Relationship Id="rId12" Type="http://schemas.openxmlformats.org/officeDocument/2006/relationships/image" Target="../media/image91.png" /><ns0:Relationship Id="rId2" Type="http://schemas.openxmlformats.org/officeDocument/2006/relationships/image" Target="../media/image811.png" /><ns0:Relationship Id="rId1" Type="http://schemas.openxmlformats.org/officeDocument/2006/relationships/slideLayout" Target="../slideLayouts/slideLayout1.xml" /><ns0:Relationship Id="rId6" Type="http://schemas.openxmlformats.org/officeDocument/2006/relationships/image" Target="../media/image85.png" /><ns0:Relationship Id="rId11" Type="http://schemas.openxmlformats.org/officeDocument/2006/relationships/image" Target="../media/image90.png" /><ns0:Relationship Id="rId5" Type="http://schemas.openxmlformats.org/officeDocument/2006/relationships/image" Target="../media/image840.png" /><ns0:Relationship Id="rId15" Type="http://schemas.openxmlformats.org/officeDocument/2006/relationships/image" Target="../media/image94.png" /><ns0:Relationship Id="rId10" Type="http://schemas.openxmlformats.org/officeDocument/2006/relationships/image" Target="../media/image89.png" /><ns0:Relationship Id="rId4" Type="http://schemas.openxmlformats.org/officeDocument/2006/relationships/image" Target="../media/image830.png" /><ns0:Relationship Id="rId9" Type="http://schemas.openxmlformats.org/officeDocument/2006/relationships/image" Target="../media/image88.png" /><ns0:Relationship Id="rId14" Type="http://schemas.openxmlformats.org/officeDocument/2006/relationships/image" Target="../media/image93.png" /></ns0:Relationships>
</file>

<file path=ppt/c1/ppt/slides/_rels/slide18.xml.rels><?xml version='1.0' encoding='utf-8'?>
<ns0:Relationships xmlns:ns0="http://schemas.openxmlformats.org/package/2006/relationships"><ns0:Relationship Id="rId3" Type="http://schemas.openxmlformats.org/officeDocument/2006/relationships/image" Target="../media/image520.png" /><ns0:Relationship Id="rId2" Type="http://schemas.openxmlformats.org/officeDocument/2006/relationships/notesSlide" Target="../notesSlides/notesSlide2.xml" /><ns0:Relationship Id="rId1" Type="http://schemas.openxmlformats.org/officeDocument/2006/relationships/slideLayout" Target="../slideLayouts/slideLayout1.xml" /><ns0:Relationship Id="rId5" Type="http://schemas.openxmlformats.org/officeDocument/2006/relationships/image" Target="../media/image340.png" /><ns0:Relationship Id="rId4" Type="http://schemas.openxmlformats.org/officeDocument/2006/relationships/image" Target="../media/image95.png" /></ns0:Relationships>
</file>

<file path=ppt/c1/ppt/slides/_rels/slide19.xml.rels><?xml version='1.0' encoding='utf-8'?>
<ns0:Relationships xmlns:ns0="http://schemas.openxmlformats.org/package/2006/relationships"><ns0:Relationship Id="rId3" Type="http://schemas.openxmlformats.org/officeDocument/2006/relationships/image" Target="../media/image98.png" /><ns0:Relationship Id="rId2" Type="http://schemas.openxmlformats.org/officeDocument/2006/relationships/image" Target="../media/image97.png" /><ns0:Relationship Id="rId1" Type="http://schemas.openxmlformats.org/officeDocument/2006/relationships/slideLayout" Target="../slideLayouts/slideLayout1.xml" /><ns0:Relationship Id="rId5" Type="http://schemas.openxmlformats.org/officeDocument/2006/relationships/image" Target="../media/image100.png" /><ns0:Relationship Id="rId4" Type="http://schemas.openxmlformats.org/officeDocument/2006/relationships/image" Target="../media/image99.png" /></ns0:Relationships>
</file>

<file path=ppt/c1/ppt/slides/_rels/slide20.xml.rels><?xml version='1.0' encoding='utf-8'?>
<ns0:Relationships xmlns:ns0="http://schemas.openxmlformats.org/package/2006/relationships"><ns0:Relationship Id="rId3" Type="http://schemas.openxmlformats.org/officeDocument/2006/relationships/image" Target="../media/image96.png" /><ns0:Relationship Id="rId2" Type="http://schemas.openxmlformats.org/officeDocument/2006/relationships/image" Target="../media/image84.png" /><ns0:Relationship Id="rId1" Type="http://schemas.openxmlformats.org/officeDocument/2006/relationships/slideLayout" Target="../slideLayouts/slideLayout1.xml" /></ns0:Relationships>
</file>

<file path=ppt/c1/ppt/slides/_rels/slide21.xml.rels><?xml version='1.0' encoding='utf-8'?>
<ns0:Relationships xmlns:ns0="http://schemas.openxmlformats.org/package/2006/relationships"><ns0:Relationship Id="rId8" Type="http://schemas.openxmlformats.org/officeDocument/2006/relationships/image" Target="../media/image107.png" /><ns0:Relationship Id="rId3" Type="http://schemas.openxmlformats.org/officeDocument/2006/relationships/image" Target="../media/image103.png" /><ns0:Relationship Id="rId7" Type="http://schemas.openxmlformats.org/officeDocument/2006/relationships/image" Target="../media/image106.png" /><ns0:Relationship Id="rId2" Type="http://schemas.openxmlformats.org/officeDocument/2006/relationships/image" Target="../media/image101.png" /><ns0:Relationship Id="rId1" Type="http://schemas.openxmlformats.org/officeDocument/2006/relationships/slideLayout" Target="../slideLayouts/slideLayout1.xml" /><ns0:Relationship Id="rId6" Type="http://schemas.openxmlformats.org/officeDocument/2006/relationships/image" Target="../media/image105.png" /><ns0:Relationship Id="rId11" Type="http://schemas.openxmlformats.org/officeDocument/2006/relationships/image" Target="../media/image110.png" /><ns0:Relationship Id="rId5" Type="http://schemas.openxmlformats.org/officeDocument/2006/relationships/image" Target="../media/image104.png" /><ns0:Relationship Id="rId10" Type="http://schemas.openxmlformats.org/officeDocument/2006/relationships/image" Target="../media/image109.png" /><ns0:Relationship Id="rId4" Type="http://schemas.openxmlformats.org/officeDocument/2006/relationships/image" Target="../media/image102.png" /><ns0:Relationship Id="rId9" Type="http://schemas.openxmlformats.org/officeDocument/2006/relationships/image" Target="../media/image108.png" /></ns0:Relationships>
</file>

<file path=ppt/c1/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1: Index Laws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5796136" y="945757"/>
                <a:ext cx="2808312" cy="1477328"/>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latin typeface="Wingdings" panose="05000000000000000000" pitchFamily="2" charset="2"/>
                  </a:rPr>
                  <a:t>!</a:t>
                </a:r>
              </a:p>
              <a:p>
                <a:pPr/>
                <a14:m>
                  <m:oMathPara xmlns:m="http://schemas.openxmlformats.org/officeDocument/2006/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𝑚</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𝑛</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𝑚</m:t>
                          </m:r>
                          <m:r>
                            <a:rPr lang="en-GB" b="0" i="1" smtClean="0">
                              <a:latin typeface="Cambria Math" panose="02040503050406030204" pitchFamily="18" charset="0"/>
                            </a:rPr>
                            <m:t>+</m:t>
                          </m:r>
                          <m:r>
                            <a:rPr lang="en-GB" b="0" i="1" smtClean="0">
                              <a:latin typeface="Cambria Math" panose="02040503050406030204" pitchFamily="18" charset="0"/>
                            </a:rPr>
                            <m:t>𝑛</m:t>
                          </m:r>
                        </m:sup>
                      </m:sSup>
                    </m:o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𝑚</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𝑛</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𝑚</m:t>
                          </m:r>
                          <m:r>
                            <a:rPr lang="en-GB" b="0" i="1" smtClean="0">
                              <a:latin typeface="Cambria Math" panose="02040503050406030204" pitchFamily="18" charset="0"/>
                            </a:rPr>
                            <m:t>−</m:t>
                          </m:r>
                          <m:r>
                            <a:rPr lang="en-GB" b="0" i="1" smtClean="0">
                              <a:latin typeface="Cambria Math" panose="02040503050406030204" pitchFamily="18" charset="0"/>
                            </a:rPr>
                            <m:t>𝑛</m:t>
                          </m:r>
                        </m:sup>
                      </m:sSup>
                    </m:oMath>
                    <m:o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𝑚</m:t>
                                  </m:r>
                                </m:sup>
                              </m:sSup>
                            </m:e>
                          </m:d>
                        </m:e>
                        <m:sup>
                          <m:r>
                            <a:rPr lang="en-GB" b="0" i="1" smtClean="0">
                              <a:latin typeface="Cambria Math" panose="02040503050406030204" pitchFamily="18" charset="0"/>
                            </a:rPr>
                            <m:t>𝑛</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𝑚𝑛</m:t>
                          </m:r>
                        </m:sup>
                      </m:sSup>
                    </m:oMath>
                    <m:o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𝑎𝑏</m:t>
                              </m:r>
                            </m:e>
                          </m:d>
                        </m:e>
                        <m:sup>
                          <m:r>
                            <a:rPr lang="en-GB" b="0" i="1" smtClean="0">
                              <a:latin typeface="Cambria Math" panose="02040503050406030204" pitchFamily="18" charset="0"/>
                            </a:rPr>
                            <m:t>𝑛</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𝑛</m:t>
                          </m:r>
                        </m:sup>
                      </m:sSup>
                      <m:sSup>
                        <m:sSupPr>
                          <m:ctrlPr>
                            <a:rPr lang="en-GB" b="0" i="1" smtClean="0">
                              <a:latin typeface="Cambria Math" panose="02040503050406030204" pitchFamily="18" charset="0"/>
                            </a:rPr>
                          </m:ctrlPr>
                        </m:sSupPr>
                        <m:e>
                          <m:r>
                            <a:rPr lang="en-GB" b="0" i="1" smtClean="0">
                              <a:latin typeface="Cambria Math" panose="02040503050406030204" pitchFamily="18" charset="0"/>
                            </a:rPr>
                            <m:t>𝑏</m:t>
                          </m:r>
                        </m:e>
                        <m:sup>
                          <m:r>
                            <a:rPr lang="en-GB" b="0" i="1" smtClean="0">
                              <a:latin typeface="Cambria Math" panose="02040503050406030204" pitchFamily="18" charset="0"/>
                            </a:rPr>
                            <m:t>𝑛</m:t>
                          </m:r>
                        </m:sup>
                      </m:sSup>
                    </m:oMath>
                  </m:oMathPara>
                </a14:m>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5796136" y="945757"/>
                <a:ext cx="2808312" cy="1477328"/>
              </a:xfrm>
              <a:prstGeom prst="rect">
                <a:avLst/>
              </a:prstGeom>
              <a:blipFill>
                <a:blip r:embed="rId2"/>
                <a:stretch>
                  <a:fillRect l="-1509" t="-122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556037" y="1291259"/>
                <a:ext cx="1872208" cy="839397"/>
              </a:xfrm>
              <a:prstGeom prst="rect">
                <a:avLst/>
              </a:prstGeom>
              <a:noFill/>
            </p:spPr>
            <p:txBody>
              <a:bodyPr wrap="square" rtlCol="0">
                <a:spAutoFit/>
              </a:bodyPr>
              <a:lstStyle/>
              <a:p>
                <a:pPr/>
                <a14:m>
                  <m:oMathPara xmlns:m="http://schemas.openxmlformats.org/officeDocument/2006/math">
                    <m:oMath>
                      <m:sSup>
                        <m:sSupPr>
                          <m:ctrlPr>
                            <a:rPr lang="en-GB" sz="4800" b="0" i="1" smtClean="0">
                              <a:latin typeface="Cambria Math" panose="02040503050406030204" pitchFamily="18" charset="0"/>
                            </a:rPr>
                          </m:ctrlPr>
                        </m:sSupPr>
                        <m:e>
                          <m:r>
                            <a:rPr lang="en-GB" sz="4800" b="0" i="1" smtClean="0">
                              <a:latin typeface="Cambria Math" panose="02040503050406030204" pitchFamily="18" charset="0"/>
                            </a:rPr>
                            <m:t>3</m:t>
                          </m:r>
                        </m:e>
                        <m:sup>
                          <m:r>
                            <a:rPr lang="en-GB" sz="4800" b="0" i="1" smtClean="0">
                              <a:latin typeface="Cambria Math" panose="02040503050406030204" pitchFamily="18" charset="0"/>
                            </a:rPr>
                            <m:t>5</m:t>
                          </m:r>
                        </m:sup>
                      </m:sSup>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1556037" y="1291259"/>
                <a:ext cx="1872208" cy="839397"/>
              </a:xfrm>
              <a:prstGeom prst="rect">
                <a:avLst/>
              </a:prstGeom>
              <a:blipFill>
                <a:blip r:embed="rId3"/>
                <a:stretch>
                  <a:fillRect/>
                </a:stretch>
              </a:blipFill>
            </p:spPr>
            <p:txBody>
              <a:bodyPr/>
              <a:lstStyle/>
              <a:p>
                <a:r>
                  <a:rPr lang="en-GB">
                    <a:noFill/>
                  </a:rPr>
                  <a:t> </a:t>
                </a:r>
              </a:p>
            </p:txBody>
          </p:sp>
        </mc:Fallback>
      </mc:AlternateContent>
      <p:sp>
        <p:nvSpPr>
          <p:cNvPr id="7" name="TextBox 6"/>
          <p:cNvSpPr txBox="1"/>
          <p:nvPr/>
        </p:nvSpPr>
        <p:spPr>
          <a:xfrm>
            <a:off x="912713" y="1076617"/>
            <a:ext cx="792088" cy="369332"/>
          </a:xfrm>
          <a:prstGeom prst="rect">
            <a:avLst/>
          </a:prstGeom>
          <a:noFill/>
        </p:spPr>
        <p:txBody>
          <a:bodyPr wrap="square" rtlCol="0">
            <a:spAutoFit/>
          </a:bodyPr>
          <a:lstStyle/>
          <a:p>
            <a:r>
              <a:rPr lang="en-GB" dirty="0"/>
              <a:t>base</a:t>
            </a:r>
          </a:p>
        </p:txBody>
      </p:sp>
      <p:cxnSp>
        <p:nvCxnSpPr>
          <p:cNvPr id="9" name="Straight Arrow Connector 8"/>
          <p:cNvCxnSpPr>
            <a:stCxn id="7" idx="2"/>
          </p:cNvCxnSpPr>
          <p:nvPr/>
        </p:nvCxnSpPr>
        <p:spPr>
          <a:xfrm>
            <a:off x="1308757" y="1445949"/>
            <a:ext cx="832864" cy="2384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168206" y="798014"/>
            <a:ext cx="2089593" cy="646331"/>
          </a:xfrm>
          <a:prstGeom prst="rect">
            <a:avLst/>
          </a:prstGeom>
          <a:noFill/>
        </p:spPr>
        <p:txBody>
          <a:bodyPr wrap="square" rtlCol="0">
            <a:spAutoFit/>
          </a:bodyPr>
          <a:lstStyle/>
          <a:p>
            <a:r>
              <a:rPr lang="en-GB" dirty="0"/>
              <a:t>exponent or index (plural: indices)</a:t>
            </a:r>
          </a:p>
        </p:txBody>
      </p:sp>
      <p:cxnSp>
        <p:nvCxnSpPr>
          <p:cNvPr id="11" name="Straight Arrow Connector 10"/>
          <p:cNvCxnSpPr/>
          <p:nvPr/>
        </p:nvCxnSpPr>
        <p:spPr>
          <a:xfrm flipH="1">
            <a:off x="2827421" y="1311442"/>
            <a:ext cx="360947" cy="264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84102" y="2545243"/>
            <a:ext cx="5262818" cy="954107"/>
          </a:xfrm>
          <a:prstGeom prst="rect">
            <a:avLst/>
          </a:prstGeom>
          <a:noFill/>
        </p:spPr>
        <p:txBody>
          <a:bodyPr wrap="square" rtlCol="0">
            <a:spAutoFit/>
          </a:bodyPr>
          <a:lstStyle/>
          <a:p>
            <a:r>
              <a:rPr lang="en-GB" sz="1400" dirty="0"/>
              <a:t>Some also refer to the 5 as the ‘power’. But this would lead to unfortunate ambiguous phrases like “when we multiply two powers together, we add the powers” instead of “when we multiply two powers together, we add the indices”.</a:t>
            </a:r>
          </a:p>
        </p:txBody>
      </p:sp>
      <p:cxnSp>
        <p:nvCxnSpPr>
          <p:cNvPr id="16" name="Straight Connector 15"/>
          <p:cNvCxnSpPr/>
          <p:nvPr/>
        </p:nvCxnSpPr>
        <p:spPr>
          <a:xfrm>
            <a:off x="0" y="3573016"/>
            <a:ext cx="914400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383323" y="3740127"/>
                <a:ext cx="3618765"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Simplify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3</m:t>
                                </m:r>
                              </m:sup>
                            </m:sSup>
                          </m:e>
                        </m:d>
                      </m:e>
                      <m:sup>
                        <m:r>
                          <a:rPr lang="en-GB" b="0" i="1" smtClean="0">
                            <a:latin typeface="Cambria Math" panose="02040503050406030204" pitchFamily="18" charset="0"/>
                          </a:rPr>
                          <m:t>2</m:t>
                        </m:r>
                      </m:sup>
                    </m:sSup>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2</m:t>
                        </m:r>
                      </m:sup>
                    </m:sSup>
                  </m:oMath>
                </a14:m>
                <a:endParaRPr lang="en-GB" dirty="0"/>
              </a:p>
            </p:txBody>
          </p:sp>
        </mc:Choice>
        <mc:Fallback xmlns="">
          <p:sp>
            <p:nvSpPr>
              <p:cNvPr id="17" name="TextBox 16"/>
              <p:cNvSpPr txBox="1">
                <a:spLocks noRot="1" noChangeAspect="1" noMove="1" noResize="1" noEditPoints="1" noAdjustHandles="1" noChangeArrowheads="1" noChangeShapeType="1" noTextEdit="1"/>
              </p:cNvSpPr>
              <p:nvPr/>
            </p:nvSpPr>
            <p:spPr>
              <a:xfrm>
                <a:off x="383323" y="3740127"/>
                <a:ext cx="3618765" cy="369332"/>
              </a:xfrm>
              <a:prstGeom prst="rect">
                <a:avLst/>
              </a:prstGeom>
              <a:blipFill>
                <a:blip r:embed="rId5"/>
                <a:stretch>
                  <a:fillRect b="-4762"/>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83323" y="4221088"/>
                <a:ext cx="2784884"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6</m:t>
                          </m:r>
                        </m:sup>
                      </m:sSup>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2</m:t>
                          </m:r>
                        </m:sup>
                      </m:sSup>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8</m:t>
                          </m:r>
                        </m:sup>
                      </m:sSup>
                    </m:oMath>
                  </m:oMathPara>
                </a14:m>
                <a:endParaRPr lang="en-GB" dirty="0"/>
              </a:p>
            </p:txBody>
          </p:sp>
        </mc:Choice>
        <mc:Fallback xmlns="">
          <p:sp>
            <p:nvSpPr>
              <p:cNvPr id="18" name="TextBox 17"/>
              <p:cNvSpPr txBox="1">
                <a:spLocks noRot="1" noChangeAspect="1" noMove="1" noResize="1" noEditPoints="1" noAdjustHandles="1" noChangeArrowheads="1" noChangeShapeType="1" noTextEdit="1"/>
              </p:cNvSpPr>
              <p:nvPr/>
            </p:nvSpPr>
            <p:spPr>
              <a:xfrm>
                <a:off x="383323" y="4221088"/>
                <a:ext cx="2784884"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4571428" y="3740127"/>
                <a:ext cx="3618765"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Simplify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𝑦</m:t>
                            </m:r>
                          </m:e>
                        </m:d>
                      </m:e>
                      <m:sup>
                        <m:r>
                          <a:rPr lang="en-GB" b="0" i="1" smtClean="0">
                            <a:latin typeface="Cambria Math" panose="02040503050406030204" pitchFamily="18" charset="0"/>
                          </a:rPr>
                          <m:t>3</m:t>
                        </m:r>
                      </m:sup>
                    </m:sSup>
                  </m:oMath>
                </a14:m>
                <a:endParaRPr lang="en-GB" dirty="0"/>
              </a:p>
            </p:txBody>
          </p:sp>
        </mc:Choice>
        <mc:Fallback xmlns="">
          <p:sp>
            <p:nvSpPr>
              <p:cNvPr id="19" name="TextBox 18"/>
              <p:cNvSpPr txBox="1">
                <a:spLocks noRot="1" noChangeAspect="1" noMove="1" noResize="1" noEditPoints="1" noAdjustHandles="1" noChangeArrowheads="1" noChangeShapeType="1" noTextEdit="1"/>
              </p:cNvSpPr>
              <p:nvPr/>
            </p:nvSpPr>
            <p:spPr>
              <a:xfrm>
                <a:off x="4571428" y="3740127"/>
                <a:ext cx="3618765" cy="369332"/>
              </a:xfrm>
              <a:prstGeom prst="rect">
                <a:avLst/>
              </a:prstGeom>
              <a:blipFill>
                <a:blip r:embed="rId7"/>
                <a:stretch>
                  <a:fillRect b="-4762"/>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4571428" y="4221088"/>
                <a:ext cx="2784884"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=64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9</m:t>
                          </m:r>
                        </m:sup>
                      </m:sSup>
                      <m:sSup>
                        <m:sSupPr>
                          <m:ctrlPr>
                            <a:rPr lang="en-GB" b="0" i="1" smtClean="0">
                              <a:latin typeface="Cambria Math" panose="02040503050406030204" pitchFamily="18" charset="0"/>
                            </a:rPr>
                          </m:ctrlPr>
                        </m:sSupPr>
                        <m:e>
                          <m:r>
                            <a:rPr lang="en-GB" b="0" i="1" smtClean="0">
                              <a:latin typeface="Cambria Math" panose="02040503050406030204" pitchFamily="18" charset="0"/>
                            </a:rPr>
                            <m:t>𝑦</m:t>
                          </m:r>
                        </m:e>
                        <m:sup>
                          <m:r>
                            <a:rPr lang="en-GB" b="0" i="1" smtClean="0">
                              <a:latin typeface="Cambria Math" panose="02040503050406030204" pitchFamily="18" charset="0"/>
                            </a:rPr>
                            <m:t>3</m:t>
                          </m:r>
                        </m:sup>
                      </m:sSup>
                    </m:oMath>
                  </m:oMathPara>
                </a14:m>
                <a:endParaRPr lang="en-GB" dirty="0"/>
              </a:p>
            </p:txBody>
          </p:sp>
        </mc:Choice>
        <mc:Fallback xmlns="">
          <p:sp>
            <p:nvSpPr>
              <p:cNvPr id="20" name="TextBox 19"/>
              <p:cNvSpPr txBox="1">
                <a:spLocks noRot="1" noChangeAspect="1" noMove="1" noResize="1" noEditPoints="1" noAdjustHandles="1" noChangeArrowheads="1" noChangeShapeType="1" noTextEdit="1"/>
              </p:cNvSpPr>
              <p:nvPr/>
            </p:nvSpPr>
            <p:spPr>
              <a:xfrm>
                <a:off x="4571428" y="4221088"/>
                <a:ext cx="2784884" cy="369332"/>
              </a:xfrm>
              <a:prstGeom prst="rect">
                <a:avLst/>
              </a:prstGeom>
              <a:blipFill>
                <a:blip r:embed="rId8"/>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383322" y="4915770"/>
                <a:ext cx="3618765"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Simplify </a:t>
                </a:r>
                <a14:m>
                  <m:oMath xmlns:m="http://schemas.openxmlformats.org/officeDocument/2006/math">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3+5</m:t>
                        </m:r>
                        <m:r>
                          <a:rPr lang="en-GB" b="0" i="1" smtClean="0">
                            <a:latin typeface="Cambria Math" panose="02040503050406030204" pitchFamily="18" charset="0"/>
                          </a:rPr>
                          <m:t>𝑥</m:t>
                        </m:r>
                      </m:e>
                    </m:d>
                    <m:r>
                      <a:rPr lang="en-GB" b="0" i="1" smtClean="0">
                        <a:latin typeface="Cambria Math" panose="02040503050406030204" pitchFamily="18" charset="0"/>
                      </a:rPr>
                      <m:t>−</m:t>
                    </m:r>
                    <m:r>
                      <a:rPr lang="en-GB" b="0" i="1" smtClean="0">
                        <a:latin typeface="Cambria Math" panose="02040503050406030204" pitchFamily="18" charset="0"/>
                      </a:rPr>
                      <m:t>𝑥</m:t>
                    </m:r>
                    <m:d>
                      <m:dPr>
                        <m:ctrlPr>
                          <a:rPr lang="en-GB" b="0" i="1" smtClean="0">
                            <a:latin typeface="Cambria Math" panose="02040503050406030204" pitchFamily="18" charset="0"/>
                          </a:rPr>
                        </m:ctrlPr>
                      </m:dPr>
                      <m:e>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e>
                    </m:d>
                  </m:oMath>
                </a14:m>
                <a:endParaRPr lang="en-GB" dirty="0"/>
              </a:p>
            </p:txBody>
          </p:sp>
        </mc:Choice>
        <mc:Fallback xmlns="">
          <p:sp>
            <p:nvSpPr>
              <p:cNvPr id="21" name="TextBox 20"/>
              <p:cNvSpPr txBox="1">
                <a:spLocks noRot="1" noChangeAspect="1" noMove="1" noResize="1" noEditPoints="1" noAdjustHandles="1" noChangeArrowheads="1" noChangeShapeType="1" noTextEdit="1"/>
              </p:cNvSpPr>
              <p:nvPr/>
            </p:nvSpPr>
            <p:spPr>
              <a:xfrm>
                <a:off x="383322" y="4915770"/>
                <a:ext cx="3618765" cy="369332"/>
              </a:xfrm>
              <a:prstGeom prst="rect">
                <a:avLst/>
              </a:prstGeom>
              <a:blipFill>
                <a:blip r:embed="rId9"/>
                <a:stretch>
                  <a:fillRect b="-3529"/>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563797" y="5447718"/>
                <a:ext cx="2784884" cy="646331"/>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=6</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+10</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−4</m:t>
                      </m:r>
                      <m:r>
                        <a:rPr lang="en-GB" b="0" i="1" smtClean="0">
                          <a:latin typeface="Cambria Math" panose="02040503050406030204" pitchFamily="18" charset="0"/>
                        </a:rPr>
                        <m:t>𝑥</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oMath>
                    <m:oMath>
                      <m:r>
                        <a:rPr lang="en-GB" b="0" i="1" smtClean="0">
                          <a:latin typeface="Cambria Math" panose="02040503050406030204" pitchFamily="18" charset="0"/>
                        </a:rPr>
                        <m:t>=11</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+6</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−4</m:t>
                      </m:r>
                      <m:r>
                        <a:rPr lang="en-GB" b="0" i="1" smtClean="0">
                          <a:latin typeface="Cambria Math" panose="02040503050406030204" pitchFamily="18" charset="0"/>
                        </a:rPr>
                        <m:t>𝑥</m:t>
                      </m:r>
                    </m:oMath>
                  </m:oMathPara>
                </a14:m>
                <a:endParaRPr lang="en-GB" dirty="0"/>
              </a:p>
            </p:txBody>
          </p:sp>
        </mc:Choice>
        <mc:Fallback xmlns="">
          <p:sp>
            <p:nvSpPr>
              <p:cNvPr id="22" name="TextBox 21"/>
              <p:cNvSpPr txBox="1">
                <a:spLocks noRot="1" noChangeAspect="1" noMove="1" noResize="1" noEditPoints="1" noAdjustHandles="1" noChangeArrowheads="1" noChangeShapeType="1" noTextEdit="1"/>
              </p:cNvSpPr>
              <p:nvPr/>
            </p:nvSpPr>
            <p:spPr>
              <a:xfrm>
                <a:off x="563797" y="5447718"/>
                <a:ext cx="2784884" cy="646331"/>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4571428" y="4915770"/>
                <a:ext cx="3618765" cy="52418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Simplify </a:t>
                </a:r>
                <a14:m>
                  <m:oMath xmlns:m="http://schemas.openxmlformats.org/officeDocument/2006/math">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−2</m:t>
                        </m:r>
                        <m:r>
                          <a:rPr lang="en-GB" b="0" i="1" smtClean="0">
                            <a:latin typeface="Cambria Math" panose="02040503050406030204" pitchFamily="18" charset="0"/>
                          </a:rPr>
                          <m:t>𝑥</m:t>
                        </m:r>
                      </m:num>
                      <m:den>
                        <m:r>
                          <a:rPr lang="en-GB" b="0" i="1" smtClean="0">
                            <a:latin typeface="Cambria Math" panose="02040503050406030204" pitchFamily="18" charset="0"/>
                          </a:rPr>
                          <m:t>3</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en>
                    </m:f>
                  </m:oMath>
                </a14:m>
                <a:endParaRPr lang="en-GB" dirty="0"/>
              </a:p>
            </p:txBody>
          </p:sp>
        </mc:Choice>
        <mc:Fallback xmlns="">
          <p:sp>
            <p:nvSpPr>
              <p:cNvPr id="23" name="TextBox 22"/>
              <p:cNvSpPr txBox="1">
                <a:spLocks noRot="1" noChangeAspect="1" noMove="1" noResize="1" noEditPoints="1" noAdjustHandles="1" noChangeArrowheads="1" noChangeShapeType="1" noTextEdit="1"/>
              </p:cNvSpPr>
              <p:nvPr/>
            </p:nvSpPr>
            <p:spPr>
              <a:xfrm>
                <a:off x="4571428" y="4915770"/>
                <a:ext cx="3618765" cy="524182"/>
              </a:xfrm>
              <a:prstGeom prst="rect">
                <a:avLst/>
              </a:prstGeom>
              <a:blipFill>
                <a:blip r:embed="rId11"/>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4595881" y="5451152"/>
                <a:ext cx="1937266" cy="1168525"/>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3</m:t>
                              </m:r>
                              <m:r>
                                <a:rPr lang="en-GB" b="0" i="1" smtClean="0">
                                  <a:latin typeface="Cambria Math" panose="02040503050406030204" pitchFamily="18" charset="0"/>
                                </a:rPr>
                                <m:t>𝑥</m:t>
                              </m:r>
                            </m:e>
                            <m:sup>
                              <m:r>
                                <a:rPr lang="en-GB" b="0" i="1" smtClean="0">
                                  <a:latin typeface="Cambria Math" panose="02040503050406030204" pitchFamily="18" charset="0"/>
                                </a:rPr>
                                <m:t>2</m:t>
                              </m:r>
                            </m:sup>
                          </m:sSup>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r>
                            <a:rPr lang="en-GB" b="0" i="1" smtClean="0">
                              <a:latin typeface="Cambria Math" panose="02040503050406030204" pitchFamily="18" charset="0"/>
                            </a:rPr>
                            <m:t>𝑥</m:t>
                          </m:r>
                        </m:num>
                        <m:den>
                          <m:r>
                            <a:rPr lang="en-GB" b="0" i="1" smtClean="0">
                              <a:latin typeface="Cambria Math" panose="02040503050406030204" pitchFamily="18" charset="0"/>
                            </a:rPr>
                            <m:t>3</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en>
                      </m:f>
                    </m:oMath>
                    <m:o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3</m:t>
                          </m:r>
                        </m:den>
                      </m:f>
                      <m:r>
                        <a:rPr lang="en-GB" b="0" i="1" smtClean="0">
                          <a:latin typeface="Cambria Math" panose="02040503050406030204" pitchFamily="18" charset="0"/>
                        </a:rPr>
                        <m:t>𝑥</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3</m:t>
                          </m:r>
                          <m:r>
                            <a:rPr lang="en-GB" b="0" i="1" smtClean="0">
                              <a:latin typeface="Cambria Math" panose="02040503050406030204" pitchFamily="18" charset="0"/>
                            </a:rPr>
                            <m:t>𝑥</m:t>
                          </m:r>
                        </m:den>
                      </m:f>
                    </m:oMath>
                  </m:oMathPara>
                </a14:m>
                <a:endParaRPr lang="en-GB" dirty="0"/>
              </a:p>
            </p:txBody>
          </p:sp>
        </mc:Choice>
        <mc:Fallback xmlns="">
          <p:sp>
            <p:nvSpPr>
              <p:cNvPr id="24" name="TextBox 23"/>
              <p:cNvSpPr txBox="1">
                <a:spLocks noRot="1" noChangeAspect="1" noMove="1" noResize="1" noEditPoints="1" noAdjustHandles="1" noChangeArrowheads="1" noChangeShapeType="1" noTextEdit="1"/>
              </p:cNvSpPr>
              <p:nvPr/>
            </p:nvSpPr>
            <p:spPr>
              <a:xfrm>
                <a:off x="4595881" y="5451152"/>
                <a:ext cx="1937266" cy="1168525"/>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6347411" y="5709375"/>
                <a:ext cx="2700336" cy="100117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Tip</a:t>
                </a:r>
                <a:r>
                  <a:rPr lang="en-GB" sz="1400" dirty="0"/>
                  <a:t>: While </a:t>
                </a:r>
                <a14:m>
                  <m:oMath xmlns:m="http://schemas.openxmlformats.org/officeDocument/2006/math">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𝑎</m:t>
                        </m:r>
                        <m:r>
                          <a:rPr lang="en-GB" sz="1400" b="0" i="1" smtClean="0">
                            <a:latin typeface="Cambria Math" panose="02040503050406030204" pitchFamily="18" charset="0"/>
                          </a:rPr>
                          <m:t>+</m:t>
                        </m:r>
                        <m:r>
                          <a:rPr lang="en-GB" sz="1400" b="0" i="1" smtClean="0">
                            <a:latin typeface="Cambria Math" panose="02040503050406030204" pitchFamily="18" charset="0"/>
                          </a:rPr>
                          <m:t>𝑏</m:t>
                        </m:r>
                      </m:num>
                      <m:den>
                        <m:r>
                          <a:rPr lang="en-GB" sz="1400" b="0" i="1" smtClean="0">
                            <a:latin typeface="Cambria Math" panose="02040503050406030204" pitchFamily="18" charset="0"/>
                          </a:rPr>
                          <m:t>𝑐</m:t>
                        </m:r>
                      </m:den>
                    </m:f>
                  </m:oMath>
                </a14:m>
                <a:r>
                  <a:rPr lang="en-GB" sz="1400" dirty="0"/>
                  <a:t> can be split into </a:t>
                </a:r>
                <a14:m>
                  <m:oMath xmlns:m="http://schemas.openxmlformats.org/officeDocument/2006/math">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𝑎</m:t>
                        </m:r>
                      </m:num>
                      <m:den>
                        <m:r>
                          <a:rPr lang="en-GB" sz="1400" b="0" i="1" smtClean="0">
                            <a:latin typeface="Cambria Math" panose="02040503050406030204" pitchFamily="18" charset="0"/>
                          </a:rPr>
                          <m:t>𝑐</m:t>
                        </m:r>
                      </m:den>
                    </m:f>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𝑏</m:t>
                        </m:r>
                      </m:num>
                      <m:den>
                        <m:r>
                          <a:rPr lang="en-GB" sz="1400" b="0" i="1" smtClean="0">
                            <a:latin typeface="Cambria Math" panose="02040503050406030204" pitchFamily="18" charset="0"/>
                          </a:rPr>
                          <m:t>𝑐</m:t>
                        </m:r>
                      </m:den>
                    </m:f>
                  </m:oMath>
                </a14:m>
                <a:r>
                  <a:rPr lang="en-GB" sz="1400" dirty="0"/>
                  <a:t>, a common student error is to think that </a:t>
                </a:r>
                <a14:m>
                  <m:oMath xmlns:m="http://schemas.openxmlformats.org/officeDocument/2006/math">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𝑎</m:t>
                        </m:r>
                      </m:num>
                      <m:den>
                        <m:r>
                          <a:rPr lang="en-GB" sz="1400" b="0" i="1" smtClean="0">
                            <a:latin typeface="Cambria Math" panose="02040503050406030204" pitchFamily="18" charset="0"/>
                          </a:rPr>
                          <m:t>𝑏</m:t>
                        </m:r>
                        <m:r>
                          <a:rPr lang="en-GB" sz="1400" b="0" i="1" smtClean="0">
                            <a:latin typeface="Cambria Math" panose="02040503050406030204" pitchFamily="18" charset="0"/>
                          </a:rPr>
                          <m:t>+</m:t>
                        </m:r>
                        <m:r>
                          <a:rPr lang="en-GB" sz="1400" b="0" i="1" smtClean="0">
                            <a:latin typeface="Cambria Math" panose="02040503050406030204" pitchFamily="18" charset="0"/>
                          </a:rPr>
                          <m:t>𝑐</m:t>
                        </m:r>
                      </m:den>
                    </m:f>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𝑎</m:t>
                        </m:r>
                      </m:num>
                      <m:den>
                        <m:r>
                          <a:rPr lang="en-GB" sz="1400" b="0" i="1" smtClean="0">
                            <a:latin typeface="Cambria Math" panose="02040503050406030204" pitchFamily="18" charset="0"/>
                          </a:rPr>
                          <m:t>𝑏</m:t>
                        </m:r>
                      </m:den>
                    </m:f>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𝑎</m:t>
                        </m:r>
                      </m:num>
                      <m:den>
                        <m:r>
                          <a:rPr lang="en-GB" sz="1400" b="0" i="1" smtClean="0">
                            <a:latin typeface="Cambria Math" panose="02040503050406030204" pitchFamily="18" charset="0"/>
                          </a:rPr>
                          <m:t>𝑐</m:t>
                        </m:r>
                      </m:den>
                    </m:f>
                  </m:oMath>
                </a14:m>
                <a:endParaRPr lang="en-GB" dirty="0"/>
              </a:p>
            </p:txBody>
          </p:sp>
        </mc:Choice>
        <mc:Fallback xmlns="">
          <p:sp>
            <p:nvSpPr>
              <p:cNvPr id="25" name="TextBox 24"/>
              <p:cNvSpPr txBox="1">
                <a:spLocks noRot="1" noChangeAspect="1" noMove="1" noResize="1" noEditPoints="1" noAdjustHandles="1" noChangeArrowheads="1" noChangeShapeType="1" noTextEdit="1"/>
              </p:cNvSpPr>
              <p:nvPr/>
            </p:nvSpPr>
            <p:spPr>
              <a:xfrm>
                <a:off x="6347411" y="5709375"/>
                <a:ext cx="2700336" cy="1001172"/>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2767263" y="5841166"/>
                <a:ext cx="1828618" cy="73866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Tip</a:t>
                </a:r>
                <a:r>
                  <a:rPr lang="en-GB" sz="1400" dirty="0"/>
                  <a:t>: A common student error is to get the sign wrong of </a:t>
                </a:r>
                <a14:m>
                  <m:oMath xmlns:m="http://schemas.openxmlformats.org/officeDocument/2006/math">
                    <m:r>
                      <a:rPr lang="en-GB" sz="1400" b="0" i="1" smtClean="0">
                        <a:latin typeface="Cambria Math" panose="02040503050406030204" pitchFamily="18" charset="0"/>
                      </a:rPr>
                      <m:t>+</m:t>
                    </m:r>
                    <m:sSup>
                      <m:sSupPr>
                        <m:ctrlPr>
                          <a:rPr lang="en-GB" sz="1400" b="0" i="1" smtClean="0">
                            <a:latin typeface="Cambria Math" panose="02040503050406030204" pitchFamily="18" charset="0"/>
                          </a:rPr>
                        </m:ctrlPr>
                      </m:sSupPr>
                      <m:e>
                        <m:r>
                          <a:rPr lang="en-GB" sz="1400" b="0" i="1" smtClean="0">
                            <a:latin typeface="Cambria Math" panose="02040503050406030204" pitchFamily="18" charset="0"/>
                          </a:rPr>
                          <m:t>𝑥</m:t>
                        </m:r>
                      </m:e>
                      <m:sup>
                        <m:r>
                          <a:rPr lang="en-GB" sz="1400" b="0" i="1" smtClean="0">
                            <a:latin typeface="Cambria Math" panose="02040503050406030204" pitchFamily="18" charset="0"/>
                          </a:rPr>
                          <m:t>3</m:t>
                        </m:r>
                      </m:sup>
                    </m:sSup>
                  </m:oMath>
                </a14:m>
                <a:endParaRPr lang="en-GB" dirty="0"/>
              </a:p>
            </p:txBody>
          </p:sp>
        </mc:Choice>
        <mc:Fallback xmlns="">
          <p:sp>
            <p:nvSpPr>
              <p:cNvPr id="26" name="TextBox 25"/>
              <p:cNvSpPr txBox="1">
                <a:spLocks noRot="1" noChangeAspect="1" noMove="1" noResize="1" noEditPoints="1" noAdjustHandles="1" noChangeArrowheads="1" noChangeShapeType="1" noTextEdit="1"/>
              </p:cNvSpPr>
              <p:nvPr/>
            </p:nvSpPr>
            <p:spPr>
              <a:xfrm>
                <a:off x="2767263" y="5841166"/>
                <a:ext cx="1828618" cy="738664"/>
              </a:xfrm>
              <a:prstGeom prst="rect">
                <a:avLst/>
              </a:prstGeom>
              <a:blipFill>
                <a:blip r:embed="rId14"/>
                <a:stretch>
                  <a:fillRect b="-8197"/>
                </a:stretch>
              </a:blipFill>
            </p:spPr>
            <p:txBody>
              <a:bodyPr/>
              <a:lstStyle/>
              <a:p>
                <a:r>
                  <a:rPr lang="en-GB">
                    <a:noFill/>
                  </a:rPr>
                  <a:t> </a:t>
                </a:r>
              </a:p>
            </p:txBody>
          </p:sp>
        </mc:Fallback>
      </mc:AlternateContent>
      <p:sp>
        <p:nvSpPr>
          <p:cNvPr id="27" name="Rectangle 26"/>
          <p:cNvSpPr/>
          <p:nvPr/>
        </p:nvSpPr>
        <p:spPr>
          <a:xfrm>
            <a:off x="369657" y="4123701"/>
            <a:ext cx="3632430" cy="53461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28" name="Rectangle 27"/>
          <p:cNvSpPr/>
          <p:nvPr/>
        </p:nvSpPr>
        <p:spPr>
          <a:xfrm>
            <a:off x="4557763" y="4100377"/>
            <a:ext cx="3632430" cy="53461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9" name="Rectangle 28"/>
          <p:cNvSpPr/>
          <p:nvPr/>
        </p:nvSpPr>
        <p:spPr>
          <a:xfrm>
            <a:off x="369656" y="5304724"/>
            <a:ext cx="3632431" cy="127510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30" name="Rectangle 29"/>
          <p:cNvSpPr/>
          <p:nvPr/>
        </p:nvSpPr>
        <p:spPr>
          <a:xfrm>
            <a:off x="4595881" y="5457071"/>
            <a:ext cx="3618765" cy="112275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32" name="TextBox 31"/>
          <p:cNvSpPr txBox="1"/>
          <p:nvPr/>
        </p:nvSpPr>
        <p:spPr>
          <a:xfrm>
            <a:off x="2115344" y="2075644"/>
            <a:ext cx="792088" cy="369332"/>
          </a:xfrm>
          <a:prstGeom prst="rect">
            <a:avLst/>
          </a:prstGeom>
          <a:noFill/>
        </p:spPr>
        <p:txBody>
          <a:bodyPr wrap="square" rtlCol="0">
            <a:spAutoFit/>
          </a:bodyPr>
          <a:lstStyle/>
          <a:p>
            <a:r>
              <a:rPr lang="en-GB" dirty="0"/>
              <a:t>power</a:t>
            </a:r>
          </a:p>
        </p:txBody>
      </p:sp>
      <p:sp>
        <p:nvSpPr>
          <p:cNvPr id="12" name="Left Brace 11"/>
          <p:cNvSpPr/>
          <p:nvPr/>
        </p:nvSpPr>
        <p:spPr>
          <a:xfrm rot="16200000">
            <a:off x="2414300" y="1728497"/>
            <a:ext cx="159375" cy="63559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61783002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7"/>
                                        </p:tgtEl>
                                      </p:cBhvr>
                                    </p:animEffect>
                                    <p:set>
                                      <p:cBhvr>
                                        <p:cTn id="7" dur="1" fill="hold">
                                          <p:stCondLst>
                                            <p:cond delay="499"/>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27"/>
                  </p:tgtEl>
                </p:cond>
              </p:nextCondLst>
            </p:seq>
            <p:seq concurrent="1" nextAc="seek">
              <p:cTn id="8" restart="whenNotActive" fill="hold" evtFilter="cancelBubble" nodeType="interactiveSeq">
                <p:stCondLst>
                  <p:cond evt="onClick" delay="0">
                    <p:tgtEl>
                      <p:spTgt spid="2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8"/>
                                        </p:tgtEl>
                                      </p:cBhvr>
                                    </p:animEffect>
                                    <p:set>
                                      <p:cBhvr>
                                        <p:cTn id="13" dur="1" fill="hold">
                                          <p:stCondLst>
                                            <p:cond delay="4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28"/>
                  </p:tgtEl>
                </p:cond>
              </p:nextCondLst>
            </p:seq>
            <p:seq concurrent="1" nextAc="seek">
              <p:cTn id="14" restart="whenNotActive" fill="hold" evtFilter="cancelBubble" nodeType="interactiveSeq">
                <p:stCondLst>
                  <p:cond evt="onClick" delay="0">
                    <p:tgtEl>
                      <p:spTgt spid="29"/>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9"/>
                                        </p:tgtEl>
                                      </p:cBhvr>
                                    </p:animEffect>
                                    <p:set>
                                      <p:cBhvr>
                                        <p:cTn id="19" dur="1" fill="hold">
                                          <p:stCondLst>
                                            <p:cond delay="499"/>
                                          </p:stCondLst>
                                        </p:cTn>
                                        <p:tgtEl>
                                          <p:spTgt spid="29"/>
                                        </p:tgtEl>
                                        <p:attrNameLst>
                                          <p:attrName>style.visibility</p:attrName>
                                        </p:attrNameLst>
                                      </p:cBhvr>
                                      <p:to>
                                        <p:strVal val="hidden"/>
                                      </p:to>
                                    </p:se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childTnLst>
                          </p:cTn>
                        </p:par>
                      </p:childTnLst>
                    </p:cTn>
                  </p:par>
                </p:childTnLst>
              </p:cTn>
              <p:nextCondLst>
                <p:cond evt="onClick" delay="0">
                  <p:tgtEl>
                    <p:spTgt spid="29"/>
                  </p:tgtEl>
                </p:cond>
              </p:nextCondLst>
            </p:seq>
            <p:seq concurrent="1" nextAc="seek">
              <p:cTn id="24" restart="whenNotActive" fill="hold" evtFilter="cancelBubble" nodeType="interactiveSeq">
                <p:stCondLst>
                  <p:cond evt="onClick" delay="0">
                    <p:tgtEl>
                      <p:spTgt spid="30"/>
                    </p:tgtEl>
                  </p:cond>
                </p:stCondLst>
                <p:endSync evt="end" delay="0">
                  <p:rtn val="all"/>
                </p:endSync>
                <p:childTnLst>
                  <p:par>
                    <p:cTn id="25" fill="hold">
                      <p:stCondLst>
                        <p:cond delay="0"/>
                      </p:stCondLst>
                      <p:childTnLst>
                        <p:par>
                          <p:cTn id="26" fill="hold">
                            <p:stCondLst>
                              <p:cond delay="0"/>
                            </p:stCondLst>
                            <p:childTnLst>
                              <p:par>
                                <p:cTn id="27" presetID="10" presetClass="exit" presetSubtype="0" fill="hold" grpId="0" nodeType="clickEffect">
                                  <p:stCondLst>
                                    <p:cond delay="0"/>
                                  </p:stCondLst>
                                  <p:childTnLst>
                                    <p:animEffect transition="out" filter="fade">
                                      <p:cBhvr>
                                        <p:cTn id="28" dur="500"/>
                                        <p:tgtEl>
                                          <p:spTgt spid="30"/>
                                        </p:tgtEl>
                                      </p:cBhvr>
                                    </p:animEffect>
                                    <p:set>
                                      <p:cBhvr>
                                        <p:cTn id="29" dur="1" fill="hold">
                                          <p:stCondLst>
                                            <p:cond delay="499"/>
                                          </p:stCondLst>
                                        </p:cTn>
                                        <p:tgtEl>
                                          <p:spTgt spid="30"/>
                                        </p:tgtEl>
                                        <p:attrNameLst>
                                          <p:attrName>style.visibility</p:attrName>
                                        </p:attrNameLst>
                                      </p:cBhvr>
                                      <p:to>
                                        <p:strVal val="hidden"/>
                                      </p:to>
                                    </p:se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childTnLst>
                          </p:cTn>
                        </p:par>
                      </p:childTnLst>
                    </p:cTn>
                  </p:par>
                </p:childTnLst>
              </p:cTn>
              <p:nextCondLst>
                <p:cond evt="onClick" delay="0">
                  <p:tgtEl>
                    <p:spTgt spid="30"/>
                  </p:tgtEl>
                </p:cond>
              </p:nextCondLst>
            </p:seq>
          </p:childTnLst>
        </p:cTn>
      </p:par>
    </p:tnLst>
    <p:bldLst>
      <p:bldP spid="25" grpId="0" animBg="1"/>
      <p:bldP spid="26" grpId="0" animBg="1"/>
      <p:bldP spid="27" grpId="0" animBg="1"/>
      <p:bldP spid="28" grpId="0" animBg="1"/>
      <p:bldP spid="29" grpId="0" animBg="1"/>
      <p:bldP spid="30" grpId="0" animBg="1"/>
    </p:bldLst>
  </p:timing>
</p:sld>
</file>

<file path=ppt/c1/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395355" y="876611"/>
                <a:ext cx="3618765" cy="58875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Simplify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5</m:t>
                                    </m:r>
                                  </m:sup>
                                </m:sSup>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2</m:t>
                                    </m:r>
                                  </m:sup>
                                </m:sSup>
                              </m:den>
                            </m:f>
                          </m:e>
                        </m:d>
                      </m:e>
                      <m:sup>
                        <m:r>
                          <a:rPr lang="en-GB" b="0" i="1" smtClean="0">
                            <a:latin typeface="Cambria Math" panose="02040503050406030204" pitchFamily="18" charset="0"/>
                          </a:rPr>
                          <m:t>2</m:t>
                        </m:r>
                      </m:sup>
                    </m:sSup>
                    <m:r>
                      <a:rPr lang="en-GB" b="0" i="1" smtClean="0">
                        <a:latin typeface="Cambria Math" panose="02040503050406030204" pitchFamily="18" charset="0"/>
                      </a:rPr>
                      <m:t>×3</m:t>
                    </m:r>
                    <m:r>
                      <a:rPr lang="en-GB" b="0" i="1" smtClean="0">
                        <a:latin typeface="Cambria Math" panose="02040503050406030204" pitchFamily="18" charset="0"/>
                      </a:rPr>
                      <m:t>𝑎</m:t>
                    </m:r>
                  </m:oMath>
                </a14:m>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395355" y="876611"/>
                <a:ext cx="3618765" cy="588751"/>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611560" y="1556792"/>
                <a:ext cx="2880320" cy="923330"/>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3</m:t>
                                  </m:r>
                                </m:sup>
                              </m:sSup>
                            </m:e>
                          </m:d>
                        </m:e>
                        <m:sup>
                          <m:r>
                            <a:rPr lang="en-GB" b="0" i="1" smtClean="0">
                              <a:latin typeface="Cambria Math" panose="02040503050406030204" pitchFamily="18" charset="0"/>
                            </a:rPr>
                            <m:t>2</m:t>
                          </m:r>
                        </m:sup>
                      </m:sSup>
                      <m:r>
                        <a:rPr lang="en-GB" b="0" i="1" smtClean="0">
                          <a:latin typeface="Cambria Math" panose="02040503050406030204" pitchFamily="18" charset="0"/>
                        </a:rPr>
                        <m:t>×3</m:t>
                      </m:r>
                      <m:r>
                        <a:rPr lang="en-GB" b="0" i="1" smtClean="0">
                          <a:latin typeface="Cambria Math" panose="02040503050406030204" pitchFamily="18" charset="0"/>
                        </a:rPr>
                        <m:t>𝑎</m:t>
                      </m:r>
                    </m:oMath>
                    <m:oMath>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6</m:t>
                          </m:r>
                        </m:sup>
                      </m:sSup>
                      <m:r>
                        <a:rPr lang="en-GB" b="0" i="1" smtClean="0">
                          <a:latin typeface="Cambria Math" panose="02040503050406030204" pitchFamily="18" charset="0"/>
                        </a:rPr>
                        <m:t>×3</m:t>
                      </m:r>
                      <m:r>
                        <a:rPr lang="en-GB" b="0" i="1" smtClean="0">
                          <a:latin typeface="Cambria Math" panose="02040503050406030204" pitchFamily="18" charset="0"/>
                        </a:rPr>
                        <m:t>𝑎</m:t>
                      </m:r>
                    </m:oMath>
                    <m:oMath>
                      <m:r>
                        <a:rPr lang="en-GB" b="0" i="1" smtClean="0">
                          <a:latin typeface="Cambria Math" panose="02040503050406030204" pitchFamily="18" charset="0"/>
                        </a:rPr>
                        <m:t>=12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7</m:t>
                          </m:r>
                        </m:sup>
                      </m:sSup>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611560" y="1556792"/>
                <a:ext cx="2880320" cy="923330"/>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680285" y="2993872"/>
                <a:ext cx="4236984"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Simplify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𝑥</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3</m:t>
                        </m:r>
                      </m:e>
                      <m:sup>
                        <m:r>
                          <a:rPr lang="en-GB" b="0" i="1" smtClean="0">
                            <a:latin typeface="Cambria Math" panose="02040503050406030204" pitchFamily="18" charset="0"/>
                          </a:rPr>
                          <m:t>𝑥</m:t>
                        </m:r>
                      </m:sup>
                    </m:sSup>
                  </m:oMath>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4680285" y="2993872"/>
                <a:ext cx="4236984" cy="369332"/>
              </a:xfrm>
              <a:prstGeom prst="rect">
                <a:avLst/>
              </a:prstGeom>
              <a:blipFill>
                <a:blip r:embed="rId4"/>
                <a:stretch>
                  <a:fillRect b="-3529"/>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041233" y="3471402"/>
                <a:ext cx="2057762"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6</m:t>
                          </m:r>
                        </m:e>
                        <m:sup>
                          <m:r>
                            <a:rPr lang="en-GB" b="0" i="1" smtClean="0">
                              <a:latin typeface="Cambria Math" panose="02040503050406030204" pitchFamily="18" charset="0"/>
                            </a:rPr>
                            <m:t>𝑥</m:t>
                          </m:r>
                        </m:sup>
                      </m:sSup>
                    </m:oMath>
                  </m:oMathPara>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5041233" y="3471402"/>
                <a:ext cx="2057762"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6516216" y="3441516"/>
                <a:ext cx="2401053" cy="52322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Note: </a:t>
                </a:r>
                <a:r>
                  <a:rPr lang="en-GB" sz="1400" dirty="0"/>
                  <a:t>This is using </a:t>
                </a:r>
                <a14:m>
                  <m:oMath xmlns:m="http://schemas.openxmlformats.org/officeDocument/2006/math">
                    <m:sSup>
                      <m:sSupPr>
                        <m:ctrlPr>
                          <a:rPr lang="en-GB" sz="1400" b="0" i="1" smtClean="0">
                            <a:latin typeface="Cambria Math" panose="02040503050406030204" pitchFamily="18" charset="0"/>
                          </a:rPr>
                        </m:ctrlPr>
                      </m:sSupPr>
                      <m:e>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𝑎𝑏</m:t>
                            </m:r>
                          </m:e>
                        </m:d>
                      </m:e>
                      <m:sup>
                        <m:r>
                          <a:rPr lang="en-GB" sz="1400" b="0" i="1" smtClean="0">
                            <a:latin typeface="Cambria Math" panose="02040503050406030204" pitchFamily="18" charset="0"/>
                          </a:rPr>
                          <m:t>𝑛</m:t>
                        </m:r>
                      </m:sup>
                    </m:sSup>
                    <m:r>
                      <a:rPr lang="en-GB" sz="1400" b="0" i="1" smtClean="0">
                        <a:latin typeface="Cambria Math" panose="02040503050406030204" pitchFamily="18" charset="0"/>
                      </a:rPr>
                      <m:t>=</m:t>
                    </m:r>
                    <m:sSup>
                      <m:sSupPr>
                        <m:ctrlPr>
                          <a:rPr lang="en-GB" sz="1400" b="0" i="1" smtClean="0">
                            <a:latin typeface="Cambria Math" panose="02040503050406030204" pitchFamily="18" charset="0"/>
                          </a:rPr>
                        </m:ctrlPr>
                      </m:sSupPr>
                      <m:e>
                        <m:r>
                          <a:rPr lang="en-GB" sz="1400" b="0" i="1" smtClean="0">
                            <a:latin typeface="Cambria Math" panose="02040503050406030204" pitchFamily="18" charset="0"/>
                          </a:rPr>
                          <m:t>𝑎</m:t>
                        </m:r>
                      </m:e>
                      <m:sup>
                        <m:r>
                          <a:rPr lang="en-GB" sz="1400" b="0" i="1" smtClean="0">
                            <a:latin typeface="Cambria Math" panose="02040503050406030204" pitchFamily="18" charset="0"/>
                          </a:rPr>
                          <m:t>𝑛</m:t>
                        </m:r>
                      </m:sup>
                    </m:sSup>
                    <m:sSup>
                      <m:sSupPr>
                        <m:ctrlPr>
                          <a:rPr lang="en-GB" sz="1400" b="0" i="1" smtClean="0">
                            <a:latin typeface="Cambria Math" panose="02040503050406030204" pitchFamily="18" charset="0"/>
                          </a:rPr>
                        </m:ctrlPr>
                      </m:sSupPr>
                      <m:e>
                        <m:r>
                          <a:rPr lang="en-GB" sz="1400" b="0" i="1" smtClean="0">
                            <a:latin typeface="Cambria Math" panose="02040503050406030204" pitchFamily="18" charset="0"/>
                          </a:rPr>
                          <m:t>𝑏</m:t>
                        </m:r>
                      </m:e>
                      <m:sup>
                        <m:r>
                          <a:rPr lang="en-GB" sz="1400" b="0" i="1" smtClean="0">
                            <a:latin typeface="Cambria Math" panose="02040503050406030204" pitchFamily="18" charset="0"/>
                          </a:rPr>
                          <m:t>𝑛</m:t>
                        </m:r>
                      </m:sup>
                    </m:sSup>
                  </m:oMath>
                </a14:m>
                <a:r>
                  <a:rPr lang="en-GB" sz="1400" dirty="0"/>
                  <a:t> law backwards.</a:t>
                </a:r>
              </a:p>
            </p:txBody>
          </p:sp>
        </mc:Choice>
        <mc:Fallback xmlns="">
          <p:sp>
            <p:nvSpPr>
              <p:cNvPr id="9" name="TextBox 8"/>
              <p:cNvSpPr txBox="1">
                <a:spLocks noRot="1" noChangeAspect="1" noMove="1" noResize="1" noEditPoints="1" noAdjustHandles="1" noChangeArrowheads="1" noChangeShapeType="1" noTextEdit="1"/>
              </p:cNvSpPr>
              <p:nvPr/>
            </p:nvSpPr>
            <p:spPr>
              <a:xfrm>
                <a:off x="6516216" y="3441516"/>
                <a:ext cx="2401053" cy="523220"/>
              </a:xfrm>
              <a:prstGeom prst="rect">
                <a:avLst/>
              </a:prstGeom>
              <a:blipFill>
                <a:blip r:embed="rId6"/>
                <a:stretch>
                  <a:fillRect l="-521" b="-1162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4754470" y="892495"/>
                <a:ext cx="3618765" cy="52719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Simplify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5</m:t>
                            </m:r>
                          </m:sup>
                        </m:sSup>
                      </m:num>
                      <m:den>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den>
                    </m:f>
                  </m:oMath>
                </a14:m>
                <a:endParaRPr lang="en-GB" dirty="0"/>
              </a:p>
            </p:txBody>
          </p:sp>
        </mc:Choice>
        <mc:Fallback xmlns="">
          <p:sp>
            <p:nvSpPr>
              <p:cNvPr id="10" name="TextBox 9"/>
              <p:cNvSpPr txBox="1">
                <a:spLocks noRot="1" noChangeAspect="1" noMove="1" noResize="1" noEditPoints="1" noAdjustHandles="1" noChangeArrowheads="1" noChangeShapeType="1" noTextEdit="1"/>
              </p:cNvSpPr>
              <p:nvPr/>
            </p:nvSpPr>
            <p:spPr>
              <a:xfrm>
                <a:off x="4754470" y="892495"/>
                <a:ext cx="3618765" cy="527196"/>
              </a:xfrm>
              <a:prstGeom prst="rect">
                <a:avLst/>
              </a:prstGeom>
              <a:blipFill>
                <a:blip r:embed="rId7"/>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4970675" y="1572676"/>
                <a:ext cx="2880320" cy="1042786"/>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4</m:t>
                          </m:r>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oMath>
                  </m:oMathPara>
                </a14:m>
                <a:br>
                  <a:rPr lang="en-GB" b="0" dirty="0"/>
                </a:br>
                <a:endParaRPr lang="en-GB" b="0" dirty="0"/>
              </a:p>
              <a:p>
                <a:r>
                  <a:rPr lang="en-GB" dirty="0"/>
                  <a:t>or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num>
                      <m:den>
                        <m:r>
                          <a:rPr lang="en-GB" b="0" i="1" smtClean="0">
                            <a:latin typeface="Cambria Math" panose="02040503050406030204" pitchFamily="18" charset="0"/>
                          </a:rPr>
                          <m:t>4</m:t>
                        </m:r>
                      </m:den>
                    </m:f>
                  </m:oMath>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4970675" y="1572676"/>
                <a:ext cx="2880320" cy="1042786"/>
              </a:xfrm>
              <a:prstGeom prst="rect">
                <a:avLst/>
              </a:prstGeom>
              <a:blipFill>
                <a:blip r:embed="rId8"/>
                <a:stretch>
                  <a:fillRect l="-1691" b="-292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386046" y="2996952"/>
                <a:ext cx="3618765"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Expand and simplify</a:t>
                </a:r>
              </a:p>
              <a:p>
                <a:pPr/>
                <a14:m>
                  <m:oMathPara xmlns:m="http://schemas.openxmlformats.org/officeDocument/2006/math">
                    <m:oMath>
                      <m:r>
                        <a:rPr lang="en-GB" b="0" i="1" smtClean="0">
                          <a:latin typeface="Cambria Math" panose="02040503050406030204" pitchFamily="18" charset="0"/>
                        </a:rPr>
                        <m:t>2</m:t>
                      </m:r>
                      <m:r>
                        <a:rPr lang="en-GB" b="0" i="1" smtClean="0">
                          <a:latin typeface="Cambria Math" panose="02040503050406030204" pitchFamily="18" charset="0"/>
                        </a:rPr>
                        <m:t>𝑥</m:t>
                      </m:r>
                      <m:d>
                        <m:dPr>
                          <m:ctrlPr>
                            <a:rPr lang="en-GB" b="0" i="1" smtClean="0">
                              <a:latin typeface="Cambria Math" panose="02040503050406030204" pitchFamily="18" charset="0"/>
                            </a:rPr>
                          </m:ctrlPr>
                        </m:dPr>
                        <m:e>
                          <m:r>
                            <a:rPr lang="en-GB" b="0" i="1" smtClean="0">
                              <a:latin typeface="Cambria Math" panose="02040503050406030204" pitchFamily="18" charset="0"/>
                            </a:rPr>
                            <m:t>3−</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e>
                      </m:d>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3−</m:t>
                          </m:r>
                          <m:r>
                            <a:rPr lang="en-GB" b="0" i="1" smtClean="0">
                              <a:latin typeface="Cambria Math" panose="02040503050406030204" pitchFamily="18" charset="0"/>
                            </a:rPr>
                            <m:t>𝑥</m:t>
                          </m:r>
                        </m:e>
                      </m:d>
                    </m:oMath>
                  </m:oMathPara>
                </a14:m>
                <a:endParaRPr lang="en-GB" dirty="0"/>
              </a:p>
            </p:txBody>
          </p:sp>
        </mc:Choice>
        <mc:Fallback xmlns="">
          <p:sp>
            <p:nvSpPr>
              <p:cNvPr id="12" name="TextBox 11"/>
              <p:cNvSpPr txBox="1">
                <a:spLocks noRot="1" noChangeAspect="1" noMove="1" noResize="1" noEditPoints="1" noAdjustHandles="1" noChangeArrowheads="1" noChangeShapeType="1" noTextEdit="1"/>
              </p:cNvSpPr>
              <p:nvPr/>
            </p:nvSpPr>
            <p:spPr>
              <a:xfrm>
                <a:off x="386046" y="2996952"/>
                <a:ext cx="3618765" cy="646331"/>
              </a:xfrm>
              <a:prstGeom prst="rect">
                <a:avLst/>
              </a:prstGeom>
              <a:blipFill>
                <a:blip r:embed="rId9"/>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602251" y="3677133"/>
                <a:ext cx="2880320" cy="646331"/>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=6</m:t>
                      </m:r>
                      <m:r>
                        <a:rPr lang="en-GB" b="0" i="1" smtClean="0">
                          <a:latin typeface="Cambria Math" panose="02040503050406030204" pitchFamily="18" charset="0"/>
                        </a:rPr>
                        <m:t>𝑥</m:t>
                      </m:r>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−12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4</m:t>
                          </m:r>
                        </m:sup>
                      </m:sSup>
                    </m:oMath>
                    <m:oMath>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4</m:t>
                          </m:r>
                        </m:sup>
                      </m:sSup>
                      <m:r>
                        <a:rPr lang="en-GB" b="0" i="1" smtClean="0">
                          <a:latin typeface="Cambria Math" panose="02040503050406030204" pitchFamily="18" charset="0"/>
                        </a:rPr>
                        <m:t>−14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+6</m:t>
                      </m:r>
                      <m:r>
                        <a:rPr lang="en-GB" b="0" i="1" smtClean="0">
                          <a:latin typeface="Cambria Math" panose="02040503050406030204" pitchFamily="18" charset="0"/>
                        </a:rPr>
                        <m:t>𝑥</m:t>
                      </m:r>
                    </m:oMath>
                  </m:oMathPara>
                </a14:m>
                <a:endParaRPr lang="en-GB" dirty="0"/>
              </a:p>
            </p:txBody>
          </p:sp>
        </mc:Choice>
        <mc:Fallback xmlns="">
          <p:sp>
            <p:nvSpPr>
              <p:cNvPr id="13" name="TextBox 12"/>
              <p:cNvSpPr txBox="1">
                <a:spLocks noRot="1" noChangeAspect="1" noMove="1" noResize="1" noEditPoints="1" noAdjustHandles="1" noChangeArrowheads="1" noChangeShapeType="1" noTextEdit="1"/>
              </p:cNvSpPr>
              <p:nvPr/>
            </p:nvSpPr>
            <p:spPr>
              <a:xfrm>
                <a:off x="602251" y="3677133"/>
                <a:ext cx="2880320" cy="646331"/>
              </a:xfrm>
              <a:prstGeom prst="rect">
                <a:avLst/>
              </a:prstGeom>
              <a:blipFill>
                <a:blip r:embed="rId10"/>
                <a:stretch>
                  <a:fillRect/>
                </a:stretch>
              </a:blipFill>
            </p:spPr>
            <p:txBody>
              <a:bodyPr/>
              <a:lstStyle/>
              <a:p>
                <a:r>
                  <a:rPr lang="en-GB">
                    <a:noFill/>
                  </a:rPr>
                  <a:t> </a:t>
                </a:r>
              </a:p>
            </p:txBody>
          </p:sp>
        </mc:Fallback>
      </mc:AlternateContent>
      <p:sp>
        <p:nvSpPr>
          <p:cNvPr id="14" name="Rectangle 13"/>
          <p:cNvSpPr/>
          <p:nvPr/>
        </p:nvSpPr>
        <p:spPr>
          <a:xfrm>
            <a:off x="381688" y="1464723"/>
            <a:ext cx="3632430" cy="95362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5" name="Rectangle 14"/>
          <p:cNvSpPr/>
          <p:nvPr/>
        </p:nvSpPr>
        <p:spPr>
          <a:xfrm>
            <a:off x="4740805" y="1429510"/>
            <a:ext cx="3632430" cy="118595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6" name="Rectangle 15"/>
          <p:cNvSpPr/>
          <p:nvPr/>
        </p:nvSpPr>
        <p:spPr>
          <a:xfrm>
            <a:off x="363598" y="3643283"/>
            <a:ext cx="3641213" cy="96481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7" name="Rectangle 16"/>
          <p:cNvSpPr/>
          <p:nvPr/>
        </p:nvSpPr>
        <p:spPr>
          <a:xfrm>
            <a:off x="4669060" y="3358973"/>
            <a:ext cx="4248209" cy="96481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8" name="Rectangle 17"/>
          <p:cNvSpPr/>
          <p:nvPr/>
        </p:nvSpPr>
        <p:spPr>
          <a:xfrm>
            <a:off x="107504" y="876611"/>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19" name="Rectangle 18"/>
          <p:cNvSpPr/>
          <p:nvPr/>
        </p:nvSpPr>
        <p:spPr>
          <a:xfrm>
            <a:off x="4483007" y="876611"/>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p:sp>
        <p:nvSpPr>
          <p:cNvPr id="20" name="Rectangle 19"/>
          <p:cNvSpPr/>
          <p:nvPr/>
        </p:nvSpPr>
        <p:spPr>
          <a:xfrm>
            <a:off x="137557" y="3006459"/>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3</a:t>
            </a:r>
          </a:p>
        </p:txBody>
      </p:sp>
      <p:sp>
        <p:nvSpPr>
          <p:cNvPr id="21" name="Rectangle 20"/>
          <p:cNvSpPr/>
          <p:nvPr/>
        </p:nvSpPr>
        <p:spPr>
          <a:xfrm>
            <a:off x="4422487" y="2993872"/>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4</a:t>
            </a:r>
          </a:p>
        </p:txBody>
      </p:sp>
    </p:spTree>
    <p:extLst>
      <p:ext uri="{BB962C8B-B14F-4D97-AF65-F5344CB8AC3E}">
        <p14:creationId xmlns:p14="http://schemas.microsoft.com/office/powerpoint/2010/main" val="167523192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14" restart="whenNotActive" fill="hold" evtFilter="cancelBubble" nodeType="interactiveSeq">
                <p:stCondLst>
                  <p:cond evt="onClick" delay="0">
                    <p:tgtEl>
                      <p:spTgt spid="16"/>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6"/>
                                        </p:tgtEl>
                                      </p:cBhvr>
                                    </p:animEffect>
                                    <p:set>
                                      <p:cBhvr>
                                        <p:cTn id="19"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20" restart="whenNotActive" fill="hold" evtFilter="cancelBubble" nodeType="interactiveSeq">
                <p:stCondLst>
                  <p:cond evt="onClick" delay="0">
                    <p:tgtEl>
                      <p:spTgt spid="17"/>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7"/>
                                        </p:tgtEl>
                                      </p:cBhvr>
                                    </p:animEffect>
                                    <p:set>
                                      <p:cBhvr>
                                        <p:cTn id="25"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4" grpId="0" animBg="1"/>
      <p:bldP spid="15" grpId="0" animBg="1"/>
      <p:bldP spid="16" grpId="0" animBg="1"/>
      <p:bldP spid="17" grpId="0" animBg="1"/>
    </p:bldLst>
  </p:timing>
</p:sld>
</file>

<file path=ppt/c1/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87744"/>
            <a:chOff x="0" y="13335"/>
            <a:chExt cx="9144218" cy="587744"/>
          </a:xfrm>
        </p:grpSpPr>
        <p:sp>
          <p:nvSpPr>
            <p:cNvPr id="3" name="TextBox 32"/>
            <p:cNvSpPr txBox="1"/>
            <p:nvPr/>
          </p:nvSpPr>
          <p:spPr>
            <a:xfrm>
              <a:off x="0" y="13335"/>
              <a:ext cx="9144000" cy="584775"/>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1A – Pearson Pure Y1 page 4</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25CD2091-87DC-A5F0-3C32-80036159C44D}"/>
              </a:ext>
            </a:extLst>
          </p:cNvPr>
          <p:cNvPicPr>
            <a:picLocks noChangeAspect="1"/>
          </p:cNvPicPr>
          <p:nvPr/>
        </p:nvPicPr>
        <p:blipFill>
          <a:blip r:embed="rId2"/>
          <a:stretch>
            <a:fillRect/>
          </a:stretch>
        </p:blipFill>
        <p:spPr>
          <a:xfrm>
            <a:off x="10952" y="611703"/>
            <a:ext cx="3543999" cy="369021"/>
          </a:xfrm>
          <a:prstGeom prst="rect">
            <a:avLst/>
          </a:prstGeom>
        </p:spPr>
      </p:pic>
      <p:pic>
        <p:nvPicPr>
          <p:cNvPr id="7" name="Picture 6">
            <a:extLst>
              <a:ext uri="{FF2B5EF4-FFF2-40B4-BE49-F238E27FC236}">
                <a16:creationId xmlns:a16="http://schemas.microsoft.com/office/drawing/2014/main" id="{C95E6D82-C88B-5DC7-C8CB-B504CFAE585A}"/>
              </a:ext>
            </a:extLst>
          </p:cNvPr>
          <p:cNvPicPr>
            <a:picLocks noChangeAspect="1"/>
          </p:cNvPicPr>
          <p:nvPr/>
        </p:nvPicPr>
        <p:blipFill>
          <a:blip r:embed="rId3"/>
          <a:stretch>
            <a:fillRect/>
          </a:stretch>
        </p:blipFill>
        <p:spPr>
          <a:xfrm>
            <a:off x="467544" y="1052736"/>
            <a:ext cx="7772400" cy="930086"/>
          </a:xfrm>
          <a:prstGeom prst="rect">
            <a:avLst/>
          </a:prstGeom>
        </p:spPr>
      </p:pic>
      <p:pic>
        <p:nvPicPr>
          <p:cNvPr id="9" name="Picture 8">
            <a:extLst>
              <a:ext uri="{FF2B5EF4-FFF2-40B4-BE49-F238E27FC236}">
                <a16:creationId xmlns:a16="http://schemas.microsoft.com/office/drawing/2014/main" id="{F33BC294-E130-6BB9-C00E-57EF511324CF}"/>
              </a:ext>
            </a:extLst>
          </p:cNvPr>
          <p:cNvPicPr>
            <a:picLocks noChangeAspect="1"/>
          </p:cNvPicPr>
          <p:nvPr/>
        </p:nvPicPr>
        <p:blipFill>
          <a:blip r:embed="rId4"/>
          <a:stretch>
            <a:fillRect/>
          </a:stretch>
        </p:blipFill>
        <p:spPr>
          <a:xfrm>
            <a:off x="251520" y="2004698"/>
            <a:ext cx="2664296" cy="386931"/>
          </a:xfrm>
          <a:prstGeom prst="rect">
            <a:avLst/>
          </a:prstGeom>
        </p:spPr>
      </p:pic>
      <p:pic>
        <p:nvPicPr>
          <p:cNvPr id="20" name="Picture 19">
            <a:extLst>
              <a:ext uri="{FF2B5EF4-FFF2-40B4-BE49-F238E27FC236}">
                <a16:creationId xmlns:a16="http://schemas.microsoft.com/office/drawing/2014/main" id="{B3D11572-6DDE-C119-C88B-CEB8A116DD08}"/>
              </a:ext>
            </a:extLst>
          </p:cNvPr>
          <p:cNvPicPr>
            <a:picLocks noChangeAspect="1"/>
          </p:cNvPicPr>
          <p:nvPr/>
        </p:nvPicPr>
        <p:blipFill>
          <a:blip r:embed="rId5"/>
          <a:stretch>
            <a:fillRect/>
          </a:stretch>
        </p:blipFill>
        <p:spPr>
          <a:xfrm>
            <a:off x="2915816" y="2004698"/>
            <a:ext cx="2886682" cy="376992"/>
          </a:xfrm>
          <a:prstGeom prst="rect">
            <a:avLst/>
          </a:prstGeom>
        </p:spPr>
      </p:pic>
      <p:pic>
        <p:nvPicPr>
          <p:cNvPr id="21" name="Picture 20">
            <a:extLst>
              <a:ext uri="{FF2B5EF4-FFF2-40B4-BE49-F238E27FC236}">
                <a16:creationId xmlns:a16="http://schemas.microsoft.com/office/drawing/2014/main" id="{95AD80B4-E4F6-39BD-E3EE-20CE735A1156}"/>
              </a:ext>
            </a:extLst>
          </p:cNvPr>
          <p:cNvPicPr>
            <a:picLocks noChangeAspect="1"/>
          </p:cNvPicPr>
          <p:nvPr/>
        </p:nvPicPr>
        <p:blipFill>
          <a:blip r:embed="rId6"/>
          <a:stretch>
            <a:fillRect/>
          </a:stretch>
        </p:blipFill>
        <p:spPr>
          <a:xfrm>
            <a:off x="5892233" y="1984820"/>
            <a:ext cx="2994394" cy="376992"/>
          </a:xfrm>
          <a:prstGeom prst="rect">
            <a:avLst/>
          </a:prstGeom>
        </p:spPr>
      </p:pic>
      <p:pic>
        <p:nvPicPr>
          <p:cNvPr id="22" name="Picture 21">
            <a:extLst>
              <a:ext uri="{FF2B5EF4-FFF2-40B4-BE49-F238E27FC236}">
                <a16:creationId xmlns:a16="http://schemas.microsoft.com/office/drawing/2014/main" id="{C9C44CBD-2A62-7C43-5356-975D8E59FE13}"/>
              </a:ext>
            </a:extLst>
          </p:cNvPr>
          <p:cNvPicPr>
            <a:picLocks noChangeAspect="1"/>
          </p:cNvPicPr>
          <p:nvPr/>
        </p:nvPicPr>
        <p:blipFill>
          <a:blip r:embed="rId7"/>
          <a:stretch>
            <a:fillRect/>
          </a:stretch>
        </p:blipFill>
        <p:spPr>
          <a:xfrm>
            <a:off x="266125" y="2391629"/>
            <a:ext cx="2553275" cy="789194"/>
          </a:xfrm>
          <a:prstGeom prst="rect">
            <a:avLst/>
          </a:prstGeom>
        </p:spPr>
      </p:pic>
      <p:pic>
        <p:nvPicPr>
          <p:cNvPr id="23" name="Picture 22">
            <a:extLst>
              <a:ext uri="{FF2B5EF4-FFF2-40B4-BE49-F238E27FC236}">
                <a16:creationId xmlns:a16="http://schemas.microsoft.com/office/drawing/2014/main" id="{0FC7250F-CFBB-C4AB-AED9-0D4853E99FFE}"/>
              </a:ext>
            </a:extLst>
          </p:cNvPr>
          <p:cNvPicPr>
            <a:picLocks noChangeAspect="1"/>
          </p:cNvPicPr>
          <p:nvPr/>
        </p:nvPicPr>
        <p:blipFill>
          <a:blip r:embed="rId8"/>
          <a:stretch>
            <a:fillRect/>
          </a:stretch>
        </p:blipFill>
        <p:spPr>
          <a:xfrm>
            <a:off x="2915816" y="2399160"/>
            <a:ext cx="3560636" cy="567638"/>
          </a:xfrm>
          <a:prstGeom prst="rect">
            <a:avLst/>
          </a:prstGeom>
        </p:spPr>
      </p:pic>
      <p:pic>
        <p:nvPicPr>
          <p:cNvPr id="24" name="Picture 23">
            <a:extLst>
              <a:ext uri="{FF2B5EF4-FFF2-40B4-BE49-F238E27FC236}">
                <a16:creationId xmlns:a16="http://schemas.microsoft.com/office/drawing/2014/main" id="{2A23FCCD-5EA8-C37A-6A5D-3B38F69B2728}"/>
              </a:ext>
            </a:extLst>
          </p:cNvPr>
          <p:cNvPicPr>
            <a:picLocks noChangeAspect="1"/>
          </p:cNvPicPr>
          <p:nvPr/>
        </p:nvPicPr>
        <p:blipFill>
          <a:blip r:embed="rId9"/>
          <a:stretch>
            <a:fillRect/>
          </a:stretch>
        </p:blipFill>
        <p:spPr>
          <a:xfrm>
            <a:off x="251520" y="3174563"/>
            <a:ext cx="2886682" cy="460196"/>
          </a:xfrm>
          <a:prstGeom prst="rect">
            <a:avLst/>
          </a:prstGeom>
        </p:spPr>
      </p:pic>
      <p:pic>
        <p:nvPicPr>
          <p:cNvPr id="25" name="Picture 24">
            <a:extLst>
              <a:ext uri="{FF2B5EF4-FFF2-40B4-BE49-F238E27FC236}">
                <a16:creationId xmlns:a16="http://schemas.microsoft.com/office/drawing/2014/main" id="{75660FCB-E1E6-FD3A-EC31-AD62C81CFDE8}"/>
              </a:ext>
            </a:extLst>
          </p:cNvPr>
          <p:cNvPicPr>
            <a:picLocks noChangeAspect="1"/>
          </p:cNvPicPr>
          <p:nvPr/>
        </p:nvPicPr>
        <p:blipFill>
          <a:blip r:embed="rId10"/>
          <a:stretch>
            <a:fillRect/>
          </a:stretch>
        </p:blipFill>
        <p:spPr>
          <a:xfrm>
            <a:off x="3396678" y="3174563"/>
            <a:ext cx="2349500" cy="736600"/>
          </a:xfrm>
          <a:prstGeom prst="rect">
            <a:avLst/>
          </a:prstGeom>
        </p:spPr>
      </p:pic>
      <p:pic>
        <p:nvPicPr>
          <p:cNvPr id="26" name="Picture 25">
            <a:extLst>
              <a:ext uri="{FF2B5EF4-FFF2-40B4-BE49-F238E27FC236}">
                <a16:creationId xmlns:a16="http://schemas.microsoft.com/office/drawing/2014/main" id="{D8620678-3F47-48C2-534F-724C97A6B999}"/>
              </a:ext>
            </a:extLst>
          </p:cNvPr>
          <p:cNvPicPr>
            <a:picLocks noChangeAspect="1"/>
          </p:cNvPicPr>
          <p:nvPr/>
        </p:nvPicPr>
        <p:blipFill>
          <a:blip r:embed="rId11"/>
          <a:stretch>
            <a:fillRect/>
          </a:stretch>
        </p:blipFill>
        <p:spPr>
          <a:xfrm>
            <a:off x="5802498" y="3106062"/>
            <a:ext cx="2565400" cy="774700"/>
          </a:xfrm>
          <a:prstGeom prst="rect">
            <a:avLst/>
          </a:prstGeom>
        </p:spPr>
      </p:pic>
      <p:pic>
        <p:nvPicPr>
          <p:cNvPr id="28" name="Picture 27">
            <a:extLst>
              <a:ext uri="{FF2B5EF4-FFF2-40B4-BE49-F238E27FC236}">
                <a16:creationId xmlns:a16="http://schemas.microsoft.com/office/drawing/2014/main" id="{0ACC2821-B16E-74A6-6096-FD0503C1D2E3}"/>
              </a:ext>
            </a:extLst>
          </p:cNvPr>
          <p:cNvPicPr>
            <a:picLocks noChangeAspect="1"/>
          </p:cNvPicPr>
          <p:nvPr/>
        </p:nvPicPr>
        <p:blipFill rotWithShape="1">
          <a:blip r:embed="rId12"/>
          <a:srcRect b="77791"/>
          <a:stretch/>
        </p:blipFill>
        <p:spPr>
          <a:xfrm>
            <a:off x="203820" y="4028432"/>
            <a:ext cx="5598678" cy="264984"/>
          </a:xfrm>
          <a:prstGeom prst="rect">
            <a:avLst/>
          </a:prstGeom>
        </p:spPr>
      </p:pic>
      <p:pic>
        <p:nvPicPr>
          <p:cNvPr id="31" name="Picture 30">
            <a:extLst>
              <a:ext uri="{FF2B5EF4-FFF2-40B4-BE49-F238E27FC236}">
                <a16:creationId xmlns:a16="http://schemas.microsoft.com/office/drawing/2014/main" id="{FD93AC52-98D3-78EB-BCC3-0E9A9006265D}"/>
              </a:ext>
            </a:extLst>
          </p:cNvPr>
          <p:cNvPicPr>
            <a:picLocks noChangeAspect="1"/>
          </p:cNvPicPr>
          <p:nvPr/>
        </p:nvPicPr>
        <p:blipFill rotWithShape="1">
          <a:blip r:embed="rId12"/>
          <a:srcRect t="61104"/>
          <a:stretch/>
        </p:blipFill>
        <p:spPr>
          <a:xfrm>
            <a:off x="199763" y="4335280"/>
            <a:ext cx="7309282" cy="605888"/>
          </a:xfrm>
          <a:prstGeom prst="rect">
            <a:avLst/>
          </a:prstGeom>
        </p:spPr>
      </p:pic>
      <p:pic>
        <p:nvPicPr>
          <p:cNvPr id="32" name="Picture 31">
            <a:extLst>
              <a:ext uri="{FF2B5EF4-FFF2-40B4-BE49-F238E27FC236}">
                <a16:creationId xmlns:a16="http://schemas.microsoft.com/office/drawing/2014/main" id="{CFD555B5-0408-9C41-DF50-E488E59946A9}"/>
              </a:ext>
            </a:extLst>
          </p:cNvPr>
          <p:cNvPicPr>
            <a:picLocks noChangeAspect="1"/>
          </p:cNvPicPr>
          <p:nvPr/>
        </p:nvPicPr>
        <p:blipFill>
          <a:blip r:embed="rId13"/>
          <a:stretch>
            <a:fillRect/>
          </a:stretch>
        </p:blipFill>
        <p:spPr>
          <a:xfrm>
            <a:off x="355312" y="5000713"/>
            <a:ext cx="2374900" cy="1701800"/>
          </a:xfrm>
          <a:prstGeom prst="rect">
            <a:avLst/>
          </a:prstGeom>
        </p:spPr>
      </p:pic>
      <p:pic>
        <p:nvPicPr>
          <p:cNvPr id="33" name="Picture 32">
            <a:extLst>
              <a:ext uri="{FF2B5EF4-FFF2-40B4-BE49-F238E27FC236}">
                <a16:creationId xmlns:a16="http://schemas.microsoft.com/office/drawing/2014/main" id="{74CE4426-BFDF-218F-A99B-006DBD08483E}"/>
              </a:ext>
            </a:extLst>
          </p:cNvPr>
          <p:cNvPicPr>
            <a:picLocks noChangeAspect="1"/>
          </p:cNvPicPr>
          <p:nvPr/>
        </p:nvPicPr>
        <p:blipFill>
          <a:blip r:embed="rId14"/>
          <a:stretch>
            <a:fillRect/>
          </a:stretch>
        </p:blipFill>
        <p:spPr>
          <a:xfrm>
            <a:off x="3082234" y="5032312"/>
            <a:ext cx="2374900" cy="1701800"/>
          </a:xfrm>
          <a:prstGeom prst="rect">
            <a:avLst/>
          </a:prstGeom>
        </p:spPr>
      </p:pic>
      <p:pic>
        <p:nvPicPr>
          <p:cNvPr id="34" name="Picture 33">
            <a:extLst>
              <a:ext uri="{FF2B5EF4-FFF2-40B4-BE49-F238E27FC236}">
                <a16:creationId xmlns:a16="http://schemas.microsoft.com/office/drawing/2014/main" id="{82830267-4A65-B892-7690-8DE11B7F7A23}"/>
              </a:ext>
            </a:extLst>
          </p:cNvPr>
          <p:cNvPicPr>
            <a:picLocks noChangeAspect="1"/>
          </p:cNvPicPr>
          <p:nvPr/>
        </p:nvPicPr>
        <p:blipFill>
          <a:blip r:embed="rId15"/>
          <a:stretch>
            <a:fillRect/>
          </a:stretch>
        </p:blipFill>
        <p:spPr>
          <a:xfrm>
            <a:off x="6201980" y="5004068"/>
            <a:ext cx="2374900" cy="1701800"/>
          </a:xfrm>
          <a:prstGeom prst="rect">
            <a:avLst/>
          </a:prstGeom>
        </p:spPr>
      </p:pic>
      <p:sp>
        <p:nvSpPr>
          <p:cNvPr id="35" name="Rectangle 34">
            <a:extLst>
              <a:ext uri="{FF2B5EF4-FFF2-40B4-BE49-F238E27FC236}">
                <a16:creationId xmlns:a16="http://schemas.microsoft.com/office/drawing/2014/main" id="{1B80B73F-15FC-04D2-CF3C-752F1C89F0D6}"/>
              </a:ext>
            </a:extLst>
          </p:cNvPr>
          <p:cNvSpPr/>
          <p:nvPr/>
        </p:nvSpPr>
        <p:spPr>
          <a:xfrm>
            <a:off x="251520" y="2031269"/>
            <a:ext cx="8724842" cy="190178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36" name="Rectangle 35">
            <a:extLst>
              <a:ext uri="{FF2B5EF4-FFF2-40B4-BE49-F238E27FC236}">
                <a16:creationId xmlns:a16="http://schemas.microsoft.com/office/drawing/2014/main" id="{D8EF847D-FD9C-27E2-E979-F6AE6F41E973}"/>
              </a:ext>
            </a:extLst>
          </p:cNvPr>
          <p:cNvSpPr/>
          <p:nvPr/>
        </p:nvSpPr>
        <p:spPr>
          <a:xfrm>
            <a:off x="192258" y="5023992"/>
            <a:ext cx="8724842" cy="167852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Tree>
    <p:extLst>
      <p:ext uri="{BB962C8B-B14F-4D97-AF65-F5344CB8AC3E}">
        <p14:creationId xmlns:p14="http://schemas.microsoft.com/office/powerpoint/2010/main" val="373361462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5"/>
                                        </p:tgtEl>
                                      </p:cBhvr>
                                    </p:animEffect>
                                    <p:set>
                                      <p:cBhvr>
                                        <p:cTn id="7" dur="1" fill="hold">
                                          <p:stCondLst>
                                            <p:cond delay="499"/>
                                          </p:stCondLst>
                                        </p:cTn>
                                        <p:tgtEl>
                                          <p:spTgt spid="35"/>
                                        </p:tgtEl>
                                        <p:attrNameLst>
                                          <p:attrName>style.visibility</p:attrName>
                                        </p:attrNameLst>
                                      </p:cBhvr>
                                      <p:to>
                                        <p:strVal val="hidden"/>
                                      </p:to>
                                    </p:set>
                                  </p:childTnLst>
                                </p:cTn>
                              </p:par>
                            </p:childTnLst>
                          </p:cTn>
                        </p:par>
                      </p:childTnLst>
                    </p:cTn>
                  </p:par>
                </p:childTnLst>
              </p:cTn>
              <p:nextCondLst>
                <p:cond evt="onClick" delay="0">
                  <p:tgtEl>
                    <p:spTgt spid="35"/>
                  </p:tgtEl>
                </p:cond>
              </p:nextCondLst>
            </p:seq>
            <p:seq concurrent="1" nextAc="seek">
              <p:cTn id="8" restart="whenNotActive" fill="hold" evtFilter="cancelBubble" nodeType="interactiveSeq">
                <p:stCondLst>
                  <p:cond evt="onClick" delay="0">
                    <p:tgtEl>
                      <p:spTgt spid="36"/>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6"/>
                                        </p:tgtEl>
                                      </p:cBhvr>
                                    </p:animEffect>
                                    <p:set>
                                      <p:cBhvr>
                                        <p:cTn id="13" dur="1" fill="hold">
                                          <p:stCondLst>
                                            <p:cond delay="499"/>
                                          </p:stCondLst>
                                        </p:cTn>
                                        <p:tgtEl>
                                          <p:spTgt spid="36"/>
                                        </p:tgtEl>
                                        <p:attrNameLst>
                                          <p:attrName>style.visibility</p:attrName>
                                        </p:attrNameLst>
                                      </p:cBhvr>
                                      <p:to>
                                        <p:strVal val="hidden"/>
                                      </p:to>
                                    </p:set>
                                  </p:childTnLst>
                                </p:cTn>
                              </p:par>
                            </p:childTnLst>
                          </p:cTn>
                        </p:par>
                      </p:childTnLst>
                    </p:cTn>
                  </p:par>
                </p:childTnLst>
              </p:cTn>
              <p:nextCondLst>
                <p:cond evt="onClick" delay="0">
                  <p:tgtEl>
                    <p:spTgt spid="36"/>
                  </p:tgtEl>
                </p:cond>
              </p:nextCondLst>
            </p:seq>
          </p:childTnLst>
        </p:cTn>
      </p:par>
    </p:tnLst>
    <p:bldLst>
      <p:bldP spid="35" grpId="0" animBg="1"/>
      <p:bldP spid="36" grpId="0" animBg="1"/>
    </p:bldLst>
  </p:timing>
</p:sld>
</file>

<file path=ppt/c1/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87744"/>
            <a:chOff x="0" y="13335"/>
            <a:chExt cx="9144218" cy="587744"/>
          </a:xfrm>
        </p:grpSpPr>
        <p:sp>
          <p:nvSpPr>
            <p:cNvPr id="3" name="TextBox 32"/>
            <p:cNvSpPr txBox="1"/>
            <p:nvPr/>
          </p:nvSpPr>
          <p:spPr>
            <a:xfrm>
              <a:off x="0" y="13335"/>
              <a:ext cx="9144000" cy="584775"/>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1A – Pearson Pure Y1 page 4</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6" name="Straight Connector 5"/>
          <p:cNvCxnSpPr/>
          <p:nvPr/>
        </p:nvCxnSpPr>
        <p:spPr>
          <a:xfrm>
            <a:off x="-1144" y="1186871"/>
            <a:ext cx="9144000" cy="0"/>
          </a:xfrm>
          <a:prstGeom prst="line">
            <a:avLst/>
          </a:prstGeom>
        </p:spPr>
        <p:style>
          <a:lnRef idx="1">
            <a:schemeClr val="dk1"/>
          </a:lnRef>
          <a:fillRef idx="0">
            <a:schemeClr val="dk1"/>
          </a:fillRef>
          <a:effectRef idx="0">
            <a:schemeClr val="dk1"/>
          </a:effectRef>
          <a:fontRef idx="minor">
            <a:schemeClr val="tx1"/>
          </a:fontRef>
        </p:style>
      </p:cxnSp>
      <p:pic>
        <p:nvPicPr>
          <p:cNvPr id="10" name="Picture 9"/>
          <p:cNvPicPr/>
          <p:nvPr/>
        </p:nvPicPr>
        <p:blipFill>
          <a:blip r:embed="rId2">
            <a:extLst>
              <a:ext uri="{28A0092B-C50C-407E-A947-70E740481C1C}">
                <a14:useLocalDpi xmlns:a14="http://schemas.microsoft.com/office/drawing/2010/main" val="0"/>
              </a:ext>
            </a:extLst>
          </a:blip>
          <a:srcRect/>
          <a:stretch>
            <a:fillRect/>
          </a:stretch>
        </p:blipFill>
        <p:spPr bwMode="auto">
          <a:xfrm>
            <a:off x="430486" y="1958671"/>
            <a:ext cx="5071543" cy="2900608"/>
          </a:xfrm>
          <a:prstGeom prst="rect">
            <a:avLst/>
          </a:prstGeom>
          <a:noFill/>
          <a:ln>
            <a:noFill/>
          </a:ln>
        </p:spPr>
      </p:pic>
      <mc:AlternateContent xmlns:mc="http://schemas.openxmlformats.org/markup-compatibility/2006" xmlns:a14="http://schemas.microsoft.com/office/drawing/2010/main">
        <mc:Choice Requires="a14">
          <p:sp>
            <p:nvSpPr>
              <p:cNvPr id="11" name="TextBox 10"/>
              <p:cNvSpPr txBox="1"/>
              <p:nvPr/>
            </p:nvSpPr>
            <p:spPr>
              <a:xfrm>
                <a:off x="490099" y="5134917"/>
                <a:ext cx="2047419" cy="532903"/>
              </a:xfrm>
              <a:prstGeom prst="rect">
                <a:avLst/>
              </a:prstGeom>
              <a:noFill/>
            </p:spPr>
            <p:txBody>
              <a:bodyPr wrap="square" rtlCol="0">
                <a:spAutoFit/>
              </a:bodyPr>
              <a:lstStyle/>
              <a:p>
                <a:r>
                  <a:rPr lang="en-GB" b="1" dirty="0"/>
                  <a:t>Solution: </a:t>
                </a:r>
                <a14:m>
                  <m:oMath xmlns:m="http://schemas.openxmlformats.org/officeDocument/2006/math">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d>
                          <m:dPr>
                            <m:ctrlPr>
                              <a:rPr lang="en-GB" b="1" i="1" smtClean="0">
                                <a:latin typeface="Cambria Math" panose="02040503050406030204" pitchFamily="18" charset="0"/>
                              </a:rPr>
                            </m:ctrlPr>
                          </m:dPr>
                          <m:e>
                            <m:sSup>
                              <m:sSupPr>
                                <m:ctrlPr>
                                  <a:rPr lang="en-GB" b="1" i="1" smtClean="0">
                                    <a:latin typeface="Cambria Math" panose="02040503050406030204" pitchFamily="18" charset="0"/>
                                  </a:rPr>
                                </m:ctrlPr>
                              </m:sSupPr>
                              <m:e>
                                <m:r>
                                  <a:rPr lang="en-GB" b="1" i="1" smtClean="0">
                                    <a:latin typeface="Cambria Math" panose="02040503050406030204" pitchFamily="18" charset="0"/>
                                  </a:rPr>
                                  <m:t>𝟑</m:t>
                                </m:r>
                              </m:e>
                              <m:sup>
                                <m:d>
                                  <m:dPr>
                                    <m:ctrlPr>
                                      <a:rPr lang="en-GB" b="1" i="1" smtClean="0">
                                        <a:latin typeface="Cambria Math" panose="02040503050406030204" pitchFamily="18" charset="0"/>
                                      </a:rPr>
                                    </m:ctrlPr>
                                  </m:dPr>
                                  <m:e>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𝟑</m:t>
                                        </m:r>
                                      </m:sup>
                                    </m:sSup>
                                  </m:e>
                                </m:d>
                              </m:sup>
                            </m:sSup>
                          </m:e>
                        </m:d>
                      </m:sup>
                    </m:sSup>
                  </m:oMath>
                </a14:m>
                <a:endParaRPr lang="en-GB" b="1" dirty="0"/>
              </a:p>
            </p:txBody>
          </p:sp>
        </mc:Choice>
        <mc:Fallback xmlns="">
          <p:sp>
            <p:nvSpPr>
              <p:cNvPr id="11" name="TextBox 10"/>
              <p:cNvSpPr txBox="1">
                <a:spLocks noRot="1" noChangeAspect="1" noMove="1" noResize="1" noEditPoints="1" noAdjustHandles="1" noChangeArrowheads="1" noChangeShapeType="1" noTextEdit="1"/>
              </p:cNvSpPr>
              <p:nvPr/>
            </p:nvSpPr>
            <p:spPr>
              <a:xfrm>
                <a:off x="490099" y="5134917"/>
                <a:ext cx="2047419" cy="532903"/>
              </a:xfrm>
              <a:prstGeom prst="rect">
                <a:avLst/>
              </a:prstGeom>
              <a:blipFill>
                <a:blip r:embed="rId3"/>
                <a:stretch>
                  <a:fillRect l="-2469" b="-18605"/>
                </a:stretch>
              </a:blipFill>
            </p:spPr>
            <p:txBody>
              <a:bodyPr/>
              <a:lstStyle/>
              <a:p>
                <a:r>
                  <a:rPr lang="en-GB">
                    <a:noFill/>
                  </a:rPr>
                  <a:t> </a:t>
                </a:r>
              </a:p>
            </p:txBody>
          </p:sp>
        </mc:Fallback>
      </mc:AlternateContent>
      <p:pic>
        <p:nvPicPr>
          <p:cNvPr id="12" name="Picture 11"/>
          <p:cNvPicPr/>
          <p:nvPr/>
        </p:nvPicPr>
        <p:blipFill>
          <a:blip r:embed="rId4">
            <a:extLst>
              <a:ext uri="{28A0092B-C50C-407E-A947-70E740481C1C}">
                <a14:useLocalDpi xmlns:a14="http://schemas.microsoft.com/office/drawing/2010/main" val="0"/>
              </a:ext>
            </a:extLst>
          </a:blip>
          <a:srcRect/>
          <a:stretch>
            <a:fillRect/>
          </a:stretch>
        </p:blipFill>
        <p:spPr bwMode="auto">
          <a:xfrm>
            <a:off x="4354832" y="1981827"/>
            <a:ext cx="4723765" cy="2220595"/>
          </a:xfrm>
          <a:prstGeom prst="rect">
            <a:avLst/>
          </a:prstGeom>
          <a:noFill/>
          <a:ln>
            <a:noFill/>
          </a:ln>
        </p:spPr>
      </p:pic>
      <p:sp>
        <p:nvSpPr>
          <p:cNvPr id="13" name="Rectangle 12"/>
          <p:cNvSpPr/>
          <p:nvPr/>
        </p:nvSpPr>
        <p:spPr>
          <a:xfrm>
            <a:off x="123419" y="2011697"/>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14" name="Rectangle 13"/>
          <p:cNvSpPr/>
          <p:nvPr/>
        </p:nvSpPr>
        <p:spPr>
          <a:xfrm>
            <a:off x="4046622" y="2011697"/>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mc:AlternateContent xmlns:mc="http://schemas.openxmlformats.org/markup-compatibility/2006" xmlns:a14="http://schemas.microsoft.com/office/drawing/2010/main">
        <mc:Choice Requires="a14">
          <p:sp>
            <p:nvSpPr>
              <p:cNvPr id="15" name="TextBox 14"/>
              <p:cNvSpPr txBox="1"/>
              <p:nvPr/>
            </p:nvSpPr>
            <p:spPr>
              <a:xfrm>
                <a:off x="5028509" y="4246939"/>
                <a:ext cx="2592198" cy="1764201"/>
              </a:xfrm>
              <a:prstGeom prst="rect">
                <a:avLst/>
              </a:prstGeom>
              <a:noFill/>
            </p:spPr>
            <p:txBody>
              <a:bodyPr wrap="square" rtlCol="0">
                <a:spAutoFit/>
              </a:bodyPr>
              <a:lstStyle/>
              <a:p>
                <a:pPr/>
                <a14:m>
                  <m:oMathPara xmlns:m="http://schemas.openxmlformats.org/officeDocument/2006/math">
                    <m:oMath>
                      <m:r>
                        <a:rPr lang="en-GB" b="1" i="1" smtClean="0">
                          <a:latin typeface="Cambria Math" panose="02040503050406030204" pitchFamily="18" charset="0"/>
                        </a:rPr>
                        <m:t>𝑵</m:t>
                      </m:r>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𝒌</m:t>
                          </m:r>
                        </m:sup>
                      </m:sSup>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𝟐</m:t>
                          </m:r>
                          <m:r>
                            <a:rPr lang="en-GB" b="1" i="1" smtClean="0">
                              <a:latin typeface="Cambria Math" panose="02040503050406030204" pitchFamily="18" charset="0"/>
                            </a:rPr>
                            <m:t>𝒎</m:t>
                          </m:r>
                        </m:sup>
                      </m:sSup>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𝟑</m:t>
                          </m:r>
                          <m:r>
                            <a:rPr lang="en-GB" b="1" i="1" smtClean="0">
                              <a:latin typeface="Cambria Math" panose="02040503050406030204" pitchFamily="18" charset="0"/>
                            </a:rPr>
                            <m:t>𝒏</m:t>
                          </m:r>
                        </m:sup>
                      </m:sSup>
                    </m:oMath>
                    <m:oMath>
                      <m:r>
                        <a:rPr lang="en-GB" b="1" i="0" smtClean="0">
                          <a:latin typeface="Cambria Math" panose="02040503050406030204" pitchFamily="18" charset="0"/>
                        </a:rPr>
                        <m:t>    </m:t>
                      </m:r>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𝒌</m:t>
                          </m:r>
                          <m:r>
                            <a:rPr lang="en-GB" b="1"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𝒎</m:t>
                          </m:r>
                          <m:r>
                            <a:rPr lang="en-GB" b="1" i="1" smtClean="0">
                              <a:latin typeface="Cambria Math" panose="02040503050406030204" pitchFamily="18" charset="0"/>
                            </a:rPr>
                            <m:t>+</m:t>
                          </m:r>
                          <m:r>
                            <a:rPr lang="en-GB" b="1" i="1" smtClean="0">
                              <a:latin typeface="Cambria Math" panose="02040503050406030204" pitchFamily="18" charset="0"/>
                            </a:rPr>
                            <m:t>𝟑</m:t>
                          </m:r>
                          <m:r>
                            <a:rPr lang="en-GB" b="1" i="1" smtClean="0">
                              <a:latin typeface="Cambria Math" panose="02040503050406030204" pitchFamily="18" charset="0"/>
                            </a:rPr>
                            <m:t>𝒏</m:t>
                          </m:r>
                        </m:sup>
                      </m:sSup>
                    </m:oMath>
                  </m:oMathPara>
                </a14:m>
                <a:endParaRPr lang="en-GB" b="1" dirty="0"/>
              </a:p>
              <a:p>
                <a:r>
                  <a:rPr lang="en-GB" b="1" dirty="0"/>
                  <a:t>This is square if:</a:t>
                </a:r>
              </a:p>
              <a:p>
                <a14:m>
                  <m:oMath xmlns:m="http://schemas.openxmlformats.org/officeDocument/2006/math">
                    <m:r>
                      <a:rPr lang="en-GB" b="1" i="1" smtClean="0">
                        <a:latin typeface="Cambria Math" panose="02040503050406030204" pitchFamily="18" charset="0"/>
                      </a:rPr>
                      <m:t>𝒌</m:t>
                    </m:r>
                    <m:r>
                      <a:rPr lang="en-GB" b="1"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𝒎</m:t>
                    </m:r>
                    <m:r>
                      <a:rPr lang="en-GB" b="1" i="1" smtClean="0">
                        <a:latin typeface="Cambria Math" panose="02040503050406030204" pitchFamily="18" charset="0"/>
                      </a:rPr>
                      <m:t>+</m:t>
                    </m:r>
                    <m:r>
                      <a:rPr lang="en-GB" b="1" i="1" smtClean="0">
                        <a:latin typeface="Cambria Math" panose="02040503050406030204" pitchFamily="18" charset="0"/>
                      </a:rPr>
                      <m:t>𝟑</m:t>
                    </m:r>
                    <m:r>
                      <a:rPr lang="en-GB" b="1" i="1" smtClean="0">
                        <a:latin typeface="Cambria Math" panose="02040503050406030204" pitchFamily="18" charset="0"/>
                      </a:rPr>
                      <m:t>𝒏</m:t>
                    </m:r>
                  </m:oMath>
                </a14:m>
                <a:r>
                  <a:rPr lang="en-GB" b="1" dirty="0"/>
                  <a:t> is even</a:t>
                </a:r>
              </a:p>
              <a:p>
                <a14:m>
                  <m:oMath xmlns:m="http://schemas.openxmlformats.org/officeDocument/2006/math">
                    <m:r>
                      <a:rPr lang="en-GB" b="1" i="1" smtClean="0">
                        <a:latin typeface="Cambria Math" panose="02040503050406030204" pitchFamily="18" charset="0"/>
                      </a:rPr>
                      <m:t>⇒</m:t>
                    </m:r>
                  </m:oMath>
                </a14:m>
                <a:r>
                  <a:rPr lang="en-GB" b="1" dirty="0"/>
                  <a:t> </a:t>
                </a:r>
                <a14:m>
                  <m:oMath xmlns:m="http://schemas.openxmlformats.org/officeDocument/2006/math">
                    <m:r>
                      <a:rPr lang="en-GB" b="1" i="1" dirty="0" smtClean="0">
                        <a:latin typeface="Cambria Math" panose="02040503050406030204" pitchFamily="18" charset="0"/>
                      </a:rPr>
                      <m:t>𝒌</m:t>
                    </m:r>
                    <m:r>
                      <a:rPr lang="en-GB" b="1" i="1" dirty="0" smtClean="0">
                        <a:latin typeface="Cambria Math" panose="02040503050406030204" pitchFamily="18" charset="0"/>
                      </a:rPr>
                      <m:t>+</m:t>
                    </m:r>
                    <m:r>
                      <a:rPr lang="en-GB" b="1" i="1" dirty="0" smtClean="0">
                        <a:latin typeface="Cambria Math" panose="02040503050406030204" pitchFamily="18" charset="0"/>
                      </a:rPr>
                      <m:t>𝟑</m:t>
                    </m:r>
                    <m:r>
                      <a:rPr lang="en-GB" b="1" i="1" dirty="0" smtClean="0">
                        <a:latin typeface="Cambria Math" panose="02040503050406030204" pitchFamily="18" charset="0"/>
                      </a:rPr>
                      <m:t>𝒏</m:t>
                    </m:r>
                  </m:oMath>
                </a14:m>
                <a:r>
                  <a:rPr lang="en-GB" b="1" dirty="0"/>
                  <a:t> is even</a:t>
                </a:r>
              </a:p>
              <a:p>
                <a14:m>
                  <m:oMath xmlns:m="http://schemas.openxmlformats.org/officeDocument/2006/math">
                    <m:r>
                      <a:rPr lang="en-GB" b="1" i="1" smtClean="0">
                        <a:latin typeface="Cambria Math" panose="02040503050406030204" pitchFamily="18" charset="0"/>
                      </a:rPr>
                      <m:t>⇒</m:t>
                    </m:r>
                    <m:r>
                      <a:rPr lang="en-GB" b="1" i="1" smtClean="0">
                        <a:latin typeface="Cambria Math" panose="02040503050406030204" pitchFamily="18" charset="0"/>
                      </a:rPr>
                      <m:t>𝒌</m:t>
                    </m:r>
                    <m:r>
                      <a:rPr lang="en-GB" b="1" i="1" smtClean="0">
                        <a:latin typeface="Cambria Math" panose="02040503050406030204" pitchFamily="18" charset="0"/>
                      </a:rPr>
                      <m:t>+</m:t>
                    </m:r>
                    <m:r>
                      <a:rPr lang="en-GB" b="1" i="1" smtClean="0">
                        <a:latin typeface="Cambria Math" panose="02040503050406030204" pitchFamily="18" charset="0"/>
                      </a:rPr>
                      <m:t>𝒏</m:t>
                    </m:r>
                  </m:oMath>
                </a14:m>
                <a:r>
                  <a:rPr lang="en-GB" b="1" dirty="0"/>
                  <a:t> is even</a:t>
                </a:r>
              </a:p>
            </p:txBody>
          </p:sp>
        </mc:Choice>
        <mc:Fallback xmlns="">
          <p:sp>
            <p:nvSpPr>
              <p:cNvPr id="15" name="TextBox 14"/>
              <p:cNvSpPr txBox="1">
                <a:spLocks noRot="1" noChangeAspect="1" noMove="1" noResize="1" noEditPoints="1" noAdjustHandles="1" noChangeArrowheads="1" noChangeShapeType="1" noTextEdit="1"/>
              </p:cNvSpPr>
              <p:nvPr/>
            </p:nvSpPr>
            <p:spPr>
              <a:xfrm>
                <a:off x="5028509" y="4246939"/>
                <a:ext cx="2592198" cy="1764201"/>
              </a:xfrm>
              <a:prstGeom prst="rect">
                <a:avLst/>
              </a:prstGeom>
              <a:blipFill>
                <a:blip r:embed="rId5"/>
                <a:stretch>
                  <a:fillRect l="-2451" b="-5714"/>
                </a:stretch>
              </a:blipFill>
            </p:spPr>
            <p:txBody>
              <a:bodyPr/>
              <a:lstStyle/>
              <a:p>
                <a:r>
                  <a:rPr lang="en-GB">
                    <a:noFill/>
                  </a:rPr>
                  <a:t> </a:t>
                </a:r>
              </a:p>
            </p:txBody>
          </p:sp>
        </mc:Fallback>
      </mc:AlternateContent>
      <p:sp>
        <p:nvSpPr>
          <p:cNvPr id="16" name="Rectangle 15"/>
          <p:cNvSpPr/>
          <p:nvPr/>
        </p:nvSpPr>
        <p:spPr>
          <a:xfrm>
            <a:off x="428671" y="5030215"/>
            <a:ext cx="2529953" cy="78518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7" name="Rectangle 16"/>
          <p:cNvSpPr/>
          <p:nvPr/>
        </p:nvSpPr>
        <p:spPr>
          <a:xfrm>
            <a:off x="5022103" y="4159564"/>
            <a:ext cx="2640869" cy="180021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8" name="TextBox 17"/>
          <p:cNvSpPr txBox="1"/>
          <p:nvPr/>
        </p:nvSpPr>
        <p:spPr>
          <a:xfrm>
            <a:off x="430486" y="1318856"/>
            <a:ext cx="6300610" cy="369332"/>
          </a:xfrm>
          <a:prstGeom prst="rect">
            <a:avLst/>
          </a:prstGeom>
          <a:solidFill>
            <a:schemeClr val="bg1"/>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solidFill>
                  <a:schemeClr val="tx1"/>
                </a:solidFill>
              </a:rPr>
              <a:t>Extension </a:t>
            </a:r>
            <a:r>
              <a:rPr lang="en-GB" dirty="0">
                <a:solidFill>
                  <a:schemeClr val="tx1"/>
                </a:solidFill>
              </a:rPr>
              <a:t> </a:t>
            </a:r>
            <a:r>
              <a:rPr lang="en-GB" sz="1200" dirty="0">
                <a:solidFill>
                  <a:schemeClr val="tx1"/>
                </a:solidFill>
              </a:rPr>
              <a:t>(Full Database: </a:t>
            </a:r>
            <a:r>
              <a:rPr lang="en-GB" sz="1200" dirty="0">
                <a:solidFill>
                  <a:schemeClr val="tx1"/>
                </a:solidFill>
                <a:hlinkClick r:id="rId6"/>
              </a:rPr>
              <a:t>http://www.drfrostmaths.com/resources/resource.php?rid=268</a:t>
            </a:r>
            <a:r>
              <a:rPr lang="en-GB" sz="1200" dirty="0">
                <a:solidFill>
                  <a:schemeClr val="tx1"/>
                </a:solidFill>
              </a:rPr>
              <a:t> ) </a:t>
            </a:r>
            <a:endParaRPr lang="en-GB" sz="2400" dirty="0">
              <a:solidFill>
                <a:schemeClr val="tx1"/>
              </a:solidFill>
            </a:endParaRPr>
          </a:p>
        </p:txBody>
      </p:sp>
    </p:spTree>
    <p:extLst>
      <p:ext uri="{BB962C8B-B14F-4D97-AF65-F5344CB8AC3E}">
        <p14:creationId xmlns:p14="http://schemas.microsoft.com/office/powerpoint/2010/main" val="141509998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6" grpId="0" animBg="1"/>
      <p:bldP spid="17" grpId="0" animBg="1"/>
    </p:bldLst>
  </p:timing>
</p:sld>
</file>

<file path=ppt/c1/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4: Negative and Fractional Indices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915233" y="903545"/>
                <a:ext cx="2808312" cy="167257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14:m>
                  <m:oMathPara xmlns:m="http://schemas.openxmlformats.org/officeDocument/2006/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0</m:t>
                          </m:r>
                        </m:sup>
                      </m:sSup>
                      <m:r>
                        <a:rPr lang="en-GB" b="0" i="1" smtClean="0">
                          <a:latin typeface="Cambria Math" panose="02040503050406030204" pitchFamily="18" charset="0"/>
                        </a:rPr>
                        <m:t>=1</m:t>
                      </m:r>
                    </m:o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𝑚</m:t>
                              </m:r>
                            </m:den>
                          </m:f>
                        </m:sup>
                      </m:sSup>
                      <m:r>
                        <a:rPr lang="en-GB" b="0" i="1" smtClean="0">
                          <a:latin typeface="Cambria Math" panose="02040503050406030204" pitchFamily="18" charset="0"/>
                        </a:rPr>
                        <m:t>=</m:t>
                      </m:r>
                      <m:rad>
                        <m:radPr>
                          <m:ctrlPr>
                            <a:rPr lang="en-GB" b="0" i="1" smtClean="0">
                              <a:latin typeface="Cambria Math" panose="02040503050406030204" pitchFamily="18" charset="0"/>
                            </a:rPr>
                          </m:ctrlPr>
                        </m:radPr>
                        <m:deg>
                          <m:r>
                            <m:rPr>
                              <m:brk m:alnAt="7"/>
                            </m:rPr>
                            <a:rPr lang="en-GB" b="0" i="1" smtClean="0">
                              <a:latin typeface="Cambria Math" panose="02040503050406030204" pitchFamily="18" charset="0"/>
                            </a:rPr>
                            <m:t>𝑚</m:t>
                          </m:r>
                        </m:deg>
                        <m:e>
                          <m:r>
                            <a:rPr lang="en-GB" b="0" i="1" smtClean="0">
                              <a:latin typeface="Cambria Math" panose="02040503050406030204" pitchFamily="18" charset="0"/>
                            </a:rPr>
                            <m:t>𝑎</m:t>
                          </m:r>
                        </m:e>
                      </m:rad>
                    </m:o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f>
                            <m:fPr>
                              <m:ctrlPr>
                                <a:rPr lang="en-GB" b="0" i="1" smtClean="0">
                                  <a:latin typeface="Cambria Math" panose="02040503050406030204" pitchFamily="18" charset="0"/>
                                </a:rPr>
                              </m:ctrlPr>
                            </m:fPr>
                            <m:num>
                              <m:r>
                                <a:rPr lang="en-GB" b="0" i="1" smtClean="0">
                                  <a:latin typeface="Cambria Math" panose="02040503050406030204" pitchFamily="18" charset="0"/>
                                </a:rPr>
                                <m:t>𝑛</m:t>
                              </m:r>
                            </m:num>
                            <m:den>
                              <m:r>
                                <a:rPr lang="en-GB" b="0" i="1" smtClean="0">
                                  <a:latin typeface="Cambria Math" panose="02040503050406030204" pitchFamily="18" charset="0"/>
                                </a:rPr>
                                <m:t>𝑚</m:t>
                              </m:r>
                            </m:den>
                          </m:f>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i="1">
                                  <a:latin typeface="Cambria Math" panose="02040503050406030204" pitchFamily="18" charset="0"/>
                                </a:rPr>
                              </m:ctrlPr>
                            </m:dPr>
                            <m:e>
                              <m:rad>
                                <m:radPr>
                                  <m:ctrlPr>
                                    <a:rPr lang="en-GB" i="1">
                                      <a:latin typeface="Cambria Math" panose="02040503050406030204" pitchFamily="18" charset="0"/>
                                    </a:rPr>
                                  </m:ctrlPr>
                                </m:radPr>
                                <m:deg>
                                  <m:r>
                                    <m:rPr>
                                      <m:brk m:alnAt="7"/>
                                    </m:rPr>
                                    <a:rPr lang="en-GB" i="1">
                                      <a:latin typeface="Cambria Math" panose="02040503050406030204" pitchFamily="18" charset="0"/>
                                    </a:rPr>
                                    <m:t>𝑚</m:t>
                                  </m:r>
                                </m:deg>
                                <m:e>
                                  <m:r>
                                    <a:rPr lang="en-GB" i="1">
                                      <a:latin typeface="Cambria Math" panose="02040503050406030204" pitchFamily="18" charset="0"/>
                                    </a:rPr>
                                    <m:t>𝑎</m:t>
                                  </m:r>
                                </m:e>
                              </m:rad>
                            </m:e>
                          </m:d>
                        </m:e>
                        <m:sup>
                          <m:r>
                            <a:rPr lang="en-GB" b="0" i="1" smtClean="0">
                              <a:latin typeface="Cambria Math" panose="02040503050406030204" pitchFamily="18" charset="0"/>
                            </a:rPr>
                            <m:t>𝑛</m:t>
                          </m:r>
                        </m:sup>
                      </m:sSup>
                    </m:o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m:t>
                          </m:r>
                          <m:r>
                            <a:rPr lang="en-GB" b="0" i="1" smtClean="0">
                              <a:latin typeface="Cambria Math" panose="02040503050406030204" pitchFamily="18" charset="0"/>
                            </a:rPr>
                            <m:t>𝑚</m:t>
                          </m:r>
                        </m:sup>
                      </m:s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𝑚</m:t>
                              </m:r>
                            </m:sup>
                          </m:sSup>
                        </m:den>
                      </m:f>
                    </m:oMath>
                  </m:oMathPara>
                </a14:m>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915233" y="903545"/>
                <a:ext cx="2808312" cy="1672574"/>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139388" y="1006938"/>
                <a:ext cx="4104456" cy="1539589"/>
              </a:xfrm>
              <a:prstGeom prst="rect">
                <a:avLst/>
              </a:prstGeom>
              <a:noFill/>
            </p:spPr>
            <p:txBody>
              <a:bodyPr wrap="square" rtlCol="0">
                <a:spAutoFit/>
              </a:bodyPr>
              <a:lstStyle/>
              <a:p>
                <a:r>
                  <a:rPr lang="en-GB" b="1" dirty="0"/>
                  <a:t>Note</a:t>
                </a:r>
                <a:r>
                  <a:rPr lang="en-GB" dirty="0"/>
                  <a:t>: </a:t>
                </a:r>
                <a14:m>
                  <m:oMath xmlns:m="http://schemas.openxmlformats.org/officeDocument/2006/math">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9</m:t>
                        </m:r>
                      </m:e>
                    </m:rad>
                  </m:oMath>
                </a14:m>
                <a:r>
                  <a:rPr lang="en-GB" dirty="0"/>
                  <a:t> only means the </a:t>
                </a:r>
                <a:r>
                  <a:rPr lang="en-GB" u="sng" dirty="0"/>
                  <a:t>positive</a:t>
                </a:r>
                <a:r>
                  <a:rPr lang="en-GB" dirty="0"/>
                  <a:t> square root of 9, i.e. 3 not -3.</a:t>
                </a:r>
              </a:p>
              <a:p>
                <a:r>
                  <a:rPr lang="en-GB" dirty="0"/>
                  <a:t>Otherwise, what would be the point of the </a:t>
                </a:r>
                <a14:m>
                  <m:oMath xmlns:m="http://schemas.openxmlformats.org/officeDocument/2006/math">
                    <m:r>
                      <a:rPr lang="en-GB" b="0" i="1" smtClean="0">
                        <a:latin typeface="Cambria Math" panose="02040503050406030204" pitchFamily="18" charset="0"/>
                      </a:rPr>
                      <m:t>±</m:t>
                    </m:r>
                  </m:oMath>
                </a14:m>
                <a:r>
                  <a:rPr lang="en-GB" dirty="0"/>
                  <a:t> in the quadratic formula before the </a:t>
                </a:r>
                <a14:m>
                  <m:oMath xmlns:m="http://schemas.openxmlformats.org/officeDocument/2006/math">
                    <m:rad>
                      <m:radPr>
                        <m:degHide m:val="on"/>
                        <m:ctrlPr>
                          <a:rPr lang="en-GB" b="0" i="1" smtClean="0">
                            <a:latin typeface="Cambria Math" panose="02040503050406030204" pitchFamily="18" charset="0"/>
                          </a:rPr>
                        </m:ctrlPr>
                      </m:radPr>
                      <m:deg/>
                      <m:e>
                        <m:sSup>
                          <m:sSupPr>
                            <m:ctrlPr>
                              <a:rPr lang="en-GB" b="0" i="1" smtClean="0">
                                <a:latin typeface="Cambria Math" panose="02040503050406030204" pitchFamily="18" charset="0"/>
                              </a:rPr>
                            </m:ctrlPr>
                          </m:sSupPr>
                          <m:e>
                            <m:r>
                              <a:rPr lang="en-GB" b="0" i="1" smtClean="0">
                                <a:latin typeface="Cambria Math" panose="02040503050406030204" pitchFamily="18" charset="0"/>
                              </a:rPr>
                              <m:t>𝑏</m:t>
                            </m:r>
                          </m:e>
                          <m:sup>
                            <m:r>
                              <a:rPr lang="en-GB" b="0" i="1" smtClean="0">
                                <a:latin typeface="Cambria Math" panose="02040503050406030204" pitchFamily="18" charset="0"/>
                              </a:rPr>
                              <m:t>2</m:t>
                            </m:r>
                          </m:sup>
                        </m:sSup>
                        <m:r>
                          <a:rPr lang="en-GB" b="0" i="1" smtClean="0">
                            <a:latin typeface="Cambria Math" panose="02040503050406030204" pitchFamily="18" charset="0"/>
                          </a:rPr>
                          <m:t>−4</m:t>
                        </m:r>
                        <m:r>
                          <a:rPr lang="en-GB" b="0" i="1" smtClean="0">
                            <a:latin typeface="Cambria Math" panose="02040503050406030204" pitchFamily="18" charset="0"/>
                          </a:rPr>
                          <m:t>𝑎𝑐</m:t>
                        </m:r>
                      </m:e>
                    </m:rad>
                  </m:oMath>
                </a14:m>
                <a:r>
                  <a:rPr lang="en-GB" dirty="0"/>
                  <a:t>?</a:t>
                </a:r>
              </a:p>
            </p:txBody>
          </p:sp>
        </mc:Choice>
        <mc:Fallback xmlns="">
          <p:sp>
            <p:nvSpPr>
              <p:cNvPr id="6" name="TextBox 5"/>
              <p:cNvSpPr txBox="1">
                <a:spLocks noRot="1" noChangeAspect="1" noMove="1" noResize="1" noEditPoints="1" noAdjustHandles="1" noChangeArrowheads="1" noChangeShapeType="1" noTextEdit="1"/>
              </p:cNvSpPr>
              <p:nvPr/>
            </p:nvSpPr>
            <p:spPr>
              <a:xfrm>
                <a:off x="4139388" y="1006938"/>
                <a:ext cx="4104456" cy="1539589"/>
              </a:xfrm>
              <a:prstGeom prst="rect">
                <a:avLst/>
              </a:prstGeom>
              <a:blipFill>
                <a:blip r:embed="rId3"/>
                <a:stretch>
                  <a:fillRect l="-926" r="-1235" b="-573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66980" y="2866887"/>
                <a:ext cx="2304819" cy="47038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Prove that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up>
                    </m:sSup>
                    <m:r>
                      <a:rPr lang="en-GB" b="0" i="1" smtClean="0">
                        <a:latin typeface="Cambria Math" panose="02040503050406030204" pitchFamily="18" charset="0"/>
                      </a:rPr>
                      <m:t>=</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𝑥</m:t>
                        </m:r>
                      </m:e>
                    </m:rad>
                  </m:oMath>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466980" y="2866887"/>
                <a:ext cx="2304819" cy="470385"/>
              </a:xfrm>
              <a:prstGeom prst="rect">
                <a:avLst/>
              </a:prstGeom>
              <a:blipFill>
                <a:blip r:embed="rId4"/>
                <a:stretch>
                  <a:fillRect b="-3960"/>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66982" y="3501008"/>
                <a:ext cx="2304818" cy="1174296"/>
              </a:xfrm>
              <a:prstGeom prst="rect">
                <a:avLst/>
              </a:prstGeom>
              <a:noFill/>
            </p:spPr>
            <p:txBody>
              <a:bodyPr wrap="square" rtlCol="0">
                <a:spAutoFit/>
              </a:bodyPr>
              <a:lstStyle/>
              <a:p>
                <a:pPr/>
                <a14:m>
                  <m:oMathPara xmlns:m="http://schemas.openxmlformats.org/officeDocument/2006/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1</m:t>
                          </m:r>
                        </m:sup>
                      </m:sSup>
                    </m:oMath>
                  </m:oMathPara>
                </a14:m>
                <a:endParaRPr lang="en-GB" dirty="0"/>
              </a:p>
              <a:p>
                <a:r>
                  <a:rPr lang="en-GB" dirty="0"/>
                  <a:t>But </a:t>
                </a:r>
                <a14:m>
                  <m:oMath xmlns:m="http://schemas.openxmlformats.org/officeDocument/2006/math">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𝑥</m:t>
                        </m:r>
                      </m:e>
                    </m:rad>
                    <m:r>
                      <a:rPr lang="en-GB" b="0" i="1" smtClean="0">
                        <a:latin typeface="Cambria Math" panose="02040503050406030204" pitchFamily="18" charset="0"/>
                      </a:rPr>
                      <m:t>×</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𝑥</m:t>
                        </m:r>
                      </m:e>
                    </m:rad>
                    <m:r>
                      <a:rPr lang="en-GB" b="0" i="1" smtClean="0">
                        <a:latin typeface="Cambria Math" panose="02040503050406030204" pitchFamily="18" charset="0"/>
                      </a:rPr>
                      <m:t>=</m:t>
                    </m:r>
                    <m:r>
                      <a:rPr lang="en-GB" b="0" i="1" smtClean="0">
                        <a:latin typeface="Cambria Math" panose="02040503050406030204" pitchFamily="18" charset="0"/>
                      </a:rPr>
                      <m:t>𝑥</m:t>
                    </m:r>
                  </m:oMath>
                </a14:m>
                <a:endParaRPr lang="en-GB" dirty="0"/>
              </a:p>
              <a:p>
                <a:pPr/>
                <a14:m>
                  <m:oMathPara xmlns:m="http://schemas.openxmlformats.org/officeDocument/2006/math">
                    <m:oMath>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up>
                      </m:sSup>
                      <m:r>
                        <a:rPr lang="en-GB" b="0" i="1" smtClean="0">
                          <a:latin typeface="Cambria Math" panose="02040503050406030204" pitchFamily="18" charset="0"/>
                        </a:rPr>
                        <m:t>=</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𝑥</m:t>
                          </m:r>
                        </m:e>
                      </m:rad>
                    </m:oMath>
                  </m:oMathPara>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466982" y="3501008"/>
                <a:ext cx="2304818" cy="1174296"/>
              </a:xfrm>
              <a:prstGeom prst="rect">
                <a:avLst/>
              </a:prstGeom>
              <a:blipFill>
                <a:blip r:embed="rId5"/>
                <a:stretch>
                  <a:fillRect l="-23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986978" y="2899807"/>
                <a:ext cx="2304819" cy="48487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Evaluate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27</m:t>
                        </m:r>
                      </m:e>
                      <m: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3</m:t>
                            </m:r>
                          </m:den>
                        </m:f>
                      </m:sup>
                    </m:sSup>
                  </m:oMath>
                </a14:m>
                <a:endParaRPr lang="en-GB" dirty="0"/>
              </a:p>
            </p:txBody>
          </p:sp>
        </mc:Choice>
        <mc:Fallback xmlns="">
          <p:sp>
            <p:nvSpPr>
              <p:cNvPr id="9" name="TextBox 8"/>
              <p:cNvSpPr txBox="1">
                <a:spLocks noRot="1" noChangeAspect="1" noMove="1" noResize="1" noEditPoints="1" noAdjustHandles="1" noChangeArrowheads="1" noChangeShapeType="1" noTextEdit="1"/>
              </p:cNvSpPr>
              <p:nvPr/>
            </p:nvSpPr>
            <p:spPr>
              <a:xfrm>
                <a:off x="2986978" y="2899807"/>
                <a:ext cx="2304819" cy="484876"/>
              </a:xfrm>
              <a:prstGeom prst="rect">
                <a:avLst/>
              </a:prstGeom>
              <a:blipFill>
                <a:blip r:embed="rId6"/>
                <a:stretch>
                  <a:fillRect b="-1942"/>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777005" y="3517226"/>
                <a:ext cx="2304818" cy="745525"/>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27</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3</m:t>
                                  </m:r>
                                </m:den>
                              </m:f>
                            </m:sup>
                          </m:sSup>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3</m:t>
                          </m:r>
                        </m:den>
                      </m:f>
                    </m:oMath>
                  </m:oMathPara>
                </a14:m>
                <a:endParaRPr lang="en-GB" dirty="0"/>
              </a:p>
            </p:txBody>
          </p:sp>
        </mc:Choice>
        <mc:Fallback xmlns="">
          <p:sp>
            <p:nvSpPr>
              <p:cNvPr id="10" name="TextBox 9"/>
              <p:cNvSpPr txBox="1">
                <a:spLocks noRot="1" noChangeAspect="1" noMove="1" noResize="1" noEditPoints="1" noAdjustHandles="1" noChangeArrowheads="1" noChangeShapeType="1" noTextEdit="1"/>
              </p:cNvSpPr>
              <p:nvPr/>
            </p:nvSpPr>
            <p:spPr>
              <a:xfrm>
                <a:off x="2777005" y="3517226"/>
                <a:ext cx="2304818" cy="745525"/>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5724128" y="2899807"/>
                <a:ext cx="2304819" cy="485774"/>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Evaluate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32</m:t>
                        </m:r>
                      </m:e>
                      <m:sup>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5</m:t>
                            </m:r>
                          </m:den>
                        </m:f>
                      </m:sup>
                    </m:sSup>
                  </m:oMath>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5724128" y="2899807"/>
                <a:ext cx="2304819" cy="485774"/>
              </a:xfrm>
              <a:prstGeom prst="rect">
                <a:avLst/>
              </a:prstGeom>
              <a:blipFill>
                <a:blip r:embed="rId8"/>
                <a:stretch>
                  <a:fillRect b="-1942"/>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508104" y="3501008"/>
                <a:ext cx="2304818"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2</m:t>
                          </m:r>
                        </m:sup>
                      </m:sSup>
                      <m:r>
                        <a:rPr lang="en-GB" b="0" i="1" smtClean="0">
                          <a:latin typeface="Cambria Math" panose="02040503050406030204" pitchFamily="18" charset="0"/>
                        </a:rPr>
                        <m:t>=4</m:t>
                      </m:r>
                    </m:oMath>
                  </m:oMathPara>
                </a14:m>
                <a:endParaRPr lang="en-GB" dirty="0"/>
              </a:p>
            </p:txBody>
          </p:sp>
        </mc:Choice>
        <mc:Fallback xmlns="">
          <p:sp>
            <p:nvSpPr>
              <p:cNvPr id="12" name="TextBox 11"/>
              <p:cNvSpPr txBox="1">
                <a:spLocks noRot="1" noChangeAspect="1" noMove="1" noResize="1" noEditPoints="1" noAdjustHandles="1" noChangeArrowheads="1" noChangeShapeType="1" noTextEdit="1"/>
              </p:cNvSpPr>
              <p:nvPr/>
            </p:nvSpPr>
            <p:spPr>
              <a:xfrm>
                <a:off x="5508104" y="3501008"/>
                <a:ext cx="2304818" cy="369332"/>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466979" y="4960971"/>
                <a:ext cx="2304819" cy="63652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Simplify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9</m:t>
                                </m:r>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6</m:t>
                                </m:r>
                              </m:sup>
                            </m:sSup>
                            <m:r>
                              <a:rPr lang="en-GB" b="0" i="1" smtClean="0">
                                <a:latin typeface="Cambria Math" panose="02040503050406030204" pitchFamily="18" charset="0"/>
                              </a:rPr>
                              <m:t>𝑦</m:t>
                            </m:r>
                          </m:e>
                        </m:d>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up>
                    </m:sSup>
                  </m:oMath>
                </a14:m>
                <a:endParaRPr lang="en-GB" dirty="0"/>
              </a:p>
            </p:txBody>
          </p:sp>
        </mc:Choice>
        <mc:Fallback xmlns="">
          <p:sp>
            <p:nvSpPr>
              <p:cNvPr id="14" name="TextBox 13"/>
              <p:cNvSpPr txBox="1">
                <a:spLocks noRot="1" noChangeAspect="1" noMove="1" noResize="1" noEditPoints="1" noAdjustHandles="1" noChangeArrowheads="1" noChangeShapeType="1" noTextEdit="1"/>
              </p:cNvSpPr>
              <p:nvPr/>
            </p:nvSpPr>
            <p:spPr>
              <a:xfrm>
                <a:off x="466979" y="4960971"/>
                <a:ext cx="2304819" cy="636521"/>
              </a:xfrm>
              <a:prstGeom prst="rect">
                <a:avLst/>
              </a:prstGeom>
              <a:blipFill>
                <a:blip r:embed="rId10"/>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323528" y="5605032"/>
                <a:ext cx="2304818" cy="6127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3</m:t>
                          </m:r>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sSup>
                        <m:sSupPr>
                          <m:ctrlPr>
                            <a:rPr lang="en-GB" b="0" i="1" smtClean="0">
                              <a:latin typeface="Cambria Math" panose="02040503050406030204" pitchFamily="18" charset="0"/>
                            </a:rPr>
                          </m:ctrlPr>
                        </m:sSupPr>
                        <m:e>
                          <m:r>
                            <a:rPr lang="en-GB" b="0" i="1" smtClean="0">
                              <a:latin typeface="Cambria Math" panose="02040503050406030204" pitchFamily="18" charset="0"/>
                            </a:rPr>
                            <m:t>𝑦</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up>
                      </m:sSup>
                    </m:oMath>
                  </m:oMathPara>
                </a14:m>
                <a:endParaRPr lang="en-GB" dirty="0"/>
              </a:p>
            </p:txBody>
          </p:sp>
        </mc:Choice>
        <mc:Fallback xmlns="">
          <p:sp>
            <p:nvSpPr>
              <p:cNvPr id="15" name="TextBox 14"/>
              <p:cNvSpPr txBox="1">
                <a:spLocks noRot="1" noChangeAspect="1" noMove="1" noResize="1" noEditPoints="1" noAdjustHandles="1" noChangeArrowheads="1" noChangeShapeType="1" noTextEdit="1"/>
              </p:cNvSpPr>
              <p:nvPr/>
            </p:nvSpPr>
            <p:spPr>
              <a:xfrm>
                <a:off x="323528" y="5605032"/>
                <a:ext cx="2304818" cy="612732"/>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3068146" y="4960971"/>
                <a:ext cx="2304819" cy="63716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Evaluate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27</m:t>
                                </m:r>
                              </m:num>
                              <m:den>
                                <m:r>
                                  <a:rPr lang="en-GB" b="0" i="1" smtClean="0">
                                    <a:latin typeface="Cambria Math" panose="02040503050406030204" pitchFamily="18" charset="0"/>
                                  </a:rPr>
                                  <m:t>8</m:t>
                                </m:r>
                              </m:den>
                            </m:f>
                          </m:e>
                        </m:d>
                      </m:e>
                      <m: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3</m:t>
                            </m:r>
                          </m:den>
                        </m:f>
                      </m:sup>
                    </m:sSup>
                  </m:oMath>
                </a14:m>
                <a:endParaRPr lang="en-GB" dirty="0"/>
              </a:p>
            </p:txBody>
          </p:sp>
        </mc:Choice>
        <mc:Fallback xmlns="">
          <p:sp>
            <p:nvSpPr>
              <p:cNvPr id="16" name="TextBox 15"/>
              <p:cNvSpPr txBox="1">
                <a:spLocks noRot="1" noChangeAspect="1" noMove="1" noResize="1" noEditPoints="1" noAdjustHandles="1" noChangeArrowheads="1" noChangeShapeType="1" noTextEdit="1"/>
              </p:cNvSpPr>
              <p:nvPr/>
            </p:nvSpPr>
            <p:spPr>
              <a:xfrm>
                <a:off x="3068146" y="4960971"/>
                <a:ext cx="2304819" cy="637162"/>
              </a:xfrm>
              <a:prstGeom prst="rect">
                <a:avLst/>
              </a:prstGeom>
              <a:blipFill>
                <a:blip r:embed="rId12"/>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2922709" y="5597492"/>
                <a:ext cx="2304818" cy="86780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8</m:t>
                                  </m:r>
                                </m:num>
                                <m:den>
                                  <m:r>
                                    <a:rPr lang="en-GB" b="0" i="1" smtClean="0">
                                      <a:latin typeface="Cambria Math" panose="02040503050406030204" pitchFamily="18" charset="0"/>
                                    </a:rPr>
                                    <m:t>27</m:t>
                                  </m:r>
                                </m:den>
                              </m:f>
                            </m:e>
                          </m:d>
                        </m:e>
                        <m:sup>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3</m:t>
                              </m:r>
                            </m:den>
                          </m:f>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3</m:t>
                                  </m:r>
                                </m:den>
                              </m:f>
                            </m:e>
                          </m:d>
                        </m:e>
                        <m:sup>
                          <m:r>
                            <a:rPr lang="en-GB" b="0" i="1" smtClean="0">
                              <a:latin typeface="Cambria Math" panose="02040503050406030204" pitchFamily="18" charset="0"/>
                            </a:rPr>
                            <m:t>2</m:t>
                          </m:r>
                        </m:sup>
                      </m:s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9</m:t>
                          </m:r>
                        </m:den>
                      </m:f>
                    </m:oMath>
                  </m:oMathPara>
                </a14:m>
                <a:endParaRPr lang="en-GB" dirty="0"/>
              </a:p>
            </p:txBody>
          </p:sp>
        </mc:Choice>
        <mc:Fallback xmlns="">
          <p:sp>
            <p:nvSpPr>
              <p:cNvPr id="17" name="TextBox 16"/>
              <p:cNvSpPr txBox="1">
                <a:spLocks noRot="1" noChangeAspect="1" noMove="1" noResize="1" noEditPoints="1" noAdjustHandles="1" noChangeArrowheads="1" noChangeShapeType="1" noTextEdit="1"/>
              </p:cNvSpPr>
              <p:nvPr/>
            </p:nvSpPr>
            <p:spPr>
              <a:xfrm>
                <a:off x="2922709" y="5597492"/>
                <a:ext cx="2304818" cy="867802"/>
              </a:xfrm>
              <a:prstGeom prst="rect">
                <a:avLst/>
              </a:prstGeom>
              <a:blipFill>
                <a:blip r:embed="rId13"/>
                <a:stretch>
                  <a:fillRect/>
                </a:stretch>
              </a:blipFill>
            </p:spPr>
            <p:txBody>
              <a:bodyPr/>
              <a:lstStyle/>
              <a:p>
                <a:r>
                  <a:rPr lang="en-GB">
                    <a:noFill/>
                  </a:rPr>
                  <a:t> </a:t>
                </a:r>
              </a:p>
            </p:txBody>
          </p:sp>
        </mc:Fallback>
      </mc:AlternateContent>
      <p:sp>
        <p:nvSpPr>
          <p:cNvPr id="18" name="Rectangle 17"/>
          <p:cNvSpPr/>
          <p:nvPr/>
        </p:nvSpPr>
        <p:spPr>
          <a:xfrm>
            <a:off x="465483" y="3372961"/>
            <a:ext cx="2306316" cy="130234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9" name="Rectangle 18"/>
          <p:cNvSpPr/>
          <p:nvPr/>
        </p:nvSpPr>
        <p:spPr>
          <a:xfrm>
            <a:off x="2985481" y="3372961"/>
            <a:ext cx="2306316" cy="130234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0" name="Rectangle 19"/>
          <p:cNvSpPr/>
          <p:nvPr/>
        </p:nvSpPr>
        <p:spPr>
          <a:xfrm>
            <a:off x="5737515" y="3372961"/>
            <a:ext cx="2306316" cy="130234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1" name="Rectangle 20"/>
          <p:cNvSpPr/>
          <p:nvPr/>
        </p:nvSpPr>
        <p:spPr>
          <a:xfrm>
            <a:off x="456895" y="5597492"/>
            <a:ext cx="2322361" cy="99986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2" name="Rectangle 21"/>
          <p:cNvSpPr/>
          <p:nvPr/>
        </p:nvSpPr>
        <p:spPr>
          <a:xfrm>
            <a:off x="3059374" y="5597492"/>
            <a:ext cx="2322361" cy="99986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xmlns:a14="http://schemas.microsoft.com/office/drawing/2010/main">
        <mc:Choice Requires="a14">
          <p:sp>
            <p:nvSpPr>
              <p:cNvPr id="23" name="TextBox 22"/>
              <p:cNvSpPr txBox="1"/>
              <p:nvPr/>
            </p:nvSpPr>
            <p:spPr>
              <a:xfrm>
                <a:off x="5564471" y="4906860"/>
                <a:ext cx="3492443" cy="76194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If </a:t>
                </a:r>
                <a14:m>
                  <m:oMath xmlns:m="http://schemas.openxmlformats.org/officeDocument/2006/math">
                    <m:r>
                      <a:rPr lang="en-GB" b="0" i="1" smtClean="0">
                        <a:latin typeface="Cambria Math" panose="02040503050406030204" pitchFamily="18" charset="0"/>
                      </a:rPr>
                      <m:t>𝑏</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9</m:t>
                        </m:r>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2</m:t>
                        </m:r>
                      </m:sup>
                    </m:sSup>
                  </m:oMath>
                </a14:m>
                <a:r>
                  <a:rPr lang="en-GB" dirty="0"/>
                  <a:t>, determine </a:t>
                </a:r>
                <a14:m>
                  <m:oMath xmlns:m="http://schemas.openxmlformats.org/officeDocument/2006/math">
                    <m:r>
                      <a:rPr lang="en-GB" b="0" i="1" smtClean="0">
                        <a:latin typeface="Cambria Math" panose="02040503050406030204" pitchFamily="18" charset="0"/>
                      </a:rPr>
                      <m:t>3</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𝑏</m:t>
                        </m:r>
                      </m:e>
                      <m:sup>
                        <m:r>
                          <a:rPr lang="en-GB" b="0" i="1" smtClean="0">
                            <a:latin typeface="Cambria Math" panose="02040503050406030204" pitchFamily="18" charset="0"/>
                          </a:rPr>
                          <m:t>−2</m:t>
                        </m:r>
                      </m:sup>
                    </m:sSup>
                  </m:oMath>
                </a14:m>
                <a:r>
                  <a:rPr lang="en-GB" dirty="0"/>
                  <a:t> in the form </a:t>
                </a:r>
                <a14:m>
                  <m:oMath xmlns:m="http://schemas.openxmlformats.org/officeDocument/2006/math">
                    <m:r>
                      <a:rPr lang="en-GB" b="0" i="1" smtClean="0">
                        <a:latin typeface="Cambria Math" panose="02040503050406030204" pitchFamily="18" charset="0"/>
                      </a:rPr>
                      <m:t>𝑘</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𝑏</m:t>
                        </m:r>
                      </m:e>
                      <m:sup>
                        <m:r>
                          <a:rPr lang="en-GB" b="0" i="1" smtClean="0">
                            <a:latin typeface="Cambria Math" panose="02040503050406030204" pitchFamily="18" charset="0"/>
                          </a:rPr>
                          <m:t>𝑛</m:t>
                        </m:r>
                      </m:sup>
                    </m:sSup>
                  </m:oMath>
                </a14:m>
                <a:r>
                  <a:rPr lang="en-GB" dirty="0"/>
                  <a:t> where </a:t>
                </a:r>
                <a14:m>
                  <m:oMath xmlns:m="http://schemas.openxmlformats.org/officeDocument/2006/math">
                    <m:r>
                      <a:rPr lang="en-GB" b="0" i="1" smtClean="0">
                        <a:latin typeface="Cambria Math" panose="02040503050406030204" pitchFamily="18" charset="0"/>
                      </a:rPr>
                      <m:t>𝑘</m:t>
                    </m:r>
                    <m:r>
                      <a:rPr lang="en-GB" b="0" i="1" smtClean="0">
                        <a:latin typeface="Cambria Math" panose="02040503050406030204" pitchFamily="18" charset="0"/>
                      </a:rPr>
                      <m:t>,</m:t>
                    </m:r>
                    <m:r>
                      <a:rPr lang="en-GB" b="0" i="1" smtClean="0">
                        <a:latin typeface="Cambria Math" panose="02040503050406030204" pitchFamily="18" charset="0"/>
                      </a:rPr>
                      <m:t>𝑛</m:t>
                    </m:r>
                  </m:oMath>
                </a14:m>
                <a:r>
                  <a:rPr lang="en-GB" dirty="0"/>
                  <a:t> are constants.</a:t>
                </a:r>
              </a:p>
            </p:txBody>
          </p:sp>
        </mc:Choice>
        <mc:Fallback xmlns="">
          <p:sp>
            <p:nvSpPr>
              <p:cNvPr id="23" name="TextBox 22"/>
              <p:cNvSpPr txBox="1">
                <a:spLocks noRot="1" noChangeAspect="1" noMove="1" noResize="1" noEditPoints="1" noAdjustHandles="1" noChangeArrowheads="1" noChangeShapeType="1" noTextEdit="1"/>
              </p:cNvSpPr>
              <p:nvPr/>
            </p:nvSpPr>
            <p:spPr>
              <a:xfrm>
                <a:off x="5564471" y="4906860"/>
                <a:ext cx="3492443" cy="761940"/>
              </a:xfrm>
              <a:prstGeom prst="rect">
                <a:avLst/>
              </a:prstGeom>
              <a:blipFill>
                <a:blip r:embed="rId14"/>
                <a:stretch>
                  <a:fillRect b="-2013"/>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5593499" y="5693637"/>
                <a:ext cx="3256001" cy="1046377"/>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3</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𝑏</m:t>
                          </m:r>
                        </m:e>
                        <m:sup>
                          <m:r>
                            <a:rPr lang="en-GB" b="0" i="1" smtClean="0">
                              <a:latin typeface="Cambria Math" panose="02040503050406030204" pitchFamily="18" charset="0"/>
                            </a:rPr>
                            <m:t>−2</m:t>
                          </m:r>
                        </m:sup>
                      </m:sSup>
                      <m:r>
                        <a:rPr lang="en-GB" b="0" i="1" smtClean="0">
                          <a:latin typeface="Cambria Math" panose="02040503050406030204" pitchFamily="18" charset="0"/>
                        </a:rPr>
                        <m:t>=3</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9</m:t>
                                  </m:r>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2</m:t>
                                  </m:r>
                                </m:sup>
                              </m:sSup>
                            </m:e>
                          </m:d>
                        </m:e>
                        <m:sup>
                          <m:r>
                            <a:rPr lang="en-GB" b="0" i="1" smtClean="0">
                              <a:latin typeface="Cambria Math" panose="02040503050406030204" pitchFamily="18" charset="0"/>
                            </a:rPr>
                            <m:t>−2</m:t>
                          </m:r>
                        </m:sup>
                      </m:sSup>
                    </m:oMath>
                    <m:oMath>
                      <m:r>
                        <a:rPr lang="en-GB" b="0" i="1" smtClean="0">
                          <a:latin typeface="Cambria Math" panose="02040503050406030204" pitchFamily="18" charset="0"/>
                        </a:rPr>
                        <m:t>=3</m:t>
                      </m:r>
                      <m:d>
                        <m:dPr>
                          <m:ctrlPr>
                            <a:rPr lang="en-GB" b="0" i="1" smtClean="0">
                              <a:latin typeface="Cambria Math" panose="02040503050406030204" pitchFamily="18" charset="0"/>
                            </a:rPr>
                          </m:ctrlPr>
                        </m:dPr>
                        <m:e>
                          <m:r>
                            <a:rPr lang="en-GB" b="0" i="1" smtClean="0">
                              <a:latin typeface="Cambria Math" panose="02040503050406030204" pitchFamily="18" charset="0"/>
                            </a:rPr>
                            <m:t>81</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−4</m:t>
                              </m:r>
                            </m:sup>
                          </m:sSup>
                        </m:e>
                      </m:d>
                      <m:r>
                        <a:rPr lang="en-GB" b="0" i="1" smtClean="0">
                          <a:latin typeface="Cambria Math" panose="02040503050406030204" pitchFamily="18" charset="0"/>
                        </a:rPr>
                        <m:t>=243</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−4</m:t>
                          </m:r>
                        </m:sup>
                      </m:sSup>
                    </m:oMath>
                  </m:oMathPara>
                </a14:m>
                <a:endParaRPr lang="en-GB" dirty="0"/>
              </a:p>
            </p:txBody>
          </p:sp>
        </mc:Choice>
        <mc:Fallback xmlns="">
          <p:sp>
            <p:nvSpPr>
              <p:cNvPr id="25" name="TextBox 24"/>
              <p:cNvSpPr txBox="1">
                <a:spLocks noRot="1" noChangeAspect="1" noMove="1" noResize="1" noEditPoints="1" noAdjustHandles="1" noChangeArrowheads="1" noChangeShapeType="1" noTextEdit="1"/>
              </p:cNvSpPr>
              <p:nvPr/>
            </p:nvSpPr>
            <p:spPr>
              <a:xfrm>
                <a:off x="5593499" y="5693637"/>
                <a:ext cx="3256001" cy="1046377"/>
              </a:xfrm>
              <a:prstGeom prst="rect">
                <a:avLst/>
              </a:prstGeom>
              <a:blipFill>
                <a:blip r:embed="rId15"/>
                <a:stretch>
                  <a:fillRect/>
                </a:stretch>
              </a:blipFill>
            </p:spPr>
            <p:txBody>
              <a:bodyPr/>
              <a:lstStyle/>
              <a:p>
                <a:r>
                  <a:rPr lang="en-GB">
                    <a:noFill/>
                  </a:rPr>
                  <a:t> </a:t>
                </a:r>
              </a:p>
            </p:txBody>
          </p:sp>
        </mc:Fallback>
      </mc:AlternateContent>
      <p:sp>
        <p:nvSpPr>
          <p:cNvPr id="24" name="Rectangle 23"/>
          <p:cNvSpPr/>
          <p:nvPr/>
        </p:nvSpPr>
        <p:spPr>
          <a:xfrm>
            <a:off x="5582389" y="5666030"/>
            <a:ext cx="3474525" cy="107398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147229395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9"/>
                                        </p:tgtEl>
                                      </p:cBhvr>
                                    </p:animEffect>
                                    <p:set>
                                      <p:cBhvr>
                                        <p:cTn id="13"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14" restart="whenNotActive" fill="hold" evtFilter="cancelBubble" nodeType="interactiveSeq">
                <p:stCondLst>
                  <p:cond evt="onClick" delay="0">
                    <p:tgtEl>
                      <p:spTgt spid="20"/>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0"/>
                                        </p:tgtEl>
                                      </p:cBhvr>
                                    </p:animEffect>
                                    <p:set>
                                      <p:cBhvr>
                                        <p:cTn id="19"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20" restart="whenNotActive" fill="hold" evtFilter="cancelBubble" nodeType="interactiveSeq">
                <p:stCondLst>
                  <p:cond evt="onClick" delay="0">
                    <p:tgtEl>
                      <p:spTgt spid="21"/>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21"/>
                                        </p:tgtEl>
                                      </p:cBhvr>
                                    </p:animEffect>
                                    <p:set>
                                      <p:cBhvr>
                                        <p:cTn id="25"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26" restart="whenNotActive" fill="hold" evtFilter="cancelBubble" nodeType="interactiveSeq">
                <p:stCondLst>
                  <p:cond evt="onClick" delay="0">
                    <p:tgtEl>
                      <p:spTgt spid="22"/>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22"/>
                                        </p:tgtEl>
                                      </p:cBhvr>
                                    </p:animEffect>
                                    <p:set>
                                      <p:cBhvr>
                                        <p:cTn id="31"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seq concurrent="1" nextAc="seek">
              <p:cTn id="32" restart="whenNotActive" fill="hold" evtFilter="cancelBubble" nodeType="interactiveSeq">
                <p:stCondLst>
                  <p:cond evt="onClick" delay="0">
                    <p:tgtEl>
                      <p:spTgt spid="24"/>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24"/>
                                        </p:tgtEl>
                                      </p:cBhvr>
                                    </p:animEffect>
                                    <p:set>
                                      <p:cBhvr>
                                        <p:cTn id="37"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childTnLst>
        </p:cTn>
      </p:par>
    </p:tnLst>
    <p:bldLst>
      <p:bldP spid="18" grpId="0" animBg="1"/>
      <p:bldP spid="19" grpId="0" animBg="1"/>
      <p:bldP spid="20" grpId="0" animBg="1"/>
      <p:bldP spid="21" grpId="0" animBg="1"/>
      <p:bldP spid="22" grpId="0" animBg="1"/>
      <p:bldP spid="24" grpId="0" animBg="1"/>
    </p:bldLst>
  </p:timing>
</p:sld>
</file>

<file path=ppt/c1/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Writing a surd using indices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452804" y="823944"/>
                <a:ext cx="6264696" cy="496483"/>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If </a:t>
                </a:r>
                <a14:m>
                  <m:oMath xmlns:m="http://schemas.openxmlformats.org/officeDocument/2006/math">
                    <m:r>
                      <a:rPr lang="en-GB" sz="2400" b="0" i="1" smtClean="0">
                        <a:latin typeface="Cambria Math" panose="02040503050406030204" pitchFamily="18" charset="0"/>
                      </a:rPr>
                      <m:t>9</m:t>
                    </m:r>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3</m:t>
                        </m:r>
                      </m:e>
                    </m:rad>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3</m:t>
                        </m:r>
                      </m:e>
                      <m:sup>
                        <m:r>
                          <a:rPr lang="en-GB" sz="2400" b="0" i="1" smtClean="0">
                            <a:latin typeface="Cambria Math" panose="02040503050406030204" pitchFamily="18" charset="0"/>
                          </a:rPr>
                          <m:t>𝑘</m:t>
                        </m:r>
                      </m:sup>
                    </m:sSup>
                  </m:oMath>
                </a14:m>
                <a:r>
                  <a:rPr lang="en-GB" sz="2400" dirty="0"/>
                  <a:t>, determine the value of </a:t>
                </a:r>
                <a14:m>
                  <m:oMath xmlns:m="http://schemas.openxmlformats.org/officeDocument/2006/math">
                    <m:r>
                      <a:rPr lang="en-GB" sz="2400" b="0" i="1" smtClean="0">
                        <a:latin typeface="Cambria Math" panose="02040503050406030204" pitchFamily="18" charset="0"/>
                      </a:rPr>
                      <m:t>𝑘</m:t>
                    </m:r>
                  </m:oMath>
                </a14:m>
                <a:r>
                  <a:rPr lang="en-GB" sz="2400"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452804" y="823944"/>
                <a:ext cx="6264696" cy="496483"/>
              </a:xfrm>
              <a:prstGeom prst="rect">
                <a:avLst/>
              </a:prstGeom>
              <a:blipFill>
                <a:blip r:embed="rId3"/>
                <a:stretch>
                  <a:fillRect b="-9434"/>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6" name="TextBox 5"/>
          <p:cNvSpPr txBox="1"/>
          <p:nvPr/>
        </p:nvSpPr>
        <p:spPr>
          <a:xfrm>
            <a:off x="480957" y="1345182"/>
            <a:ext cx="6264696" cy="707886"/>
          </a:xfrm>
          <a:prstGeom prst="rect">
            <a:avLst/>
          </a:prstGeom>
          <a:noFill/>
        </p:spPr>
        <p:txBody>
          <a:bodyPr wrap="square" rtlCol="0">
            <a:spAutoFit/>
          </a:bodyPr>
          <a:lstStyle/>
          <a:p>
            <a:r>
              <a:rPr lang="en-GB" sz="2000" dirty="0"/>
              <a:t>The key here is to write everything as powers with a consistent base, in this case, 3.</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96BC60A-EF6A-4CC7-8D3E-580DF6A6C4A1}"/>
                  </a:ext>
                </a:extLst>
              </p:cNvPr>
              <p:cNvSpPr txBox="1"/>
              <p:nvPr/>
            </p:nvSpPr>
            <p:spPr>
              <a:xfrm>
                <a:off x="1838443" y="2175370"/>
                <a:ext cx="2016224" cy="1916230"/>
              </a:xfrm>
              <a:prstGeom prst="rect">
                <a:avLst/>
              </a:prstGeom>
              <a:noFill/>
            </p:spPr>
            <p:txBody>
              <a:bodyPr wrap="square" rtlCol="0">
                <a:spAutoFit/>
              </a:bodyPr>
              <a:lstStyle/>
              <a:p>
                <a:pPr/>
                <a14:m>
                  <m:oMathPara xmlns:m="http://schemas.openxmlformats.org/officeDocument/2006/math">
                    <m:oMath>
                      <m:r>
                        <a:rPr lang="en-GB" sz="2000" b="0" i="1" smtClean="0">
                          <a:latin typeface="Cambria Math" panose="02040503050406030204" pitchFamily="18" charset="0"/>
                        </a:rPr>
                        <m:t>9</m:t>
                      </m:r>
                      <m:rad>
                        <m:radPr>
                          <m:degHide m:val="on"/>
                          <m:ctrlPr>
                            <a:rPr lang="en-GB" sz="2000" b="0" i="1" smtClean="0">
                              <a:latin typeface="Cambria Math" panose="02040503050406030204" pitchFamily="18" charset="0"/>
                            </a:rPr>
                          </m:ctrlPr>
                        </m:radPr>
                        <m:deg/>
                        <m:e>
                          <m:r>
                            <a:rPr lang="en-GB" sz="2000" b="0" i="1" smtClean="0">
                              <a:latin typeface="Cambria Math" panose="02040503050406030204" pitchFamily="18" charset="0"/>
                            </a:rPr>
                            <m:t>3</m:t>
                          </m:r>
                        </m:e>
                      </m:rad>
                      <m:r>
                        <a:rPr lang="en-GB" sz="2000" b="0" i="1" smtClean="0">
                          <a:latin typeface="Cambria Math" panose="02040503050406030204" pitchFamily="18" charset="0"/>
                        </a:rPr>
                        <m:t>=9×</m:t>
                      </m:r>
                      <m:rad>
                        <m:radPr>
                          <m:degHide m:val="on"/>
                          <m:ctrlPr>
                            <a:rPr lang="en-GB" sz="2000" b="0" i="1" smtClean="0">
                              <a:latin typeface="Cambria Math" panose="02040503050406030204" pitchFamily="18" charset="0"/>
                            </a:rPr>
                          </m:ctrlPr>
                        </m:radPr>
                        <m:deg/>
                        <m:e>
                          <m:r>
                            <a:rPr lang="en-GB" sz="2000" b="0" i="1" smtClean="0">
                              <a:latin typeface="Cambria Math" panose="02040503050406030204" pitchFamily="18" charset="0"/>
                            </a:rPr>
                            <m:t>3</m:t>
                          </m:r>
                        </m:e>
                      </m:rad>
                    </m:oMath>
                    <m:oMath>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3</m:t>
                          </m:r>
                        </m:e>
                        <m:sup>
                          <m:r>
                            <a:rPr lang="en-GB" sz="2000" b="0" i="1" smtClean="0">
                              <a:latin typeface="Cambria Math" panose="02040503050406030204" pitchFamily="18" charset="0"/>
                            </a:rPr>
                            <m:t>2</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3</m:t>
                          </m:r>
                        </m:e>
                        <m:sup>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2</m:t>
                              </m:r>
                            </m:den>
                          </m:f>
                        </m:sup>
                      </m:sSup>
                    </m:oMath>
                    <m:oMath>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3</m:t>
                          </m:r>
                        </m:e>
                        <m:sup>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5</m:t>
                              </m:r>
                            </m:num>
                            <m:den>
                              <m:r>
                                <a:rPr lang="en-GB" sz="2000" b="0" i="1" smtClean="0">
                                  <a:latin typeface="Cambria Math" panose="02040503050406030204" pitchFamily="18" charset="0"/>
                                </a:rPr>
                                <m:t>2</m:t>
                              </m:r>
                            </m:den>
                          </m:f>
                        </m:sup>
                      </m:sSup>
                    </m:oMath>
                  </m:oMathPara>
                </a14:m>
                <a:endParaRPr lang="en-GB" sz="2000" dirty="0"/>
              </a:p>
              <a:p>
                <a:pPr/>
                <a14:m>
                  <m:oMathPara xmlns:m="http://schemas.openxmlformats.org/officeDocument/2006/math">
                    <m:oMath>
                      <m:r>
                        <a:rPr lang="en-GB" sz="2000" b="0" i="1" smtClean="0">
                          <a:latin typeface="Cambria Math" panose="02040503050406030204" pitchFamily="18" charset="0"/>
                        </a:rPr>
                        <m:t>∴</m:t>
                      </m:r>
                      <m:r>
                        <a:rPr lang="en-GB" sz="2000" b="0" i="1" smtClean="0">
                          <a:latin typeface="Cambria Math" panose="02040503050406030204" pitchFamily="18" charset="0"/>
                        </a:rPr>
                        <m:t>𝑘</m:t>
                      </m:r>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5</m:t>
                          </m:r>
                        </m:num>
                        <m:den>
                          <m:r>
                            <a:rPr lang="en-GB" sz="2000" b="0" i="1" smtClean="0">
                              <a:latin typeface="Cambria Math" panose="02040503050406030204" pitchFamily="18" charset="0"/>
                            </a:rPr>
                            <m:t>2</m:t>
                          </m:r>
                        </m:den>
                      </m:f>
                    </m:oMath>
                  </m:oMathPara>
                </a14:m>
                <a:endParaRPr lang="en-GB" sz="2000" dirty="0"/>
              </a:p>
            </p:txBody>
          </p:sp>
        </mc:Choice>
        <mc:Fallback xmlns="">
          <p:sp>
            <p:nvSpPr>
              <p:cNvPr id="7" name="TextBox 6">
                <a:extLst>
                  <a:ext uri="{FF2B5EF4-FFF2-40B4-BE49-F238E27FC236}">
                    <a16:creationId xmlns:a16="http://schemas.microsoft.com/office/drawing/2014/main" id="{A96BC60A-EF6A-4CC7-8D3E-580DF6A6C4A1}"/>
                  </a:ext>
                </a:extLst>
              </p:cNvPr>
              <p:cNvSpPr txBox="1">
                <a:spLocks noRot="1" noChangeAspect="1" noMove="1" noResize="1" noEditPoints="1" noAdjustHandles="1" noChangeArrowheads="1" noChangeShapeType="1" noTextEdit="1"/>
              </p:cNvSpPr>
              <p:nvPr/>
            </p:nvSpPr>
            <p:spPr>
              <a:xfrm>
                <a:off x="1838443" y="2175370"/>
                <a:ext cx="2016224" cy="1916230"/>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E899475-F37A-4D40-A0AC-5F09027CFB44}"/>
                  </a:ext>
                </a:extLst>
              </p:cNvPr>
              <p:cNvSpPr txBox="1"/>
              <p:nvPr/>
            </p:nvSpPr>
            <p:spPr>
              <a:xfrm>
                <a:off x="5186815" y="2607418"/>
                <a:ext cx="2952328" cy="1024383"/>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Note</a:t>
                </a:r>
                <a:r>
                  <a:rPr lang="en-GB" dirty="0"/>
                  <a:t>: In algebra we like to avoid mixed numbers. So don’t write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3</m:t>
                        </m:r>
                      </m:e>
                      <m:sup>
                        <m:r>
                          <a:rPr lang="en-GB" b="0" i="1" smtClean="0">
                            <a:latin typeface="Cambria Math" panose="02040503050406030204" pitchFamily="18" charset="0"/>
                          </a:rPr>
                          <m:t>2</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r>
                          <a:rPr lang="en-GB" b="0" i="1" smtClean="0">
                            <a:latin typeface="Cambria Math" panose="02040503050406030204" pitchFamily="18" charset="0"/>
                          </a:rPr>
                          <m:t> </m:t>
                        </m:r>
                      </m:sup>
                    </m:sSup>
                  </m:oMath>
                </a14:m>
                <a:endParaRPr lang="en-GB" dirty="0"/>
              </a:p>
            </p:txBody>
          </p:sp>
        </mc:Choice>
        <mc:Fallback xmlns="">
          <p:sp>
            <p:nvSpPr>
              <p:cNvPr id="8" name="TextBox 7">
                <a:extLst>
                  <a:ext uri="{FF2B5EF4-FFF2-40B4-BE49-F238E27FC236}">
                    <a16:creationId xmlns:a16="http://schemas.microsoft.com/office/drawing/2014/main" id="{CE899475-F37A-4D40-A0AC-5F09027CFB44}"/>
                  </a:ext>
                </a:extLst>
              </p:cNvPr>
              <p:cNvSpPr txBox="1">
                <a:spLocks noRot="1" noChangeAspect="1" noMove="1" noResize="1" noEditPoints="1" noAdjustHandles="1" noChangeArrowheads="1" noChangeShapeType="1" noTextEdit="1"/>
              </p:cNvSpPr>
              <p:nvPr/>
            </p:nvSpPr>
            <p:spPr>
              <a:xfrm>
                <a:off x="5186815" y="2607418"/>
                <a:ext cx="2952328" cy="1024383"/>
              </a:xfrm>
              <a:prstGeom prst="rect">
                <a:avLst/>
              </a:prstGeom>
              <a:blipFill>
                <a:blip r:embed="rId5"/>
                <a:stretch>
                  <a:fillRect l="-1277" t="-1190" b="-7143"/>
                </a:stretch>
              </a:blipFill>
            </p:spPr>
            <p:txBody>
              <a:bodyPr/>
              <a:lstStyle/>
              <a:p>
                <a:r>
                  <a:rPr lang="en-GB">
                    <a:noFill/>
                  </a:rPr>
                  <a:t> </a:t>
                </a:r>
              </a:p>
            </p:txBody>
          </p:sp>
        </mc:Fallback>
      </mc:AlternateContent>
      <p:cxnSp>
        <p:nvCxnSpPr>
          <p:cNvPr id="10" name="Straight Arrow Connector 9">
            <a:extLst>
              <a:ext uri="{FF2B5EF4-FFF2-40B4-BE49-F238E27FC236}">
                <a16:creationId xmlns:a16="http://schemas.microsoft.com/office/drawing/2014/main" id="{3C140B72-4F95-4A0F-8AB6-E0C903B16EA6}"/>
              </a:ext>
            </a:extLst>
          </p:cNvPr>
          <p:cNvCxnSpPr>
            <a:stCxn id="8" idx="1"/>
          </p:cNvCxnSpPr>
          <p:nvPr/>
        </p:nvCxnSpPr>
        <p:spPr>
          <a:xfrm flipH="1">
            <a:off x="3278603" y="3119610"/>
            <a:ext cx="1908212" cy="638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0AC28E89-FFCC-4D87-990B-C3103098542D}"/>
              </a:ext>
            </a:extLst>
          </p:cNvPr>
          <p:cNvSpPr/>
          <p:nvPr/>
        </p:nvSpPr>
        <p:spPr>
          <a:xfrm>
            <a:off x="452804" y="1357786"/>
            <a:ext cx="8007628" cy="293531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5999827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3" grpId="0" animBg="1"/>
    </p:bldLst>
  </p:timing>
</p:sld>
</file>

<file path=ppt/c1/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CF66555-9EE1-41DE-9EA7-C461C3D35171}"/>
              </a:ext>
            </a:extLst>
          </p:cNvPr>
          <p:cNvGrpSpPr/>
          <p:nvPr/>
        </p:nvGrpSpPr>
        <p:grpSpPr>
          <a:xfrm>
            <a:off x="0" y="0"/>
            <a:ext cx="9143074" cy="599127"/>
            <a:chOff x="0" y="13335"/>
            <a:chExt cx="9144218" cy="599127"/>
          </a:xfrm>
        </p:grpSpPr>
        <p:sp>
          <p:nvSpPr>
            <p:cNvPr id="3" name="TextBox 32">
              <a:extLst>
                <a:ext uri="{FF2B5EF4-FFF2-40B4-BE49-F238E27FC236}">
                  <a16:creationId xmlns:a16="http://schemas.microsoft.com/office/drawing/2014/main" id="{69AA4B0B-C662-4A52-9F0D-844670D92B5D}"/>
                </a:ext>
              </a:extLst>
            </p:cNvPr>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Further Examples</a:t>
              </a:r>
            </a:p>
          </p:txBody>
        </p:sp>
        <p:cxnSp>
          <p:nvCxnSpPr>
            <p:cNvPr id="4" name="Straight Connector 3">
              <a:extLst>
                <a:ext uri="{FF2B5EF4-FFF2-40B4-BE49-F238E27FC236}">
                  <a16:creationId xmlns:a16="http://schemas.microsoft.com/office/drawing/2014/main" id="{EA175393-8652-4F9C-BA4E-95B93FBEC50E}"/>
                </a:ext>
              </a:extLst>
            </p:cNvPr>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607727A-4F3D-44B0-8464-4004ACA34403}"/>
                  </a:ext>
                </a:extLst>
              </p:cNvPr>
              <p:cNvSpPr txBox="1"/>
              <p:nvPr/>
            </p:nvSpPr>
            <p:spPr>
              <a:xfrm>
                <a:off x="4062662" y="808137"/>
                <a:ext cx="4824536" cy="159184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000" i="1" dirty="0"/>
                  <a:t>[Edexcel IAL C12 Jan 2019 Q2c] </a:t>
                </a:r>
                <a:r>
                  <a:rPr lang="en-GB" sz="2000" dirty="0"/>
                  <a:t>Given that </a:t>
                </a:r>
                <a14:m>
                  <m:oMath xmlns:m="http://schemas.openxmlformats.org/officeDocument/2006/math">
                    <m:r>
                      <a:rPr lang="en-GB" sz="2000" b="0" i="1" smtClean="0">
                        <a:latin typeface="Cambria Math" panose="02040503050406030204" pitchFamily="18" charset="0"/>
                      </a:rPr>
                      <m:t>𝑦</m:t>
                    </m:r>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𝑥</m:t>
                        </m:r>
                      </m:sup>
                    </m:sSup>
                  </m:oMath>
                </a14:m>
                <a:r>
                  <a:rPr lang="en-GB" sz="2000" dirty="0"/>
                  <a:t>, express the following in terms of </a:t>
                </a:r>
                <a14:m>
                  <m:oMath xmlns:m="http://schemas.openxmlformats.org/officeDocument/2006/math">
                    <m:r>
                      <a:rPr lang="en-GB" sz="2000" b="0" i="1" smtClean="0">
                        <a:latin typeface="Cambria Math" panose="02040503050406030204" pitchFamily="18" charset="0"/>
                      </a:rPr>
                      <m:t>𝑦</m:t>
                    </m:r>
                  </m:oMath>
                </a14:m>
                <a:r>
                  <a:rPr lang="en-GB" sz="2000" dirty="0"/>
                  <a:t>.</a:t>
                </a:r>
              </a:p>
              <a:p>
                <a:pPr/>
                <a14:m>
                  <m:oMathPara xmlns:m="http://schemas.openxmlformats.org/officeDocument/2006/math">
                    <m:oMath>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4</m:t>
                              </m:r>
                            </m:e>
                            <m:sup>
                              <m:r>
                                <a:rPr lang="en-GB" sz="2000" b="0" i="1" smtClean="0">
                                  <a:latin typeface="Cambria Math" panose="02040503050406030204" pitchFamily="18" charset="0"/>
                                </a:rPr>
                                <m:t>2</m:t>
                              </m:r>
                              <m:r>
                                <a:rPr lang="en-GB" sz="2000" b="0" i="1" smtClean="0">
                                  <a:latin typeface="Cambria Math" panose="02040503050406030204" pitchFamily="18" charset="0"/>
                                </a:rPr>
                                <m:t>𝑥</m:t>
                              </m:r>
                              <m:r>
                                <a:rPr lang="en-GB" sz="2000" b="0" i="1" smtClean="0">
                                  <a:latin typeface="Cambria Math" panose="02040503050406030204" pitchFamily="18" charset="0"/>
                                </a:rPr>
                                <m:t>−3</m:t>
                              </m:r>
                            </m:sup>
                          </m:sSup>
                        </m:den>
                      </m:f>
                    </m:oMath>
                  </m:oMathPara>
                </a14:m>
                <a:endParaRPr lang="en-GB" sz="2000" b="0" dirty="0"/>
              </a:p>
              <a:p>
                <a:r>
                  <a:rPr lang="en-GB" sz="2000" dirty="0"/>
                  <a:t>Write your expression in its simplest form.</a:t>
                </a:r>
              </a:p>
            </p:txBody>
          </p:sp>
        </mc:Choice>
        <mc:Fallback xmlns="">
          <p:sp>
            <p:nvSpPr>
              <p:cNvPr id="5" name="TextBox 4">
                <a:extLst>
                  <a:ext uri="{FF2B5EF4-FFF2-40B4-BE49-F238E27FC236}">
                    <a16:creationId xmlns:a16="http://schemas.microsoft.com/office/drawing/2014/main" id="{7607727A-4F3D-44B0-8464-4004ACA34403}"/>
                  </a:ext>
                </a:extLst>
              </p:cNvPr>
              <p:cNvSpPr txBox="1">
                <a:spLocks noRot="1" noChangeAspect="1" noMove="1" noResize="1" noEditPoints="1" noAdjustHandles="1" noChangeArrowheads="1" noChangeShapeType="1" noTextEdit="1"/>
              </p:cNvSpPr>
              <p:nvPr/>
            </p:nvSpPr>
            <p:spPr>
              <a:xfrm>
                <a:off x="4062662" y="808137"/>
                <a:ext cx="4824536" cy="1591846"/>
              </a:xfrm>
              <a:prstGeom prst="rect">
                <a:avLst/>
              </a:prstGeom>
              <a:blipFill>
                <a:blip r:embed="rId2"/>
                <a:stretch>
                  <a:fillRect b="-692"/>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B876357-D56C-471A-A629-1A90B35FB793}"/>
                  </a:ext>
                </a:extLst>
              </p:cNvPr>
              <p:cNvSpPr txBox="1"/>
              <p:nvPr/>
            </p:nvSpPr>
            <p:spPr>
              <a:xfrm>
                <a:off x="4319974" y="2708920"/>
                <a:ext cx="3096344" cy="2838213"/>
              </a:xfrm>
              <a:prstGeom prst="rect">
                <a:avLst/>
              </a:prstGeom>
              <a:noFill/>
            </p:spPr>
            <p:txBody>
              <a:bodyPr wrap="square" rtlCol="0">
                <a:spAutoFit/>
              </a:bodyPr>
              <a:lstStyle/>
              <a:p>
                <a:pPr/>
                <a14:m>
                  <m:oMathPara xmlns:m="http://schemas.openxmlformats.org/officeDocument/2006/math">
                    <m:oMath>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4</m:t>
                              </m:r>
                            </m:e>
                            <m:sup>
                              <m:r>
                                <a:rPr lang="en-GB" sz="2000" b="0" i="1" smtClean="0">
                                  <a:latin typeface="Cambria Math" panose="02040503050406030204" pitchFamily="18" charset="0"/>
                                </a:rPr>
                                <m:t>2</m:t>
                              </m:r>
                              <m:r>
                                <a:rPr lang="en-GB" sz="2000" b="0" i="1" smtClean="0">
                                  <a:latin typeface="Cambria Math" panose="02040503050406030204" pitchFamily="18" charset="0"/>
                                </a:rPr>
                                <m:t>𝑥</m:t>
                              </m:r>
                              <m:r>
                                <a:rPr lang="en-GB" sz="2000" b="0" i="1" smtClean="0">
                                  <a:latin typeface="Cambria Math" panose="02040503050406030204" pitchFamily="18" charset="0"/>
                                </a:rPr>
                                <m:t>−3</m:t>
                              </m:r>
                            </m:sup>
                          </m:sSup>
                        </m:den>
                      </m:f>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4</m:t>
                          </m:r>
                        </m:e>
                        <m:sup>
                          <m:r>
                            <a:rPr lang="en-GB" sz="2000" b="0" i="1" smtClean="0">
                              <a:latin typeface="Cambria Math" panose="02040503050406030204" pitchFamily="18" charset="0"/>
                            </a:rPr>
                            <m:t>−(2</m:t>
                          </m:r>
                          <m:r>
                            <a:rPr lang="en-GB" sz="2000" b="0" i="1" smtClean="0">
                              <a:latin typeface="Cambria Math" panose="02040503050406030204" pitchFamily="18" charset="0"/>
                            </a:rPr>
                            <m:t>𝑥</m:t>
                          </m:r>
                          <m:r>
                            <a:rPr lang="en-GB" sz="2000" b="0" i="1" smtClean="0">
                              <a:latin typeface="Cambria Math" panose="02040503050406030204" pitchFamily="18" charset="0"/>
                            </a:rPr>
                            <m:t>−3)</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4</m:t>
                          </m:r>
                        </m:e>
                        <m:sup>
                          <m:r>
                            <a:rPr lang="en-GB" sz="2000" b="0" i="1" smtClean="0">
                              <a:latin typeface="Cambria Math" panose="02040503050406030204" pitchFamily="18" charset="0"/>
                            </a:rPr>
                            <m:t>−2</m:t>
                          </m:r>
                          <m:r>
                            <a:rPr lang="en-GB" sz="2000" b="0" i="1" smtClean="0">
                              <a:latin typeface="Cambria Math" panose="02040503050406030204" pitchFamily="18" charset="0"/>
                            </a:rPr>
                            <m:t>𝑥</m:t>
                          </m:r>
                          <m:r>
                            <a:rPr lang="en-GB" sz="2000" b="0" i="1" smtClean="0">
                              <a:latin typeface="Cambria Math" panose="02040503050406030204" pitchFamily="18" charset="0"/>
                            </a:rPr>
                            <m:t>+3</m:t>
                          </m:r>
                        </m:sup>
                      </m:sSup>
                    </m:oMath>
                    <m:oMath>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2</m:t>
                                  </m:r>
                                </m:sup>
                              </m:sSup>
                            </m:e>
                          </m:d>
                        </m:e>
                        <m:sup>
                          <m:r>
                            <a:rPr lang="en-GB" sz="2000" b="0" i="1" smtClean="0">
                              <a:latin typeface="Cambria Math" panose="02040503050406030204" pitchFamily="18" charset="0"/>
                            </a:rPr>
                            <m:t>−2</m:t>
                          </m:r>
                          <m:r>
                            <a:rPr lang="en-GB" sz="2000" b="0" i="1" smtClean="0">
                              <a:latin typeface="Cambria Math" panose="02040503050406030204" pitchFamily="18" charset="0"/>
                            </a:rPr>
                            <m:t>𝑥</m:t>
                          </m:r>
                          <m:r>
                            <a:rPr lang="en-GB" sz="2000" b="0" i="1" smtClean="0">
                              <a:latin typeface="Cambria Math" panose="02040503050406030204" pitchFamily="18" charset="0"/>
                            </a:rPr>
                            <m:t>+3</m:t>
                          </m:r>
                        </m:sup>
                      </m:sSup>
                    </m:oMath>
                    <m:oMath>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−4</m:t>
                          </m:r>
                          <m:r>
                            <a:rPr lang="en-GB" sz="2000" b="0" i="1" smtClean="0">
                              <a:latin typeface="Cambria Math" panose="02040503050406030204" pitchFamily="18" charset="0"/>
                            </a:rPr>
                            <m:t>𝑥</m:t>
                          </m:r>
                          <m:r>
                            <a:rPr lang="en-GB" sz="2000" b="0" i="1" smtClean="0">
                              <a:latin typeface="Cambria Math" panose="02040503050406030204" pitchFamily="18" charset="0"/>
                            </a:rPr>
                            <m:t>+6</m:t>
                          </m:r>
                        </m:sup>
                      </m:sSup>
                    </m:oMath>
                    <m:oMath>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−4</m:t>
                          </m:r>
                          <m:r>
                            <a:rPr lang="en-GB" sz="2000" b="0" i="1" smtClean="0">
                              <a:latin typeface="Cambria Math" panose="02040503050406030204" pitchFamily="18" charset="0"/>
                            </a:rPr>
                            <m:t>𝑥</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6</m:t>
                          </m:r>
                        </m:sup>
                      </m:sSup>
                    </m:oMath>
                    <m:oMath>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𝑥</m:t>
                                  </m:r>
                                </m:sup>
                              </m:sSup>
                            </m:e>
                          </m:d>
                        </m:e>
                        <m:sup>
                          <m:r>
                            <a:rPr lang="en-GB" sz="2000" b="0" i="1" smtClean="0">
                              <a:latin typeface="Cambria Math" panose="02040503050406030204" pitchFamily="18" charset="0"/>
                            </a:rPr>
                            <m:t>−4</m:t>
                          </m:r>
                        </m:sup>
                      </m:sSup>
                      <m:r>
                        <a:rPr lang="en-GB" sz="2000" b="0" i="1" smtClean="0">
                          <a:latin typeface="Cambria Math" panose="02040503050406030204" pitchFamily="18" charset="0"/>
                        </a:rPr>
                        <m:t>×64</m:t>
                      </m:r>
                    </m:oMath>
                    <m:oMath>
                      <m:r>
                        <a:rPr lang="en-GB" sz="2000" b="0" i="1" smtClean="0">
                          <a:latin typeface="Cambria Math" panose="02040503050406030204" pitchFamily="18" charset="0"/>
                        </a:rPr>
                        <m:t>=64</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𝑦</m:t>
                          </m:r>
                        </m:e>
                        <m:sup>
                          <m:r>
                            <a:rPr lang="en-GB" sz="2000" b="0" i="1" smtClean="0">
                              <a:latin typeface="Cambria Math" panose="02040503050406030204" pitchFamily="18" charset="0"/>
                            </a:rPr>
                            <m:t>−4</m:t>
                          </m:r>
                        </m:sup>
                      </m:sSup>
                      <m:r>
                        <a:rPr lang="en-GB" sz="2000" b="0" i="0" smtClean="0">
                          <a:latin typeface="Cambria Math" panose="02040503050406030204" pitchFamily="18" charset="0"/>
                        </a:rPr>
                        <m:t>   </m:t>
                      </m:r>
                      <m:r>
                        <m:rPr>
                          <m:sty m:val="p"/>
                        </m:rPr>
                        <a:rPr lang="en-GB" sz="2000" b="0" i="0" smtClean="0">
                          <a:latin typeface="Cambria Math" panose="02040503050406030204" pitchFamily="18" charset="0"/>
                        </a:rPr>
                        <m:t>or</m:t>
                      </m:r>
                      <m:r>
                        <a:rPr lang="en-GB" sz="2000" b="0" i="0" smtClean="0">
                          <a:latin typeface="Cambria Math" panose="02040503050406030204" pitchFamily="18" charset="0"/>
                        </a:rPr>
                        <m:t>    </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64</m:t>
                          </m:r>
                        </m:num>
                        <m:den>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𝑦</m:t>
                              </m:r>
                            </m:e>
                            <m:sup>
                              <m:r>
                                <a:rPr lang="en-GB" sz="2000" b="0" i="1" smtClean="0">
                                  <a:latin typeface="Cambria Math" panose="02040503050406030204" pitchFamily="18" charset="0"/>
                                </a:rPr>
                                <m:t>4</m:t>
                              </m:r>
                            </m:sup>
                          </m:sSup>
                        </m:den>
                      </m:f>
                    </m:oMath>
                  </m:oMathPara>
                </a14:m>
                <a:endParaRPr lang="en-GB" sz="2000" dirty="0"/>
              </a:p>
            </p:txBody>
          </p:sp>
        </mc:Choice>
        <mc:Fallback xmlns="">
          <p:sp>
            <p:nvSpPr>
              <p:cNvPr id="6" name="TextBox 5">
                <a:extLst>
                  <a:ext uri="{FF2B5EF4-FFF2-40B4-BE49-F238E27FC236}">
                    <a16:creationId xmlns:a16="http://schemas.microsoft.com/office/drawing/2014/main" id="{4B876357-D56C-471A-A629-1A90B35FB793}"/>
                  </a:ext>
                </a:extLst>
              </p:cNvPr>
              <p:cNvSpPr txBox="1">
                <a:spLocks noRot="1" noChangeAspect="1" noMove="1" noResize="1" noEditPoints="1" noAdjustHandles="1" noChangeArrowheads="1" noChangeShapeType="1" noTextEdit="1"/>
              </p:cNvSpPr>
              <p:nvPr/>
            </p:nvSpPr>
            <p:spPr>
              <a:xfrm>
                <a:off x="4319974" y="2708920"/>
                <a:ext cx="3096344" cy="283821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0ACB27A-BAF8-4F5F-B6CD-E84E48C207D1}"/>
                  </a:ext>
                </a:extLst>
              </p:cNvPr>
              <p:cNvSpPr txBox="1"/>
              <p:nvPr/>
            </p:nvSpPr>
            <p:spPr>
              <a:xfrm>
                <a:off x="395536" y="785759"/>
                <a:ext cx="3384376" cy="1614224"/>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000" i="1" dirty="0"/>
                  <a:t>[Edexcel IGCSE May14-4H] </a:t>
                </a:r>
                <a:r>
                  <a:rPr lang="en-GB" sz="2000" dirty="0"/>
                  <a:t>Given that</a:t>
                </a:r>
              </a:p>
              <a:p>
                <a:pPr/>
                <a14:m>
                  <m:oMathPara xmlns:m="http://schemas.openxmlformats.org/officeDocument/2006/math">
                    <m:oMath>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2</m:t>
                                      </m:r>
                                    </m:den>
                                  </m:f>
                                </m:sup>
                              </m:sSup>
                            </m:e>
                          </m:d>
                        </m:e>
                        <m:sup>
                          <m:r>
                            <a:rPr lang="en-GB" sz="2000" b="0" i="1" smtClean="0">
                              <a:latin typeface="Cambria Math" panose="02040503050406030204" pitchFamily="18" charset="0"/>
                            </a:rPr>
                            <m:t>𝑛</m:t>
                          </m:r>
                        </m:sup>
                      </m:sSup>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𝑥</m:t>
                              </m:r>
                            </m:sup>
                          </m:sSup>
                        </m:num>
                        <m:den>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8</m:t>
                              </m:r>
                            </m:e>
                            <m:sup>
                              <m:r>
                                <a:rPr lang="en-GB" sz="2000" b="0" i="1" smtClean="0">
                                  <a:latin typeface="Cambria Math" panose="02040503050406030204" pitchFamily="18" charset="0"/>
                                </a:rPr>
                                <m:t>𝑦</m:t>
                              </m:r>
                            </m:sup>
                          </m:sSup>
                        </m:den>
                      </m:f>
                    </m:oMath>
                  </m:oMathPara>
                </a14:m>
                <a:endParaRPr lang="en-GB" sz="2000" dirty="0"/>
              </a:p>
              <a:p>
                <a:r>
                  <a:rPr lang="en-GB" sz="2000" dirty="0"/>
                  <a:t>Express </a:t>
                </a:r>
                <a14:m>
                  <m:oMath xmlns:m="http://schemas.openxmlformats.org/officeDocument/2006/math">
                    <m:r>
                      <a:rPr lang="en-GB" sz="2000" b="0" i="1" smtClean="0">
                        <a:latin typeface="Cambria Math" panose="02040503050406030204" pitchFamily="18" charset="0"/>
                      </a:rPr>
                      <m:t>𝑛</m:t>
                    </m:r>
                  </m:oMath>
                </a14:m>
                <a:r>
                  <a:rPr lang="en-GB" sz="2000" dirty="0"/>
                  <a:t> in terms of </a:t>
                </a:r>
                <a14:m>
                  <m:oMath xmlns:m="http://schemas.openxmlformats.org/officeDocument/2006/math">
                    <m:r>
                      <a:rPr lang="en-GB" sz="2000" b="0" i="1" smtClean="0">
                        <a:latin typeface="Cambria Math" panose="02040503050406030204" pitchFamily="18" charset="0"/>
                      </a:rPr>
                      <m:t>𝑥</m:t>
                    </m:r>
                  </m:oMath>
                </a14:m>
                <a:r>
                  <a:rPr lang="en-GB" sz="2000" dirty="0"/>
                  <a:t> and </a:t>
                </a:r>
                <a14:m>
                  <m:oMath xmlns:m="http://schemas.openxmlformats.org/officeDocument/2006/math">
                    <m:r>
                      <a:rPr lang="en-GB" sz="2000" b="0" i="1" smtClean="0">
                        <a:latin typeface="Cambria Math" panose="02040503050406030204" pitchFamily="18" charset="0"/>
                      </a:rPr>
                      <m:t>𝑦</m:t>
                    </m:r>
                  </m:oMath>
                </a14:m>
                <a:r>
                  <a:rPr lang="en-GB" sz="2000" dirty="0"/>
                  <a:t>.</a:t>
                </a:r>
              </a:p>
            </p:txBody>
          </p:sp>
        </mc:Choice>
        <mc:Fallback xmlns="">
          <p:sp>
            <p:nvSpPr>
              <p:cNvPr id="7" name="TextBox 6">
                <a:extLst>
                  <a:ext uri="{FF2B5EF4-FFF2-40B4-BE49-F238E27FC236}">
                    <a16:creationId xmlns:a16="http://schemas.microsoft.com/office/drawing/2014/main" id="{B0ACB27A-BAF8-4F5F-B6CD-E84E48C207D1}"/>
                  </a:ext>
                </a:extLst>
              </p:cNvPr>
              <p:cNvSpPr txBox="1">
                <a:spLocks noRot="1" noChangeAspect="1" noMove="1" noResize="1" noEditPoints="1" noAdjustHandles="1" noChangeArrowheads="1" noChangeShapeType="1" noTextEdit="1"/>
              </p:cNvSpPr>
              <p:nvPr/>
            </p:nvSpPr>
            <p:spPr>
              <a:xfrm>
                <a:off x="395536" y="785759"/>
                <a:ext cx="3384376" cy="1614224"/>
              </a:xfrm>
              <a:prstGeom prst="rect">
                <a:avLst/>
              </a:prstGeom>
              <a:blipFill>
                <a:blip r:embed="rId4"/>
                <a:stretch>
                  <a:fillRect b="-341"/>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E31956C-901A-4282-BE46-DFD6B32856EF}"/>
                  </a:ext>
                </a:extLst>
              </p:cNvPr>
              <p:cNvSpPr txBox="1"/>
              <p:nvPr/>
            </p:nvSpPr>
            <p:spPr>
              <a:xfrm>
                <a:off x="611560" y="2624304"/>
                <a:ext cx="2664296" cy="1991827"/>
              </a:xfrm>
              <a:prstGeom prst="rect">
                <a:avLst/>
              </a:prstGeom>
              <a:noFill/>
            </p:spPr>
            <p:txBody>
              <a:bodyPr wrap="square" rtlCol="0">
                <a:spAutoFit/>
              </a:bodyPr>
              <a:lstStyle/>
              <a:p>
                <a:pPr/>
                <a14:m>
                  <m:oMathPara xmlns:m="http://schemas.openxmlformats.org/officeDocument/2006/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r>
                            <a:rPr lang="en-GB" b="0" i="1" smtClean="0">
                              <a:latin typeface="Cambria Math" panose="02040503050406030204" pitchFamily="18" charset="0"/>
                            </a:rPr>
                            <m:t>𝑛</m:t>
                          </m:r>
                        </m:sup>
                      </m:sSup>
                      <m:r>
                        <a:rPr lang="en-GB" b="0" i="1" smtClean="0">
                          <a:latin typeface="Cambria Math" panose="02040503050406030204" pitchFamily="18" charset="0"/>
                        </a:rPr>
                        <m:t>=</m:t>
                      </m:r>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𝑥</m:t>
                              </m:r>
                            </m:sup>
                          </m:sSup>
                        </m:num>
                        <m:den>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3</m:t>
                                      </m:r>
                                    </m:sup>
                                  </m:sSup>
                                </m:e>
                              </m:d>
                            </m:e>
                            <m:sup>
                              <m:r>
                                <a:rPr lang="en-GB" b="0" i="1" smtClean="0">
                                  <a:latin typeface="Cambria Math" panose="02040503050406030204" pitchFamily="18" charset="0"/>
                                </a:rPr>
                                <m:t>𝑦</m:t>
                              </m:r>
                            </m:sup>
                          </m:sSup>
                        </m:den>
                      </m:f>
                    </m:oMath>
                    <m:oMath>
                      <m:r>
                        <a:rPr lang="en-GB" b="0" i="1" smtClean="0">
                          <a:latin typeface="Cambria Math" panose="02040503050406030204" pitchFamily="18" charset="0"/>
                        </a:rPr>
                        <m:t>=</m:t>
                      </m:r>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𝑥</m:t>
                              </m:r>
                            </m:sup>
                          </m:sSup>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3</m:t>
                              </m:r>
                              <m:r>
                                <a:rPr lang="en-GB" b="0" i="1" smtClean="0">
                                  <a:latin typeface="Cambria Math" panose="02040503050406030204" pitchFamily="18" charset="0"/>
                                </a:rPr>
                                <m:t>𝑦</m:t>
                              </m:r>
                            </m:sup>
                          </m:sSup>
                        </m:den>
                      </m:f>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𝑥</m:t>
                          </m:r>
                          <m:r>
                            <a:rPr lang="en-GB" b="0" i="1" smtClean="0">
                              <a:latin typeface="Cambria Math" panose="02040503050406030204" pitchFamily="18" charset="0"/>
                            </a:rPr>
                            <m:t>−3</m:t>
                          </m:r>
                          <m:r>
                            <a:rPr lang="en-GB" b="0" i="1" smtClean="0">
                              <a:latin typeface="Cambria Math" panose="02040503050406030204" pitchFamily="18" charset="0"/>
                            </a:rPr>
                            <m:t>𝑦</m:t>
                          </m:r>
                        </m:sup>
                      </m:sSup>
                    </m:oMath>
                    <m:o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−3</m:t>
                      </m:r>
                      <m:r>
                        <a:rPr lang="en-GB" b="0" i="1" smtClean="0">
                          <a:latin typeface="Cambria Math" panose="02040503050406030204" pitchFamily="18" charset="0"/>
                        </a:rPr>
                        <m:t>𝑦</m:t>
                      </m:r>
                    </m:oMath>
                    <m:oMath>
                      <m:r>
                        <a:rPr lang="en-GB" b="0" i="1" smtClean="0">
                          <a:latin typeface="Cambria Math" panose="02040503050406030204" pitchFamily="18" charset="0"/>
                        </a:rPr>
                        <m:t>𝑛</m:t>
                      </m:r>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−6</m:t>
                      </m:r>
                      <m:r>
                        <a:rPr lang="en-GB" b="0" i="1" smtClean="0">
                          <a:latin typeface="Cambria Math" panose="02040503050406030204" pitchFamily="18" charset="0"/>
                        </a:rPr>
                        <m:t>𝑦</m:t>
                      </m:r>
                    </m:oMath>
                  </m:oMathPara>
                </a14:m>
                <a:endParaRPr lang="en-GB" dirty="0"/>
              </a:p>
            </p:txBody>
          </p:sp>
        </mc:Choice>
        <mc:Fallback xmlns="">
          <p:sp>
            <p:nvSpPr>
              <p:cNvPr id="8" name="TextBox 7">
                <a:extLst>
                  <a:ext uri="{FF2B5EF4-FFF2-40B4-BE49-F238E27FC236}">
                    <a16:creationId xmlns:a16="http://schemas.microsoft.com/office/drawing/2014/main" id="{3E31956C-901A-4282-BE46-DFD6B32856EF}"/>
                  </a:ext>
                </a:extLst>
              </p:cNvPr>
              <p:cNvSpPr txBox="1">
                <a:spLocks noRot="1" noChangeAspect="1" noMove="1" noResize="1" noEditPoints="1" noAdjustHandles="1" noChangeArrowheads="1" noChangeShapeType="1" noTextEdit="1"/>
              </p:cNvSpPr>
              <p:nvPr/>
            </p:nvSpPr>
            <p:spPr>
              <a:xfrm>
                <a:off x="611560" y="2624304"/>
                <a:ext cx="2664296" cy="1991827"/>
              </a:xfrm>
              <a:prstGeom prst="rect">
                <a:avLst/>
              </a:prstGeom>
              <a:blipFill>
                <a:blip r:embed="rId5"/>
                <a:stretch>
                  <a:fillRect b="-1529"/>
                </a:stretch>
              </a:blipFill>
            </p:spPr>
            <p:txBody>
              <a:bodyPr/>
              <a:lstStyle/>
              <a:p>
                <a:r>
                  <a:rPr lang="en-GB">
                    <a:noFill/>
                  </a:rPr>
                  <a:t> </a:t>
                </a:r>
              </a:p>
            </p:txBody>
          </p:sp>
        </mc:Fallback>
      </mc:AlternateContent>
      <p:sp>
        <p:nvSpPr>
          <p:cNvPr id="9" name="TextBox 8">
            <a:extLst>
              <a:ext uri="{FF2B5EF4-FFF2-40B4-BE49-F238E27FC236}">
                <a16:creationId xmlns:a16="http://schemas.microsoft.com/office/drawing/2014/main" id="{9FD45277-CF41-42F8-A4B4-31960FF482BE}"/>
              </a:ext>
            </a:extLst>
          </p:cNvPr>
          <p:cNvSpPr txBox="1"/>
          <p:nvPr/>
        </p:nvSpPr>
        <p:spPr>
          <a:xfrm>
            <a:off x="1547664" y="5013176"/>
            <a:ext cx="2376264" cy="1477328"/>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t>Write 8 as a power of 2 (putting a bracket around it), for consistency of base with the other powers.</a:t>
            </a:r>
          </a:p>
        </p:txBody>
      </p:sp>
      <p:cxnSp>
        <p:nvCxnSpPr>
          <p:cNvPr id="11" name="Straight Arrow Connector 10">
            <a:extLst>
              <a:ext uri="{FF2B5EF4-FFF2-40B4-BE49-F238E27FC236}">
                <a16:creationId xmlns:a16="http://schemas.microsoft.com/office/drawing/2014/main" id="{2CD79400-B1D1-465F-B557-A2F492B7052F}"/>
              </a:ext>
            </a:extLst>
          </p:cNvPr>
          <p:cNvCxnSpPr/>
          <p:nvPr/>
        </p:nvCxnSpPr>
        <p:spPr>
          <a:xfrm flipH="1" flipV="1">
            <a:off x="2771800" y="3212976"/>
            <a:ext cx="1008112" cy="18002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Rectangle 11">
            <a:extLst>
              <a:ext uri="{FF2B5EF4-FFF2-40B4-BE49-F238E27FC236}">
                <a16:creationId xmlns:a16="http://schemas.microsoft.com/office/drawing/2014/main" id="{58F36A1F-B1D2-4473-B437-380807025575}"/>
              </a:ext>
            </a:extLst>
          </p:cNvPr>
          <p:cNvSpPr/>
          <p:nvPr/>
        </p:nvSpPr>
        <p:spPr>
          <a:xfrm>
            <a:off x="395536" y="2387944"/>
            <a:ext cx="3528392" cy="420940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3" name="Rectangle 12">
            <a:extLst>
              <a:ext uri="{FF2B5EF4-FFF2-40B4-BE49-F238E27FC236}">
                <a16:creationId xmlns:a16="http://schemas.microsoft.com/office/drawing/2014/main" id="{F0D06E12-0B2F-4DD4-95EF-DB4B569873F8}"/>
              </a:ext>
            </a:extLst>
          </p:cNvPr>
          <p:cNvSpPr/>
          <p:nvPr/>
        </p:nvSpPr>
        <p:spPr>
          <a:xfrm>
            <a:off x="4070523" y="2399983"/>
            <a:ext cx="4819254" cy="420940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62622993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2" grpId="0" animBg="1"/>
      <p:bldP spid="13" grpId="0" animBg="1"/>
    </p:bldLst>
  </p:timing>
</p:sld>
</file>

<file path=ppt/c1/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2ACC42E-2DB1-4372-AB90-AFDF6AB38E06}"/>
              </a:ext>
            </a:extLst>
          </p:cNvPr>
          <p:cNvGrpSpPr/>
          <p:nvPr/>
        </p:nvGrpSpPr>
        <p:grpSpPr>
          <a:xfrm>
            <a:off x="0" y="0"/>
            <a:ext cx="9143074" cy="599127"/>
            <a:chOff x="0" y="13335"/>
            <a:chExt cx="9144218" cy="599127"/>
          </a:xfrm>
        </p:grpSpPr>
        <p:sp>
          <p:nvSpPr>
            <p:cNvPr id="3" name="TextBox 32">
              <a:extLst>
                <a:ext uri="{FF2B5EF4-FFF2-40B4-BE49-F238E27FC236}">
                  <a16:creationId xmlns:a16="http://schemas.microsoft.com/office/drawing/2014/main" id="{91AC5797-AE5C-45CD-BE8A-1CF970152838}"/>
                </a:ext>
              </a:extLst>
            </p:cNvPr>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a:extLst>
                <a:ext uri="{FF2B5EF4-FFF2-40B4-BE49-F238E27FC236}">
                  <a16:creationId xmlns:a16="http://schemas.microsoft.com/office/drawing/2014/main" id="{26B5C283-02DB-41E6-A790-660600269DAB}"/>
                </a:ext>
              </a:extLst>
            </p:cNvPr>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EDDD3B93-70B5-4CE5-B577-EFB44BB922E8}"/>
              </a:ext>
            </a:extLst>
          </p:cNvPr>
          <p:cNvPicPr>
            <a:picLocks noChangeAspect="1"/>
          </p:cNvPicPr>
          <p:nvPr/>
        </p:nvPicPr>
        <p:blipFill>
          <a:blip r:embed="rId2"/>
          <a:stretch>
            <a:fillRect/>
          </a:stretch>
        </p:blipFill>
        <p:spPr>
          <a:xfrm>
            <a:off x="539552" y="1293679"/>
            <a:ext cx="6934200" cy="1638300"/>
          </a:xfrm>
          <a:prstGeom prst="rect">
            <a:avLst/>
          </a:prstGeom>
          <a:effectLst>
            <a:outerShdw blurRad="63500" sx="102000" sy="102000" algn="ctr" rotWithShape="0">
              <a:prstClr val="black">
                <a:alpha val="40000"/>
              </a:prstClr>
            </a:outerShdw>
          </a:effectLst>
        </p:spPr>
      </p:pic>
      <p:sp>
        <p:nvSpPr>
          <p:cNvPr id="6" name="TextBox 5">
            <a:extLst>
              <a:ext uri="{FF2B5EF4-FFF2-40B4-BE49-F238E27FC236}">
                <a16:creationId xmlns:a16="http://schemas.microsoft.com/office/drawing/2014/main" id="{71FC8F43-A93A-4C16-851F-271FFD9DA1C4}"/>
              </a:ext>
            </a:extLst>
          </p:cNvPr>
          <p:cNvSpPr txBox="1"/>
          <p:nvPr/>
        </p:nvSpPr>
        <p:spPr>
          <a:xfrm>
            <a:off x="539552" y="908720"/>
            <a:ext cx="3096344"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Edexcel Paper 2 – May 2019</a:t>
            </a:r>
          </a:p>
        </p:txBody>
      </p:sp>
      <p:pic>
        <p:nvPicPr>
          <p:cNvPr id="8" name="Picture 7">
            <a:extLst>
              <a:ext uri="{FF2B5EF4-FFF2-40B4-BE49-F238E27FC236}">
                <a16:creationId xmlns:a16="http://schemas.microsoft.com/office/drawing/2014/main" id="{4BA18F1E-C8C4-43F7-B51B-CD0B9510A0B1}"/>
              </a:ext>
            </a:extLst>
          </p:cNvPr>
          <p:cNvPicPr>
            <a:picLocks noChangeAspect="1"/>
          </p:cNvPicPr>
          <p:nvPr/>
        </p:nvPicPr>
        <p:blipFill>
          <a:blip r:embed="rId3"/>
          <a:stretch>
            <a:fillRect/>
          </a:stretch>
        </p:blipFill>
        <p:spPr>
          <a:xfrm>
            <a:off x="1032693" y="3426506"/>
            <a:ext cx="7058025" cy="1962150"/>
          </a:xfrm>
          <a:prstGeom prst="rect">
            <a:avLst/>
          </a:prstGeom>
        </p:spPr>
      </p:pic>
      <p:sp>
        <p:nvSpPr>
          <p:cNvPr id="9" name="Rectangle 8">
            <a:extLst>
              <a:ext uri="{FF2B5EF4-FFF2-40B4-BE49-F238E27FC236}">
                <a16:creationId xmlns:a16="http://schemas.microsoft.com/office/drawing/2014/main" id="{9D82BBBE-DF98-4237-8ED8-D895CB9B9878}"/>
              </a:ext>
            </a:extLst>
          </p:cNvPr>
          <p:cNvSpPr/>
          <p:nvPr/>
        </p:nvSpPr>
        <p:spPr>
          <a:xfrm>
            <a:off x="539552" y="3284984"/>
            <a:ext cx="7920880" cy="225248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93340718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9" grpId="0" animBg="1"/>
    </p:bldLst>
  </p:timing>
</p:sld>
</file>

<file path=ppt/c1/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1D</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3584622" y="3182108"/>
            <a:ext cx="5423937" cy="3619528"/>
          </a:xfrm>
          <a:prstGeom prst="rect">
            <a:avLst/>
          </a:prstGeom>
          <a:noFill/>
          <a:ln>
            <a:noFill/>
          </a:ln>
        </p:spPr>
      </p:pic>
      <mc:AlternateContent xmlns:mc="http://schemas.openxmlformats.org/markup-compatibility/2006" xmlns:a14="http://schemas.microsoft.com/office/drawing/2010/main">
        <mc:Choice Requires="a14">
          <p:sp>
            <p:nvSpPr>
              <p:cNvPr id="9" name="TextBox 8"/>
              <p:cNvSpPr txBox="1"/>
              <p:nvPr/>
            </p:nvSpPr>
            <p:spPr>
              <a:xfrm>
                <a:off x="5379550" y="5460868"/>
                <a:ext cx="3695745" cy="1214692"/>
              </a:xfrm>
              <a:prstGeom prst="rect">
                <a:avLst/>
              </a:prstGeom>
              <a:noFill/>
            </p:spPr>
            <p:txBody>
              <a:bodyPr wrap="square" rtlCol="0">
                <a:spAutoFit/>
              </a:bodyPr>
              <a:lstStyle/>
              <a:p>
                <a:pPr/>
                <a14:m>
                  <m:oMathPara xmlns:m="http://schemas.openxmlformats.org/officeDocument/2006/math">
                    <m:oMath>
                      <m:r>
                        <a:rPr lang="en-GB" b="1" i="1" smtClean="0">
                          <a:latin typeface="Cambria Math" panose="02040503050406030204" pitchFamily="18" charset="0"/>
                        </a:rPr>
                        <m:t>=</m:t>
                      </m:r>
                      <m:f>
                        <m:fPr>
                          <m:ctrlPr>
                            <a:rPr lang="en-GB" b="1" i="1" smtClean="0">
                              <a:latin typeface="Cambria Math" panose="02040503050406030204" pitchFamily="18" charset="0"/>
                            </a:rPr>
                          </m:ctrlPr>
                        </m:fPr>
                        <m:num>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𝒓</m:t>
                              </m:r>
                              <m:r>
                                <a:rPr lang="en-GB" b="1" i="1" smtClean="0">
                                  <a:latin typeface="Cambria Math" panose="02040503050406030204" pitchFamily="18" charset="0"/>
                                </a:rPr>
                                <m:t>+</m:t>
                              </m:r>
                              <m:r>
                                <a:rPr lang="en-GB" b="1" i="1" smtClean="0">
                                  <a:latin typeface="Cambria Math" panose="02040503050406030204" pitchFamily="18" charset="0"/>
                                </a:rPr>
                                <m:t>𝒔</m:t>
                              </m:r>
                            </m:sup>
                          </m:sSup>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𝟑</m:t>
                              </m:r>
                            </m:e>
                            <m:sup>
                              <m:r>
                                <a:rPr lang="en-GB" b="1" i="1" smtClean="0">
                                  <a:latin typeface="Cambria Math" panose="02040503050406030204" pitchFamily="18" charset="0"/>
                                </a:rPr>
                                <m:t>𝒓</m:t>
                              </m:r>
                              <m:r>
                                <a:rPr lang="en-GB" b="1" i="1" smtClean="0">
                                  <a:latin typeface="Cambria Math" panose="02040503050406030204" pitchFamily="18" charset="0"/>
                                </a:rPr>
                                <m:t>+</m:t>
                              </m:r>
                              <m:r>
                                <a:rPr lang="en-GB" b="1" i="1" smtClean="0">
                                  <a:latin typeface="Cambria Math" panose="02040503050406030204" pitchFamily="18" charset="0"/>
                                </a:rPr>
                                <m:t>𝒔</m:t>
                              </m:r>
                            </m:sup>
                          </m:sSup>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𝟐</m:t>
                              </m:r>
                              <m:r>
                                <a:rPr lang="en-GB" b="1" i="1" smtClean="0">
                                  <a:latin typeface="Cambria Math" panose="02040503050406030204" pitchFamily="18" charset="0"/>
                                </a:rPr>
                                <m:t>𝒓</m:t>
                              </m:r>
                              <m:r>
                                <a:rPr lang="en-GB" b="1"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𝒔</m:t>
                              </m:r>
                            </m:sup>
                          </m:sSup>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𝟑</m:t>
                              </m:r>
                            </m:e>
                            <m:sup>
                              <m:r>
                                <a:rPr lang="en-GB" b="1" i="1" smtClean="0">
                                  <a:latin typeface="Cambria Math" panose="02040503050406030204" pitchFamily="18" charset="0"/>
                                </a:rPr>
                                <m:t>𝒓</m:t>
                              </m:r>
                              <m:r>
                                <a:rPr lang="en-GB" b="1" i="1" smtClean="0">
                                  <a:latin typeface="Cambria Math" panose="02040503050406030204" pitchFamily="18" charset="0"/>
                                </a:rPr>
                                <m:t>−</m:t>
                              </m:r>
                              <m:r>
                                <a:rPr lang="en-GB" b="1" i="1" smtClean="0">
                                  <a:latin typeface="Cambria Math" panose="02040503050406030204" pitchFamily="18" charset="0"/>
                                </a:rPr>
                                <m:t>𝒔</m:t>
                              </m:r>
                            </m:sup>
                          </m:sSup>
                        </m:num>
                        <m:den>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𝟑</m:t>
                              </m:r>
                              <m:r>
                                <a:rPr lang="en-GB" b="1" i="1" smtClean="0">
                                  <a:latin typeface="Cambria Math" panose="02040503050406030204" pitchFamily="18" charset="0"/>
                                </a:rPr>
                                <m:t>𝒓</m:t>
                              </m:r>
                            </m:sup>
                          </m:sSup>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𝟑</m:t>
                              </m:r>
                            </m:e>
                            <m:sup>
                              <m:r>
                                <a:rPr lang="en-GB" b="1" i="1" smtClean="0">
                                  <a:latin typeface="Cambria Math" panose="02040503050406030204" pitchFamily="18" charset="0"/>
                                </a:rPr>
                                <m:t>𝟐</m:t>
                              </m:r>
                              <m:r>
                                <a:rPr lang="en-GB" b="1" i="1" smtClean="0">
                                  <a:latin typeface="Cambria Math" panose="02040503050406030204" pitchFamily="18" charset="0"/>
                                </a:rPr>
                                <m:t>𝒓</m:t>
                              </m:r>
                              <m:r>
                                <a:rPr lang="en-GB" b="1" i="1" smtClean="0">
                                  <a:latin typeface="Cambria Math" panose="02040503050406030204" pitchFamily="18" charset="0"/>
                                </a:rPr>
                                <m:t>+</m:t>
                              </m:r>
                              <m:r>
                                <a:rPr lang="en-GB" b="1" i="1" smtClean="0">
                                  <a:latin typeface="Cambria Math" panose="02040503050406030204" pitchFamily="18" charset="0"/>
                                </a:rPr>
                                <m:t>𝟒</m:t>
                              </m:r>
                              <m:r>
                                <a:rPr lang="en-GB" b="1" i="1" smtClean="0">
                                  <a:latin typeface="Cambria Math" panose="02040503050406030204" pitchFamily="18" charset="0"/>
                                </a:rPr>
                                <m:t>𝒔</m:t>
                              </m:r>
                            </m:sup>
                          </m:sSup>
                        </m:den>
                      </m:f>
                    </m:oMath>
                    <m:oMath>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m:t>
                          </m:r>
                          <m:r>
                            <a:rPr lang="en-GB" b="1" i="1" smtClean="0">
                              <a:latin typeface="Cambria Math" panose="02040503050406030204" pitchFamily="18" charset="0"/>
                            </a:rPr>
                            <m:t>𝒔</m:t>
                          </m:r>
                        </m:sup>
                      </m:sSup>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𝟑</m:t>
                          </m:r>
                        </m:e>
                        <m:sup>
                          <m:r>
                            <a:rPr lang="en-GB" b="1" i="1" smtClean="0">
                              <a:latin typeface="Cambria Math" panose="02040503050406030204" pitchFamily="18" charset="0"/>
                            </a:rPr>
                            <m:t>−</m:t>
                          </m:r>
                          <m:r>
                            <a:rPr lang="en-GB" b="1" i="1" smtClean="0">
                              <a:latin typeface="Cambria Math" panose="02040503050406030204" pitchFamily="18" charset="0"/>
                            </a:rPr>
                            <m:t>𝟒</m:t>
                          </m:r>
                          <m:r>
                            <a:rPr lang="en-GB" b="1" i="1" smtClean="0">
                              <a:latin typeface="Cambria Math" panose="02040503050406030204" pitchFamily="18" charset="0"/>
                            </a:rPr>
                            <m:t>𝒔</m:t>
                          </m:r>
                        </m:sup>
                      </m:sSup>
                    </m:oMath>
                  </m:oMathPara>
                </a14:m>
                <a:endParaRPr lang="en-GB" b="1" dirty="0"/>
              </a:p>
              <a:p>
                <a:r>
                  <a:rPr lang="en-GB" b="1" dirty="0"/>
                  <a:t>This is an integer only if </a:t>
                </a:r>
                <a14:m>
                  <m:oMath xmlns:m="http://schemas.openxmlformats.org/officeDocument/2006/math">
                    <m:r>
                      <a:rPr lang="en-GB" b="1" i="1" smtClean="0">
                        <a:latin typeface="Cambria Math" panose="02040503050406030204" pitchFamily="18" charset="0"/>
                      </a:rPr>
                      <m:t>𝒔</m:t>
                    </m:r>
                    <m:r>
                      <a:rPr lang="en-GB" b="1" i="1" smtClean="0">
                        <a:latin typeface="Cambria Math" panose="02040503050406030204" pitchFamily="18" charset="0"/>
                      </a:rPr>
                      <m:t>≤</m:t>
                    </m:r>
                    <m:r>
                      <a:rPr lang="en-GB" b="1" i="1" smtClean="0">
                        <a:latin typeface="Cambria Math" panose="02040503050406030204" pitchFamily="18" charset="0"/>
                      </a:rPr>
                      <m:t>𝟎</m:t>
                    </m:r>
                  </m:oMath>
                </a14:m>
                <a:r>
                  <a:rPr lang="en-GB" b="1" dirty="0"/>
                  <a:t>.</a:t>
                </a:r>
              </a:p>
            </p:txBody>
          </p:sp>
        </mc:Choice>
        <mc:Fallback xmlns="">
          <p:sp>
            <p:nvSpPr>
              <p:cNvPr id="9" name="TextBox 8"/>
              <p:cNvSpPr txBox="1">
                <a:spLocks noRot="1" noChangeAspect="1" noMove="1" noResize="1" noEditPoints="1" noAdjustHandles="1" noChangeArrowheads="1" noChangeShapeType="1" noTextEdit="1"/>
              </p:cNvSpPr>
              <p:nvPr/>
            </p:nvSpPr>
            <p:spPr>
              <a:xfrm>
                <a:off x="5379550" y="5460868"/>
                <a:ext cx="3695745" cy="1214692"/>
              </a:xfrm>
              <a:prstGeom prst="rect">
                <a:avLst/>
              </a:prstGeom>
              <a:blipFill>
                <a:blip r:embed="rId3"/>
                <a:stretch>
                  <a:fillRect l="-1370" b="-7292"/>
                </a:stretch>
              </a:blipFill>
            </p:spPr>
            <p:txBody>
              <a:bodyPr/>
              <a:lstStyle/>
              <a:p>
                <a:r>
                  <a:rPr lang="en-GB">
                    <a:noFill/>
                  </a:rPr>
                  <a:t> </a:t>
                </a:r>
              </a:p>
            </p:txBody>
          </p:sp>
        </mc:Fallback>
      </mc:AlternateContent>
      <p:sp>
        <p:nvSpPr>
          <p:cNvPr id="11" name="Rectangle 10"/>
          <p:cNvSpPr/>
          <p:nvPr/>
        </p:nvSpPr>
        <p:spPr>
          <a:xfrm>
            <a:off x="5436096" y="5373216"/>
            <a:ext cx="3566142" cy="130234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3" name="TextBox 12">
            <a:extLst>
              <a:ext uri="{FF2B5EF4-FFF2-40B4-BE49-F238E27FC236}">
                <a16:creationId xmlns:a16="http://schemas.microsoft.com/office/drawing/2014/main" id="{D32FBFDF-E142-AD89-F317-942A2B52E7D1}"/>
              </a:ext>
            </a:extLst>
          </p:cNvPr>
          <p:cNvSpPr txBox="1"/>
          <p:nvPr/>
        </p:nvSpPr>
        <p:spPr>
          <a:xfrm>
            <a:off x="3614641" y="2932055"/>
            <a:ext cx="1131387" cy="369332"/>
          </a:xfrm>
          <a:prstGeom prst="rect">
            <a:avLst/>
          </a:prstGeom>
          <a:noFill/>
        </p:spPr>
        <p:txBody>
          <a:bodyPr wrap="square">
            <a:spAutoFit/>
          </a:bodyPr>
          <a:lstStyle/>
          <a:p>
            <a:r>
              <a:rPr lang="en-GB" dirty="0">
                <a:solidFill>
                  <a:srgbClr val="FF0000"/>
                </a:solidFill>
              </a:rPr>
              <a:t>Challenge</a:t>
            </a:r>
          </a:p>
        </p:txBody>
      </p:sp>
      <p:pic>
        <p:nvPicPr>
          <p:cNvPr id="14" name="Picture 13">
            <a:extLst>
              <a:ext uri="{FF2B5EF4-FFF2-40B4-BE49-F238E27FC236}">
                <a16:creationId xmlns:a16="http://schemas.microsoft.com/office/drawing/2014/main" id="{0F5AB069-407E-203F-1529-7AA5FAA525DB}"/>
              </a:ext>
            </a:extLst>
          </p:cNvPr>
          <p:cNvPicPr>
            <a:picLocks noChangeAspect="1"/>
          </p:cNvPicPr>
          <p:nvPr/>
        </p:nvPicPr>
        <p:blipFill>
          <a:blip r:embed="rId4"/>
          <a:stretch>
            <a:fillRect/>
          </a:stretch>
        </p:blipFill>
        <p:spPr>
          <a:xfrm>
            <a:off x="0" y="621738"/>
            <a:ext cx="2736304" cy="821894"/>
          </a:xfrm>
          <a:prstGeom prst="rect">
            <a:avLst/>
          </a:prstGeom>
        </p:spPr>
      </p:pic>
      <p:pic>
        <p:nvPicPr>
          <p:cNvPr id="15" name="Picture 14">
            <a:extLst>
              <a:ext uri="{FF2B5EF4-FFF2-40B4-BE49-F238E27FC236}">
                <a16:creationId xmlns:a16="http://schemas.microsoft.com/office/drawing/2014/main" id="{C2F09FF3-5E3B-CAFD-7FAB-AF3D26FCD4EC}"/>
              </a:ext>
            </a:extLst>
          </p:cNvPr>
          <p:cNvPicPr>
            <a:picLocks noChangeAspect="1"/>
          </p:cNvPicPr>
          <p:nvPr/>
        </p:nvPicPr>
        <p:blipFill>
          <a:blip r:embed="rId5"/>
          <a:stretch>
            <a:fillRect/>
          </a:stretch>
        </p:blipFill>
        <p:spPr>
          <a:xfrm>
            <a:off x="3203848" y="628107"/>
            <a:ext cx="1219200" cy="660400"/>
          </a:xfrm>
          <a:prstGeom prst="rect">
            <a:avLst/>
          </a:prstGeom>
        </p:spPr>
      </p:pic>
      <p:pic>
        <p:nvPicPr>
          <p:cNvPr id="17" name="Picture 16">
            <a:extLst>
              <a:ext uri="{FF2B5EF4-FFF2-40B4-BE49-F238E27FC236}">
                <a16:creationId xmlns:a16="http://schemas.microsoft.com/office/drawing/2014/main" id="{2F70D9BD-7797-7E30-36F7-350DB459203C}"/>
              </a:ext>
            </a:extLst>
          </p:cNvPr>
          <p:cNvPicPr>
            <a:picLocks noChangeAspect="1"/>
          </p:cNvPicPr>
          <p:nvPr/>
        </p:nvPicPr>
        <p:blipFill rotWithShape="1">
          <a:blip r:embed="rId6"/>
          <a:srcRect b="64737"/>
          <a:stretch/>
        </p:blipFill>
        <p:spPr>
          <a:xfrm>
            <a:off x="4985274" y="664167"/>
            <a:ext cx="2095500" cy="465757"/>
          </a:xfrm>
          <a:prstGeom prst="rect">
            <a:avLst/>
          </a:prstGeom>
        </p:spPr>
      </p:pic>
      <p:pic>
        <p:nvPicPr>
          <p:cNvPr id="18" name="Picture 17">
            <a:extLst>
              <a:ext uri="{FF2B5EF4-FFF2-40B4-BE49-F238E27FC236}">
                <a16:creationId xmlns:a16="http://schemas.microsoft.com/office/drawing/2014/main" id="{5844F662-699C-3CBE-A490-1F81B57AA427}"/>
              </a:ext>
            </a:extLst>
          </p:cNvPr>
          <p:cNvPicPr>
            <a:picLocks noChangeAspect="1"/>
          </p:cNvPicPr>
          <p:nvPr/>
        </p:nvPicPr>
        <p:blipFill>
          <a:blip r:embed="rId7"/>
          <a:stretch>
            <a:fillRect/>
          </a:stretch>
        </p:blipFill>
        <p:spPr>
          <a:xfrm>
            <a:off x="7081907" y="714385"/>
            <a:ext cx="1003300" cy="406400"/>
          </a:xfrm>
          <a:prstGeom prst="rect">
            <a:avLst/>
          </a:prstGeom>
        </p:spPr>
      </p:pic>
      <p:pic>
        <p:nvPicPr>
          <p:cNvPr id="19" name="Picture 18">
            <a:extLst>
              <a:ext uri="{FF2B5EF4-FFF2-40B4-BE49-F238E27FC236}">
                <a16:creationId xmlns:a16="http://schemas.microsoft.com/office/drawing/2014/main" id="{00524191-61C5-BF2B-91A0-5EAC1CCF7ADE}"/>
              </a:ext>
            </a:extLst>
          </p:cNvPr>
          <p:cNvPicPr>
            <a:picLocks noChangeAspect="1"/>
          </p:cNvPicPr>
          <p:nvPr/>
        </p:nvPicPr>
        <p:blipFill>
          <a:blip r:embed="rId8"/>
          <a:stretch>
            <a:fillRect/>
          </a:stretch>
        </p:blipFill>
        <p:spPr>
          <a:xfrm>
            <a:off x="8007956" y="680833"/>
            <a:ext cx="825500" cy="406400"/>
          </a:xfrm>
          <a:prstGeom prst="rect">
            <a:avLst/>
          </a:prstGeom>
        </p:spPr>
      </p:pic>
      <p:sp>
        <p:nvSpPr>
          <p:cNvPr id="20" name="Rectangle 19">
            <a:extLst>
              <a:ext uri="{FF2B5EF4-FFF2-40B4-BE49-F238E27FC236}">
                <a16:creationId xmlns:a16="http://schemas.microsoft.com/office/drawing/2014/main" id="{9DDE41FB-3933-B48B-0B35-11A1EA99AC3A}"/>
              </a:ext>
            </a:extLst>
          </p:cNvPr>
          <p:cNvSpPr/>
          <p:nvPr/>
        </p:nvSpPr>
        <p:spPr>
          <a:xfrm>
            <a:off x="2841556" y="705319"/>
            <a:ext cx="2095500" cy="77946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21" name="Rectangle 20">
            <a:extLst>
              <a:ext uri="{FF2B5EF4-FFF2-40B4-BE49-F238E27FC236}">
                <a16:creationId xmlns:a16="http://schemas.microsoft.com/office/drawing/2014/main" id="{D72CF30C-5980-E4E5-2D8B-7AB062D1F411}"/>
              </a:ext>
            </a:extLst>
          </p:cNvPr>
          <p:cNvSpPr/>
          <p:nvPr/>
        </p:nvSpPr>
        <p:spPr>
          <a:xfrm>
            <a:off x="4985274" y="705319"/>
            <a:ext cx="3763190" cy="77946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grpSp>
        <p:nvGrpSpPr>
          <p:cNvPr id="22" name="Group 21">
            <a:extLst>
              <a:ext uri="{FF2B5EF4-FFF2-40B4-BE49-F238E27FC236}">
                <a16:creationId xmlns:a16="http://schemas.microsoft.com/office/drawing/2014/main" id="{5203F315-E698-CE4C-81E7-E9E4567DC065}"/>
              </a:ext>
            </a:extLst>
          </p:cNvPr>
          <p:cNvGrpSpPr/>
          <p:nvPr/>
        </p:nvGrpSpPr>
        <p:grpSpPr>
          <a:xfrm>
            <a:off x="169737" y="1606070"/>
            <a:ext cx="8280921" cy="1221178"/>
            <a:chOff x="251519" y="3287942"/>
            <a:chExt cx="8280921" cy="1221178"/>
          </a:xfrm>
        </p:grpSpPr>
        <p:pic>
          <p:nvPicPr>
            <p:cNvPr id="23" name="Picture 22">
              <a:extLst>
                <a:ext uri="{FF2B5EF4-FFF2-40B4-BE49-F238E27FC236}">
                  <a16:creationId xmlns:a16="http://schemas.microsoft.com/office/drawing/2014/main" id="{0E572C9A-A55C-5CFE-07AD-3D95A719779E}"/>
                </a:ext>
              </a:extLst>
            </p:cNvPr>
            <p:cNvPicPr>
              <a:picLocks noChangeAspect="1"/>
            </p:cNvPicPr>
            <p:nvPr/>
          </p:nvPicPr>
          <p:blipFill>
            <a:blip r:embed="rId9"/>
            <a:stretch>
              <a:fillRect/>
            </a:stretch>
          </p:blipFill>
          <p:spPr>
            <a:xfrm>
              <a:off x="251519" y="3287942"/>
              <a:ext cx="8113031" cy="1005154"/>
            </a:xfrm>
            <a:prstGeom prst="rect">
              <a:avLst/>
            </a:prstGeom>
          </p:spPr>
        </p:pic>
        <p:sp>
          <p:nvSpPr>
            <p:cNvPr id="24" name="Rectangle 23">
              <a:extLst>
                <a:ext uri="{FF2B5EF4-FFF2-40B4-BE49-F238E27FC236}">
                  <a16:creationId xmlns:a16="http://schemas.microsoft.com/office/drawing/2014/main" id="{20890129-2898-1097-CCDD-CB0CFB8156D5}"/>
                </a:ext>
              </a:extLst>
            </p:cNvPr>
            <p:cNvSpPr/>
            <p:nvPr/>
          </p:nvSpPr>
          <p:spPr>
            <a:xfrm>
              <a:off x="7524328" y="3645024"/>
              <a:ext cx="1008112" cy="8640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a:extLst>
              <a:ext uri="{FF2B5EF4-FFF2-40B4-BE49-F238E27FC236}">
                <a16:creationId xmlns:a16="http://schemas.microsoft.com/office/drawing/2014/main" id="{69D290BF-C954-5D4C-13E6-1B2B744B4259}"/>
              </a:ext>
            </a:extLst>
          </p:cNvPr>
          <p:cNvPicPr>
            <a:picLocks noChangeAspect="1"/>
          </p:cNvPicPr>
          <p:nvPr/>
        </p:nvPicPr>
        <p:blipFill>
          <a:blip r:embed="rId10"/>
          <a:stretch>
            <a:fillRect/>
          </a:stretch>
        </p:blipFill>
        <p:spPr>
          <a:xfrm>
            <a:off x="375356" y="2635467"/>
            <a:ext cx="1376196" cy="1587065"/>
          </a:xfrm>
          <a:prstGeom prst="rect">
            <a:avLst/>
          </a:prstGeom>
        </p:spPr>
      </p:pic>
      <p:pic>
        <p:nvPicPr>
          <p:cNvPr id="26" name="Picture 25">
            <a:extLst>
              <a:ext uri="{FF2B5EF4-FFF2-40B4-BE49-F238E27FC236}">
                <a16:creationId xmlns:a16="http://schemas.microsoft.com/office/drawing/2014/main" id="{E924314C-5E6D-8A1A-B0A9-7F7F6CCC1593}"/>
              </a:ext>
            </a:extLst>
          </p:cNvPr>
          <p:cNvPicPr>
            <a:picLocks noChangeAspect="1"/>
          </p:cNvPicPr>
          <p:nvPr/>
        </p:nvPicPr>
        <p:blipFill>
          <a:blip r:embed="rId11"/>
          <a:stretch>
            <a:fillRect/>
          </a:stretch>
        </p:blipFill>
        <p:spPr>
          <a:xfrm>
            <a:off x="375356" y="4214216"/>
            <a:ext cx="1656184" cy="2412983"/>
          </a:xfrm>
          <a:prstGeom prst="rect">
            <a:avLst/>
          </a:prstGeom>
        </p:spPr>
      </p:pic>
      <p:sp>
        <p:nvSpPr>
          <p:cNvPr id="27" name="Rectangle 26">
            <a:extLst>
              <a:ext uri="{FF2B5EF4-FFF2-40B4-BE49-F238E27FC236}">
                <a16:creationId xmlns:a16="http://schemas.microsoft.com/office/drawing/2014/main" id="{F5091302-BA8C-9128-E616-559BE473F5C9}"/>
              </a:ext>
            </a:extLst>
          </p:cNvPr>
          <p:cNvSpPr/>
          <p:nvPr/>
        </p:nvSpPr>
        <p:spPr>
          <a:xfrm>
            <a:off x="366863" y="2647842"/>
            <a:ext cx="1851263" cy="159893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28" name="Rectangle 27">
            <a:extLst>
              <a:ext uri="{FF2B5EF4-FFF2-40B4-BE49-F238E27FC236}">
                <a16:creationId xmlns:a16="http://schemas.microsoft.com/office/drawing/2014/main" id="{4401EC87-0833-2992-286E-21FA08535166}"/>
              </a:ext>
            </a:extLst>
          </p:cNvPr>
          <p:cNvSpPr/>
          <p:nvPr/>
        </p:nvSpPr>
        <p:spPr>
          <a:xfrm>
            <a:off x="366863" y="4349201"/>
            <a:ext cx="1851263" cy="239216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cxnSp>
        <p:nvCxnSpPr>
          <p:cNvPr id="30" name="Straight Connector 29">
            <a:extLst>
              <a:ext uri="{FF2B5EF4-FFF2-40B4-BE49-F238E27FC236}">
                <a16:creationId xmlns:a16="http://schemas.microsoft.com/office/drawing/2014/main" id="{D29BEFDE-7E49-7454-CFB6-3D4121718221}"/>
              </a:ext>
            </a:extLst>
          </p:cNvPr>
          <p:cNvCxnSpPr/>
          <p:nvPr/>
        </p:nvCxnSpPr>
        <p:spPr>
          <a:xfrm>
            <a:off x="3275856" y="2827248"/>
            <a:ext cx="5868144" cy="0"/>
          </a:xfrm>
          <a:prstGeom prst="line">
            <a:avLst/>
          </a:prstGeom>
          <a:ln w="127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31" name="Straight Connector 30">
            <a:extLst>
              <a:ext uri="{FF2B5EF4-FFF2-40B4-BE49-F238E27FC236}">
                <a16:creationId xmlns:a16="http://schemas.microsoft.com/office/drawing/2014/main" id="{FA4B0AFE-C629-69ED-A764-A5B9EEC00212}"/>
              </a:ext>
            </a:extLst>
          </p:cNvPr>
          <p:cNvCxnSpPr>
            <a:cxnSpLocks/>
          </p:cNvCxnSpPr>
          <p:nvPr/>
        </p:nvCxnSpPr>
        <p:spPr>
          <a:xfrm>
            <a:off x="3275856" y="2827248"/>
            <a:ext cx="0" cy="4202152"/>
          </a:xfrm>
          <a:prstGeom prst="line">
            <a:avLst/>
          </a:prstGeom>
          <a:ln w="12700">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44713544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0"/>
                                        </p:tgtEl>
                                      </p:cBhvr>
                                    </p:animEffect>
                                    <p:set>
                                      <p:cBhvr>
                                        <p:cTn id="13"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14" restart="whenNotActive" fill="hold" evtFilter="cancelBubble" nodeType="interactiveSeq">
                <p:stCondLst>
                  <p:cond evt="onClick" delay="0">
                    <p:tgtEl>
                      <p:spTgt spid="2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1"/>
                                        </p:tgtEl>
                                      </p:cBhvr>
                                    </p:animEffect>
                                    <p:set>
                                      <p:cBhvr>
                                        <p:cTn id="19"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20" restart="whenNotActive" fill="hold" evtFilter="cancelBubble" nodeType="interactiveSeq">
                <p:stCondLst>
                  <p:cond evt="onClick" delay="0">
                    <p:tgtEl>
                      <p:spTgt spid="27"/>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27"/>
                                        </p:tgtEl>
                                      </p:cBhvr>
                                    </p:animEffect>
                                    <p:set>
                                      <p:cBhvr>
                                        <p:cTn id="25" dur="1" fill="hold">
                                          <p:stCondLst>
                                            <p:cond delay="499"/>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27"/>
                  </p:tgtEl>
                </p:cond>
              </p:nextCondLst>
            </p:seq>
            <p:seq concurrent="1" nextAc="seek">
              <p:cTn id="26" restart="whenNotActive" fill="hold" evtFilter="cancelBubble" nodeType="interactiveSeq">
                <p:stCondLst>
                  <p:cond evt="onClick" delay="0">
                    <p:tgtEl>
                      <p:spTgt spid="28"/>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28"/>
                                        </p:tgtEl>
                                      </p:cBhvr>
                                    </p:animEffect>
                                    <p:set>
                                      <p:cBhvr>
                                        <p:cTn id="31" dur="1" fill="hold">
                                          <p:stCondLst>
                                            <p:cond delay="4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28"/>
                  </p:tgtEl>
                </p:cond>
              </p:nextCondLst>
            </p:seq>
          </p:childTnLst>
        </p:cTn>
      </p:par>
    </p:tnLst>
    <p:bldLst>
      <p:bldP spid="11" grpId="0" animBg="1"/>
      <p:bldP spid="20" grpId="0" animBg="1"/>
      <p:bldP spid="21" grpId="0" animBg="1"/>
      <p:bldP spid="27" grpId="0" animBg="1"/>
      <p:bldP spid="28" grpId="0" animBg="1"/>
    </p:bldLst>
  </p:timing>
</p:sld>
</file>

<file path=ppt/c1/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c1/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