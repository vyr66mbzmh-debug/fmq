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3/ppt/slideMasters/slideMaster1.xml" ContentType="application/vnd.openxmlformats-officedocument.presentationml.slideMaster+xml"/>
  <ns0:Override PartName="/ppt/c3/ppt/slides/slide3.xml" ContentType="application/vnd.openxmlformats-officedocument.presentationml.slide+xml"/>
  <ns0:Override PartName="/ppt/c3/ppt/slides/slide4.xml" ContentType="application/vnd.openxmlformats-officedocument.presentationml.slide+xml"/>
  <ns0:Override PartName="/ppt/c3/ppt/slides/slide5.xml" ContentType="application/vnd.openxmlformats-officedocument.presentationml.slide+xml"/>
  <ns0:Override PartName="/ppt/c3/ppt/slides/slide6.xml" ContentType="application/vnd.openxmlformats-officedocument.presentationml.slide+xml"/>
  <ns0:Override PartName="/ppt/c3/ppt/slides/slide7.xml" ContentType="application/vnd.openxmlformats-officedocument.presentationml.slide+xml"/>
  <ns0:Override PartName="/ppt/c3/ppt/slides/slide8.xml" ContentType="application/vnd.openxmlformats-officedocument.presentationml.slide+xml"/>
  <ns0:Override PartName="/ppt/c3/ppt/slides/slide9.xml" ContentType="application/vnd.openxmlformats-officedocument.presentationml.slide+xml"/>
  <ns0:Override PartName="/ppt/c3/ppt/slides/slide10.xml" ContentType="application/vnd.openxmlformats-officedocument.presentationml.slide+xml"/>
  <ns0:Override PartName="/ppt/c3/ppt/slides/slide11.xml" ContentType="application/vnd.openxmlformats-officedocument.presentationml.slide+xml"/>
  <ns0:Override PartName="/ppt/c3/ppt/slides/slide12.xml" ContentType="application/vnd.openxmlformats-officedocument.presentationml.slide+xml"/>
  <ns0:Override PartName="/ppt/c3/ppt/slides/slide13.xml" ContentType="application/vnd.openxmlformats-officedocument.presentationml.slide+xml"/>
  <ns0:Override PartName="/ppt/c3/ppt/slides/slide14.xml" ContentType="application/vnd.openxmlformats-officedocument.presentationml.slide+xml"/>
  <ns0:Override PartName="/ppt/c3/ppt/slides/slide15.xml" ContentType="application/vnd.openxmlformats-officedocument.presentationml.slide+xml"/>
  <ns0:Override PartName="/ppt/c3/ppt/slides/slide16.xml" ContentType="application/vnd.openxmlformats-officedocument.presentationml.slide+xml"/>
  <ns0:Override PartName="/ppt/c3/ppt/notesMasters/notesMaster1.xml" ContentType="application/vnd.openxmlformats-officedocument.presentationml.notesMaster+xml"/>
  <ns0:Override PartName="/ppt/c3/ppt/theme/theme1.xml" ContentType="application/vnd.openxmlformats-officedocument.theme+xml"/>
  <ns0:Override PartName="/ppt/c3/ppt/slideLayouts/slideLayout1.xml" ContentType="application/vnd.openxmlformats-officedocument.presentationml.slideLayout+xml"/>
  <ns0:Override PartName="/ppt/c3/ppt/slideLayouts/slideLayout2.xml" ContentType="application/vnd.openxmlformats-officedocument.presentationml.slideLayout+xml"/>
  <ns0:Override PartName="/ppt/c3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948" r:id="rId15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3/ppt/slides/slide3.xml" /><ns0:Relationship Id="rId2" Type="http://schemas.openxmlformats.org/officeDocument/2006/relationships/slide" Target="c3/ppt/slides/slide4.xml" /><ns0:Relationship Id="rId3" Type="http://schemas.openxmlformats.org/officeDocument/2006/relationships/slide" Target="c3/ppt/slides/slide5.xml" /><ns0:Relationship Id="rId4" Type="http://schemas.openxmlformats.org/officeDocument/2006/relationships/slide" Target="c3/ppt/slides/slide6.xml" /><ns0:Relationship Id="rId5" Type="http://schemas.openxmlformats.org/officeDocument/2006/relationships/slide" Target="c3/ppt/slides/slide7.xml" /><ns0:Relationship Id="rId6" Type="http://schemas.openxmlformats.org/officeDocument/2006/relationships/slide" Target="c3/ppt/slides/slide8.xml" /><ns0:Relationship Id="rId7" Type="http://schemas.openxmlformats.org/officeDocument/2006/relationships/slide" Target="c3/ppt/slides/slide9.xml" /><ns0:Relationship Id="rId8" Type="http://schemas.openxmlformats.org/officeDocument/2006/relationships/slide" Target="c3/ppt/slides/slide10.xml" /><ns0:Relationship Id="rId9" Type="http://schemas.openxmlformats.org/officeDocument/2006/relationships/slide" Target="c3/ppt/slides/slide11.xml" /><ns0:Relationship Id="rId10" Type="http://schemas.openxmlformats.org/officeDocument/2006/relationships/slide" Target="c3/ppt/slides/slide12.xml" /><ns0:Relationship Id="rId11" Type="http://schemas.openxmlformats.org/officeDocument/2006/relationships/slide" Target="c3/ppt/slides/slide13.xml" /><ns0:Relationship Id="rId12" Type="http://schemas.openxmlformats.org/officeDocument/2006/relationships/slide" Target="c3/ppt/slides/slide14.xml" /><ns0:Relationship Id="rId13" Type="http://schemas.openxmlformats.org/officeDocument/2006/relationships/slide" Target="c3/ppt/slides/slide15.xml" /><ns0:Relationship Id="rId14" Type="http://schemas.openxmlformats.org/officeDocument/2006/relationships/slide" Target="c3/ppt/slides/slide16.xml" /><ns0:Relationship Id="rId15" Type="http://schemas.openxmlformats.org/officeDocument/2006/relationships/slideMaster" Target="c3/ppt/slideMasters/slideMaster1.xml" /><ns0:Relationship Id="rId16" Type="http://schemas.openxmlformats.org/officeDocument/2006/relationships/notesMaster" Target="c3/ppt/notesMasters/notesMaster1.xml" /></ns0:Relationships>
</file>

<file path=ppt/c3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3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3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399880775"/>
      </p:ext>
    </p:extLst>
  </p:cSld>
  <p:clrMapOvr>
    <a:masterClrMapping/>
  </p:clrMapOvr>
</p:sldLayout>
</file>

<file path=ppt/c3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3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3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9126"/>
            <a:ext cx="109728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3/ppt/slides/_rels/slide3.xml.rels><?xml version='1.0' encoding='utf-8'?>
<ns0:Relationships xmlns:ns0="http://schemas.openxmlformats.org/package/2006/relationships"><ns0:Relationship Id="rId3" Type="http://schemas.openxmlformats.org/officeDocument/2006/relationships/image" Target="../media/image6.png" /><ns0:Relationship Id="rId7" Type="http://schemas.openxmlformats.org/officeDocument/2006/relationships/image" Target="../media/image10.png" /><ns0:Relationship Id="rId2" Type="http://schemas.openxmlformats.org/officeDocument/2006/relationships/image" Target="../media/image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.png" /><ns0:Relationship Id="rId5" Type="http://schemas.openxmlformats.org/officeDocument/2006/relationships/image" Target="../media/image8.png" /><ns0:Relationship Id="rId4" Type="http://schemas.openxmlformats.org/officeDocument/2006/relationships/image" Target="../media/image7.png" /></ns0:Relationships>
</file>

<file path=ppt/c3/ppt/slides/_rels/slide4.xml.rels><?xml version='1.0' encoding='utf-8'?>
<ns0:Relationships xmlns:ns0="http://schemas.openxmlformats.org/package/2006/relationships"><ns0:Relationship Id="rId8" Type="http://schemas.openxmlformats.org/officeDocument/2006/relationships/image" Target="../media/image17.png" /><ns0:Relationship Id="rId3" Type="http://schemas.openxmlformats.org/officeDocument/2006/relationships/image" Target="../media/image12.png" /><ns0:Relationship Id="rId7" Type="http://schemas.openxmlformats.org/officeDocument/2006/relationships/image" Target="../media/image16.png" /><ns0:Relationship Id="rId2" Type="http://schemas.openxmlformats.org/officeDocument/2006/relationships/image" Target="../media/image1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5.png" /><ns0:Relationship Id="rId5" Type="http://schemas.openxmlformats.org/officeDocument/2006/relationships/image" Target="../media/image14.png" /><ns0:Relationship Id="rId4" Type="http://schemas.openxmlformats.org/officeDocument/2006/relationships/image" Target="../media/image13.png" /><ns0:Relationship Id="rId9" Type="http://schemas.openxmlformats.org/officeDocument/2006/relationships/image" Target="../media/image18.png" /></ns0:Relationships>
</file>

<file path=ppt/c3/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20.png" /><ns0:Relationship Id="rId2" Type="http://schemas.openxmlformats.org/officeDocument/2006/relationships/image" Target="../media/image19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2.png" /><ns0:Relationship Id="rId4" Type="http://schemas.openxmlformats.org/officeDocument/2006/relationships/image" Target="../media/image21.png" /></ns0:Relationships>
</file>

<file path=ppt/c3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24.png" /><ns0:Relationship Id="rId2" Type="http://schemas.openxmlformats.org/officeDocument/2006/relationships/image" Target="../media/image23.png" /><ns0:Relationship Id="rId1" Type="http://schemas.openxmlformats.org/officeDocument/2006/relationships/slideLayout" Target="../slideLayouts/slideLayout2.xml" /></ns0:Relationships>
</file>

<file path=ppt/c3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6.png" /><ns0:Relationship Id="rId2" Type="http://schemas.openxmlformats.org/officeDocument/2006/relationships/image" Target="../media/image25.png" /><ns0:Relationship Id="rId1" Type="http://schemas.openxmlformats.org/officeDocument/2006/relationships/slideLayout" Target="../slideLayouts/slideLayout2.xml" /></ns0:Relationships>
</file>

<file path=ppt/c3/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image28.png" /><ns0:Relationship Id="rId2" Type="http://schemas.openxmlformats.org/officeDocument/2006/relationships/image" Target="../media/image27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9.png" /></ns0:Relationships>
</file>

<file path=ppt/c3/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31.png" /><ns0:Relationship Id="rId2" Type="http://schemas.openxmlformats.org/officeDocument/2006/relationships/image" Target="../media/image3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33.png" /><ns0:Relationship Id="rId4" Type="http://schemas.openxmlformats.org/officeDocument/2006/relationships/image" Target="../media/image32.png" /></ns0:Relationships>
</file>

<file path=ppt/c3/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35.png" /><ns0:Relationship Id="rId2" Type="http://schemas.openxmlformats.org/officeDocument/2006/relationships/image" Target="../media/image34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36.png" /></ns0:Relationships>
</file>

<file path=ppt/c3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38.png" /><ns0:Relationship Id="rId2" Type="http://schemas.openxmlformats.org/officeDocument/2006/relationships/image" Target="../media/image37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40.png" /><ns0:Relationship Id="rId4" Type="http://schemas.openxmlformats.org/officeDocument/2006/relationships/image" Target="../media/image39.png" /></ns0:Relationships>
</file>

<file path=ppt/c3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42.png" /><ns0:Relationship Id="rId2" Type="http://schemas.openxmlformats.org/officeDocument/2006/relationships/image" Target="../media/image4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3.png" /></ns0:Relationships>
</file>

<file path=ppt/c3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45.png" /><ns0:Relationship Id="rId2" Type="http://schemas.openxmlformats.org/officeDocument/2006/relationships/image" Target="../media/image44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6.png" /></ns0:Relationships>
</file>

<file path=ppt/c3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48.png" /><ns0:Relationship Id="rId2" Type="http://schemas.openxmlformats.org/officeDocument/2006/relationships/image" Target="../media/image47.png" /><ns0:Relationship Id="rId1" Type="http://schemas.openxmlformats.org/officeDocument/2006/relationships/slideLayout" Target="../slideLayouts/slideLayout2.xml" /></ns0:Relationships>
</file>

<file path=ppt/c3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50.png" /><ns0:Relationship Id="rId2" Type="http://schemas.openxmlformats.org/officeDocument/2006/relationships/image" Target="../media/image49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52.png" /><ns0:Relationship Id="rId4" Type="http://schemas.openxmlformats.org/officeDocument/2006/relationships/image" Target="../media/image51.png" /></ns0:Relationships>
</file>

<file path=ppt/c3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54.png" /><ns0:Relationship Id="rId2" Type="http://schemas.openxmlformats.org/officeDocument/2006/relationships/image" Target="../media/image53.png" /><ns0:Relationship Id="rId1" Type="http://schemas.openxmlformats.org/officeDocument/2006/relationships/slideLayout" Target="../slideLayouts/slideLayout2.xml" /></ns0:Relationships>
</file>

<file path=ppt/c3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sets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279576" y="1175489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solution(s) to an equation may be: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663952" y="1639148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+1=5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1639148"/>
                <a:ext cx="244827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87689" y="1731480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 single value: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3287688" y="2318249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Multiple values: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23992" y="2287472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2287472"/>
                <a:ext cx="24482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287688" y="2905018"/>
            <a:ext cx="2218765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An infinitely large set of values: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105854" y="3052317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3052317"/>
                <a:ext cx="24482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3287688" y="3799563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No (real) values!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105854" y="3743455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3743455"/>
                <a:ext cx="24482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164550" y="4878722"/>
                <a:ext cx="77622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is that you shouldn’t think of the solution to an equation/inequality as an ‘answer’, but a </a:t>
                </a:r>
                <a:r>
                  <a:rPr lang="en-GB" b="1" u="sng" dirty="0"/>
                  <a:t>set</a:t>
                </a:r>
                <a:r>
                  <a:rPr lang="en-GB" dirty="0"/>
                  <a:t> of values, which might just be a set of 1 value (known as a singleton set), a set of no values (i.e. the empty set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dirty="0"/>
                  <a:t>), or an infinite set (in the last example above, this was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50" y="4878722"/>
                <a:ext cx="7762292" cy="1200329"/>
              </a:xfrm>
              <a:prstGeom prst="rect">
                <a:avLst/>
              </a:prstGeom>
              <a:blipFill>
                <a:blip r:embed="rId6"/>
                <a:stretch>
                  <a:fillRect l="-654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3287687" y="4326459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Every value!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05854" y="4266785"/>
                <a:ext cx="2726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4266785"/>
                <a:ext cx="27264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886717" y="6164382"/>
            <a:ext cx="6274550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solutions to an equation are known as the </a:t>
            </a:r>
            <a:r>
              <a:rPr lang="en-GB" b="1" dirty="0"/>
              <a:t>solution set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/>
      <p:bldP spid="38" grpId="0" animBg="1"/>
      <p:bldP spid="39" grpId="0"/>
      <p:bldP spid="15" grpId="0" animBg="1"/>
    </p:bldLst>
  </p:timing>
</p:sld>
</file>

<file path=ppt/c3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sets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699099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simultaneous equations, the same is true, except each ‘solution’ in the solution set is an assignment to </a:t>
            </a:r>
            <a:r>
              <a:rPr lang="en-GB" b="1" dirty="0"/>
              <a:t>multiple</a:t>
            </a:r>
            <a:r>
              <a:rPr lang="en-GB" dirty="0"/>
              <a:t> variables.</a:t>
            </a:r>
          </a:p>
          <a:p>
            <a:r>
              <a:rPr lang="en-GB" dirty="0"/>
              <a:t>All equations have to be satisfied </a:t>
            </a:r>
            <a:r>
              <a:rPr lang="en-GB" b="1" dirty="0"/>
              <a:t>at the same time, i.e. ‘simultaneously’</a:t>
            </a:r>
            <a:r>
              <a:rPr lang="en-GB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1437" y="2444081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A single solution: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15548" y="2405983"/>
                <a:ext cx="18614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548" y="2405983"/>
                <a:ext cx="1861446" cy="830997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38900" y="2319853"/>
                <a:ext cx="3241700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 </a:t>
                </a:r>
              </a:p>
              <a:p>
                <a:r>
                  <a:rPr lang="en-GB" sz="1400" dirty="0"/>
                  <a:t>To be precise here, the solution set is of size 1, but this solution is an assignment to multiple variables, i.e. a pair of values.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900" y="2319853"/>
                <a:ext cx="3241700" cy="984885"/>
              </a:xfrm>
              <a:prstGeom prst="rect">
                <a:avLst/>
              </a:prstGeom>
              <a:blipFill>
                <a:blip r:embed="rId3"/>
                <a:stretch>
                  <a:fillRect l="-778" t="-1266" b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847260" y="3697242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Two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84599" y="3528235"/>
                <a:ext cx="20641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99" y="3528235"/>
                <a:ext cx="2064169" cy="830997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16498" y="3452035"/>
                <a:ext cx="280831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Solution 2: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sz="1600" b="1" dirty="0"/>
              </a:p>
              <a:p>
                <a:r>
                  <a:rPr lang="en-GB" sz="1400" dirty="0"/>
                  <a:t>This time we have two solutions, each an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pair.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498" y="3452035"/>
                <a:ext cx="2808312" cy="1015663"/>
              </a:xfrm>
              <a:prstGeom prst="rect">
                <a:avLst/>
              </a:prstGeom>
              <a:blipFill>
                <a:blip r:embed="rId5"/>
                <a:stretch>
                  <a:fillRect l="-897" t="-1235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834560" y="4913058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No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01479" y="4715887"/>
                <a:ext cx="18962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479" y="4715887"/>
                <a:ext cx="1896272" cy="830997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821859" y="5816097"/>
            <a:ext cx="2218765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Infinitely large set of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88235" y="5729142"/>
                <a:ext cx="19084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235" y="5729142"/>
                <a:ext cx="1908484" cy="830997"/>
              </a:xfrm>
              <a:prstGeom prst="rect">
                <a:avLst/>
              </a:prstGeom>
              <a:blipFill>
                <a:blip r:embed="rId7"/>
                <a:stretch>
                  <a:fillRect l="-658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91887" y="5686760"/>
                <a:ext cx="280831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2: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3: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4: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…    </a:t>
                </a:r>
                <a:r>
                  <a:rPr lang="en-GB" sz="1400" dirty="0"/>
                  <a:t>Infinite possibilities!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887" y="5686760"/>
                <a:ext cx="2808312" cy="1169551"/>
              </a:xfrm>
              <a:prstGeom prst="rect">
                <a:avLst/>
              </a:prstGeom>
              <a:blipFill>
                <a:blip r:embed="rId8"/>
                <a:stretch>
                  <a:fillRect l="-448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18171" y="4725436"/>
                <a:ext cx="232103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solution set is empty, i.e.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1400" dirty="0"/>
                  <a:t>, as both equation can’t be satisfied at the same time.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171" y="4725436"/>
                <a:ext cx="2321030" cy="738664"/>
              </a:xfrm>
              <a:prstGeom prst="rect">
                <a:avLst/>
              </a:prstGeom>
              <a:blipFill>
                <a:blip r:embed="rId9"/>
                <a:stretch>
                  <a:fillRect l="-1093" t="-1695" r="-1093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966261" y="183705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Scenario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932236" y="2244484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5800" y="18205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226" y="1804269"/>
            <a:ext cx="157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Solution Set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1930778" y="1800021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138301" y="1800022"/>
            <a:ext cx="0" cy="4707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919536" y="3352121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966261" y="4581997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966261" y="5635783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372268" y="1800021"/>
            <a:ext cx="0" cy="4707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144628" y="2260140"/>
            <a:ext cx="2227641" cy="10877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8593" y="2260140"/>
            <a:ext cx="3744276" cy="10877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2169" y="3345901"/>
            <a:ext cx="2227641" cy="1230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675" y="3345901"/>
            <a:ext cx="3736935" cy="1231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2169" y="4574169"/>
            <a:ext cx="2227641" cy="10494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8646" y="4587941"/>
            <a:ext cx="3736935" cy="1050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44654" y="5629529"/>
            <a:ext cx="2227641" cy="1208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675" y="5631191"/>
            <a:ext cx="3736935" cy="12094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729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c3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 :: Simultaneous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4996" y="1410522"/>
                <a:ext cx="3425665" cy="12311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=8</m:t>
                      </m:r>
                    </m:oMath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96" y="1410522"/>
                <a:ext cx="3425665" cy="1231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09911" y="2977930"/>
                <a:ext cx="366997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can either use substitution (i.e. making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 of one equation, and substituting it into the other) or elimination, but the latter is easier for linear equations.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𝟐𝟒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Adding the two equations to ‘eliminate’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Substituting into first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911" y="2977930"/>
                <a:ext cx="3669976" cy="3539430"/>
              </a:xfrm>
              <a:prstGeom prst="rect">
                <a:avLst/>
              </a:prstGeom>
              <a:blipFill>
                <a:blip r:embed="rId3"/>
                <a:stretch>
                  <a:fillRect l="-1034" t="-357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14572" y="1410522"/>
                <a:ext cx="3425665" cy="12311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572" y="1410522"/>
                <a:ext cx="3425665" cy="1231106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01797" y="2794219"/>
                <a:ext cx="4221517" cy="4039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can’t use elimination this time as nothing would cancel.</a:t>
                </a:r>
              </a:p>
              <a:p>
                <a:r>
                  <a:rPr lang="en-GB" sz="1600" dirty="0"/>
                  <a:t>We instead:</a:t>
                </a:r>
              </a:p>
              <a:p>
                <a:pPr marL="342900" indent="-342900">
                  <a:buAutoNum type="arabicParenBoth"/>
                </a:pPr>
                <a:r>
                  <a:rPr lang="en-GB" sz="1600" dirty="0"/>
                  <a:t>Rearrange linear equation to make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subject.</a:t>
                </a:r>
              </a:p>
              <a:p>
                <a:pPr marL="342900" indent="-342900">
                  <a:buAutoNum type="arabicParenBoth"/>
                </a:pPr>
                <a:r>
                  <a:rPr lang="en-GB" sz="1600" dirty="0"/>
                  <a:t>Substitute into quadratic equation and solve.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Substitute into other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797" y="2794219"/>
                <a:ext cx="4221517" cy="4039696"/>
              </a:xfrm>
              <a:prstGeom prst="rect">
                <a:avLst/>
              </a:prstGeom>
              <a:blipFill>
                <a:blip r:embed="rId5"/>
                <a:stretch>
                  <a:fillRect l="-1201" t="-313" r="-901" b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6095428" y="1410522"/>
            <a:ext cx="0" cy="5106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59370" y="4509120"/>
            <a:ext cx="3216916" cy="20082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1601" y="4509121"/>
            <a:ext cx="3963542" cy="22400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3422" y="67761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Recap!</a:t>
            </a:r>
          </a:p>
        </p:txBody>
      </p:sp>
    </p:spTree>
    <p:extLst>
      <p:ext uri="{BB962C8B-B14F-4D97-AF65-F5344CB8AC3E}">
        <p14:creationId xmlns:p14="http://schemas.microsoft.com/office/powerpoint/2010/main" val="417674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3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4156" y="963698"/>
                <a:ext cx="7210131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156" y="963698"/>
                <a:ext cx="7210131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73276" y="2515846"/>
                <a:ext cx="3815852" cy="3329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−20=0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−10=0</m:t>
                      </m:r>
                    </m:oMath>
                    <m:oMath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276" y="2515846"/>
                <a:ext cx="3815852" cy="3329438"/>
              </a:xfrm>
              <a:prstGeom prst="rect">
                <a:avLst/>
              </a:prstGeom>
              <a:blipFill>
                <a:blip r:embed="rId3"/>
                <a:stretch>
                  <a:fillRect b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573276" y="2420888"/>
            <a:ext cx="4178908" cy="3672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523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c3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3C01965-140B-2483-0B68-BEE12E38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12472"/>
            <a:ext cx="4078809" cy="1088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7334EB-67EE-1D8C-B3DB-D365F9FA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228" y="2276872"/>
            <a:ext cx="5740400" cy="3022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9E893A-091E-F18E-821D-81FACE847738}"/>
              </a:ext>
            </a:extLst>
          </p:cNvPr>
          <p:cNvSpPr/>
          <p:nvPr/>
        </p:nvSpPr>
        <p:spPr>
          <a:xfrm>
            <a:off x="3071664" y="2132856"/>
            <a:ext cx="6120680" cy="3888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50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3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8AF5F8-C9B8-96F6-329B-120B55058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2434"/>
            <a:ext cx="5688632" cy="2122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3E1792-0C63-9B97-3B7F-A66AC6CC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58" y="2980352"/>
            <a:ext cx="2736304" cy="1194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7475A-9190-8C65-65C5-0D0731E25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850" y="2921689"/>
            <a:ext cx="2620640" cy="39015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BE89BE-CE98-3A60-F2CF-0A89B8AF54A3}"/>
              </a:ext>
            </a:extLst>
          </p:cNvPr>
          <p:cNvSpPr/>
          <p:nvPr/>
        </p:nvSpPr>
        <p:spPr>
          <a:xfrm>
            <a:off x="1847528" y="2852936"/>
            <a:ext cx="4248472" cy="3901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91934-44BA-2D6C-2150-DF76BFC09A3F}"/>
              </a:ext>
            </a:extLst>
          </p:cNvPr>
          <p:cNvSpPr/>
          <p:nvPr/>
        </p:nvSpPr>
        <p:spPr>
          <a:xfrm>
            <a:off x="6293069" y="2852936"/>
            <a:ext cx="4248472" cy="3901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151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3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D21ADF3-FC58-5C0C-5C6E-682F2A981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614372"/>
            <a:ext cx="5055765" cy="1518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2C5D5C-CE59-16FA-6BED-F7E39200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3832126"/>
            <a:ext cx="7195829" cy="336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061C9-D2E9-6641-996A-C086FFE93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992" y="1137823"/>
            <a:ext cx="3769447" cy="2507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2D0A-E3C1-80EA-CDD4-848240143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584" y="4200930"/>
            <a:ext cx="3672407" cy="21952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788286-DF9D-5FFF-753C-254E8F34D033}"/>
              </a:ext>
            </a:extLst>
          </p:cNvPr>
          <p:cNvSpPr/>
          <p:nvPr/>
        </p:nvSpPr>
        <p:spPr>
          <a:xfrm>
            <a:off x="5951985" y="999937"/>
            <a:ext cx="4464495" cy="28321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0D26FB-99B3-818E-6B9A-656843F7D7A9}"/>
              </a:ext>
            </a:extLst>
          </p:cNvPr>
          <p:cNvSpPr/>
          <p:nvPr/>
        </p:nvSpPr>
        <p:spPr>
          <a:xfrm>
            <a:off x="2019761" y="4188647"/>
            <a:ext cx="4464495" cy="2552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299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3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43664" y="916537"/>
                <a:ext cx="5611688" cy="224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[STEP 2010 Q1] </a:t>
                </a:r>
                <a:r>
                  <a:rPr lang="en-GB" dirty="0"/>
                  <a:t>Given that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a) Find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=9,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sz="1400" dirty="0"/>
                  <a:t>(Hint: Can we use the same method in (a) to rewrite the second equation?)</a:t>
                </a:r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64" y="916537"/>
                <a:ext cx="5611688" cy="2245936"/>
              </a:xfrm>
              <a:prstGeom prst="rect">
                <a:avLst/>
              </a:prstGeom>
              <a:blipFill>
                <a:blip r:embed="rId2"/>
                <a:stretch>
                  <a:fillRect l="-676" t="-1124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89303" y="936896"/>
                <a:ext cx="2935199" cy="437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2012 1G] </a:t>
                </a:r>
                <a:r>
                  <a:rPr lang="en-GB" dirty="0"/>
                  <a:t>There are </a:t>
                </a:r>
                <a:r>
                  <a:rPr lang="en-GB" i="1" dirty="0"/>
                  <a:t>positive</a:t>
                </a:r>
                <a:r>
                  <a:rPr lang="en-GB" dirty="0"/>
                  <a:t> real numbers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which solve the equations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=4,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for:</a:t>
                </a:r>
              </a:p>
              <a:p>
                <a:r>
                  <a:rPr lang="en-GB" dirty="0"/>
                  <a:t>A) All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;</a:t>
                </a:r>
              </a:p>
              <a:p>
                <a:r>
                  <a:rPr lang="en-GB" dirty="0"/>
                  <a:t>B) No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;</a:t>
                </a:r>
              </a:p>
              <a:p>
                <a:r>
                  <a:rPr lang="en-GB" dirty="0"/>
                  <a:t>C)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only;</a:t>
                </a:r>
              </a:p>
              <a:p>
                <a:r>
                  <a:rPr lang="en-GB" dirty="0"/>
                  <a:t>D) Only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&gt;−2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sz="1600" b="1" dirty="0"/>
                  <a:t>If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then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which are equivalent. This would give an infinite solution set, thus the answer is C.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303" y="936896"/>
                <a:ext cx="2935199" cy="4370427"/>
              </a:xfrm>
              <a:prstGeom prst="rect">
                <a:avLst/>
              </a:prstGeom>
              <a:blipFill>
                <a:blip r:embed="rId3"/>
                <a:stretch>
                  <a:fillRect l="-1724" t="-578" r="-2155" b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631504" y="1022520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8501" y="102251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284838" y="3189211"/>
                <a:ext cx="5485685" cy="2843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a) Expanding RHS: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sSup>
                            <m:sSup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Comparing coefficients: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sz="1600" b="1" dirty="0"/>
              </a:p>
              <a:p>
                <a:endParaRPr lang="en-GB" sz="1600" b="1" dirty="0"/>
              </a:p>
              <a:p>
                <a:r>
                  <a:rPr lang="en-GB" sz="1600" b="1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br>
                  <a:rPr lang="en-GB" sz="1600" b="1" dirty="0"/>
                </a:br>
                <a:r>
                  <a:rPr lang="en-GB" sz="1600" b="1" dirty="0"/>
                  <a:t>Using method in (a):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Subtracting yields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We have to consider each of 4 possibilities.</a:t>
                </a:r>
              </a:p>
              <a:p>
                <a:r>
                  <a:rPr lang="en-GB" sz="1600" b="1" dirty="0"/>
                  <a:t>Final solution set: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𝒐𝒓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 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𝒐𝒓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38" y="3189211"/>
                <a:ext cx="5485685" cy="2843664"/>
              </a:xfrm>
              <a:prstGeom prst="rect">
                <a:avLst/>
              </a:prstGeom>
              <a:blipFill>
                <a:blip r:embed="rId4"/>
                <a:stretch>
                  <a:fillRect l="-693" t="-88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902455" y="3903055"/>
            <a:ext cx="3016262" cy="1362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17373" y="3191787"/>
            <a:ext cx="5239370" cy="11248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7373" y="4424884"/>
            <a:ext cx="5239370" cy="15459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107738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</p:bldLst>
  </p:timing>
</p:sld>
</file>

<file path=ppt/c3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Simultaneous Equations and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 flipV="1">
            <a:off x="3253884" y="1063257"/>
            <a:ext cx="1119642" cy="30795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7317874">
                <a:off x="3013007" y="3477590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17874">
                <a:off x="3013007" y="3477590"/>
                <a:ext cx="136815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3191972" y="4004494"/>
            <a:ext cx="173344" cy="1604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00056" y="1125534"/>
                <a:ext cx="3456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a line with a given equation is </a:t>
                </a:r>
                <a:r>
                  <a:rPr lang="en-GB" b="1" dirty="0"/>
                  <a:t>the set of all points that satisfy the equation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i.e. It is a graphical representation of the solution set where each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point represents each of the solutions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the equation. 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1125534"/>
                <a:ext cx="3456384" cy="2585323"/>
              </a:xfrm>
              <a:prstGeom prst="rect">
                <a:avLst/>
              </a:prstGeom>
              <a:blipFill>
                <a:blip r:embed="rId3"/>
                <a:stretch>
                  <a:fillRect l="-1465" t="-976" r="-1465" b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H="1" flipV="1">
            <a:off x="2823208" y="1318606"/>
            <a:ext cx="2509819" cy="2359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2511400">
                <a:off x="4205224" y="2791632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11400">
                <a:off x="4205224" y="2791632"/>
                <a:ext cx="13681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36535" y="1238367"/>
            <a:ext cx="173344" cy="1604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720912" y="4522473"/>
                <a:ext cx="6720452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Now suppose we introduced a second simultaneous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  <a:p>
                <a:endParaRPr lang="en-GB" sz="800" dirty="0"/>
              </a:p>
              <a:p>
                <a:r>
                  <a:rPr lang="en-GB" dirty="0"/>
                  <a:t>The second line again consists of all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which satisfy the equation. So what point must satisfy both equations simultaneously?</a:t>
                </a:r>
              </a:p>
              <a:p>
                <a:r>
                  <a:rPr lang="en-GB" b="1" dirty="0"/>
                  <a:t>The point of intersection!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12" y="4522473"/>
                <a:ext cx="6720452" cy="1877437"/>
              </a:xfrm>
              <a:prstGeom prst="rect">
                <a:avLst/>
              </a:prstGeom>
              <a:blipFill>
                <a:blip r:embed="rId5"/>
                <a:stretch>
                  <a:fillRect l="-755" t="-2013" b="-3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3746881" y="2180274"/>
            <a:ext cx="323544" cy="307745"/>
          </a:xfrm>
          <a:prstGeom prst="ellipse">
            <a:avLst/>
          </a:prstGeom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Freeform: Shape 20"/>
          <p:cNvSpPr/>
          <p:nvPr/>
        </p:nvSpPr>
        <p:spPr>
          <a:xfrm>
            <a:off x="2084670" y="2454558"/>
            <a:ext cx="1268130" cy="3654142"/>
          </a:xfrm>
          <a:custGeom>
            <a:avLst/>
            <a:gdLst>
              <a:gd name="connsiteX0" fmla="*/ 614070 w 1274470"/>
              <a:gd name="connsiteY0" fmla="*/ 3793842 h 3793842"/>
              <a:gd name="connsiteX1" fmla="*/ 29870 w 1274470"/>
              <a:gd name="connsiteY1" fmla="*/ 2638142 h 3793842"/>
              <a:gd name="connsiteX2" fmla="*/ 144170 w 1274470"/>
              <a:gd name="connsiteY2" fmla="*/ 1037942 h 3793842"/>
              <a:gd name="connsiteX3" fmla="*/ 652170 w 1274470"/>
              <a:gd name="connsiteY3" fmla="*/ 148942 h 3793842"/>
              <a:gd name="connsiteX4" fmla="*/ 1274470 w 1274470"/>
              <a:gd name="connsiteY4" fmla="*/ 9242 h 3793842"/>
              <a:gd name="connsiteX0" fmla="*/ 518830 w 1268130"/>
              <a:gd name="connsiteY0" fmla="*/ 3654142 h 3654142"/>
              <a:gd name="connsiteX1" fmla="*/ 23530 w 1268130"/>
              <a:gd name="connsiteY1" fmla="*/ 2638142 h 3654142"/>
              <a:gd name="connsiteX2" fmla="*/ 137830 w 1268130"/>
              <a:gd name="connsiteY2" fmla="*/ 1037942 h 3654142"/>
              <a:gd name="connsiteX3" fmla="*/ 645830 w 1268130"/>
              <a:gd name="connsiteY3" fmla="*/ 148942 h 3654142"/>
              <a:gd name="connsiteX4" fmla="*/ 1268130 w 1268130"/>
              <a:gd name="connsiteY4" fmla="*/ 9242 h 365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8130" h="3654142">
                <a:moveTo>
                  <a:pt x="518830" y="3654142"/>
                </a:moveTo>
                <a:cubicBezTo>
                  <a:pt x="265888" y="3305950"/>
                  <a:pt x="87030" y="3074175"/>
                  <a:pt x="23530" y="2638142"/>
                </a:cubicBezTo>
                <a:cubicBezTo>
                  <a:pt x="-39970" y="2202109"/>
                  <a:pt x="34113" y="1452809"/>
                  <a:pt x="137830" y="1037942"/>
                </a:cubicBezTo>
                <a:cubicBezTo>
                  <a:pt x="241547" y="623075"/>
                  <a:pt x="457447" y="320392"/>
                  <a:pt x="645830" y="148942"/>
                </a:cubicBezTo>
                <a:cubicBezTo>
                  <a:pt x="834213" y="-22508"/>
                  <a:pt x="1051171" y="-6633"/>
                  <a:pt x="1268130" y="9242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2765934" y="6096000"/>
            <a:ext cx="3266566" cy="5999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0515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04167E-6 1.48148E-6 L 0.09102 -0.4511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-2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16667E-7 3.7037E-7 L 0.20938 0.3442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69" y="1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  <p:bldP spid="15" grpId="1" animBg="1"/>
      <p:bldP spid="17" grpId="0"/>
      <p:bldP spid="18" grpId="0" animBg="1"/>
      <p:bldP spid="18" grpId="1" animBg="1"/>
      <p:bldP spid="21" grpId="0" animBg="1"/>
      <p:bldP spid="22" grpId="0" animBg="1"/>
      <p:bldP spid="22" grpId="1" animBg="1"/>
      <p:bldP spid="22" grpId="2" animBg="1"/>
    </p:bldLst>
  </p:timing>
</p:sld>
</file>

<file path=ppt/c3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a) On the same axes, draw the graphs of: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blipFill>
                <a:blip r:embed="rId2"/>
                <a:stretch>
                  <a:fillRect l="-1190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35" y="2190176"/>
            <a:ext cx="3741156" cy="32461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2898" y="2086916"/>
            <a:ext cx="3937830" cy="3599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167780" y="821904"/>
                <a:ext cx="4246221" cy="5956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:r>
                  <a:rPr lang="en-GB" dirty="0"/>
                  <a:t>b) Use your graph to write down the solutions to the simultaneous equations.</a:t>
                </a:r>
                <a:br>
                  <a:rPr lang="en-GB" dirty="0"/>
                </a:br>
                <a:br>
                  <a:rPr lang="en-GB" sz="300" dirty="0"/>
                </a:br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𝒐𝒓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(We could always substitute into the original equations to check they work)</a:t>
                </a:r>
              </a:p>
              <a:p>
                <a:endParaRPr lang="en-GB" dirty="0"/>
              </a:p>
              <a:p>
                <a:r>
                  <a:rPr lang="en-GB" dirty="0"/>
                  <a:t>c) What algebraic method (perhaps thinking about the previous chapter), could we have used to show the graphs would have intersected twice? </a:t>
                </a:r>
              </a:p>
              <a:p>
                <a:endParaRPr lang="en-GB" sz="1100" b="1" dirty="0"/>
              </a:p>
              <a:p>
                <a:r>
                  <a:rPr lang="en-GB" sz="1600" b="1" dirty="0"/>
                  <a:t>Substituting linear equation into quadratic: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Since there were two points of intersection, the equation must have two distinct solutions. Thus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sz="1600" b="1" dirty="0"/>
                </a:br>
                <a:r>
                  <a:rPr lang="en-GB" sz="1600" b="1" dirty="0"/>
                  <a:t>Thus the quadratic has two distinct solutions, i.e. we have two points of intersection.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80" y="821904"/>
                <a:ext cx="4246221" cy="5956824"/>
              </a:xfrm>
              <a:prstGeom prst="rect">
                <a:avLst/>
              </a:prstGeom>
              <a:blipFill>
                <a:blip r:embed="rId4"/>
                <a:stretch>
                  <a:fillRect l="-1194" t="-426" r="-1493" b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242248" y="1443804"/>
            <a:ext cx="4197152" cy="1019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8411" y="3909643"/>
            <a:ext cx="4258921" cy="27463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18642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c3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a) On the same axes, draw the graphs of: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blipFill>
                <a:blip r:embed="rId2"/>
                <a:stretch>
                  <a:fillRect l="-1190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461" y="2156767"/>
            <a:ext cx="4536504" cy="3738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32104" y="859172"/>
                <a:ext cx="3468341" cy="4265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b) Prove algebraically that the lines never meet.</a:t>
                </a:r>
              </a:p>
              <a:p>
                <a:endParaRPr lang="en-GB" dirty="0"/>
              </a:p>
              <a:p>
                <a:r>
                  <a:rPr lang="en-GB" b="1" dirty="0"/>
                  <a:t>When we try to solve simultaneously by substitution, the equation must have no solutions.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therefore no solutions, and therefore no points of intersection.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859172"/>
                <a:ext cx="3468341" cy="4265976"/>
              </a:xfrm>
              <a:prstGeom prst="rect">
                <a:avLst/>
              </a:prstGeom>
              <a:blipFill>
                <a:blip r:embed="rId4"/>
                <a:stretch>
                  <a:fillRect l="-1455" t="-593" r="-1818" b="-1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944936" y="2057547"/>
            <a:ext cx="4646364" cy="38479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p:sp>
        <p:nvSpPr>
          <p:cNvPr id="9" name="Rectangle 8"/>
          <p:cNvSpPr/>
          <p:nvPr/>
        </p:nvSpPr>
        <p:spPr>
          <a:xfrm>
            <a:off x="7031732" y="1772817"/>
            <a:ext cx="3382269" cy="41222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10582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3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Final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75520" y="859173"/>
                <a:ext cx="8640960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line with equation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meets the curve with equation </a:t>
                </a:r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 at exactly one point. Given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is a positive constant:</a:t>
                </a:r>
              </a:p>
              <a:p>
                <a:r>
                  <a:rPr lang="en-GB" sz="2000" dirty="0"/>
                  <a:t>a) Find the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r>
                  <a:rPr lang="en-GB" sz="2000" dirty="0"/>
                  <a:t>b) For this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, find the coordinates of this point of intersection.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859173"/>
                <a:ext cx="8640960" cy="1323439"/>
              </a:xfrm>
              <a:prstGeom prst="rect">
                <a:avLst/>
              </a:prstGeom>
              <a:blipFill>
                <a:blip r:embed="rId2"/>
                <a:stretch>
                  <a:fillRect b="-84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5560" y="2636913"/>
                <a:ext cx="792088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+mj-lt"/>
                  </a:rPr>
                  <a:t>Substituting: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Since one point of intersection, equation has one solution,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=4,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16−4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=±2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positive 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br>
                  <a:rPr lang="en-GB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=0   →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+1=−1     →   (−1,−1)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636913"/>
                <a:ext cx="7920880" cy="4247317"/>
              </a:xfrm>
              <a:prstGeom prst="rect">
                <a:avLst/>
              </a:prstGeom>
              <a:blipFill>
                <a:blip r:embed="rId3"/>
                <a:stretch>
                  <a:fillRect l="-641" t="-597" b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800920" y="2692400"/>
            <a:ext cx="269180" cy="2537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920" y="5744105"/>
            <a:ext cx="269180" cy="2537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6160" y="5547817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can breathe a sigh of relief as we were expecting one solution only.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7032104" y="5870982"/>
            <a:ext cx="504056" cy="51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88642" y="2676129"/>
            <a:ext cx="7971358" cy="2797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6062" y="5575300"/>
            <a:ext cx="7973938" cy="1231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06342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3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3C – Y1 Page 45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854C772-4BF3-273E-A3FE-298A6044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63" y="591951"/>
            <a:ext cx="5328592" cy="1961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84EDC9-6C97-4307-0DB4-0C260982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780928"/>
            <a:ext cx="3845766" cy="159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673EE-42DB-69BE-5E7F-3FB1EFF51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7" y="4519446"/>
            <a:ext cx="3845767" cy="22778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FCD06F-9D52-9CC0-E74F-A41159266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3823547"/>
            <a:ext cx="2664296" cy="13917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870E73-F29E-F658-3ABF-AC9D0AA4A31F}"/>
              </a:ext>
            </a:extLst>
          </p:cNvPr>
          <p:cNvSpPr/>
          <p:nvPr/>
        </p:nvSpPr>
        <p:spPr>
          <a:xfrm>
            <a:off x="1779624" y="2695874"/>
            <a:ext cx="4100352" cy="1680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238AC-E9AE-E9D9-89DE-5CF52A3AEBE4}"/>
              </a:ext>
            </a:extLst>
          </p:cNvPr>
          <p:cNvSpPr/>
          <p:nvPr/>
        </p:nvSpPr>
        <p:spPr>
          <a:xfrm>
            <a:off x="1792243" y="4461844"/>
            <a:ext cx="4100352" cy="22778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542ABD-0C08-2C69-A0F0-DDF1011D93DC}"/>
              </a:ext>
            </a:extLst>
          </p:cNvPr>
          <p:cNvSpPr/>
          <p:nvPr/>
        </p:nvSpPr>
        <p:spPr>
          <a:xfrm>
            <a:off x="6441613" y="3338196"/>
            <a:ext cx="4100352" cy="22778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199869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c3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3C – Y1 Page 45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ABEA84C-A904-AF74-E591-D1EF1B847BB2}"/>
              </a:ext>
            </a:extLst>
          </p:cNvPr>
          <p:cNvGrpSpPr/>
          <p:nvPr/>
        </p:nvGrpSpPr>
        <p:grpSpPr>
          <a:xfrm>
            <a:off x="1534927" y="655181"/>
            <a:ext cx="9237637" cy="2269740"/>
            <a:chOff x="10927" y="655181"/>
            <a:chExt cx="7772400" cy="19097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A8E110-E5B2-A3F7-47ED-7453F7087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27" y="655181"/>
              <a:ext cx="7772400" cy="178259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C393CE-0896-5010-C811-D7C12F14E556}"/>
                </a:ext>
              </a:extLst>
            </p:cNvPr>
            <p:cNvSpPr/>
            <p:nvPr/>
          </p:nvSpPr>
          <p:spPr>
            <a:xfrm>
              <a:off x="6804248" y="2060848"/>
              <a:ext cx="936104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1F75E7-FDF7-5B53-3ED7-A76A2759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3140969"/>
            <a:ext cx="4464496" cy="32164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D7F61B-514B-341F-9C72-328AEEC55884}"/>
              </a:ext>
            </a:extLst>
          </p:cNvPr>
          <p:cNvSpPr/>
          <p:nvPr/>
        </p:nvSpPr>
        <p:spPr>
          <a:xfrm>
            <a:off x="2423592" y="2945241"/>
            <a:ext cx="5976664" cy="34121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8264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c3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3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