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7/ppt/slideMasters/slideMaster1.xml" ContentType="application/vnd.openxmlformats-officedocument.presentationml.slideMaster+xml"/>
  <ns0:Override PartName="/ppt/c7/ppt/slides/slide6.xml" ContentType="application/vnd.openxmlformats-officedocument.presentationml.slide+xml"/>
  <ns0:Override PartName="/ppt/c7/ppt/slides/slide7.xml" ContentType="application/vnd.openxmlformats-officedocument.presentationml.slide+xml"/>
  <ns0:Override PartName="/ppt/c7/ppt/slides/slide8.xml" ContentType="application/vnd.openxmlformats-officedocument.presentationml.slide+xml"/>
  <ns0:Override PartName="/ppt/c7/ppt/slides/slide9.xml" ContentType="application/vnd.openxmlformats-officedocument.presentationml.slide+xml"/>
  <ns0:Override PartName="/ppt/c7/ppt/slides/slide10.xml" ContentType="application/vnd.openxmlformats-officedocument.presentationml.slide+xml"/>
  <ns0:Override PartName="/ppt/c7/ppt/slides/slide11.xml" ContentType="application/vnd.openxmlformats-officedocument.presentationml.slide+xml"/>
  <ns0:Override PartName="/ppt/c7/ppt/slides/slide12.xml" ContentType="application/vnd.openxmlformats-officedocument.presentationml.slide+xml"/>
  <ns0:Override PartName="/ppt/c7/ppt/slides/slide13.xml" ContentType="application/vnd.openxmlformats-officedocument.presentationml.slide+xml"/>
  <ns0:Override PartName="/ppt/c7/ppt/slides/slide14.xml" ContentType="application/vnd.openxmlformats-officedocument.presentationml.slide+xml"/>
  <ns0:Override PartName="/ppt/c7/ppt/slides/slide15.xml" ContentType="application/vnd.openxmlformats-officedocument.presentationml.slide+xml"/>
  <ns0:Override PartName="/ppt/c7/ppt/slides/slide16.xml" ContentType="application/vnd.openxmlformats-officedocument.presentationml.slide+xml"/>
  <ns0:Override PartName="/ppt/c7/ppt/slides/slide17.xml" ContentType="application/vnd.openxmlformats-officedocument.presentationml.slide+xml"/>
  <ns0:Override PartName="/ppt/c7/ppt/slides/slide18.xml" ContentType="application/vnd.openxmlformats-officedocument.presentationml.slide+xml"/>
  <ns0:Override PartName="/ppt/c7/ppt/slides/slide19.xml" ContentType="application/vnd.openxmlformats-officedocument.presentationml.slide+xml"/>
  <ns0:Override PartName="/ppt/c7/ppt/slides/slide20.xml" ContentType="application/vnd.openxmlformats-officedocument.presentationml.slide+xml"/>
  <ns0:Override PartName="/ppt/c7/ppt/slides/slide21.xml" ContentType="application/vnd.openxmlformats-officedocument.presentationml.slide+xml"/>
  <ns0:Override PartName="/ppt/c7/ppt/slides/slide22.xml" ContentType="application/vnd.openxmlformats-officedocument.presentationml.slide+xml"/>
  <ns0:Override PartName="/ppt/c7/ppt/slides/slide23.xml" ContentType="application/vnd.openxmlformats-officedocument.presentationml.slide+xml"/>
  <ns0:Override PartName="/ppt/c7/ppt/notesMasters/notesMaster1.xml" ContentType="application/vnd.openxmlformats-officedocument.presentationml.notesMaster+xml"/>
  <ns0:Override PartName="/ppt/c7/ppt/theme/theme1.xml" ContentType="application/vnd.openxmlformats-officedocument.theme+xml"/>
  <ns0:Override PartName="/ppt/c7/ppt/slideLayouts/slideLayout1.xml" ContentType="application/vnd.openxmlformats-officedocument.presentationml.slideLayout+xml"/>
  <ns0:Override PartName="/ppt/c7/ppt/slideLayouts/slideLayout2.xml" ContentType="application/vnd.openxmlformats-officedocument.presentationml.slideLayout+xml"/>
  <ns0:Override PartName="/ppt/c7/ppt/slideLayouts/slideLayout3.xml" ContentType="application/vnd.openxmlformats-officedocument.presentationml.slideLayout+xml"/>
  <ns0:Override PartName="/ppt/c7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348" r:id="rId19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7/ppt/slides/slide6.xml" /><ns0:Relationship Id="rId2" Type="http://schemas.openxmlformats.org/officeDocument/2006/relationships/slide" Target="c7/ppt/slides/slide7.xml" /><ns0:Relationship Id="rId3" Type="http://schemas.openxmlformats.org/officeDocument/2006/relationships/slide" Target="c7/ppt/slides/slide8.xml" /><ns0:Relationship Id="rId4" Type="http://schemas.openxmlformats.org/officeDocument/2006/relationships/slide" Target="c7/ppt/slides/slide9.xml" /><ns0:Relationship Id="rId5" Type="http://schemas.openxmlformats.org/officeDocument/2006/relationships/slide" Target="c7/ppt/slides/slide10.xml" /><ns0:Relationship Id="rId6" Type="http://schemas.openxmlformats.org/officeDocument/2006/relationships/slide" Target="c7/ppt/slides/slide11.xml" /><ns0:Relationship Id="rId7" Type="http://schemas.openxmlformats.org/officeDocument/2006/relationships/slide" Target="c7/ppt/slides/slide12.xml" /><ns0:Relationship Id="rId8" Type="http://schemas.openxmlformats.org/officeDocument/2006/relationships/slide" Target="c7/ppt/slides/slide13.xml" /><ns0:Relationship Id="rId9" Type="http://schemas.openxmlformats.org/officeDocument/2006/relationships/slide" Target="c7/ppt/slides/slide14.xml" /><ns0:Relationship Id="rId10" Type="http://schemas.openxmlformats.org/officeDocument/2006/relationships/slide" Target="c7/ppt/slides/slide15.xml" /><ns0:Relationship Id="rId11" Type="http://schemas.openxmlformats.org/officeDocument/2006/relationships/slide" Target="c7/ppt/slides/slide16.xml" /><ns0:Relationship Id="rId12" Type="http://schemas.openxmlformats.org/officeDocument/2006/relationships/slide" Target="c7/ppt/slides/slide17.xml" /><ns0:Relationship Id="rId13" Type="http://schemas.openxmlformats.org/officeDocument/2006/relationships/slide" Target="c7/ppt/slides/slide18.xml" /><ns0:Relationship Id="rId14" Type="http://schemas.openxmlformats.org/officeDocument/2006/relationships/slide" Target="c7/ppt/slides/slide19.xml" /><ns0:Relationship Id="rId15" Type="http://schemas.openxmlformats.org/officeDocument/2006/relationships/slide" Target="c7/ppt/slides/slide20.xml" /><ns0:Relationship Id="rId16" Type="http://schemas.openxmlformats.org/officeDocument/2006/relationships/slide" Target="c7/ppt/slides/slide21.xml" /><ns0:Relationship Id="rId17" Type="http://schemas.openxmlformats.org/officeDocument/2006/relationships/slide" Target="c7/ppt/slides/slide22.xml" /><ns0:Relationship Id="rId18" Type="http://schemas.openxmlformats.org/officeDocument/2006/relationships/slide" Target="c7/ppt/slides/slide23.xml" /><ns0:Relationship Id="rId19" Type="http://schemas.openxmlformats.org/officeDocument/2006/relationships/slideMaster" Target="c7/ppt/slideMasters/slideMaster1.xml" /><ns0:Relationship Id="rId20" Type="http://schemas.openxmlformats.org/officeDocument/2006/relationships/notesMaster" Target="c7/ppt/notesMasters/notesMaster1.xml" /></ns0:Relationships>
</file>

<file path=ppt/c7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7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02/10/2023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7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7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8767855"/>
      </p:ext>
    </p:extLst>
  </p:cSld>
  <p:clrMapOvr>
    <a:masterClrMapping/>
  </p:clrMapOvr>
</p:sldLayout>
</file>

<file path=ppt/c7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05891"/>
      </p:ext>
    </p:extLst>
  </p:cSld>
  <p:clrMapOvr>
    <a:masterClrMapping/>
  </p:clrMapOvr>
</p:sldLayout>
</file>

<file path=ppt/c7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12192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657312"/>
      </p:ext>
    </p:extLst>
  </p:cSld>
  <p:clrMapOvr>
    <a:masterClrMapping/>
  </p:clrMapOvr>
</p:sldLayout>
</file>

<file path=ppt/c7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7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20688"/>
            <a:ext cx="109728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88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7/ppt/slides/_rels/slide6.xml.rels><?xml version='1.0' encoding='utf-8'?>
<ns0:Relationships xmlns:ns0="http://schemas.openxmlformats.org/package/2006/relationships"><ns0:Relationship Id="rId2" Type="http://schemas.openxmlformats.org/officeDocument/2006/relationships/image" Target="../media/image22.png" /><ns0:Relationship Id="rId1" Type="http://schemas.openxmlformats.org/officeDocument/2006/relationships/slideLayout" Target="../slideLayouts/slideLayout2.xml" /></ns0:Relationships>
</file>

<file path=ppt/c7/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c7/ppt/slides/_rels/slide8.xml.rels><?xml version='1.0' encoding='utf-8'?>
<ns0:Relationships xmlns:ns0="http://schemas.openxmlformats.org/package/2006/relationships"><ns0:Relationship Id="rId8" Type="http://schemas.openxmlformats.org/officeDocument/2006/relationships/image" Target="../media/image29.png" /><ns0:Relationship Id="rId13" Type="http://schemas.openxmlformats.org/officeDocument/2006/relationships/image" Target="../media/image34.png" /><ns0:Relationship Id="rId3" Type="http://schemas.openxmlformats.org/officeDocument/2006/relationships/image" Target="../media/image24.png" /><ns0:Relationship Id="rId7" Type="http://schemas.openxmlformats.org/officeDocument/2006/relationships/image" Target="../media/image28.png" /><ns0:Relationship Id="rId12" Type="http://schemas.openxmlformats.org/officeDocument/2006/relationships/image" Target="../media/image33.png" /><ns0:Relationship Id="rId2" Type="http://schemas.openxmlformats.org/officeDocument/2006/relationships/image" Target="../media/image2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7.png" /><ns0:Relationship Id="rId11" Type="http://schemas.openxmlformats.org/officeDocument/2006/relationships/image" Target="../media/image32.png" /><ns0:Relationship Id="rId5" Type="http://schemas.openxmlformats.org/officeDocument/2006/relationships/image" Target="../media/image26.png" /><ns0:Relationship Id="rId15" Type="http://schemas.openxmlformats.org/officeDocument/2006/relationships/image" Target="../media/image36.png" /><ns0:Relationship Id="rId10" Type="http://schemas.openxmlformats.org/officeDocument/2006/relationships/image" Target="../media/image31.png" /><ns0:Relationship Id="rId4" Type="http://schemas.openxmlformats.org/officeDocument/2006/relationships/image" Target="../media/image25.png" /><ns0:Relationship Id="rId9" Type="http://schemas.openxmlformats.org/officeDocument/2006/relationships/image" Target="../media/image30.png" /><ns0:Relationship Id="rId14" Type="http://schemas.openxmlformats.org/officeDocument/2006/relationships/image" Target="../media/image35.png" /></ns0:Relationships>
</file>

<file path=ppt/c7/ppt/slides/_rels/slide9.xml.rels><?xml version='1.0' encoding='utf-8'?>
<ns0:Relationships xmlns:ns0="http://schemas.openxmlformats.org/package/2006/relationships"><ns0:Relationship Id="rId8" Type="http://schemas.openxmlformats.org/officeDocument/2006/relationships/image" Target="../media/image43.png" /><ns0:Relationship Id="rId13" Type="http://schemas.openxmlformats.org/officeDocument/2006/relationships/image" Target="../media/image48.png" /><ns0:Relationship Id="rId3" Type="http://schemas.openxmlformats.org/officeDocument/2006/relationships/image" Target="../media/image38.png" /><ns0:Relationship Id="rId7" Type="http://schemas.openxmlformats.org/officeDocument/2006/relationships/image" Target="../media/image42.png" /><ns0:Relationship Id="rId12" Type="http://schemas.openxmlformats.org/officeDocument/2006/relationships/image" Target="../media/image47.png" /><ns0:Relationship Id="rId2" Type="http://schemas.openxmlformats.org/officeDocument/2006/relationships/image" Target="../media/image3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41.png" /><ns0:Relationship Id="rId11" Type="http://schemas.openxmlformats.org/officeDocument/2006/relationships/image" Target="../media/image46.png" /><ns0:Relationship Id="rId5" Type="http://schemas.openxmlformats.org/officeDocument/2006/relationships/image" Target="../media/image40.png" /><ns0:Relationship Id="rId10" Type="http://schemas.openxmlformats.org/officeDocument/2006/relationships/image" Target="../media/image45.png" /><ns0:Relationship Id="rId4" Type="http://schemas.openxmlformats.org/officeDocument/2006/relationships/image" Target="../media/image39.png" /><ns0:Relationship Id="rId9" Type="http://schemas.openxmlformats.org/officeDocument/2006/relationships/image" Target="../media/image44.png" /></ns0:Relationships>
</file>

<file path=ppt/c7/ppt/slides/_rels/slide10.xml.rels><?xml version='1.0' encoding='utf-8'?>
<ns0:Relationships xmlns:ns0="http://schemas.openxmlformats.org/package/2006/relationships"><ns0:Relationship Id="rId8" Type="http://schemas.openxmlformats.org/officeDocument/2006/relationships/image" Target="../media/image55.png" /><ns0:Relationship Id="rId13" Type="http://schemas.openxmlformats.org/officeDocument/2006/relationships/image" Target="../media/image60.png" /><ns0:Relationship Id="rId3" Type="http://schemas.openxmlformats.org/officeDocument/2006/relationships/image" Target="../media/image50.png" /><ns0:Relationship Id="rId7" Type="http://schemas.openxmlformats.org/officeDocument/2006/relationships/image" Target="../media/image54.png" /><ns0:Relationship Id="rId12" Type="http://schemas.openxmlformats.org/officeDocument/2006/relationships/image" Target="../media/image59.png" /><ns0:Relationship Id="rId2" Type="http://schemas.openxmlformats.org/officeDocument/2006/relationships/image" Target="../media/image4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3.png" /><ns0:Relationship Id="rId11" Type="http://schemas.openxmlformats.org/officeDocument/2006/relationships/image" Target="../media/image58.png" /><ns0:Relationship Id="rId5" Type="http://schemas.openxmlformats.org/officeDocument/2006/relationships/image" Target="../media/image52.png" /><ns0:Relationship Id="rId10" Type="http://schemas.openxmlformats.org/officeDocument/2006/relationships/image" Target="../media/image57.png" /><ns0:Relationship Id="rId4" Type="http://schemas.openxmlformats.org/officeDocument/2006/relationships/image" Target="../media/image51.png" /><ns0:Relationship Id="rId9" Type="http://schemas.openxmlformats.org/officeDocument/2006/relationships/image" Target="../media/image56.png" /></ns0:Relationships>
</file>

<file path=ppt/c7/ppt/slides/_rels/slide11.xml.rels><?xml version='1.0' encoding='utf-8'?>
<ns0:Relationships xmlns:ns0="http://schemas.openxmlformats.org/package/2006/relationships"><ns0:Relationship Id="rId8" Type="http://schemas.openxmlformats.org/officeDocument/2006/relationships/image" Target="../media/image67.png" /><ns0:Relationship Id="rId3" Type="http://schemas.openxmlformats.org/officeDocument/2006/relationships/image" Target="../media/image62.png" /><ns0:Relationship Id="rId7" Type="http://schemas.openxmlformats.org/officeDocument/2006/relationships/image" Target="../media/image66.png" /><ns0:Relationship Id="rId12" Type="http://schemas.openxmlformats.org/officeDocument/2006/relationships/image" Target="../media/image71.png" /><ns0:Relationship Id="rId2" Type="http://schemas.openxmlformats.org/officeDocument/2006/relationships/image" Target="../media/image6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65.png" /><ns0:Relationship Id="rId11" Type="http://schemas.openxmlformats.org/officeDocument/2006/relationships/image" Target="../media/image70.png" /><ns0:Relationship Id="rId5" Type="http://schemas.openxmlformats.org/officeDocument/2006/relationships/image" Target="../media/image64.png" /><ns0:Relationship Id="rId10" Type="http://schemas.openxmlformats.org/officeDocument/2006/relationships/image" Target="../media/image69.png" /><ns0:Relationship Id="rId4" Type="http://schemas.openxmlformats.org/officeDocument/2006/relationships/image" Target="../media/image63.png" /><ns0:Relationship Id="rId9" Type="http://schemas.openxmlformats.org/officeDocument/2006/relationships/image" Target="../media/image68.png" /></ns0:Relationships>
</file>

<file path=ppt/c7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73.png" /><ns0:Relationship Id="rId7" Type="http://schemas.openxmlformats.org/officeDocument/2006/relationships/image" Target="../media/image77.png" /><ns0:Relationship Id="rId2" Type="http://schemas.openxmlformats.org/officeDocument/2006/relationships/image" Target="../media/image7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76.png" /><ns0:Relationship Id="rId5" Type="http://schemas.openxmlformats.org/officeDocument/2006/relationships/image" Target="../media/image75.png" /><ns0:Relationship Id="rId4" Type="http://schemas.openxmlformats.org/officeDocument/2006/relationships/image" Target="../media/image74.png" /></ns0:Relationships>
</file>

<file path=ppt/c7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79.png" /><ns0:Relationship Id="rId2" Type="http://schemas.openxmlformats.org/officeDocument/2006/relationships/image" Target="../media/image78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81.png" /><ns0:Relationship Id="rId4" Type="http://schemas.openxmlformats.org/officeDocument/2006/relationships/image" Target="../media/image80.png" /></ns0:Relationships>
</file>

<file path=ppt/c7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83.png" /><ns0:Relationship Id="rId2" Type="http://schemas.openxmlformats.org/officeDocument/2006/relationships/image" Target="../media/image82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85.png" /><ns0:Relationship Id="rId4" Type="http://schemas.openxmlformats.org/officeDocument/2006/relationships/image" Target="../media/image84.png" /></ns0:Relationships>
</file>

<file path=ppt/c7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87.png" /><ns0:Relationship Id="rId2" Type="http://schemas.openxmlformats.org/officeDocument/2006/relationships/image" Target="../media/image86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88.png" /></ns0:Relationships>
</file>

<file path=ppt/c7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90.png" /><ns0:Relationship Id="rId2" Type="http://schemas.openxmlformats.org/officeDocument/2006/relationships/image" Target="../media/image89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91.png" /></ns0:Relationships>
</file>

<file path=ppt/c7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98.png" /><ns0:Relationship Id="rId3" Type="http://schemas.openxmlformats.org/officeDocument/2006/relationships/image" Target="../media/image93.png" /><ns0:Relationship Id="rId7" Type="http://schemas.openxmlformats.org/officeDocument/2006/relationships/image" Target="../media/image97.png" /><ns0:Relationship Id="rId2" Type="http://schemas.openxmlformats.org/officeDocument/2006/relationships/image" Target="../media/image9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96.png" /><ns0:Relationship Id="rId5" Type="http://schemas.openxmlformats.org/officeDocument/2006/relationships/image" Target="../media/image95.png" /><ns0:Relationship Id="rId4" Type="http://schemas.openxmlformats.org/officeDocument/2006/relationships/image" Target="../media/image94.png" /></ns0:Relationships>
</file>

<file path=ppt/c7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100.png" /><ns0:Relationship Id="rId2" Type="http://schemas.openxmlformats.org/officeDocument/2006/relationships/image" Target="../media/image99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01.png" /></ns0:Relationships>
</file>

<file path=ppt/c7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03.png" /><ns0:Relationship Id="rId2" Type="http://schemas.openxmlformats.org/officeDocument/2006/relationships/image" Target="../media/image102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05.png" /><ns0:Relationship Id="rId4" Type="http://schemas.openxmlformats.org/officeDocument/2006/relationships/image" Target="../media/image104.png" /></ns0:Relationships>
</file>

<file path=ppt/c7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07.png" /><ns0:Relationship Id="rId2" Type="http://schemas.openxmlformats.org/officeDocument/2006/relationships/image" Target="../media/image106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09.png" /><ns0:Relationship Id="rId4" Type="http://schemas.openxmlformats.org/officeDocument/2006/relationships/image" Target="../media/image108.png" /></ns0:Relationships>
</file>

<file path=ppt/c7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11.png" /><ns0:Relationship Id="rId2" Type="http://schemas.openxmlformats.org/officeDocument/2006/relationships/image" Target="../media/image110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13.png" /><ns0:Relationship Id="rId4" Type="http://schemas.openxmlformats.org/officeDocument/2006/relationships/image" Target="../media/image112.png" /></ns0:Relationships>
</file>

<file path=ppt/c7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115.png" /><ns0:Relationship Id="rId2" Type="http://schemas.openxmlformats.org/officeDocument/2006/relationships/image" Target="../media/image114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17.png" /><ns0:Relationship Id="rId4" Type="http://schemas.openxmlformats.org/officeDocument/2006/relationships/image" Target="../media/image116.png" /></ns0:Relationships>
</file>

<file path=ppt/c7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19.png" /><ns0:Relationship Id="rId2" Type="http://schemas.openxmlformats.org/officeDocument/2006/relationships/image" Target="../media/image118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120.png" /></ns0:Relationships>
</file>

<file path=ppt/c7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Terminology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55640" y="1988841"/>
                <a:ext cx="684076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/>
                        </a:rPr>
                        <m:t>11÷4=2 </m:t>
                      </m:r>
                      <m:r>
                        <a:rPr lang="en-GB" sz="6000" i="1">
                          <a:latin typeface="Cambria Math"/>
                        </a:rPr>
                        <m:t>𝑟𝑒𝑚</m:t>
                      </m:r>
                      <m:r>
                        <a:rPr lang="en-GB" sz="6000" i="1">
                          <a:latin typeface="Cambria Math"/>
                        </a:rPr>
                        <m:t> 3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1988841"/>
                <a:ext cx="6840760" cy="1015663"/>
              </a:xfrm>
              <a:prstGeom prst="rect">
                <a:avLst/>
              </a:prstGeom>
              <a:blipFill>
                <a:blip r:embed="rId2"/>
                <a:stretch>
                  <a:fillRect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5560" y="3861048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dividend</a:t>
            </a:r>
          </a:p>
          <a:p>
            <a:pPr algn="ctr"/>
            <a:r>
              <a:rPr lang="en-GB" sz="1600" dirty="0"/>
              <a:t>(the thing we’re dividing)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3812" y="4197226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divisor</a:t>
            </a:r>
          </a:p>
          <a:p>
            <a:pPr algn="ctr"/>
            <a:r>
              <a:rPr lang="en-GB" sz="1600" dirty="0"/>
              <a:t>(the thing we’re dividing by)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8048" y="3904839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quotient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4232" y="4782002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remainder</a:t>
            </a:r>
          </a:p>
        </p:txBody>
      </p:sp>
      <p:cxnSp>
        <p:nvCxnSpPr>
          <p:cNvPr id="11" name="Straight Arrow Connector 10"/>
          <p:cNvCxnSpPr>
            <a:stCxn id="6" idx="0"/>
          </p:cNvCxnSpPr>
          <p:nvPr/>
        </p:nvCxnSpPr>
        <p:spPr>
          <a:xfrm flipV="1">
            <a:off x="3071664" y="2924944"/>
            <a:ext cx="720080" cy="9361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0"/>
          </p:cNvCxnSpPr>
          <p:nvPr/>
        </p:nvCxnSpPr>
        <p:spPr>
          <a:xfrm flipV="1">
            <a:off x="5339916" y="2924944"/>
            <a:ext cx="0" cy="1272282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888088" y="2924944"/>
            <a:ext cx="576064" cy="979894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8940316" y="2924944"/>
            <a:ext cx="288032" cy="1892852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35560" y="3853502"/>
            <a:ext cx="1825882" cy="10158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487" y="4258780"/>
            <a:ext cx="1838243" cy="1015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2014" y="3984159"/>
            <a:ext cx="18382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9227" y="4817797"/>
            <a:ext cx="18382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901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c7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2547892" y="2132911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4348092" y="1484839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48092" y="1484839"/>
            <a:ext cx="41044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84076" y="1393377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4 2 3 . 0  0  0  0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8864" y="140365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4156" y="675554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3518" y="1988896"/>
            <a:ext cx="1212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3 3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600120" y="2781038"/>
            <a:ext cx="7560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84076" y="2781039"/>
            <a:ext cx="159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   9 3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6204" y="665242"/>
            <a:ext cx="1108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8 .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3518" y="3501064"/>
            <a:ext cx="159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   8 8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958446" y="4332060"/>
            <a:ext cx="7560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56204" y="4332061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5   0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958446" y="1988896"/>
            <a:ext cx="5170002" cy="1807805"/>
            <a:chOff x="3434446" y="1988895"/>
            <a:chExt cx="5170002" cy="1807805"/>
          </a:xfrm>
        </p:grpSpPr>
        <p:sp>
          <p:nvSpPr>
            <p:cNvPr id="22" name="TextBox 21"/>
            <p:cNvSpPr txBox="1"/>
            <p:nvPr/>
          </p:nvSpPr>
          <p:spPr>
            <a:xfrm>
              <a:off x="5560396" y="2596371"/>
              <a:ext cx="3044052" cy="120032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1. </a:t>
              </a:r>
              <a:r>
                <a:rPr lang="en-GB" b="0" dirty="0"/>
                <a:t>We found how many whole number of times (i.e. the quotient) the divisor went into the dividend.</a:t>
              </a:r>
            </a:p>
          </p:txBody>
        </p:sp>
        <p:cxnSp>
          <p:nvCxnSpPr>
            <p:cNvPr id="24" name="Straight Arrow Connector 23"/>
            <p:cNvCxnSpPr>
              <a:stCxn id="22" idx="1"/>
            </p:cNvCxnSpPr>
            <p:nvPr/>
          </p:nvCxnSpPr>
          <p:spPr>
            <a:xfrm flipH="1" flipV="1">
              <a:off x="3434446" y="1988895"/>
              <a:ext cx="2125950" cy="1207641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519937" y="2708921"/>
            <a:ext cx="4731147" cy="2341587"/>
            <a:chOff x="3873301" y="901115"/>
            <a:chExt cx="4731147" cy="2341587"/>
          </a:xfrm>
        </p:grpSpPr>
        <p:sp>
          <p:nvSpPr>
            <p:cNvPr id="28" name="TextBox 27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2. </a:t>
              </a:r>
              <a:r>
                <a:rPr lang="en-GB" b="0" dirty="0"/>
                <a:t>We multiplied the quotient by the dividend.</a:t>
              </a:r>
            </a:p>
          </p:txBody>
        </p:sp>
        <p:cxnSp>
          <p:nvCxnSpPr>
            <p:cNvPr id="29" name="Straight Arrow Connector 28"/>
            <p:cNvCxnSpPr>
              <a:stCxn id="28" idx="1"/>
            </p:cNvCxnSpPr>
            <p:nvPr/>
          </p:nvCxnSpPr>
          <p:spPr>
            <a:xfrm flipH="1" flipV="1">
              <a:off x="3873301" y="901115"/>
              <a:ext cx="1687095" cy="2018422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1872096" y="3231808"/>
            <a:ext cx="3044052" cy="2621534"/>
            <a:chOff x="5560396" y="621168"/>
            <a:chExt cx="3044052" cy="2621534"/>
          </a:xfrm>
        </p:grpSpPr>
        <p:sp>
          <p:nvSpPr>
            <p:cNvPr id="32" name="TextBox 31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23315E"/>
                  </a:solidFill>
                </a:rPr>
                <a:t>3. </a:t>
              </a:r>
              <a:r>
                <a:rPr lang="en-GB" dirty="0">
                  <a:solidFill>
                    <a:srgbClr val="23315E"/>
                  </a:solidFill>
                </a:rPr>
                <a:t>…in order to find the remainder.</a:t>
              </a:r>
            </a:p>
          </p:txBody>
        </p:sp>
        <p:cxnSp>
          <p:nvCxnSpPr>
            <p:cNvPr id="33" name="Straight Arrow Connector 32"/>
            <p:cNvCxnSpPr>
              <a:stCxn id="32" idx="0"/>
            </p:cNvCxnSpPr>
            <p:nvPr/>
          </p:nvCxnSpPr>
          <p:spPr>
            <a:xfrm flipV="1">
              <a:off x="7082422" y="621168"/>
              <a:ext cx="1522026" cy="1975203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138729" y="3501064"/>
            <a:ext cx="3044052" cy="3169115"/>
            <a:chOff x="5560396" y="73587"/>
            <a:chExt cx="3044052" cy="3169115"/>
          </a:xfrm>
        </p:grpSpPr>
        <p:sp>
          <p:nvSpPr>
            <p:cNvPr id="38" name="TextBox 37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4. </a:t>
              </a:r>
              <a:r>
                <a:rPr lang="en-GB" b="0" dirty="0"/>
                <a:t>Find we ‘brought down’ the next number.</a:t>
              </a:r>
            </a:p>
          </p:txBody>
        </p:sp>
        <p:cxnSp>
          <p:nvCxnSpPr>
            <p:cNvPr id="39" name="Straight Arrow Connector 38"/>
            <p:cNvCxnSpPr>
              <a:stCxn id="38" idx="0"/>
            </p:cNvCxnSpPr>
            <p:nvPr/>
          </p:nvCxnSpPr>
          <p:spPr>
            <a:xfrm flipH="1" flipV="1">
              <a:off x="6137911" y="73587"/>
              <a:ext cx="944511" cy="2522784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Normal Long Division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22096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8" grpId="0"/>
      <p:bldP spid="19" grpId="0"/>
      <p:bldP spid="21" grpId="0"/>
    </p:bldLst>
  </p:timing>
</p:sld>
</file>

<file path=ppt/c7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545412" y="2092629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345612" y="1444557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345612" y="1444557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09144" y="1363375"/>
                <a:ext cx="16353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+ 5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44" y="1363375"/>
                <a:ext cx="1635352" cy="707886"/>
              </a:xfrm>
              <a:prstGeom prst="rect">
                <a:avLst/>
              </a:prstGeom>
              <a:blipFill>
                <a:blip r:embed="rId2"/>
                <a:stretch>
                  <a:fillRect l="-2308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11824" y="1363374"/>
                <a:ext cx="55643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3</a:t>
                </a:r>
                <a:r>
                  <a:rPr lang="en-GB" sz="4000" dirty="0"/>
                  <a:t> + 28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r>
                  <a:rPr lang="en-GB" sz="4000" dirty="0"/>
                  <a:t> – 7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+ 15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363374"/>
                <a:ext cx="5564332" cy="707886"/>
              </a:xfrm>
              <a:prstGeom prst="rect">
                <a:avLst/>
              </a:prstGeom>
              <a:blipFill>
                <a:blip r:embed="rId3"/>
                <a:stretch>
                  <a:fillRect l="-3872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11824" y="613560"/>
                <a:ext cx="114964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endParaRPr lang="en-GB" sz="4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613560"/>
                <a:ext cx="1149648" cy="707886"/>
              </a:xfrm>
              <a:prstGeom prst="rect">
                <a:avLst/>
              </a:prstGeom>
              <a:blipFill>
                <a:blip r:embed="rId4"/>
                <a:stretch>
                  <a:fillRect l="-18681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19835" y="2194371"/>
                <a:ext cx="28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3</a:t>
                </a:r>
                <a:r>
                  <a:rPr lang="en-GB" sz="4000" dirty="0"/>
                  <a:t> + 30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endParaRPr lang="en-GB" sz="4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35" y="2194371"/>
                <a:ext cx="2848030" cy="707886"/>
              </a:xfrm>
              <a:prstGeom prst="rect">
                <a:avLst/>
              </a:prstGeom>
              <a:blipFill>
                <a:blip r:embed="rId5"/>
                <a:stretch>
                  <a:fillRect l="-7522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511824" y="3025368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517456" y="3025368"/>
                <a:ext cx="30963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–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r>
                  <a:rPr lang="en-GB" sz="4000" dirty="0"/>
                  <a:t> – 7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56" y="3025368"/>
                <a:ext cx="3096344" cy="707886"/>
              </a:xfrm>
              <a:prstGeom prst="rect">
                <a:avLst/>
              </a:prstGeom>
              <a:blipFill>
                <a:blip r:embed="rId6"/>
                <a:stretch>
                  <a:fillRect l="-6939" t="-14286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517456" y="613560"/>
                <a:ext cx="16561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- 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0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56" y="613560"/>
                <a:ext cx="1656184" cy="707886"/>
              </a:xfrm>
              <a:prstGeom prst="rect">
                <a:avLst/>
              </a:prstGeom>
              <a:blipFill>
                <a:blip r:embed="rId7"/>
                <a:stretch>
                  <a:fillRect l="-12977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00812" y="3856365"/>
                <a:ext cx="3329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–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 </a:t>
                </a:r>
                <a:r>
                  <a:rPr lang="en-GB" sz="4000" dirty="0"/>
                  <a:t>– 10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812" y="3856365"/>
                <a:ext cx="3329012" cy="707886"/>
              </a:xfrm>
              <a:prstGeom prst="rect">
                <a:avLst/>
              </a:prstGeom>
              <a:blipFill>
                <a:blip r:embed="rId8"/>
                <a:stretch>
                  <a:fillRect l="-6061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517456" y="4679612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749704" y="2194372"/>
            <a:ext cx="0" cy="83099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605688" y="4687362"/>
                <a:ext cx="22289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3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 + 15 </a:t>
                </a: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88" y="4687362"/>
                <a:ext cx="2228931" cy="707886"/>
              </a:xfrm>
              <a:prstGeom prst="rect">
                <a:avLst/>
              </a:prstGeom>
              <a:blipFill>
                <a:blip r:embed="rId9"/>
                <a:stretch>
                  <a:fillRect l="-10227" t="-14286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7269830" y="619702"/>
            <a:ext cx="1343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+ 3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9045848" y="2194372"/>
            <a:ext cx="0" cy="249299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605688" y="5404942"/>
                <a:ext cx="22395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3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 + 15 </a:t>
                </a: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88" y="5404942"/>
                <a:ext cx="2239563" cy="707886"/>
              </a:xfrm>
              <a:prstGeom prst="rect">
                <a:avLst/>
              </a:prstGeom>
              <a:blipFill>
                <a:blip r:embed="rId10"/>
                <a:stretch>
                  <a:fillRect l="-10169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7631460" y="6193333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71600" y="6235899"/>
            <a:ext cx="597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69013" y="3368021"/>
                <a:ext cx="3067248" cy="160043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Tip:</a:t>
                </a:r>
              </a:p>
              <a:p>
                <a:r>
                  <a:rPr lang="en-GB" sz="1400" dirty="0"/>
                  <a:t>You can check your solution by expanding: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if you know you should get no remainder, ending with 0 at the bottom is a good sign!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013" y="3368021"/>
                <a:ext cx="3067248" cy="16004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44688" y="771157"/>
                <a:ext cx="38296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How many times does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go into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400" dirty="0"/>
                  <a:t>?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688" y="771157"/>
                <a:ext cx="3829698" cy="307777"/>
              </a:xfrm>
              <a:prstGeom prst="rect">
                <a:avLst/>
              </a:prstGeom>
              <a:blipFill>
                <a:blip r:embed="rId12"/>
                <a:stretch>
                  <a:fillRect l="-33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3393604" y="1081391"/>
            <a:ext cx="975150" cy="14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670552" y="2402036"/>
                <a:ext cx="26099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Multiply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by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r>
                  <a:rPr lang="en-GB" sz="1400" dirty="0"/>
                  <a:t>. The first term should match with above.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552" y="2402036"/>
                <a:ext cx="2609991" cy="523220"/>
              </a:xfrm>
              <a:prstGeom prst="rect">
                <a:avLst/>
              </a:prstGeom>
              <a:blipFill>
                <a:blip r:embed="rId13"/>
                <a:stretch>
                  <a:fillRect l="-485" t="-2381" r="-1942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062827" y="2487639"/>
            <a:ext cx="464458" cy="2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16235" y="2097347"/>
            <a:ext cx="1296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Subtract and carry down next term.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8228881" y="2674421"/>
            <a:ext cx="1352088" cy="420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905642" y="5665315"/>
                <a:ext cx="3468914" cy="738664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Tip:</a:t>
                </a:r>
              </a:p>
              <a:p>
                <a:r>
                  <a:rPr lang="en-GB" sz="1400" dirty="0"/>
                  <a:t>Be </a:t>
                </a:r>
                <a:r>
                  <a:rPr lang="en-GB" sz="1400" b="1" u="sng" dirty="0"/>
                  <a:t>very</a:t>
                </a:r>
                <a:r>
                  <a:rPr lang="en-GB" sz="1400" dirty="0"/>
                  <a:t> careful subtracting negatives.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642" y="5665315"/>
                <a:ext cx="3468914" cy="738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7956825" y="577368"/>
                <a:ext cx="28274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Now repeat! How many times does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go into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825" y="577368"/>
                <a:ext cx="2827450" cy="646331"/>
              </a:xfrm>
              <a:prstGeom prst="rect">
                <a:avLst/>
              </a:prstGeom>
              <a:blipFill>
                <a:blip r:embed="rId15"/>
                <a:stretch>
                  <a:fillRect l="-178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6770211" y="6224737"/>
            <a:ext cx="129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is the remainder.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8016156" y="6520798"/>
            <a:ext cx="952500" cy="20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D1B8FD-8C21-384A-280A-BE1974587F06}"/>
              </a:ext>
            </a:extLst>
          </p:cNvPr>
          <p:cNvSpPr txBox="1"/>
          <p:nvPr/>
        </p:nvSpPr>
        <p:spPr>
          <a:xfrm>
            <a:off x="3846479" y="3511844"/>
            <a:ext cx="464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Fractions</a:t>
            </a:r>
            <a:endParaRPr lang="en-US" dirty="0"/>
          </a:p>
        </p:txBody>
      </p:sp>
      <p:sp>
        <p:nvSpPr>
          <p:cNvPr id="29" name="TextBox 32">
            <a:extLst>
              <a:ext uri="{FF2B5EF4-FFF2-40B4-BE49-F238E27FC236}">
                <a16:creationId xmlns:a16="http://schemas.microsoft.com/office/drawing/2014/main" id="{EF5349B5-2B3C-9197-47D8-81A3160511E7}"/>
              </a:ext>
            </a:extLst>
          </p:cNvPr>
          <p:cNvSpPr txBox="1"/>
          <p:nvPr/>
        </p:nvSpPr>
        <p:spPr>
          <a:xfrm>
            <a:off x="1524000" y="1"/>
            <a:ext cx="9142856" cy="599127"/>
          </a:xfrm>
          <a:prstGeom prst="rect">
            <a:avLst/>
          </a:prstGeo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24000" rtlCol="0">
            <a:spAutoFit/>
          </a:bodyPr>
          <a:lstStyle>
            <a:defPPr>
              <a:defRPr lang="en-US"/>
            </a:defPPr>
            <a:lvl1pPr>
              <a:defRPr sz="3200"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97615609"/>
      </p:ext>
    </p:extLst>
  </p:cSld>
  <p:clrMapOvr>
    <a:masterClrMapping/>
  </p:clrMapOvr>
</p:sld>
</file>

<file path=ppt/c7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295604" y="2963835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095804" y="2315763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095804" y="2315763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92401" y="2191221"/>
                <a:ext cx="16353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dirty="0"/>
                  <a:t> - 1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01" y="2191221"/>
                <a:ext cx="1635352" cy="830997"/>
              </a:xfrm>
              <a:prstGeom prst="rect">
                <a:avLst/>
              </a:prstGeom>
              <a:blipFill>
                <a:blip r:embed="rId2"/>
                <a:stretch>
                  <a:fillRect l="-3846" t="-16418" b="-37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262016" y="2234581"/>
                <a:ext cx="55643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3</a:t>
                </a:r>
                <a:r>
                  <a:rPr lang="en-GB" sz="4800" dirty="0"/>
                  <a:t>  +   0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r>
                  <a:rPr lang="en-GB" sz="4800" dirty="0"/>
                  <a:t> – 2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dirty="0"/>
                  <a:t>  + 4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16" y="2234581"/>
                <a:ext cx="5564332" cy="830997"/>
              </a:xfrm>
              <a:prstGeom prst="rect">
                <a:avLst/>
              </a:prstGeom>
              <a:blipFill>
                <a:blip r:embed="rId3"/>
                <a:stretch>
                  <a:fillRect l="-5011" t="-18182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262016" y="1484767"/>
                <a:ext cx="11496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endParaRPr lang="en-GB" sz="4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16" y="1484767"/>
                <a:ext cx="1149648" cy="830997"/>
              </a:xfrm>
              <a:prstGeom prst="rect">
                <a:avLst/>
              </a:prstGeom>
              <a:blipFill>
                <a:blip r:embed="rId4"/>
                <a:stretch>
                  <a:fillRect l="-23913" t="-18182" r="-3261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257328" y="2786178"/>
                <a:ext cx="29502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3</a:t>
                </a:r>
                <a:r>
                  <a:rPr lang="en-GB" sz="4800" dirty="0"/>
                  <a:t> –    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endParaRPr lang="en-GB" sz="4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328" y="2786178"/>
                <a:ext cx="2950220" cy="830997"/>
              </a:xfrm>
              <a:prstGeom prst="rect">
                <a:avLst/>
              </a:prstGeom>
              <a:blipFill>
                <a:blip r:embed="rId5"/>
                <a:stretch>
                  <a:fillRect l="-9871" t="-16667" r="-3433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262016" y="3553674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127948" y="3604475"/>
                <a:ext cx="37595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948" y="3604475"/>
                <a:ext cx="375959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67648" y="1484767"/>
                <a:ext cx="1851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+   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648" y="1484767"/>
                <a:ext cx="1851000" cy="830997"/>
              </a:xfrm>
              <a:prstGeom prst="rect">
                <a:avLst/>
              </a:prstGeom>
              <a:blipFill>
                <a:blip r:embed="rId7"/>
                <a:stretch>
                  <a:fillRect l="-7483" t="-18182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857032" y="4125592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032" y="4125592"/>
                <a:ext cx="2711276" cy="830997"/>
              </a:xfrm>
              <a:prstGeom prst="rect">
                <a:avLst/>
              </a:prstGeom>
              <a:blipFill>
                <a:blip r:embed="rId8"/>
                <a:stretch>
                  <a:fillRect l="-1869" r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6026548" y="4872638"/>
            <a:ext cx="24260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14196" y="2963978"/>
            <a:ext cx="0" cy="83099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966859" y="1490909"/>
                <a:ext cx="13439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59" y="1490909"/>
                <a:ext cx="134397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>
            <a:off x="9006840" y="3014636"/>
            <a:ext cx="19314" cy="17935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56230" y="753256"/>
                <a:ext cx="814269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the remainder when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2400" dirty="0"/>
                  <a:t> is divided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30" y="753256"/>
                <a:ext cx="8142691" cy="461665"/>
              </a:xfrm>
              <a:prstGeom prst="rect">
                <a:avLst/>
              </a:prstGeom>
              <a:blipFill>
                <a:blip r:embed="rId10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014188" y="5180772"/>
            <a:ext cx="4012361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Ensure that any missing terms in the polynomial are filled in, so that the powers decrease by 1 each time.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218370" y="4790168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370" y="4790168"/>
                <a:ext cx="2711276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225151" y="5310113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151" y="5310113"/>
                <a:ext cx="271127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 flipV="1">
            <a:off x="7881251" y="6054997"/>
            <a:ext cx="1368341" cy="22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635413" y="6027981"/>
                <a:ext cx="89611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413" y="6027981"/>
                <a:ext cx="896118" cy="830997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4648038" y="6246113"/>
            <a:ext cx="288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remainder is 5.</a:t>
            </a:r>
          </a:p>
        </p:txBody>
      </p:sp>
    </p:spTree>
    <p:extLst>
      <p:ext uri="{BB962C8B-B14F-4D97-AF65-F5344CB8AC3E}">
        <p14:creationId xmlns:p14="http://schemas.microsoft.com/office/powerpoint/2010/main" val="134509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2" grpId="0"/>
      <p:bldP spid="13" grpId="0"/>
      <p:bldP spid="14" grpId="0"/>
      <p:bldP spid="21" grpId="0"/>
      <p:bldP spid="25" grpId="0"/>
      <p:bldP spid="26" grpId="0"/>
      <p:bldP spid="28" grpId="0"/>
      <p:bldP spid="30" grpId="0"/>
    </p:bldLst>
  </p:timing>
</p:sld>
</file>

<file path=ppt/c7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blipFill>
                <a:blip r:embed="rId2"/>
                <a:stretch>
                  <a:fillRect r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/>
          <p:cNvCxnSpPr/>
          <p:nvPr/>
        </p:nvCxnSpPr>
        <p:spPr>
          <a:xfrm>
            <a:off x="2397813" y="2914247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198013" y="2266175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198013" y="2266175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59945" y="2146894"/>
                <a:ext cx="16353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945" y="2146894"/>
                <a:ext cx="1635352" cy="830997"/>
              </a:xfrm>
              <a:prstGeom prst="rect">
                <a:avLst/>
              </a:prstGeom>
              <a:blipFill>
                <a:blip r:embed="rId3"/>
                <a:stretch>
                  <a:fillRect l="-1538" r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−16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blipFill>
                <a:blip r:embed="rId4"/>
                <a:stretch>
                  <a:fillRect l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64225" y="1435179"/>
                <a:ext cx="11496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5" y="1435179"/>
                <a:ext cx="1149648" cy="830997"/>
              </a:xfrm>
              <a:prstGeom prst="rect">
                <a:avLst/>
              </a:prstGeom>
              <a:blipFill>
                <a:blip r:embed="rId5"/>
                <a:stretch>
                  <a:fillRect l="-9783" r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blipFill>
                <a:blip r:embed="rId6"/>
                <a:stretch>
                  <a:fillRect l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402325" y="3516786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413400" y="1420665"/>
                <a:ext cx="16561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400" y="1420665"/>
                <a:ext cx="1656184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938182" y="4799555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21142" y="2927090"/>
            <a:ext cx="5195" cy="57811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blipFill>
                <a:blip r:embed="rId9"/>
                <a:stretch>
                  <a:fillRect r="-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001323" y="1441321"/>
                <a:ext cx="13439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323" y="1441321"/>
                <a:ext cx="1343970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>
            <a:off x="9439275" y="2977891"/>
            <a:ext cx="11424" cy="15464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blipFill>
                <a:blip r:embed="rId11"/>
                <a:stretch>
                  <a:fillRect r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7925998" y="6020216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blipFill>
                <a:blip r:embed="rId12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8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756230" y="753256"/>
                <a:ext cx="8794813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the remainder when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GB" sz="2400" dirty="0"/>
                  <a:t> is divided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30" y="753256"/>
                <a:ext cx="8794813" cy="461665"/>
              </a:xfrm>
              <a:prstGeom prst="rect">
                <a:avLst/>
              </a:prstGeom>
              <a:blipFill>
                <a:blip r:embed="rId13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648038" y="6246113"/>
            <a:ext cx="288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remainder is -6.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6229" y="1214920"/>
            <a:ext cx="8794814" cy="549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314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c7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756229" y="753256"/>
                <a:ext cx="8794814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Divide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 by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29" y="753256"/>
                <a:ext cx="8794814" cy="461665"/>
              </a:xfrm>
              <a:prstGeom prst="rect">
                <a:avLst/>
              </a:prstGeom>
              <a:blipFill>
                <a:blip r:embed="rId2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397813" y="2914247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198013" y="2266175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198013" y="2266175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082801" y="2146894"/>
                <a:ext cx="20124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1" y="2146894"/>
                <a:ext cx="2012497" cy="830997"/>
              </a:xfrm>
              <a:prstGeom prst="rect">
                <a:avLst/>
              </a:prstGeom>
              <a:blipFill>
                <a:blip r:embed="rId4"/>
                <a:stretch>
                  <a:fillRect l="-3774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+0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blipFill>
                <a:blip r:embed="rId5"/>
                <a:stretch>
                  <a:fillRect l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364225" y="1435179"/>
                <a:ext cx="41080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  +1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5" y="1435179"/>
                <a:ext cx="4108039" cy="830997"/>
              </a:xfrm>
              <a:prstGeom prst="rect">
                <a:avLst/>
              </a:prstGeom>
              <a:blipFill>
                <a:blip r:embed="rId6"/>
                <a:stretch>
                  <a:fillRect l="-2769" t="-1493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blipFill>
                <a:blip r:embed="rId7"/>
                <a:stretch>
                  <a:fillRect l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4402325" y="3516786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+0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5938182" y="4799555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21142" y="2927090"/>
            <a:ext cx="5195" cy="57811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9439275" y="2977891"/>
            <a:ext cx="11424" cy="15464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7925998" y="6020216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004052" y="5140319"/>
                <a:ext cx="4444273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 err="1"/>
                  <a:t>Fro</a:t>
                </a:r>
                <a:r>
                  <a:rPr lang="en-GB" b="1" dirty="0"/>
                  <a:t> Fun Fact</a:t>
                </a:r>
                <a:r>
                  <a:rPr lang="en-GB" dirty="0"/>
                  <a:t>: There is a well-known factorisation for the ‘</a:t>
                </a:r>
                <a:r>
                  <a:rPr lang="en-GB" i="1" dirty="0"/>
                  <a:t>difference of two cubes</a:t>
                </a:r>
                <a:r>
                  <a:rPr lang="en-GB" dirty="0"/>
                  <a:t>’: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is </a:t>
                </a:r>
                <a:r>
                  <a:rPr lang="en-GB" u="sng" dirty="0"/>
                  <a:t>NOT</a:t>
                </a:r>
                <a:r>
                  <a:rPr lang="en-GB" dirty="0"/>
                  <a:t> in the A Level syllabus.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052" y="5140319"/>
                <a:ext cx="4444273" cy="1200329"/>
              </a:xfrm>
              <a:prstGeom prst="rect">
                <a:avLst/>
              </a:prstGeom>
              <a:blipFill>
                <a:blip r:embed="rId12"/>
                <a:stretch>
                  <a:fillRect l="-850" t="-1020" r="-283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1732363" y="1214920"/>
            <a:ext cx="8818680" cy="5382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640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c7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49015A1-2F95-BC29-39AA-F2AA61CD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35655"/>
            <a:ext cx="4536504" cy="608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6EDD55-1120-6CF6-94BC-63CC0B8E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635655"/>
            <a:ext cx="2068536" cy="2289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D43ADF-B78F-2399-E21E-F202D904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967" y="2780928"/>
            <a:ext cx="4540870" cy="1149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1550D-F635-0CC6-E294-B6CDE357C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60" y="4003899"/>
            <a:ext cx="2315335" cy="2736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D29DEF-E07D-6021-9121-37634342E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888" y="4003899"/>
            <a:ext cx="2542654" cy="2572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AF8817-DAAC-C3B3-58D6-AB95196125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200" y="5660084"/>
            <a:ext cx="2542654" cy="8475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B83229-FD9A-58DD-B09A-3663F7D86981}"/>
              </a:ext>
            </a:extLst>
          </p:cNvPr>
          <p:cNvSpPr/>
          <p:nvPr/>
        </p:nvSpPr>
        <p:spPr>
          <a:xfrm>
            <a:off x="7320136" y="672301"/>
            <a:ext cx="3118718" cy="22526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E91B31-F557-FAB9-A84E-8A840C21344B}"/>
              </a:ext>
            </a:extLst>
          </p:cNvPr>
          <p:cNvSpPr/>
          <p:nvPr/>
        </p:nvSpPr>
        <p:spPr>
          <a:xfrm>
            <a:off x="1896616" y="4003899"/>
            <a:ext cx="2925615" cy="26642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15FBF-0BED-7622-3D22-06C48DAD168F}"/>
              </a:ext>
            </a:extLst>
          </p:cNvPr>
          <p:cNvSpPr/>
          <p:nvPr/>
        </p:nvSpPr>
        <p:spPr>
          <a:xfrm>
            <a:off x="4970586" y="4003899"/>
            <a:ext cx="5517903" cy="26642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54395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7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948E978-F738-BF05-955E-8C59A834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08760"/>
            <a:ext cx="7772400" cy="1177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C9BBB-3D35-CD1B-65A8-83A90B9A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56" y="2036220"/>
            <a:ext cx="2088232" cy="2668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43423-3D16-68DF-52F0-8FD0AFE7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54" y="1942488"/>
            <a:ext cx="2205980" cy="2818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9AD3B-2FB1-87D1-FD40-10F7D3F3B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886" y="5157192"/>
            <a:ext cx="2592288" cy="1176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68E609-214D-CA05-F5EE-56FEA016474E}"/>
              </a:ext>
            </a:extLst>
          </p:cNvPr>
          <p:cNvSpPr/>
          <p:nvPr/>
        </p:nvSpPr>
        <p:spPr>
          <a:xfrm>
            <a:off x="1910223" y="1942488"/>
            <a:ext cx="2925615" cy="2818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a(</a:t>
            </a:r>
            <a:r>
              <a:rPr lang="en-GB" sz="2800" dirty="0" err="1"/>
              <a:t>i</a:t>
            </a:r>
            <a:r>
              <a:rPr lang="en-GB" sz="2800" dirty="0"/>
              <a:t>)?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5BF6A-55C4-477B-4B95-65D36BDF99A9}"/>
              </a:ext>
            </a:extLst>
          </p:cNvPr>
          <p:cNvSpPr/>
          <p:nvPr/>
        </p:nvSpPr>
        <p:spPr>
          <a:xfrm>
            <a:off x="1910223" y="4917329"/>
            <a:ext cx="6175288" cy="17508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068D8-0C7E-E8D5-E957-FE1BFCED7A12}"/>
              </a:ext>
            </a:extLst>
          </p:cNvPr>
          <p:cNvSpPr/>
          <p:nvPr/>
        </p:nvSpPr>
        <p:spPr>
          <a:xfrm>
            <a:off x="5159897" y="1936924"/>
            <a:ext cx="2925615" cy="2818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a(ii)?</a:t>
            </a:r>
          </a:p>
        </p:txBody>
      </p:sp>
    </p:spTree>
    <p:extLst>
      <p:ext uri="{BB962C8B-B14F-4D97-AF65-F5344CB8AC3E}">
        <p14:creationId xmlns:p14="http://schemas.microsoft.com/office/powerpoint/2010/main" val="111944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c7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101F25-5F0E-831E-D268-A93A9934C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39" y="619198"/>
            <a:ext cx="7772400" cy="128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363DC-C620-587E-92B6-17D59D0475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0"/>
          <a:stretch/>
        </p:blipFill>
        <p:spPr>
          <a:xfrm>
            <a:off x="1991544" y="2132857"/>
            <a:ext cx="2592288" cy="38645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DDE41B-B0AD-38B5-8A3E-737770A1E940}"/>
              </a:ext>
            </a:extLst>
          </p:cNvPr>
          <p:cNvSpPr/>
          <p:nvPr/>
        </p:nvSpPr>
        <p:spPr>
          <a:xfrm>
            <a:off x="1847528" y="2148698"/>
            <a:ext cx="3251200" cy="38824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DB3386-D817-D4A7-A9C7-1E2426909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2" y="2167435"/>
            <a:ext cx="3251200" cy="1155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5510A8-7685-0DF6-5BB4-074922AB4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275" y="4293096"/>
            <a:ext cx="3251200" cy="9017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10F750-B4CB-C0A6-B4C2-EF4F41BAECAA}"/>
              </a:ext>
            </a:extLst>
          </p:cNvPr>
          <p:cNvSpPr/>
          <p:nvPr/>
        </p:nvSpPr>
        <p:spPr>
          <a:xfrm>
            <a:off x="5735960" y="2171184"/>
            <a:ext cx="3251200" cy="176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71242-285D-D335-49BA-EBA364D6CE27}"/>
              </a:ext>
            </a:extLst>
          </p:cNvPr>
          <p:cNvSpPr/>
          <p:nvPr/>
        </p:nvSpPr>
        <p:spPr>
          <a:xfrm>
            <a:off x="5735960" y="4269293"/>
            <a:ext cx="3251200" cy="176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61478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</p:bldLst>
  </p:timing>
</p:sld>
</file>

<file path=ppt/c7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3F7074-D7E5-1406-B1E8-DE4F5C2A8402}"/>
              </a:ext>
            </a:extLst>
          </p:cNvPr>
          <p:cNvGrpSpPr/>
          <p:nvPr/>
        </p:nvGrpSpPr>
        <p:grpSpPr>
          <a:xfrm>
            <a:off x="1557152" y="599128"/>
            <a:ext cx="7952420" cy="1396155"/>
            <a:chOff x="33152" y="599127"/>
            <a:chExt cx="7952420" cy="13961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D8209A-EE7B-D3A7-8589-0D058C0A1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52" y="599127"/>
              <a:ext cx="7772400" cy="124719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04E514-57A1-65B7-4EC0-266D93D3854B}"/>
                </a:ext>
              </a:extLst>
            </p:cNvPr>
            <p:cNvGrpSpPr/>
            <p:nvPr/>
          </p:nvGrpSpPr>
          <p:grpSpPr>
            <a:xfrm>
              <a:off x="7596336" y="1186871"/>
              <a:ext cx="389236" cy="808411"/>
              <a:chOff x="7596336" y="1186871"/>
              <a:chExt cx="389236" cy="80841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AACC64-3382-CB89-D6B4-AD923C37E879}"/>
                  </a:ext>
                </a:extLst>
              </p:cNvPr>
              <p:cNvSpPr/>
              <p:nvPr/>
            </p:nvSpPr>
            <p:spPr>
              <a:xfrm>
                <a:off x="7596336" y="1186871"/>
                <a:ext cx="360040" cy="2979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679DB-0087-A138-835D-03673799DE7D}"/>
                  </a:ext>
                </a:extLst>
              </p:cNvPr>
              <p:cNvSpPr/>
              <p:nvPr/>
            </p:nvSpPr>
            <p:spPr>
              <a:xfrm>
                <a:off x="7625532" y="1697369"/>
                <a:ext cx="360040" cy="2979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177F32B-F139-DA52-71B3-1E5998CE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276872"/>
            <a:ext cx="3251200" cy="3848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5BA783-DEAF-CD54-6ECA-D5E0DAE00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971" y="2431932"/>
            <a:ext cx="4749800" cy="1752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F4B9803-F849-1335-2C70-38BF805B72B4}"/>
              </a:ext>
            </a:extLst>
          </p:cNvPr>
          <p:cNvSpPr/>
          <p:nvPr/>
        </p:nvSpPr>
        <p:spPr>
          <a:xfrm>
            <a:off x="1847528" y="2148698"/>
            <a:ext cx="3459111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0AF0A-0D98-FD72-512B-4E95B81AC7FA}"/>
              </a:ext>
            </a:extLst>
          </p:cNvPr>
          <p:cNvSpPr/>
          <p:nvPr/>
        </p:nvSpPr>
        <p:spPr>
          <a:xfrm>
            <a:off x="5458847" y="2162102"/>
            <a:ext cx="4597593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5320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c7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3: The Factor Theorem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206996" y="1284727"/>
                <a:ext cx="77768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−4=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1284727"/>
                <a:ext cx="777686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206996" y="2492896"/>
                <a:ext cx="763342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We can see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What would happen if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is 2?</a:t>
                </a:r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000" b="1" dirty="0"/>
                  <a:t> so the RHS, and hence LHS would be 0.</a:t>
                </a:r>
              </a:p>
              <a:p>
                <a:r>
                  <a:rPr lang="en-GB" sz="2000" b="1" dirty="0"/>
                  <a:t>The converse is also true: if we could find a value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000" b="1" dirty="0"/>
                  <a:t> such that the LHS is 0 when we substitute in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000" b="1" dirty="0"/>
                  <a:t> for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b="1" dirty="0"/>
                  <a:t>, then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1" dirty="0"/>
                  <a:t> would be a factor.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2492896"/>
                <a:ext cx="7633420" cy="2123658"/>
              </a:xfrm>
              <a:prstGeom prst="rect">
                <a:avLst/>
              </a:prstGeom>
              <a:blipFill>
                <a:blip r:embed="rId3"/>
                <a:stretch>
                  <a:fillRect l="-1163" t="-1786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206996" y="5013176"/>
                <a:ext cx="7776864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200" dirty="0">
                    <a:latin typeface="Wingdings" panose="05000000000000000000" pitchFamily="2" charset="2"/>
                  </a:rPr>
                  <a:t>!</a:t>
                </a:r>
                <a:r>
                  <a:rPr lang="en-GB" sz="2200" dirty="0"/>
                  <a:t> The Factor Theorem states that 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polynomial then: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factor of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Conversely, 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factor of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5013176"/>
                <a:ext cx="7776864" cy="1107996"/>
              </a:xfrm>
              <a:prstGeom prst="rect">
                <a:avLst/>
              </a:prstGeom>
              <a:blipFill>
                <a:blip r:embed="rId4"/>
                <a:stretch>
                  <a:fillRect l="-812"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196820" y="3429000"/>
            <a:ext cx="7787040" cy="1317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7619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7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 (in textbook)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32002" y="956456"/>
                <a:ext cx="686005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Show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956456"/>
                <a:ext cx="6860051" cy="461665"/>
              </a:xfrm>
              <a:prstGeom prst="rect">
                <a:avLst/>
              </a:prstGeom>
              <a:blipFill>
                <a:blip r:embed="rId2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988459" y="1729274"/>
                <a:ext cx="473165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−4=0</m:t>
                      </m:r>
                    </m:oMath>
                  </m:oMathPara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GB" sz="20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59" y="1729274"/>
                <a:ext cx="4731656" cy="1015663"/>
              </a:xfrm>
              <a:prstGeom prst="rect">
                <a:avLst/>
              </a:prstGeom>
              <a:blipFill>
                <a:blip r:embed="rId3"/>
                <a:stretch>
                  <a:fillRect l="-1340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960096" y="1665223"/>
                <a:ext cx="273630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Writing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GB" sz="1400" dirty="0"/>
                  <a:t> gives us appropriate notation, i.e.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GB" sz="1400" dirty="0"/>
                  <a:t>, to show we’re substituting 2 into the polynomial on the next line.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665223"/>
                <a:ext cx="2736304" cy="954107"/>
              </a:xfrm>
              <a:prstGeom prst="rect">
                <a:avLst/>
              </a:prstGeom>
              <a:blipFill>
                <a:blip r:embed="rId4"/>
                <a:stretch>
                  <a:fillRect l="-459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6240016" y="1916832"/>
            <a:ext cx="72008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032002" y="3101407"/>
                <a:ext cx="686005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Fully factorise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3101407"/>
                <a:ext cx="6860051" cy="461665"/>
              </a:xfrm>
              <a:prstGeom prst="rect">
                <a:avLst/>
              </a:prstGeom>
              <a:blipFill>
                <a:blip r:embed="rId5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958742" y="3714216"/>
                <a:ext cx="325701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Keep on trying values until you find one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. Recommended order: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=1,−1,2,−2,…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You can use the ‘Table’ mode on your calculator to try lots of values in a range – see my interactive </a:t>
                </a:r>
                <a:r>
                  <a:rPr lang="en-GB" sz="1400" dirty="0" err="1"/>
                  <a:t>Classwiz</a:t>
                </a:r>
                <a:r>
                  <a:rPr lang="en-GB" sz="1400" dirty="0"/>
                  <a:t> </a:t>
                </a:r>
                <a:r>
                  <a:rPr lang="en-GB" sz="1400" dirty="0" err="1"/>
                  <a:t>powerpoint</a:t>
                </a:r>
                <a:r>
                  <a:rPr lang="en-GB" sz="1400" dirty="0"/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742" y="3714216"/>
                <a:ext cx="3257018" cy="1384995"/>
              </a:xfrm>
              <a:prstGeom prst="rect">
                <a:avLst/>
              </a:prstGeom>
              <a:blipFill>
                <a:blip r:embed="rId6"/>
                <a:stretch>
                  <a:fillRect l="-386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727202" y="3988296"/>
                <a:ext cx="49493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−18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−9=−24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+18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−9=24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  ∴  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r>
                  <a:rPr lang="en-GB" dirty="0"/>
                  <a:t> is a factor.</a:t>
                </a:r>
              </a:p>
              <a:p>
                <a:r>
                  <a:rPr lang="en-GB" dirty="0"/>
                  <a:t>Using algebraic division we find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−9=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        =(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−3)(2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02" y="3988296"/>
                <a:ext cx="4949370" cy="2308324"/>
              </a:xfrm>
              <a:prstGeom prst="rect">
                <a:avLst/>
              </a:prstGeom>
              <a:blipFill>
                <a:blip r:embed="rId7"/>
                <a:stretch>
                  <a:fillRect l="-767" t="-546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589487" y="5255447"/>
                <a:ext cx="4063999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If you consider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−9=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it’s clear, by considering the expansion of the RHS,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400" dirty="0"/>
                  <a:t>. We can determine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by considering for example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terms in the expansion. This is much faster than algebraic division.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87" y="5255447"/>
                <a:ext cx="4063999" cy="1384995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4" idx="1"/>
          </p:cNvCxnSpPr>
          <p:nvPr/>
        </p:nvCxnSpPr>
        <p:spPr>
          <a:xfrm flipH="1">
            <a:off x="6444344" y="4406714"/>
            <a:ext cx="514399" cy="78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081487" y="6052457"/>
            <a:ext cx="580573" cy="165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32001" y="1456744"/>
            <a:ext cx="7952431" cy="1382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5594" y="3676688"/>
            <a:ext cx="8926283" cy="30321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478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c7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30777"/>
            <a:ext cx="9143074" cy="618521"/>
            <a:chOff x="0" y="-17442"/>
            <a:chExt cx="9144218" cy="618521"/>
          </a:xfrm>
        </p:grpSpPr>
        <p:sp>
          <p:nvSpPr>
            <p:cNvPr id="3" name="TextBox 32"/>
            <p:cNvSpPr txBox="1"/>
            <p:nvPr/>
          </p:nvSpPr>
          <p:spPr>
            <a:xfrm>
              <a:off x="0" y="-17442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Factor Theorem to find unknown coefficients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032002" y="956456"/>
                <a:ext cx="6860051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Given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determine the value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956456"/>
                <a:ext cx="6860051" cy="830997"/>
              </a:xfrm>
              <a:prstGeom prst="rect">
                <a:avLst/>
              </a:prstGeom>
              <a:blipFill>
                <a:blip r:embed="rId2"/>
                <a:stretch>
                  <a:fillRect b="-512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032002" y="2204865"/>
                <a:ext cx="6860051" cy="347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=6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=6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               =−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2204865"/>
                <a:ext cx="6860051" cy="3471015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880559" y="2060848"/>
                <a:ext cx="2671327" cy="366946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Notes:</a:t>
                </a:r>
              </a:p>
              <a:p>
                <a:r>
                  <a:rPr lang="en-GB" dirty="0"/>
                  <a:t>Choose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substitute that </a:t>
                </a:r>
                <a:r>
                  <a:rPr lang="en-GB" b="1" u="sng" dirty="0"/>
                  <a:t>makes the divisor/factor 0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So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, thus 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This even works when you’re dividing by non-linear factors,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, but at A Level they will always be of the form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559" y="2060848"/>
                <a:ext cx="2671327" cy="3669466"/>
              </a:xfrm>
              <a:prstGeom prst="rect">
                <a:avLst/>
              </a:prstGeom>
              <a:blipFill>
                <a:blip r:embed="rId4"/>
                <a:stretch>
                  <a:fillRect l="-1408" t="-342" r="-939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7464152" y="2420888"/>
            <a:ext cx="57606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589092" y="1792491"/>
            <a:ext cx="9012672" cy="4991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301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7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1178525"/>
            <a:ext cx="8125723" cy="17281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919536" y="836712"/>
            <a:ext cx="295232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2016 Q2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972699" y="1892596"/>
            <a:ext cx="8036082" cy="242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7026" y="1206044"/>
            <a:ext cx="172401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No long in spec.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544273" y="1488558"/>
            <a:ext cx="305561" cy="21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5" y="2996953"/>
            <a:ext cx="2638425" cy="14954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967489" y="4507654"/>
                <a:ext cx="755299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Given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+11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determine the value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489" y="4507654"/>
                <a:ext cx="7552998" cy="830997"/>
              </a:xfrm>
              <a:prstGeom prst="rect">
                <a:avLst/>
              </a:prstGeom>
              <a:blipFill>
                <a:blip r:embed="rId4"/>
                <a:stretch>
                  <a:fillRect b="-50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693732" y="5358697"/>
                <a:ext cx="5616624" cy="1200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732" y="5358697"/>
                <a:ext cx="5616624" cy="1200778"/>
              </a:xfrm>
              <a:prstGeom prst="rect">
                <a:avLst/>
              </a:prstGeom>
              <a:blipFill>
                <a:blip r:embed="rId5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3240424" y="2951268"/>
            <a:ext cx="5303849" cy="1461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424" y="5396756"/>
            <a:ext cx="5303849" cy="13549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725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c7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5CC443-565B-F01D-396E-C80B6641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19198"/>
            <a:ext cx="7772400" cy="1185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A7F030-1106-3E6C-3340-3A4DD63E7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132856"/>
            <a:ext cx="3238500" cy="149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BCD68-42BD-5E4A-D55D-F5F05DE3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132856"/>
            <a:ext cx="3238500" cy="213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D379C-51C0-12FE-AC6E-E00178A9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456" y="4437112"/>
            <a:ext cx="3987800" cy="1625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40E745-E882-7B6E-BDB4-1A1121CC72EB}"/>
              </a:ext>
            </a:extLst>
          </p:cNvPr>
          <p:cNvSpPr/>
          <p:nvPr/>
        </p:nvSpPr>
        <p:spPr>
          <a:xfrm>
            <a:off x="1847528" y="2148698"/>
            <a:ext cx="3459111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E4B3B-5187-32CA-C9A5-165FD68BF535}"/>
              </a:ext>
            </a:extLst>
          </p:cNvPr>
          <p:cNvSpPr/>
          <p:nvPr/>
        </p:nvSpPr>
        <p:spPr>
          <a:xfrm>
            <a:off x="5458103" y="2148698"/>
            <a:ext cx="4886370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86685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7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145-146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B2F9965-23A2-8A7B-3C2C-F9E444AF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7"/>
            <a:ext cx="7772400" cy="11852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B596FF-CAA5-0FA8-7E99-1EBF66E9A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988840"/>
            <a:ext cx="3987800" cy="162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2DA101-6971-9655-CABF-D03F807E0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1868190"/>
            <a:ext cx="2971800" cy="3492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DC1D9F-5E41-73AC-8296-CA239F95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986" y="5517232"/>
            <a:ext cx="3644900" cy="10668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D944C78-AF52-FB2B-D087-4D5E2981F0C6}"/>
              </a:ext>
            </a:extLst>
          </p:cNvPr>
          <p:cNvSpPr/>
          <p:nvPr/>
        </p:nvSpPr>
        <p:spPr>
          <a:xfrm>
            <a:off x="1898889" y="1868190"/>
            <a:ext cx="3765063" cy="1818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FEE60-E102-2B17-44D8-41BF1243E91E}"/>
              </a:ext>
            </a:extLst>
          </p:cNvPr>
          <p:cNvSpPr/>
          <p:nvPr/>
        </p:nvSpPr>
        <p:spPr>
          <a:xfrm>
            <a:off x="6096000" y="1868190"/>
            <a:ext cx="4176465" cy="349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5CA8C-E796-26F3-BAF4-1EDDF224EBF4}"/>
              </a:ext>
            </a:extLst>
          </p:cNvPr>
          <p:cNvSpPr/>
          <p:nvPr/>
        </p:nvSpPr>
        <p:spPr>
          <a:xfrm>
            <a:off x="1898889" y="5517233"/>
            <a:ext cx="3765063" cy="12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13921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c7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145-146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3226B5-9EBC-7E96-5C2A-2BD053CC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8"/>
            <a:ext cx="7772400" cy="809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228E16-2029-BECE-1772-2ED0A86B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628800"/>
            <a:ext cx="3390900" cy="165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271D7-67D2-EF01-38D7-F40740BAB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1520850"/>
            <a:ext cx="3390900" cy="351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6758A-C9A1-2581-2FF1-19E60CCE9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32" y="5088057"/>
            <a:ext cx="3924300" cy="77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E127C4-F73C-0205-3DE6-766B8C6C6EB1}"/>
              </a:ext>
            </a:extLst>
          </p:cNvPr>
          <p:cNvSpPr/>
          <p:nvPr/>
        </p:nvSpPr>
        <p:spPr>
          <a:xfrm>
            <a:off x="6168008" y="1520850"/>
            <a:ext cx="4140324" cy="4572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32C63-1D99-DDAC-B5D6-AC95D125886D}"/>
              </a:ext>
            </a:extLst>
          </p:cNvPr>
          <p:cNvSpPr/>
          <p:nvPr/>
        </p:nvSpPr>
        <p:spPr>
          <a:xfrm>
            <a:off x="1700898" y="1520850"/>
            <a:ext cx="4035062" cy="4572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389966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c7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826268" y="1175490"/>
                <a:ext cx="399243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2006 1E] </a:t>
                </a:r>
                <a:r>
                  <a:rPr lang="en-GB" dirty="0"/>
                  <a:t>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both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GB" dirty="0"/>
                  <a:t> as factors. Determine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b="1" dirty="0"/>
              </a:p>
              <a:p>
                <a:r>
                  <a:rPr lang="en-GB" dirty="0"/>
                  <a:t>[MAT 2009 1I] The polynomial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+150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as a factor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no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only;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GB" dirty="0"/>
                  <a:t> only;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GB" dirty="0"/>
                  <a:t> only.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b="1" dirty="0"/>
                  <a:t> so both factors. </a:t>
                </a:r>
                <a:endParaRPr lang="en-GB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If </a:t>
                </a:r>
                <a14:m>
                  <m:oMath xmlns:m="http://schemas.openxmlformats.org/officeDocument/2006/math">
                    <m:r>
                      <a:rPr lang="en-GB" sz="1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400" b="1" dirty="0"/>
                  <a:t> is odd: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If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400" b="1" dirty="0"/>
                  <a:t> is even: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Putting this all together, we get option B.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268" y="1175490"/>
                <a:ext cx="3992438" cy="4708981"/>
              </a:xfrm>
              <a:prstGeom prst="rect">
                <a:avLst/>
              </a:prstGeom>
              <a:blipFill>
                <a:blip r:embed="rId2"/>
                <a:stretch>
                  <a:fillRect l="-1587" t="-538" r="-1587"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963397" y="1013690"/>
                <a:ext cx="4644571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:r>
                  <a:rPr lang="en-GB" b="1" dirty="0"/>
                  <a:t>remainder</a:t>
                </a:r>
                <a:r>
                  <a:rPr lang="en-GB" dirty="0"/>
                  <a:t> </a:t>
                </a:r>
                <a:r>
                  <a:rPr lang="en-GB" b="1" dirty="0"/>
                  <a:t>theorem</a:t>
                </a:r>
                <a:r>
                  <a:rPr lang="en-GB" dirty="0"/>
                  <a:t> states that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divided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remainder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 This similarly works whenever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makes the divisor 0.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397" y="1013690"/>
                <a:ext cx="4644571" cy="923330"/>
              </a:xfrm>
              <a:prstGeom prst="rect">
                <a:avLst/>
              </a:prstGeom>
              <a:blipFill>
                <a:blip r:embed="rId3"/>
                <a:stretch>
                  <a:fillRect b="-11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079509" y="1965578"/>
                <a:ext cx="4557486" cy="4058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2013 1G] Let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sz="1600" dirty="0"/>
                  <a:t> be an integer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be the polynomial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+…+(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What is the remainder,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?</a:t>
                </a:r>
              </a:p>
              <a:p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  <a:p>
                <a:r>
                  <a:rPr lang="en-GB" b="1" dirty="0"/>
                  <a:t>We need to make the divisor 0: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br>
                  <a:rPr lang="en-GB" b="1" dirty="0"/>
                </a:br>
                <a:r>
                  <a:rPr lang="en-GB" b="1" dirty="0"/>
                  <a:t>Remainder: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509" y="1965578"/>
                <a:ext cx="4557486" cy="4058227"/>
              </a:xfrm>
              <a:prstGeom prst="rect">
                <a:avLst/>
              </a:prstGeom>
              <a:blipFill>
                <a:blip r:embed="rId4"/>
                <a:stretch>
                  <a:fillRect l="-1111" t="-312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5798387" y="1038365"/>
            <a:ext cx="0" cy="4800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94905" y="2327985"/>
            <a:ext cx="1491234" cy="387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7812" y="4721467"/>
            <a:ext cx="3509526" cy="111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5595" y="3366139"/>
            <a:ext cx="4413343" cy="25855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9111" y="1225293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9111" y="2852814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6295" y="2052391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8761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 animBg="1"/>
    </p:bldLst>
  </p:timing>
</p:sld>
</file>

<file path=ppt/c7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7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