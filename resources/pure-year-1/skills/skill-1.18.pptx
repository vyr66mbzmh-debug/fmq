
<file path=[Content_Types].xml><?xml version="1.0" encoding="utf-8"?>
<ns0:Types xmlns:ns0="http://schemas.openxmlformats.org/package/2006/content-types">
  <ns0:Default Extension="emf" ContentType="image/x-emf"/>
  <ns0:Default Extension="png" ContentType="image/png"/>
  <ns0:Default Extension="rels" ContentType="application/vnd.openxmlformats-package.relationships+xml"/>
  <ns0:Default Extension="xml" ContentType="application/xml"/>
  <ns0:Override PartName="/ppt/c4/ppt/slideMasters/slideMaster1.xml" ContentType="application/vnd.openxmlformats-officedocument.presentationml.slideMaster+xml"/>
  <ns0:Override PartName="/ppt/c4/ppt/slides/slide21.xml" ContentType="application/vnd.openxmlformats-officedocument.presentationml.slide+xml"/>
  <ns0:Override PartName="/ppt/c4/ppt/slides/slide22.xml" ContentType="application/vnd.openxmlformats-officedocument.presentationml.slide+xml"/>
  <ns0:Override PartName="/ppt/c4/ppt/slides/slide23.xml" ContentType="application/vnd.openxmlformats-officedocument.presentationml.slide+xml"/>
  <ns0:Override PartName="/ppt/c4/ppt/slides/slide24.xml" ContentType="application/vnd.openxmlformats-officedocument.presentationml.slide+xml"/>
  <ns0:Override PartName="/ppt/c4/ppt/slides/slide25.xml" ContentType="application/vnd.openxmlformats-officedocument.presentationml.slide+xml"/>
  <ns0:Override PartName="/ppt/c4/ppt/notesMasters/notesMaster1.xml" ContentType="application/vnd.openxmlformats-officedocument.presentationml.notesMaster+xml"/>
  <ns0:Override PartName="/ppt/c4/ppt/theme/theme1.xml" ContentType="application/vnd.openxmlformats-officedocument.theme+xml"/>
  <ns0:Override PartName="/ppt/c4/ppt/slideLayouts/slideLayout1.xml" ContentType="application/vnd.openxmlformats-officedocument.presentationml.slideLayout+xml"/>
  <ns0:Override PartName="/ppt/c4/ppt/slideLayouts/slideLayout2.xml" ContentType="application/vnd.openxmlformats-officedocument.presentationml.slideLayout+xml"/>
  <ns0:Override PartName="/ppt/c4/ppt/slideLayouts/slideLayout3.xml" ContentType="application/vnd.openxmlformats-officedocument.presentationml.slideLayout+xml"/>
  <ns0:Override PartName="/ppt/c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048" r:id="rId6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4/ppt/slides/slide21.xml" /><ns0:Relationship Id="rId2" Type="http://schemas.openxmlformats.org/officeDocument/2006/relationships/slide" Target="c4/ppt/slides/slide22.xml" /><ns0:Relationship Id="rId3" Type="http://schemas.openxmlformats.org/officeDocument/2006/relationships/slide" Target="c4/ppt/slides/slide23.xml" /><ns0:Relationship Id="rId4" Type="http://schemas.openxmlformats.org/officeDocument/2006/relationships/slide" Target="c4/ppt/slides/slide24.xml" /><ns0:Relationship Id="rId5" Type="http://schemas.openxmlformats.org/officeDocument/2006/relationships/slide" Target="c4/ppt/slides/slide25.xml" /><ns0:Relationship Id="rId6" Type="http://schemas.openxmlformats.org/officeDocument/2006/relationships/slideMaster" Target="c4/ppt/slideMasters/slideMaster1.xml" /><ns0:Relationship Id="rId7" Type="http://schemas.openxmlformats.org/officeDocument/2006/relationships/notesMaster" Target="c4/ppt/notesMasters/notesMaster1.xml" /></ns0:Relationships>
</file>

<file path=ppt/c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9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3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2"/>
          </a:p>
        </p:txBody>
      </p:sp>
    </p:spTree>
    <p:extLst>
      <p:ext uri="{BB962C8B-B14F-4D97-AF65-F5344CB8AC3E}">
        <p14:creationId xmlns:p14="http://schemas.microsoft.com/office/powerpoint/2010/main" val="2805543805"/>
      </p:ext>
    </p:extLst>
  </p:cSld>
  <p:clrMapOvr>
    <a:masterClrMapping/>
  </p:clrMapOvr>
</p:sldLayout>
</file>

<file path=ppt/c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36634"/>
      </p:ext>
    </p:extLst>
  </p:cSld>
  <p:clrMapOvr>
    <a:masterClrMapping/>
  </p:clrMapOvr>
</p:sldLayout>
</file>

<file path=ppt/c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612116"/>
      </p:ext>
    </p:extLst>
  </p:cSld>
  <p:clrMapOvr>
    <a:masterClrMapping/>
  </p:clrMapOvr>
</p:sldLayout>
</file>

<file path=ppt/c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32923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477" i="0" smtClean="0">
                <a:solidFill>
                  <a:schemeClr val="bg1"/>
                </a:solidFill>
              </a:rPr>
              <a:pPr algn="r"/>
              <a:t>‹#›</a:t>
            </a:fld>
            <a:endParaRPr lang="en-GB" sz="1477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844083" rtl="0" eaLnBrk="1" latinLnBrk="0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0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4/ppt/slides/_rels/slide21.xml.rels><?xml version='1.0' encoding='utf-8'?>
<ns0:Relationships xmlns:ns0="http://schemas.openxmlformats.org/package/2006/relationships"><ns0:Relationship Id="rId8" Type="http://schemas.openxmlformats.org/officeDocument/2006/relationships/image" Target="../media/image129.png" /><ns0:Relationship Id="rId3" Type="http://schemas.openxmlformats.org/officeDocument/2006/relationships/image" Target="../media/image126.png" /><ns0:Relationship Id="rId7" Type="http://schemas.openxmlformats.org/officeDocument/2006/relationships/image" Target="../media/image128.png" /><ns0:Relationship Id="rId2" Type="http://schemas.openxmlformats.org/officeDocument/2006/relationships/image" Target="../media/image12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7.png" /><ns0:Relationship Id="rId5" Type="http://schemas.openxmlformats.org/officeDocument/2006/relationships/image" Target="../media/image113.png" /><ns0:Relationship Id="rId4" Type="http://schemas.openxmlformats.org/officeDocument/2006/relationships/image" Target="../media/image45.png" /><ns0:Relationship Id="rId9" Type="http://schemas.openxmlformats.org/officeDocument/2006/relationships/image" Target="../media/image130.png" /></ns0:Relationships>
</file>

<file path=ppt/c4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132.png" /><ns0:Relationship Id="rId7" Type="http://schemas.openxmlformats.org/officeDocument/2006/relationships/image" Target="../media/image134.png" /><ns0:Relationship Id="rId2" Type="http://schemas.openxmlformats.org/officeDocument/2006/relationships/image" Target="../media/image13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3.png" /><ns0:Relationship Id="rId5" Type="http://schemas.openxmlformats.org/officeDocument/2006/relationships/image" Target="../media/image113.png" /><ns0:Relationship Id="rId4" Type="http://schemas.openxmlformats.org/officeDocument/2006/relationships/image" Target="../media/image45.png" /></ns0:Relationships>
</file>

<file path=ppt/c4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36.png" /><ns0:Relationship Id="rId7" Type="http://schemas.openxmlformats.org/officeDocument/2006/relationships/image" Target="../media/image139.png" /><ns0:Relationship Id="rId2" Type="http://schemas.openxmlformats.org/officeDocument/2006/relationships/image" Target="../media/image13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8.png" /><ns0:Relationship Id="rId5" Type="http://schemas.openxmlformats.org/officeDocument/2006/relationships/image" Target="../media/image137.png" /><ns0:Relationship Id="rId4" Type="http://schemas.openxmlformats.org/officeDocument/2006/relationships/image" Target="../media/image44.png" /></ns0:Relationships>
</file>

<file path=ppt/c4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146.png" /><ns0:Relationship Id="rId3" Type="http://schemas.openxmlformats.org/officeDocument/2006/relationships/image" Target="../media/image141.png" /><ns0:Relationship Id="rId7" Type="http://schemas.openxmlformats.org/officeDocument/2006/relationships/image" Target="../media/image145.png" /><ns0:Relationship Id="rId2" Type="http://schemas.openxmlformats.org/officeDocument/2006/relationships/image" Target="../media/image14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44.png" /><ns0:Relationship Id="rId5" Type="http://schemas.openxmlformats.org/officeDocument/2006/relationships/image" Target="../media/image143.png" /><ns0:Relationship Id="rId4" Type="http://schemas.openxmlformats.org/officeDocument/2006/relationships/image" Target="../media/image142.png" /></ns0:Relationships>
</file>

<file path=ppt/c4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48.png" /><ns0:Relationship Id="rId2" Type="http://schemas.openxmlformats.org/officeDocument/2006/relationships/image" Target="../media/image147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50.png" /><ns0:Relationship Id="rId4" Type="http://schemas.openxmlformats.org/officeDocument/2006/relationships/image" Target="../media/image149.png" /></ns0:Relationships>
</file>

<file path=ppt/c4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GCSE RECAP: 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85070" y="944400"/>
                <a:ext cx="2160240" cy="4855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070" y="944400"/>
                <a:ext cx="2160240" cy="48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8197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035783" y="2199272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>
            <a:off x="2094614" y="2317898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 rot="10800000">
            <a:off x="972421" y="3368319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217642" y="3344094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5425228" y="2228589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185889" y="1886995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889" y="1886995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516858" y="3214599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858" y="3214599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/>
          <p:cNvSpPr/>
          <p:nvPr/>
        </p:nvSpPr>
        <p:spPr>
          <a:xfrm flipV="1">
            <a:off x="5484059" y="3399837"/>
            <a:ext cx="1031358" cy="1108367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 rot="10800000" flipV="1">
            <a:off x="4340601" y="2158409"/>
            <a:ext cx="1031358" cy="1143533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5740553" y="1888346"/>
            <a:ext cx="29781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Note</a:t>
            </a:r>
            <a:r>
              <a:rPr lang="en-GB" sz="1400"/>
              <a:t>: The scaling caused by the 3 isn’t observable for this graph in isolation because the axes have no scale. This will only be observation for multiple graphs on the same axes.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20996" y="4394614"/>
                <a:ext cx="35358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/>
                  <a:t>Notice the distance between this line and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/>
                  <a:t>-axis (i.e. the line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/>
                  <a:t>) gradually decreases as the lines go off towards infinity. The line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/>
                  <a:t> is known as an </a:t>
                </a:r>
                <a:r>
                  <a:rPr lang="en-GB" sz="1200" b="1"/>
                  <a:t>asymptote</a:t>
                </a:r>
                <a:r>
                  <a:rPr lang="en-GB" sz="1200"/>
                  <a:t> of the graph.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96" y="4394614"/>
                <a:ext cx="3535839" cy="830997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006562" y="5423528"/>
            <a:ext cx="2695717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>
                <a:latin typeface="Wingdings" panose="05000000000000000000" pitchFamily="2" charset="2"/>
              </a:rPr>
              <a:t>!</a:t>
            </a:r>
            <a:r>
              <a:rPr lang="en-GB" sz="1600"/>
              <a:t> An asymptote is a line which the graph approaches but never reaches.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2695575" y="3176588"/>
            <a:ext cx="433387" cy="85725"/>
          </a:xfrm>
          <a:custGeom>
            <a:avLst/>
            <a:gdLst>
              <a:gd name="connsiteX0" fmla="*/ 0 w 433387"/>
              <a:gd name="connsiteY0" fmla="*/ 0 h 85725"/>
              <a:gd name="connsiteX1" fmla="*/ 195262 w 433387"/>
              <a:gd name="connsiteY1" fmla="*/ 61913 h 85725"/>
              <a:gd name="connsiteX2" fmla="*/ 433387 w 433387"/>
              <a:gd name="connsiteY2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3387" h="85725">
                <a:moveTo>
                  <a:pt x="0" y="0"/>
                </a:moveTo>
                <a:cubicBezTo>
                  <a:pt x="61515" y="23813"/>
                  <a:pt x="123031" y="47626"/>
                  <a:pt x="195262" y="61913"/>
                </a:cubicBezTo>
                <a:cubicBezTo>
                  <a:pt x="267493" y="76200"/>
                  <a:pt x="350440" y="80962"/>
                  <a:pt x="433387" y="8572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2599089" y="3342831"/>
            <a:ext cx="529327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695575" y="3491598"/>
            <a:ext cx="168177" cy="8441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5713" y="1520077"/>
            <a:ext cx="3475172" cy="3785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857684" y="5317203"/>
                <a:ext cx="2687955" cy="1016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Asymptotes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/>
                  <a:t> :</a:t>
                </a:r>
              </a:p>
              <a:p>
                <a:r>
                  <a:rPr lang="en-GB"/>
                  <a:t>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endParaRPr lang="en-GB"/>
              </a:p>
              <a:p>
                <a:r>
                  <a:rPr lang="en-GB"/>
                  <a:t>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84" y="5317203"/>
                <a:ext cx="2687955" cy="1016945"/>
              </a:xfrm>
              <a:prstGeom prst="rect">
                <a:avLst/>
              </a:prstGeom>
              <a:blipFill>
                <a:blip r:embed="rId9"/>
                <a:stretch>
                  <a:fillRect l="-1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4116383" y="6060559"/>
            <a:ext cx="1327488" cy="51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5643" y="1566694"/>
            <a:ext cx="4579991" cy="29824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85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 animBg="1"/>
      <p:bldP spid="14" grpId="0" animBg="1"/>
      <p:bldP spid="34" grpId="0"/>
      <p:bldP spid="35" grpId="0" animBg="1"/>
      <p:bldP spid="35" grpId="1" animBg="1"/>
      <p:bldP spid="36" grpId="0" animBg="1"/>
    </p:bldLst>
  </p:timing>
</p:sld>
</file>

<file path=ppt/c4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99992" y="911091"/>
                <a:ext cx="2160240" cy="4843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911091"/>
                <a:ext cx="2160240" cy="484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8197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035783" y="2199272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/>
          <p:cNvSpPr/>
          <p:nvPr/>
        </p:nvSpPr>
        <p:spPr>
          <a:xfrm>
            <a:off x="2094614" y="2317898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 flipH="1">
            <a:off x="944416" y="2299050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609140" y="5031069"/>
            <a:ext cx="2859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Hint</a:t>
            </a:r>
            <a:r>
              <a:rPr lang="en-GB" sz="1400"/>
              <a:t>: Note that anything squared will always be at least 0.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491836" y="3344094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699422" y="2228589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460083" y="1886995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083" y="1886995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791052" y="3214599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052" y="3214599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/>
          <p:cNvSpPr/>
          <p:nvPr/>
        </p:nvSpPr>
        <p:spPr>
          <a:xfrm flipV="1">
            <a:off x="5768885" y="3421103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: Shape 22"/>
          <p:cNvSpPr/>
          <p:nvPr/>
        </p:nvSpPr>
        <p:spPr>
          <a:xfrm flipH="1" flipV="1">
            <a:off x="4618687" y="3402255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470076" y="1740103"/>
            <a:ext cx="2974873" cy="2704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271" y="1740103"/>
            <a:ext cx="2974873" cy="2704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5706" y="740971"/>
            <a:ext cx="11521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/>
              <a:t>This is new to the A Level 2017 syllabus.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2627784" y="911091"/>
            <a:ext cx="288032" cy="14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88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24" grpId="0" animBg="1"/>
    </p:bldLst>
  </p:timing>
</p:sld>
</file>

<file path=ppt/c4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39026" y="890053"/>
                <a:ext cx="6696744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On the same axes,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26" y="890053"/>
                <a:ext cx="6696744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2720793" y="3761345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3928380" y="2645840"/>
            <a:ext cx="37565" cy="273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689040" y="2304246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040" y="2304246"/>
                <a:ext cx="415472" cy="276999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0009" y="3631850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009" y="3631850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3987210" y="2764466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/>
          <p:cNvSpPr/>
          <p:nvPr/>
        </p:nvSpPr>
        <p:spPr>
          <a:xfrm rot="10800000">
            <a:off x="2865017" y="3814887"/>
            <a:ext cx="1063256" cy="1233376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63256"/>
              <a:gd name="connsiteY0" fmla="*/ 0 h 1233376"/>
              <a:gd name="connsiteX1" fmla="*/ 350875 w 1063256"/>
              <a:gd name="connsiteY1" fmla="*/ 988828 h 1233376"/>
              <a:gd name="connsiteX2" fmla="*/ 1063256 w 1063256"/>
              <a:gd name="connsiteY2" fmla="*/ 1233376 h 123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56" h="1233376">
                <a:moveTo>
                  <a:pt x="0" y="0"/>
                </a:moveTo>
                <a:cubicBezTo>
                  <a:pt x="31012" y="227714"/>
                  <a:pt x="173666" y="783265"/>
                  <a:pt x="350875" y="988828"/>
                </a:cubicBezTo>
                <a:cubicBezTo>
                  <a:pt x="528084" y="1194391"/>
                  <a:pt x="729217" y="1202365"/>
                  <a:pt x="1063256" y="123337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/>
          <p:cNvSpPr/>
          <p:nvPr/>
        </p:nvSpPr>
        <p:spPr>
          <a:xfrm>
            <a:off x="4029741" y="1998922"/>
            <a:ext cx="1031358" cy="162678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/>
          <p:cNvSpPr/>
          <p:nvPr/>
        </p:nvSpPr>
        <p:spPr>
          <a:xfrm flipH="1" flipV="1">
            <a:off x="2856019" y="3913773"/>
            <a:ext cx="1031358" cy="162678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187398" y="2380026"/>
                <a:ext cx="71421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398" y="2380026"/>
                <a:ext cx="714212" cy="4970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352803" y="3723299"/>
                <a:ext cx="71421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803" y="3723299"/>
                <a:ext cx="714212" cy="4970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385875" y="2749494"/>
                <a:ext cx="2588544" cy="790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/>
                  <a:t>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/>
                  <a:t> value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/>
                  <a:t> will be 3 times greater than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75" y="2749494"/>
                <a:ext cx="2588544" cy="790729"/>
              </a:xfrm>
              <a:prstGeom prst="rect">
                <a:avLst/>
              </a:prstGeom>
              <a:blipFill>
                <a:blip r:embed="rId7"/>
                <a:stretch>
                  <a:fillRect l="-1471" r="-980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540665" y="1707996"/>
            <a:ext cx="6343703" cy="3905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7050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c4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4C – Pure Y1 page 67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23AAECE-F880-AE00-766B-4BB517B30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599127"/>
            <a:ext cx="7772400" cy="1195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2F5BF-3E1B-B1A6-63A7-1CDD4C91AC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3"/>
          <a:stretch/>
        </p:blipFill>
        <p:spPr>
          <a:xfrm>
            <a:off x="375239" y="1920364"/>
            <a:ext cx="2159929" cy="22554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4F1D33-36A2-6A1D-4581-51DFE9E19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920364"/>
            <a:ext cx="2081333" cy="20427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8E68DAF-FD1A-76B2-B1C6-3F7D856B8D9B}"/>
              </a:ext>
            </a:extLst>
          </p:cNvPr>
          <p:cNvGrpSpPr/>
          <p:nvPr/>
        </p:nvGrpSpPr>
        <p:grpSpPr>
          <a:xfrm>
            <a:off x="5840664" y="2135449"/>
            <a:ext cx="2454808" cy="3655410"/>
            <a:chOff x="6306959" y="1861822"/>
            <a:chExt cx="2050947" cy="305402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8EFA4A-90C6-0ADE-6BD5-6A87CC04B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6959" y="1861822"/>
              <a:ext cx="2050947" cy="146704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9C5540-A361-3FE9-82F4-9A0A99933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5288" y="3366809"/>
              <a:ext cx="1580230" cy="154904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F01CE61-EE72-7A56-4741-F395DDAB3B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4342274"/>
            <a:ext cx="2376264" cy="2202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6C3206-9CC9-768A-E96D-A9DBACC12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0330" y="4236081"/>
            <a:ext cx="2144390" cy="25259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A16CD10-2D28-47D1-0EDC-B97DD4D1C1B3}"/>
              </a:ext>
            </a:extLst>
          </p:cNvPr>
          <p:cNvSpPr/>
          <p:nvPr/>
        </p:nvSpPr>
        <p:spPr>
          <a:xfrm>
            <a:off x="365397" y="1788962"/>
            <a:ext cx="2599187" cy="2386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5E858D-A4EF-48B5-5397-E86F74676399}"/>
              </a:ext>
            </a:extLst>
          </p:cNvPr>
          <p:cNvSpPr/>
          <p:nvPr/>
        </p:nvSpPr>
        <p:spPr>
          <a:xfrm>
            <a:off x="3052932" y="1788962"/>
            <a:ext cx="2599187" cy="2386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5068C-67DE-509F-1380-6308A911E073}"/>
              </a:ext>
            </a:extLst>
          </p:cNvPr>
          <p:cNvSpPr/>
          <p:nvPr/>
        </p:nvSpPr>
        <p:spPr>
          <a:xfrm>
            <a:off x="5719653" y="1788962"/>
            <a:ext cx="2740780" cy="4951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CCA533-8584-6867-6FFA-3770E3846F82}"/>
              </a:ext>
            </a:extLst>
          </p:cNvPr>
          <p:cNvSpPr/>
          <p:nvPr/>
        </p:nvSpPr>
        <p:spPr>
          <a:xfrm>
            <a:off x="365397" y="4249853"/>
            <a:ext cx="2599187" cy="24906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28B634-F6CA-A56F-DCED-D4085C7C083E}"/>
              </a:ext>
            </a:extLst>
          </p:cNvPr>
          <p:cNvSpPr/>
          <p:nvPr/>
        </p:nvSpPr>
        <p:spPr>
          <a:xfrm>
            <a:off x="3059832" y="4256947"/>
            <a:ext cx="2599187" cy="2484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e?</a:t>
            </a:r>
          </a:p>
        </p:txBody>
      </p:sp>
    </p:spTree>
    <p:extLst>
      <p:ext uri="{BB962C8B-B14F-4D97-AF65-F5344CB8AC3E}">
        <p14:creationId xmlns:p14="http://schemas.microsoft.com/office/powerpoint/2010/main" val="79155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c4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4C – Pure Y1 page 67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7410B64-61FF-B45B-AEB3-817D9245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1457"/>
            <a:ext cx="7772400" cy="824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AD5469-1490-483D-5B74-2378E312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12" y="1907324"/>
            <a:ext cx="2420733" cy="3306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AD33C-8621-AEA1-0818-69627B9DB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73" y="1949864"/>
            <a:ext cx="2618424" cy="3614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5DFF3-921F-7758-5141-5F7C3214D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36" y="1907324"/>
            <a:ext cx="2878336" cy="37672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2A0A95D-006F-F7BD-6333-9C83409DD714}"/>
              </a:ext>
            </a:extLst>
          </p:cNvPr>
          <p:cNvSpPr/>
          <p:nvPr/>
        </p:nvSpPr>
        <p:spPr>
          <a:xfrm>
            <a:off x="6016552" y="1916832"/>
            <a:ext cx="2929936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c?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C9B1E5-D36E-FB9A-D3F4-5957745DD2CF}"/>
              </a:ext>
            </a:extLst>
          </p:cNvPr>
          <p:cNvSpPr/>
          <p:nvPr/>
        </p:nvSpPr>
        <p:spPr>
          <a:xfrm>
            <a:off x="3129572" y="1916832"/>
            <a:ext cx="2641465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BAC66-CF0A-02D5-A751-4202FF16367D}"/>
              </a:ext>
            </a:extLst>
          </p:cNvPr>
          <p:cNvSpPr/>
          <p:nvPr/>
        </p:nvSpPr>
        <p:spPr>
          <a:xfrm>
            <a:off x="251520" y="1916832"/>
            <a:ext cx="2641464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74073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c4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