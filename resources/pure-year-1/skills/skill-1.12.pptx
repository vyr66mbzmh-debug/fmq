
<file path=[Content_Types].xml><?xml version="1.0" encoding="utf-8"?>
<ns0:Types xmlns:ns0="http://schemas.openxmlformats.org/package/2006/content-types">
  <ns0:Default Extension="png" ContentType="image/png"/>
  <ns0:Default Extension="rels" ContentType="application/vnd.openxmlformats-package.relationships+xml"/>
  <ns0:Default Extension="xml" ContentType="application/xml"/>
  <ns0:Override PartName="/ppt/c6/ppt/slideMasters/slideMaster1.xml" ContentType="application/vnd.openxmlformats-officedocument.presentationml.slideMaster+xml"/>
  <ns0:Override PartName="/ppt/c6/ppt/slides/slide4.xml" ContentType="application/vnd.openxmlformats-officedocument.presentationml.slide+xml"/>
  <ns0:Override PartName="/ppt/c6/ppt/slides/slide5.xml" ContentType="application/vnd.openxmlformats-officedocument.presentationml.slide+xml"/>
  <ns0:Override PartName="/ppt/c6/ppt/slides/slide6.xml" ContentType="application/vnd.openxmlformats-officedocument.presentationml.slide+xml"/>
  <ns0:Override PartName="/ppt/c6/ppt/slides/slide7.xml" ContentType="application/vnd.openxmlformats-officedocument.presentationml.slide+xml"/>
  <ns0:Override PartName="/ppt/c6/ppt/slides/slide8.xml" ContentType="application/vnd.openxmlformats-officedocument.presentationml.slide+xml"/>
  <ns0:Override PartName="/ppt/c6/ppt/slides/slide9.xml" ContentType="application/vnd.openxmlformats-officedocument.presentationml.slide+xml"/>
  <ns0:Override PartName="/ppt/c6/ppt/slides/slide10.xml" ContentType="application/vnd.openxmlformats-officedocument.presentationml.slide+xml"/>
  <ns0:Override PartName="/ppt/c6/ppt/slides/slide11.xml" ContentType="application/vnd.openxmlformats-officedocument.presentationml.slide+xml"/>
  <ns0:Override PartName="/ppt/c6/ppt/slides/slide12.xml" ContentType="application/vnd.openxmlformats-officedocument.presentationml.slide+xml"/>
  <ns0:Override PartName="/ppt/c6/ppt/slides/slide13.xml" ContentType="application/vnd.openxmlformats-officedocument.presentationml.slide+xml"/>
  <ns0:Override PartName="/ppt/c6/ppt/slides/slide14.xml" ContentType="application/vnd.openxmlformats-officedocument.presentationml.slide+xml"/>
  <ns0:Override PartName="/ppt/c6/ppt/slides/slide15.xml" ContentType="application/vnd.openxmlformats-officedocument.presentationml.slide+xml"/>
  <ns0:Override PartName="/ppt/c6/ppt/slides/slide16.xml" ContentType="application/vnd.openxmlformats-officedocument.presentationml.slide+xml"/>
  <ns0:Override PartName="/ppt/c6/ppt/slides/slide17.xml" ContentType="application/vnd.openxmlformats-officedocument.presentationml.slide+xml"/>
  <ns0:Override PartName="/ppt/c6/ppt/slides/slide18.xml" ContentType="application/vnd.openxmlformats-officedocument.presentationml.slide+xml"/>
  <ns0:Override PartName="/ppt/c6/ppt/slides/slide19.xml" ContentType="application/vnd.openxmlformats-officedocument.presentationml.slide+xml"/>
  <ns0:Override PartName="/ppt/c6/ppt/slides/slide20.xml" ContentType="application/vnd.openxmlformats-officedocument.presentationml.slide+xml"/>
  <ns0:Override PartName="/ppt/c6/ppt/slides/slide21.xml" ContentType="application/vnd.openxmlformats-officedocument.presentationml.slide+xml"/>
  <ns0:Override PartName="/ppt/c6/ppt/slides/slide22.xml" ContentType="application/vnd.openxmlformats-officedocument.presentationml.slide+xml"/>
  <ns0:Override PartName="/ppt/c6/ppt/slides/slide23.xml" ContentType="application/vnd.openxmlformats-officedocument.presentationml.slide+xml"/>
  <ns0:Override PartName="/ppt/c6/ppt/slides/slide24.xml" ContentType="application/vnd.openxmlformats-officedocument.presentationml.slide+xml"/>
  <ns0:Override PartName="/ppt/c6/ppt/slides/slide25.xml" ContentType="application/vnd.openxmlformats-officedocument.presentationml.slide+xml"/>
  <ns0:Override PartName="/ppt/c6/ppt/slides/slide26.xml" ContentType="application/vnd.openxmlformats-officedocument.presentationml.slide+xml"/>
  <ns0:Override PartName="/ppt/c6/ppt/slides/slide27.xml" ContentType="application/vnd.openxmlformats-officedocument.presentationml.slide+xml"/>
  <ns0:Override PartName="/ppt/c6/ppt/slides/slide28.xml" ContentType="application/vnd.openxmlformats-officedocument.presentationml.slide+xml"/>
  <ns0:Override PartName="/ppt/c6/ppt/slides/slide29.xml" ContentType="application/vnd.openxmlformats-officedocument.presentationml.slide+xml"/>
  <ns0:Override PartName="/ppt/c6/ppt/slides/slide30.xml" ContentType="application/vnd.openxmlformats-officedocument.presentationml.slide+xml"/>
  <ns0:Override PartName="/ppt/c6/ppt/slides/slide31.xml" ContentType="application/vnd.openxmlformats-officedocument.presentationml.slide+xml"/>
  <ns0:Override PartName="/ppt/c6/ppt/slides/slide32.xml" ContentType="application/vnd.openxmlformats-officedocument.presentationml.slide+xml"/>
  <ns0:Override PartName="/ppt/c6/ppt/slides/slide33.xml" ContentType="application/vnd.openxmlformats-officedocument.presentationml.slide+xml"/>
  <ns0:Override PartName="/ppt/c6/ppt/slides/slide34.xml" ContentType="application/vnd.openxmlformats-officedocument.presentationml.slide+xml"/>
  <ns0:Override PartName="/ppt/c6/ppt/slides/slide35.xml" ContentType="application/vnd.openxmlformats-officedocument.presentationml.slide+xml"/>
  <ns0:Override PartName="/ppt/c6/ppt/slides/slide36.xml" ContentType="application/vnd.openxmlformats-officedocument.presentationml.slide+xml"/>
  <ns0:Override PartName="/ppt/c6/ppt/slides/slide37.xml" ContentType="application/vnd.openxmlformats-officedocument.presentationml.slide+xml"/>
  <ns0:Override PartName="/ppt/c6/ppt/slides/slide38.xml" ContentType="application/vnd.openxmlformats-officedocument.presentationml.slide+xml"/>
  <ns0:Override PartName="/ppt/c6/ppt/slides/slide39.xml" ContentType="application/vnd.openxmlformats-officedocument.presentationml.slide+xml"/>
  <ns0:Override PartName="/ppt/c6/ppt/slides/slide40.xml" ContentType="application/vnd.openxmlformats-officedocument.presentationml.slide+xml"/>
  <ns0:Override PartName="/ppt/c6/ppt/notesMasters/notesMaster1.xml" ContentType="application/vnd.openxmlformats-officedocument.presentationml.notesMaster+xml"/>
  <ns0:Override PartName="/ppt/c6/ppt/theme/theme1.xml" ContentType="application/vnd.openxmlformats-officedocument.theme+xml"/>
  <ns0:Override PartName="/ppt/c6/ppt/slideLayouts/slideLayout1.xml" ContentType="application/vnd.openxmlformats-officedocument.presentationml.slideLayout+xml"/>
  <ns0:Override PartName="/ppt/c6/ppt/slideLayouts/slideLayout2.xml" ContentType="application/vnd.openxmlformats-officedocument.presentationml.slideLayout+xml"/>
  <ns0:Override PartName="/ppt/c6/ppt/slideLayouts/slideLayout3.xml" ContentType="application/vnd.openxmlformats-officedocument.presentationml.slideLayout+xml"/>
  <ns0:Override PartName="/ppt/c6/ppt/theme/theme2.xml" ContentType="application/vnd.openxmlformats-officedocument.theme+xml"/>
  <ns0:Override PartName="/ppt/presentation.xml" ContentType="application/vnd.openxmlformats-officedocument.presentationml.presentation.main+xml"/>
</ns0:Types>
</file>

<file path=_rels/.rels><?xml version='1.0' encoding='utf-8'?>
<ns0:Relationships xmlns:ns0="http://schemas.openxmlformats.org/package/2006/relationships"><ns0:Relationship Id="rId1" Type="http://schemas.openxmlformats.org/officeDocument/2006/relationships/officeDocument" Target="ppt/presentation.xml" /></ns0:Relationships>
</file>

<file path=ppt/presentation.xml><?xml version="1.0" encoding="utf-8"?>
<p:presentation xmlns:p="http://schemas.openxmlformats.org/presentationml/2006/main" xmlns:r="http://schemas.openxmlformats.org/officeDocument/2006/relationships" saveSubsetFonts="1">
  <p:sldMasterIdLst>
    <p:sldMasterId id="2147484248" r:id="rId38"/>
  </p:sldMasterIdLst>
  <p:notesMasterIdLst>
    <p:notesMasterId r:id="rId39"/>
  </p:notesMasterIdLst>
  <p:sldIdLst>
    <p:sldId id="256" r:id="rId1"/>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Lst>
  <p:sldSz cx="12192000" cy="6858000"/>
  <p:notesSz cx="6858000" cy="9144000"/>
</p:presentation>
</file>

<file path=ppt/_rels/presentation.xml.rels><?xml version='1.0' encoding='utf-8'?>
<ns0:Relationships xmlns:ns0="http://schemas.openxmlformats.org/package/2006/relationships"><ns0:Relationship Id="rId1" Type="http://schemas.openxmlformats.org/officeDocument/2006/relationships/slide" Target="c6/ppt/slides/slide4.xml" /><ns0:Relationship Id="rId2" Type="http://schemas.openxmlformats.org/officeDocument/2006/relationships/slide" Target="c6/ppt/slides/slide5.xml" /><ns0:Relationship Id="rId3" Type="http://schemas.openxmlformats.org/officeDocument/2006/relationships/slide" Target="c6/ppt/slides/slide6.xml" /><ns0:Relationship Id="rId4" Type="http://schemas.openxmlformats.org/officeDocument/2006/relationships/slide" Target="c6/ppt/slides/slide7.xml" /><ns0:Relationship Id="rId5" Type="http://schemas.openxmlformats.org/officeDocument/2006/relationships/slide" Target="c6/ppt/slides/slide8.xml" /><ns0:Relationship Id="rId6" Type="http://schemas.openxmlformats.org/officeDocument/2006/relationships/slide" Target="c6/ppt/slides/slide9.xml" /><ns0:Relationship Id="rId7" Type="http://schemas.openxmlformats.org/officeDocument/2006/relationships/slide" Target="c6/ppt/slides/slide10.xml" /><ns0:Relationship Id="rId8" Type="http://schemas.openxmlformats.org/officeDocument/2006/relationships/slide" Target="c6/ppt/slides/slide11.xml" /><ns0:Relationship Id="rId9" Type="http://schemas.openxmlformats.org/officeDocument/2006/relationships/slide" Target="c6/ppt/slides/slide12.xml" /><ns0:Relationship Id="rId10" Type="http://schemas.openxmlformats.org/officeDocument/2006/relationships/slide" Target="c6/ppt/slides/slide13.xml" /><ns0:Relationship Id="rId11" Type="http://schemas.openxmlformats.org/officeDocument/2006/relationships/slide" Target="c6/ppt/slides/slide14.xml" /><ns0:Relationship Id="rId12" Type="http://schemas.openxmlformats.org/officeDocument/2006/relationships/slide" Target="c6/ppt/slides/slide15.xml" /><ns0:Relationship Id="rId13" Type="http://schemas.openxmlformats.org/officeDocument/2006/relationships/slide" Target="c6/ppt/slides/slide16.xml" /><ns0:Relationship Id="rId14" Type="http://schemas.openxmlformats.org/officeDocument/2006/relationships/slide" Target="c6/ppt/slides/slide17.xml" /><ns0:Relationship Id="rId15" Type="http://schemas.openxmlformats.org/officeDocument/2006/relationships/slide" Target="c6/ppt/slides/slide18.xml" /><ns0:Relationship Id="rId16" Type="http://schemas.openxmlformats.org/officeDocument/2006/relationships/slide" Target="c6/ppt/slides/slide19.xml" /><ns0:Relationship Id="rId17" Type="http://schemas.openxmlformats.org/officeDocument/2006/relationships/slide" Target="c6/ppt/slides/slide20.xml" /><ns0:Relationship Id="rId18" Type="http://schemas.openxmlformats.org/officeDocument/2006/relationships/slide" Target="c6/ppt/slides/slide21.xml" /><ns0:Relationship Id="rId19" Type="http://schemas.openxmlformats.org/officeDocument/2006/relationships/slide" Target="c6/ppt/slides/slide22.xml" /><ns0:Relationship Id="rId20" Type="http://schemas.openxmlformats.org/officeDocument/2006/relationships/slide" Target="c6/ppt/slides/slide23.xml" /><ns0:Relationship Id="rId21" Type="http://schemas.openxmlformats.org/officeDocument/2006/relationships/slide" Target="c6/ppt/slides/slide24.xml" /><ns0:Relationship Id="rId22" Type="http://schemas.openxmlformats.org/officeDocument/2006/relationships/slide" Target="c6/ppt/slides/slide25.xml" /><ns0:Relationship Id="rId23" Type="http://schemas.openxmlformats.org/officeDocument/2006/relationships/slide" Target="c6/ppt/slides/slide26.xml" /><ns0:Relationship Id="rId24" Type="http://schemas.openxmlformats.org/officeDocument/2006/relationships/slide" Target="c6/ppt/slides/slide27.xml" /><ns0:Relationship Id="rId25" Type="http://schemas.openxmlformats.org/officeDocument/2006/relationships/slide" Target="c6/ppt/slides/slide28.xml" /><ns0:Relationship Id="rId26" Type="http://schemas.openxmlformats.org/officeDocument/2006/relationships/slide" Target="c6/ppt/slides/slide29.xml" /><ns0:Relationship Id="rId27" Type="http://schemas.openxmlformats.org/officeDocument/2006/relationships/slide" Target="c6/ppt/slides/slide30.xml" /><ns0:Relationship Id="rId28" Type="http://schemas.openxmlformats.org/officeDocument/2006/relationships/slide" Target="c6/ppt/slides/slide31.xml" /><ns0:Relationship Id="rId29" Type="http://schemas.openxmlformats.org/officeDocument/2006/relationships/slide" Target="c6/ppt/slides/slide32.xml" /><ns0:Relationship Id="rId30" Type="http://schemas.openxmlformats.org/officeDocument/2006/relationships/slide" Target="c6/ppt/slides/slide33.xml" /><ns0:Relationship Id="rId31" Type="http://schemas.openxmlformats.org/officeDocument/2006/relationships/slide" Target="c6/ppt/slides/slide34.xml" /><ns0:Relationship Id="rId32" Type="http://schemas.openxmlformats.org/officeDocument/2006/relationships/slide" Target="c6/ppt/slides/slide35.xml" /><ns0:Relationship Id="rId33" Type="http://schemas.openxmlformats.org/officeDocument/2006/relationships/slide" Target="c6/ppt/slides/slide36.xml" /><ns0:Relationship Id="rId34" Type="http://schemas.openxmlformats.org/officeDocument/2006/relationships/slide" Target="c6/ppt/slides/slide37.xml" /><ns0:Relationship Id="rId35" Type="http://schemas.openxmlformats.org/officeDocument/2006/relationships/slide" Target="c6/ppt/slides/slide38.xml" /><ns0:Relationship Id="rId36" Type="http://schemas.openxmlformats.org/officeDocument/2006/relationships/slide" Target="c6/ppt/slides/slide39.xml" /><ns0:Relationship Id="rId37" Type="http://schemas.openxmlformats.org/officeDocument/2006/relationships/slide" Target="c6/ppt/slides/slide40.xml" /><ns0:Relationship Id="rId38" Type="http://schemas.openxmlformats.org/officeDocument/2006/relationships/slideMaster" Target="c6/ppt/slideMasters/slideMaster1.xml" /><ns0:Relationship Id="rId39" Type="http://schemas.openxmlformats.org/officeDocument/2006/relationships/notesMaster" Target="c6/ppt/notesMasters/notesMaster1.xml" /></ns0:Relationships>
</file>

<file path=ppt/c6/ppt/notesMasters/_rels/notesMaster1.xml.rels><?xml version='1.0' encoding='utf-8'?>
<ns0:Relationships xmlns:ns0="http://schemas.openxmlformats.org/package/2006/relationships"><ns0:Relationship Id="rId1" Type="http://schemas.openxmlformats.org/officeDocument/2006/relationships/theme" Target="../theme/theme2.xml" /></ns0:Relationships>
</file>

<file path=ppt/c6/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4E87F4A-DD11-41AF-8B76-F2E5B6202836}" type="datetimeFigureOut">
              <a:rPr lang="en-GB" smtClean="0"/>
              <a:pPr/>
              <a:t>02/10/2026</a:t>
            </a:fld>
            <a:endParaRPr lang="en-GB"/>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62F2399-CD51-4C4C-BC34-03B9F40F9CF8}" type="slidenum">
              <a:rPr lang="en-GB" smtClean="0"/>
              <a:pPr/>
              <a:t>‹#›</a:t>
            </a:fld>
            <a:endParaRPr lang="en-GB"/>
          </a:p>
        </p:txBody>
      </p:sp>
    </p:spTree>
    <p:extLst>
      <p:ext uri="{BB962C8B-B14F-4D97-AF65-F5344CB8AC3E}">
        <p14:creationId xmlns:p14="http://schemas.microsoft.com/office/powerpoint/2010/main" val="5474507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c6/ppt/slideLayouts/_rels/slideLayout1.xml.rels><?xml version='1.0' encoding='utf-8'?>
<ns0:Relationships xmlns:ns0="http://schemas.openxmlformats.org/package/2006/relationships"><ns0:Relationship Id="rId1" Type="http://schemas.openxmlformats.org/officeDocument/2006/relationships/slideMaster" Target="../slideMasters/slideMaster1.xml" /></ns0:Relationships>
</file>

<file path=ppt/c6/ppt/slideLayouts/_rels/slideLayout2.xml.rels><?xml version='1.0' encoding='utf-8'?>
<ns0:Relationships xmlns:ns0="http://schemas.openxmlformats.org/package/2006/relationships"><ns0:Relationship Id="rId1" Type="http://schemas.openxmlformats.org/officeDocument/2006/relationships/slideMaster" Target="../slideMasters/slideMaster1.xml" /></ns0:Relationships>
</file>

<file path=ppt/c6/ppt/slideLayouts/_rels/slideLayout3.xml.rels><?xml version='1.0' encoding='utf-8'?>
<ns0:Relationships xmlns:ns0="http://schemas.openxmlformats.org/package/2006/relationships"><ns0:Relationship Id="rId1" Type="http://schemas.openxmlformats.org/officeDocument/2006/relationships/slideMaster" Target="../slideMasters/slideMaster1.xml" /></ns0:Relationships>
</file>

<file path=ppt/c6/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B9AFE4D-3339-4F90-AB07-DAB31D79E32A}" type="datetimeFigureOut">
              <a:rPr lang="en-GB" smtClean="0"/>
              <a:pPr/>
              <a:t>02/10/2026</a:t>
            </a:fld>
            <a:endParaRPr lang="en-GB"/>
          </a:p>
        </p:txBody>
      </p:sp>
      <p:sp>
        <p:nvSpPr>
          <p:cNvPr id="3" name="Footer Placeholder 2"/>
          <p:cNvSpPr>
            <a:spLocks noGrp="1"/>
          </p:cNvSpPr>
          <p:nvPr>
            <p:ph type="ftr" sz="quarter" idx="11"/>
          </p:nvPr>
        </p:nvSpPr>
        <p:spPr/>
        <p:txBody>
          <a:bodyPr/>
          <a:lstStyle/>
          <a:p>
            <a:endParaRPr lang="en-GB"/>
          </a:p>
        </p:txBody>
      </p:sp>
    </p:spTree>
    <p:extLst>
      <p:ext uri="{BB962C8B-B14F-4D97-AF65-F5344CB8AC3E}">
        <p14:creationId xmlns:p14="http://schemas.microsoft.com/office/powerpoint/2010/main" val="179336913"/>
      </p:ext>
    </p:extLst>
  </p:cSld>
  <p:clrMapOvr>
    <a:masterClrMapping/>
  </p:clrMapOvr>
</p:sldLayout>
</file>

<file path=ppt/c6/ppt/slideLayouts/slideLayout2.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 y="1497"/>
            <a:ext cx="12192001" cy="596135"/>
          </a:xfrm>
          <a:solidFill>
            <a:srgbClr val="23305E"/>
          </a:solidFill>
        </p:spPr>
        <p:txBody>
          <a:bodyPr>
            <a:noAutofit/>
          </a:bodyPr>
          <a:lstStyle>
            <a:lvl1pPr>
              <a:defRPr sz="4000">
                <a:solidFill>
                  <a:schemeClr val="bg1"/>
                </a:solidFill>
              </a:defRPr>
            </a:lvl1pPr>
          </a:lstStyle>
          <a:p>
            <a:r>
              <a:rPr lang="en-US"/>
              <a:t>Click to edit Master title style</a:t>
            </a:r>
            <a:endParaRPr lang="en-GB"/>
          </a:p>
        </p:txBody>
      </p:sp>
    </p:spTree>
    <p:extLst>
      <p:ext uri="{BB962C8B-B14F-4D97-AF65-F5344CB8AC3E}">
        <p14:creationId xmlns:p14="http://schemas.microsoft.com/office/powerpoint/2010/main" val="1616467365"/>
      </p:ext>
    </p:extLst>
  </p:cSld>
  <p:clrMapOvr>
    <a:masterClrMapping/>
  </p:clrMapOvr>
</p:sldLayout>
</file>

<file path=ppt/c6/ppt/slideLayouts/slideLayout3.xml><?xml version="1.0" encoding="utf-8"?>
<p:sldLayout xmlns:a="http://schemas.openxmlformats.org/drawingml/2006/main" xmlns:r="http://schemas.openxmlformats.org/officeDocument/2006/relationships" xmlns:p="http://schemas.openxmlformats.org/presentationml/2006/main" userDrawn="1">
  <p:cSld name="1_Title Slide">
    <p:bg>
      <p:bgPr>
        <a:solidFill>
          <a:srgbClr val="23305E"/>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693989"/>
            <a:ext cx="10363200" cy="1470025"/>
          </a:xfrm>
        </p:spPr>
        <p:txBody>
          <a:bodyPr>
            <a:noAutofit/>
          </a:bodyPr>
          <a:lstStyle>
            <a:lvl1pPr>
              <a:defRPr sz="6000" b="0">
                <a:solidFill>
                  <a:schemeClr val="bg1"/>
                </a:solidFill>
              </a:defRPr>
            </a:lvl1pPr>
          </a:lstStyle>
          <a:p>
            <a:r>
              <a:rPr lang="en-US"/>
              <a:t>Click to edit Master title style</a:t>
            </a:r>
            <a:endParaRPr lang="en-GB"/>
          </a:p>
        </p:txBody>
      </p:sp>
    </p:spTree>
    <p:extLst>
      <p:ext uri="{BB962C8B-B14F-4D97-AF65-F5344CB8AC3E}">
        <p14:creationId xmlns:p14="http://schemas.microsoft.com/office/powerpoint/2010/main" val="858170079"/>
      </p:ext>
    </p:extLst>
  </p:cSld>
  <p:clrMapOvr>
    <a:masterClrMapping/>
  </p:clrMapOvr>
</p:sldLayout>
</file>

<file path=ppt/c6/ppt/slideMasters/_rels/slideMaster1.xml.rels><?xml version='1.0' encoding='utf-8'?>
<ns0:Relationships xmlns:ns0="http://schemas.openxmlformats.org/package/2006/relationships"><ns0:Relationship Id="rId3" Type="http://schemas.openxmlformats.org/officeDocument/2006/relationships/slideLayout" Target="../slideLayouts/slideLayout3.xml" /><ns0:Relationship Id="rId2" Type="http://schemas.openxmlformats.org/officeDocument/2006/relationships/slideLayout" Target="../slideLayouts/slideLayout2.xml" /><ns0:Relationship Id="rId1" Type="http://schemas.openxmlformats.org/officeDocument/2006/relationships/slideLayout" Target="../slideLayouts/slideLayout1.xml" /><ns0:Relationship Id="rId4" Type="http://schemas.openxmlformats.org/officeDocument/2006/relationships/theme" Target="../theme/theme1.xml" /></ns0:Relationships>
</file>

<file path=ppt/c6/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B9AFE4D-3339-4F90-AB07-DAB31D79E32A}" type="datetimeFigureOut">
              <a:rPr lang="en-GB" smtClean="0"/>
              <a:pPr/>
              <a:t>02/10/2026</a:t>
            </a:fld>
            <a:endParaRPr lang="en-GB"/>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7" name="Slide Number Placeholder 1">
            <a:extLst>
              <a:ext uri="{FF2B5EF4-FFF2-40B4-BE49-F238E27FC236}">
                <a16:creationId xmlns:a16="http://schemas.microsoft.com/office/drawing/2014/main" id="{634044E4-68A5-F0A4-73AE-C4AAC63BFCD0}"/>
              </a:ext>
            </a:extLst>
          </p:cNvPr>
          <p:cNvSpPr txBox="1">
            <a:spLocks/>
          </p:cNvSpPr>
          <p:nvPr userDrawn="1"/>
        </p:nvSpPr>
        <p:spPr>
          <a:xfrm>
            <a:off x="0" y="0"/>
            <a:ext cx="12192000" cy="599126"/>
          </a:xfrm>
          <a:prstGeom prst="rect">
            <a:avLst/>
          </a:prstGeom>
          <a:solidFill>
            <a:srgbClr val="17375E"/>
          </a:solidFill>
        </p:spPr>
        <p:txBody>
          <a:bodyPr vert="horz" lIns="0" tIns="0" rIns="144000" bIns="0" rtlCol="0" anchor="ctr"/>
          <a:lstStyle>
            <a:defPPr>
              <a:defRPr lang="en-US"/>
            </a:defPPr>
            <a:lvl1pPr marL="0" algn="r" defTabSz="914400" rtl="0" eaLnBrk="1" latinLnBrk="0" hangingPunct="1">
              <a:defRPr sz="1000" i="1" kern="1200">
                <a:solidFill>
                  <a:srgbClr val="17375E"/>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48177B05-5D28-4021-9BD2-A7A72850B659}" type="slidenum">
              <a:rPr lang="en-GB" sz="1600" i="0" smtClean="0">
                <a:solidFill>
                  <a:schemeClr val="bg1"/>
                </a:solidFill>
              </a:rPr>
              <a:pPr algn="r"/>
              <a:t>‹#›</a:t>
            </a:fld>
            <a:endParaRPr lang="en-GB" sz="1600" i="0">
              <a:solidFill>
                <a:schemeClr val="bg1"/>
              </a:solidFill>
            </a:endParaRPr>
          </a:p>
        </p:txBody>
      </p:sp>
    </p:spTree>
    <p:extLst>
      <p:ext uri="{BB962C8B-B14F-4D97-AF65-F5344CB8AC3E}">
        <p14:creationId xmlns:p14="http://schemas.microsoft.com/office/powerpoint/2010/main" val="3896745248"/>
      </p:ext>
    </p:extLst>
  </p:cSld>
  <p:clrMap bg1="lt1" tx1="dk1" bg2="lt2" tx2="dk2" accent1="accent1" accent2="accent2" accent3="accent3" accent4="accent4" accent5="accent5" accent6="accent6" hlink="hlink" folHlink="folHlink"/>
  <p:sldLayoutIdLst>
    <p:sldLayoutId id="2147500100" r:id="rId1"/>
    <p:sldLayoutId id="2147500101" r:id="rId2"/>
    <p:sldLayoutId id="2147500102" r:id="rId3"/>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c6/ppt/slides/_rels/slide4.xml.rels><?xml version='1.0' encoding='utf-8'?>
<ns0:Relationships xmlns:ns0="http://schemas.openxmlformats.org/package/2006/relationships"><ns0:Relationship Id="rId8" Type="http://schemas.openxmlformats.org/officeDocument/2006/relationships/image" Target="../media/image14.png" /><ns0:Relationship Id="rId3" Type="http://schemas.openxmlformats.org/officeDocument/2006/relationships/image" Target="../media/image9.png" /><ns0:Relationship Id="rId7" Type="http://schemas.openxmlformats.org/officeDocument/2006/relationships/image" Target="../media/image13.png" /><ns0:Relationship Id="rId2" Type="http://schemas.openxmlformats.org/officeDocument/2006/relationships/image" Target="../media/image8.png" /><ns0:Relationship Id="rId1" Type="http://schemas.openxmlformats.org/officeDocument/2006/relationships/slideLayout" Target="../slideLayouts/slideLayout1.xml" /><ns0:Relationship Id="rId6" Type="http://schemas.openxmlformats.org/officeDocument/2006/relationships/image" Target="../media/image12.png" /><ns0:Relationship Id="rId5" Type="http://schemas.openxmlformats.org/officeDocument/2006/relationships/image" Target="../media/image11.png" /><ns0:Relationship Id="rId4" Type="http://schemas.openxmlformats.org/officeDocument/2006/relationships/image" Target="../media/image10.png" /><ns0:Relationship Id="rId9" Type="http://schemas.openxmlformats.org/officeDocument/2006/relationships/image" Target="../media/image15.png" /></ns0:Relationships>
</file>

<file path=ppt/c6/ppt/slides/_rels/slide5.xml.rels><?xml version='1.0' encoding='utf-8'?>
<ns0:Relationships xmlns:ns0="http://schemas.openxmlformats.org/package/2006/relationships"><ns0:Relationship Id="rId8" Type="http://schemas.openxmlformats.org/officeDocument/2006/relationships/image" Target="../media/image22.png" /><ns0:Relationship Id="rId3" Type="http://schemas.openxmlformats.org/officeDocument/2006/relationships/image" Target="../media/image17.png" /><ns0:Relationship Id="rId7" Type="http://schemas.openxmlformats.org/officeDocument/2006/relationships/image" Target="../media/image21.png" /><ns0:Relationship Id="rId2" Type="http://schemas.openxmlformats.org/officeDocument/2006/relationships/image" Target="../media/image16.png" /><ns0:Relationship Id="rId1" Type="http://schemas.openxmlformats.org/officeDocument/2006/relationships/slideLayout" Target="../slideLayouts/slideLayout1.xml" /><ns0:Relationship Id="rId6" Type="http://schemas.openxmlformats.org/officeDocument/2006/relationships/image" Target="../media/image20.png" /><ns0:Relationship Id="rId5" Type="http://schemas.openxmlformats.org/officeDocument/2006/relationships/image" Target="../media/image19.png" /><ns0:Relationship Id="rId4" Type="http://schemas.openxmlformats.org/officeDocument/2006/relationships/image" Target="../media/image18.png" /></ns0:Relationships>
</file>

<file path=ppt/c6/ppt/slides/_rels/slide6.xml.rels><?xml version='1.0' encoding='utf-8'?>
<ns0:Relationships xmlns:ns0="http://schemas.openxmlformats.org/package/2006/relationships"><ns0:Relationship Id="rId3" Type="http://schemas.openxmlformats.org/officeDocument/2006/relationships/image" Target="../media/image24.png" /><ns0:Relationship Id="rId2" Type="http://schemas.openxmlformats.org/officeDocument/2006/relationships/image" Target="../media/image23.png" /><ns0:Relationship Id="rId1" Type="http://schemas.openxmlformats.org/officeDocument/2006/relationships/slideLayout" Target="../slideLayouts/slideLayout1.xml" /><ns0:Relationship Id="rId5" Type="http://schemas.openxmlformats.org/officeDocument/2006/relationships/image" Target="../media/image26.png" /><ns0:Relationship Id="rId4" Type="http://schemas.openxmlformats.org/officeDocument/2006/relationships/image" Target="../media/image25.png" /></ns0:Relationships>
</file>

<file path=ppt/c6/ppt/slides/_rels/slide7.xml.rels><?xml version='1.0' encoding='utf-8'?>
<ns0:Relationships xmlns:ns0="http://schemas.openxmlformats.org/package/2006/relationships"><ns0:Relationship Id="rId3" Type="http://schemas.openxmlformats.org/officeDocument/2006/relationships/image" Target="../media/image28.png" /><ns0:Relationship Id="rId2" Type="http://schemas.openxmlformats.org/officeDocument/2006/relationships/image" Target="../media/image27.png" /><ns0:Relationship Id="rId1" Type="http://schemas.openxmlformats.org/officeDocument/2006/relationships/slideLayout" Target="../slideLayouts/slideLayout1.xml" /><ns0:Relationship Id="rId6" Type="http://schemas.openxmlformats.org/officeDocument/2006/relationships/image" Target="../media/image31.png" /><ns0:Relationship Id="rId5" Type="http://schemas.openxmlformats.org/officeDocument/2006/relationships/image" Target="../media/image30.png" /><ns0:Relationship Id="rId4" Type="http://schemas.openxmlformats.org/officeDocument/2006/relationships/image" Target="../media/image29.png" /></ns0:Relationships>
</file>

<file path=ppt/c6/ppt/slides/_rels/slide8.xml.rels><?xml version='1.0' encoding='utf-8'?>
<ns0:Relationships xmlns:ns0="http://schemas.openxmlformats.org/package/2006/relationships"><ns0:Relationship Id="rId3" Type="http://schemas.openxmlformats.org/officeDocument/2006/relationships/image" Target="../media/image33.png" /><ns0:Relationship Id="rId2" Type="http://schemas.openxmlformats.org/officeDocument/2006/relationships/image" Target="../media/image32.png" /><ns0:Relationship Id="rId1" Type="http://schemas.openxmlformats.org/officeDocument/2006/relationships/slideLayout" Target="../slideLayouts/slideLayout1.xml" /></ns0:Relationships>
</file>

<file path=ppt/c6/ppt/slides/_rels/slide9.xml.rels><?xml version='1.0' encoding='utf-8'?>
<ns0:Relationships xmlns:ns0="http://schemas.openxmlformats.org/package/2006/relationships"><ns0:Relationship Id="rId8" Type="http://schemas.openxmlformats.org/officeDocument/2006/relationships/image" Target="../media/image40.png" /><ns0:Relationship Id="rId3" Type="http://schemas.openxmlformats.org/officeDocument/2006/relationships/image" Target="../media/image35.png" /><ns0:Relationship Id="rId7" Type="http://schemas.openxmlformats.org/officeDocument/2006/relationships/image" Target="../media/image39.png" /><ns0:Relationship Id="rId2" Type="http://schemas.openxmlformats.org/officeDocument/2006/relationships/image" Target="../media/image34.png" /><ns0:Relationship Id="rId1" Type="http://schemas.openxmlformats.org/officeDocument/2006/relationships/slideLayout" Target="../slideLayouts/slideLayout1.xml" /><ns0:Relationship Id="rId6" Type="http://schemas.openxmlformats.org/officeDocument/2006/relationships/image" Target="../media/image38.png" /><ns0:Relationship Id="rId11" Type="http://schemas.openxmlformats.org/officeDocument/2006/relationships/image" Target="../media/image43.png" /><ns0:Relationship Id="rId5" Type="http://schemas.openxmlformats.org/officeDocument/2006/relationships/image" Target="../media/image37.png" /><ns0:Relationship Id="rId10" Type="http://schemas.openxmlformats.org/officeDocument/2006/relationships/image" Target="../media/image42.png" /><ns0:Relationship Id="rId4" Type="http://schemas.openxmlformats.org/officeDocument/2006/relationships/image" Target="../media/image36.png" /><ns0:Relationship Id="rId9" Type="http://schemas.openxmlformats.org/officeDocument/2006/relationships/image" Target="../media/image41.png" /></ns0:Relationships>
</file>

<file path=ppt/c6/ppt/slides/_rels/slide10.xml.rels><?xml version='1.0' encoding='utf-8'?>
<ns0:Relationships xmlns:ns0="http://schemas.openxmlformats.org/package/2006/relationships"><ns0:Relationship Id="rId8" Type="http://schemas.openxmlformats.org/officeDocument/2006/relationships/image" Target="../media/image48.png" /><ns0:Relationship Id="rId3" Type="http://schemas.openxmlformats.org/officeDocument/2006/relationships/image" Target="../media/image35.png" /><ns0:Relationship Id="rId7" Type="http://schemas.openxmlformats.org/officeDocument/2006/relationships/image" Target="../media/image47.png" /><ns0:Relationship Id="rId2" Type="http://schemas.openxmlformats.org/officeDocument/2006/relationships/image" Target="../media/image34.png" /><ns0:Relationship Id="rId1" Type="http://schemas.openxmlformats.org/officeDocument/2006/relationships/slideLayout" Target="../slideLayouts/slideLayout1.xml" /><ns0:Relationship Id="rId6" Type="http://schemas.openxmlformats.org/officeDocument/2006/relationships/image" Target="../media/image46.png" /><ns0:Relationship Id="rId5" Type="http://schemas.openxmlformats.org/officeDocument/2006/relationships/image" Target="../media/image45.png" /><ns0:Relationship Id="rId4" Type="http://schemas.openxmlformats.org/officeDocument/2006/relationships/image" Target="../media/image44.png" /></ns0:Relationships>
</file>

<file path=ppt/c6/ppt/slides/_rels/slide11.xml.rels><?xml version='1.0' encoding='utf-8'?>
<ns0:Relationships xmlns:ns0="http://schemas.openxmlformats.org/package/2006/relationships"><ns0:Relationship Id="rId8" Type="http://schemas.openxmlformats.org/officeDocument/2006/relationships/image" Target="../media/image55.png" /><ns0:Relationship Id="rId13" Type="http://schemas.openxmlformats.org/officeDocument/2006/relationships/image" Target="../media/image60.png" /><ns0:Relationship Id="rId18" Type="http://schemas.openxmlformats.org/officeDocument/2006/relationships/image" Target="../media/image65.png" /><ns0:Relationship Id="rId3" Type="http://schemas.openxmlformats.org/officeDocument/2006/relationships/image" Target="../media/image50.png" /><ns0:Relationship Id="rId21" Type="http://schemas.openxmlformats.org/officeDocument/2006/relationships/image" Target="../media/image68.png" /><ns0:Relationship Id="rId7" Type="http://schemas.openxmlformats.org/officeDocument/2006/relationships/image" Target="../media/image54.png" /><ns0:Relationship Id="rId12" Type="http://schemas.openxmlformats.org/officeDocument/2006/relationships/image" Target="../media/image59.png" /><ns0:Relationship Id="rId17" Type="http://schemas.openxmlformats.org/officeDocument/2006/relationships/image" Target="../media/image64.png" /><ns0:Relationship Id="rId2" Type="http://schemas.openxmlformats.org/officeDocument/2006/relationships/image" Target="../media/image49.png" /><ns0:Relationship Id="rId16" Type="http://schemas.openxmlformats.org/officeDocument/2006/relationships/image" Target="../media/image63.png" /><ns0:Relationship Id="rId20" Type="http://schemas.openxmlformats.org/officeDocument/2006/relationships/image" Target="../media/image67.png" /><ns0:Relationship Id="rId1" Type="http://schemas.openxmlformats.org/officeDocument/2006/relationships/slideLayout" Target="../slideLayouts/slideLayout1.xml" /><ns0:Relationship Id="rId6" Type="http://schemas.openxmlformats.org/officeDocument/2006/relationships/image" Target="../media/image53.png" /><ns0:Relationship Id="rId11" Type="http://schemas.openxmlformats.org/officeDocument/2006/relationships/image" Target="../media/image58.png" /><ns0:Relationship Id="rId5" Type="http://schemas.openxmlformats.org/officeDocument/2006/relationships/image" Target="../media/image52.png" /><ns0:Relationship Id="rId15" Type="http://schemas.openxmlformats.org/officeDocument/2006/relationships/image" Target="../media/image62.png" /><ns0:Relationship Id="rId10" Type="http://schemas.openxmlformats.org/officeDocument/2006/relationships/image" Target="../media/image57.png" /><ns0:Relationship Id="rId19" Type="http://schemas.openxmlformats.org/officeDocument/2006/relationships/image" Target="../media/image66.png" /><ns0:Relationship Id="rId4" Type="http://schemas.openxmlformats.org/officeDocument/2006/relationships/image" Target="../media/image51.png" /><ns0:Relationship Id="rId9" Type="http://schemas.openxmlformats.org/officeDocument/2006/relationships/image" Target="../media/image56.png" /><ns0:Relationship Id="rId14" Type="http://schemas.openxmlformats.org/officeDocument/2006/relationships/image" Target="../media/image61.png" /><ns0:Relationship Id="rId22" Type="http://schemas.openxmlformats.org/officeDocument/2006/relationships/image" Target="../media/image69.png" /></ns0:Relationships>
</file>

<file path=ppt/c6/ppt/slides/_rels/slide12.xml.rels><?xml version='1.0' encoding='utf-8'?>
<ns0:Relationships xmlns:ns0="http://schemas.openxmlformats.org/package/2006/relationships"><ns0:Relationship Id="rId3" Type="http://schemas.openxmlformats.org/officeDocument/2006/relationships/image" Target="../media/image71.png" /><ns0:Relationship Id="rId2" Type="http://schemas.openxmlformats.org/officeDocument/2006/relationships/image" Target="../media/image70.png" /><ns0:Relationship Id="rId1" Type="http://schemas.openxmlformats.org/officeDocument/2006/relationships/slideLayout" Target="../slideLayouts/slideLayout1.xml" /><ns0:Relationship Id="rId5" Type="http://schemas.openxmlformats.org/officeDocument/2006/relationships/image" Target="../media/image73.png" /><ns0:Relationship Id="rId4" Type="http://schemas.openxmlformats.org/officeDocument/2006/relationships/image" Target="../media/image72.png" /></ns0:Relationships>
</file>

<file path=ppt/c6/ppt/slides/_rels/slide13.xml.rels><?xml version='1.0' encoding='utf-8'?>
<ns0:Relationships xmlns:ns0="http://schemas.openxmlformats.org/package/2006/relationships"><ns0:Relationship Id="rId3" Type="http://schemas.openxmlformats.org/officeDocument/2006/relationships/image" Target="../media/image75.png" /><ns0:Relationship Id="rId2" Type="http://schemas.openxmlformats.org/officeDocument/2006/relationships/image" Target="../media/image74.png" /><ns0:Relationship Id="rId1" Type="http://schemas.openxmlformats.org/officeDocument/2006/relationships/slideLayout" Target="../slideLayouts/slideLayout1.xml" /></ns0:Relationships>
</file>

<file path=ppt/c6/ppt/slides/_rels/slide14.xml.rels><?xml version='1.0' encoding='utf-8'?>
<ns0:Relationships xmlns:ns0="http://schemas.openxmlformats.org/package/2006/relationships"><ns0:Relationship Id="rId3" Type="http://schemas.openxmlformats.org/officeDocument/2006/relationships/image" Target="../media/image77.png" /><ns0:Relationship Id="rId2" Type="http://schemas.openxmlformats.org/officeDocument/2006/relationships/image" Target="../media/image76.png" /><ns0:Relationship Id="rId1" Type="http://schemas.openxmlformats.org/officeDocument/2006/relationships/slideLayout" Target="../slideLayouts/slideLayout1.xml" /><ns0:Relationship Id="rId6" Type="http://schemas.openxmlformats.org/officeDocument/2006/relationships/image" Target="../media/image80.png" /><ns0:Relationship Id="rId5" Type="http://schemas.openxmlformats.org/officeDocument/2006/relationships/image" Target="../media/image79.png" /><ns0:Relationship Id="rId4" Type="http://schemas.openxmlformats.org/officeDocument/2006/relationships/image" Target="../media/image78.png" /></ns0:Relationships>
</file>

<file path=ppt/c6/ppt/slides/_rels/slide15.xml.rels><?xml version='1.0' encoding='utf-8'?>
<ns0:Relationships xmlns:ns0="http://schemas.openxmlformats.org/package/2006/relationships"><ns0:Relationship Id="rId3" Type="http://schemas.openxmlformats.org/officeDocument/2006/relationships/image" Target="../media/image82.png" /><ns0:Relationship Id="rId2" Type="http://schemas.openxmlformats.org/officeDocument/2006/relationships/image" Target="../media/image81.png" /><ns0:Relationship Id="rId1" Type="http://schemas.openxmlformats.org/officeDocument/2006/relationships/slideLayout" Target="../slideLayouts/slideLayout1.xml" /></ns0:Relationships>
</file>

<file path=ppt/c6/ppt/slides/_rels/slide16.xml.rels><?xml version='1.0' encoding='utf-8'?>
<ns0:Relationships xmlns:ns0="http://schemas.openxmlformats.org/package/2006/relationships"><ns0:Relationship Id="rId3" Type="http://schemas.openxmlformats.org/officeDocument/2006/relationships/image" Target="../media/image84.png" /><ns0:Relationship Id="rId2" Type="http://schemas.openxmlformats.org/officeDocument/2006/relationships/image" Target="../media/image83.png" /><ns0:Relationship Id="rId1" Type="http://schemas.openxmlformats.org/officeDocument/2006/relationships/slideLayout" Target="../slideLayouts/slideLayout1.xml" /><ns0:Relationship Id="rId5" Type="http://schemas.openxmlformats.org/officeDocument/2006/relationships/image" Target="../media/image86.png" /><ns0:Relationship Id="rId4" Type="http://schemas.openxmlformats.org/officeDocument/2006/relationships/image" Target="../media/image85.png" /></ns0:Relationships>
</file>

<file path=ppt/c6/ppt/slides/_rels/slide17.xml.rels><?xml version='1.0' encoding='utf-8'?>
<ns0:Relationships xmlns:ns0="http://schemas.openxmlformats.org/package/2006/relationships"><ns0:Relationship Id="rId3" Type="http://schemas.openxmlformats.org/officeDocument/2006/relationships/image" Target="../media/image88.png" /><ns0:Relationship Id="rId7" Type="http://schemas.openxmlformats.org/officeDocument/2006/relationships/image" Target="../media/image92.png" /><ns0:Relationship Id="rId2" Type="http://schemas.openxmlformats.org/officeDocument/2006/relationships/image" Target="../media/image87.png" /><ns0:Relationship Id="rId1" Type="http://schemas.openxmlformats.org/officeDocument/2006/relationships/slideLayout" Target="../slideLayouts/slideLayout1.xml" /><ns0:Relationship Id="rId6" Type="http://schemas.openxmlformats.org/officeDocument/2006/relationships/image" Target="../media/image91.png" /><ns0:Relationship Id="rId5" Type="http://schemas.openxmlformats.org/officeDocument/2006/relationships/image" Target="../media/image90.png" /><ns0:Relationship Id="rId4" Type="http://schemas.openxmlformats.org/officeDocument/2006/relationships/image" Target="../media/image89.png" /></ns0:Relationships>
</file>

<file path=ppt/c6/ppt/slides/_rels/slide18.xml.rels><?xml version='1.0' encoding='utf-8'?>
<ns0:Relationships xmlns:ns0="http://schemas.openxmlformats.org/package/2006/relationships"><ns0:Relationship Id="rId3" Type="http://schemas.openxmlformats.org/officeDocument/2006/relationships/image" Target="../media/image94.png" /><ns0:Relationship Id="rId7" Type="http://schemas.openxmlformats.org/officeDocument/2006/relationships/image" Target="../media/image98.png" /><ns0:Relationship Id="rId2" Type="http://schemas.openxmlformats.org/officeDocument/2006/relationships/image" Target="../media/image93.png" /><ns0:Relationship Id="rId1" Type="http://schemas.openxmlformats.org/officeDocument/2006/relationships/slideLayout" Target="../slideLayouts/slideLayout1.xml" /><ns0:Relationship Id="rId6" Type="http://schemas.openxmlformats.org/officeDocument/2006/relationships/image" Target="../media/image97.png" /><ns0:Relationship Id="rId5" Type="http://schemas.openxmlformats.org/officeDocument/2006/relationships/image" Target="../media/image96.png" /><ns0:Relationship Id="rId4" Type="http://schemas.openxmlformats.org/officeDocument/2006/relationships/image" Target="../media/image95.png" /></ns0:Relationships>
</file>

<file path=ppt/c6/ppt/slides/_rels/slide19.xml.rels><?xml version='1.0' encoding='utf-8'?>
<ns0:Relationships xmlns:ns0="http://schemas.openxmlformats.org/package/2006/relationships"><ns0:Relationship Id="rId3" Type="http://schemas.openxmlformats.org/officeDocument/2006/relationships/image" Target="../media/image100.png" /><ns0:Relationship Id="rId2" Type="http://schemas.openxmlformats.org/officeDocument/2006/relationships/image" Target="../media/image99.png" /><ns0:Relationship Id="rId1" Type="http://schemas.openxmlformats.org/officeDocument/2006/relationships/slideLayout" Target="../slideLayouts/slideLayout1.xml" /><ns0:Relationship Id="rId6" Type="http://schemas.openxmlformats.org/officeDocument/2006/relationships/image" Target="../media/image103.png" /><ns0:Relationship Id="rId5" Type="http://schemas.openxmlformats.org/officeDocument/2006/relationships/image" Target="../media/image102.png" /><ns0:Relationship Id="rId4" Type="http://schemas.openxmlformats.org/officeDocument/2006/relationships/image" Target="../media/image101.png" /></ns0:Relationships>
</file>

<file path=ppt/c6/ppt/slides/_rels/slide20.xml.rels><?xml version='1.0' encoding='utf-8'?>
<ns0:Relationships xmlns:ns0="http://schemas.openxmlformats.org/package/2006/relationships"><ns0:Relationship Id="rId8" Type="http://schemas.openxmlformats.org/officeDocument/2006/relationships/image" Target="../media/image110.png" /><ns0:Relationship Id="rId13" Type="http://schemas.openxmlformats.org/officeDocument/2006/relationships/image" Target="../media/image115.png" /><ns0:Relationship Id="rId18" Type="http://schemas.openxmlformats.org/officeDocument/2006/relationships/image" Target="../media/image120.png" /><ns0:Relationship Id="rId3" Type="http://schemas.openxmlformats.org/officeDocument/2006/relationships/image" Target="../media/image105.png" /><ns0:Relationship Id="rId7" Type="http://schemas.openxmlformats.org/officeDocument/2006/relationships/image" Target="../media/image109.png" /><ns0:Relationship Id="rId12" Type="http://schemas.openxmlformats.org/officeDocument/2006/relationships/image" Target="../media/image114.png" /><ns0:Relationship Id="rId17" Type="http://schemas.openxmlformats.org/officeDocument/2006/relationships/image" Target="../media/image119.png" /><ns0:Relationship Id="rId2" Type="http://schemas.openxmlformats.org/officeDocument/2006/relationships/image" Target="../media/image104.png" /><ns0:Relationship Id="rId16" Type="http://schemas.openxmlformats.org/officeDocument/2006/relationships/image" Target="../media/image118.png" /><ns0:Relationship Id="rId1" Type="http://schemas.openxmlformats.org/officeDocument/2006/relationships/slideLayout" Target="../slideLayouts/slideLayout1.xml" /><ns0:Relationship Id="rId6" Type="http://schemas.openxmlformats.org/officeDocument/2006/relationships/image" Target="../media/image108.png" /><ns0:Relationship Id="rId11" Type="http://schemas.openxmlformats.org/officeDocument/2006/relationships/image" Target="../media/image113.png" /><ns0:Relationship Id="rId5" Type="http://schemas.openxmlformats.org/officeDocument/2006/relationships/image" Target="../media/image107.png" /><ns0:Relationship Id="rId15" Type="http://schemas.openxmlformats.org/officeDocument/2006/relationships/image" Target="../media/image117.png" /><ns0:Relationship Id="rId10" Type="http://schemas.openxmlformats.org/officeDocument/2006/relationships/image" Target="../media/image112.png" /><ns0:Relationship Id="rId19" Type="http://schemas.openxmlformats.org/officeDocument/2006/relationships/image" Target="../media/image121.png" /><ns0:Relationship Id="rId4" Type="http://schemas.openxmlformats.org/officeDocument/2006/relationships/image" Target="../media/image106.png" /><ns0:Relationship Id="rId9" Type="http://schemas.openxmlformats.org/officeDocument/2006/relationships/image" Target="../media/image111.png" /><ns0:Relationship Id="rId14" Type="http://schemas.openxmlformats.org/officeDocument/2006/relationships/image" Target="../media/image116.png" /></ns0:Relationships>
</file>

<file path=ppt/c6/ppt/slides/_rels/slide21.xml.rels><?xml version='1.0' encoding='utf-8'?>
<ns0:Relationships xmlns:ns0="http://schemas.openxmlformats.org/package/2006/relationships"><ns0:Relationship Id="rId3" Type="http://schemas.openxmlformats.org/officeDocument/2006/relationships/image" Target="../media/image123.png" /><ns0:Relationship Id="rId2" Type="http://schemas.openxmlformats.org/officeDocument/2006/relationships/image" Target="../media/image122.png" /><ns0:Relationship Id="rId1" Type="http://schemas.openxmlformats.org/officeDocument/2006/relationships/slideLayout" Target="../slideLayouts/slideLayout1.xml" /></ns0:Relationships>
</file>

<file path=ppt/c6/ppt/slides/_rels/slide22.xml.rels><?xml version='1.0' encoding='utf-8'?>
<ns0:Relationships xmlns:ns0="http://schemas.openxmlformats.org/package/2006/relationships"><ns0:Relationship Id="rId3" Type="http://schemas.openxmlformats.org/officeDocument/2006/relationships/image" Target="../media/image125.png" /><ns0:Relationship Id="rId2" Type="http://schemas.openxmlformats.org/officeDocument/2006/relationships/image" Target="../media/image124.png" /><ns0:Relationship Id="rId1" Type="http://schemas.openxmlformats.org/officeDocument/2006/relationships/slideLayout" Target="../slideLayouts/slideLayout1.xml" /><ns0:Relationship Id="rId5" Type="http://schemas.openxmlformats.org/officeDocument/2006/relationships/image" Target="../media/image127.png" /><ns0:Relationship Id="rId4" Type="http://schemas.openxmlformats.org/officeDocument/2006/relationships/image" Target="../media/image126.png" /></ns0:Relationships>
</file>

<file path=ppt/c6/ppt/slides/_rels/slide23.xml.rels><?xml version='1.0' encoding='utf-8'?>
<ns0:Relationships xmlns:ns0="http://schemas.openxmlformats.org/package/2006/relationships"><ns0:Relationship Id="rId3" Type="http://schemas.openxmlformats.org/officeDocument/2006/relationships/image" Target="../media/image129.png" /><ns0:Relationship Id="rId2" Type="http://schemas.openxmlformats.org/officeDocument/2006/relationships/image" Target="../media/image128.png" /><ns0:Relationship Id="rId1" Type="http://schemas.openxmlformats.org/officeDocument/2006/relationships/slideLayout" Target="../slideLayouts/slideLayout1.xml" /><ns0:Relationship Id="rId4" Type="http://schemas.openxmlformats.org/officeDocument/2006/relationships/image" Target="../media/image130.png" /></ns0:Relationships>
</file>

<file path=ppt/c6/ppt/slides/_rels/slide24.xml.rels><?xml version='1.0' encoding='utf-8'?>
<ns0:Relationships xmlns:ns0="http://schemas.openxmlformats.org/package/2006/relationships"><ns0:Relationship Id="rId8" Type="http://schemas.openxmlformats.org/officeDocument/2006/relationships/image" Target="../media/image137.png" /><ns0:Relationship Id="rId3" Type="http://schemas.openxmlformats.org/officeDocument/2006/relationships/image" Target="../media/image132.png" /><ns0:Relationship Id="rId7" Type="http://schemas.openxmlformats.org/officeDocument/2006/relationships/image" Target="../media/image136.png" /><ns0:Relationship Id="rId2" Type="http://schemas.openxmlformats.org/officeDocument/2006/relationships/image" Target="../media/image131.png" /><ns0:Relationship Id="rId1" Type="http://schemas.openxmlformats.org/officeDocument/2006/relationships/slideLayout" Target="../slideLayouts/slideLayout1.xml" /><ns0:Relationship Id="rId6" Type="http://schemas.openxmlformats.org/officeDocument/2006/relationships/image" Target="../media/image135.png" /><ns0:Relationship Id="rId5" Type="http://schemas.openxmlformats.org/officeDocument/2006/relationships/image" Target="../media/image134.png" /><ns0:Relationship Id="rId10" Type="http://schemas.openxmlformats.org/officeDocument/2006/relationships/image" Target="../media/image139.png" /><ns0:Relationship Id="rId4" Type="http://schemas.openxmlformats.org/officeDocument/2006/relationships/image" Target="../media/image133.png" /><ns0:Relationship Id="rId9" Type="http://schemas.openxmlformats.org/officeDocument/2006/relationships/image" Target="../media/image138.png" /></ns0:Relationships>
</file>

<file path=ppt/c6/ppt/slides/_rels/slide25.xml.rels><?xml version='1.0' encoding='utf-8'?>
<ns0:Relationships xmlns:ns0="http://schemas.openxmlformats.org/package/2006/relationships"><ns0:Relationship Id="rId1" Type="http://schemas.openxmlformats.org/officeDocument/2006/relationships/slideLayout" Target="../slideLayouts/slideLayout1.xml" /></ns0:Relationships>
</file>

<file path=ppt/c6/ppt/slides/_rels/slide26.xml.rels><?xml version='1.0' encoding='utf-8'?>
<ns0:Relationships xmlns:ns0="http://schemas.openxmlformats.org/package/2006/relationships"><ns0:Relationship Id="rId8" Type="http://schemas.openxmlformats.org/officeDocument/2006/relationships/image" Target="../media/image146.png" /><ns0:Relationship Id="rId3" Type="http://schemas.openxmlformats.org/officeDocument/2006/relationships/image" Target="../media/image141.png" /><ns0:Relationship Id="rId7" Type="http://schemas.openxmlformats.org/officeDocument/2006/relationships/image" Target="../media/image145.png" /><ns0:Relationship Id="rId2" Type="http://schemas.openxmlformats.org/officeDocument/2006/relationships/image" Target="../media/image140.png" /><ns0:Relationship Id="rId1" Type="http://schemas.openxmlformats.org/officeDocument/2006/relationships/slideLayout" Target="../slideLayouts/slideLayout1.xml" /><ns0:Relationship Id="rId6" Type="http://schemas.openxmlformats.org/officeDocument/2006/relationships/image" Target="../media/image144.png" /><ns0:Relationship Id="rId5" Type="http://schemas.openxmlformats.org/officeDocument/2006/relationships/image" Target="../media/image143.png" /><ns0:Relationship Id="rId4" Type="http://schemas.openxmlformats.org/officeDocument/2006/relationships/image" Target="../media/image142.png" /></ns0:Relationships>
</file>

<file path=ppt/c6/ppt/slides/_rels/slide27.xml.rels><?xml version='1.0' encoding='utf-8'?>
<ns0:Relationships xmlns:ns0="http://schemas.openxmlformats.org/package/2006/relationships"><ns0:Relationship Id="rId8" Type="http://schemas.openxmlformats.org/officeDocument/2006/relationships/image" Target="../media/image153.png" /><ns0:Relationship Id="rId3" Type="http://schemas.openxmlformats.org/officeDocument/2006/relationships/image" Target="../media/image148.png" /><ns0:Relationship Id="rId7" Type="http://schemas.openxmlformats.org/officeDocument/2006/relationships/image" Target="../media/image152.png" /><ns0:Relationship Id="rId2" Type="http://schemas.openxmlformats.org/officeDocument/2006/relationships/image" Target="../media/image147.png" /><ns0:Relationship Id="rId1" Type="http://schemas.openxmlformats.org/officeDocument/2006/relationships/slideLayout" Target="../slideLayouts/slideLayout1.xml" /><ns0:Relationship Id="rId6" Type="http://schemas.openxmlformats.org/officeDocument/2006/relationships/image" Target="../media/image151.png" /><ns0:Relationship Id="rId11" Type="http://schemas.openxmlformats.org/officeDocument/2006/relationships/image" Target="../media/image156.png" /><ns0:Relationship Id="rId5" Type="http://schemas.openxmlformats.org/officeDocument/2006/relationships/image" Target="../media/image150.png" /><ns0:Relationship Id="rId10" Type="http://schemas.openxmlformats.org/officeDocument/2006/relationships/image" Target="../media/image155.png" /><ns0:Relationship Id="rId4" Type="http://schemas.openxmlformats.org/officeDocument/2006/relationships/image" Target="../media/image149.png" /><ns0:Relationship Id="rId9" Type="http://schemas.openxmlformats.org/officeDocument/2006/relationships/image" Target="../media/image154.png" /></ns0:Relationships>
</file>

<file path=ppt/c6/ppt/slides/_rels/slide28.xml.rels><?xml version='1.0' encoding='utf-8'?>
<ns0:Relationships xmlns:ns0="http://schemas.openxmlformats.org/package/2006/relationships"><ns0:Relationship Id="rId3" Type="http://schemas.openxmlformats.org/officeDocument/2006/relationships/image" Target="../media/image158.png" /><ns0:Relationship Id="rId2" Type="http://schemas.openxmlformats.org/officeDocument/2006/relationships/image" Target="../media/image157.png" /><ns0:Relationship Id="rId1" Type="http://schemas.openxmlformats.org/officeDocument/2006/relationships/slideLayout" Target="../slideLayouts/slideLayout1.xml" /><ns0:Relationship Id="rId5" Type="http://schemas.openxmlformats.org/officeDocument/2006/relationships/image" Target="../media/image160.png" /><ns0:Relationship Id="rId4" Type="http://schemas.openxmlformats.org/officeDocument/2006/relationships/image" Target="../media/image159.png" /></ns0:Relationships>
</file>

<file path=ppt/c6/ppt/slides/_rels/slide29.xml.rels><?xml version='1.0' encoding='utf-8'?>
<ns0:Relationships xmlns:ns0="http://schemas.openxmlformats.org/package/2006/relationships"><ns0:Relationship Id="rId3" Type="http://schemas.openxmlformats.org/officeDocument/2006/relationships/image" Target="../media/image162.png" /><ns0:Relationship Id="rId2" Type="http://schemas.openxmlformats.org/officeDocument/2006/relationships/image" Target="../media/image161.png" /><ns0:Relationship Id="rId1" Type="http://schemas.openxmlformats.org/officeDocument/2006/relationships/slideLayout" Target="../slideLayouts/slideLayout1.xml" /><ns0:Relationship Id="rId6" Type="http://schemas.openxmlformats.org/officeDocument/2006/relationships/image" Target="../media/image165.png" /><ns0:Relationship Id="rId5" Type="http://schemas.openxmlformats.org/officeDocument/2006/relationships/image" Target="../media/image164.png" /><ns0:Relationship Id="rId4" Type="http://schemas.openxmlformats.org/officeDocument/2006/relationships/image" Target="../media/image163.png" /></ns0:Relationships>
</file>

<file path=ppt/c6/ppt/slides/_rels/slide30.xml.rels><?xml version='1.0' encoding='utf-8'?>
<ns0:Relationships xmlns:ns0="http://schemas.openxmlformats.org/package/2006/relationships"><ns0:Relationship Id="rId3" Type="http://schemas.openxmlformats.org/officeDocument/2006/relationships/image" Target="../media/image167.png" /><ns0:Relationship Id="rId2" Type="http://schemas.openxmlformats.org/officeDocument/2006/relationships/image" Target="../media/image166.png" /><ns0:Relationship Id="rId1" Type="http://schemas.openxmlformats.org/officeDocument/2006/relationships/slideLayout" Target="../slideLayouts/slideLayout1.xml" /><ns0:Relationship Id="rId5" Type="http://schemas.openxmlformats.org/officeDocument/2006/relationships/image" Target="../media/image169.png" /><ns0:Relationship Id="rId4" Type="http://schemas.openxmlformats.org/officeDocument/2006/relationships/image" Target="../media/image168.png" /></ns0:Relationships>
</file>

<file path=ppt/c6/ppt/slides/_rels/slide31.xml.rels><?xml version='1.0' encoding='utf-8'?>
<ns0:Relationships xmlns:ns0="http://schemas.openxmlformats.org/package/2006/relationships"><ns0:Relationship Id="rId3" Type="http://schemas.openxmlformats.org/officeDocument/2006/relationships/image" Target="../media/image171.png" /><ns0:Relationship Id="rId2" Type="http://schemas.openxmlformats.org/officeDocument/2006/relationships/image" Target="../media/image170.png" /><ns0:Relationship Id="rId1" Type="http://schemas.openxmlformats.org/officeDocument/2006/relationships/slideLayout" Target="../slideLayouts/slideLayout1.xml" /><ns0:Relationship Id="rId4" Type="http://schemas.openxmlformats.org/officeDocument/2006/relationships/image" Target="../media/image172.png" /></ns0:Relationships>
</file>

<file path=ppt/c6/ppt/slides/_rels/slide32.xml.rels><?xml version='1.0' encoding='utf-8'?>
<ns0:Relationships xmlns:ns0="http://schemas.openxmlformats.org/package/2006/relationships"><ns0:Relationship Id="rId3" Type="http://schemas.openxmlformats.org/officeDocument/2006/relationships/image" Target="../media/image174.png" /><ns0:Relationship Id="rId2" Type="http://schemas.openxmlformats.org/officeDocument/2006/relationships/image" Target="../media/image173.png" /><ns0:Relationship Id="rId1" Type="http://schemas.openxmlformats.org/officeDocument/2006/relationships/slideLayout" Target="../slideLayouts/slideLayout1.xml" /></ns0:Relationships>
</file>

<file path=ppt/c6/ppt/slides/_rels/slide33.xml.rels><?xml version='1.0' encoding='utf-8'?>
<ns0:Relationships xmlns:ns0="http://schemas.openxmlformats.org/package/2006/relationships"><ns0:Relationship Id="rId2" Type="http://schemas.openxmlformats.org/officeDocument/2006/relationships/image" Target="../media/image175.png" /><ns0:Relationship Id="rId1" Type="http://schemas.openxmlformats.org/officeDocument/2006/relationships/slideLayout" Target="../slideLayouts/slideLayout1.xml" /></ns0:Relationships>
</file>

<file path=ppt/c6/ppt/slides/_rels/slide34.xml.rels><?xml version='1.0' encoding='utf-8'?>
<ns0:Relationships xmlns:ns0="http://schemas.openxmlformats.org/package/2006/relationships"><ns0:Relationship Id="rId1" Type="http://schemas.openxmlformats.org/officeDocument/2006/relationships/slideLayout" Target="../slideLayouts/slideLayout1.xml" /></ns0:Relationships>
</file>

<file path=ppt/c6/ppt/slides/_rels/slide35.xml.rels><?xml version='1.0' encoding='utf-8'?>
<ns0:Relationships xmlns:ns0="http://schemas.openxmlformats.org/package/2006/relationships"><ns0:Relationship Id="rId3" Type="http://schemas.openxmlformats.org/officeDocument/2006/relationships/image" Target="../media/image177.png" /><ns0:Relationship Id="rId2" Type="http://schemas.openxmlformats.org/officeDocument/2006/relationships/image" Target="../media/image176.png" /><ns0:Relationship Id="rId1" Type="http://schemas.openxmlformats.org/officeDocument/2006/relationships/slideLayout" Target="../slideLayouts/slideLayout1.xml" /><ns0:Relationship Id="rId5" Type="http://schemas.openxmlformats.org/officeDocument/2006/relationships/image" Target="../media/image179.png" /><ns0:Relationship Id="rId4" Type="http://schemas.openxmlformats.org/officeDocument/2006/relationships/image" Target="../media/image178.png" /></ns0:Relationships>
</file>

<file path=ppt/c6/ppt/slides/_rels/slide36.xml.rels><?xml version='1.0' encoding='utf-8'?>
<ns0:Relationships xmlns:ns0="http://schemas.openxmlformats.org/package/2006/relationships"><ns0:Relationship Id="rId8" Type="http://schemas.openxmlformats.org/officeDocument/2006/relationships/image" Target="../media/image186.png" /><ns0:Relationship Id="rId3" Type="http://schemas.openxmlformats.org/officeDocument/2006/relationships/image" Target="../media/image181.png" /><ns0:Relationship Id="rId7" Type="http://schemas.openxmlformats.org/officeDocument/2006/relationships/image" Target="../media/image185.png" /><ns0:Relationship Id="rId2" Type="http://schemas.openxmlformats.org/officeDocument/2006/relationships/image" Target="../media/image180.png" /><ns0:Relationship Id="rId1" Type="http://schemas.openxmlformats.org/officeDocument/2006/relationships/slideLayout" Target="../slideLayouts/slideLayout1.xml" /><ns0:Relationship Id="rId6" Type="http://schemas.openxmlformats.org/officeDocument/2006/relationships/image" Target="../media/image184.png" /><ns0:Relationship Id="rId5" Type="http://schemas.openxmlformats.org/officeDocument/2006/relationships/image" Target="../media/image183.png" /><ns0:Relationship Id="rId4" Type="http://schemas.openxmlformats.org/officeDocument/2006/relationships/image" Target="../media/image182.png" /></ns0:Relationships>
</file>

<file path=ppt/c6/ppt/slides/_rels/slide37.xml.rels><?xml version='1.0' encoding='utf-8'?>
<ns0:Relationships xmlns:ns0="http://schemas.openxmlformats.org/package/2006/relationships"><ns0:Relationship Id="rId3" Type="http://schemas.openxmlformats.org/officeDocument/2006/relationships/image" Target="../media/image188.png" /><ns0:Relationship Id="rId2" Type="http://schemas.openxmlformats.org/officeDocument/2006/relationships/image" Target="../media/image187.png" /><ns0:Relationship Id="rId1" Type="http://schemas.openxmlformats.org/officeDocument/2006/relationships/slideLayout" Target="../slideLayouts/slideLayout1.xml" /><ns0:Relationship Id="rId6" Type="http://schemas.openxmlformats.org/officeDocument/2006/relationships/image" Target="../media/image191.png" /><ns0:Relationship Id="rId5" Type="http://schemas.openxmlformats.org/officeDocument/2006/relationships/image" Target="../media/image190.png" /><ns0:Relationship Id="rId4" Type="http://schemas.openxmlformats.org/officeDocument/2006/relationships/image" Target="../media/image189.png" /></ns0:Relationships>
</file>

<file path=ppt/c6/ppt/slides/_rels/slide38.xml.rels><?xml version='1.0' encoding='utf-8'?>
<ns0:Relationships xmlns:ns0="http://schemas.openxmlformats.org/package/2006/relationships"><ns0:Relationship Id="rId3" Type="http://schemas.openxmlformats.org/officeDocument/2006/relationships/image" Target="../media/image193.png" /><ns0:Relationship Id="rId2" Type="http://schemas.openxmlformats.org/officeDocument/2006/relationships/image" Target="../media/image192.png" /><ns0:Relationship Id="rId1" Type="http://schemas.openxmlformats.org/officeDocument/2006/relationships/slideLayout" Target="../slideLayouts/slideLayout1.xml" /><ns0:Relationship Id="rId5" Type="http://schemas.openxmlformats.org/officeDocument/2006/relationships/image" Target="../media/image195.png" /><ns0:Relationship Id="rId4" Type="http://schemas.openxmlformats.org/officeDocument/2006/relationships/image" Target="../media/image194.png" /></ns0:Relationships>
</file>

<file path=ppt/c6/ppt/slides/_rels/slide39.xml.rels><?xml version='1.0' encoding='utf-8'?>
<ns0:Relationships xmlns:ns0="http://schemas.openxmlformats.org/package/2006/relationships"><ns0:Relationship Id="rId3" Type="http://schemas.openxmlformats.org/officeDocument/2006/relationships/image" Target="../media/image197.png" /><ns0:Relationship Id="rId2" Type="http://schemas.openxmlformats.org/officeDocument/2006/relationships/image" Target="../media/image196.png" /><ns0:Relationship Id="rId1" Type="http://schemas.openxmlformats.org/officeDocument/2006/relationships/slideLayout" Target="../slideLayouts/slideLayout1.xml" /></ns0:Relationships>
</file>

<file path=ppt/c6/ppt/slides/_rels/slide40.xml.rels><?xml version='1.0' encoding='utf-8'?>
<ns0:Relationships xmlns:ns0="http://schemas.openxmlformats.org/package/2006/relationships"><ns0:Relationship Id="rId2" Type="http://schemas.openxmlformats.org/officeDocument/2006/relationships/image" Target="../media/image198.png" /><ns0:Relationship Id="rId1" Type="http://schemas.openxmlformats.org/officeDocument/2006/relationships/slideLayout" Target="../slideLayouts/slideLayout1.xml" /></ns0:Relationships>
</file>

<file path=ppt/c6/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0" y="1"/>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a:t>Midpoints and Perpendicular Bisectors</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p:sp>
        <p:nvSpPr>
          <p:cNvPr id="5" name="TextBox 4"/>
          <p:cNvSpPr txBox="1"/>
          <p:nvPr/>
        </p:nvSpPr>
        <p:spPr>
          <a:xfrm>
            <a:off x="1890961" y="861096"/>
            <a:ext cx="4608512" cy="646331"/>
          </a:xfrm>
          <a:prstGeom prst="rect">
            <a:avLst/>
          </a:prstGeom>
          <a:noFill/>
        </p:spPr>
        <p:txBody>
          <a:bodyPr wrap="square" rtlCol="0">
            <a:spAutoFit/>
          </a:bodyPr>
          <a:lstStyle/>
          <a:p>
            <a:r>
              <a:rPr lang="en-GB"/>
              <a:t>Later in the chapter you will need to find the perpendicular bisector of a chord of a circle.</a:t>
            </a:r>
          </a:p>
        </p:txBody>
      </p:sp>
      <p:sp>
        <p:nvSpPr>
          <p:cNvPr id="6" name="Oval 5"/>
          <p:cNvSpPr/>
          <p:nvPr/>
        </p:nvSpPr>
        <p:spPr>
          <a:xfrm>
            <a:off x="7896200" y="908720"/>
            <a:ext cx="1224136" cy="1224136"/>
          </a:xfrm>
          <a:prstGeom prst="ellipse">
            <a:avLst/>
          </a:prstGeom>
          <a:ln w="3175"/>
        </p:spPr>
        <p:style>
          <a:lnRef idx="2">
            <a:schemeClr val="dk1"/>
          </a:lnRef>
          <a:fillRef idx="1">
            <a:schemeClr val="lt1"/>
          </a:fillRef>
          <a:effectRef idx="0">
            <a:schemeClr val="dk1"/>
          </a:effectRef>
          <a:fontRef idx="minor">
            <a:schemeClr val="dk1"/>
          </a:fontRef>
        </p:style>
        <p:txBody>
          <a:bodyPr rtlCol="0" anchor="ctr"/>
          <a:lstStyle/>
          <a:p>
            <a:pPr algn="ctr"/>
            <a:endParaRPr lang="en-GB"/>
          </a:p>
        </p:txBody>
      </p:sp>
      <p:cxnSp>
        <p:nvCxnSpPr>
          <p:cNvPr id="8" name="Straight Connector 7"/>
          <p:cNvCxnSpPr/>
          <p:nvPr/>
        </p:nvCxnSpPr>
        <p:spPr>
          <a:xfrm>
            <a:off x="8796338" y="981075"/>
            <a:ext cx="171450" cy="952500"/>
          </a:xfrm>
          <a:prstGeom prst="line">
            <a:avLst/>
          </a:prstGeom>
          <a:ln w="19050">
            <a:solidFill>
              <a:schemeClr val="accent1"/>
            </a:solidFill>
          </a:ln>
        </p:spPr>
        <p:style>
          <a:lnRef idx="1">
            <a:schemeClr val="dk1"/>
          </a:lnRef>
          <a:fillRef idx="0">
            <a:schemeClr val="dk1"/>
          </a:fillRef>
          <a:effectRef idx="0">
            <a:schemeClr val="dk1"/>
          </a:effectRef>
          <a:fontRef idx="minor">
            <a:schemeClr val="tx1"/>
          </a:fontRef>
        </p:style>
      </p:cxnSp>
      <p:cxnSp>
        <p:nvCxnSpPr>
          <p:cNvPr id="11" name="Straight Connector 10"/>
          <p:cNvCxnSpPr/>
          <p:nvPr/>
        </p:nvCxnSpPr>
        <p:spPr>
          <a:xfrm flipV="1">
            <a:off x="7724775" y="1371600"/>
            <a:ext cx="1771650" cy="276226"/>
          </a:xfrm>
          <a:prstGeom prst="line">
            <a:avLst/>
          </a:prstGeom>
          <a:ln w="9525">
            <a:solidFill>
              <a:schemeClr val="accent6"/>
            </a:solidFill>
          </a:ln>
        </p:spPr>
        <p:style>
          <a:lnRef idx="1">
            <a:schemeClr val="dk1"/>
          </a:lnRef>
          <a:fillRef idx="0">
            <a:schemeClr val="dk1"/>
          </a:fillRef>
          <a:effectRef idx="0">
            <a:schemeClr val="dk1"/>
          </a:effectRef>
          <a:fontRef idx="minor">
            <a:schemeClr val="tx1"/>
          </a:fontRef>
        </p:style>
      </p:cxnSp>
      <p:cxnSp>
        <p:nvCxnSpPr>
          <p:cNvPr id="14" name="Straight Connector 13"/>
          <p:cNvCxnSpPr/>
          <p:nvPr/>
        </p:nvCxnSpPr>
        <p:spPr>
          <a:xfrm flipV="1">
            <a:off x="8877301" y="1376364"/>
            <a:ext cx="66675" cy="14287"/>
          </a:xfrm>
          <a:prstGeom prst="line">
            <a:avLst/>
          </a:prstGeom>
          <a:ln w="9525"/>
        </p:spPr>
        <p:style>
          <a:lnRef idx="1">
            <a:schemeClr val="dk1"/>
          </a:lnRef>
          <a:fillRef idx="0">
            <a:schemeClr val="dk1"/>
          </a:fillRef>
          <a:effectRef idx="0">
            <a:schemeClr val="dk1"/>
          </a:effectRef>
          <a:fontRef idx="minor">
            <a:schemeClr val="tx1"/>
          </a:fontRef>
        </p:style>
      </p:cxnSp>
      <p:cxnSp>
        <p:nvCxnSpPr>
          <p:cNvPr id="17" name="Straight Connector 16"/>
          <p:cNvCxnSpPr/>
          <p:nvPr/>
        </p:nvCxnSpPr>
        <p:spPr>
          <a:xfrm flipH="1" flipV="1">
            <a:off x="8943977" y="1377950"/>
            <a:ext cx="12699" cy="69850"/>
          </a:xfrm>
          <a:prstGeom prst="line">
            <a:avLst/>
          </a:prstGeom>
          <a:ln w="9525"/>
        </p:spPr>
        <p:style>
          <a:lnRef idx="1">
            <a:schemeClr val="dk1"/>
          </a:lnRef>
          <a:fillRef idx="0">
            <a:schemeClr val="dk1"/>
          </a:fillRef>
          <a:effectRef idx="0">
            <a:schemeClr val="dk1"/>
          </a:effectRef>
          <a:fontRef idx="minor">
            <a:schemeClr val="tx1"/>
          </a:fontRef>
        </p:style>
      </p:cxnSp>
      <p:sp>
        <p:nvSpPr>
          <p:cNvPr id="20" name="TextBox 19"/>
          <p:cNvSpPr txBox="1"/>
          <p:nvPr/>
        </p:nvSpPr>
        <p:spPr>
          <a:xfrm>
            <a:off x="9125099" y="1871246"/>
            <a:ext cx="792088" cy="230832"/>
          </a:xfrm>
          <a:prstGeom prst="rect">
            <a:avLst/>
          </a:prstGeom>
          <a:noFill/>
        </p:spPr>
        <p:txBody>
          <a:bodyPr wrap="square" rtlCol="0">
            <a:spAutoFit/>
          </a:bodyPr>
          <a:lstStyle/>
          <a:p>
            <a:pPr algn="ctr"/>
            <a:r>
              <a:rPr lang="en-GB" sz="900"/>
              <a:t>chord</a:t>
            </a:r>
          </a:p>
        </p:txBody>
      </p:sp>
      <p:sp>
        <p:nvSpPr>
          <p:cNvPr id="21" name="TextBox 20"/>
          <p:cNvSpPr txBox="1"/>
          <p:nvPr/>
        </p:nvSpPr>
        <p:spPr>
          <a:xfrm>
            <a:off x="8084048" y="2204502"/>
            <a:ext cx="1137847" cy="369332"/>
          </a:xfrm>
          <a:prstGeom prst="rect">
            <a:avLst/>
          </a:prstGeom>
          <a:noFill/>
        </p:spPr>
        <p:txBody>
          <a:bodyPr wrap="square" rtlCol="0">
            <a:spAutoFit/>
          </a:bodyPr>
          <a:lstStyle/>
          <a:p>
            <a:pPr algn="ctr"/>
            <a:r>
              <a:rPr lang="en-GB" sz="900"/>
              <a:t>perpendicular bisector</a:t>
            </a:r>
          </a:p>
        </p:txBody>
      </p:sp>
      <p:cxnSp>
        <p:nvCxnSpPr>
          <p:cNvPr id="23" name="Straight Arrow Connector 22"/>
          <p:cNvCxnSpPr/>
          <p:nvPr/>
        </p:nvCxnSpPr>
        <p:spPr>
          <a:xfrm flipV="1">
            <a:off x="8472264" y="1538288"/>
            <a:ext cx="209774" cy="714330"/>
          </a:xfrm>
          <a:prstGeom prst="straightConnector1">
            <a:avLst/>
          </a:prstGeom>
          <a:ln>
            <a:prstDash val="dash"/>
            <a:tailEnd type="triangle"/>
          </a:ln>
        </p:spPr>
        <p:style>
          <a:lnRef idx="1">
            <a:schemeClr val="accent6"/>
          </a:lnRef>
          <a:fillRef idx="0">
            <a:schemeClr val="accent6"/>
          </a:fillRef>
          <a:effectRef idx="0">
            <a:schemeClr val="accent6"/>
          </a:effectRef>
          <a:fontRef idx="minor">
            <a:schemeClr val="tx1"/>
          </a:fontRef>
        </p:style>
      </p:cxnSp>
      <p:cxnSp>
        <p:nvCxnSpPr>
          <p:cNvPr id="24" name="Straight Arrow Connector 23"/>
          <p:cNvCxnSpPr/>
          <p:nvPr/>
        </p:nvCxnSpPr>
        <p:spPr>
          <a:xfrm flipH="1" flipV="1">
            <a:off x="8972550" y="1657351"/>
            <a:ext cx="547688" cy="261939"/>
          </a:xfrm>
          <a:prstGeom prst="straightConnector1">
            <a:avLst/>
          </a:prstGeom>
          <a:ln>
            <a:prstDash val="dash"/>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29" name="TextBox 28"/>
              <p:cNvSpPr txBox="1"/>
              <p:nvPr/>
            </p:nvSpPr>
            <p:spPr>
              <a:xfrm>
                <a:off x="2582540" y="1777320"/>
                <a:ext cx="5043897" cy="707886"/>
              </a:xfrm>
              <a:prstGeom prst="rect">
                <a:avLst/>
              </a:prstGeom>
              <a:noFill/>
            </p:spPr>
            <p:txBody>
              <a:bodyPr wrap="square" rtlCol="0">
                <a:spAutoFit/>
              </a:bodyPr>
              <a:lstStyle/>
              <a:p>
                <a:r>
                  <a:rPr lang="en-GB" sz="2000" b="1"/>
                  <a:t>What two properties does a perpendicular bisector of two points </a:t>
                </a:r>
                <a14:m>
                  <m:oMath xmlns:m="http://schemas.openxmlformats.org/officeDocument/2006/math">
                    <m:r>
                      <a:rPr lang="en-GB" sz="2000" b="1" i="1">
                        <a:latin typeface="Cambria Math" panose="02040503050406030204" pitchFamily="18" charset="0"/>
                      </a:rPr>
                      <m:t>𝑨</m:t>
                    </m:r>
                  </m:oMath>
                </a14:m>
                <a:r>
                  <a:rPr lang="en-GB" sz="2000" b="1"/>
                  <a:t> and </a:t>
                </a:r>
                <a14:m>
                  <m:oMath xmlns:m="http://schemas.openxmlformats.org/officeDocument/2006/math">
                    <m:r>
                      <a:rPr lang="en-GB" sz="2000" b="1" i="1">
                        <a:latin typeface="Cambria Math" panose="02040503050406030204" pitchFamily="18" charset="0"/>
                      </a:rPr>
                      <m:t>𝑩</m:t>
                    </m:r>
                  </m:oMath>
                </a14:m>
                <a:r>
                  <a:rPr lang="en-GB" sz="2000" b="1"/>
                  <a:t> have?</a:t>
                </a:r>
              </a:p>
            </p:txBody>
          </p:sp>
        </mc:Choice>
        <mc:Fallback>
          <p:sp>
            <p:nvSpPr>
              <p:cNvPr id="29" name="TextBox 28"/>
              <p:cNvSpPr txBox="1">
                <a:spLocks noRot="1" noChangeAspect="1" noMove="1" noResize="1" noEditPoints="1" noAdjustHandles="1" noChangeArrowheads="1" noChangeShapeType="1" noTextEdit="1"/>
              </p:cNvSpPr>
              <p:nvPr/>
            </p:nvSpPr>
            <p:spPr>
              <a:xfrm>
                <a:off x="2582540" y="1777320"/>
                <a:ext cx="5043897" cy="707886"/>
              </a:xfrm>
              <a:prstGeom prst="rect">
                <a:avLst/>
              </a:prstGeom>
              <a:blipFill>
                <a:blip r:embed="rId2"/>
                <a:stretch>
                  <a:fillRect l="-1256" t="-5357" b="-16071"/>
                </a:stretch>
              </a:blipFill>
            </p:spPr>
            <p:txBody>
              <a:bodyPr/>
              <a:lstStyle/>
              <a:p>
                <a:r>
                  <a:rPr lang="en-US">
                    <a:noFill/>
                  </a:rPr>
                  <a:t> </a:t>
                </a:r>
              </a:p>
            </p:txBody>
          </p:sp>
        </mc:Fallback>
      </mc:AlternateContent>
      <p:sp>
        <p:nvSpPr>
          <p:cNvPr id="30" name="Oval 29"/>
          <p:cNvSpPr/>
          <p:nvPr/>
        </p:nvSpPr>
        <p:spPr>
          <a:xfrm>
            <a:off x="3503712" y="3501008"/>
            <a:ext cx="144016" cy="14401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mc:Choice xmlns:a14="http://schemas.microsoft.com/office/drawing/2010/main" Requires="a14">
          <p:sp>
            <p:nvSpPr>
              <p:cNvPr id="31" name="TextBox 30"/>
              <p:cNvSpPr txBox="1"/>
              <p:nvPr/>
            </p:nvSpPr>
            <p:spPr>
              <a:xfrm>
                <a:off x="2758480" y="3218309"/>
                <a:ext cx="432048" cy="369332"/>
              </a:xfrm>
              <a:prstGeom prst="rect">
                <a:avLst/>
              </a:prstGeom>
              <a:noFill/>
            </p:spPr>
            <p:txBody>
              <a:bodyPr wrap="square" rtlCol="0">
                <a:spAutoFit/>
              </a:bodyPr>
              <a:lstStyle/>
              <a:p>
                <a:pPr/>
                <a14:m>
                  <m:oMathPara xmlns:m="http://schemas.openxmlformats.org/officeDocument/2006/math">
                    <m:oMath>
                      <m:r>
                        <a:rPr lang="en-GB" i="1">
                          <a:latin typeface="Cambria Math" panose="02040503050406030204" pitchFamily="18" charset="0"/>
                        </a:rPr>
                        <m:t>𝐴</m:t>
                      </m:r>
                      <m:d>
                        <m:dPr>
                          <m:ctrlPr>
                            <a:rPr lang="en-GB" i="1">
                              <a:latin typeface="Cambria Math" panose="02040503050406030204" pitchFamily="18" charset="0"/>
                            </a:rPr>
                          </m:ctrlPr>
                        </m:dPr>
                        <m:e>
                          <m:r>
                            <a:rPr lang="en-GB" i="1">
                              <a:latin typeface="Cambria Math" panose="02040503050406030204" pitchFamily="18" charset="0"/>
                            </a:rPr>
                            <m:t>2,5</m:t>
                          </m:r>
                        </m:e>
                      </m:d>
                    </m:oMath>
                  </m:oMathPara>
                </a14:m>
                <a:endParaRPr lang="en-GB"/>
              </a:p>
            </p:txBody>
          </p:sp>
        </mc:Choice>
        <mc:Fallback>
          <p:sp>
            <p:nvSpPr>
              <p:cNvPr id="31" name="TextBox 30"/>
              <p:cNvSpPr txBox="1">
                <a:spLocks noRot="1" noChangeAspect="1" noMove="1" noResize="1" noEditPoints="1" noAdjustHandles="1" noChangeArrowheads="1" noChangeShapeType="1" noTextEdit="1"/>
              </p:cNvSpPr>
              <p:nvPr/>
            </p:nvSpPr>
            <p:spPr>
              <a:xfrm>
                <a:off x="2758480" y="3218309"/>
                <a:ext cx="432048" cy="369332"/>
              </a:xfrm>
              <a:prstGeom prst="rect">
                <a:avLst/>
              </a:prstGeom>
              <a:blipFill>
                <a:blip r:embed="rId3"/>
                <a:stretch>
                  <a:fillRect r="-65714"/>
                </a:stretch>
              </a:blipFill>
            </p:spPr>
            <p:txBody>
              <a:bodyPr/>
              <a:lstStyle/>
              <a:p>
                <a:r>
                  <a:rPr lang="en-US">
                    <a:noFill/>
                  </a:rPr>
                  <a:t> </a:t>
                </a:r>
              </a:p>
            </p:txBody>
          </p:sp>
        </mc:Fallback>
      </mc:AlternateContent>
      <p:sp>
        <p:nvSpPr>
          <p:cNvPr id="34" name="Oval 33"/>
          <p:cNvSpPr/>
          <p:nvPr/>
        </p:nvSpPr>
        <p:spPr>
          <a:xfrm>
            <a:off x="5591944" y="3208050"/>
            <a:ext cx="144016" cy="14401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mc:Choice xmlns:a14="http://schemas.microsoft.com/office/drawing/2010/main" Requires="a14">
          <p:sp>
            <p:nvSpPr>
              <p:cNvPr id="35" name="TextBox 34"/>
              <p:cNvSpPr txBox="1"/>
              <p:nvPr/>
            </p:nvSpPr>
            <p:spPr>
              <a:xfrm>
                <a:off x="5619031" y="2910726"/>
                <a:ext cx="972269" cy="369332"/>
              </a:xfrm>
              <a:prstGeom prst="rect">
                <a:avLst/>
              </a:prstGeom>
              <a:noFill/>
            </p:spPr>
            <p:txBody>
              <a:bodyPr wrap="square" rtlCol="0">
                <a:spAutoFit/>
              </a:bodyPr>
              <a:lstStyle/>
              <a:p>
                <a:pPr/>
                <a14:m>
                  <m:oMathPara xmlns:m="http://schemas.openxmlformats.org/officeDocument/2006/math">
                    <m:oMath>
                      <m:r>
                        <a:rPr lang="en-GB" i="1">
                          <a:latin typeface="Cambria Math" panose="02040503050406030204" pitchFamily="18" charset="0"/>
                        </a:rPr>
                        <m:t>𝐵</m:t>
                      </m:r>
                      <m:d>
                        <m:dPr>
                          <m:ctrlPr>
                            <a:rPr lang="en-GB" i="1">
                              <a:latin typeface="Cambria Math" panose="02040503050406030204" pitchFamily="18" charset="0"/>
                            </a:rPr>
                          </m:ctrlPr>
                        </m:dPr>
                        <m:e>
                          <m:r>
                            <a:rPr lang="en-GB" i="1">
                              <a:latin typeface="Cambria Math" panose="02040503050406030204" pitchFamily="18" charset="0"/>
                            </a:rPr>
                            <m:t>6,7</m:t>
                          </m:r>
                        </m:e>
                      </m:d>
                    </m:oMath>
                  </m:oMathPara>
                </a14:m>
                <a:endParaRPr lang="en-GB"/>
              </a:p>
            </p:txBody>
          </p:sp>
        </mc:Choice>
        <mc:Fallback>
          <p:sp>
            <p:nvSpPr>
              <p:cNvPr id="35" name="TextBox 34"/>
              <p:cNvSpPr txBox="1">
                <a:spLocks noRot="1" noChangeAspect="1" noMove="1" noResize="1" noEditPoints="1" noAdjustHandles="1" noChangeArrowheads="1" noChangeShapeType="1" noTextEdit="1"/>
              </p:cNvSpPr>
              <p:nvPr/>
            </p:nvSpPr>
            <p:spPr>
              <a:xfrm>
                <a:off x="5619031" y="2910726"/>
                <a:ext cx="972269" cy="369332"/>
              </a:xfrm>
              <a:prstGeom prst="rect">
                <a:avLst/>
              </a:prstGeom>
              <a:blipFill>
                <a:blip r:embed="rId4"/>
                <a:stretch>
                  <a:fillRect/>
                </a:stretch>
              </a:blipFill>
            </p:spPr>
            <p:txBody>
              <a:bodyPr/>
              <a:lstStyle/>
              <a:p>
                <a:r>
                  <a:rPr lang="en-US">
                    <a:noFill/>
                  </a:rPr>
                  <a:t> </a:t>
                </a:r>
              </a:p>
            </p:txBody>
          </p:sp>
        </mc:Fallback>
      </mc:AlternateContent>
      <p:cxnSp>
        <p:nvCxnSpPr>
          <p:cNvPr id="37" name="Straight Connector 36"/>
          <p:cNvCxnSpPr/>
          <p:nvPr/>
        </p:nvCxnSpPr>
        <p:spPr>
          <a:xfrm>
            <a:off x="4545162" y="3352067"/>
            <a:ext cx="150664" cy="138847"/>
          </a:xfrm>
          <a:prstGeom prst="line">
            <a:avLst/>
          </a:prstGeom>
        </p:spPr>
        <p:style>
          <a:lnRef idx="1">
            <a:schemeClr val="dk1"/>
          </a:lnRef>
          <a:fillRef idx="0">
            <a:schemeClr val="dk1"/>
          </a:fillRef>
          <a:effectRef idx="0">
            <a:schemeClr val="dk1"/>
          </a:effectRef>
          <a:fontRef idx="minor">
            <a:schemeClr val="tx1"/>
          </a:fontRef>
        </p:style>
      </p:cxnSp>
      <p:cxnSp>
        <p:nvCxnSpPr>
          <p:cNvPr id="38" name="Straight Connector 37"/>
          <p:cNvCxnSpPr/>
          <p:nvPr/>
        </p:nvCxnSpPr>
        <p:spPr>
          <a:xfrm flipV="1">
            <a:off x="4549924" y="3352800"/>
            <a:ext cx="136376" cy="148350"/>
          </a:xfrm>
          <a:prstGeom prst="line">
            <a:avLst/>
          </a:prstGeom>
        </p:spPr>
        <p:style>
          <a:lnRef idx="1">
            <a:schemeClr val="dk1"/>
          </a:lnRef>
          <a:fillRef idx="0">
            <a:schemeClr val="dk1"/>
          </a:fillRef>
          <a:effectRef idx="0">
            <a:schemeClr val="dk1"/>
          </a:effectRef>
          <a:fontRef idx="minor">
            <a:schemeClr val="tx1"/>
          </a:fontRef>
        </p:style>
      </p:cxnSp>
      <p:cxnSp>
        <p:nvCxnSpPr>
          <p:cNvPr id="43" name="Straight Connector 42"/>
          <p:cNvCxnSpPr>
            <a:endCxn id="34" idx="2"/>
          </p:cNvCxnSpPr>
          <p:nvPr/>
        </p:nvCxnSpPr>
        <p:spPr>
          <a:xfrm flipV="1">
            <a:off x="3657600" y="3280059"/>
            <a:ext cx="1934344" cy="287055"/>
          </a:xfrm>
          <a:prstGeom prst="line">
            <a:avLst/>
          </a:prstGeom>
          <a:ln>
            <a:prstDash val="sysDot"/>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45" name="TextBox 44"/>
              <p:cNvSpPr txBox="1"/>
              <p:nvPr/>
            </p:nvSpPr>
            <p:spPr>
              <a:xfrm>
                <a:off x="2567609" y="4330592"/>
                <a:ext cx="6566817" cy="461665"/>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r>
                  <a:rPr lang="en-GB" sz="2400"/>
                  <a:t>1. It passes through the midpoint of </a:t>
                </a:r>
                <a14:m>
                  <m:oMath xmlns:m="http://schemas.openxmlformats.org/officeDocument/2006/math">
                    <m:r>
                      <a:rPr lang="en-GB" sz="2400" i="1">
                        <a:latin typeface="Cambria Math" panose="02040503050406030204" pitchFamily="18" charset="0"/>
                      </a:rPr>
                      <m:t>𝐴𝐵</m:t>
                    </m:r>
                  </m:oMath>
                </a14:m>
                <a:r>
                  <a:rPr lang="en-GB" sz="2400"/>
                  <a:t>.</a:t>
                </a:r>
              </a:p>
            </p:txBody>
          </p:sp>
        </mc:Choice>
        <mc:Fallback>
          <p:sp>
            <p:nvSpPr>
              <p:cNvPr id="45" name="TextBox 44"/>
              <p:cNvSpPr txBox="1">
                <a:spLocks noRot="1" noChangeAspect="1" noMove="1" noResize="1" noEditPoints="1" noAdjustHandles="1" noChangeArrowheads="1" noChangeShapeType="1" noTextEdit="1"/>
              </p:cNvSpPr>
              <p:nvPr/>
            </p:nvSpPr>
            <p:spPr>
              <a:xfrm>
                <a:off x="2567609" y="4330592"/>
                <a:ext cx="6566817" cy="461665"/>
              </a:xfrm>
              <a:prstGeom prst="rect">
                <a:avLst/>
              </a:prstGeom>
              <a:blipFill>
                <a:blip r:embed="rId5"/>
                <a:stretch>
                  <a:fillRect l="-1349" t="-5000" b="-2500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6" name="TextBox 45"/>
              <p:cNvSpPr txBox="1"/>
              <p:nvPr/>
            </p:nvSpPr>
            <p:spPr>
              <a:xfrm>
                <a:off x="4714876" y="3482866"/>
                <a:ext cx="896118" cy="369332"/>
              </a:xfrm>
              <a:prstGeom prst="rect">
                <a:avLst/>
              </a:prstGeom>
              <a:noFill/>
            </p:spPr>
            <p:txBody>
              <a:bodyPr wrap="square" rtlCol="0">
                <a:spAutoFit/>
              </a:bodyPr>
              <a:lstStyle/>
              <a:p>
                <a:pPr/>
                <a14:m>
                  <m:oMathPara xmlns:m="http://schemas.openxmlformats.org/officeDocument/2006/math">
                    <m:oMath>
                      <m:r>
                        <a:rPr lang="en-GB" b="1" i="1">
                          <a:latin typeface="Cambria Math" panose="02040503050406030204" pitchFamily="18" charset="0"/>
                        </a:rPr>
                        <m:t>𝑴</m:t>
                      </m:r>
                      <m:d>
                        <m:dPr>
                          <m:ctrlPr>
                            <a:rPr lang="en-GB" b="1" i="1">
                              <a:latin typeface="Cambria Math" panose="02040503050406030204" pitchFamily="18" charset="0"/>
                            </a:rPr>
                          </m:ctrlPr>
                        </m:dPr>
                        <m:e>
                          <m:r>
                            <a:rPr lang="en-GB" b="1" i="1">
                              <a:latin typeface="Cambria Math" panose="02040503050406030204" pitchFamily="18" charset="0"/>
                            </a:rPr>
                            <m:t>𝟒</m:t>
                          </m:r>
                          <m:r>
                            <a:rPr lang="en-GB" b="1" i="1">
                              <a:latin typeface="Cambria Math" panose="02040503050406030204" pitchFamily="18" charset="0"/>
                            </a:rPr>
                            <m:t>,</m:t>
                          </m:r>
                          <m:r>
                            <a:rPr lang="en-GB" b="1" i="1">
                              <a:latin typeface="Cambria Math" panose="02040503050406030204" pitchFamily="18" charset="0"/>
                            </a:rPr>
                            <m:t>𝟔</m:t>
                          </m:r>
                        </m:e>
                      </m:d>
                    </m:oMath>
                  </m:oMathPara>
                </a14:m>
                <a:endParaRPr lang="en-GB" b="1"/>
              </a:p>
            </p:txBody>
          </p:sp>
        </mc:Choice>
        <mc:Fallback>
          <p:sp>
            <p:nvSpPr>
              <p:cNvPr id="46" name="TextBox 45"/>
              <p:cNvSpPr txBox="1">
                <a:spLocks noRot="1" noChangeAspect="1" noMove="1" noResize="1" noEditPoints="1" noAdjustHandles="1" noChangeArrowheads="1" noChangeShapeType="1" noTextEdit="1"/>
              </p:cNvSpPr>
              <p:nvPr/>
            </p:nvSpPr>
            <p:spPr>
              <a:xfrm>
                <a:off x="4714876" y="3482866"/>
                <a:ext cx="896118" cy="36933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7" name="TextBox 46"/>
              <p:cNvSpPr txBox="1"/>
              <p:nvPr/>
            </p:nvSpPr>
            <p:spPr>
              <a:xfrm>
                <a:off x="5870824" y="3492391"/>
                <a:ext cx="3556967" cy="523220"/>
              </a:xfrm>
              <a:prstGeom prst="rect">
                <a:avLst/>
              </a:prstGeom>
              <a:noFill/>
            </p:spPr>
            <p:txBody>
              <a:bodyPr wrap="square" rtlCol="0">
                <a:spAutoFit/>
              </a:bodyPr>
              <a:lstStyle/>
              <a:p>
                <a:r>
                  <a:rPr lang="en-GB" sz="1400"/>
                  <a:t>Just find the mean of the </a:t>
                </a:r>
                <a14:m>
                  <m:oMath xmlns:m="http://schemas.openxmlformats.org/officeDocument/2006/math">
                    <m:r>
                      <a:rPr lang="en-GB" sz="1400" i="1">
                        <a:latin typeface="Cambria Math" panose="02040503050406030204" pitchFamily="18" charset="0"/>
                      </a:rPr>
                      <m:t>𝑥</m:t>
                    </m:r>
                  </m:oMath>
                </a14:m>
                <a:r>
                  <a:rPr lang="en-GB" sz="1400"/>
                  <a:t> values and the mean of the </a:t>
                </a:r>
                <a14:m>
                  <m:oMath xmlns:m="http://schemas.openxmlformats.org/officeDocument/2006/math">
                    <m:r>
                      <a:rPr lang="en-GB" sz="1400" i="1">
                        <a:latin typeface="Cambria Math" panose="02040503050406030204" pitchFamily="18" charset="0"/>
                      </a:rPr>
                      <m:t>𝑦</m:t>
                    </m:r>
                  </m:oMath>
                </a14:m>
                <a:r>
                  <a:rPr lang="en-GB" sz="1400"/>
                  <a:t> values.</a:t>
                </a:r>
              </a:p>
            </p:txBody>
          </p:sp>
        </mc:Choice>
        <mc:Fallback>
          <p:sp>
            <p:nvSpPr>
              <p:cNvPr id="47" name="TextBox 46"/>
              <p:cNvSpPr txBox="1">
                <a:spLocks noRot="1" noChangeAspect="1" noMove="1" noResize="1" noEditPoints="1" noAdjustHandles="1" noChangeArrowheads="1" noChangeShapeType="1" noTextEdit="1"/>
              </p:cNvSpPr>
              <p:nvPr/>
            </p:nvSpPr>
            <p:spPr>
              <a:xfrm>
                <a:off x="5870824" y="3492391"/>
                <a:ext cx="3556967" cy="523220"/>
              </a:xfrm>
              <a:prstGeom prst="rect">
                <a:avLst/>
              </a:prstGeom>
              <a:blipFill>
                <a:blip r:embed="rId7"/>
                <a:stretch>
                  <a:fillRect l="-712" t="-2381" b="-11905"/>
                </a:stretch>
              </a:blipFill>
            </p:spPr>
            <p:txBody>
              <a:bodyPr/>
              <a:lstStyle/>
              <a:p>
                <a:r>
                  <a:rPr lang="en-US">
                    <a:noFill/>
                  </a:rPr>
                  <a:t> </a:t>
                </a:r>
              </a:p>
            </p:txBody>
          </p:sp>
        </mc:Fallback>
      </mc:AlternateContent>
      <p:sp>
        <p:nvSpPr>
          <p:cNvPr id="48" name="Rectangle 47"/>
          <p:cNvSpPr/>
          <p:nvPr/>
        </p:nvSpPr>
        <p:spPr>
          <a:xfrm>
            <a:off x="5036898" y="3521508"/>
            <a:ext cx="626382" cy="389012"/>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mc:AlternateContent xmlns:mc="http://schemas.openxmlformats.org/markup-compatibility/2006">
        <mc:Choice xmlns:a14="http://schemas.microsoft.com/office/drawing/2010/main" Requires="a14">
          <p:sp>
            <p:nvSpPr>
              <p:cNvPr id="49" name="TextBox 48"/>
              <p:cNvSpPr txBox="1"/>
              <p:nvPr/>
            </p:nvSpPr>
            <p:spPr>
              <a:xfrm>
                <a:off x="2567609" y="4804587"/>
                <a:ext cx="6566817" cy="461665"/>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r>
                  <a:rPr lang="en-GB" sz="2400"/>
                  <a:t>2. It is perpendicular to </a:t>
                </a:r>
                <a14:m>
                  <m:oMath xmlns:m="http://schemas.openxmlformats.org/officeDocument/2006/math">
                    <m:r>
                      <a:rPr lang="en-GB" sz="2400" i="1">
                        <a:latin typeface="Cambria Math" panose="02040503050406030204" pitchFamily="18" charset="0"/>
                      </a:rPr>
                      <m:t>𝐴𝐵</m:t>
                    </m:r>
                  </m:oMath>
                </a14:m>
                <a:r>
                  <a:rPr lang="en-GB" sz="2400"/>
                  <a:t>.</a:t>
                </a:r>
              </a:p>
            </p:txBody>
          </p:sp>
        </mc:Choice>
        <mc:Fallback>
          <p:sp>
            <p:nvSpPr>
              <p:cNvPr id="49" name="TextBox 48"/>
              <p:cNvSpPr txBox="1">
                <a:spLocks noRot="1" noChangeAspect="1" noMove="1" noResize="1" noEditPoints="1" noAdjustHandles="1" noChangeArrowheads="1" noChangeShapeType="1" noTextEdit="1"/>
              </p:cNvSpPr>
              <p:nvPr/>
            </p:nvSpPr>
            <p:spPr>
              <a:xfrm>
                <a:off x="2567609" y="4804587"/>
                <a:ext cx="6566817" cy="461665"/>
              </a:xfrm>
              <a:prstGeom prst="rect">
                <a:avLst/>
              </a:prstGeom>
              <a:blipFill>
                <a:blip r:embed="rId8"/>
                <a:stretch>
                  <a:fillRect l="-1349" t="-5128" b="-25641"/>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50" name="TextBox 49"/>
              <p:cNvSpPr txBox="1"/>
              <p:nvPr/>
            </p:nvSpPr>
            <p:spPr>
              <a:xfrm>
                <a:off x="4217319" y="5238182"/>
                <a:ext cx="2933699" cy="1466812"/>
              </a:xfrm>
              <a:prstGeom prst="rect">
                <a:avLst/>
              </a:prstGeom>
              <a:noFill/>
            </p:spPr>
            <p:txBody>
              <a:bodyPr wrap="square" rtlCol="0">
                <a:spAutoFit/>
              </a:bodyPr>
              <a:lstStyle/>
              <a:p>
                <a:r>
                  <a:rPr lang="en-GB"/>
                  <a:t>Equation?</a:t>
                </a:r>
              </a:p>
              <a:p>
                <a:pPr/>
                <a14:m>
                  <m:oMathPara xmlns:m="http://schemas.openxmlformats.org/officeDocument/2006/math">
                    <m:oMath>
                      <m:sSub>
                        <m:sSubPr>
                          <m:ctrlPr>
                            <a:rPr lang="en-GB" b="1" i="1">
                              <a:latin typeface="Cambria Math" panose="02040503050406030204" pitchFamily="18" charset="0"/>
                            </a:rPr>
                          </m:ctrlPr>
                        </m:sSubPr>
                        <m:e>
                          <m:r>
                            <a:rPr lang="en-GB" b="1" i="1">
                              <a:latin typeface="Cambria Math" panose="02040503050406030204" pitchFamily="18" charset="0"/>
                            </a:rPr>
                            <m:t>𝒎</m:t>
                          </m:r>
                        </m:e>
                        <m:sub>
                          <m:r>
                            <a:rPr lang="en-GB" b="1" i="1">
                              <a:latin typeface="Cambria Math" panose="02040503050406030204" pitchFamily="18" charset="0"/>
                            </a:rPr>
                            <m:t>𝑨𝑩</m:t>
                          </m:r>
                        </m:sub>
                      </m:sSub>
                      <m:r>
                        <a:rPr lang="en-GB" b="1" i="1">
                          <a:latin typeface="Cambria Math" panose="02040503050406030204" pitchFamily="18" charset="0"/>
                        </a:rPr>
                        <m:t>=</m:t>
                      </m:r>
                      <m:f>
                        <m:fPr>
                          <m:ctrlPr>
                            <a:rPr lang="en-GB" b="1" i="1">
                              <a:latin typeface="Cambria Math" panose="02040503050406030204" pitchFamily="18" charset="0"/>
                            </a:rPr>
                          </m:ctrlPr>
                        </m:fPr>
                        <m:num>
                          <m:r>
                            <a:rPr lang="en-GB" b="1" i="1">
                              <a:latin typeface="Cambria Math" panose="02040503050406030204" pitchFamily="18" charset="0"/>
                            </a:rPr>
                            <m:t>𝟐</m:t>
                          </m:r>
                        </m:num>
                        <m:den>
                          <m:r>
                            <a:rPr lang="en-GB" b="1" i="1">
                              <a:latin typeface="Cambria Math" panose="02040503050406030204" pitchFamily="18" charset="0"/>
                            </a:rPr>
                            <m:t>𝟒</m:t>
                          </m:r>
                        </m:den>
                      </m:f>
                      <m:r>
                        <a:rPr lang="en-GB" b="1" i="1">
                          <a:latin typeface="Cambria Math" panose="02040503050406030204" pitchFamily="18" charset="0"/>
                        </a:rPr>
                        <m:t>=</m:t>
                      </m:r>
                      <m:f>
                        <m:fPr>
                          <m:ctrlPr>
                            <a:rPr lang="en-GB" b="1" i="1">
                              <a:latin typeface="Cambria Math" panose="02040503050406030204" pitchFamily="18" charset="0"/>
                            </a:rPr>
                          </m:ctrlPr>
                        </m:fPr>
                        <m:num>
                          <m:r>
                            <a:rPr lang="en-GB" b="1" i="1">
                              <a:latin typeface="Cambria Math" panose="02040503050406030204" pitchFamily="18" charset="0"/>
                            </a:rPr>
                            <m:t>𝟏</m:t>
                          </m:r>
                        </m:num>
                        <m:den>
                          <m:r>
                            <a:rPr lang="en-GB" b="1" i="1">
                              <a:latin typeface="Cambria Math" panose="02040503050406030204" pitchFamily="18" charset="0"/>
                            </a:rPr>
                            <m:t>𝟐</m:t>
                          </m:r>
                        </m:den>
                      </m:f>
                    </m:oMath>
                    <m:oMath>
                      <m:sSub>
                        <m:sSubPr>
                          <m:ctrlPr>
                            <a:rPr lang="en-GB" b="1" i="1">
                              <a:latin typeface="Cambria Math" panose="02040503050406030204" pitchFamily="18" charset="0"/>
                            </a:rPr>
                          </m:ctrlPr>
                        </m:sSubPr>
                        <m:e>
                          <m:r>
                            <a:rPr lang="en-GB" b="1" i="1">
                              <a:latin typeface="Cambria Math" panose="02040503050406030204" pitchFamily="18" charset="0"/>
                            </a:rPr>
                            <m:t>𝒎</m:t>
                          </m:r>
                        </m:e>
                        <m:sub>
                          <m:r>
                            <a:rPr lang="en-GB" b="1" i="1">
                              <a:latin typeface="Cambria Math" panose="02040503050406030204" pitchFamily="18" charset="0"/>
                            </a:rPr>
                            <m:t>⊥</m:t>
                          </m:r>
                        </m:sub>
                      </m:sSub>
                      <m:r>
                        <a:rPr lang="en-GB" b="1" i="1">
                          <a:latin typeface="Cambria Math" panose="02040503050406030204" pitchFamily="18" charset="0"/>
                        </a:rPr>
                        <m:t>=−</m:t>
                      </m:r>
                      <m:r>
                        <a:rPr lang="en-GB" b="1" i="1">
                          <a:latin typeface="Cambria Math" panose="02040503050406030204" pitchFamily="18" charset="0"/>
                        </a:rPr>
                        <m:t>𝟐</m:t>
                      </m:r>
                    </m:oMath>
                  </m:oMathPara>
                </a14:m>
                <a:endParaRPr lang="en-GB" b="1"/>
              </a:p>
              <a:p>
                <a:pPr/>
                <a14:m>
                  <m:oMathPara xmlns:m="http://schemas.openxmlformats.org/officeDocument/2006/math">
                    <m:oMath>
                      <m:r>
                        <a:rPr lang="en-GB" b="1" i="1">
                          <a:latin typeface="Cambria Math" panose="02040503050406030204" pitchFamily="18" charset="0"/>
                        </a:rPr>
                        <m:t>𝒚</m:t>
                      </m:r>
                      <m:r>
                        <a:rPr lang="en-GB" b="1" i="1">
                          <a:latin typeface="Cambria Math" panose="02040503050406030204" pitchFamily="18" charset="0"/>
                        </a:rPr>
                        <m:t>−</m:t>
                      </m:r>
                      <m:r>
                        <a:rPr lang="en-GB" b="1" i="1">
                          <a:latin typeface="Cambria Math" panose="02040503050406030204" pitchFamily="18" charset="0"/>
                        </a:rPr>
                        <m:t>𝟔</m:t>
                      </m:r>
                      <m:r>
                        <a:rPr lang="en-GB" b="1" i="1">
                          <a:latin typeface="Cambria Math" panose="02040503050406030204" pitchFamily="18" charset="0"/>
                        </a:rPr>
                        <m:t>=−</m:t>
                      </m:r>
                      <m:r>
                        <a:rPr lang="en-GB" b="1" i="1">
                          <a:latin typeface="Cambria Math" panose="02040503050406030204" pitchFamily="18" charset="0"/>
                        </a:rPr>
                        <m:t>𝟐</m:t>
                      </m:r>
                      <m:d>
                        <m:dPr>
                          <m:ctrlPr>
                            <a:rPr lang="en-GB" b="1" i="1">
                              <a:latin typeface="Cambria Math" panose="02040503050406030204" pitchFamily="18" charset="0"/>
                            </a:rPr>
                          </m:ctrlPr>
                        </m:dPr>
                        <m:e>
                          <m:r>
                            <a:rPr lang="en-GB" b="1" i="1">
                              <a:latin typeface="Cambria Math" panose="02040503050406030204" pitchFamily="18" charset="0"/>
                            </a:rPr>
                            <m:t>𝒙</m:t>
                          </m:r>
                          <m:r>
                            <a:rPr lang="en-GB" b="1" i="1">
                              <a:latin typeface="Cambria Math" panose="02040503050406030204" pitchFamily="18" charset="0"/>
                            </a:rPr>
                            <m:t>−</m:t>
                          </m:r>
                          <m:r>
                            <a:rPr lang="en-GB" b="1" i="1">
                              <a:latin typeface="Cambria Math" panose="02040503050406030204" pitchFamily="18" charset="0"/>
                            </a:rPr>
                            <m:t>𝟒</m:t>
                          </m:r>
                        </m:e>
                      </m:d>
                    </m:oMath>
                  </m:oMathPara>
                </a14:m>
                <a:endParaRPr lang="en-GB" b="1"/>
              </a:p>
            </p:txBody>
          </p:sp>
        </mc:Choice>
        <mc:Fallback>
          <p:sp>
            <p:nvSpPr>
              <p:cNvPr id="50" name="TextBox 49"/>
              <p:cNvSpPr txBox="1">
                <a:spLocks noRot="1" noChangeAspect="1" noMove="1" noResize="1" noEditPoints="1" noAdjustHandles="1" noChangeArrowheads="1" noChangeShapeType="1" noTextEdit="1"/>
              </p:cNvSpPr>
              <p:nvPr/>
            </p:nvSpPr>
            <p:spPr>
              <a:xfrm>
                <a:off x="4217319" y="5238182"/>
                <a:ext cx="2933699" cy="1466812"/>
              </a:xfrm>
              <a:prstGeom prst="rect">
                <a:avLst/>
              </a:prstGeom>
              <a:blipFill>
                <a:blip r:embed="rId9"/>
                <a:stretch>
                  <a:fillRect l="-2155" t="-1724"/>
                </a:stretch>
              </a:blipFill>
            </p:spPr>
            <p:txBody>
              <a:bodyPr/>
              <a:lstStyle/>
              <a:p>
                <a:r>
                  <a:rPr lang="en-US">
                    <a:noFill/>
                  </a:rPr>
                  <a:t> </a:t>
                </a:r>
              </a:p>
            </p:txBody>
          </p:sp>
        </mc:Fallback>
      </mc:AlternateContent>
      <p:sp>
        <p:nvSpPr>
          <p:cNvPr id="51" name="Rectangle 50"/>
          <p:cNvSpPr/>
          <p:nvPr/>
        </p:nvSpPr>
        <p:spPr>
          <a:xfrm>
            <a:off x="4585622" y="5561731"/>
            <a:ext cx="2279527" cy="1121267"/>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cxnSp>
        <p:nvCxnSpPr>
          <p:cNvPr id="53" name="Straight Connector 52"/>
          <p:cNvCxnSpPr/>
          <p:nvPr/>
        </p:nvCxnSpPr>
        <p:spPr>
          <a:xfrm>
            <a:off x="4503420" y="2565400"/>
            <a:ext cx="215900" cy="1574800"/>
          </a:xfrm>
          <a:prstGeom prst="line">
            <a:avLst/>
          </a:prstGeom>
          <a:ln w="28575"/>
        </p:spPr>
        <p:style>
          <a:lnRef idx="1">
            <a:schemeClr val="dk1"/>
          </a:lnRef>
          <a:fillRef idx="0">
            <a:schemeClr val="dk1"/>
          </a:fillRef>
          <a:effectRef idx="0">
            <a:schemeClr val="dk1"/>
          </a:effectRef>
          <a:fontRef idx="minor">
            <a:schemeClr val="tx1"/>
          </a:fontRef>
        </p:style>
      </p:cxnSp>
      <p:cxnSp>
        <p:nvCxnSpPr>
          <p:cNvPr id="57" name="Straight Connector 56"/>
          <p:cNvCxnSpPr/>
          <p:nvPr/>
        </p:nvCxnSpPr>
        <p:spPr>
          <a:xfrm flipV="1">
            <a:off x="4602957" y="3239929"/>
            <a:ext cx="154305" cy="22384"/>
          </a:xfrm>
          <a:prstGeom prst="line">
            <a:avLst/>
          </a:prstGeom>
        </p:spPr>
        <p:style>
          <a:lnRef idx="1">
            <a:schemeClr val="dk1"/>
          </a:lnRef>
          <a:fillRef idx="0">
            <a:schemeClr val="dk1"/>
          </a:fillRef>
          <a:effectRef idx="0">
            <a:schemeClr val="dk1"/>
          </a:effectRef>
          <a:fontRef idx="minor">
            <a:schemeClr val="tx1"/>
          </a:fontRef>
        </p:style>
      </p:cxnSp>
      <p:cxnSp>
        <p:nvCxnSpPr>
          <p:cNvPr id="58" name="Straight Connector 57"/>
          <p:cNvCxnSpPr/>
          <p:nvPr/>
        </p:nvCxnSpPr>
        <p:spPr>
          <a:xfrm flipH="1" flipV="1">
            <a:off x="4757739" y="3238501"/>
            <a:ext cx="21431" cy="157162"/>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5612046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5"/>
                                        </p:tgtEl>
                                        <p:attrNameLst>
                                          <p:attrName>style.visibility</p:attrName>
                                        </p:attrNameLst>
                                      </p:cBhvr>
                                      <p:to>
                                        <p:strVal val="visible"/>
                                      </p:to>
                                    </p:set>
                                    <p:animEffect transition="in" filter="fade">
                                      <p:cBhvr>
                                        <p:cTn id="7" dur="500"/>
                                        <p:tgtEl>
                                          <p:spTgt spid="45"/>
                                        </p:tgtEl>
                                      </p:cBhvr>
                                    </p:animEffect>
                                  </p:childTnLst>
                                </p:cTn>
                              </p:par>
                              <p:par>
                                <p:cTn id="8" presetID="10" presetClass="entr" presetSubtype="0" fill="hold" nodeType="withEffect">
                                  <p:stCondLst>
                                    <p:cond delay="0"/>
                                  </p:stCondLst>
                                  <p:childTnLst>
                                    <p:set>
                                      <p:cBhvr>
                                        <p:cTn id="9" dur="1" fill="hold">
                                          <p:stCondLst>
                                            <p:cond delay="0"/>
                                          </p:stCondLst>
                                        </p:cTn>
                                        <p:tgtEl>
                                          <p:spTgt spid="37"/>
                                        </p:tgtEl>
                                        <p:attrNameLst>
                                          <p:attrName>style.visibility</p:attrName>
                                        </p:attrNameLst>
                                      </p:cBhvr>
                                      <p:to>
                                        <p:strVal val="visible"/>
                                      </p:to>
                                    </p:set>
                                    <p:animEffect transition="in" filter="fade">
                                      <p:cBhvr>
                                        <p:cTn id="10" dur="500"/>
                                        <p:tgtEl>
                                          <p:spTgt spid="37"/>
                                        </p:tgtEl>
                                      </p:cBhvr>
                                    </p:animEffect>
                                  </p:childTnLst>
                                </p:cTn>
                              </p:par>
                              <p:par>
                                <p:cTn id="11" presetID="10" presetClass="entr" presetSubtype="0" fill="hold" nodeType="withEffect">
                                  <p:stCondLst>
                                    <p:cond delay="0"/>
                                  </p:stCondLst>
                                  <p:childTnLst>
                                    <p:set>
                                      <p:cBhvr>
                                        <p:cTn id="12" dur="1" fill="hold">
                                          <p:stCondLst>
                                            <p:cond delay="0"/>
                                          </p:stCondLst>
                                        </p:cTn>
                                        <p:tgtEl>
                                          <p:spTgt spid="38"/>
                                        </p:tgtEl>
                                        <p:attrNameLst>
                                          <p:attrName>style.visibility</p:attrName>
                                        </p:attrNameLst>
                                      </p:cBhvr>
                                      <p:to>
                                        <p:strVal val="visible"/>
                                      </p:to>
                                    </p:set>
                                    <p:animEffect transition="in" filter="fade">
                                      <p:cBhvr>
                                        <p:cTn id="13" dur="500"/>
                                        <p:tgtEl>
                                          <p:spTgt spid="3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46"/>
                                        </p:tgtEl>
                                        <p:attrNameLst>
                                          <p:attrName>style.visibility</p:attrName>
                                        </p:attrNameLst>
                                      </p:cBhvr>
                                      <p:to>
                                        <p:strVal val="visible"/>
                                      </p:to>
                                    </p:set>
                                    <p:animEffect transition="in" filter="fade">
                                      <p:cBhvr>
                                        <p:cTn id="16" dur="500"/>
                                        <p:tgtEl>
                                          <p:spTgt spid="46"/>
                                        </p:tgtEl>
                                      </p:cBhvr>
                                    </p:animEffect>
                                  </p:childTnLst>
                                </p:cTn>
                              </p:par>
                              <p:par>
                                <p:cTn id="17" presetID="1" presetClass="entr" presetSubtype="0" fill="hold" grpId="1" nodeType="withEffect">
                                  <p:stCondLst>
                                    <p:cond delay="0"/>
                                  </p:stCondLst>
                                  <p:childTnLst>
                                    <p:set>
                                      <p:cBhvr>
                                        <p:cTn id="18" dur="1" fill="hold">
                                          <p:stCondLst>
                                            <p:cond delay="0"/>
                                          </p:stCondLst>
                                        </p:cTn>
                                        <p:tgtEl>
                                          <p:spTgt spid="4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49"/>
                                        </p:tgtEl>
                                        <p:attrNameLst>
                                          <p:attrName>style.visibility</p:attrName>
                                        </p:attrNameLst>
                                      </p:cBhvr>
                                      <p:to>
                                        <p:strVal val="visible"/>
                                      </p:to>
                                    </p:set>
                                    <p:animEffect transition="in" filter="fade">
                                      <p:cBhvr>
                                        <p:cTn id="23" dur="500"/>
                                        <p:tgtEl>
                                          <p:spTgt spid="49"/>
                                        </p:tgtEl>
                                      </p:cBhvr>
                                    </p:animEffect>
                                  </p:childTnLst>
                                </p:cTn>
                              </p:par>
                            </p:childTnLst>
                          </p:cTn>
                        </p:par>
                        <p:par>
                          <p:cTn id="24" fill="hold">
                            <p:stCondLst>
                              <p:cond delay="500"/>
                            </p:stCondLst>
                            <p:childTnLst>
                              <p:par>
                                <p:cTn id="25" presetID="10" presetClass="entr" presetSubtype="0" fill="hold" grpId="0" nodeType="afterEffect">
                                  <p:stCondLst>
                                    <p:cond delay="0"/>
                                  </p:stCondLst>
                                  <p:childTnLst>
                                    <p:set>
                                      <p:cBhvr>
                                        <p:cTn id="26" dur="1" fill="hold">
                                          <p:stCondLst>
                                            <p:cond delay="0"/>
                                          </p:stCondLst>
                                        </p:cTn>
                                        <p:tgtEl>
                                          <p:spTgt spid="50"/>
                                        </p:tgtEl>
                                        <p:attrNameLst>
                                          <p:attrName>style.visibility</p:attrName>
                                        </p:attrNameLst>
                                      </p:cBhvr>
                                      <p:to>
                                        <p:strVal val="visible"/>
                                      </p:to>
                                    </p:set>
                                    <p:animEffect transition="in" filter="fade">
                                      <p:cBhvr>
                                        <p:cTn id="27" dur="500"/>
                                        <p:tgtEl>
                                          <p:spTgt spid="50"/>
                                        </p:tgtEl>
                                      </p:cBhvr>
                                    </p:animEffect>
                                  </p:childTnLst>
                                </p:cTn>
                              </p:par>
                              <p:par>
                                <p:cTn id="28" presetID="1" presetClass="entr" presetSubtype="0" fill="hold" grpId="1" nodeType="withEffect">
                                  <p:stCondLst>
                                    <p:cond delay="0"/>
                                  </p:stCondLst>
                                  <p:childTnLst>
                                    <p:set>
                                      <p:cBhvr>
                                        <p:cTn id="29" dur="1" fill="hold">
                                          <p:stCondLst>
                                            <p:cond delay="0"/>
                                          </p:stCondLst>
                                        </p:cTn>
                                        <p:tgtEl>
                                          <p:spTgt spid="51"/>
                                        </p:tgtEl>
                                        <p:attrNameLst>
                                          <p:attrName>style.visibility</p:attrName>
                                        </p:attrNameLst>
                                      </p:cBhvr>
                                      <p:to>
                                        <p:strVal val="visible"/>
                                      </p:to>
                                    </p:set>
                                  </p:childTnLst>
                                </p:cTn>
                              </p:par>
                              <p:par>
                                <p:cTn id="30" presetID="10" presetClass="entr" presetSubtype="0" fill="hold" nodeType="withEffect">
                                  <p:stCondLst>
                                    <p:cond delay="0"/>
                                  </p:stCondLst>
                                  <p:childTnLst>
                                    <p:set>
                                      <p:cBhvr>
                                        <p:cTn id="31" dur="1" fill="hold">
                                          <p:stCondLst>
                                            <p:cond delay="0"/>
                                          </p:stCondLst>
                                        </p:cTn>
                                        <p:tgtEl>
                                          <p:spTgt spid="57"/>
                                        </p:tgtEl>
                                        <p:attrNameLst>
                                          <p:attrName>style.visibility</p:attrName>
                                        </p:attrNameLst>
                                      </p:cBhvr>
                                      <p:to>
                                        <p:strVal val="visible"/>
                                      </p:to>
                                    </p:set>
                                    <p:animEffect transition="in" filter="fade">
                                      <p:cBhvr>
                                        <p:cTn id="32" dur="500"/>
                                        <p:tgtEl>
                                          <p:spTgt spid="57"/>
                                        </p:tgtEl>
                                      </p:cBhvr>
                                    </p:animEffect>
                                  </p:childTnLst>
                                </p:cTn>
                              </p:par>
                              <p:par>
                                <p:cTn id="33" presetID="10" presetClass="entr" presetSubtype="0" fill="hold" nodeType="withEffect">
                                  <p:stCondLst>
                                    <p:cond delay="0"/>
                                  </p:stCondLst>
                                  <p:childTnLst>
                                    <p:set>
                                      <p:cBhvr>
                                        <p:cTn id="34" dur="1" fill="hold">
                                          <p:stCondLst>
                                            <p:cond delay="0"/>
                                          </p:stCondLst>
                                        </p:cTn>
                                        <p:tgtEl>
                                          <p:spTgt spid="58"/>
                                        </p:tgtEl>
                                        <p:attrNameLst>
                                          <p:attrName>style.visibility</p:attrName>
                                        </p:attrNameLst>
                                      </p:cBhvr>
                                      <p:to>
                                        <p:strVal val="visible"/>
                                      </p:to>
                                    </p:set>
                                    <p:animEffect transition="in" filter="fade">
                                      <p:cBhvr>
                                        <p:cTn id="35" dur="500"/>
                                        <p:tgtEl>
                                          <p:spTgt spid="58"/>
                                        </p:tgtEl>
                                      </p:cBhvr>
                                    </p:animEffect>
                                  </p:childTnLst>
                                </p:cTn>
                              </p:par>
                              <p:par>
                                <p:cTn id="36" presetID="22" presetClass="entr" presetSubtype="4" fill="hold" nodeType="withEffect">
                                  <p:stCondLst>
                                    <p:cond delay="0"/>
                                  </p:stCondLst>
                                  <p:childTnLst>
                                    <p:set>
                                      <p:cBhvr>
                                        <p:cTn id="37" dur="1" fill="hold">
                                          <p:stCondLst>
                                            <p:cond delay="0"/>
                                          </p:stCondLst>
                                        </p:cTn>
                                        <p:tgtEl>
                                          <p:spTgt spid="53"/>
                                        </p:tgtEl>
                                        <p:attrNameLst>
                                          <p:attrName>style.visibility</p:attrName>
                                        </p:attrNameLst>
                                      </p:cBhvr>
                                      <p:to>
                                        <p:strVal val="visible"/>
                                      </p:to>
                                    </p:set>
                                    <p:animEffect transition="in" filter="wipe(down)">
                                      <p:cBhvr>
                                        <p:cTn id="38" dur="50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39" restart="whenNotActive" fill="hold" evtFilter="cancelBubble" nodeType="interactiveSeq">
                <p:stCondLst>
                  <p:cond evt="onClick" delay="0">
                    <p:tgtEl>
                      <p:spTgt spid="48"/>
                    </p:tgtEl>
                  </p:cond>
                </p:stCondLst>
                <p:endSync evt="end" delay="0">
                  <p:rtn val="all"/>
                </p:endSync>
                <p:childTnLst>
                  <p:par>
                    <p:cTn id="40" fill="hold">
                      <p:stCondLst>
                        <p:cond delay="0"/>
                      </p:stCondLst>
                      <p:childTnLst>
                        <p:par>
                          <p:cTn id="41" fill="hold">
                            <p:stCondLst>
                              <p:cond delay="0"/>
                            </p:stCondLst>
                            <p:childTnLst>
                              <p:par>
                                <p:cTn id="42" presetID="10" presetClass="exit" presetSubtype="0" fill="hold" grpId="0" nodeType="clickEffect">
                                  <p:stCondLst>
                                    <p:cond delay="0"/>
                                  </p:stCondLst>
                                  <p:childTnLst>
                                    <p:animEffect transition="out" filter="fade">
                                      <p:cBhvr>
                                        <p:cTn id="43" dur="500"/>
                                        <p:tgtEl>
                                          <p:spTgt spid="48"/>
                                        </p:tgtEl>
                                      </p:cBhvr>
                                    </p:animEffect>
                                    <p:set>
                                      <p:cBhvr>
                                        <p:cTn id="44" dur="1" fill="hold">
                                          <p:stCondLst>
                                            <p:cond delay="499"/>
                                          </p:stCondLst>
                                        </p:cTn>
                                        <p:tgtEl>
                                          <p:spTgt spid="48"/>
                                        </p:tgtEl>
                                        <p:attrNameLst>
                                          <p:attrName>style.visibility</p:attrName>
                                        </p:attrNameLst>
                                      </p:cBhvr>
                                      <p:to>
                                        <p:strVal val="hidden"/>
                                      </p:to>
                                    </p:set>
                                  </p:childTnLst>
                                </p:cTn>
                              </p:par>
                              <p:par>
                                <p:cTn id="45" presetID="10" presetClass="entr" presetSubtype="0" fill="hold" grpId="0" nodeType="withEffect">
                                  <p:stCondLst>
                                    <p:cond delay="0"/>
                                  </p:stCondLst>
                                  <p:childTnLst>
                                    <p:set>
                                      <p:cBhvr>
                                        <p:cTn id="46" dur="1" fill="hold">
                                          <p:stCondLst>
                                            <p:cond delay="0"/>
                                          </p:stCondLst>
                                        </p:cTn>
                                        <p:tgtEl>
                                          <p:spTgt spid="47"/>
                                        </p:tgtEl>
                                        <p:attrNameLst>
                                          <p:attrName>style.visibility</p:attrName>
                                        </p:attrNameLst>
                                      </p:cBhvr>
                                      <p:to>
                                        <p:strVal val="visible"/>
                                      </p:to>
                                    </p:set>
                                    <p:animEffect transition="in" filter="fade">
                                      <p:cBhvr>
                                        <p:cTn id="47" dur="500"/>
                                        <p:tgtEl>
                                          <p:spTgt spid="47"/>
                                        </p:tgtEl>
                                      </p:cBhvr>
                                    </p:animEffect>
                                  </p:childTnLst>
                                </p:cTn>
                              </p:par>
                            </p:childTnLst>
                          </p:cTn>
                        </p:par>
                      </p:childTnLst>
                    </p:cTn>
                  </p:par>
                </p:childTnLst>
              </p:cTn>
              <p:nextCondLst>
                <p:cond evt="onClick" delay="0">
                  <p:tgtEl>
                    <p:spTgt spid="48"/>
                  </p:tgtEl>
                </p:cond>
              </p:nextCondLst>
            </p:seq>
            <p:seq concurrent="1" nextAc="seek">
              <p:cTn id="48" restart="whenNotActive" fill="hold" evtFilter="cancelBubble" nodeType="interactiveSeq">
                <p:stCondLst>
                  <p:cond evt="onClick" delay="0">
                    <p:tgtEl>
                      <p:spTgt spid="51"/>
                    </p:tgtEl>
                  </p:cond>
                </p:stCondLst>
                <p:endSync evt="end" delay="0">
                  <p:rtn val="all"/>
                </p:endSync>
                <p:childTnLst>
                  <p:par>
                    <p:cTn id="49" fill="hold">
                      <p:stCondLst>
                        <p:cond delay="0"/>
                      </p:stCondLst>
                      <p:childTnLst>
                        <p:par>
                          <p:cTn id="50" fill="hold">
                            <p:stCondLst>
                              <p:cond delay="0"/>
                            </p:stCondLst>
                            <p:childTnLst>
                              <p:par>
                                <p:cTn id="51" presetID="10" presetClass="exit" presetSubtype="0" fill="hold" grpId="0" nodeType="clickEffect">
                                  <p:stCondLst>
                                    <p:cond delay="0"/>
                                  </p:stCondLst>
                                  <p:childTnLst>
                                    <p:animEffect transition="out" filter="fade">
                                      <p:cBhvr>
                                        <p:cTn id="52" dur="500"/>
                                        <p:tgtEl>
                                          <p:spTgt spid="51"/>
                                        </p:tgtEl>
                                      </p:cBhvr>
                                    </p:animEffect>
                                    <p:set>
                                      <p:cBhvr>
                                        <p:cTn id="53" dur="1" fill="hold">
                                          <p:stCondLst>
                                            <p:cond delay="499"/>
                                          </p:stCondLst>
                                        </p:cTn>
                                        <p:tgtEl>
                                          <p:spTgt spid="51"/>
                                        </p:tgtEl>
                                        <p:attrNameLst>
                                          <p:attrName>style.visibility</p:attrName>
                                        </p:attrNameLst>
                                      </p:cBhvr>
                                      <p:to>
                                        <p:strVal val="hidden"/>
                                      </p:to>
                                    </p:set>
                                  </p:childTnLst>
                                </p:cTn>
                              </p:par>
                            </p:childTnLst>
                          </p:cTn>
                        </p:par>
                      </p:childTnLst>
                    </p:cTn>
                  </p:par>
                </p:childTnLst>
              </p:cTn>
              <p:nextCondLst>
                <p:cond evt="onClick" delay="0">
                  <p:tgtEl>
                    <p:spTgt spid="51"/>
                  </p:tgtEl>
                </p:cond>
              </p:nextCondLst>
            </p:seq>
          </p:childTnLst>
        </p:cTn>
      </p:par>
    </p:tnLst>
    <p:bldLst>
      <p:bldP spid="45" grpId="0" animBg="1"/>
      <p:bldP spid="46" grpId="0"/>
      <p:bldP spid="47" grpId="0"/>
      <p:bldP spid="48" grpId="0" animBg="1"/>
      <p:bldP spid="48" grpId="1" animBg="1"/>
      <p:bldP spid="49" grpId="0" animBg="1"/>
      <p:bldP spid="50" grpId="0"/>
      <p:bldP spid="51" grpId="0" animBg="1"/>
      <p:bldP spid="51" grpId="1" animBg="1"/>
    </p:bldLst>
  </p:timing>
</p:sld>
</file>

<file path=ppt/c6/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0" y="1"/>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a:t>Test Your Understanding</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mc:AlternateContent xmlns:mc="http://schemas.openxmlformats.org/markup-compatibility/2006">
        <mc:Choice xmlns:a14="http://schemas.microsoft.com/office/drawing/2010/main" Requires="a14">
          <p:sp>
            <p:nvSpPr>
              <p:cNvPr id="5" name="TextBox 4"/>
              <p:cNvSpPr txBox="1"/>
              <p:nvPr/>
            </p:nvSpPr>
            <p:spPr>
              <a:xfrm>
                <a:off x="1991545" y="759197"/>
                <a:ext cx="4168251" cy="1200329"/>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a:t>Find the perpendicular bisector of the line </a:t>
                </a:r>
                <a14:m>
                  <m:oMath xmlns:m="http://schemas.openxmlformats.org/officeDocument/2006/math">
                    <m:r>
                      <a:rPr lang="en-GB" i="1">
                        <a:latin typeface="Cambria Math" panose="02040503050406030204" pitchFamily="18" charset="0"/>
                      </a:rPr>
                      <m:t>𝐴𝐵</m:t>
                    </m:r>
                  </m:oMath>
                </a14:m>
                <a:r>
                  <a:rPr lang="en-GB"/>
                  <a:t> where </a:t>
                </a:r>
                <a14:m>
                  <m:oMath xmlns:m="http://schemas.openxmlformats.org/officeDocument/2006/math">
                    <m:r>
                      <a:rPr lang="en-GB" i="1">
                        <a:latin typeface="Cambria Math" panose="02040503050406030204" pitchFamily="18" charset="0"/>
                      </a:rPr>
                      <m:t>𝐴</m:t>
                    </m:r>
                  </m:oMath>
                </a14:m>
                <a:r>
                  <a:rPr lang="en-GB"/>
                  <a:t> and </a:t>
                </a:r>
                <a14:m>
                  <m:oMath xmlns:m="http://schemas.openxmlformats.org/officeDocument/2006/math">
                    <m:r>
                      <a:rPr lang="en-GB" i="1">
                        <a:latin typeface="Cambria Math" panose="02040503050406030204" pitchFamily="18" charset="0"/>
                      </a:rPr>
                      <m:t>𝐵</m:t>
                    </m:r>
                  </m:oMath>
                </a14:m>
                <a:r>
                  <a:rPr lang="en-GB"/>
                  <a:t> have the coordinates:</a:t>
                </a:r>
              </a:p>
              <a:p>
                <a:pPr marL="342900" indent="-342900">
                  <a:buAutoNum type="alphaLcParenR"/>
                </a:pPr>
                <a:r>
                  <a:rPr lang="en-GB"/>
                  <a:t> </a:t>
                </a:r>
                <a14:m>
                  <m:oMath xmlns:m="http://schemas.openxmlformats.org/officeDocument/2006/math">
                    <m:r>
                      <a:rPr lang="en-GB" i="1">
                        <a:latin typeface="Cambria Math" panose="02040503050406030204" pitchFamily="18" charset="0"/>
                      </a:rPr>
                      <m:t>𝐴</m:t>
                    </m:r>
                    <m:d>
                      <m:dPr>
                        <m:ctrlPr>
                          <a:rPr lang="en-GB" i="1">
                            <a:latin typeface="Cambria Math" panose="02040503050406030204" pitchFamily="18" charset="0"/>
                          </a:rPr>
                        </m:ctrlPr>
                      </m:dPr>
                      <m:e>
                        <m:r>
                          <a:rPr lang="en-GB" i="1">
                            <a:latin typeface="Cambria Math" panose="02040503050406030204" pitchFamily="18" charset="0"/>
                          </a:rPr>
                          <m:t>4,7</m:t>
                        </m:r>
                      </m:e>
                    </m:d>
                    <m:r>
                      <a:rPr lang="en-GB" i="1">
                        <a:latin typeface="Cambria Math" panose="02040503050406030204" pitchFamily="18" charset="0"/>
                      </a:rPr>
                      <m:t>, </m:t>
                    </m:r>
                    <m:r>
                      <a:rPr lang="en-GB" i="1">
                        <a:latin typeface="Cambria Math" panose="02040503050406030204" pitchFamily="18" charset="0"/>
                      </a:rPr>
                      <m:t>𝐵</m:t>
                    </m:r>
                    <m:d>
                      <m:dPr>
                        <m:ctrlPr>
                          <a:rPr lang="en-GB" i="1">
                            <a:latin typeface="Cambria Math" panose="02040503050406030204" pitchFamily="18" charset="0"/>
                          </a:rPr>
                        </m:ctrlPr>
                      </m:dPr>
                      <m:e>
                        <m:r>
                          <a:rPr lang="en-GB" i="1">
                            <a:latin typeface="Cambria Math" panose="02040503050406030204" pitchFamily="18" charset="0"/>
                          </a:rPr>
                          <m:t>10,17</m:t>
                        </m:r>
                      </m:e>
                    </m:d>
                  </m:oMath>
                </a14:m>
                <a:endParaRPr lang="en-GB"/>
              </a:p>
              <a:p>
                <a:pPr marL="342900" indent="-342900">
                  <a:buAutoNum type="alphaLcParenR"/>
                </a:pPr>
                <a:r>
                  <a:rPr lang="en-GB"/>
                  <a:t> </a:t>
                </a:r>
                <a14:m>
                  <m:oMath xmlns:m="http://schemas.openxmlformats.org/officeDocument/2006/math">
                    <m:r>
                      <a:rPr lang="en-GB" i="1">
                        <a:latin typeface="Cambria Math" panose="02040503050406030204" pitchFamily="18" charset="0"/>
                      </a:rPr>
                      <m:t>𝐴</m:t>
                    </m:r>
                    <m:d>
                      <m:dPr>
                        <m:ctrlPr>
                          <a:rPr lang="en-GB" i="1">
                            <a:latin typeface="Cambria Math" panose="02040503050406030204" pitchFamily="18" charset="0"/>
                          </a:rPr>
                        </m:ctrlPr>
                      </m:dPr>
                      <m:e>
                        <m:sSub>
                          <m:sSubPr>
                            <m:ctrlPr>
                              <a:rPr lang="en-GB" i="1">
                                <a:latin typeface="Cambria Math" panose="02040503050406030204" pitchFamily="18" charset="0"/>
                              </a:rPr>
                            </m:ctrlPr>
                          </m:sSubPr>
                          <m:e>
                            <m:r>
                              <a:rPr lang="en-GB" i="1">
                                <a:latin typeface="Cambria Math" panose="02040503050406030204" pitchFamily="18" charset="0"/>
                              </a:rPr>
                              <m:t>𝑥</m:t>
                            </m:r>
                          </m:e>
                          <m:sub>
                            <m:r>
                              <a:rPr lang="en-GB" i="1">
                                <a:latin typeface="Cambria Math" panose="02040503050406030204" pitchFamily="18" charset="0"/>
                              </a:rPr>
                              <m:t>1</m:t>
                            </m:r>
                          </m:sub>
                        </m:sSub>
                        <m:r>
                          <a:rPr lang="en-GB" i="1">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𝑦</m:t>
                            </m:r>
                          </m:e>
                          <m:sub>
                            <m:r>
                              <a:rPr lang="en-GB" i="1">
                                <a:latin typeface="Cambria Math" panose="02040503050406030204" pitchFamily="18" charset="0"/>
                              </a:rPr>
                              <m:t>1</m:t>
                            </m:r>
                          </m:sub>
                        </m:sSub>
                      </m:e>
                    </m:d>
                    <m:r>
                      <a:rPr lang="en-GB" i="1">
                        <a:latin typeface="Cambria Math" panose="02040503050406030204" pitchFamily="18" charset="0"/>
                      </a:rPr>
                      <m:t>, </m:t>
                    </m:r>
                    <m:r>
                      <a:rPr lang="en-GB" i="1">
                        <a:latin typeface="Cambria Math" panose="02040503050406030204" pitchFamily="18" charset="0"/>
                      </a:rPr>
                      <m:t>𝐵</m:t>
                    </m:r>
                    <m:d>
                      <m:dPr>
                        <m:ctrlPr>
                          <a:rPr lang="en-GB" i="1">
                            <a:latin typeface="Cambria Math" panose="02040503050406030204" pitchFamily="18" charset="0"/>
                          </a:rPr>
                        </m:ctrlPr>
                      </m:dPr>
                      <m:e>
                        <m:sSub>
                          <m:sSubPr>
                            <m:ctrlPr>
                              <a:rPr lang="en-GB" i="1">
                                <a:latin typeface="Cambria Math" panose="02040503050406030204" pitchFamily="18" charset="0"/>
                              </a:rPr>
                            </m:ctrlPr>
                          </m:sSubPr>
                          <m:e>
                            <m:r>
                              <a:rPr lang="en-GB" i="1">
                                <a:latin typeface="Cambria Math" panose="02040503050406030204" pitchFamily="18" charset="0"/>
                              </a:rPr>
                              <m:t>𝑥</m:t>
                            </m:r>
                          </m:e>
                          <m:sub>
                            <m:r>
                              <a:rPr lang="en-GB" i="1">
                                <a:latin typeface="Cambria Math" panose="02040503050406030204" pitchFamily="18" charset="0"/>
                              </a:rPr>
                              <m:t>2</m:t>
                            </m:r>
                          </m:sub>
                        </m:sSub>
                        <m:r>
                          <a:rPr lang="en-GB" i="1">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𝑦</m:t>
                            </m:r>
                          </m:e>
                          <m:sub>
                            <m:r>
                              <a:rPr lang="en-GB" i="1">
                                <a:latin typeface="Cambria Math" panose="02040503050406030204" pitchFamily="18" charset="0"/>
                              </a:rPr>
                              <m:t>2</m:t>
                            </m:r>
                          </m:sub>
                        </m:sSub>
                      </m:e>
                    </m:d>
                  </m:oMath>
                </a14:m>
                <a:endParaRPr lang="en-GB"/>
              </a:p>
            </p:txBody>
          </p:sp>
        </mc:Choice>
        <mc:Fallback>
          <p:sp>
            <p:nvSpPr>
              <p:cNvPr id="5" name="TextBox 4"/>
              <p:cNvSpPr txBox="1">
                <a:spLocks noRot="1" noChangeAspect="1" noMove="1" noResize="1" noEditPoints="1" noAdjustHandles="1" noChangeArrowheads="1" noChangeShapeType="1" noTextEdit="1"/>
              </p:cNvSpPr>
              <p:nvPr/>
            </p:nvSpPr>
            <p:spPr>
              <a:xfrm>
                <a:off x="1991545" y="759197"/>
                <a:ext cx="4168251" cy="1200329"/>
              </a:xfrm>
              <a:prstGeom prst="rect">
                <a:avLst/>
              </a:prstGeom>
              <a:blipFill>
                <a:blip r:embed="rId2"/>
                <a:stretch>
                  <a:fillRect b="-926"/>
                </a:stretch>
              </a:blipFill>
              <a:effectLst>
                <a:outerShdw blurRad="63500" sx="102000" sy="102000" algn="ctr" rotWithShape="0">
                  <a:prstClr val="black">
                    <a:alpha val="40000"/>
                  </a:prstClr>
                </a:outerShdw>
              </a:effectLst>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6" name="TextBox 5"/>
              <p:cNvSpPr txBox="1"/>
              <p:nvPr/>
            </p:nvSpPr>
            <p:spPr>
              <a:xfrm>
                <a:off x="2415379" y="2189393"/>
                <a:ext cx="3744416" cy="3551037"/>
              </a:xfrm>
              <a:prstGeom prst="rect">
                <a:avLst/>
              </a:prstGeom>
              <a:noFill/>
            </p:spPr>
            <p:txBody>
              <a:bodyPr wrap="square" rtlCol="0">
                <a:spAutoFit/>
              </a:bodyPr>
              <a:lstStyle/>
              <a:p>
                <a:pPr/>
                <a14:m>
                  <m:oMathPara xmlns:m="http://schemas.openxmlformats.org/officeDocument/2006/math">
                    <m:oMathParaPr>
                      <m:jc m:val="left"/>
                    </m:oMathParaPr>
                    <m:oMath>
                      <m:r>
                        <a:rPr lang="en-GB" i="1">
                          <a:latin typeface="Cambria Math" panose="02040503050406030204" pitchFamily="18" charset="0"/>
                        </a:rPr>
                        <m:t>𝑀</m:t>
                      </m:r>
                      <m:d>
                        <m:dPr>
                          <m:ctrlPr>
                            <a:rPr lang="en-GB" i="1">
                              <a:latin typeface="Cambria Math" panose="02040503050406030204" pitchFamily="18" charset="0"/>
                            </a:rPr>
                          </m:ctrlPr>
                        </m:dPr>
                        <m:e>
                          <m:r>
                            <a:rPr lang="en-GB" i="1">
                              <a:latin typeface="Cambria Math" panose="02040503050406030204" pitchFamily="18" charset="0"/>
                            </a:rPr>
                            <m:t>7,12</m:t>
                          </m:r>
                        </m:e>
                      </m:d>
                    </m:oMath>
                    <m:oMath>
                      <m:sSub>
                        <m:sSubPr>
                          <m:ctrlPr>
                            <a:rPr lang="en-GB" i="1">
                              <a:latin typeface="Cambria Math" panose="02040503050406030204" pitchFamily="18" charset="0"/>
                            </a:rPr>
                          </m:ctrlPr>
                        </m:sSubPr>
                        <m:e>
                          <m:r>
                            <a:rPr lang="en-GB" i="1">
                              <a:latin typeface="Cambria Math" panose="02040503050406030204" pitchFamily="18" charset="0"/>
                            </a:rPr>
                            <m:t>𝑚</m:t>
                          </m:r>
                        </m:e>
                        <m:sub>
                          <m:r>
                            <a:rPr lang="en-GB" i="1">
                              <a:latin typeface="Cambria Math" panose="02040503050406030204" pitchFamily="18" charset="0"/>
                            </a:rPr>
                            <m:t>𝐴𝐵</m:t>
                          </m:r>
                        </m:sub>
                      </m:sSub>
                      <m:r>
                        <a:rPr lang="en-GB" i="1">
                          <a:latin typeface="Cambria Math" panose="02040503050406030204" pitchFamily="18" charset="0"/>
                        </a:rPr>
                        <m:t>=</m:t>
                      </m:r>
                      <m:f>
                        <m:fPr>
                          <m:ctrlPr>
                            <a:rPr lang="en-GB">
                              <a:latin typeface="Cambria Math" panose="02040503050406030204" pitchFamily="18" charset="0"/>
                            </a:rPr>
                          </m:ctrlPr>
                        </m:fPr>
                        <m:num>
                          <m:r>
                            <a:rPr lang="en-GB">
                              <a:latin typeface="Cambria Math" panose="02040503050406030204" pitchFamily="18" charset="0"/>
                            </a:rPr>
                            <m:t>10</m:t>
                          </m:r>
                        </m:num>
                        <m:den>
                          <m:r>
                            <a:rPr lang="en-GB">
                              <a:latin typeface="Cambria Math" panose="02040503050406030204" pitchFamily="18" charset="0"/>
                            </a:rPr>
                            <m:t>6</m:t>
                          </m:r>
                        </m:den>
                      </m:f>
                      <m:r>
                        <a:rPr lang="en-GB">
                          <a:latin typeface="Cambria Math" panose="02040503050406030204" pitchFamily="18" charset="0"/>
                        </a:rPr>
                        <m:t>=</m:t>
                      </m:r>
                      <m:f>
                        <m:fPr>
                          <m:ctrlPr>
                            <a:rPr lang="en-GB">
                              <a:latin typeface="Cambria Math" panose="02040503050406030204" pitchFamily="18" charset="0"/>
                            </a:rPr>
                          </m:ctrlPr>
                        </m:fPr>
                        <m:num>
                          <m:r>
                            <a:rPr lang="en-GB">
                              <a:latin typeface="Cambria Math" panose="02040503050406030204" pitchFamily="18" charset="0"/>
                            </a:rPr>
                            <m:t>5</m:t>
                          </m:r>
                        </m:num>
                        <m:den>
                          <m:r>
                            <a:rPr lang="en-GB">
                              <a:latin typeface="Cambria Math" panose="02040503050406030204" pitchFamily="18" charset="0"/>
                            </a:rPr>
                            <m:t>3</m:t>
                          </m:r>
                        </m:den>
                      </m:f>
                      <m:r>
                        <a:rPr lang="en-GB">
                          <a:latin typeface="Cambria Math" panose="02040503050406030204" pitchFamily="18" charset="0"/>
                        </a:rPr>
                        <m:t>    </m:t>
                      </m:r>
                      <m:r>
                        <a:rPr lang="en-GB" i="1">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𝑚</m:t>
                          </m:r>
                        </m:e>
                        <m:sub>
                          <m:r>
                            <a:rPr lang="en-GB" i="1">
                              <a:latin typeface="Cambria Math" panose="02040503050406030204" pitchFamily="18" charset="0"/>
                            </a:rPr>
                            <m:t>⊥</m:t>
                          </m:r>
                        </m:sub>
                      </m:sSub>
                      <m:r>
                        <a:rPr lang="en-GB" i="1">
                          <a:latin typeface="Cambria Math" panose="02040503050406030204" pitchFamily="18" charset="0"/>
                        </a:rPr>
                        <m:t>=−</m:t>
                      </m:r>
                      <m:f>
                        <m:fPr>
                          <m:ctrlPr>
                            <a:rPr lang="en-GB" i="1">
                              <a:latin typeface="Cambria Math" panose="02040503050406030204" pitchFamily="18" charset="0"/>
                            </a:rPr>
                          </m:ctrlPr>
                        </m:fPr>
                        <m:num>
                          <m:r>
                            <a:rPr lang="en-GB" i="1">
                              <a:latin typeface="Cambria Math" panose="02040503050406030204" pitchFamily="18" charset="0"/>
                            </a:rPr>
                            <m:t>3</m:t>
                          </m:r>
                        </m:num>
                        <m:den>
                          <m:r>
                            <a:rPr lang="en-GB" i="1">
                              <a:latin typeface="Cambria Math" panose="02040503050406030204" pitchFamily="18" charset="0"/>
                            </a:rPr>
                            <m:t>5</m:t>
                          </m:r>
                        </m:den>
                      </m:f>
                    </m:oMath>
                    <m:oMath>
                      <m:r>
                        <a:rPr lang="en-GB" i="1">
                          <a:latin typeface="Cambria Math" panose="02040503050406030204" pitchFamily="18" charset="0"/>
                        </a:rPr>
                        <m:t>𝑦</m:t>
                      </m:r>
                      <m:r>
                        <a:rPr lang="en-GB" i="1">
                          <a:latin typeface="Cambria Math" panose="02040503050406030204" pitchFamily="18" charset="0"/>
                        </a:rPr>
                        <m:t>−12=−</m:t>
                      </m:r>
                      <m:f>
                        <m:fPr>
                          <m:ctrlPr>
                            <a:rPr lang="en-GB" i="1">
                              <a:latin typeface="Cambria Math" panose="02040503050406030204" pitchFamily="18" charset="0"/>
                            </a:rPr>
                          </m:ctrlPr>
                        </m:fPr>
                        <m:num>
                          <m:r>
                            <a:rPr lang="en-GB" i="1">
                              <a:latin typeface="Cambria Math" panose="02040503050406030204" pitchFamily="18" charset="0"/>
                            </a:rPr>
                            <m:t>3</m:t>
                          </m:r>
                        </m:num>
                        <m:den>
                          <m:r>
                            <a:rPr lang="en-GB" i="1">
                              <a:latin typeface="Cambria Math" panose="02040503050406030204" pitchFamily="18" charset="0"/>
                            </a:rPr>
                            <m:t>5</m:t>
                          </m:r>
                        </m:den>
                      </m:f>
                      <m:d>
                        <m:dPr>
                          <m:ctrlPr>
                            <a:rPr lang="en-GB" i="1">
                              <a:latin typeface="Cambria Math" panose="02040503050406030204" pitchFamily="18" charset="0"/>
                            </a:rPr>
                          </m:ctrlPr>
                        </m:dPr>
                        <m:e>
                          <m:r>
                            <a:rPr lang="en-GB" i="1">
                              <a:latin typeface="Cambria Math" panose="02040503050406030204" pitchFamily="18" charset="0"/>
                            </a:rPr>
                            <m:t>𝑥</m:t>
                          </m:r>
                          <m:r>
                            <a:rPr lang="en-GB" i="1">
                              <a:latin typeface="Cambria Math" panose="02040503050406030204" pitchFamily="18" charset="0"/>
                            </a:rPr>
                            <m:t>−7</m:t>
                          </m:r>
                        </m:e>
                      </m:d>
                    </m:oMath>
                  </m:oMathPara>
                </a14:m>
                <a:endParaRPr lang="en-GB"/>
              </a:p>
              <a:p>
                <a:endParaRPr lang="en-GB"/>
              </a:p>
              <a:p>
                <a:endParaRPr lang="en-GB"/>
              </a:p>
              <a:p>
                <a:pPr/>
                <a14:m>
                  <m:oMathPara xmlns:m="http://schemas.openxmlformats.org/officeDocument/2006/math">
                    <m:oMath>
                      <m:r>
                        <a:rPr lang="en-GB" i="1">
                          <a:latin typeface="Cambria Math" panose="02040503050406030204" pitchFamily="18" charset="0"/>
                        </a:rPr>
                        <m:t>𝑀</m:t>
                      </m:r>
                      <m:d>
                        <m:dPr>
                          <m:ctrlPr>
                            <a:rPr lang="en-GB" i="1">
                              <a:latin typeface="Cambria Math" panose="02040503050406030204" pitchFamily="18" charset="0"/>
                            </a:rPr>
                          </m:ctrlPr>
                        </m:dPr>
                        <m:e>
                          <m:f>
                            <m:fPr>
                              <m:ctrlPr>
                                <a:rPr lang="en-GB" i="1">
                                  <a:latin typeface="Cambria Math" panose="02040503050406030204" pitchFamily="18" charset="0"/>
                                </a:rPr>
                              </m:ctrlPr>
                            </m:fPr>
                            <m:num>
                              <m:sSub>
                                <m:sSubPr>
                                  <m:ctrlPr>
                                    <a:rPr lang="en-GB" i="1">
                                      <a:latin typeface="Cambria Math" panose="02040503050406030204" pitchFamily="18" charset="0"/>
                                    </a:rPr>
                                  </m:ctrlPr>
                                </m:sSubPr>
                                <m:e>
                                  <m:r>
                                    <a:rPr lang="en-GB" i="1">
                                      <a:latin typeface="Cambria Math" panose="02040503050406030204" pitchFamily="18" charset="0"/>
                                    </a:rPr>
                                    <m:t>𝑥</m:t>
                                  </m:r>
                                </m:e>
                                <m:sub>
                                  <m:r>
                                    <a:rPr lang="en-GB" i="1">
                                      <a:latin typeface="Cambria Math" panose="02040503050406030204" pitchFamily="18" charset="0"/>
                                    </a:rPr>
                                    <m:t>1</m:t>
                                  </m:r>
                                </m:sub>
                              </m:sSub>
                              <m:r>
                                <a:rPr lang="en-GB" i="1">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𝑥</m:t>
                                  </m:r>
                                </m:e>
                                <m:sub>
                                  <m:r>
                                    <a:rPr lang="en-GB" i="1">
                                      <a:latin typeface="Cambria Math" panose="02040503050406030204" pitchFamily="18" charset="0"/>
                                    </a:rPr>
                                    <m:t>2</m:t>
                                  </m:r>
                                </m:sub>
                              </m:sSub>
                            </m:num>
                            <m:den>
                              <m:r>
                                <a:rPr lang="en-GB" i="1">
                                  <a:latin typeface="Cambria Math" panose="02040503050406030204" pitchFamily="18" charset="0"/>
                                </a:rPr>
                                <m:t>2</m:t>
                              </m:r>
                            </m:den>
                          </m:f>
                          <m:r>
                            <a:rPr lang="en-GB" i="1">
                              <a:latin typeface="Cambria Math" panose="02040503050406030204" pitchFamily="18" charset="0"/>
                            </a:rPr>
                            <m:t>,</m:t>
                          </m:r>
                          <m:f>
                            <m:fPr>
                              <m:ctrlPr>
                                <a:rPr lang="en-GB" i="1">
                                  <a:latin typeface="Cambria Math" panose="02040503050406030204" pitchFamily="18" charset="0"/>
                                </a:rPr>
                              </m:ctrlPr>
                            </m:fPr>
                            <m:num>
                              <m:sSub>
                                <m:sSubPr>
                                  <m:ctrlPr>
                                    <a:rPr lang="en-GB" i="1">
                                      <a:latin typeface="Cambria Math" panose="02040503050406030204" pitchFamily="18" charset="0"/>
                                    </a:rPr>
                                  </m:ctrlPr>
                                </m:sSubPr>
                                <m:e>
                                  <m:r>
                                    <a:rPr lang="en-GB" i="1">
                                      <a:latin typeface="Cambria Math" panose="02040503050406030204" pitchFamily="18" charset="0"/>
                                    </a:rPr>
                                    <m:t>𝑦</m:t>
                                  </m:r>
                                </m:e>
                                <m:sub>
                                  <m:r>
                                    <a:rPr lang="en-GB" i="1">
                                      <a:latin typeface="Cambria Math" panose="02040503050406030204" pitchFamily="18" charset="0"/>
                                    </a:rPr>
                                    <m:t>1</m:t>
                                  </m:r>
                                </m:sub>
                              </m:sSub>
                              <m:r>
                                <a:rPr lang="en-GB" i="1">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𝑦</m:t>
                                  </m:r>
                                </m:e>
                                <m:sub>
                                  <m:r>
                                    <a:rPr lang="en-GB" i="1">
                                      <a:latin typeface="Cambria Math" panose="02040503050406030204" pitchFamily="18" charset="0"/>
                                    </a:rPr>
                                    <m:t>2</m:t>
                                  </m:r>
                                </m:sub>
                              </m:sSub>
                            </m:num>
                            <m:den>
                              <m:r>
                                <a:rPr lang="en-GB" i="1">
                                  <a:latin typeface="Cambria Math" panose="02040503050406030204" pitchFamily="18" charset="0"/>
                                </a:rPr>
                                <m:t>2</m:t>
                              </m:r>
                            </m:den>
                          </m:f>
                        </m:e>
                      </m:d>
                    </m:oMath>
                    <m:oMath>
                      <m:sSub>
                        <m:sSubPr>
                          <m:ctrlPr>
                            <a:rPr lang="en-GB" i="1">
                              <a:latin typeface="Cambria Math" panose="02040503050406030204" pitchFamily="18" charset="0"/>
                            </a:rPr>
                          </m:ctrlPr>
                        </m:sSubPr>
                        <m:e>
                          <m:r>
                            <a:rPr lang="en-GB" i="1">
                              <a:latin typeface="Cambria Math" panose="02040503050406030204" pitchFamily="18" charset="0"/>
                            </a:rPr>
                            <m:t>𝑚</m:t>
                          </m:r>
                        </m:e>
                        <m:sub>
                          <m:r>
                            <a:rPr lang="en-GB" i="1">
                              <a:latin typeface="Cambria Math" panose="02040503050406030204" pitchFamily="18" charset="0"/>
                            </a:rPr>
                            <m:t>𝐴𝐵</m:t>
                          </m:r>
                        </m:sub>
                      </m:sSub>
                      <m:r>
                        <a:rPr lang="en-GB" i="1">
                          <a:latin typeface="Cambria Math" panose="02040503050406030204" pitchFamily="18" charset="0"/>
                        </a:rPr>
                        <m:t>=</m:t>
                      </m:r>
                      <m:f>
                        <m:fPr>
                          <m:ctrlPr>
                            <a:rPr lang="en-GB" i="1">
                              <a:latin typeface="Cambria Math" panose="02040503050406030204" pitchFamily="18" charset="0"/>
                            </a:rPr>
                          </m:ctrlPr>
                        </m:fPr>
                        <m:num>
                          <m:sSub>
                            <m:sSubPr>
                              <m:ctrlPr>
                                <a:rPr lang="en-GB" i="1">
                                  <a:latin typeface="Cambria Math" panose="02040503050406030204" pitchFamily="18" charset="0"/>
                                </a:rPr>
                              </m:ctrlPr>
                            </m:sSubPr>
                            <m:e>
                              <m:r>
                                <a:rPr lang="en-GB" i="1">
                                  <a:latin typeface="Cambria Math" panose="02040503050406030204" pitchFamily="18" charset="0"/>
                                </a:rPr>
                                <m:t>𝑦</m:t>
                              </m:r>
                            </m:e>
                            <m:sub>
                              <m:r>
                                <a:rPr lang="en-GB" i="1">
                                  <a:latin typeface="Cambria Math" panose="02040503050406030204" pitchFamily="18" charset="0"/>
                                </a:rPr>
                                <m:t>2</m:t>
                              </m:r>
                            </m:sub>
                          </m:sSub>
                          <m:r>
                            <a:rPr lang="en-GB" i="1">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𝑦</m:t>
                              </m:r>
                            </m:e>
                            <m:sub>
                              <m:r>
                                <a:rPr lang="en-GB" i="1">
                                  <a:latin typeface="Cambria Math" panose="02040503050406030204" pitchFamily="18" charset="0"/>
                                </a:rPr>
                                <m:t>1</m:t>
                              </m:r>
                            </m:sub>
                          </m:sSub>
                        </m:num>
                        <m:den>
                          <m:sSub>
                            <m:sSubPr>
                              <m:ctrlPr>
                                <a:rPr lang="en-GB" i="1">
                                  <a:latin typeface="Cambria Math" panose="02040503050406030204" pitchFamily="18" charset="0"/>
                                </a:rPr>
                              </m:ctrlPr>
                            </m:sSubPr>
                            <m:e>
                              <m:r>
                                <a:rPr lang="en-GB" i="1">
                                  <a:latin typeface="Cambria Math" panose="02040503050406030204" pitchFamily="18" charset="0"/>
                                </a:rPr>
                                <m:t>𝑥</m:t>
                              </m:r>
                            </m:e>
                            <m:sub>
                              <m:r>
                                <a:rPr lang="en-GB" i="1">
                                  <a:latin typeface="Cambria Math" panose="02040503050406030204" pitchFamily="18" charset="0"/>
                                </a:rPr>
                                <m:t>2</m:t>
                              </m:r>
                            </m:sub>
                          </m:sSub>
                          <m:r>
                            <a:rPr lang="en-GB" i="1">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𝑥</m:t>
                              </m:r>
                            </m:e>
                            <m:sub>
                              <m:r>
                                <a:rPr lang="en-GB" i="1">
                                  <a:latin typeface="Cambria Math" panose="02040503050406030204" pitchFamily="18" charset="0"/>
                                </a:rPr>
                                <m:t>1</m:t>
                              </m:r>
                            </m:sub>
                          </m:sSub>
                        </m:den>
                      </m:f>
                      <m:r>
                        <a:rPr lang="en-GB" i="1">
                          <a:latin typeface="Cambria Math" panose="02040503050406030204" pitchFamily="18" charset="0"/>
                        </a:rPr>
                        <m:t>       </m:t>
                      </m:r>
                      <m:sSub>
                        <m:sSubPr>
                          <m:ctrlPr>
                            <a:rPr lang="en-GB" i="1">
                              <a:latin typeface="Cambria Math" panose="02040503050406030204" pitchFamily="18" charset="0"/>
                            </a:rPr>
                          </m:ctrlPr>
                        </m:sSubPr>
                        <m:e>
                          <m:r>
                            <a:rPr lang="en-GB" i="1">
                              <a:latin typeface="Cambria Math" panose="02040503050406030204" pitchFamily="18" charset="0"/>
                            </a:rPr>
                            <m:t>𝑚</m:t>
                          </m:r>
                        </m:e>
                        <m:sub>
                          <m:r>
                            <a:rPr lang="en-GB" i="1">
                              <a:latin typeface="Cambria Math" panose="02040503050406030204" pitchFamily="18" charset="0"/>
                            </a:rPr>
                            <m:t>⊥</m:t>
                          </m:r>
                        </m:sub>
                      </m:sSub>
                      <m:r>
                        <a:rPr lang="en-GB" i="1">
                          <a:latin typeface="Cambria Math" panose="02040503050406030204" pitchFamily="18" charset="0"/>
                        </a:rPr>
                        <m:t>=</m:t>
                      </m:r>
                      <m:f>
                        <m:fPr>
                          <m:ctrlPr>
                            <a:rPr lang="en-GB" i="1">
                              <a:latin typeface="Cambria Math" panose="02040503050406030204" pitchFamily="18" charset="0"/>
                            </a:rPr>
                          </m:ctrlPr>
                        </m:fPr>
                        <m:num>
                          <m:sSub>
                            <m:sSubPr>
                              <m:ctrlPr>
                                <a:rPr lang="en-GB" i="1">
                                  <a:latin typeface="Cambria Math" panose="02040503050406030204" pitchFamily="18" charset="0"/>
                                </a:rPr>
                              </m:ctrlPr>
                            </m:sSubPr>
                            <m:e>
                              <m:r>
                                <a:rPr lang="en-GB" i="1">
                                  <a:latin typeface="Cambria Math" panose="02040503050406030204" pitchFamily="18" charset="0"/>
                                </a:rPr>
                                <m:t>𝑥</m:t>
                              </m:r>
                            </m:e>
                            <m:sub>
                              <m:r>
                                <a:rPr lang="en-GB" i="1">
                                  <a:latin typeface="Cambria Math" panose="02040503050406030204" pitchFamily="18" charset="0"/>
                                </a:rPr>
                                <m:t>1</m:t>
                              </m:r>
                            </m:sub>
                          </m:sSub>
                          <m:r>
                            <a:rPr lang="en-GB" i="1">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𝑥</m:t>
                              </m:r>
                            </m:e>
                            <m:sub>
                              <m:r>
                                <a:rPr lang="en-GB" i="1">
                                  <a:latin typeface="Cambria Math" panose="02040503050406030204" pitchFamily="18" charset="0"/>
                                </a:rPr>
                                <m:t>2</m:t>
                              </m:r>
                            </m:sub>
                          </m:sSub>
                        </m:num>
                        <m:den>
                          <m:sSub>
                            <m:sSubPr>
                              <m:ctrlPr>
                                <a:rPr lang="en-GB" i="1">
                                  <a:latin typeface="Cambria Math" panose="02040503050406030204" pitchFamily="18" charset="0"/>
                                </a:rPr>
                              </m:ctrlPr>
                            </m:sSubPr>
                            <m:e>
                              <m:r>
                                <a:rPr lang="en-GB" i="1">
                                  <a:latin typeface="Cambria Math" panose="02040503050406030204" pitchFamily="18" charset="0"/>
                                </a:rPr>
                                <m:t>𝑦</m:t>
                              </m:r>
                            </m:e>
                            <m:sub>
                              <m:r>
                                <a:rPr lang="en-GB" i="1">
                                  <a:latin typeface="Cambria Math" panose="02040503050406030204" pitchFamily="18" charset="0"/>
                                </a:rPr>
                                <m:t>2</m:t>
                              </m:r>
                            </m:sub>
                          </m:sSub>
                          <m:r>
                            <a:rPr lang="en-GB" i="1">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𝑦</m:t>
                              </m:r>
                            </m:e>
                            <m:sub>
                              <m:r>
                                <a:rPr lang="en-GB" i="1">
                                  <a:latin typeface="Cambria Math" panose="02040503050406030204" pitchFamily="18" charset="0"/>
                                </a:rPr>
                                <m:t>1</m:t>
                              </m:r>
                            </m:sub>
                          </m:sSub>
                        </m:den>
                      </m:f>
                    </m:oMath>
                    <m:oMath>
                      <m:r>
                        <a:rPr lang="en-GB" i="1">
                          <a:latin typeface="Cambria Math" panose="02040503050406030204" pitchFamily="18" charset="0"/>
                        </a:rPr>
                        <m:t>𝑦</m:t>
                      </m:r>
                      <m:r>
                        <a:rPr lang="en-GB" i="1">
                          <a:latin typeface="Cambria Math" panose="02040503050406030204" pitchFamily="18" charset="0"/>
                        </a:rPr>
                        <m:t>−</m:t>
                      </m:r>
                      <m:f>
                        <m:fPr>
                          <m:ctrlPr>
                            <a:rPr lang="en-GB" i="1">
                              <a:latin typeface="Cambria Math" panose="02040503050406030204" pitchFamily="18" charset="0"/>
                            </a:rPr>
                          </m:ctrlPr>
                        </m:fPr>
                        <m:num>
                          <m:sSub>
                            <m:sSubPr>
                              <m:ctrlPr>
                                <a:rPr lang="en-GB" i="1">
                                  <a:latin typeface="Cambria Math" panose="02040503050406030204" pitchFamily="18" charset="0"/>
                                </a:rPr>
                              </m:ctrlPr>
                            </m:sSubPr>
                            <m:e>
                              <m:r>
                                <a:rPr lang="en-GB" i="1">
                                  <a:latin typeface="Cambria Math" panose="02040503050406030204" pitchFamily="18" charset="0"/>
                                </a:rPr>
                                <m:t>𝑦</m:t>
                              </m:r>
                            </m:e>
                            <m:sub>
                              <m:r>
                                <a:rPr lang="en-GB" i="1">
                                  <a:latin typeface="Cambria Math" panose="02040503050406030204" pitchFamily="18" charset="0"/>
                                </a:rPr>
                                <m:t>1</m:t>
                              </m:r>
                            </m:sub>
                          </m:sSub>
                          <m:r>
                            <a:rPr lang="en-GB" i="1">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𝑦</m:t>
                              </m:r>
                            </m:e>
                            <m:sub>
                              <m:r>
                                <a:rPr lang="en-GB" i="1">
                                  <a:latin typeface="Cambria Math" panose="02040503050406030204" pitchFamily="18" charset="0"/>
                                </a:rPr>
                                <m:t>2</m:t>
                              </m:r>
                            </m:sub>
                          </m:sSub>
                        </m:num>
                        <m:den>
                          <m:r>
                            <a:rPr lang="en-GB" i="1">
                              <a:latin typeface="Cambria Math" panose="02040503050406030204" pitchFamily="18" charset="0"/>
                            </a:rPr>
                            <m:t>2</m:t>
                          </m:r>
                        </m:den>
                      </m:f>
                      <m:r>
                        <a:rPr lang="en-GB" i="1">
                          <a:latin typeface="Cambria Math" panose="02040503050406030204" pitchFamily="18" charset="0"/>
                        </a:rPr>
                        <m:t>=</m:t>
                      </m:r>
                      <m:f>
                        <m:fPr>
                          <m:ctrlPr>
                            <a:rPr lang="en-GB" i="1">
                              <a:latin typeface="Cambria Math" panose="02040503050406030204" pitchFamily="18" charset="0"/>
                            </a:rPr>
                          </m:ctrlPr>
                        </m:fPr>
                        <m:num>
                          <m:sSub>
                            <m:sSubPr>
                              <m:ctrlPr>
                                <a:rPr lang="en-GB" i="1">
                                  <a:latin typeface="Cambria Math" panose="02040503050406030204" pitchFamily="18" charset="0"/>
                                </a:rPr>
                              </m:ctrlPr>
                            </m:sSubPr>
                            <m:e>
                              <m:r>
                                <a:rPr lang="en-GB" i="1">
                                  <a:latin typeface="Cambria Math" panose="02040503050406030204" pitchFamily="18" charset="0"/>
                                </a:rPr>
                                <m:t>𝑥</m:t>
                              </m:r>
                            </m:e>
                            <m:sub>
                              <m:r>
                                <a:rPr lang="en-GB" i="1">
                                  <a:latin typeface="Cambria Math" panose="02040503050406030204" pitchFamily="18" charset="0"/>
                                </a:rPr>
                                <m:t>1</m:t>
                              </m:r>
                            </m:sub>
                          </m:sSub>
                          <m:r>
                            <a:rPr lang="en-GB" i="1">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𝑥</m:t>
                              </m:r>
                            </m:e>
                            <m:sub>
                              <m:r>
                                <a:rPr lang="en-GB" i="1">
                                  <a:latin typeface="Cambria Math" panose="02040503050406030204" pitchFamily="18" charset="0"/>
                                </a:rPr>
                                <m:t>2</m:t>
                              </m:r>
                            </m:sub>
                          </m:sSub>
                        </m:num>
                        <m:den>
                          <m:sSub>
                            <m:sSubPr>
                              <m:ctrlPr>
                                <a:rPr lang="en-GB" i="1">
                                  <a:latin typeface="Cambria Math" panose="02040503050406030204" pitchFamily="18" charset="0"/>
                                </a:rPr>
                              </m:ctrlPr>
                            </m:sSubPr>
                            <m:e>
                              <m:r>
                                <a:rPr lang="en-GB" i="1">
                                  <a:latin typeface="Cambria Math" panose="02040503050406030204" pitchFamily="18" charset="0"/>
                                </a:rPr>
                                <m:t>𝑦</m:t>
                              </m:r>
                            </m:e>
                            <m:sub>
                              <m:r>
                                <a:rPr lang="en-GB" i="1">
                                  <a:latin typeface="Cambria Math" panose="02040503050406030204" pitchFamily="18" charset="0"/>
                                </a:rPr>
                                <m:t>2</m:t>
                              </m:r>
                            </m:sub>
                          </m:sSub>
                          <m:r>
                            <a:rPr lang="en-GB" i="1">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𝑦</m:t>
                              </m:r>
                            </m:e>
                            <m:sub>
                              <m:r>
                                <a:rPr lang="en-GB" i="1">
                                  <a:latin typeface="Cambria Math" panose="02040503050406030204" pitchFamily="18" charset="0"/>
                                </a:rPr>
                                <m:t>1</m:t>
                              </m:r>
                            </m:sub>
                          </m:sSub>
                        </m:den>
                      </m:f>
                      <m:d>
                        <m:dPr>
                          <m:ctrlPr>
                            <a:rPr lang="en-GB" i="1">
                              <a:latin typeface="Cambria Math" panose="02040503050406030204" pitchFamily="18" charset="0"/>
                            </a:rPr>
                          </m:ctrlPr>
                        </m:dPr>
                        <m:e>
                          <m:r>
                            <a:rPr lang="en-GB" i="1">
                              <a:latin typeface="Cambria Math" panose="02040503050406030204" pitchFamily="18" charset="0"/>
                            </a:rPr>
                            <m:t>𝑥</m:t>
                          </m:r>
                          <m:r>
                            <a:rPr lang="en-GB" i="1">
                              <a:latin typeface="Cambria Math" panose="02040503050406030204" pitchFamily="18" charset="0"/>
                            </a:rPr>
                            <m:t>−</m:t>
                          </m:r>
                          <m:f>
                            <m:fPr>
                              <m:ctrlPr>
                                <a:rPr lang="en-GB" i="1">
                                  <a:latin typeface="Cambria Math" panose="02040503050406030204" pitchFamily="18" charset="0"/>
                                </a:rPr>
                              </m:ctrlPr>
                            </m:fPr>
                            <m:num>
                              <m:sSub>
                                <m:sSubPr>
                                  <m:ctrlPr>
                                    <a:rPr lang="en-GB" i="1">
                                      <a:latin typeface="Cambria Math" panose="02040503050406030204" pitchFamily="18" charset="0"/>
                                    </a:rPr>
                                  </m:ctrlPr>
                                </m:sSubPr>
                                <m:e>
                                  <m:r>
                                    <a:rPr lang="en-GB" i="1">
                                      <a:latin typeface="Cambria Math" panose="02040503050406030204" pitchFamily="18" charset="0"/>
                                    </a:rPr>
                                    <m:t>𝑥</m:t>
                                  </m:r>
                                </m:e>
                                <m:sub>
                                  <m:r>
                                    <a:rPr lang="en-GB" i="1">
                                      <a:latin typeface="Cambria Math" panose="02040503050406030204" pitchFamily="18" charset="0"/>
                                    </a:rPr>
                                    <m:t>1</m:t>
                                  </m:r>
                                </m:sub>
                              </m:sSub>
                              <m:r>
                                <a:rPr lang="en-GB" i="1">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𝑥</m:t>
                                  </m:r>
                                </m:e>
                                <m:sub>
                                  <m:r>
                                    <a:rPr lang="en-GB" i="1">
                                      <a:latin typeface="Cambria Math" panose="02040503050406030204" pitchFamily="18" charset="0"/>
                                    </a:rPr>
                                    <m:t>2</m:t>
                                  </m:r>
                                </m:sub>
                              </m:sSub>
                            </m:num>
                            <m:den>
                              <m:r>
                                <a:rPr lang="en-GB" i="1">
                                  <a:latin typeface="Cambria Math" panose="02040503050406030204" pitchFamily="18" charset="0"/>
                                </a:rPr>
                                <m:t>2</m:t>
                              </m:r>
                            </m:den>
                          </m:f>
                        </m:e>
                      </m:d>
                    </m:oMath>
                  </m:oMathPara>
                </a14:m>
                <a:endParaRPr lang="en-GB"/>
              </a:p>
            </p:txBody>
          </p:sp>
        </mc:Choice>
        <mc:Fallback>
          <p:sp>
            <p:nvSpPr>
              <p:cNvPr id="6" name="TextBox 5"/>
              <p:cNvSpPr txBox="1">
                <a:spLocks noRot="1" noChangeAspect="1" noMove="1" noResize="1" noEditPoints="1" noAdjustHandles="1" noChangeArrowheads="1" noChangeShapeType="1" noTextEdit="1"/>
              </p:cNvSpPr>
              <p:nvPr/>
            </p:nvSpPr>
            <p:spPr>
              <a:xfrm>
                <a:off x="2415379" y="2189393"/>
                <a:ext cx="3744416" cy="3551037"/>
              </a:xfrm>
              <a:prstGeom prst="rect">
                <a:avLst/>
              </a:prstGeom>
              <a:blipFill>
                <a:blip r:embed="rId3"/>
                <a:stretch>
                  <a:fillRect/>
                </a:stretch>
              </a:blipFill>
            </p:spPr>
            <p:txBody>
              <a:bodyPr/>
              <a:lstStyle/>
              <a:p>
                <a:r>
                  <a:rPr lang="en-US">
                    <a:noFill/>
                  </a:rPr>
                  <a:t> </a:t>
                </a:r>
              </a:p>
            </p:txBody>
          </p:sp>
        </mc:Fallback>
      </mc:AlternateContent>
      <p:sp>
        <p:nvSpPr>
          <p:cNvPr id="7" name="Rectangle 6"/>
          <p:cNvSpPr/>
          <p:nvPr/>
        </p:nvSpPr>
        <p:spPr>
          <a:xfrm>
            <a:off x="2129767" y="2242554"/>
            <a:ext cx="216024" cy="231496"/>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a:t>a</a:t>
            </a:r>
          </a:p>
        </p:txBody>
      </p:sp>
      <p:sp>
        <p:nvSpPr>
          <p:cNvPr id="8" name="Rectangle 7"/>
          <p:cNvSpPr/>
          <p:nvPr/>
        </p:nvSpPr>
        <p:spPr>
          <a:xfrm>
            <a:off x="2129767" y="4078737"/>
            <a:ext cx="216024" cy="231496"/>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a:t>b</a:t>
            </a:r>
          </a:p>
        </p:txBody>
      </p:sp>
      <p:sp>
        <p:nvSpPr>
          <p:cNvPr id="9" name="Rectangle 8"/>
          <p:cNvSpPr/>
          <p:nvPr/>
        </p:nvSpPr>
        <p:spPr>
          <a:xfrm>
            <a:off x="2382075" y="2242554"/>
            <a:ext cx="3814004" cy="1402470"/>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
        <p:nvSpPr>
          <p:cNvPr id="10" name="Rectangle 9"/>
          <p:cNvSpPr/>
          <p:nvPr/>
        </p:nvSpPr>
        <p:spPr>
          <a:xfrm>
            <a:off x="2355108" y="4081749"/>
            <a:ext cx="3814004" cy="1714854"/>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
        <p:nvSpPr>
          <p:cNvPr id="11" name="TextBox 10"/>
          <p:cNvSpPr txBox="1"/>
          <p:nvPr/>
        </p:nvSpPr>
        <p:spPr>
          <a:xfrm>
            <a:off x="2919435" y="5904139"/>
            <a:ext cx="2736304" cy="646331"/>
          </a:xfrm>
          <a:prstGeom prst="rect">
            <a:avLst/>
          </a:prstGeom>
          <a:noFill/>
        </p:spPr>
        <p:txBody>
          <a:bodyPr wrap="square" rtlCol="0">
            <a:spAutoFit/>
          </a:bodyPr>
          <a:lstStyle/>
          <a:p>
            <a:r>
              <a:rPr lang="en-GB" b="1"/>
              <a:t>Note</a:t>
            </a:r>
            <a:r>
              <a:rPr lang="en-GB"/>
              <a:t>: Do </a:t>
            </a:r>
            <a:r>
              <a:rPr lang="en-GB" u="sng"/>
              <a:t>not</a:t>
            </a:r>
            <a:r>
              <a:rPr lang="en-GB"/>
              <a:t> try to memorise this!</a:t>
            </a:r>
          </a:p>
        </p:txBody>
      </p:sp>
      <mc:AlternateContent xmlns:mc="http://schemas.openxmlformats.org/markup-compatibility/2006">
        <mc:Choice xmlns:a14="http://schemas.microsoft.com/office/drawing/2010/main" Requires="a14">
          <p:sp>
            <p:nvSpPr>
              <p:cNvPr id="12" name="TextBox 11"/>
              <p:cNvSpPr txBox="1"/>
              <p:nvPr/>
            </p:nvSpPr>
            <p:spPr>
              <a:xfrm>
                <a:off x="6507524" y="759196"/>
                <a:ext cx="3692933" cy="1200329"/>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a:t>A line segment </a:t>
                </a:r>
                <a14:m>
                  <m:oMath xmlns:m="http://schemas.openxmlformats.org/officeDocument/2006/math">
                    <m:r>
                      <a:rPr lang="en-GB" i="1">
                        <a:latin typeface="Cambria Math" panose="02040503050406030204" pitchFamily="18" charset="0"/>
                      </a:rPr>
                      <m:t>𝐴𝐵</m:t>
                    </m:r>
                  </m:oMath>
                </a14:m>
                <a:r>
                  <a:rPr lang="en-GB"/>
                  <a:t> is the diameter of a circle with centre </a:t>
                </a:r>
                <a14:m>
                  <m:oMath xmlns:m="http://schemas.openxmlformats.org/officeDocument/2006/math">
                    <m:d>
                      <m:dPr>
                        <m:ctrlPr>
                          <a:rPr lang="en-GB" i="1">
                            <a:latin typeface="Cambria Math" panose="02040503050406030204" pitchFamily="18" charset="0"/>
                          </a:rPr>
                        </m:ctrlPr>
                      </m:dPr>
                      <m:e>
                        <m:r>
                          <a:rPr lang="en-GB" i="1">
                            <a:latin typeface="Cambria Math" panose="02040503050406030204" pitchFamily="18" charset="0"/>
                          </a:rPr>
                          <m:t>5,−4</m:t>
                        </m:r>
                      </m:e>
                    </m:d>
                  </m:oMath>
                </a14:m>
                <a:r>
                  <a:rPr lang="en-GB"/>
                  <a:t>. If </a:t>
                </a:r>
                <a14:m>
                  <m:oMath xmlns:m="http://schemas.openxmlformats.org/officeDocument/2006/math">
                    <m:r>
                      <a:rPr lang="en-GB" i="1">
                        <a:latin typeface="Cambria Math" panose="02040503050406030204" pitchFamily="18" charset="0"/>
                      </a:rPr>
                      <m:t>𝐴</m:t>
                    </m:r>
                  </m:oMath>
                </a14:m>
                <a:r>
                  <a:rPr lang="en-GB"/>
                  <a:t> has coordinates </a:t>
                </a:r>
                <a14:m>
                  <m:oMath xmlns:m="http://schemas.openxmlformats.org/officeDocument/2006/math">
                    <m:d>
                      <m:dPr>
                        <m:ctrlPr>
                          <a:rPr lang="en-GB" i="1">
                            <a:latin typeface="Cambria Math" panose="02040503050406030204" pitchFamily="18" charset="0"/>
                          </a:rPr>
                        </m:ctrlPr>
                      </m:dPr>
                      <m:e>
                        <m:r>
                          <a:rPr lang="en-GB" i="1">
                            <a:latin typeface="Cambria Math" panose="02040503050406030204" pitchFamily="18" charset="0"/>
                          </a:rPr>
                          <m:t>1,−2</m:t>
                        </m:r>
                      </m:e>
                    </m:d>
                  </m:oMath>
                </a14:m>
                <a:r>
                  <a:rPr lang="en-GB"/>
                  <a:t>, what are the coordinates of </a:t>
                </a:r>
                <a14:m>
                  <m:oMath xmlns:m="http://schemas.openxmlformats.org/officeDocument/2006/math">
                    <m:r>
                      <a:rPr lang="en-GB" i="1">
                        <a:latin typeface="Cambria Math" panose="02040503050406030204" pitchFamily="18" charset="0"/>
                      </a:rPr>
                      <m:t>𝐵</m:t>
                    </m:r>
                  </m:oMath>
                </a14:m>
                <a:r>
                  <a:rPr lang="en-GB"/>
                  <a:t>? </a:t>
                </a:r>
              </a:p>
            </p:txBody>
          </p:sp>
        </mc:Choice>
        <mc:Fallback>
          <p:sp>
            <p:nvSpPr>
              <p:cNvPr id="12" name="TextBox 11"/>
              <p:cNvSpPr txBox="1">
                <a:spLocks noRot="1" noChangeAspect="1" noMove="1" noResize="1" noEditPoints="1" noAdjustHandles="1" noChangeArrowheads="1" noChangeShapeType="1" noTextEdit="1"/>
              </p:cNvSpPr>
              <p:nvPr/>
            </p:nvSpPr>
            <p:spPr>
              <a:xfrm>
                <a:off x="6507524" y="759196"/>
                <a:ext cx="3692933" cy="1200329"/>
              </a:xfrm>
              <a:prstGeom prst="rect">
                <a:avLst/>
              </a:prstGeom>
              <a:blipFill>
                <a:blip r:embed="rId4"/>
                <a:stretch>
                  <a:fillRect b="-926"/>
                </a:stretch>
              </a:blipFill>
              <a:effectLst>
                <a:outerShdw blurRad="63500" sx="102000" sy="102000" algn="ctr" rotWithShape="0">
                  <a:prstClr val="black">
                    <a:alpha val="40000"/>
                  </a:prstClr>
                </a:outerShdw>
              </a:effectLst>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3" name="TextBox 12"/>
              <p:cNvSpPr txBox="1"/>
              <p:nvPr/>
            </p:nvSpPr>
            <p:spPr>
              <a:xfrm>
                <a:off x="6729553" y="2717088"/>
                <a:ext cx="1397266" cy="369332"/>
              </a:xfrm>
              <a:prstGeom prst="rect">
                <a:avLst/>
              </a:prstGeom>
              <a:noFill/>
            </p:spPr>
            <p:txBody>
              <a:bodyPr wrap="square" rtlCol="0">
                <a:spAutoFit/>
              </a:bodyPr>
              <a:lstStyle/>
              <a:p>
                <a:pPr/>
                <a14:m>
                  <m:oMathPara xmlns:m="http://schemas.openxmlformats.org/officeDocument/2006/math">
                    <m:oMath>
                      <m:r>
                        <a:rPr lang="en-GB" i="1">
                          <a:latin typeface="Cambria Math" panose="02040503050406030204" pitchFamily="18" charset="0"/>
                        </a:rPr>
                        <m:t>𝐴</m:t>
                      </m:r>
                      <m:d>
                        <m:dPr>
                          <m:ctrlPr>
                            <a:rPr lang="en-GB" i="1">
                              <a:latin typeface="Cambria Math" panose="02040503050406030204" pitchFamily="18" charset="0"/>
                            </a:rPr>
                          </m:ctrlPr>
                        </m:dPr>
                        <m:e>
                          <m:r>
                            <a:rPr lang="en-GB" i="1">
                              <a:latin typeface="Cambria Math" panose="02040503050406030204" pitchFamily="18" charset="0"/>
                            </a:rPr>
                            <m:t>1,−2</m:t>
                          </m:r>
                        </m:e>
                      </m:d>
                    </m:oMath>
                  </m:oMathPara>
                </a14:m>
                <a:endParaRPr lang="en-GB"/>
              </a:p>
            </p:txBody>
          </p:sp>
        </mc:Choice>
        <mc:Fallback>
          <p:sp>
            <p:nvSpPr>
              <p:cNvPr id="13" name="TextBox 12"/>
              <p:cNvSpPr txBox="1">
                <a:spLocks noRot="1" noChangeAspect="1" noMove="1" noResize="1" noEditPoints="1" noAdjustHandles="1" noChangeArrowheads="1" noChangeShapeType="1" noTextEdit="1"/>
              </p:cNvSpPr>
              <p:nvPr/>
            </p:nvSpPr>
            <p:spPr>
              <a:xfrm>
                <a:off x="6729553" y="2717088"/>
                <a:ext cx="1397266" cy="36933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4" name="TextBox 13"/>
              <p:cNvSpPr txBox="1"/>
              <p:nvPr/>
            </p:nvSpPr>
            <p:spPr>
              <a:xfrm>
                <a:off x="7482916" y="3163600"/>
                <a:ext cx="1397266" cy="369332"/>
              </a:xfrm>
              <a:prstGeom prst="rect">
                <a:avLst/>
              </a:prstGeom>
              <a:noFill/>
            </p:spPr>
            <p:txBody>
              <a:bodyPr wrap="square" rtlCol="0">
                <a:spAutoFit/>
              </a:bodyPr>
              <a:lstStyle/>
              <a:p>
                <a:pPr/>
                <a14:m>
                  <m:oMathPara xmlns:m="http://schemas.openxmlformats.org/officeDocument/2006/math">
                    <m:oMath>
                      <m:r>
                        <a:rPr lang="en-GB" i="1">
                          <a:latin typeface="Cambria Math" panose="02040503050406030204" pitchFamily="18" charset="0"/>
                        </a:rPr>
                        <m:t>𝑀</m:t>
                      </m:r>
                      <m:d>
                        <m:dPr>
                          <m:ctrlPr>
                            <a:rPr lang="en-GB" i="1">
                              <a:latin typeface="Cambria Math" panose="02040503050406030204" pitchFamily="18" charset="0"/>
                            </a:rPr>
                          </m:ctrlPr>
                        </m:dPr>
                        <m:e>
                          <m:r>
                            <a:rPr lang="en-GB" i="1">
                              <a:latin typeface="Cambria Math" panose="02040503050406030204" pitchFamily="18" charset="0"/>
                            </a:rPr>
                            <m:t>5,−4</m:t>
                          </m:r>
                        </m:e>
                      </m:d>
                    </m:oMath>
                  </m:oMathPara>
                </a14:m>
                <a:endParaRPr lang="en-GB"/>
              </a:p>
            </p:txBody>
          </p:sp>
        </mc:Choice>
        <mc:Fallback>
          <p:sp>
            <p:nvSpPr>
              <p:cNvPr id="14" name="TextBox 13"/>
              <p:cNvSpPr txBox="1">
                <a:spLocks noRot="1" noChangeAspect="1" noMove="1" noResize="1" noEditPoints="1" noAdjustHandles="1" noChangeArrowheads="1" noChangeShapeType="1" noTextEdit="1"/>
              </p:cNvSpPr>
              <p:nvPr/>
            </p:nvSpPr>
            <p:spPr>
              <a:xfrm>
                <a:off x="7482916" y="3163600"/>
                <a:ext cx="1397266" cy="369332"/>
              </a:xfrm>
              <a:prstGeom prst="rect">
                <a:avLst/>
              </a:prstGeom>
              <a:blipFill>
                <a:blip r:embed="rId6"/>
                <a:stretch>
                  <a:fillRect/>
                </a:stretch>
              </a:blipFill>
            </p:spPr>
            <p:txBody>
              <a:bodyPr/>
              <a:lstStyle/>
              <a:p>
                <a:r>
                  <a:rPr lang="en-US">
                    <a:noFill/>
                  </a:rPr>
                  <a:t> </a:t>
                </a:r>
              </a:p>
            </p:txBody>
          </p:sp>
        </mc:Fallback>
      </mc:AlternateContent>
      <p:sp>
        <p:nvSpPr>
          <p:cNvPr id="15" name="Oval 14"/>
          <p:cNvSpPr/>
          <p:nvPr/>
        </p:nvSpPr>
        <p:spPr>
          <a:xfrm>
            <a:off x="7597216" y="2609354"/>
            <a:ext cx="111684" cy="11479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sp>
        <p:nvSpPr>
          <p:cNvPr id="16" name="Oval 15"/>
          <p:cNvSpPr/>
          <p:nvPr/>
        </p:nvSpPr>
        <p:spPr>
          <a:xfrm>
            <a:off x="8616280" y="3095691"/>
            <a:ext cx="111684" cy="11479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sp>
        <p:nvSpPr>
          <p:cNvPr id="17" name="Oval 16"/>
          <p:cNvSpPr/>
          <p:nvPr/>
        </p:nvSpPr>
        <p:spPr>
          <a:xfrm>
            <a:off x="9552384" y="3530228"/>
            <a:ext cx="111684" cy="11479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mc:AlternateContent xmlns:mc="http://schemas.openxmlformats.org/markup-compatibility/2006">
        <mc:Choice xmlns:a14="http://schemas.microsoft.com/office/drawing/2010/main" Requires="a14">
          <p:sp>
            <p:nvSpPr>
              <p:cNvPr id="18" name="TextBox 17"/>
              <p:cNvSpPr txBox="1"/>
              <p:nvPr/>
            </p:nvSpPr>
            <p:spPr>
              <a:xfrm>
                <a:off x="9151714" y="3589271"/>
                <a:ext cx="576064" cy="369332"/>
              </a:xfrm>
              <a:prstGeom prst="rect">
                <a:avLst/>
              </a:prstGeom>
              <a:noFill/>
            </p:spPr>
            <p:txBody>
              <a:bodyPr wrap="square" rtlCol="0">
                <a:spAutoFit/>
              </a:bodyPr>
              <a:lstStyle/>
              <a:p>
                <a:pPr/>
                <a14:m>
                  <m:oMathPara xmlns:m="http://schemas.openxmlformats.org/officeDocument/2006/math">
                    <m:oMath>
                      <m:r>
                        <a:rPr lang="en-GB" i="1">
                          <a:latin typeface="Cambria Math" panose="02040503050406030204" pitchFamily="18" charset="0"/>
                        </a:rPr>
                        <m:t>𝐵</m:t>
                      </m:r>
                    </m:oMath>
                  </m:oMathPara>
                </a14:m>
                <a:endParaRPr lang="en-GB"/>
              </a:p>
            </p:txBody>
          </p:sp>
        </mc:Choice>
        <mc:Fallback>
          <p:sp>
            <p:nvSpPr>
              <p:cNvPr id="18" name="TextBox 17"/>
              <p:cNvSpPr txBox="1">
                <a:spLocks noRot="1" noChangeAspect="1" noMove="1" noResize="1" noEditPoints="1" noAdjustHandles="1" noChangeArrowheads="1" noChangeShapeType="1" noTextEdit="1"/>
              </p:cNvSpPr>
              <p:nvPr/>
            </p:nvSpPr>
            <p:spPr>
              <a:xfrm>
                <a:off x="9151714" y="3589271"/>
                <a:ext cx="576064" cy="369332"/>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9" name="TextBox 18"/>
              <p:cNvSpPr txBox="1"/>
              <p:nvPr/>
            </p:nvSpPr>
            <p:spPr>
              <a:xfrm>
                <a:off x="6667288" y="4101340"/>
                <a:ext cx="3533169" cy="2445862"/>
              </a:xfrm>
              <a:prstGeom prst="rect">
                <a:avLst/>
              </a:prstGeom>
              <a:noFill/>
            </p:spPr>
            <p:txBody>
              <a:bodyPr wrap="square" rtlCol="0">
                <a:spAutoFit/>
              </a:bodyPr>
              <a:lstStyle/>
              <a:p>
                <a:r>
                  <a:rPr lang="en-GB"/>
                  <a:t>We could use the formula </a:t>
                </a:r>
                <a14:m>
                  <m:oMath xmlns:m="http://schemas.openxmlformats.org/officeDocument/2006/math">
                    <m:d>
                      <m:dPr>
                        <m:ctrlPr>
                          <a:rPr lang="en-GB" i="1">
                            <a:latin typeface="Cambria Math" panose="02040503050406030204" pitchFamily="18" charset="0"/>
                          </a:rPr>
                        </m:ctrlPr>
                      </m:dPr>
                      <m:e>
                        <m:f>
                          <m:fPr>
                            <m:ctrlPr>
                              <a:rPr lang="en-GB" i="1">
                                <a:latin typeface="Cambria Math" panose="02040503050406030204" pitchFamily="18" charset="0"/>
                              </a:rPr>
                            </m:ctrlPr>
                          </m:fPr>
                          <m:num>
                            <m:sSub>
                              <m:sSubPr>
                                <m:ctrlPr>
                                  <a:rPr lang="en-GB" i="1">
                                    <a:latin typeface="Cambria Math" panose="02040503050406030204" pitchFamily="18" charset="0"/>
                                  </a:rPr>
                                </m:ctrlPr>
                              </m:sSubPr>
                              <m:e>
                                <m:r>
                                  <a:rPr lang="en-GB" i="1">
                                    <a:latin typeface="Cambria Math" panose="02040503050406030204" pitchFamily="18" charset="0"/>
                                  </a:rPr>
                                  <m:t>𝑥</m:t>
                                </m:r>
                              </m:e>
                              <m:sub>
                                <m:r>
                                  <a:rPr lang="en-GB" i="1">
                                    <a:latin typeface="Cambria Math" panose="02040503050406030204" pitchFamily="18" charset="0"/>
                                  </a:rPr>
                                  <m:t>1</m:t>
                                </m:r>
                              </m:sub>
                            </m:sSub>
                            <m:r>
                              <a:rPr lang="en-GB" i="1">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𝑥</m:t>
                                </m:r>
                              </m:e>
                              <m:sub>
                                <m:r>
                                  <a:rPr lang="en-GB" i="1">
                                    <a:latin typeface="Cambria Math" panose="02040503050406030204" pitchFamily="18" charset="0"/>
                                  </a:rPr>
                                  <m:t>2</m:t>
                                </m:r>
                              </m:sub>
                            </m:sSub>
                          </m:num>
                          <m:den>
                            <m:r>
                              <a:rPr lang="en-GB" i="1">
                                <a:latin typeface="Cambria Math" panose="02040503050406030204" pitchFamily="18" charset="0"/>
                              </a:rPr>
                              <m:t>2</m:t>
                            </m:r>
                          </m:den>
                        </m:f>
                        <m:r>
                          <a:rPr lang="en-GB" i="1">
                            <a:latin typeface="Cambria Math" panose="02040503050406030204" pitchFamily="18" charset="0"/>
                          </a:rPr>
                          <m:t>,</m:t>
                        </m:r>
                        <m:f>
                          <m:fPr>
                            <m:ctrlPr>
                              <a:rPr lang="en-GB" i="1">
                                <a:latin typeface="Cambria Math" panose="02040503050406030204" pitchFamily="18" charset="0"/>
                              </a:rPr>
                            </m:ctrlPr>
                          </m:fPr>
                          <m:num>
                            <m:sSub>
                              <m:sSubPr>
                                <m:ctrlPr>
                                  <a:rPr lang="en-GB" i="1">
                                    <a:latin typeface="Cambria Math" panose="02040503050406030204" pitchFamily="18" charset="0"/>
                                  </a:rPr>
                                </m:ctrlPr>
                              </m:sSubPr>
                              <m:e>
                                <m:r>
                                  <a:rPr lang="en-GB" i="1">
                                    <a:latin typeface="Cambria Math" panose="02040503050406030204" pitchFamily="18" charset="0"/>
                                  </a:rPr>
                                  <m:t>𝑦</m:t>
                                </m:r>
                              </m:e>
                              <m:sub>
                                <m:r>
                                  <a:rPr lang="en-GB" i="1">
                                    <a:latin typeface="Cambria Math" panose="02040503050406030204" pitchFamily="18" charset="0"/>
                                  </a:rPr>
                                  <m:t>1</m:t>
                                </m:r>
                              </m:sub>
                            </m:sSub>
                            <m:r>
                              <a:rPr lang="en-GB" i="1">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𝑦</m:t>
                                </m:r>
                              </m:e>
                              <m:sub>
                                <m:r>
                                  <a:rPr lang="en-GB" i="1">
                                    <a:latin typeface="Cambria Math" panose="02040503050406030204" pitchFamily="18" charset="0"/>
                                  </a:rPr>
                                  <m:t>2</m:t>
                                </m:r>
                              </m:sub>
                            </m:sSub>
                          </m:num>
                          <m:den>
                            <m:r>
                              <a:rPr lang="en-GB" i="1">
                                <a:latin typeface="Cambria Math" panose="02040503050406030204" pitchFamily="18" charset="0"/>
                              </a:rPr>
                              <m:t>2</m:t>
                            </m:r>
                          </m:den>
                        </m:f>
                      </m:e>
                    </m:d>
                  </m:oMath>
                </a14:m>
                <a:r>
                  <a:rPr lang="en-GB"/>
                  <a:t>, but it is easy to see from the diagram that whatever movement there is from </a:t>
                </a:r>
                <a14:m>
                  <m:oMath xmlns:m="http://schemas.openxmlformats.org/officeDocument/2006/math">
                    <m:r>
                      <a:rPr lang="en-GB" i="1">
                        <a:latin typeface="Cambria Math" panose="02040503050406030204" pitchFamily="18" charset="0"/>
                      </a:rPr>
                      <m:t>𝐴</m:t>
                    </m:r>
                  </m:oMath>
                </a14:m>
                <a:r>
                  <a:rPr lang="en-GB"/>
                  <a:t> to </a:t>
                </a:r>
                <a14:m>
                  <m:oMath xmlns:m="http://schemas.openxmlformats.org/officeDocument/2006/math">
                    <m:r>
                      <a:rPr lang="en-GB" i="1">
                        <a:latin typeface="Cambria Math" panose="02040503050406030204" pitchFamily="18" charset="0"/>
                      </a:rPr>
                      <m:t>𝑀</m:t>
                    </m:r>
                  </m:oMath>
                </a14:m>
                <a:r>
                  <a:rPr lang="en-GB"/>
                  <a:t>, we can continue to get to </a:t>
                </a:r>
                <a14:m>
                  <m:oMath xmlns:m="http://schemas.openxmlformats.org/officeDocument/2006/math">
                    <m:r>
                      <a:rPr lang="en-GB" i="1">
                        <a:latin typeface="Cambria Math" panose="02040503050406030204" pitchFamily="18" charset="0"/>
                      </a:rPr>
                      <m:t>𝐵</m:t>
                    </m:r>
                  </m:oMath>
                </a14:m>
                <a:r>
                  <a:rPr lang="en-GB"/>
                  <a:t>.</a:t>
                </a:r>
              </a:p>
              <a:p>
                <a:pPr/>
                <a14:m>
                  <m:oMathPara xmlns:m="http://schemas.openxmlformats.org/officeDocument/2006/math">
                    <m:oMath>
                      <m:r>
                        <a:rPr lang="en-GB" i="1">
                          <a:latin typeface="Cambria Math" panose="02040503050406030204" pitchFamily="18" charset="0"/>
                        </a:rPr>
                        <m:t>5+4=9</m:t>
                      </m:r>
                    </m:oMath>
                    <m:oMath>
                      <m:r>
                        <a:rPr lang="en-GB" i="1">
                          <a:latin typeface="Cambria Math" panose="02040503050406030204" pitchFamily="18" charset="0"/>
                        </a:rPr>
                        <m:t>−4−2=−6</m:t>
                      </m:r>
                    </m:oMath>
                    <m:oMath>
                      <m:r>
                        <a:rPr lang="en-GB" i="1">
                          <a:latin typeface="Cambria Math" panose="02040503050406030204" pitchFamily="18" charset="0"/>
                        </a:rPr>
                        <m:t>𝐵</m:t>
                      </m:r>
                      <m:d>
                        <m:dPr>
                          <m:ctrlPr>
                            <a:rPr lang="en-GB" i="1">
                              <a:latin typeface="Cambria Math" panose="02040503050406030204" pitchFamily="18" charset="0"/>
                            </a:rPr>
                          </m:ctrlPr>
                        </m:dPr>
                        <m:e>
                          <m:r>
                            <a:rPr lang="en-GB" i="1">
                              <a:latin typeface="Cambria Math" panose="02040503050406030204" pitchFamily="18" charset="0"/>
                            </a:rPr>
                            <m:t>9,−6</m:t>
                          </m:r>
                        </m:e>
                      </m:d>
                    </m:oMath>
                  </m:oMathPara>
                </a14:m>
                <a:endParaRPr lang="en-GB"/>
              </a:p>
            </p:txBody>
          </p:sp>
        </mc:Choice>
        <mc:Fallback>
          <p:sp>
            <p:nvSpPr>
              <p:cNvPr id="19" name="TextBox 18"/>
              <p:cNvSpPr txBox="1">
                <a:spLocks noRot="1" noChangeAspect="1" noMove="1" noResize="1" noEditPoints="1" noAdjustHandles="1" noChangeArrowheads="1" noChangeShapeType="1" noTextEdit="1"/>
              </p:cNvSpPr>
              <p:nvPr/>
            </p:nvSpPr>
            <p:spPr>
              <a:xfrm>
                <a:off x="6667288" y="4101340"/>
                <a:ext cx="3533169" cy="2445862"/>
              </a:xfrm>
              <a:prstGeom prst="rect">
                <a:avLst/>
              </a:prstGeom>
              <a:blipFill>
                <a:blip r:embed="rId8"/>
                <a:stretch>
                  <a:fillRect l="-1792" t="-1554" r="-2509"/>
                </a:stretch>
              </a:blipFill>
            </p:spPr>
            <p:txBody>
              <a:bodyPr/>
              <a:lstStyle/>
              <a:p>
                <a:r>
                  <a:rPr lang="en-US">
                    <a:noFill/>
                  </a:rPr>
                  <a:t> </a:t>
                </a:r>
              </a:p>
            </p:txBody>
          </p:sp>
        </mc:Fallback>
      </mc:AlternateContent>
      <p:sp>
        <p:nvSpPr>
          <p:cNvPr id="20" name="Rectangle 19"/>
          <p:cNvSpPr/>
          <p:nvPr/>
        </p:nvSpPr>
        <p:spPr>
          <a:xfrm>
            <a:off x="6556898" y="4078737"/>
            <a:ext cx="3742951" cy="2496360"/>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cxnSp>
        <p:nvCxnSpPr>
          <p:cNvPr id="22" name="Straight Connector 21"/>
          <p:cNvCxnSpPr/>
          <p:nvPr/>
        </p:nvCxnSpPr>
        <p:spPr>
          <a:xfrm>
            <a:off x="6312024" y="759196"/>
            <a:ext cx="0" cy="5694141"/>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538507467"/>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9"/>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9"/>
                                        </p:tgtEl>
                                      </p:cBhvr>
                                    </p:animEffect>
                                    <p:set>
                                      <p:cBhvr>
                                        <p:cTn id="7" dur="1" fill="hold">
                                          <p:stCondLst>
                                            <p:cond delay="499"/>
                                          </p:stCondLst>
                                        </p:cTn>
                                        <p:tgtEl>
                                          <p:spTgt spid="9"/>
                                        </p:tgtEl>
                                        <p:attrNameLst>
                                          <p:attrName>style.visibility</p:attrName>
                                        </p:attrNameLst>
                                      </p:cBhvr>
                                      <p:to>
                                        <p:strVal val="hidden"/>
                                      </p:to>
                                    </p:set>
                                  </p:childTnLst>
                                </p:cTn>
                              </p:par>
                            </p:childTnLst>
                          </p:cTn>
                        </p:par>
                      </p:childTnLst>
                    </p:cTn>
                  </p:par>
                </p:childTnLst>
              </p:cTn>
              <p:nextCondLst>
                <p:cond evt="onClick" delay="0">
                  <p:tgtEl>
                    <p:spTgt spid="9"/>
                  </p:tgtEl>
                </p:cond>
              </p:nextCondLst>
            </p:seq>
            <p:seq concurrent="1" nextAc="seek">
              <p:cTn id="8" restart="whenNotActive" fill="hold" evtFilter="cancelBubble" nodeType="interactiveSeq">
                <p:stCondLst>
                  <p:cond evt="onClick" delay="0">
                    <p:tgtEl>
                      <p:spTgt spid="10"/>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10"/>
                                        </p:tgtEl>
                                      </p:cBhvr>
                                    </p:animEffect>
                                    <p:set>
                                      <p:cBhvr>
                                        <p:cTn id="13" dur="1" fill="hold">
                                          <p:stCondLst>
                                            <p:cond delay="499"/>
                                          </p:stCondLst>
                                        </p:cTn>
                                        <p:tgtEl>
                                          <p:spTgt spid="10"/>
                                        </p:tgtEl>
                                        <p:attrNameLst>
                                          <p:attrName>style.visibility</p:attrName>
                                        </p:attrNameLst>
                                      </p:cBhvr>
                                      <p:to>
                                        <p:strVal val="hidden"/>
                                      </p:to>
                                    </p:set>
                                  </p:childTnLst>
                                </p:cTn>
                              </p:par>
                            </p:childTnLst>
                          </p:cTn>
                        </p:par>
                        <p:par>
                          <p:cTn id="14" fill="hold">
                            <p:stCondLst>
                              <p:cond delay="500"/>
                            </p:stCondLst>
                            <p:childTnLst>
                              <p:par>
                                <p:cTn id="15" presetID="10" presetClass="entr" presetSubtype="0" fill="hold" grpId="0" nodeType="after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500"/>
                                        <p:tgtEl>
                                          <p:spTgt spid="11"/>
                                        </p:tgtEl>
                                      </p:cBhvr>
                                    </p:animEffect>
                                  </p:childTnLst>
                                </p:cTn>
                              </p:par>
                            </p:childTnLst>
                          </p:cTn>
                        </p:par>
                      </p:childTnLst>
                    </p:cTn>
                  </p:par>
                </p:childTnLst>
              </p:cTn>
              <p:nextCondLst>
                <p:cond evt="onClick" delay="0">
                  <p:tgtEl>
                    <p:spTgt spid="10"/>
                  </p:tgtEl>
                </p:cond>
              </p:nextCondLst>
            </p:seq>
            <p:seq concurrent="1" nextAc="seek">
              <p:cTn id="18" restart="whenNotActive" fill="hold" evtFilter="cancelBubble" nodeType="interactiveSeq">
                <p:stCondLst>
                  <p:cond evt="onClick" delay="0">
                    <p:tgtEl>
                      <p:spTgt spid="20"/>
                    </p:tgtEl>
                  </p:cond>
                </p:stCondLst>
                <p:endSync evt="end" delay="0">
                  <p:rtn val="all"/>
                </p:endSync>
                <p:childTnLst>
                  <p:par>
                    <p:cTn id="19" fill="hold">
                      <p:stCondLst>
                        <p:cond delay="0"/>
                      </p:stCondLst>
                      <p:childTnLst>
                        <p:par>
                          <p:cTn id="20" fill="hold">
                            <p:stCondLst>
                              <p:cond delay="0"/>
                            </p:stCondLst>
                            <p:childTnLst>
                              <p:par>
                                <p:cTn id="21" presetID="10" presetClass="exit" presetSubtype="0" fill="hold" grpId="0" nodeType="clickEffect">
                                  <p:stCondLst>
                                    <p:cond delay="0"/>
                                  </p:stCondLst>
                                  <p:childTnLst>
                                    <p:animEffect transition="out" filter="fade">
                                      <p:cBhvr>
                                        <p:cTn id="22" dur="500"/>
                                        <p:tgtEl>
                                          <p:spTgt spid="20"/>
                                        </p:tgtEl>
                                      </p:cBhvr>
                                    </p:animEffect>
                                    <p:set>
                                      <p:cBhvr>
                                        <p:cTn id="23" dur="1" fill="hold">
                                          <p:stCondLst>
                                            <p:cond delay="499"/>
                                          </p:stCondLst>
                                        </p:cTn>
                                        <p:tgtEl>
                                          <p:spTgt spid="20"/>
                                        </p:tgtEl>
                                        <p:attrNameLst>
                                          <p:attrName>style.visibility</p:attrName>
                                        </p:attrNameLst>
                                      </p:cBhvr>
                                      <p:to>
                                        <p:strVal val="hidden"/>
                                      </p:to>
                                    </p:set>
                                  </p:childTnLst>
                                </p:cTn>
                              </p:par>
                            </p:childTnLst>
                          </p:cTn>
                        </p:par>
                      </p:childTnLst>
                    </p:cTn>
                  </p:par>
                </p:childTnLst>
              </p:cTn>
              <p:nextCondLst>
                <p:cond evt="onClick" delay="0">
                  <p:tgtEl>
                    <p:spTgt spid="20"/>
                  </p:tgtEl>
                </p:cond>
              </p:nextCondLst>
            </p:seq>
          </p:childTnLst>
        </p:cTn>
      </p:par>
    </p:tnLst>
    <p:bldLst>
      <p:bldP spid="9" grpId="0" animBg="1"/>
      <p:bldP spid="10" grpId="0" animBg="1"/>
      <p:bldP spid="11" grpId="0"/>
      <p:bldP spid="20" grpId="0" animBg="1"/>
    </p:bldLst>
  </p:timing>
</p:sld>
</file>

<file path=ppt/c6/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5E182385-D0D2-7110-301B-D53466A03C5C}"/>
              </a:ext>
            </a:extLst>
          </p:cNvPr>
          <p:cNvPicPr>
            <a:picLocks noChangeAspect="1"/>
          </p:cNvPicPr>
          <p:nvPr/>
        </p:nvPicPr>
        <p:blipFill>
          <a:blip r:embed="rId2"/>
          <a:stretch>
            <a:fillRect/>
          </a:stretch>
        </p:blipFill>
        <p:spPr>
          <a:xfrm>
            <a:off x="1631504" y="4149081"/>
            <a:ext cx="7772400" cy="504701"/>
          </a:xfrm>
          <a:prstGeom prst="rect">
            <a:avLst/>
          </a:prstGeom>
        </p:spPr>
      </p:pic>
      <p:pic>
        <p:nvPicPr>
          <p:cNvPr id="9" name="Picture 8">
            <a:extLst>
              <a:ext uri="{FF2B5EF4-FFF2-40B4-BE49-F238E27FC236}">
                <a16:creationId xmlns:a16="http://schemas.microsoft.com/office/drawing/2014/main" id="{F9E7AE76-8F44-4E99-D1AD-07FAA224690D}"/>
              </a:ext>
            </a:extLst>
          </p:cNvPr>
          <p:cNvPicPr>
            <a:picLocks noChangeAspect="1"/>
          </p:cNvPicPr>
          <p:nvPr/>
        </p:nvPicPr>
        <p:blipFill>
          <a:blip r:embed="rId3"/>
          <a:stretch>
            <a:fillRect/>
          </a:stretch>
        </p:blipFill>
        <p:spPr>
          <a:xfrm>
            <a:off x="2041840" y="4725144"/>
            <a:ext cx="4342192" cy="1958650"/>
          </a:xfrm>
          <a:prstGeom prst="rect">
            <a:avLst/>
          </a:prstGeom>
        </p:spPr>
      </p:pic>
      <p:pic>
        <p:nvPicPr>
          <p:cNvPr id="10" name="Picture 9">
            <a:extLst>
              <a:ext uri="{FF2B5EF4-FFF2-40B4-BE49-F238E27FC236}">
                <a16:creationId xmlns:a16="http://schemas.microsoft.com/office/drawing/2014/main" id="{1FCAF5AD-2C0D-76DD-FF54-C6B5D4A8AE80}"/>
              </a:ext>
            </a:extLst>
          </p:cNvPr>
          <p:cNvPicPr>
            <a:picLocks noChangeAspect="1"/>
          </p:cNvPicPr>
          <p:nvPr/>
        </p:nvPicPr>
        <p:blipFill rotWithShape="1">
          <a:blip r:embed="rId4"/>
          <a:srcRect l="5571"/>
          <a:stretch/>
        </p:blipFill>
        <p:spPr>
          <a:xfrm>
            <a:off x="1991544" y="1412777"/>
            <a:ext cx="6264696" cy="2586893"/>
          </a:xfrm>
          <a:prstGeom prst="rect">
            <a:avLst/>
          </a:prstGeom>
        </p:spPr>
      </p:pic>
      <p:pic>
        <p:nvPicPr>
          <p:cNvPr id="11" name="Picture 10">
            <a:extLst>
              <a:ext uri="{FF2B5EF4-FFF2-40B4-BE49-F238E27FC236}">
                <a16:creationId xmlns:a16="http://schemas.microsoft.com/office/drawing/2014/main" id="{295FCFC1-51D6-5FAC-45DD-8BAE09F55235}"/>
              </a:ext>
            </a:extLst>
          </p:cNvPr>
          <p:cNvPicPr>
            <a:picLocks noChangeAspect="1"/>
          </p:cNvPicPr>
          <p:nvPr/>
        </p:nvPicPr>
        <p:blipFill>
          <a:blip r:embed="rId5"/>
          <a:stretch>
            <a:fillRect/>
          </a:stretch>
        </p:blipFill>
        <p:spPr>
          <a:xfrm>
            <a:off x="1657431" y="618972"/>
            <a:ext cx="8552614" cy="793805"/>
          </a:xfrm>
          <a:prstGeom prst="rect">
            <a:avLst/>
          </a:prstGeom>
        </p:spPr>
      </p:pic>
      <p:sp>
        <p:nvSpPr>
          <p:cNvPr id="12" name="Rectangle 11">
            <a:extLst>
              <a:ext uri="{FF2B5EF4-FFF2-40B4-BE49-F238E27FC236}">
                <a16:creationId xmlns:a16="http://schemas.microsoft.com/office/drawing/2014/main" id="{EAD89B64-2B0B-241D-6B43-CCDB5C668F21}"/>
              </a:ext>
            </a:extLst>
          </p:cNvPr>
          <p:cNvSpPr/>
          <p:nvPr/>
        </p:nvSpPr>
        <p:spPr>
          <a:xfrm>
            <a:off x="1991544" y="1484139"/>
            <a:ext cx="6840760" cy="2586892"/>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
        <p:nvSpPr>
          <p:cNvPr id="13" name="Rectangle 12">
            <a:extLst>
              <a:ext uri="{FF2B5EF4-FFF2-40B4-BE49-F238E27FC236}">
                <a16:creationId xmlns:a16="http://schemas.microsoft.com/office/drawing/2014/main" id="{C9123602-198C-C354-BE07-CE335C72ACF3}"/>
              </a:ext>
            </a:extLst>
          </p:cNvPr>
          <p:cNvSpPr/>
          <p:nvPr/>
        </p:nvSpPr>
        <p:spPr>
          <a:xfrm>
            <a:off x="1991544" y="4735517"/>
            <a:ext cx="6840760" cy="1958650"/>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grpSp>
        <p:nvGrpSpPr>
          <p:cNvPr id="2" name="Group 1"/>
          <p:cNvGrpSpPr/>
          <p:nvPr/>
        </p:nvGrpSpPr>
        <p:grpSpPr>
          <a:xfrm>
            <a:off x="1524000" y="0"/>
            <a:ext cx="9143074" cy="587744"/>
            <a:chOff x="0" y="13335"/>
            <a:chExt cx="9144218" cy="587744"/>
          </a:xfrm>
        </p:grpSpPr>
        <p:sp>
          <p:nvSpPr>
            <p:cNvPr id="3" name="TextBox 32"/>
            <p:cNvSpPr txBox="1"/>
            <p:nvPr/>
          </p:nvSpPr>
          <p:spPr>
            <a:xfrm>
              <a:off x="0" y="13335"/>
              <a:ext cx="9144000" cy="584775"/>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a:t>Exercise 6A - Y1 Page 115</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p:spTree>
    <p:extLst>
      <p:ext uri="{BB962C8B-B14F-4D97-AF65-F5344CB8AC3E}">
        <p14:creationId xmlns:p14="http://schemas.microsoft.com/office/powerpoint/2010/main" val="2683679369"/>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2"/>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2"/>
                                        </p:tgtEl>
                                      </p:cBhvr>
                                    </p:animEffect>
                                    <p:set>
                                      <p:cBhvr>
                                        <p:cTn id="7" dur="1" fill="hold">
                                          <p:stCondLst>
                                            <p:cond delay="499"/>
                                          </p:stCondLst>
                                        </p:cTn>
                                        <p:tgtEl>
                                          <p:spTgt spid="12"/>
                                        </p:tgtEl>
                                        <p:attrNameLst>
                                          <p:attrName>style.visibility</p:attrName>
                                        </p:attrNameLst>
                                      </p:cBhvr>
                                      <p:to>
                                        <p:strVal val="hidden"/>
                                      </p:to>
                                    </p:set>
                                  </p:childTnLst>
                                </p:cTn>
                              </p:par>
                            </p:childTnLst>
                          </p:cTn>
                        </p:par>
                      </p:childTnLst>
                    </p:cTn>
                  </p:par>
                </p:childTnLst>
              </p:cTn>
              <p:nextCondLst>
                <p:cond evt="onClick" delay="0">
                  <p:tgtEl>
                    <p:spTgt spid="12"/>
                  </p:tgtEl>
                </p:cond>
              </p:nextCondLst>
            </p:seq>
            <p:seq concurrent="1" nextAc="seek">
              <p:cTn id="8" restart="whenNotActive" fill="hold" evtFilter="cancelBubble" nodeType="interactiveSeq">
                <p:stCondLst>
                  <p:cond evt="onClick" delay="0">
                    <p:tgtEl>
                      <p:spTgt spid="13"/>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13"/>
                                        </p:tgtEl>
                                      </p:cBhvr>
                                    </p:animEffect>
                                    <p:set>
                                      <p:cBhvr>
                                        <p:cTn id="13" dur="1" fill="hold">
                                          <p:stCondLst>
                                            <p:cond delay="499"/>
                                          </p:stCondLst>
                                        </p:cTn>
                                        <p:tgtEl>
                                          <p:spTgt spid="13"/>
                                        </p:tgtEl>
                                        <p:attrNameLst>
                                          <p:attrName>style.visibility</p:attrName>
                                        </p:attrNameLst>
                                      </p:cBhvr>
                                      <p:to>
                                        <p:strVal val="hidden"/>
                                      </p:to>
                                    </p:set>
                                  </p:childTnLst>
                                </p:cTn>
                              </p:par>
                            </p:childTnLst>
                          </p:cTn>
                        </p:par>
                      </p:childTnLst>
                    </p:cTn>
                  </p:par>
                </p:childTnLst>
              </p:cTn>
              <p:nextCondLst>
                <p:cond evt="onClick" delay="0">
                  <p:tgtEl>
                    <p:spTgt spid="13"/>
                  </p:tgtEl>
                </p:cond>
              </p:nextCondLst>
            </p:seq>
          </p:childTnLst>
        </p:cTn>
      </p:par>
    </p:tnLst>
    <p:bldLst>
      <p:bldP spid="12" grpId="0" animBg="1"/>
      <p:bldP spid="13" grpId="0" animBg="1"/>
    </p:bldLst>
  </p:timing>
</p:sld>
</file>

<file path=ppt/c6/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0" y="0"/>
            <a:ext cx="9143074" cy="587744"/>
            <a:chOff x="0" y="13335"/>
            <a:chExt cx="9144218" cy="587744"/>
          </a:xfrm>
        </p:grpSpPr>
        <p:sp>
          <p:nvSpPr>
            <p:cNvPr id="3" name="TextBox 32"/>
            <p:cNvSpPr txBox="1"/>
            <p:nvPr/>
          </p:nvSpPr>
          <p:spPr>
            <a:xfrm>
              <a:off x="0" y="13335"/>
              <a:ext cx="9144000" cy="584775"/>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a:t>Exercise 6B - Y1 Page 116</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p:pic>
        <p:nvPicPr>
          <p:cNvPr id="5" name="Picture 4">
            <a:extLst>
              <a:ext uri="{FF2B5EF4-FFF2-40B4-BE49-F238E27FC236}">
                <a16:creationId xmlns:a16="http://schemas.microsoft.com/office/drawing/2014/main" id="{8D298B28-FDD3-7C5C-B7BB-0E5C73DA9E35}"/>
              </a:ext>
            </a:extLst>
          </p:cNvPr>
          <p:cNvPicPr>
            <a:picLocks noChangeAspect="1"/>
          </p:cNvPicPr>
          <p:nvPr/>
        </p:nvPicPr>
        <p:blipFill>
          <a:blip r:embed="rId2"/>
          <a:stretch>
            <a:fillRect/>
          </a:stretch>
        </p:blipFill>
        <p:spPr>
          <a:xfrm>
            <a:off x="1610067" y="667818"/>
            <a:ext cx="7772400" cy="504701"/>
          </a:xfrm>
          <a:prstGeom prst="rect">
            <a:avLst/>
          </a:prstGeom>
        </p:spPr>
      </p:pic>
      <p:sp>
        <p:nvSpPr>
          <p:cNvPr id="8" name="Rectangle 7">
            <a:extLst>
              <a:ext uri="{FF2B5EF4-FFF2-40B4-BE49-F238E27FC236}">
                <a16:creationId xmlns:a16="http://schemas.microsoft.com/office/drawing/2014/main" id="{84591FDD-A98E-B3AC-62B1-082C4FB77D12}"/>
              </a:ext>
            </a:extLst>
          </p:cNvPr>
          <p:cNvSpPr/>
          <p:nvPr/>
        </p:nvSpPr>
        <p:spPr>
          <a:xfrm>
            <a:off x="8544272" y="908721"/>
            <a:ext cx="864096" cy="26379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0" name="Picture 9">
            <a:extLst>
              <a:ext uri="{FF2B5EF4-FFF2-40B4-BE49-F238E27FC236}">
                <a16:creationId xmlns:a16="http://schemas.microsoft.com/office/drawing/2014/main" id="{81EA137C-1A6B-A986-F81A-D9FB015ED308}"/>
              </a:ext>
            </a:extLst>
          </p:cNvPr>
          <p:cNvPicPr>
            <a:picLocks noChangeAspect="1"/>
          </p:cNvPicPr>
          <p:nvPr/>
        </p:nvPicPr>
        <p:blipFill>
          <a:blip r:embed="rId3"/>
          <a:stretch>
            <a:fillRect/>
          </a:stretch>
        </p:blipFill>
        <p:spPr>
          <a:xfrm>
            <a:off x="1737551" y="1172518"/>
            <a:ext cx="5112568" cy="2551262"/>
          </a:xfrm>
          <a:prstGeom prst="rect">
            <a:avLst/>
          </a:prstGeom>
        </p:spPr>
      </p:pic>
      <p:pic>
        <p:nvPicPr>
          <p:cNvPr id="11" name="Picture 10">
            <a:extLst>
              <a:ext uri="{FF2B5EF4-FFF2-40B4-BE49-F238E27FC236}">
                <a16:creationId xmlns:a16="http://schemas.microsoft.com/office/drawing/2014/main" id="{AEDCA883-5C45-EF3A-8745-9C0280C2F5AA}"/>
              </a:ext>
            </a:extLst>
          </p:cNvPr>
          <p:cNvPicPr>
            <a:picLocks noChangeAspect="1"/>
          </p:cNvPicPr>
          <p:nvPr/>
        </p:nvPicPr>
        <p:blipFill>
          <a:blip r:embed="rId4"/>
          <a:stretch>
            <a:fillRect/>
          </a:stretch>
        </p:blipFill>
        <p:spPr>
          <a:xfrm>
            <a:off x="7335831" y="1207035"/>
            <a:ext cx="1759581" cy="1530594"/>
          </a:xfrm>
          <a:prstGeom prst="rect">
            <a:avLst/>
          </a:prstGeom>
        </p:spPr>
      </p:pic>
      <p:cxnSp>
        <p:nvCxnSpPr>
          <p:cNvPr id="13" name="Straight Connector 12">
            <a:extLst>
              <a:ext uri="{FF2B5EF4-FFF2-40B4-BE49-F238E27FC236}">
                <a16:creationId xmlns:a16="http://schemas.microsoft.com/office/drawing/2014/main" id="{9F12ED6C-12EA-3C99-354E-DC156DB554CB}"/>
              </a:ext>
            </a:extLst>
          </p:cNvPr>
          <p:cNvCxnSpPr/>
          <p:nvPr/>
        </p:nvCxnSpPr>
        <p:spPr>
          <a:xfrm>
            <a:off x="7032104" y="1196752"/>
            <a:ext cx="0" cy="1600346"/>
          </a:xfrm>
          <a:prstGeom prst="line">
            <a:avLst/>
          </a:prstGeom>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22E44B8E-3AFB-0F51-9F54-6837FF5F711D}"/>
              </a:ext>
            </a:extLst>
          </p:cNvPr>
          <p:cNvSpPr/>
          <p:nvPr/>
        </p:nvSpPr>
        <p:spPr>
          <a:xfrm>
            <a:off x="1737551" y="1164786"/>
            <a:ext cx="8415706" cy="2586892"/>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pic>
        <p:nvPicPr>
          <p:cNvPr id="15" name="Picture 14">
            <a:extLst>
              <a:ext uri="{FF2B5EF4-FFF2-40B4-BE49-F238E27FC236}">
                <a16:creationId xmlns:a16="http://schemas.microsoft.com/office/drawing/2014/main" id="{84F148C5-0EEF-3F17-D181-6FB7E54108A7}"/>
              </a:ext>
            </a:extLst>
          </p:cNvPr>
          <p:cNvPicPr>
            <a:picLocks noChangeAspect="1"/>
          </p:cNvPicPr>
          <p:nvPr/>
        </p:nvPicPr>
        <p:blipFill rotWithShape="1">
          <a:blip r:embed="rId5"/>
          <a:srcRect t="34283" r="53478"/>
          <a:stretch/>
        </p:blipFill>
        <p:spPr>
          <a:xfrm>
            <a:off x="7662921" y="4835868"/>
            <a:ext cx="2304256" cy="1794396"/>
          </a:xfrm>
          <a:prstGeom prst="rect">
            <a:avLst/>
          </a:prstGeom>
        </p:spPr>
      </p:pic>
      <p:pic>
        <p:nvPicPr>
          <p:cNvPr id="16" name="Picture 15">
            <a:extLst>
              <a:ext uri="{FF2B5EF4-FFF2-40B4-BE49-F238E27FC236}">
                <a16:creationId xmlns:a16="http://schemas.microsoft.com/office/drawing/2014/main" id="{93E27732-19C0-6720-2319-AF5633839C0F}"/>
              </a:ext>
            </a:extLst>
          </p:cNvPr>
          <p:cNvPicPr>
            <a:picLocks noChangeAspect="1"/>
          </p:cNvPicPr>
          <p:nvPr/>
        </p:nvPicPr>
        <p:blipFill>
          <a:blip r:embed="rId6"/>
          <a:stretch>
            <a:fillRect/>
          </a:stretch>
        </p:blipFill>
        <p:spPr>
          <a:xfrm>
            <a:off x="1737551" y="3830996"/>
            <a:ext cx="8229627" cy="822140"/>
          </a:xfrm>
          <a:prstGeom prst="rect">
            <a:avLst/>
          </a:prstGeom>
        </p:spPr>
      </p:pic>
      <p:pic>
        <p:nvPicPr>
          <p:cNvPr id="17" name="Picture 16">
            <a:extLst>
              <a:ext uri="{FF2B5EF4-FFF2-40B4-BE49-F238E27FC236}">
                <a16:creationId xmlns:a16="http://schemas.microsoft.com/office/drawing/2014/main" id="{B6227CCF-2809-67CC-FF61-908904A9AF63}"/>
              </a:ext>
            </a:extLst>
          </p:cNvPr>
          <p:cNvPicPr>
            <a:picLocks noChangeAspect="1"/>
          </p:cNvPicPr>
          <p:nvPr/>
        </p:nvPicPr>
        <p:blipFill rotWithShape="1">
          <a:blip r:embed="rId5"/>
          <a:srcRect b="65922"/>
          <a:stretch/>
        </p:blipFill>
        <p:spPr>
          <a:xfrm>
            <a:off x="1817335" y="4869160"/>
            <a:ext cx="4953000" cy="930490"/>
          </a:xfrm>
          <a:prstGeom prst="rect">
            <a:avLst/>
          </a:prstGeom>
        </p:spPr>
      </p:pic>
      <p:sp>
        <p:nvSpPr>
          <p:cNvPr id="18" name="Rectangle 17">
            <a:extLst>
              <a:ext uri="{FF2B5EF4-FFF2-40B4-BE49-F238E27FC236}">
                <a16:creationId xmlns:a16="http://schemas.microsoft.com/office/drawing/2014/main" id="{B56C06E7-C86E-6976-9600-FF16CC4231A7}"/>
              </a:ext>
            </a:extLst>
          </p:cNvPr>
          <p:cNvSpPr/>
          <p:nvPr/>
        </p:nvSpPr>
        <p:spPr>
          <a:xfrm>
            <a:off x="1737550" y="4760352"/>
            <a:ext cx="8415706" cy="1988670"/>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Tree>
    <p:extLst>
      <p:ext uri="{BB962C8B-B14F-4D97-AF65-F5344CB8AC3E}">
        <p14:creationId xmlns:p14="http://schemas.microsoft.com/office/powerpoint/2010/main" val="3086841540"/>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4"/>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4"/>
                                        </p:tgtEl>
                                      </p:cBhvr>
                                    </p:animEffect>
                                    <p:set>
                                      <p:cBhvr>
                                        <p:cTn id="7" dur="1" fill="hold">
                                          <p:stCondLst>
                                            <p:cond delay="499"/>
                                          </p:stCondLst>
                                        </p:cTn>
                                        <p:tgtEl>
                                          <p:spTgt spid="14"/>
                                        </p:tgtEl>
                                        <p:attrNameLst>
                                          <p:attrName>style.visibility</p:attrName>
                                        </p:attrNameLst>
                                      </p:cBhvr>
                                      <p:to>
                                        <p:strVal val="hidden"/>
                                      </p:to>
                                    </p:set>
                                  </p:childTnLst>
                                </p:cTn>
                              </p:par>
                            </p:childTnLst>
                          </p:cTn>
                        </p:par>
                      </p:childTnLst>
                    </p:cTn>
                  </p:par>
                </p:childTnLst>
              </p:cTn>
              <p:nextCondLst>
                <p:cond evt="onClick" delay="0">
                  <p:tgtEl>
                    <p:spTgt spid="14"/>
                  </p:tgtEl>
                </p:cond>
              </p:nextCondLst>
            </p:seq>
            <p:seq concurrent="1" nextAc="seek">
              <p:cTn id="8" restart="whenNotActive" fill="hold" evtFilter="cancelBubble" nodeType="interactiveSeq">
                <p:stCondLst>
                  <p:cond evt="onClick" delay="0">
                    <p:tgtEl>
                      <p:spTgt spid="18"/>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18"/>
                                        </p:tgtEl>
                                      </p:cBhvr>
                                    </p:animEffect>
                                    <p:set>
                                      <p:cBhvr>
                                        <p:cTn id="13" dur="1" fill="hold">
                                          <p:stCondLst>
                                            <p:cond delay="499"/>
                                          </p:stCondLst>
                                        </p:cTn>
                                        <p:tgtEl>
                                          <p:spTgt spid="18"/>
                                        </p:tgtEl>
                                        <p:attrNameLst>
                                          <p:attrName>style.visibility</p:attrName>
                                        </p:attrNameLst>
                                      </p:cBhvr>
                                      <p:to>
                                        <p:strVal val="hidden"/>
                                      </p:to>
                                    </p:set>
                                  </p:childTnLst>
                                </p:cTn>
                              </p:par>
                            </p:childTnLst>
                          </p:cTn>
                        </p:par>
                      </p:childTnLst>
                    </p:cTn>
                  </p:par>
                </p:childTnLst>
              </p:cTn>
              <p:nextCondLst>
                <p:cond evt="onClick" delay="0">
                  <p:tgtEl>
                    <p:spTgt spid="18"/>
                  </p:tgtEl>
                </p:cond>
              </p:nextCondLst>
            </p:seq>
          </p:childTnLst>
        </p:cTn>
      </p:par>
    </p:tnLst>
    <p:bldLst>
      <p:bldP spid="14" grpId="0" animBg="1"/>
      <p:bldP spid="18" grpId="0" animBg="1"/>
    </p:bldLst>
  </p:timing>
</p:sld>
</file>

<file path=ppt/c6/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0" y="0"/>
            <a:ext cx="9143074" cy="587744"/>
            <a:chOff x="0" y="13335"/>
            <a:chExt cx="9144218" cy="587744"/>
          </a:xfrm>
        </p:grpSpPr>
        <p:sp>
          <p:nvSpPr>
            <p:cNvPr id="3" name="TextBox 32"/>
            <p:cNvSpPr txBox="1"/>
            <p:nvPr/>
          </p:nvSpPr>
          <p:spPr>
            <a:xfrm>
              <a:off x="0" y="13335"/>
              <a:ext cx="9144000" cy="584775"/>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a:t>Exercise 6B - Y1 Page 117</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p:pic>
        <p:nvPicPr>
          <p:cNvPr id="6" name="Picture 5">
            <a:extLst>
              <a:ext uri="{FF2B5EF4-FFF2-40B4-BE49-F238E27FC236}">
                <a16:creationId xmlns:a16="http://schemas.microsoft.com/office/drawing/2014/main" id="{B40A1B68-D1CD-F442-1CE4-1F66A409A10D}"/>
              </a:ext>
            </a:extLst>
          </p:cNvPr>
          <p:cNvPicPr>
            <a:picLocks noChangeAspect="1"/>
          </p:cNvPicPr>
          <p:nvPr/>
        </p:nvPicPr>
        <p:blipFill>
          <a:blip r:embed="rId2"/>
          <a:stretch>
            <a:fillRect/>
          </a:stretch>
        </p:blipFill>
        <p:spPr>
          <a:xfrm>
            <a:off x="1631504" y="599128"/>
            <a:ext cx="6192688" cy="969121"/>
          </a:xfrm>
          <a:prstGeom prst="rect">
            <a:avLst/>
          </a:prstGeom>
        </p:spPr>
      </p:pic>
      <p:pic>
        <p:nvPicPr>
          <p:cNvPr id="9" name="Picture 8">
            <a:extLst>
              <a:ext uri="{FF2B5EF4-FFF2-40B4-BE49-F238E27FC236}">
                <a16:creationId xmlns:a16="http://schemas.microsoft.com/office/drawing/2014/main" id="{54A796F5-FDDF-95CD-410F-6129D85C27FC}"/>
              </a:ext>
            </a:extLst>
          </p:cNvPr>
          <p:cNvPicPr>
            <a:picLocks noChangeAspect="1"/>
          </p:cNvPicPr>
          <p:nvPr/>
        </p:nvPicPr>
        <p:blipFill>
          <a:blip r:embed="rId3"/>
          <a:stretch>
            <a:fillRect/>
          </a:stretch>
        </p:blipFill>
        <p:spPr>
          <a:xfrm>
            <a:off x="2135560" y="1772816"/>
            <a:ext cx="6934200" cy="4978400"/>
          </a:xfrm>
          <a:prstGeom prst="rect">
            <a:avLst/>
          </a:prstGeom>
        </p:spPr>
      </p:pic>
      <p:sp>
        <p:nvSpPr>
          <p:cNvPr id="12" name="Rectangle 11">
            <a:extLst>
              <a:ext uri="{FF2B5EF4-FFF2-40B4-BE49-F238E27FC236}">
                <a16:creationId xmlns:a16="http://schemas.microsoft.com/office/drawing/2014/main" id="{0B37C2C6-B5EE-1FBA-C3F8-918CB150536B}"/>
              </a:ext>
            </a:extLst>
          </p:cNvPr>
          <p:cNvSpPr/>
          <p:nvPr/>
        </p:nvSpPr>
        <p:spPr>
          <a:xfrm>
            <a:off x="1661282" y="1769846"/>
            <a:ext cx="8755198" cy="4978383"/>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Tree>
    <p:extLst>
      <p:ext uri="{BB962C8B-B14F-4D97-AF65-F5344CB8AC3E}">
        <p14:creationId xmlns:p14="http://schemas.microsoft.com/office/powerpoint/2010/main" val="4029299191"/>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2"/>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2"/>
                                        </p:tgtEl>
                                      </p:cBhvr>
                                    </p:animEffect>
                                    <p:set>
                                      <p:cBhvr>
                                        <p:cTn id="7" dur="1" fill="hold">
                                          <p:stCondLst>
                                            <p:cond delay="499"/>
                                          </p:stCondLst>
                                        </p:cTn>
                                        <p:tgtEl>
                                          <p:spTgt spid="12"/>
                                        </p:tgtEl>
                                        <p:attrNameLst>
                                          <p:attrName>style.visibility</p:attrName>
                                        </p:attrNameLst>
                                      </p:cBhvr>
                                      <p:to>
                                        <p:strVal val="hidden"/>
                                      </p:to>
                                    </p:set>
                                  </p:childTnLst>
                                </p:cTn>
                              </p:par>
                            </p:childTnLst>
                          </p:cTn>
                        </p:par>
                      </p:childTnLst>
                    </p:cTn>
                  </p:par>
                </p:childTnLst>
              </p:cTn>
              <p:nextCondLst>
                <p:cond evt="onClick" delay="0">
                  <p:tgtEl>
                    <p:spTgt spid="12"/>
                  </p:tgtEl>
                </p:cond>
              </p:nextCondLst>
            </p:seq>
          </p:childTnLst>
        </p:cTn>
      </p:par>
    </p:tnLst>
    <p:bldLst>
      <p:bldP spid="12" grpId="0" animBg="1"/>
    </p:bldLst>
  </p:timing>
</p:sld>
</file>

<file path=ppt/c6/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7"/>
          <p:cNvGrpSpPr/>
          <p:nvPr/>
        </p:nvGrpSpPr>
        <p:grpSpPr>
          <a:xfrm>
            <a:off x="1524000" y="1"/>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a:t>Equation of a circle</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p:cxnSp>
        <p:nvCxnSpPr>
          <p:cNvPr id="6" name="Straight Arrow Connector 5"/>
          <p:cNvCxnSpPr/>
          <p:nvPr/>
        </p:nvCxnSpPr>
        <p:spPr>
          <a:xfrm>
            <a:off x="1991544" y="3717032"/>
            <a:ext cx="3960440" cy="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7" name="Straight Arrow Connector 6"/>
          <p:cNvCxnSpPr/>
          <p:nvPr/>
        </p:nvCxnSpPr>
        <p:spPr>
          <a:xfrm flipV="1">
            <a:off x="3935760" y="1844824"/>
            <a:ext cx="0" cy="3384376"/>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9" name="Oval 8"/>
          <p:cNvSpPr/>
          <p:nvPr/>
        </p:nvSpPr>
        <p:spPr>
          <a:xfrm>
            <a:off x="2639616" y="2420888"/>
            <a:ext cx="2592288" cy="2520280"/>
          </a:xfrm>
          <a:prstGeom prst="ellipse">
            <a:avLst/>
          </a:prstGeom>
          <a:noFill/>
          <a:ln w="3175">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GB"/>
          </a:p>
        </p:txBody>
      </p:sp>
      <mc:AlternateContent xmlns:mc="http://schemas.openxmlformats.org/markup-compatibility/2006">
        <mc:Choice xmlns:a14="http://schemas.microsoft.com/office/drawing/2010/main" Requires="a14">
          <p:sp>
            <p:nvSpPr>
              <p:cNvPr id="10" name="TextBox 9"/>
              <p:cNvSpPr txBox="1"/>
              <p:nvPr/>
            </p:nvSpPr>
            <p:spPr>
              <a:xfrm>
                <a:off x="5879976" y="3501008"/>
                <a:ext cx="288032" cy="369332"/>
              </a:xfrm>
              <a:prstGeom prst="rect">
                <a:avLst/>
              </a:prstGeom>
              <a:noFill/>
            </p:spPr>
            <p:txBody>
              <a:bodyPr wrap="square" rtlCol="0">
                <a:spAutoFit/>
              </a:bodyPr>
              <a:lstStyle/>
              <a:p>
                <a:pPr/>
                <a14:m>
                  <m:oMathPara xmlns:m="http://schemas.openxmlformats.org/officeDocument/2006/math">
                    <m:oMath>
                      <m:r>
                        <a:rPr lang="en-GB" i="1" dirty="0">
                          <a:latin typeface="Cambria Math" panose="02040503050406030204" pitchFamily="18" charset="0"/>
                        </a:rPr>
                        <m:t>𝑥</m:t>
                      </m:r>
                    </m:oMath>
                  </m:oMathPara>
                </a14:m>
                <a:endParaRPr lang="en-GB"/>
              </a:p>
            </p:txBody>
          </p:sp>
        </mc:Choice>
        <mc:Fallback>
          <p:sp>
            <p:nvSpPr>
              <p:cNvPr id="10" name="TextBox 9"/>
              <p:cNvSpPr txBox="1">
                <a:spLocks noRot="1" noChangeAspect="1" noMove="1" noResize="1" noEditPoints="1" noAdjustHandles="1" noChangeArrowheads="1" noChangeShapeType="1" noTextEdit="1"/>
              </p:cNvSpPr>
              <p:nvPr/>
            </p:nvSpPr>
            <p:spPr>
              <a:xfrm>
                <a:off x="5879976" y="3501008"/>
                <a:ext cx="288032" cy="369332"/>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1" name="TextBox 10"/>
              <p:cNvSpPr txBox="1"/>
              <p:nvPr/>
            </p:nvSpPr>
            <p:spPr>
              <a:xfrm>
                <a:off x="3791744" y="1484784"/>
                <a:ext cx="288032" cy="369332"/>
              </a:xfrm>
              <a:prstGeom prst="rect">
                <a:avLst/>
              </a:prstGeom>
              <a:noFill/>
            </p:spPr>
            <p:txBody>
              <a:bodyPr wrap="square" rtlCol="0">
                <a:spAutoFit/>
              </a:bodyPr>
              <a:lstStyle/>
              <a:p>
                <a:pPr/>
                <a14:m>
                  <m:oMathPara xmlns:m="http://schemas.openxmlformats.org/officeDocument/2006/math">
                    <m:oMath>
                      <m:r>
                        <a:rPr lang="en-GB" i="1" dirty="0">
                          <a:latin typeface="Cambria Math" panose="02040503050406030204" pitchFamily="18" charset="0"/>
                        </a:rPr>
                        <m:t>𝑦</m:t>
                      </m:r>
                    </m:oMath>
                  </m:oMathPara>
                </a14:m>
                <a:endParaRPr lang="en-GB"/>
              </a:p>
            </p:txBody>
          </p:sp>
        </mc:Choice>
        <mc:Fallback>
          <p:sp>
            <p:nvSpPr>
              <p:cNvPr id="11" name="TextBox 10"/>
              <p:cNvSpPr txBox="1">
                <a:spLocks noRot="1" noChangeAspect="1" noMove="1" noResize="1" noEditPoints="1" noAdjustHandles="1" noChangeArrowheads="1" noChangeShapeType="1" noTextEdit="1"/>
              </p:cNvSpPr>
              <p:nvPr/>
            </p:nvSpPr>
            <p:spPr>
              <a:xfrm>
                <a:off x="3791744" y="1484784"/>
                <a:ext cx="288032" cy="369332"/>
              </a:xfrm>
              <a:prstGeom prst="rect">
                <a:avLst/>
              </a:prstGeom>
              <a:blipFill>
                <a:blip r:embed="rId3"/>
                <a:stretch>
                  <a:fillRect r="-4167" b="-10345"/>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3" name="TextBox 12"/>
              <p:cNvSpPr txBox="1"/>
              <p:nvPr/>
            </p:nvSpPr>
            <p:spPr>
              <a:xfrm>
                <a:off x="3682791" y="2193745"/>
                <a:ext cx="360040" cy="369332"/>
              </a:xfrm>
              <a:prstGeom prst="rect">
                <a:avLst/>
              </a:prstGeom>
              <a:noFill/>
            </p:spPr>
            <p:txBody>
              <a:bodyPr wrap="square" rtlCol="0">
                <a:spAutoFit/>
              </a:bodyPr>
              <a:lstStyle/>
              <a:p>
                <a:pPr/>
                <a14:m>
                  <m:oMathPara xmlns:m="http://schemas.openxmlformats.org/officeDocument/2006/math">
                    <m:oMath>
                      <m:r>
                        <a:rPr lang="en-GB" i="1" dirty="0">
                          <a:latin typeface="Cambria Math"/>
                        </a:rPr>
                        <m:t>𝑟</m:t>
                      </m:r>
                    </m:oMath>
                  </m:oMathPara>
                </a14:m>
                <a:endParaRPr lang="en-GB"/>
              </a:p>
            </p:txBody>
          </p:sp>
        </mc:Choice>
        <mc:Fallback>
          <p:sp>
            <p:nvSpPr>
              <p:cNvPr id="13" name="TextBox 12"/>
              <p:cNvSpPr txBox="1">
                <a:spLocks noRot="1" noChangeAspect="1" noMove="1" noResize="1" noEditPoints="1" noAdjustHandles="1" noChangeArrowheads="1" noChangeShapeType="1" noTextEdit="1"/>
              </p:cNvSpPr>
              <p:nvPr/>
            </p:nvSpPr>
            <p:spPr>
              <a:xfrm>
                <a:off x="3682791" y="2193745"/>
                <a:ext cx="360040" cy="369332"/>
              </a:xfrm>
              <a:prstGeom prst="rect">
                <a:avLst/>
              </a:prstGeom>
              <a:blipFill>
                <a:blip r:embed="rId4"/>
                <a:stretch>
                  <a:fillRect/>
                </a:stretch>
              </a:blipFill>
            </p:spPr>
            <p:txBody>
              <a:bodyPr/>
              <a:lstStyle/>
              <a:p>
                <a:r>
                  <a:rPr lang="en-US">
                    <a:noFill/>
                  </a:rPr>
                  <a:t> </a:t>
                </a:r>
              </a:p>
            </p:txBody>
          </p:sp>
        </mc:Fallback>
      </mc:AlternateContent>
      <p:sp>
        <p:nvSpPr>
          <p:cNvPr id="14" name="TextBox 13"/>
          <p:cNvSpPr txBox="1"/>
          <p:nvPr/>
        </p:nvSpPr>
        <p:spPr>
          <a:xfrm>
            <a:off x="6471204" y="3113861"/>
            <a:ext cx="3816424" cy="738664"/>
          </a:xfrm>
          <a:prstGeom prst="rect">
            <a:avLst/>
          </a:prstGeom>
          <a:noFill/>
        </p:spPr>
        <p:txBody>
          <a:bodyPr wrap="square" rtlCol="0">
            <a:spAutoFit/>
          </a:bodyPr>
          <a:lstStyle/>
          <a:p>
            <a:r>
              <a:rPr lang="en-GB" sz="1400"/>
              <a:t>(Hint: draw a right-angled triangle inside your circle, with one vertex at the origin and another at the circumference)</a:t>
            </a:r>
          </a:p>
        </p:txBody>
      </p:sp>
      <mc:AlternateContent xmlns:mc="http://schemas.openxmlformats.org/markup-compatibility/2006">
        <mc:Choice xmlns:a14="http://schemas.microsoft.com/office/drawing/2010/main" Requires="a14">
          <p:sp>
            <p:nvSpPr>
              <p:cNvPr id="15" name="TextBox 14"/>
              <p:cNvSpPr txBox="1"/>
              <p:nvPr/>
            </p:nvSpPr>
            <p:spPr>
              <a:xfrm>
                <a:off x="6771378" y="4343936"/>
                <a:ext cx="3384376" cy="584775"/>
              </a:xfrm>
              <a:prstGeom prst="rect">
                <a:avLst/>
              </a:prstGeom>
              <a:noFill/>
            </p:spPr>
            <p:txBody>
              <a:bodyPr wrap="square" rtlCol="0">
                <a:spAutoFit/>
              </a:bodyPr>
              <a:lstStyle/>
              <a:p>
                <a:pPr algn="ctr"/>
                <a14:m>
                  <m:oMathPara xmlns:m="http://schemas.openxmlformats.org/officeDocument/2006/math">
                    <m:oMath>
                      <m:sSup>
                        <m:sSupPr>
                          <m:ctrlPr>
                            <a:rPr lang="en-GB" sz="3200" i="1">
                              <a:latin typeface="Cambria Math" panose="02040503050406030204" pitchFamily="18" charset="0"/>
                            </a:rPr>
                          </m:ctrlPr>
                        </m:sSupPr>
                        <m:e>
                          <m:r>
                            <a:rPr lang="en-GB" sz="3200" i="1">
                              <a:latin typeface="Cambria Math" panose="02040503050406030204" pitchFamily="18" charset="0"/>
                            </a:rPr>
                            <m:t>𝑥</m:t>
                          </m:r>
                        </m:e>
                        <m:sup>
                          <m:r>
                            <a:rPr lang="en-GB" sz="3200" i="1">
                              <a:latin typeface="Cambria Math" panose="02040503050406030204" pitchFamily="18" charset="0"/>
                            </a:rPr>
                            <m:t>2</m:t>
                          </m:r>
                        </m:sup>
                      </m:sSup>
                      <m:r>
                        <a:rPr lang="en-GB" sz="3200" i="1">
                          <a:latin typeface="Cambria Math" panose="02040503050406030204" pitchFamily="18" charset="0"/>
                        </a:rPr>
                        <m:t>+</m:t>
                      </m:r>
                      <m:sSup>
                        <m:sSupPr>
                          <m:ctrlPr>
                            <a:rPr lang="en-GB" sz="3200" i="1">
                              <a:latin typeface="Cambria Math" panose="02040503050406030204" pitchFamily="18" charset="0"/>
                            </a:rPr>
                          </m:ctrlPr>
                        </m:sSupPr>
                        <m:e>
                          <m:r>
                            <a:rPr lang="en-GB" sz="3200" i="1">
                              <a:latin typeface="Cambria Math" panose="02040503050406030204" pitchFamily="18" charset="0"/>
                            </a:rPr>
                            <m:t>𝑦</m:t>
                          </m:r>
                        </m:e>
                        <m:sup>
                          <m:r>
                            <a:rPr lang="en-GB" sz="3200" i="1">
                              <a:latin typeface="Cambria Math" panose="02040503050406030204" pitchFamily="18" charset="0"/>
                            </a:rPr>
                            <m:t>2</m:t>
                          </m:r>
                        </m:sup>
                      </m:sSup>
                      <m:r>
                        <a:rPr lang="en-GB" sz="3200" i="1">
                          <a:latin typeface="Cambria Math" panose="02040503050406030204" pitchFamily="18" charset="0"/>
                        </a:rPr>
                        <m:t>=</m:t>
                      </m:r>
                      <m:sSup>
                        <m:sSupPr>
                          <m:ctrlPr>
                            <a:rPr lang="en-GB" sz="3200" i="1">
                              <a:latin typeface="Cambria Math" panose="02040503050406030204" pitchFamily="18" charset="0"/>
                            </a:rPr>
                          </m:ctrlPr>
                        </m:sSupPr>
                        <m:e>
                          <m:r>
                            <a:rPr lang="en-GB" sz="3200" i="1">
                              <a:latin typeface="Cambria Math" panose="02040503050406030204" pitchFamily="18" charset="0"/>
                            </a:rPr>
                            <m:t>𝑟</m:t>
                          </m:r>
                        </m:e>
                        <m:sup>
                          <m:r>
                            <a:rPr lang="en-GB" sz="3200" i="1">
                              <a:latin typeface="Cambria Math" panose="02040503050406030204" pitchFamily="18" charset="0"/>
                            </a:rPr>
                            <m:t>2</m:t>
                          </m:r>
                        </m:sup>
                      </m:sSup>
                    </m:oMath>
                  </m:oMathPara>
                </a14:m>
                <a:endParaRPr lang="en-GB" sz="2000"/>
              </a:p>
            </p:txBody>
          </p:sp>
        </mc:Choice>
        <mc:Fallback>
          <p:sp>
            <p:nvSpPr>
              <p:cNvPr id="15" name="TextBox 14"/>
              <p:cNvSpPr txBox="1">
                <a:spLocks noRot="1" noChangeAspect="1" noMove="1" noResize="1" noEditPoints="1" noAdjustHandles="1" noChangeArrowheads="1" noChangeShapeType="1" noTextEdit="1"/>
              </p:cNvSpPr>
              <p:nvPr/>
            </p:nvSpPr>
            <p:spPr>
              <a:xfrm>
                <a:off x="6771378" y="4343936"/>
                <a:ext cx="3384376" cy="584775"/>
              </a:xfrm>
              <a:prstGeom prst="rect">
                <a:avLst/>
              </a:prstGeom>
              <a:blipFill>
                <a:blip r:embed="rId5"/>
                <a:stretch>
                  <a:fillRect b="-12766"/>
                </a:stretch>
              </a:blipFill>
            </p:spPr>
            <p:txBody>
              <a:bodyPr/>
              <a:lstStyle/>
              <a:p>
                <a:r>
                  <a:rPr lang="en-US">
                    <a:noFill/>
                  </a:rPr>
                  <a:t> </a:t>
                </a:r>
              </a:p>
            </p:txBody>
          </p:sp>
        </mc:Fallback>
      </mc:AlternateContent>
      <p:grpSp>
        <p:nvGrpSpPr>
          <p:cNvPr id="20" name="Group 19"/>
          <p:cNvGrpSpPr/>
          <p:nvPr/>
        </p:nvGrpSpPr>
        <p:grpSpPr>
          <a:xfrm>
            <a:off x="3935760" y="2636912"/>
            <a:ext cx="1080120" cy="1377444"/>
            <a:chOff x="2411760" y="2636912"/>
            <a:chExt cx="1080120" cy="1377444"/>
          </a:xfrm>
        </p:grpSpPr>
        <mc:AlternateContent xmlns:mc="http://schemas.openxmlformats.org/markup-compatibility/2006">
          <mc:Choice xmlns:a14="http://schemas.microsoft.com/office/drawing/2010/main" Requires="a14">
            <p:sp>
              <p:nvSpPr>
                <p:cNvPr id="12" name="TextBox 11"/>
                <p:cNvSpPr txBox="1"/>
                <p:nvPr/>
              </p:nvSpPr>
              <p:spPr>
                <a:xfrm>
                  <a:off x="2627784" y="3645024"/>
                  <a:ext cx="360040" cy="369332"/>
                </a:xfrm>
                <a:prstGeom prst="rect">
                  <a:avLst/>
                </a:prstGeom>
                <a:noFill/>
              </p:spPr>
              <p:txBody>
                <a:bodyPr wrap="square" rtlCol="0">
                  <a:spAutoFit/>
                </a:bodyPr>
                <a:lstStyle/>
                <a:p>
                  <a:pPr/>
                  <a14:m>
                    <m:oMathPara xmlns:m="http://schemas.openxmlformats.org/officeDocument/2006/math">
                      <m:oMath>
                        <m:r>
                          <a:rPr lang="en-GB" i="1" dirty="0">
                            <a:latin typeface="Cambria Math"/>
                          </a:rPr>
                          <m:t>𝑥</m:t>
                        </m:r>
                      </m:oMath>
                    </m:oMathPara>
                  </a14:m>
                  <a:endParaRPr lang="en-GB"/>
                </a:p>
              </p:txBody>
            </p:sp>
          </mc:Choice>
          <mc:Fallback>
            <p:sp>
              <p:nvSpPr>
                <p:cNvPr id="12" name="TextBox 11"/>
                <p:cNvSpPr txBox="1">
                  <a:spLocks noRot="1" noChangeAspect="1" noMove="1" noResize="1" noEditPoints="1" noAdjustHandles="1" noChangeArrowheads="1" noChangeShapeType="1" noTextEdit="1"/>
                </p:cNvSpPr>
                <p:nvPr/>
              </p:nvSpPr>
              <p:spPr>
                <a:xfrm>
                  <a:off x="2627784" y="3645024"/>
                  <a:ext cx="360040" cy="369332"/>
                </a:xfrm>
                <a:prstGeom prst="rect">
                  <a:avLst/>
                </a:prstGeom>
                <a:blipFill>
                  <a:blip r:embed="rId6"/>
                  <a:stretch>
                    <a:fillRect/>
                  </a:stretch>
                </a:blipFill>
              </p:spPr>
              <p:txBody>
                <a:bodyPr/>
                <a:lstStyle/>
                <a:p>
                  <a:r>
                    <a:rPr lang="en-US">
                      <a:noFill/>
                    </a:rPr>
                    <a:t> </a:t>
                  </a:r>
                </a:p>
              </p:txBody>
            </p:sp>
          </mc:Fallback>
        </mc:AlternateContent>
        <p:sp>
          <p:nvSpPr>
            <p:cNvPr id="16" name="Right Triangle 15"/>
            <p:cNvSpPr/>
            <p:nvPr/>
          </p:nvSpPr>
          <p:spPr>
            <a:xfrm flipH="1">
              <a:off x="2411760" y="2636912"/>
              <a:ext cx="720080" cy="1080120"/>
            </a:xfrm>
            <a:prstGeom prst="rtTriangl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GB"/>
            </a:p>
          </p:txBody>
        </p:sp>
        <p:sp>
          <p:nvSpPr>
            <p:cNvPr id="17" name="Rectangle 16"/>
            <p:cNvSpPr/>
            <p:nvPr/>
          </p:nvSpPr>
          <p:spPr>
            <a:xfrm>
              <a:off x="2915816" y="3501008"/>
              <a:ext cx="216024" cy="2160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mc:Choice xmlns:a14="http://schemas.microsoft.com/office/drawing/2010/main" Requires="a14">
            <p:sp>
              <p:nvSpPr>
                <p:cNvPr id="18" name="TextBox 17"/>
                <p:cNvSpPr txBox="1"/>
                <p:nvPr/>
              </p:nvSpPr>
              <p:spPr>
                <a:xfrm>
                  <a:off x="3131840" y="3068960"/>
                  <a:ext cx="360040" cy="369332"/>
                </a:xfrm>
                <a:prstGeom prst="rect">
                  <a:avLst/>
                </a:prstGeom>
                <a:noFill/>
              </p:spPr>
              <p:txBody>
                <a:bodyPr wrap="square" rtlCol="0">
                  <a:spAutoFit/>
                </a:bodyPr>
                <a:lstStyle/>
                <a:p>
                  <a:pPr/>
                  <a14:m>
                    <m:oMathPara xmlns:m="http://schemas.openxmlformats.org/officeDocument/2006/math">
                      <m:oMath>
                        <m:r>
                          <a:rPr lang="en-GB" i="1" dirty="0">
                            <a:latin typeface="Cambria Math"/>
                          </a:rPr>
                          <m:t>𝑦</m:t>
                        </m:r>
                      </m:oMath>
                    </m:oMathPara>
                  </a14:m>
                  <a:endParaRPr lang="en-GB"/>
                </a:p>
              </p:txBody>
            </p:sp>
          </mc:Choice>
          <mc:Fallback>
            <p:sp>
              <p:nvSpPr>
                <p:cNvPr id="18" name="TextBox 17"/>
                <p:cNvSpPr txBox="1">
                  <a:spLocks noRot="1" noChangeAspect="1" noMove="1" noResize="1" noEditPoints="1" noAdjustHandles="1" noChangeArrowheads="1" noChangeShapeType="1" noTextEdit="1"/>
                </p:cNvSpPr>
                <p:nvPr/>
              </p:nvSpPr>
              <p:spPr>
                <a:xfrm>
                  <a:off x="3131840" y="3068960"/>
                  <a:ext cx="360040" cy="369332"/>
                </a:xfrm>
                <a:prstGeom prst="rect">
                  <a:avLst/>
                </a:prstGeom>
                <a:blipFill>
                  <a:blip r:embed="rId7"/>
                  <a:stretch>
                    <a:fillRect b="-1000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9" name="TextBox 18"/>
                <p:cNvSpPr txBox="1"/>
                <p:nvPr/>
              </p:nvSpPr>
              <p:spPr>
                <a:xfrm>
                  <a:off x="2555776" y="2852936"/>
                  <a:ext cx="360040" cy="369332"/>
                </a:xfrm>
                <a:prstGeom prst="rect">
                  <a:avLst/>
                </a:prstGeom>
                <a:noFill/>
              </p:spPr>
              <p:txBody>
                <a:bodyPr wrap="square" rtlCol="0">
                  <a:spAutoFit/>
                </a:bodyPr>
                <a:lstStyle/>
                <a:p>
                  <a:pPr/>
                  <a14:m>
                    <m:oMathPara xmlns:m="http://schemas.openxmlformats.org/officeDocument/2006/math">
                      <m:oMath>
                        <m:r>
                          <a:rPr lang="en-GB" i="1" dirty="0">
                            <a:latin typeface="Cambria Math"/>
                          </a:rPr>
                          <m:t>𝑟</m:t>
                        </m:r>
                      </m:oMath>
                    </m:oMathPara>
                  </a14:m>
                  <a:endParaRPr lang="en-GB"/>
                </a:p>
              </p:txBody>
            </p:sp>
          </mc:Choice>
          <mc:Fallback>
            <p:sp>
              <p:nvSpPr>
                <p:cNvPr id="19" name="TextBox 18"/>
                <p:cNvSpPr txBox="1">
                  <a:spLocks noRot="1" noChangeAspect="1" noMove="1" noResize="1" noEditPoints="1" noAdjustHandles="1" noChangeArrowheads="1" noChangeShapeType="1" noTextEdit="1"/>
                </p:cNvSpPr>
                <p:nvPr/>
              </p:nvSpPr>
              <p:spPr>
                <a:xfrm>
                  <a:off x="2555776" y="2852936"/>
                  <a:ext cx="360040" cy="369332"/>
                </a:xfrm>
                <a:prstGeom prst="rect">
                  <a:avLst/>
                </a:prstGeom>
                <a:blipFill>
                  <a:blip r:embed="rId8"/>
                  <a:stretch>
                    <a:fillRect/>
                  </a:stretch>
                </a:blipFill>
              </p:spPr>
              <p:txBody>
                <a:bodyPr/>
                <a:lstStyle/>
                <a:p>
                  <a:r>
                    <a:rPr lang="en-US">
                      <a:noFill/>
                    </a:rPr>
                    <a:t> </a:t>
                  </a:r>
                </a:p>
              </p:txBody>
            </p:sp>
          </mc:Fallback>
        </mc:AlternateContent>
      </p:grpSp>
      <p:sp>
        <p:nvSpPr>
          <p:cNvPr id="21" name="Rectangle 20"/>
          <p:cNvSpPr/>
          <p:nvPr/>
        </p:nvSpPr>
        <p:spPr>
          <a:xfrm>
            <a:off x="7032104" y="4273289"/>
            <a:ext cx="2880320" cy="811895"/>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mc:AlternateContent xmlns:mc="http://schemas.openxmlformats.org/markup-compatibility/2006">
        <mc:Choice xmlns:a14="http://schemas.microsoft.com/office/drawing/2010/main" Requires="a14">
          <p:sp>
            <p:nvSpPr>
              <p:cNvPr id="22" name="TextBox 21"/>
              <p:cNvSpPr txBox="1"/>
              <p:nvPr/>
            </p:nvSpPr>
            <p:spPr>
              <a:xfrm>
                <a:off x="5087888" y="3645024"/>
                <a:ext cx="360040" cy="369332"/>
              </a:xfrm>
              <a:prstGeom prst="rect">
                <a:avLst/>
              </a:prstGeom>
              <a:noFill/>
            </p:spPr>
            <p:txBody>
              <a:bodyPr wrap="square" rtlCol="0">
                <a:spAutoFit/>
              </a:bodyPr>
              <a:lstStyle/>
              <a:p>
                <a:pPr/>
                <a14:m>
                  <m:oMathPara xmlns:m="http://schemas.openxmlformats.org/officeDocument/2006/math">
                    <m:oMath>
                      <m:r>
                        <a:rPr lang="en-GB" i="1" dirty="0">
                          <a:latin typeface="Cambria Math"/>
                        </a:rPr>
                        <m:t>𝑟</m:t>
                      </m:r>
                    </m:oMath>
                  </m:oMathPara>
                </a14:m>
                <a:endParaRPr lang="en-GB"/>
              </a:p>
            </p:txBody>
          </p:sp>
        </mc:Choice>
        <mc:Fallback>
          <p:sp>
            <p:nvSpPr>
              <p:cNvPr id="22" name="TextBox 21"/>
              <p:cNvSpPr txBox="1">
                <a:spLocks noRot="1" noChangeAspect="1" noMove="1" noResize="1" noEditPoints="1" noAdjustHandles="1" noChangeArrowheads="1" noChangeShapeType="1" noTextEdit="1"/>
              </p:cNvSpPr>
              <p:nvPr/>
            </p:nvSpPr>
            <p:spPr>
              <a:xfrm>
                <a:off x="5087888" y="3645024"/>
                <a:ext cx="360040" cy="369332"/>
              </a:xfrm>
              <a:prstGeom prst="rect">
                <a:avLst/>
              </a:prstGeom>
              <a:blipFill>
                <a:blip r:embed="rId9"/>
                <a:stretch>
                  <a:fillRect/>
                </a:stretch>
              </a:blipFill>
            </p:spPr>
            <p:txBody>
              <a:bodyPr/>
              <a:lstStyle/>
              <a:p>
                <a:r>
                  <a:rPr lang="en-US">
                    <a:noFill/>
                  </a:rPr>
                  <a:t> </a:t>
                </a:r>
              </a:p>
            </p:txBody>
          </p:sp>
        </mc:Fallback>
      </mc:AlternateContent>
      <p:grpSp>
        <p:nvGrpSpPr>
          <p:cNvPr id="23" name="Group 22"/>
          <p:cNvGrpSpPr/>
          <p:nvPr/>
        </p:nvGrpSpPr>
        <p:grpSpPr>
          <a:xfrm>
            <a:off x="4600709" y="2257844"/>
            <a:ext cx="792088" cy="430409"/>
            <a:chOff x="3076709" y="2798267"/>
            <a:chExt cx="792088" cy="430409"/>
          </a:xfrm>
        </p:grpSpPr>
        <mc:AlternateContent xmlns:mc="http://schemas.openxmlformats.org/markup-compatibility/2006">
          <mc:Choice xmlns:a14="http://schemas.microsoft.com/office/drawing/2010/main" Requires="a14">
            <p:sp>
              <p:nvSpPr>
                <p:cNvPr id="24" name="TextBox 23"/>
                <p:cNvSpPr txBox="1"/>
                <p:nvPr/>
              </p:nvSpPr>
              <p:spPr>
                <a:xfrm>
                  <a:off x="3220725" y="2798267"/>
                  <a:ext cx="648072" cy="369332"/>
                </a:xfrm>
                <a:prstGeom prst="rect">
                  <a:avLst/>
                </a:prstGeom>
                <a:noFill/>
              </p:spPr>
              <p:txBody>
                <a:bodyPr wrap="square" rtlCol="0">
                  <a:spAutoFit/>
                </a:bodyPr>
                <a:lstStyle/>
                <a:p>
                  <a:pPr/>
                  <a14:m>
                    <m:oMathPara xmlns:m="http://schemas.openxmlformats.org/officeDocument/2006/math">
                      <m:oMath>
                        <m:r>
                          <a:rPr lang="en-GB" i="1" dirty="0">
                            <a:latin typeface="Cambria Math"/>
                          </a:rPr>
                          <m:t>(</m:t>
                        </m:r>
                        <m:r>
                          <a:rPr lang="en-GB" i="1" dirty="0" err="1">
                            <a:latin typeface="Cambria Math"/>
                          </a:rPr>
                          <m:t>𝑥</m:t>
                        </m:r>
                        <m:r>
                          <a:rPr lang="en-GB" i="1" dirty="0" err="1">
                            <a:latin typeface="Cambria Math"/>
                          </a:rPr>
                          <m:t>,</m:t>
                        </m:r>
                        <m:r>
                          <a:rPr lang="en-GB" i="1" dirty="0" err="1">
                            <a:latin typeface="Cambria Math"/>
                          </a:rPr>
                          <m:t>𝑦</m:t>
                        </m:r>
                        <m:r>
                          <a:rPr lang="en-GB" i="1" dirty="0">
                            <a:latin typeface="Cambria Math"/>
                          </a:rPr>
                          <m:t>)</m:t>
                        </m:r>
                      </m:oMath>
                    </m:oMathPara>
                  </a14:m>
                  <a:endParaRPr lang="en-GB"/>
                </a:p>
              </p:txBody>
            </p:sp>
          </mc:Choice>
          <mc:Fallback>
            <p:sp>
              <p:nvSpPr>
                <p:cNvPr id="24" name="TextBox 23"/>
                <p:cNvSpPr txBox="1">
                  <a:spLocks noRot="1" noChangeAspect="1" noMove="1" noResize="1" noEditPoints="1" noAdjustHandles="1" noChangeArrowheads="1" noChangeShapeType="1" noTextEdit="1"/>
                </p:cNvSpPr>
                <p:nvPr/>
              </p:nvSpPr>
              <p:spPr>
                <a:xfrm>
                  <a:off x="3220725" y="2798267"/>
                  <a:ext cx="648072" cy="369332"/>
                </a:xfrm>
                <a:prstGeom prst="rect">
                  <a:avLst/>
                </a:prstGeom>
                <a:blipFill>
                  <a:blip r:embed="rId10"/>
                  <a:stretch>
                    <a:fillRect l="-1923" r="-15385" b="-16667"/>
                  </a:stretch>
                </a:blipFill>
              </p:spPr>
              <p:txBody>
                <a:bodyPr/>
                <a:lstStyle/>
                <a:p>
                  <a:r>
                    <a:rPr lang="en-US">
                      <a:noFill/>
                    </a:rPr>
                    <a:t> </a:t>
                  </a:r>
                </a:p>
              </p:txBody>
            </p:sp>
          </mc:Fallback>
        </mc:AlternateContent>
        <p:sp>
          <p:nvSpPr>
            <p:cNvPr id="25" name="Oval 24"/>
            <p:cNvSpPr/>
            <p:nvPr/>
          </p:nvSpPr>
          <p:spPr>
            <a:xfrm>
              <a:off x="3076709" y="3084660"/>
              <a:ext cx="144016" cy="14401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grpSp>
      <mc:AlternateContent xmlns:mc="http://schemas.openxmlformats.org/markup-compatibility/2006">
        <mc:Choice xmlns:a14="http://schemas.microsoft.com/office/drawing/2010/main" Requires="a14">
          <p:sp>
            <p:nvSpPr>
              <p:cNvPr id="27" name="TextBox 26"/>
              <p:cNvSpPr txBox="1"/>
              <p:nvPr/>
            </p:nvSpPr>
            <p:spPr>
              <a:xfrm>
                <a:off x="6459062" y="1476573"/>
                <a:ext cx="3840708" cy="1477328"/>
              </a:xfrm>
              <a:prstGeom prst="rect">
                <a:avLst/>
              </a:prstGeom>
              <a:noFill/>
            </p:spPr>
            <p:txBody>
              <a:bodyPr wrap="square" rtlCol="0">
                <a:spAutoFit/>
              </a:bodyPr>
              <a:lstStyle/>
              <a:p>
                <a:r>
                  <a:rPr lang="en-GB"/>
                  <a:t>Recall that a line can be a set of points </a:t>
                </a:r>
                <a14:m>
                  <m:oMath xmlns:m="http://schemas.openxmlformats.org/officeDocument/2006/math">
                    <m:d>
                      <m:dPr>
                        <m:ctrlPr>
                          <a:rPr lang="en-GB" i="1">
                            <a:latin typeface="Cambria Math" panose="02040503050406030204" pitchFamily="18" charset="0"/>
                          </a:rPr>
                        </m:ctrlPr>
                      </m:dPr>
                      <m:e>
                        <m:r>
                          <a:rPr lang="en-GB" i="1">
                            <a:latin typeface="Cambria Math" panose="02040503050406030204" pitchFamily="18" charset="0"/>
                          </a:rPr>
                          <m:t>𝑥</m:t>
                        </m:r>
                        <m:r>
                          <a:rPr lang="en-GB" i="1">
                            <a:latin typeface="Cambria Math" panose="02040503050406030204" pitchFamily="18" charset="0"/>
                          </a:rPr>
                          <m:t>,</m:t>
                        </m:r>
                        <m:r>
                          <a:rPr lang="en-GB" i="1">
                            <a:latin typeface="Cambria Math" panose="02040503050406030204" pitchFamily="18" charset="0"/>
                          </a:rPr>
                          <m:t>𝑦</m:t>
                        </m:r>
                      </m:e>
                    </m:d>
                  </m:oMath>
                </a14:m>
                <a:r>
                  <a:rPr lang="en-GB"/>
                  <a:t> that satisfy some equation.</a:t>
                </a:r>
              </a:p>
              <a:p>
                <a:r>
                  <a:rPr lang="en-GB"/>
                  <a:t>Suppose we have a point </a:t>
                </a:r>
                <a14:m>
                  <m:oMath xmlns:m="http://schemas.openxmlformats.org/officeDocument/2006/math">
                    <m:d>
                      <m:dPr>
                        <m:ctrlPr>
                          <a:rPr lang="en-GB" i="1">
                            <a:latin typeface="Cambria Math" panose="02040503050406030204" pitchFamily="18" charset="0"/>
                          </a:rPr>
                        </m:ctrlPr>
                      </m:dPr>
                      <m:e>
                        <m:r>
                          <a:rPr lang="en-GB" i="1">
                            <a:latin typeface="Cambria Math" panose="02040503050406030204" pitchFamily="18" charset="0"/>
                          </a:rPr>
                          <m:t>𝑥</m:t>
                        </m:r>
                        <m:r>
                          <a:rPr lang="en-GB" i="1">
                            <a:latin typeface="Cambria Math" panose="02040503050406030204" pitchFamily="18" charset="0"/>
                          </a:rPr>
                          <m:t>,</m:t>
                        </m:r>
                        <m:r>
                          <a:rPr lang="en-GB" i="1">
                            <a:latin typeface="Cambria Math" panose="02040503050406030204" pitchFamily="18" charset="0"/>
                          </a:rPr>
                          <m:t>𝑦</m:t>
                        </m:r>
                      </m:e>
                    </m:d>
                  </m:oMath>
                </a14:m>
                <a:r>
                  <a:rPr lang="en-GB"/>
                  <a:t> on a circle centred at the origin, with radius </a:t>
                </a:r>
                <a14:m>
                  <m:oMath xmlns:m="http://schemas.openxmlformats.org/officeDocument/2006/math">
                    <m:r>
                      <a:rPr lang="en-GB" i="1">
                        <a:latin typeface="Cambria Math" panose="02040503050406030204" pitchFamily="18" charset="0"/>
                      </a:rPr>
                      <m:t>𝑟</m:t>
                    </m:r>
                  </m:oMath>
                </a14:m>
                <a:r>
                  <a:rPr lang="en-GB"/>
                  <a:t>. What equation must </a:t>
                </a:r>
                <a14:m>
                  <m:oMath xmlns:m="http://schemas.openxmlformats.org/officeDocument/2006/math">
                    <m:d>
                      <m:dPr>
                        <m:ctrlPr>
                          <a:rPr lang="en-GB" i="1">
                            <a:latin typeface="Cambria Math" panose="02040503050406030204" pitchFamily="18" charset="0"/>
                          </a:rPr>
                        </m:ctrlPr>
                      </m:dPr>
                      <m:e>
                        <m:r>
                          <a:rPr lang="en-GB" i="1">
                            <a:latin typeface="Cambria Math" panose="02040503050406030204" pitchFamily="18" charset="0"/>
                          </a:rPr>
                          <m:t>𝑥</m:t>
                        </m:r>
                        <m:r>
                          <a:rPr lang="en-GB" i="1">
                            <a:latin typeface="Cambria Math" panose="02040503050406030204" pitchFamily="18" charset="0"/>
                          </a:rPr>
                          <m:t>,</m:t>
                        </m:r>
                        <m:r>
                          <a:rPr lang="en-GB" i="1">
                            <a:latin typeface="Cambria Math" panose="02040503050406030204" pitchFamily="18" charset="0"/>
                          </a:rPr>
                          <m:t>𝑦</m:t>
                        </m:r>
                      </m:e>
                    </m:d>
                  </m:oMath>
                </a14:m>
                <a:r>
                  <a:rPr lang="en-GB"/>
                  <a:t> satisfy?</a:t>
                </a:r>
              </a:p>
            </p:txBody>
          </p:sp>
        </mc:Choice>
        <mc:Fallback>
          <p:sp>
            <p:nvSpPr>
              <p:cNvPr id="27" name="TextBox 26"/>
              <p:cNvSpPr txBox="1">
                <a:spLocks noRot="1" noChangeAspect="1" noMove="1" noResize="1" noEditPoints="1" noAdjustHandles="1" noChangeArrowheads="1" noChangeShapeType="1" noTextEdit="1"/>
              </p:cNvSpPr>
              <p:nvPr/>
            </p:nvSpPr>
            <p:spPr>
              <a:xfrm>
                <a:off x="6459062" y="1476573"/>
                <a:ext cx="3840708" cy="1477328"/>
              </a:xfrm>
              <a:prstGeom prst="rect">
                <a:avLst/>
              </a:prstGeom>
              <a:blipFill>
                <a:blip r:embed="rId11"/>
                <a:stretch>
                  <a:fillRect l="-1316" t="-1709" r="-658" b="-5983"/>
                </a:stretch>
              </a:blipFill>
            </p:spPr>
            <p:txBody>
              <a:bodyPr/>
              <a:lstStyle/>
              <a:p>
                <a:r>
                  <a:rPr lang="en-US">
                    <a:noFill/>
                  </a:rPr>
                  <a:t> </a:t>
                </a:r>
              </a:p>
            </p:txBody>
          </p:sp>
        </mc:Fallback>
      </mc:AlternateContent>
    </p:spTree>
    <p:extLst>
      <p:ext uri="{BB962C8B-B14F-4D97-AF65-F5344CB8AC3E}">
        <p14:creationId xmlns:p14="http://schemas.microsoft.com/office/powerpoint/2010/main" val="3014299081"/>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21"/>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21"/>
                                        </p:tgtEl>
                                      </p:cBhvr>
                                    </p:animEffect>
                                    <p:set>
                                      <p:cBhvr>
                                        <p:cTn id="7" dur="1" fill="hold">
                                          <p:stCondLst>
                                            <p:cond delay="499"/>
                                          </p:stCondLst>
                                        </p:cTn>
                                        <p:tgtEl>
                                          <p:spTgt spid="21"/>
                                        </p:tgtEl>
                                        <p:attrNameLst>
                                          <p:attrName>style.visibility</p:attrName>
                                        </p:attrNameLst>
                                      </p:cBhvr>
                                      <p:to>
                                        <p:strVal val="hidden"/>
                                      </p:to>
                                    </p:set>
                                  </p:childTnLst>
                                </p:cTn>
                              </p:par>
                              <p:par>
                                <p:cTn id="8" presetID="9" presetClass="entr" presetSubtype="0" fill="hold"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dissolve">
                                      <p:cBhvr>
                                        <p:cTn id="10" dur="500"/>
                                        <p:tgtEl>
                                          <p:spTgt spid="20"/>
                                        </p:tgtEl>
                                      </p:cBhvr>
                                    </p:animEffect>
                                  </p:childTnLst>
                                </p:cTn>
                              </p:par>
                            </p:childTnLst>
                          </p:cTn>
                        </p:par>
                      </p:childTnLst>
                    </p:cTn>
                  </p:par>
                </p:childTnLst>
              </p:cTn>
              <p:nextCondLst>
                <p:cond evt="onClick" delay="0">
                  <p:tgtEl>
                    <p:spTgt spid="21"/>
                  </p:tgtEl>
                </p:cond>
              </p:nextCondLst>
            </p:seq>
          </p:childTnLst>
        </p:cTn>
      </p:par>
    </p:tnLst>
    <p:bldLst>
      <p:bldP spid="21" grpId="0" animBg="1"/>
    </p:bldLst>
  </p:timing>
</p:sld>
</file>

<file path=ppt/c6/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7"/>
          <p:cNvGrpSpPr/>
          <p:nvPr/>
        </p:nvGrpSpPr>
        <p:grpSpPr>
          <a:xfrm>
            <a:off x="1524000" y="1"/>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a:t>Equation of a circle</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p:cxnSp>
        <p:nvCxnSpPr>
          <p:cNvPr id="6" name="Straight Arrow Connector 5"/>
          <p:cNvCxnSpPr/>
          <p:nvPr/>
        </p:nvCxnSpPr>
        <p:spPr>
          <a:xfrm>
            <a:off x="1991544" y="3717032"/>
            <a:ext cx="3960440" cy="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7" name="Straight Arrow Connector 6"/>
          <p:cNvCxnSpPr/>
          <p:nvPr/>
        </p:nvCxnSpPr>
        <p:spPr>
          <a:xfrm flipV="1">
            <a:off x="3935760" y="1844824"/>
            <a:ext cx="0" cy="3384376"/>
          </a:xfrm>
          <a:prstGeom prst="straightConnector1">
            <a:avLst/>
          </a:prstGeom>
          <a:ln>
            <a:tailEnd type="arrow"/>
          </a:ln>
        </p:spPr>
        <p:style>
          <a:lnRef idx="2">
            <a:schemeClr val="dk1"/>
          </a:lnRef>
          <a:fillRef idx="0">
            <a:schemeClr val="dk1"/>
          </a:fillRef>
          <a:effectRef idx="1">
            <a:schemeClr val="dk1"/>
          </a:effectRef>
          <a:fontRef idx="minor">
            <a:schemeClr val="tx1"/>
          </a:fontRef>
        </p:style>
      </p:cxnSp>
      <mc:AlternateContent xmlns:mc="http://schemas.openxmlformats.org/markup-compatibility/2006">
        <mc:Choice xmlns:a14="http://schemas.microsoft.com/office/drawing/2010/main" Requires="a14">
          <p:sp>
            <p:nvSpPr>
              <p:cNvPr id="10" name="TextBox 9"/>
              <p:cNvSpPr txBox="1"/>
              <p:nvPr/>
            </p:nvSpPr>
            <p:spPr>
              <a:xfrm>
                <a:off x="5879976" y="3501008"/>
                <a:ext cx="288032" cy="369332"/>
              </a:xfrm>
              <a:prstGeom prst="rect">
                <a:avLst/>
              </a:prstGeom>
              <a:noFill/>
            </p:spPr>
            <p:txBody>
              <a:bodyPr wrap="square" rtlCol="0">
                <a:spAutoFit/>
              </a:bodyPr>
              <a:lstStyle/>
              <a:p>
                <a:pPr/>
                <a14:m>
                  <m:oMathPara xmlns:m="http://schemas.openxmlformats.org/officeDocument/2006/math">
                    <m:oMath>
                      <m:r>
                        <a:rPr lang="en-GB" i="1" dirty="0">
                          <a:latin typeface="Cambria Math" panose="02040503050406030204" pitchFamily="18" charset="0"/>
                        </a:rPr>
                        <m:t>𝑥</m:t>
                      </m:r>
                    </m:oMath>
                  </m:oMathPara>
                </a14:m>
                <a:endParaRPr lang="en-GB"/>
              </a:p>
            </p:txBody>
          </p:sp>
        </mc:Choice>
        <mc:Fallback>
          <p:sp>
            <p:nvSpPr>
              <p:cNvPr id="10" name="TextBox 9"/>
              <p:cNvSpPr txBox="1">
                <a:spLocks noRot="1" noChangeAspect="1" noMove="1" noResize="1" noEditPoints="1" noAdjustHandles="1" noChangeArrowheads="1" noChangeShapeType="1" noTextEdit="1"/>
              </p:cNvSpPr>
              <p:nvPr/>
            </p:nvSpPr>
            <p:spPr>
              <a:xfrm>
                <a:off x="5879976" y="3501008"/>
                <a:ext cx="288032" cy="369332"/>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1" name="TextBox 10"/>
              <p:cNvSpPr txBox="1"/>
              <p:nvPr/>
            </p:nvSpPr>
            <p:spPr>
              <a:xfrm>
                <a:off x="3791744" y="1484784"/>
                <a:ext cx="288032" cy="369332"/>
              </a:xfrm>
              <a:prstGeom prst="rect">
                <a:avLst/>
              </a:prstGeom>
              <a:noFill/>
            </p:spPr>
            <p:txBody>
              <a:bodyPr wrap="square" rtlCol="0">
                <a:spAutoFit/>
              </a:bodyPr>
              <a:lstStyle/>
              <a:p>
                <a:pPr/>
                <a14:m>
                  <m:oMathPara xmlns:m="http://schemas.openxmlformats.org/officeDocument/2006/math">
                    <m:oMath>
                      <m:r>
                        <a:rPr lang="en-GB" i="1" dirty="0">
                          <a:latin typeface="Cambria Math" panose="02040503050406030204" pitchFamily="18" charset="0"/>
                        </a:rPr>
                        <m:t>𝑦</m:t>
                      </m:r>
                    </m:oMath>
                  </m:oMathPara>
                </a14:m>
                <a:endParaRPr lang="en-GB"/>
              </a:p>
            </p:txBody>
          </p:sp>
        </mc:Choice>
        <mc:Fallback>
          <p:sp>
            <p:nvSpPr>
              <p:cNvPr id="11" name="TextBox 10"/>
              <p:cNvSpPr txBox="1">
                <a:spLocks noRot="1" noChangeAspect="1" noMove="1" noResize="1" noEditPoints="1" noAdjustHandles="1" noChangeArrowheads="1" noChangeShapeType="1" noTextEdit="1"/>
              </p:cNvSpPr>
              <p:nvPr/>
            </p:nvSpPr>
            <p:spPr>
              <a:xfrm>
                <a:off x="3791744" y="1484784"/>
                <a:ext cx="288032" cy="369332"/>
              </a:xfrm>
              <a:prstGeom prst="rect">
                <a:avLst/>
              </a:prstGeom>
              <a:blipFill>
                <a:blip r:embed="rId3"/>
                <a:stretch>
                  <a:fillRect r="-4167" b="-10345"/>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4" name="TextBox 13"/>
              <p:cNvSpPr txBox="1"/>
              <p:nvPr/>
            </p:nvSpPr>
            <p:spPr>
              <a:xfrm>
                <a:off x="6722864" y="1764184"/>
                <a:ext cx="3528392" cy="1523494"/>
              </a:xfrm>
              <a:prstGeom prst="rect">
                <a:avLst/>
              </a:prstGeom>
              <a:noFill/>
            </p:spPr>
            <p:txBody>
              <a:bodyPr wrap="square" rtlCol="0">
                <a:spAutoFit/>
              </a:bodyPr>
              <a:lstStyle/>
              <a:p>
                <a:r>
                  <a:rPr lang="en-GB" sz="2000"/>
                  <a:t>Now suppose we shift the circle so it’s now centred at </a:t>
                </a:r>
                <a14:m>
                  <m:oMath xmlns:m="http://schemas.openxmlformats.org/officeDocument/2006/math">
                    <m:d>
                      <m:dPr>
                        <m:ctrlPr>
                          <a:rPr lang="en-GB" sz="2000" i="1">
                            <a:latin typeface="Cambria Math" panose="02040503050406030204" pitchFamily="18" charset="0"/>
                          </a:rPr>
                        </m:ctrlPr>
                      </m:dPr>
                      <m:e>
                        <m:r>
                          <a:rPr lang="en-GB" sz="2000" i="1">
                            <a:latin typeface="Cambria Math" panose="02040503050406030204" pitchFamily="18" charset="0"/>
                          </a:rPr>
                          <m:t>𝑎</m:t>
                        </m:r>
                        <m:r>
                          <a:rPr lang="en-GB" sz="2000" i="1">
                            <a:latin typeface="Cambria Math" panose="02040503050406030204" pitchFamily="18" charset="0"/>
                          </a:rPr>
                          <m:t>,</m:t>
                        </m:r>
                        <m:r>
                          <a:rPr lang="en-GB" sz="2000" i="1">
                            <a:latin typeface="Cambria Math" panose="02040503050406030204" pitchFamily="18" charset="0"/>
                          </a:rPr>
                          <m:t>𝑏</m:t>
                        </m:r>
                      </m:e>
                    </m:d>
                  </m:oMath>
                </a14:m>
                <a:r>
                  <a:rPr lang="en-GB" sz="2000"/>
                  <a:t>. What’s the equation now?</a:t>
                </a:r>
              </a:p>
              <a:p>
                <a:endParaRPr lang="en-GB" sz="500"/>
              </a:p>
              <a:p>
                <a:r>
                  <a:rPr lang="en-GB" sz="1400"/>
                  <a:t>(Hint: What would the sides of this right-angled triangle be now?) </a:t>
                </a:r>
                <a:endParaRPr lang="en-GB" sz="1050"/>
              </a:p>
            </p:txBody>
          </p:sp>
        </mc:Choice>
        <mc:Fallback>
          <p:sp>
            <p:nvSpPr>
              <p:cNvPr id="14" name="TextBox 13"/>
              <p:cNvSpPr txBox="1">
                <a:spLocks noRot="1" noChangeAspect="1" noMove="1" noResize="1" noEditPoints="1" noAdjustHandles="1" noChangeArrowheads="1" noChangeShapeType="1" noTextEdit="1"/>
              </p:cNvSpPr>
              <p:nvPr/>
            </p:nvSpPr>
            <p:spPr>
              <a:xfrm>
                <a:off x="6722864" y="1764184"/>
                <a:ext cx="3528392" cy="1523494"/>
              </a:xfrm>
              <a:prstGeom prst="rect">
                <a:avLst/>
              </a:prstGeom>
              <a:blipFill>
                <a:blip r:embed="rId4"/>
                <a:stretch>
                  <a:fillRect l="-1792" t="-1653" r="-1434" b="-4132"/>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5" name="TextBox 14"/>
              <p:cNvSpPr txBox="1"/>
              <p:nvPr/>
            </p:nvSpPr>
            <p:spPr>
              <a:xfrm>
                <a:off x="6085706" y="4019550"/>
                <a:ext cx="4262980" cy="1815882"/>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r>
                  <a:rPr lang="en-GB" sz="2800">
                    <a:latin typeface="Wingdings" panose="05000000000000000000" pitchFamily="2" charset="2"/>
                  </a:rPr>
                  <a:t>!</a:t>
                </a:r>
                <a:r>
                  <a:rPr lang="en-GB" sz="2800">
                    <a:latin typeface="+mj-lt"/>
                  </a:rPr>
                  <a:t> The equation of a circle with centre </a:t>
                </a:r>
                <a14:m>
                  <m:oMath xmlns:m="http://schemas.openxmlformats.org/officeDocument/2006/math">
                    <m:d>
                      <m:dPr>
                        <m:ctrlPr>
                          <a:rPr lang="en-GB" sz="2800" i="1">
                            <a:latin typeface="Cambria Math" panose="02040503050406030204" pitchFamily="18" charset="0"/>
                          </a:rPr>
                        </m:ctrlPr>
                      </m:dPr>
                      <m:e>
                        <m:r>
                          <a:rPr lang="en-GB" sz="2800" i="1">
                            <a:latin typeface="Cambria Math" panose="02040503050406030204" pitchFamily="18" charset="0"/>
                          </a:rPr>
                          <m:t>𝑎</m:t>
                        </m:r>
                        <m:r>
                          <a:rPr lang="en-GB" sz="2800" i="1">
                            <a:latin typeface="Cambria Math" panose="02040503050406030204" pitchFamily="18" charset="0"/>
                          </a:rPr>
                          <m:t>,</m:t>
                        </m:r>
                        <m:r>
                          <a:rPr lang="en-GB" sz="2800" i="1">
                            <a:latin typeface="Cambria Math" panose="02040503050406030204" pitchFamily="18" charset="0"/>
                          </a:rPr>
                          <m:t>𝑏</m:t>
                        </m:r>
                      </m:e>
                    </m:d>
                  </m:oMath>
                </a14:m>
                <a:r>
                  <a:rPr lang="en-GB" sz="2800">
                    <a:latin typeface="+mj-lt"/>
                  </a:rPr>
                  <a:t> and radius </a:t>
                </a:r>
                <a14:m>
                  <m:oMath xmlns:m="http://schemas.openxmlformats.org/officeDocument/2006/math">
                    <m:r>
                      <a:rPr lang="en-GB" sz="2800" i="1">
                        <a:latin typeface="Cambria Math" panose="02040503050406030204" pitchFamily="18" charset="0"/>
                      </a:rPr>
                      <m:t>𝑟</m:t>
                    </m:r>
                  </m:oMath>
                </a14:m>
                <a:r>
                  <a:rPr lang="en-GB" sz="2800">
                    <a:latin typeface="+mj-lt"/>
                  </a:rPr>
                  <a:t> is:</a:t>
                </a:r>
              </a:p>
              <a:p>
                <a:pPr algn="ctr"/>
                <a14:m>
                  <m:oMathPara xmlns:m="http://schemas.openxmlformats.org/officeDocument/2006/math">
                    <m:oMath>
                      <m:sSup>
                        <m:sSupPr>
                          <m:ctrlPr>
                            <a:rPr lang="en-GB" sz="2800" i="1">
                              <a:latin typeface="Cambria Math" panose="02040503050406030204" pitchFamily="18" charset="0"/>
                            </a:rPr>
                          </m:ctrlPr>
                        </m:sSupPr>
                        <m:e>
                          <m:d>
                            <m:dPr>
                              <m:ctrlPr>
                                <a:rPr lang="en-GB" sz="2800" i="1">
                                  <a:latin typeface="Cambria Math" panose="02040503050406030204" pitchFamily="18" charset="0"/>
                                </a:rPr>
                              </m:ctrlPr>
                            </m:dPr>
                            <m:e>
                              <m:r>
                                <a:rPr lang="en-GB" sz="2800" i="1">
                                  <a:latin typeface="Cambria Math" panose="02040503050406030204" pitchFamily="18" charset="0"/>
                                </a:rPr>
                                <m:t>𝑥</m:t>
                              </m:r>
                              <m:r>
                                <a:rPr lang="en-GB" sz="2800" i="1">
                                  <a:latin typeface="Cambria Math" panose="02040503050406030204" pitchFamily="18" charset="0"/>
                                </a:rPr>
                                <m:t>−</m:t>
                              </m:r>
                              <m:r>
                                <a:rPr lang="en-GB" sz="2800" i="1">
                                  <a:latin typeface="Cambria Math" panose="02040503050406030204" pitchFamily="18" charset="0"/>
                                </a:rPr>
                                <m:t>𝑎</m:t>
                              </m:r>
                            </m:e>
                          </m:d>
                        </m:e>
                        <m:sup>
                          <m:r>
                            <a:rPr lang="en-GB" sz="2800" i="1">
                              <a:latin typeface="Cambria Math" panose="02040503050406030204" pitchFamily="18" charset="0"/>
                            </a:rPr>
                            <m:t>2</m:t>
                          </m:r>
                        </m:sup>
                      </m:sSup>
                      <m:r>
                        <a:rPr lang="en-GB" sz="2800" i="1">
                          <a:latin typeface="Cambria Math" panose="02040503050406030204" pitchFamily="18" charset="0"/>
                        </a:rPr>
                        <m:t>+</m:t>
                      </m:r>
                      <m:sSup>
                        <m:sSupPr>
                          <m:ctrlPr>
                            <a:rPr lang="en-GB" sz="2800" i="1">
                              <a:latin typeface="Cambria Math" panose="02040503050406030204" pitchFamily="18" charset="0"/>
                            </a:rPr>
                          </m:ctrlPr>
                        </m:sSupPr>
                        <m:e>
                          <m:d>
                            <m:dPr>
                              <m:ctrlPr>
                                <a:rPr lang="en-GB" sz="2800" i="1">
                                  <a:latin typeface="Cambria Math" panose="02040503050406030204" pitchFamily="18" charset="0"/>
                                </a:rPr>
                              </m:ctrlPr>
                            </m:dPr>
                            <m:e>
                              <m:r>
                                <a:rPr lang="en-GB" sz="2800" i="1">
                                  <a:latin typeface="Cambria Math" panose="02040503050406030204" pitchFamily="18" charset="0"/>
                                </a:rPr>
                                <m:t>𝑦</m:t>
                              </m:r>
                              <m:r>
                                <a:rPr lang="en-GB" sz="2800" i="1">
                                  <a:latin typeface="Cambria Math" panose="02040503050406030204" pitchFamily="18" charset="0"/>
                                </a:rPr>
                                <m:t>−</m:t>
                              </m:r>
                              <m:r>
                                <a:rPr lang="en-GB" sz="2800" i="1">
                                  <a:latin typeface="Cambria Math" panose="02040503050406030204" pitchFamily="18" charset="0"/>
                                </a:rPr>
                                <m:t>𝑏</m:t>
                              </m:r>
                            </m:e>
                          </m:d>
                        </m:e>
                        <m:sup>
                          <m:r>
                            <a:rPr lang="en-GB" sz="2800" i="1">
                              <a:latin typeface="Cambria Math" panose="02040503050406030204" pitchFamily="18" charset="0"/>
                            </a:rPr>
                            <m:t>2</m:t>
                          </m:r>
                        </m:sup>
                      </m:sSup>
                      <m:r>
                        <a:rPr lang="en-GB" sz="2800" i="1">
                          <a:latin typeface="Cambria Math" panose="02040503050406030204" pitchFamily="18" charset="0"/>
                        </a:rPr>
                        <m:t>=</m:t>
                      </m:r>
                      <m:sSup>
                        <m:sSupPr>
                          <m:ctrlPr>
                            <a:rPr lang="en-GB" sz="2800" i="1">
                              <a:latin typeface="Cambria Math" panose="02040503050406030204" pitchFamily="18" charset="0"/>
                            </a:rPr>
                          </m:ctrlPr>
                        </m:sSupPr>
                        <m:e>
                          <m:r>
                            <a:rPr lang="en-GB" sz="2800" i="1">
                              <a:latin typeface="Cambria Math" panose="02040503050406030204" pitchFamily="18" charset="0"/>
                            </a:rPr>
                            <m:t>𝑟</m:t>
                          </m:r>
                        </m:e>
                        <m:sup>
                          <m:r>
                            <a:rPr lang="en-GB" sz="2800" i="1">
                              <a:latin typeface="Cambria Math" panose="02040503050406030204" pitchFamily="18" charset="0"/>
                            </a:rPr>
                            <m:t>2</m:t>
                          </m:r>
                        </m:sup>
                      </m:sSup>
                    </m:oMath>
                  </m:oMathPara>
                </a14:m>
                <a:endParaRPr lang="en-GB" sz="2000"/>
              </a:p>
            </p:txBody>
          </p:sp>
        </mc:Choice>
        <mc:Fallback>
          <p:sp>
            <p:nvSpPr>
              <p:cNvPr id="15" name="TextBox 14"/>
              <p:cNvSpPr txBox="1">
                <a:spLocks noRot="1" noChangeAspect="1" noMove="1" noResize="1" noEditPoints="1" noAdjustHandles="1" noChangeArrowheads="1" noChangeShapeType="1" noTextEdit="1"/>
              </p:cNvSpPr>
              <p:nvPr/>
            </p:nvSpPr>
            <p:spPr>
              <a:xfrm>
                <a:off x="6085706" y="4019550"/>
                <a:ext cx="4262980" cy="1815882"/>
              </a:xfrm>
              <a:prstGeom prst="rect">
                <a:avLst/>
              </a:prstGeom>
              <a:blipFill>
                <a:blip r:embed="rId5"/>
                <a:stretch>
                  <a:fillRect l="-2950" t="-3425" b="-1370"/>
                </a:stretch>
              </a:blipFill>
            </p:spPr>
            <p:txBody>
              <a:bodyPr/>
              <a:lstStyle/>
              <a:p>
                <a:r>
                  <a:rPr lang="en-US">
                    <a:noFill/>
                  </a:rPr>
                  <a:t> </a:t>
                </a:r>
              </a:p>
            </p:txBody>
          </p:sp>
        </mc:Fallback>
      </mc:AlternateContent>
      <p:sp>
        <p:nvSpPr>
          <p:cNvPr id="21" name="Rectangle 20"/>
          <p:cNvSpPr/>
          <p:nvPr/>
        </p:nvSpPr>
        <p:spPr>
          <a:xfrm>
            <a:off x="6085706" y="4008168"/>
            <a:ext cx="4262980" cy="1827264"/>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grpSp>
        <p:nvGrpSpPr>
          <p:cNvPr id="23" name="Group 22"/>
          <p:cNvGrpSpPr/>
          <p:nvPr/>
        </p:nvGrpSpPr>
        <p:grpSpPr>
          <a:xfrm>
            <a:off x="4191929" y="1628800"/>
            <a:ext cx="1976079" cy="1866509"/>
            <a:chOff x="2572653" y="1739765"/>
            <a:chExt cx="1976079" cy="1866509"/>
          </a:xfrm>
        </p:grpSpPr>
        <mc:AlternateContent xmlns:mc="http://schemas.openxmlformats.org/markup-compatibility/2006">
          <mc:Choice xmlns:a14="http://schemas.microsoft.com/office/drawing/2010/main" Requires="a14">
            <p:sp>
              <p:nvSpPr>
                <p:cNvPr id="20" name="TextBox 19"/>
                <p:cNvSpPr txBox="1"/>
                <p:nvPr/>
              </p:nvSpPr>
              <p:spPr>
                <a:xfrm>
                  <a:off x="2572653" y="3236942"/>
                  <a:ext cx="648072" cy="369332"/>
                </a:xfrm>
                <a:prstGeom prst="rect">
                  <a:avLst/>
                </a:prstGeom>
                <a:noFill/>
              </p:spPr>
              <p:txBody>
                <a:bodyPr wrap="square" rtlCol="0">
                  <a:spAutoFit/>
                </a:bodyPr>
                <a:lstStyle/>
                <a:p>
                  <a:pPr/>
                  <a14:m>
                    <m:oMathPara xmlns:m="http://schemas.openxmlformats.org/officeDocument/2006/math">
                      <m:oMath>
                        <m:r>
                          <a:rPr lang="en-GB" i="1" dirty="0">
                            <a:latin typeface="Cambria Math"/>
                          </a:rPr>
                          <m:t>(</m:t>
                        </m:r>
                        <m:r>
                          <a:rPr lang="en-GB" i="1" dirty="0" err="1">
                            <a:latin typeface="Cambria Math"/>
                          </a:rPr>
                          <m:t>𝑎</m:t>
                        </m:r>
                        <m:r>
                          <a:rPr lang="en-GB" i="1" dirty="0" err="1">
                            <a:latin typeface="Cambria Math"/>
                          </a:rPr>
                          <m:t>,</m:t>
                        </m:r>
                        <m:r>
                          <a:rPr lang="en-GB" i="1" dirty="0" err="1">
                            <a:latin typeface="Cambria Math"/>
                          </a:rPr>
                          <m:t>𝑏</m:t>
                        </m:r>
                        <m:r>
                          <a:rPr lang="en-GB" i="1" dirty="0">
                            <a:latin typeface="Cambria Math"/>
                          </a:rPr>
                          <m:t>)</m:t>
                        </m:r>
                      </m:oMath>
                    </m:oMathPara>
                  </a14:m>
                  <a:endParaRPr lang="en-GB"/>
                </a:p>
              </p:txBody>
            </p:sp>
          </mc:Choice>
          <mc:Fallback>
            <p:sp>
              <p:nvSpPr>
                <p:cNvPr id="20" name="TextBox 19"/>
                <p:cNvSpPr txBox="1">
                  <a:spLocks noRot="1" noChangeAspect="1" noMove="1" noResize="1" noEditPoints="1" noAdjustHandles="1" noChangeArrowheads="1" noChangeShapeType="1" noTextEdit="1"/>
                </p:cNvSpPr>
                <p:nvPr/>
              </p:nvSpPr>
              <p:spPr>
                <a:xfrm>
                  <a:off x="2572653" y="3236942"/>
                  <a:ext cx="648072" cy="369332"/>
                </a:xfrm>
                <a:prstGeom prst="rect">
                  <a:avLst/>
                </a:prstGeom>
                <a:blipFill>
                  <a:blip r:embed="rId6"/>
                  <a:stretch>
                    <a:fillRect l="-3846" r="-13462" b="-13333"/>
                  </a:stretch>
                </a:blipFill>
              </p:spPr>
              <p:txBody>
                <a:bodyPr/>
                <a:lstStyle/>
                <a:p>
                  <a:r>
                    <a:rPr lang="en-US">
                      <a:noFill/>
                    </a:rPr>
                    <a:t> </a:t>
                  </a:r>
                </a:p>
              </p:txBody>
            </p:sp>
          </mc:Fallback>
        </mc:AlternateContent>
        <p:sp>
          <p:nvSpPr>
            <p:cNvPr id="22" name="Oval 21"/>
            <p:cNvSpPr/>
            <p:nvPr/>
          </p:nvSpPr>
          <p:spPr>
            <a:xfrm>
              <a:off x="3076709" y="3084660"/>
              <a:ext cx="144016" cy="14401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mc:AlternateContent xmlns:mc="http://schemas.openxmlformats.org/markup-compatibility/2006">
          <mc:Choice xmlns:a14="http://schemas.microsoft.com/office/drawing/2010/main" Requires="a14">
            <p:sp>
              <p:nvSpPr>
                <p:cNvPr id="27" name="TextBox 26"/>
                <p:cNvSpPr txBox="1"/>
                <p:nvPr/>
              </p:nvSpPr>
              <p:spPr>
                <a:xfrm>
                  <a:off x="3900660" y="1739765"/>
                  <a:ext cx="648072" cy="369332"/>
                </a:xfrm>
                <a:prstGeom prst="rect">
                  <a:avLst/>
                </a:prstGeom>
                <a:noFill/>
              </p:spPr>
              <p:txBody>
                <a:bodyPr wrap="square" rtlCol="0">
                  <a:spAutoFit/>
                </a:bodyPr>
                <a:lstStyle/>
                <a:p>
                  <a:pPr/>
                  <a14:m>
                    <m:oMathPara xmlns:m="http://schemas.openxmlformats.org/officeDocument/2006/math">
                      <m:oMath>
                        <m:r>
                          <a:rPr lang="en-GB" i="1" dirty="0">
                            <a:latin typeface="Cambria Math"/>
                          </a:rPr>
                          <m:t>(</m:t>
                        </m:r>
                        <m:r>
                          <a:rPr lang="en-GB" i="1" dirty="0">
                            <a:latin typeface="Cambria Math" panose="02040503050406030204" pitchFamily="18" charset="0"/>
                          </a:rPr>
                          <m:t>𝑥</m:t>
                        </m:r>
                        <m:r>
                          <a:rPr lang="en-GB" i="1" dirty="0">
                            <a:latin typeface="Cambria Math" panose="02040503050406030204" pitchFamily="18" charset="0"/>
                          </a:rPr>
                          <m:t>,</m:t>
                        </m:r>
                        <m:r>
                          <a:rPr lang="en-GB" i="1" dirty="0">
                            <a:latin typeface="Cambria Math" panose="02040503050406030204" pitchFamily="18" charset="0"/>
                          </a:rPr>
                          <m:t>𝑦</m:t>
                        </m:r>
                        <m:r>
                          <a:rPr lang="en-GB" i="1" dirty="0">
                            <a:latin typeface="Cambria Math"/>
                          </a:rPr>
                          <m:t>)</m:t>
                        </m:r>
                      </m:oMath>
                    </m:oMathPara>
                  </a14:m>
                  <a:endParaRPr lang="en-GB"/>
                </a:p>
              </p:txBody>
            </p:sp>
          </mc:Choice>
          <mc:Fallback>
            <p:sp>
              <p:nvSpPr>
                <p:cNvPr id="27" name="TextBox 26"/>
                <p:cNvSpPr txBox="1">
                  <a:spLocks noRot="1" noChangeAspect="1" noMove="1" noResize="1" noEditPoints="1" noAdjustHandles="1" noChangeArrowheads="1" noChangeShapeType="1" noTextEdit="1"/>
                </p:cNvSpPr>
                <p:nvPr/>
              </p:nvSpPr>
              <p:spPr>
                <a:xfrm>
                  <a:off x="3900660" y="1739765"/>
                  <a:ext cx="648072" cy="369332"/>
                </a:xfrm>
                <a:prstGeom prst="rect">
                  <a:avLst/>
                </a:prstGeom>
                <a:blipFill>
                  <a:blip r:embed="rId7"/>
                  <a:stretch>
                    <a:fillRect l="-3846" r="-13462" b="-13333"/>
                  </a:stretch>
                </a:blipFill>
              </p:spPr>
              <p:txBody>
                <a:bodyPr/>
                <a:lstStyle/>
                <a:p>
                  <a:r>
                    <a:rPr lang="en-US">
                      <a:noFill/>
                    </a:rPr>
                    <a:t> </a:t>
                  </a:r>
                </a:p>
              </p:txBody>
            </p:sp>
          </mc:Fallback>
        </mc:AlternateContent>
        <p:sp>
          <p:nvSpPr>
            <p:cNvPr id="28" name="Oval 27"/>
            <p:cNvSpPr/>
            <p:nvPr/>
          </p:nvSpPr>
          <p:spPr>
            <a:xfrm>
              <a:off x="3832751" y="2018823"/>
              <a:ext cx="144016" cy="14401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grpSp>
      <p:sp>
        <p:nvSpPr>
          <p:cNvPr id="24" name="Oval 23"/>
          <p:cNvSpPr/>
          <p:nvPr/>
        </p:nvSpPr>
        <p:spPr>
          <a:xfrm>
            <a:off x="2639616" y="2420888"/>
            <a:ext cx="2592288" cy="2520280"/>
          </a:xfrm>
          <a:prstGeom prst="ellipse">
            <a:avLst/>
          </a:prstGeom>
          <a:noFill/>
          <a:ln w="3175">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GB"/>
          </a:p>
        </p:txBody>
      </p:sp>
      <p:grpSp>
        <p:nvGrpSpPr>
          <p:cNvPr id="16" name="Group 15"/>
          <p:cNvGrpSpPr/>
          <p:nvPr/>
        </p:nvGrpSpPr>
        <p:grpSpPr>
          <a:xfrm>
            <a:off x="4796546" y="1966773"/>
            <a:ext cx="1080120" cy="1377444"/>
            <a:chOff x="2411760" y="2636912"/>
            <a:chExt cx="1080120" cy="1377444"/>
          </a:xfrm>
        </p:grpSpPr>
        <p:sp>
          <p:nvSpPr>
            <p:cNvPr id="17" name="TextBox 16"/>
            <p:cNvSpPr txBox="1"/>
            <p:nvPr/>
          </p:nvSpPr>
          <p:spPr>
            <a:xfrm>
              <a:off x="2627784" y="3645024"/>
              <a:ext cx="360040" cy="369332"/>
            </a:xfrm>
            <a:prstGeom prst="rect">
              <a:avLst/>
            </a:prstGeom>
            <a:noFill/>
          </p:spPr>
          <p:txBody>
            <a:bodyPr wrap="square" rtlCol="0">
              <a:spAutoFit/>
            </a:bodyPr>
            <a:lstStyle/>
            <a:p>
              <a:endParaRPr lang="en-GB"/>
            </a:p>
          </p:txBody>
        </p:sp>
        <p:sp>
          <p:nvSpPr>
            <p:cNvPr id="18" name="Right Triangle 17"/>
            <p:cNvSpPr/>
            <p:nvPr/>
          </p:nvSpPr>
          <p:spPr>
            <a:xfrm flipH="1">
              <a:off x="2411760" y="2636912"/>
              <a:ext cx="720080" cy="1080120"/>
            </a:xfrm>
            <a:prstGeom prst="rtTriangl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GB"/>
            </a:p>
          </p:txBody>
        </p:sp>
        <p:sp>
          <p:nvSpPr>
            <p:cNvPr id="19" name="Rectangle 18"/>
            <p:cNvSpPr/>
            <p:nvPr/>
          </p:nvSpPr>
          <p:spPr>
            <a:xfrm>
              <a:off x="2915816" y="3501008"/>
              <a:ext cx="216024" cy="2160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TextBox 24"/>
            <p:cNvSpPr txBox="1"/>
            <p:nvPr/>
          </p:nvSpPr>
          <p:spPr>
            <a:xfrm>
              <a:off x="3131840" y="3068960"/>
              <a:ext cx="360040" cy="369332"/>
            </a:xfrm>
            <a:prstGeom prst="rect">
              <a:avLst/>
            </a:prstGeom>
            <a:noFill/>
          </p:spPr>
          <p:txBody>
            <a:bodyPr wrap="square" rtlCol="0">
              <a:spAutoFit/>
            </a:bodyPr>
            <a:lstStyle/>
            <a:p>
              <a:endParaRPr lang="en-GB"/>
            </a:p>
          </p:txBody>
        </p:sp>
        <mc:AlternateContent xmlns:mc="http://schemas.openxmlformats.org/markup-compatibility/2006">
          <mc:Choice xmlns:a14="http://schemas.microsoft.com/office/drawing/2010/main" Requires="a14">
            <p:sp>
              <p:nvSpPr>
                <p:cNvPr id="26" name="TextBox 25"/>
                <p:cNvSpPr txBox="1"/>
                <p:nvPr/>
              </p:nvSpPr>
              <p:spPr>
                <a:xfrm>
                  <a:off x="2555776" y="2852936"/>
                  <a:ext cx="360040" cy="369332"/>
                </a:xfrm>
                <a:prstGeom prst="rect">
                  <a:avLst/>
                </a:prstGeom>
                <a:noFill/>
              </p:spPr>
              <p:txBody>
                <a:bodyPr wrap="square" rtlCol="0">
                  <a:spAutoFit/>
                </a:bodyPr>
                <a:lstStyle/>
                <a:p>
                  <a:pPr/>
                  <a14:m>
                    <m:oMathPara xmlns:m="http://schemas.openxmlformats.org/officeDocument/2006/math">
                      <m:oMath>
                        <m:r>
                          <a:rPr lang="en-GB" i="1" dirty="0">
                            <a:latin typeface="Cambria Math" panose="02040503050406030204" pitchFamily="18" charset="0"/>
                          </a:rPr>
                          <m:t>𝑟</m:t>
                        </m:r>
                      </m:oMath>
                    </m:oMathPara>
                  </a14:m>
                  <a:endParaRPr lang="en-GB"/>
                </a:p>
              </p:txBody>
            </p:sp>
          </mc:Choice>
          <mc:Fallback>
            <p:sp>
              <p:nvSpPr>
                <p:cNvPr id="26" name="TextBox 25"/>
                <p:cNvSpPr txBox="1">
                  <a:spLocks noRot="1" noChangeAspect="1" noMove="1" noResize="1" noEditPoints="1" noAdjustHandles="1" noChangeArrowheads="1" noChangeShapeType="1" noTextEdit="1"/>
                </p:cNvSpPr>
                <p:nvPr/>
              </p:nvSpPr>
              <p:spPr>
                <a:xfrm>
                  <a:off x="2555776" y="2852936"/>
                  <a:ext cx="360040" cy="369332"/>
                </a:xfrm>
                <a:prstGeom prst="rect">
                  <a:avLst/>
                </a:prstGeom>
                <a:blipFill>
                  <a:blip r:embed="rId8"/>
                  <a:stretch>
                    <a:fillRect/>
                  </a:stretch>
                </a:blipFill>
              </p:spPr>
              <p:txBody>
                <a:bodyPr/>
                <a:lstStyle/>
                <a:p>
                  <a:r>
                    <a:rPr lang="en-US">
                      <a:noFill/>
                    </a:rPr>
                    <a:t> </a:t>
                  </a:r>
                </a:p>
              </p:txBody>
            </p:sp>
          </mc:Fallback>
        </mc:AlternateContent>
      </p:grpSp>
    </p:spTree>
    <p:extLst>
      <p:ext uri="{BB962C8B-B14F-4D97-AF65-F5344CB8AC3E}">
        <p14:creationId xmlns:p14="http://schemas.microsoft.com/office/powerpoint/2010/main" val="29415036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grpId="0" nodeType="withEffect">
                                  <p:stCondLst>
                                    <p:cond delay="0"/>
                                  </p:stCondLst>
                                  <p:childTnLst>
                                    <p:animMotion origin="layout" path="M 4.72222E-6 9.41476E-7 L 0.08142 -0.08165 " pathEditMode="relative" ptsTypes="AA">
                                      <p:cBhvr>
                                        <p:cTn id="6" dur="2000" fill="hold"/>
                                        <p:tgtEl>
                                          <p:spTgt spid="24"/>
                                        </p:tgtEl>
                                        <p:attrNameLst>
                                          <p:attrName>ppt_x</p:attrName>
                                          <p:attrName>ppt_y</p:attrName>
                                        </p:attrNameLst>
                                      </p:cBhvr>
                                    </p:animMotion>
                                  </p:childTnLst>
                                </p:cTn>
                              </p:par>
                            </p:childTnLst>
                          </p:cTn>
                        </p:par>
                        <p:par>
                          <p:cTn id="7" fill="hold">
                            <p:stCondLst>
                              <p:cond delay="2000"/>
                            </p:stCondLst>
                            <p:childTnLst>
                              <p:par>
                                <p:cTn id="8" presetID="10" presetClass="entr" presetSubtype="0" fill="hold" nodeType="afterEffect">
                                  <p:stCondLst>
                                    <p:cond delay="0"/>
                                  </p:stCondLst>
                                  <p:childTnLst>
                                    <p:set>
                                      <p:cBhvr>
                                        <p:cTn id="9" dur="1" fill="hold">
                                          <p:stCondLst>
                                            <p:cond delay="0"/>
                                          </p:stCondLst>
                                        </p:cTn>
                                        <p:tgtEl>
                                          <p:spTgt spid="23"/>
                                        </p:tgtEl>
                                        <p:attrNameLst>
                                          <p:attrName>style.visibility</p:attrName>
                                        </p:attrNameLst>
                                      </p:cBhvr>
                                      <p:to>
                                        <p:strVal val="visible"/>
                                      </p:to>
                                    </p:set>
                                    <p:animEffect transition="in" filter="fade">
                                      <p:cBhvr>
                                        <p:cTn id="10" dur="2000"/>
                                        <p:tgtEl>
                                          <p:spTgt spid="23"/>
                                        </p:tgtEl>
                                      </p:cBhvr>
                                    </p:animEffect>
                                  </p:childTnLst>
                                </p:cTn>
                              </p:par>
                              <p:par>
                                <p:cTn id="11" presetID="9" presetClass="entr" presetSubtype="0" fill="hold" nodeType="withEffect">
                                  <p:stCondLst>
                                    <p:cond delay="0"/>
                                  </p:stCondLst>
                                  <p:childTnLst>
                                    <p:set>
                                      <p:cBhvr>
                                        <p:cTn id="12" dur="1" fill="hold">
                                          <p:stCondLst>
                                            <p:cond delay="0"/>
                                          </p:stCondLst>
                                        </p:cTn>
                                        <p:tgtEl>
                                          <p:spTgt spid="16"/>
                                        </p:tgtEl>
                                        <p:attrNameLst>
                                          <p:attrName>style.visibility</p:attrName>
                                        </p:attrNameLst>
                                      </p:cBhvr>
                                      <p:to>
                                        <p:strVal val="visible"/>
                                      </p:to>
                                    </p:set>
                                    <p:animEffect transition="in" filter="dissolve">
                                      <p:cBhvr>
                                        <p:cTn id="1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14" restart="whenNotActive" fill="hold" evtFilter="cancelBubble" nodeType="interactiveSeq">
                <p:stCondLst>
                  <p:cond evt="onClick" delay="0">
                    <p:tgtEl>
                      <p:spTgt spid="21"/>
                    </p:tgtEl>
                  </p:cond>
                </p:stCondLst>
                <p:endSync evt="end" delay="0">
                  <p:rtn val="all"/>
                </p:endSync>
                <p:childTnLst>
                  <p:par>
                    <p:cTn id="15" fill="hold">
                      <p:stCondLst>
                        <p:cond delay="0"/>
                      </p:stCondLst>
                      <p:childTnLst>
                        <p:par>
                          <p:cTn id="16" fill="hold">
                            <p:stCondLst>
                              <p:cond delay="0"/>
                            </p:stCondLst>
                            <p:childTnLst>
                              <p:par>
                                <p:cTn id="17" presetID="10" presetClass="exit" presetSubtype="0" fill="hold" grpId="0" nodeType="clickEffect">
                                  <p:stCondLst>
                                    <p:cond delay="0"/>
                                  </p:stCondLst>
                                  <p:childTnLst>
                                    <p:animEffect transition="out" filter="fade">
                                      <p:cBhvr>
                                        <p:cTn id="18" dur="500"/>
                                        <p:tgtEl>
                                          <p:spTgt spid="21"/>
                                        </p:tgtEl>
                                      </p:cBhvr>
                                    </p:animEffect>
                                    <p:set>
                                      <p:cBhvr>
                                        <p:cTn id="19" dur="1" fill="hold">
                                          <p:stCondLst>
                                            <p:cond delay="499"/>
                                          </p:stCondLst>
                                        </p:cTn>
                                        <p:tgtEl>
                                          <p:spTgt spid="21"/>
                                        </p:tgtEl>
                                        <p:attrNameLst>
                                          <p:attrName>style.visibility</p:attrName>
                                        </p:attrNameLst>
                                      </p:cBhvr>
                                      <p:to>
                                        <p:strVal val="hidden"/>
                                      </p:to>
                                    </p:set>
                                  </p:childTnLst>
                                </p:cTn>
                              </p:par>
                            </p:childTnLst>
                          </p:cTn>
                        </p:par>
                      </p:childTnLst>
                    </p:cTn>
                  </p:par>
                </p:childTnLst>
              </p:cTn>
              <p:nextCondLst>
                <p:cond evt="onClick" delay="0">
                  <p:tgtEl>
                    <p:spTgt spid="21"/>
                  </p:tgtEl>
                </p:cond>
              </p:nextCondLst>
            </p:seq>
          </p:childTnLst>
        </p:cTn>
      </p:par>
    </p:tnLst>
    <p:bldLst>
      <p:bldP spid="21" grpId="0" animBg="1"/>
      <p:bldP spid="24" grpId="0" animBg="1"/>
    </p:bldLst>
  </p:timing>
</p:sld>
</file>

<file path=ppt/c6/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7"/>
          <p:cNvGrpSpPr/>
          <p:nvPr/>
        </p:nvGrpSpPr>
        <p:grpSpPr>
          <a:xfrm>
            <a:off x="1524000" y="1"/>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err="1"/>
                <a:t>Quickfire</a:t>
              </a:r>
              <a:r>
                <a:rPr lang="en-GB"/>
                <a:t> Questions</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p:sp>
        <p:nvSpPr>
          <p:cNvPr id="19" name="TextBox 18"/>
          <p:cNvSpPr txBox="1"/>
          <p:nvPr/>
        </p:nvSpPr>
        <p:spPr>
          <a:xfrm>
            <a:off x="1974776" y="1441092"/>
            <a:ext cx="2448272" cy="461665"/>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r>
              <a:rPr lang="en-GB" sz="2400"/>
              <a:t>Centre</a:t>
            </a:r>
          </a:p>
        </p:txBody>
      </p:sp>
      <p:sp>
        <p:nvSpPr>
          <p:cNvPr id="20" name="TextBox 19"/>
          <p:cNvSpPr txBox="1"/>
          <p:nvPr/>
        </p:nvSpPr>
        <p:spPr>
          <a:xfrm>
            <a:off x="4423048" y="1441091"/>
            <a:ext cx="2448272" cy="461665"/>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r>
              <a:rPr lang="en-GB" sz="2400"/>
              <a:t>Radius</a:t>
            </a:r>
          </a:p>
        </p:txBody>
      </p:sp>
      <p:sp>
        <p:nvSpPr>
          <p:cNvPr id="46" name="TextBox 45"/>
          <p:cNvSpPr txBox="1"/>
          <p:nvPr/>
        </p:nvSpPr>
        <p:spPr>
          <a:xfrm>
            <a:off x="6885384" y="1441090"/>
            <a:ext cx="3476672" cy="461665"/>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r>
              <a:rPr lang="en-GB" sz="2400"/>
              <a:t>Equation</a:t>
            </a:r>
          </a:p>
        </p:txBody>
      </p:sp>
      <mc:AlternateContent xmlns:mc="http://schemas.openxmlformats.org/markup-compatibility/2006">
        <mc:Choice xmlns:a14="http://schemas.microsoft.com/office/drawing/2010/main" Requires="a14">
          <p:sp>
            <p:nvSpPr>
              <p:cNvPr id="47" name="Rectangle 46"/>
              <p:cNvSpPr/>
              <p:nvPr/>
            </p:nvSpPr>
            <p:spPr>
              <a:xfrm>
                <a:off x="1974776" y="1916708"/>
                <a:ext cx="2448272" cy="50405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14:m>
                  <m:oMathPara xmlns:m="http://schemas.openxmlformats.org/officeDocument/2006/math">
                    <m:oMath>
                      <m:r>
                        <a:rPr lang="en-GB" sz="2400" i="1" dirty="0">
                          <a:latin typeface="Cambria Math" panose="02040503050406030204" pitchFamily="18" charset="0"/>
                        </a:rPr>
                        <m:t>(0,0)</m:t>
                      </m:r>
                    </m:oMath>
                  </m:oMathPara>
                </a14:m>
                <a:endParaRPr lang="en-GB" sz="2400"/>
              </a:p>
            </p:txBody>
          </p:sp>
        </mc:Choice>
        <mc:Fallback>
          <p:sp>
            <p:nvSpPr>
              <p:cNvPr id="47" name="Rectangle 46"/>
              <p:cNvSpPr>
                <a:spLocks noRot="1" noChangeAspect="1" noMove="1" noResize="1" noEditPoints="1" noAdjustHandles="1" noChangeArrowheads="1" noChangeShapeType="1" noTextEdit="1"/>
              </p:cNvSpPr>
              <p:nvPr/>
            </p:nvSpPr>
            <p:spPr>
              <a:xfrm>
                <a:off x="1974776" y="1916708"/>
                <a:ext cx="2448272" cy="504056"/>
              </a:xfrm>
              <a:prstGeom prst="rect">
                <a:avLst/>
              </a:prstGeom>
              <a:blipFill>
                <a:blip r:embed="rId2"/>
                <a:stretch>
                  <a:fillRect b="-9302"/>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8" name="Rectangle 47"/>
              <p:cNvSpPr/>
              <p:nvPr/>
            </p:nvSpPr>
            <p:spPr>
              <a:xfrm>
                <a:off x="4423048" y="1916708"/>
                <a:ext cx="2448272" cy="50405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14:m>
                  <m:oMathPara xmlns:m="http://schemas.openxmlformats.org/officeDocument/2006/math">
                    <m:oMath>
                      <m:r>
                        <a:rPr lang="en-GB" sz="2400" i="1" dirty="0">
                          <a:latin typeface="Cambria Math" panose="02040503050406030204" pitchFamily="18" charset="0"/>
                        </a:rPr>
                        <m:t>5</m:t>
                      </m:r>
                    </m:oMath>
                  </m:oMathPara>
                </a14:m>
                <a:endParaRPr lang="en-GB" sz="2400"/>
              </a:p>
            </p:txBody>
          </p:sp>
        </mc:Choice>
        <mc:Fallback>
          <p:sp>
            <p:nvSpPr>
              <p:cNvPr id="48" name="Rectangle 47"/>
              <p:cNvSpPr>
                <a:spLocks noRot="1" noChangeAspect="1" noMove="1" noResize="1" noEditPoints="1" noAdjustHandles="1" noChangeArrowheads="1" noChangeShapeType="1" noTextEdit="1"/>
              </p:cNvSpPr>
              <p:nvPr/>
            </p:nvSpPr>
            <p:spPr>
              <a:xfrm>
                <a:off x="4423048" y="1916708"/>
                <a:ext cx="2448272" cy="504056"/>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50" name="Rectangle 49"/>
              <p:cNvSpPr/>
              <p:nvPr/>
            </p:nvSpPr>
            <p:spPr>
              <a:xfrm>
                <a:off x="6871320" y="1916708"/>
                <a:ext cx="3491880" cy="50405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14:m>
                  <m:oMathPara xmlns:m="http://schemas.openxmlformats.org/officeDocument/2006/math">
                    <m:oMath>
                      <m:sSup>
                        <m:sSupPr>
                          <m:ctrlPr>
                            <a:rPr lang="en-GB" sz="2400" i="1">
                              <a:latin typeface="Cambria Math" panose="02040503050406030204" pitchFamily="18" charset="0"/>
                            </a:rPr>
                          </m:ctrlPr>
                        </m:sSupPr>
                        <m:e>
                          <m:r>
                            <a:rPr lang="en-GB" sz="2400" i="1">
                              <a:latin typeface="Cambria Math" panose="02040503050406030204" pitchFamily="18" charset="0"/>
                            </a:rPr>
                            <m:t>𝑥</m:t>
                          </m:r>
                        </m:e>
                        <m:sup>
                          <m:r>
                            <a:rPr lang="en-GB" sz="2400" i="1">
                              <a:latin typeface="Cambria Math" panose="02040503050406030204" pitchFamily="18" charset="0"/>
                            </a:rPr>
                            <m:t>2</m:t>
                          </m:r>
                        </m:sup>
                      </m:sSup>
                      <m:r>
                        <a:rPr lang="en-GB" sz="2400" i="1">
                          <a:latin typeface="Cambria Math" panose="02040503050406030204" pitchFamily="18" charset="0"/>
                        </a:rPr>
                        <m:t>+</m:t>
                      </m:r>
                      <m:sSup>
                        <m:sSupPr>
                          <m:ctrlPr>
                            <a:rPr lang="en-GB" sz="2400" i="1">
                              <a:latin typeface="Cambria Math" panose="02040503050406030204" pitchFamily="18" charset="0"/>
                            </a:rPr>
                          </m:ctrlPr>
                        </m:sSupPr>
                        <m:e>
                          <m:r>
                            <a:rPr lang="en-GB" sz="2400" i="1">
                              <a:latin typeface="Cambria Math" panose="02040503050406030204" pitchFamily="18" charset="0"/>
                            </a:rPr>
                            <m:t>𝑦</m:t>
                          </m:r>
                        </m:e>
                        <m:sup>
                          <m:r>
                            <a:rPr lang="en-GB" sz="2400" i="1">
                              <a:latin typeface="Cambria Math" panose="02040503050406030204" pitchFamily="18" charset="0"/>
                            </a:rPr>
                            <m:t>2</m:t>
                          </m:r>
                        </m:sup>
                      </m:sSup>
                      <m:r>
                        <a:rPr lang="en-GB" sz="2400" i="1">
                          <a:latin typeface="Cambria Math" panose="02040503050406030204" pitchFamily="18" charset="0"/>
                        </a:rPr>
                        <m:t>=25</m:t>
                      </m:r>
                    </m:oMath>
                  </m:oMathPara>
                </a14:m>
                <a:endParaRPr lang="en-GB" sz="2400"/>
              </a:p>
            </p:txBody>
          </p:sp>
        </mc:Choice>
        <mc:Fallback>
          <p:sp>
            <p:nvSpPr>
              <p:cNvPr id="50" name="Rectangle 49"/>
              <p:cNvSpPr>
                <a:spLocks noRot="1" noChangeAspect="1" noMove="1" noResize="1" noEditPoints="1" noAdjustHandles="1" noChangeArrowheads="1" noChangeShapeType="1" noTextEdit="1"/>
              </p:cNvSpPr>
              <p:nvPr/>
            </p:nvSpPr>
            <p:spPr>
              <a:xfrm>
                <a:off x="6871320" y="1916708"/>
                <a:ext cx="3491880" cy="504056"/>
              </a:xfrm>
              <a:prstGeom prst="rect">
                <a:avLst/>
              </a:prstGeom>
              <a:blipFill>
                <a:blip r:embed="rId4"/>
                <a:stretch>
                  <a:fillRect b="-2326"/>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51" name="Rectangle 50"/>
              <p:cNvSpPr/>
              <p:nvPr/>
            </p:nvSpPr>
            <p:spPr>
              <a:xfrm>
                <a:off x="1974776" y="2420764"/>
                <a:ext cx="2448272" cy="50405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14:m>
                  <m:oMathPara xmlns:m="http://schemas.openxmlformats.org/officeDocument/2006/math">
                    <m:oMath>
                      <m:r>
                        <a:rPr lang="en-GB" sz="2400" i="1" dirty="0">
                          <a:latin typeface="Cambria Math" panose="02040503050406030204" pitchFamily="18" charset="0"/>
                        </a:rPr>
                        <m:t>(1,2)</m:t>
                      </m:r>
                    </m:oMath>
                  </m:oMathPara>
                </a14:m>
                <a:endParaRPr lang="en-GB" sz="2400"/>
              </a:p>
            </p:txBody>
          </p:sp>
        </mc:Choice>
        <mc:Fallback>
          <p:sp>
            <p:nvSpPr>
              <p:cNvPr id="51" name="Rectangle 50"/>
              <p:cNvSpPr>
                <a:spLocks noRot="1" noChangeAspect="1" noMove="1" noResize="1" noEditPoints="1" noAdjustHandles="1" noChangeArrowheads="1" noChangeShapeType="1" noTextEdit="1"/>
              </p:cNvSpPr>
              <p:nvPr/>
            </p:nvSpPr>
            <p:spPr>
              <a:xfrm>
                <a:off x="1974776" y="2420764"/>
                <a:ext cx="2448272" cy="504056"/>
              </a:xfrm>
              <a:prstGeom prst="rect">
                <a:avLst/>
              </a:prstGeom>
              <a:blipFill>
                <a:blip r:embed="rId5"/>
                <a:stretch>
                  <a:fillRect b="-9302"/>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53" name="Rectangle 52"/>
              <p:cNvSpPr/>
              <p:nvPr/>
            </p:nvSpPr>
            <p:spPr>
              <a:xfrm>
                <a:off x="4423048" y="2420764"/>
                <a:ext cx="2448272" cy="50405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14:m>
                  <m:oMathPara xmlns:m="http://schemas.openxmlformats.org/officeDocument/2006/math">
                    <m:oMath>
                      <m:r>
                        <a:rPr lang="en-GB" sz="2400" i="1" dirty="0">
                          <a:latin typeface="Cambria Math" panose="02040503050406030204" pitchFamily="18" charset="0"/>
                        </a:rPr>
                        <m:t>6</m:t>
                      </m:r>
                    </m:oMath>
                  </m:oMathPara>
                </a14:m>
                <a:endParaRPr lang="en-GB" sz="2400"/>
              </a:p>
            </p:txBody>
          </p:sp>
        </mc:Choice>
        <mc:Fallback>
          <p:sp>
            <p:nvSpPr>
              <p:cNvPr id="53" name="Rectangle 52"/>
              <p:cNvSpPr>
                <a:spLocks noRot="1" noChangeAspect="1" noMove="1" noResize="1" noEditPoints="1" noAdjustHandles="1" noChangeArrowheads="1" noChangeShapeType="1" noTextEdit="1"/>
              </p:cNvSpPr>
              <p:nvPr/>
            </p:nvSpPr>
            <p:spPr>
              <a:xfrm>
                <a:off x="4423048" y="2420764"/>
                <a:ext cx="2448272" cy="504056"/>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54" name="Rectangle 53"/>
              <p:cNvSpPr/>
              <p:nvPr/>
            </p:nvSpPr>
            <p:spPr>
              <a:xfrm>
                <a:off x="6871320" y="2420764"/>
                <a:ext cx="3490736" cy="50405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14:m>
                  <m:oMathPara xmlns:m="http://schemas.openxmlformats.org/officeDocument/2006/math">
                    <m:oMath>
                      <m:sSup>
                        <m:sSupPr>
                          <m:ctrlPr>
                            <a:rPr lang="en-GB" sz="2400" i="1" dirty="0">
                              <a:latin typeface="Cambria Math" panose="02040503050406030204" pitchFamily="18" charset="0"/>
                            </a:rPr>
                          </m:ctrlPr>
                        </m:sSupPr>
                        <m:e>
                          <m:d>
                            <m:dPr>
                              <m:ctrlPr>
                                <a:rPr lang="en-GB" sz="2400" i="1" dirty="0">
                                  <a:latin typeface="Cambria Math" panose="02040503050406030204" pitchFamily="18" charset="0"/>
                                </a:rPr>
                              </m:ctrlPr>
                            </m:dPr>
                            <m:e>
                              <m:r>
                                <a:rPr lang="en-GB" sz="2400" i="1" dirty="0">
                                  <a:latin typeface="Cambria Math" panose="02040503050406030204" pitchFamily="18" charset="0"/>
                                </a:rPr>
                                <m:t>𝑥</m:t>
                              </m:r>
                              <m:r>
                                <a:rPr lang="en-GB" sz="2400" i="1" dirty="0">
                                  <a:latin typeface="Cambria Math" panose="02040503050406030204" pitchFamily="18" charset="0"/>
                                </a:rPr>
                                <m:t>−1</m:t>
                              </m:r>
                            </m:e>
                          </m:d>
                        </m:e>
                        <m:sup>
                          <m:r>
                            <a:rPr lang="en-GB" sz="2400" i="1" dirty="0">
                              <a:latin typeface="Cambria Math" panose="02040503050406030204" pitchFamily="18" charset="0"/>
                            </a:rPr>
                            <m:t>2</m:t>
                          </m:r>
                        </m:sup>
                      </m:sSup>
                      <m:r>
                        <a:rPr lang="en-GB" sz="2400" i="1" dirty="0">
                          <a:latin typeface="Cambria Math" panose="02040503050406030204" pitchFamily="18" charset="0"/>
                        </a:rPr>
                        <m:t>+</m:t>
                      </m:r>
                      <m:sSup>
                        <m:sSupPr>
                          <m:ctrlPr>
                            <a:rPr lang="en-GB" sz="2400" i="1" dirty="0">
                              <a:latin typeface="Cambria Math" panose="02040503050406030204" pitchFamily="18" charset="0"/>
                            </a:rPr>
                          </m:ctrlPr>
                        </m:sSupPr>
                        <m:e>
                          <m:d>
                            <m:dPr>
                              <m:ctrlPr>
                                <a:rPr lang="en-GB" sz="2400" i="1" dirty="0">
                                  <a:latin typeface="Cambria Math" panose="02040503050406030204" pitchFamily="18" charset="0"/>
                                </a:rPr>
                              </m:ctrlPr>
                            </m:dPr>
                            <m:e>
                              <m:r>
                                <a:rPr lang="en-GB" sz="2400" i="1" dirty="0">
                                  <a:latin typeface="Cambria Math" panose="02040503050406030204" pitchFamily="18" charset="0"/>
                                </a:rPr>
                                <m:t>𝑦</m:t>
                              </m:r>
                              <m:r>
                                <a:rPr lang="en-GB" sz="2400" i="1" dirty="0">
                                  <a:latin typeface="Cambria Math" panose="02040503050406030204" pitchFamily="18" charset="0"/>
                                </a:rPr>
                                <m:t>−2</m:t>
                              </m:r>
                            </m:e>
                          </m:d>
                        </m:e>
                        <m:sup>
                          <m:r>
                            <a:rPr lang="en-GB" sz="2400" i="1" dirty="0">
                              <a:latin typeface="Cambria Math" panose="02040503050406030204" pitchFamily="18" charset="0"/>
                            </a:rPr>
                            <m:t>2</m:t>
                          </m:r>
                        </m:sup>
                      </m:sSup>
                      <m:r>
                        <a:rPr lang="en-GB" sz="2400" i="1" dirty="0">
                          <a:latin typeface="Cambria Math" panose="02040503050406030204" pitchFamily="18" charset="0"/>
                        </a:rPr>
                        <m:t>=36</m:t>
                      </m:r>
                    </m:oMath>
                  </m:oMathPara>
                </a14:m>
                <a:endParaRPr lang="en-GB" sz="2400"/>
              </a:p>
            </p:txBody>
          </p:sp>
        </mc:Choice>
        <mc:Fallback>
          <p:sp>
            <p:nvSpPr>
              <p:cNvPr id="54" name="Rectangle 53"/>
              <p:cNvSpPr>
                <a:spLocks noRot="1" noChangeAspect="1" noMove="1" noResize="1" noEditPoints="1" noAdjustHandles="1" noChangeArrowheads="1" noChangeShapeType="1" noTextEdit="1"/>
              </p:cNvSpPr>
              <p:nvPr/>
            </p:nvSpPr>
            <p:spPr>
              <a:xfrm>
                <a:off x="6871320" y="2420764"/>
                <a:ext cx="3490736" cy="504056"/>
              </a:xfrm>
              <a:prstGeom prst="rect">
                <a:avLst/>
              </a:prstGeom>
              <a:blipFill>
                <a:blip r:embed="rId7"/>
                <a:stretch>
                  <a:fillRect b="-2326"/>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55" name="Rectangle 54"/>
              <p:cNvSpPr/>
              <p:nvPr/>
            </p:nvSpPr>
            <p:spPr>
              <a:xfrm>
                <a:off x="1974776" y="2924820"/>
                <a:ext cx="2448272" cy="50405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14:m>
                  <m:oMathPara xmlns:m="http://schemas.openxmlformats.org/officeDocument/2006/math">
                    <m:oMath>
                      <m:r>
                        <a:rPr lang="en-GB" sz="2400" i="1" dirty="0">
                          <a:latin typeface="Cambria Math" panose="02040503050406030204" pitchFamily="18" charset="0"/>
                        </a:rPr>
                        <m:t>(−3,5)</m:t>
                      </m:r>
                    </m:oMath>
                  </m:oMathPara>
                </a14:m>
                <a:endParaRPr lang="en-GB" sz="2400"/>
              </a:p>
            </p:txBody>
          </p:sp>
        </mc:Choice>
        <mc:Fallback>
          <p:sp>
            <p:nvSpPr>
              <p:cNvPr id="55" name="Rectangle 54"/>
              <p:cNvSpPr>
                <a:spLocks noRot="1" noChangeAspect="1" noMove="1" noResize="1" noEditPoints="1" noAdjustHandles="1" noChangeArrowheads="1" noChangeShapeType="1" noTextEdit="1"/>
              </p:cNvSpPr>
              <p:nvPr/>
            </p:nvSpPr>
            <p:spPr>
              <a:xfrm>
                <a:off x="1974776" y="2924820"/>
                <a:ext cx="2448272" cy="504056"/>
              </a:xfrm>
              <a:prstGeom prst="rect">
                <a:avLst/>
              </a:prstGeom>
              <a:blipFill>
                <a:blip r:embed="rId8"/>
                <a:stretch>
                  <a:fillRect b="-11905"/>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56" name="Rectangle 55"/>
              <p:cNvSpPr/>
              <p:nvPr/>
            </p:nvSpPr>
            <p:spPr>
              <a:xfrm>
                <a:off x="4423048" y="2924820"/>
                <a:ext cx="2448272" cy="50405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14:m>
                  <m:oMathPara xmlns:m="http://schemas.openxmlformats.org/officeDocument/2006/math">
                    <m:oMath>
                      <m:r>
                        <a:rPr lang="en-GB" sz="2400" i="1" dirty="0">
                          <a:latin typeface="Cambria Math" panose="02040503050406030204" pitchFamily="18" charset="0"/>
                        </a:rPr>
                        <m:t>1</m:t>
                      </m:r>
                    </m:oMath>
                  </m:oMathPara>
                </a14:m>
                <a:endParaRPr lang="en-GB" sz="2400"/>
              </a:p>
            </p:txBody>
          </p:sp>
        </mc:Choice>
        <mc:Fallback>
          <p:sp>
            <p:nvSpPr>
              <p:cNvPr id="56" name="Rectangle 55"/>
              <p:cNvSpPr>
                <a:spLocks noRot="1" noChangeAspect="1" noMove="1" noResize="1" noEditPoints="1" noAdjustHandles="1" noChangeArrowheads="1" noChangeShapeType="1" noTextEdit="1"/>
              </p:cNvSpPr>
              <p:nvPr/>
            </p:nvSpPr>
            <p:spPr>
              <a:xfrm>
                <a:off x="4423048" y="2924820"/>
                <a:ext cx="2448272" cy="504056"/>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57" name="Rectangle 56"/>
              <p:cNvSpPr/>
              <p:nvPr/>
            </p:nvSpPr>
            <p:spPr>
              <a:xfrm>
                <a:off x="6871320" y="2924820"/>
                <a:ext cx="3490736" cy="50405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14:m>
                  <m:oMathPara xmlns:m="http://schemas.openxmlformats.org/officeDocument/2006/math">
                    <m:oMath>
                      <m:sSup>
                        <m:sSupPr>
                          <m:ctrlPr>
                            <a:rPr lang="en-GB" sz="2400" i="1" dirty="0">
                              <a:latin typeface="Cambria Math" panose="02040503050406030204" pitchFamily="18" charset="0"/>
                            </a:rPr>
                          </m:ctrlPr>
                        </m:sSupPr>
                        <m:e>
                          <m:d>
                            <m:dPr>
                              <m:ctrlPr>
                                <a:rPr lang="en-GB" sz="2400" i="1" dirty="0">
                                  <a:latin typeface="Cambria Math" panose="02040503050406030204" pitchFamily="18" charset="0"/>
                                </a:rPr>
                              </m:ctrlPr>
                            </m:dPr>
                            <m:e>
                              <m:r>
                                <a:rPr lang="en-GB" sz="2400" i="1" dirty="0">
                                  <a:latin typeface="Cambria Math" panose="02040503050406030204" pitchFamily="18" charset="0"/>
                                </a:rPr>
                                <m:t>𝑥</m:t>
                              </m:r>
                              <m:r>
                                <a:rPr lang="en-GB" sz="2400" i="1" dirty="0">
                                  <a:latin typeface="Cambria Math" panose="02040503050406030204" pitchFamily="18" charset="0"/>
                                </a:rPr>
                                <m:t>+3</m:t>
                              </m:r>
                            </m:e>
                          </m:d>
                        </m:e>
                        <m:sup>
                          <m:r>
                            <a:rPr lang="en-GB" sz="2400" i="1" dirty="0">
                              <a:latin typeface="Cambria Math" panose="02040503050406030204" pitchFamily="18" charset="0"/>
                            </a:rPr>
                            <m:t>2</m:t>
                          </m:r>
                        </m:sup>
                      </m:sSup>
                      <m:r>
                        <a:rPr lang="en-GB" sz="2400" i="1" dirty="0">
                          <a:latin typeface="Cambria Math" panose="02040503050406030204" pitchFamily="18" charset="0"/>
                        </a:rPr>
                        <m:t>+</m:t>
                      </m:r>
                      <m:sSup>
                        <m:sSupPr>
                          <m:ctrlPr>
                            <a:rPr lang="en-GB" sz="2400" i="1" dirty="0">
                              <a:latin typeface="Cambria Math" panose="02040503050406030204" pitchFamily="18" charset="0"/>
                            </a:rPr>
                          </m:ctrlPr>
                        </m:sSupPr>
                        <m:e>
                          <m:d>
                            <m:dPr>
                              <m:ctrlPr>
                                <a:rPr lang="en-GB" sz="2400" i="1" dirty="0">
                                  <a:latin typeface="Cambria Math" panose="02040503050406030204" pitchFamily="18" charset="0"/>
                                </a:rPr>
                              </m:ctrlPr>
                            </m:dPr>
                            <m:e>
                              <m:r>
                                <a:rPr lang="en-GB" sz="2400" i="1" dirty="0">
                                  <a:latin typeface="Cambria Math" panose="02040503050406030204" pitchFamily="18" charset="0"/>
                                </a:rPr>
                                <m:t>𝑦</m:t>
                              </m:r>
                              <m:r>
                                <a:rPr lang="en-GB" sz="2400" i="1" dirty="0">
                                  <a:latin typeface="Cambria Math" panose="02040503050406030204" pitchFamily="18" charset="0"/>
                                </a:rPr>
                                <m:t>−5</m:t>
                              </m:r>
                            </m:e>
                          </m:d>
                        </m:e>
                        <m:sup>
                          <m:r>
                            <a:rPr lang="en-GB" sz="2400" i="1" dirty="0">
                              <a:latin typeface="Cambria Math" panose="02040503050406030204" pitchFamily="18" charset="0"/>
                            </a:rPr>
                            <m:t>2</m:t>
                          </m:r>
                        </m:sup>
                      </m:sSup>
                      <m:r>
                        <a:rPr lang="en-GB" sz="2400" i="1" dirty="0">
                          <a:latin typeface="Cambria Math" panose="02040503050406030204" pitchFamily="18" charset="0"/>
                        </a:rPr>
                        <m:t>=1</m:t>
                      </m:r>
                    </m:oMath>
                  </m:oMathPara>
                </a14:m>
                <a:endParaRPr lang="en-GB" sz="2400"/>
              </a:p>
            </p:txBody>
          </p:sp>
        </mc:Choice>
        <mc:Fallback>
          <p:sp>
            <p:nvSpPr>
              <p:cNvPr id="57" name="Rectangle 56"/>
              <p:cNvSpPr>
                <a:spLocks noRot="1" noChangeAspect="1" noMove="1" noResize="1" noEditPoints="1" noAdjustHandles="1" noChangeArrowheads="1" noChangeShapeType="1" noTextEdit="1"/>
              </p:cNvSpPr>
              <p:nvPr/>
            </p:nvSpPr>
            <p:spPr>
              <a:xfrm>
                <a:off x="6871320" y="2924820"/>
                <a:ext cx="3490736" cy="504056"/>
              </a:xfrm>
              <a:prstGeom prst="rect">
                <a:avLst/>
              </a:prstGeom>
              <a:blipFill>
                <a:blip r:embed="rId10"/>
                <a:stretch>
                  <a:fillRect b="-4762"/>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58" name="Rectangle 57"/>
              <p:cNvSpPr/>
              <p:nvPr/>
            </p:nvSpPr>
            <p:spPr>
              <a:xfrm>
                <a:off x="1974776" y="3428876"/>
                <a:ext cx="2448272" cy="50405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14:m>
                  <m:oMathPara xmlns:m="http://schemas.openxmlformats.org/officeDocument/2006/math">
                    <m:oMath>
                      <m:r>
                        <a:rPr lang="en-GB" sz="2400" i="1" dirty="0">
                          <a:latin typeface="Cambria Math" panose="02040503050406030204" pitchFamily="18" charset="0"/>
                        </a:rPr>
                        <m:t>(−5,2)</m:t>
                      </m:r>
                    </m:oMath>
                  </m:oMathPara>
                </a14:m>
                <a:endParaRPr lang="en-GB" sz="2400"/>
              </a:p>
            </p:txBody>
          </p:sp>
        </mc:Choice>
        <mc:Fallback>
          <p:sp>
            <p:nvSpPr>
              <p:cNvPr id="58" name="Rectangle 57"/>
              <p:cNvSpPr>
                <a:spLocks noRot="1" noChangeAspect="1" noMove="1" noResize="1" noEditPoints="1" noAdjustHandles="1" noChangeArrowheads="1" noChangeShapeType="1" noTextEdit="1"/>
              </p:cNvSpPr>
              <p:nvPr/>
            </p:nvSpPr>
            <p:spPr>
              <a:xfrm>
                <a:off x="1974776" y="3428876"/>
                <a:ext cx="2448272" cy="504056"/>
              </a:xfrm>
              <a:prstGeom prst="rect">
                <a:avLst/>
              </a:prstGeom>
              <a:blipFill>
                <a:blip r:embed="rId11"/>
                <a:stretch>
                  <a:fillRect b="-9302"/>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69" name="Rectangle 68"/>
              <p:cNvSpPr/>
              <p:nvPr/>
            </p:nvSpPr>
            <p:spPr>
              <a:xfrm>
                <a:off x="4423048" y="3428876"/>
                <a:ext cx="2448272" cy="50405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14:m>
                  <m:oMathPara xmlns:m="http://schemas.openxmlformats.org/officeDocument/2006/math">
                    <m:oMath>
                      <m:r>
                        <a:rPr lang="en-GB" sz="2400" i="1" dirty="0">
                          <a:latin typeface="Cambria Math" panose="02040503050406030204" pitchFamily="18" charset="0"/>
                        </a:rPr>
                        <m:t>7</m:t>
                      </m:r>
                    </m:oMath>
                  </m:oMathPara>
                </a14:m>
                <a:endParaRPr lang="en-GB" sz="2400"/>
              </a:p>
            </p:txBody>
          </p:sp>
        </mc:Choice>
        <mc:Fallback>
          <p:sp>
            <p:nvSpPr>
              <p:cNvPr id="69" name="Rectangle 68"/>
              <p:cNvSpPr>
                <a:spLocks noRot="1" noChangeAspect="1" noMove="1" noResize="1" noEditPoints="1" noAdjustHandles="1" noChangeArrowheads="1" noChangeShapeType="1" noTextEdit="1"/>
              </p:cNvSpPr>
              <p:nvPr/>
            </p:nvSpPr>
            <p:spPr>
              <a:xfrm>
                <a:off x="4423048" y="3428876"/>
                <a:ext cx="2448272" cy="504056"/>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0" name="Rectangle 69"/>
              <p:cNvSpPr/>
              <p:nvPr/>
            </p:nvSpPr>
            <p:spPr>
              <a:xfrm>
                <a:off x="6871320" y="3428876"/>
                <a:ext cx="3490736" cy="50405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14:m>
                  <m:oMathPara xmlns:m="http://schemas.openxmlformats.org/officeDocument/2006/math">
                    <m:oMath>
                      <m:sSup>
                        <m:sSupPr>
                          <m:ctrlPr>
                            <a:rPr lang="en-GB" sz="2400" i="1" dirty="0">
                              <a:latin typeface="Cambria Math" panose="02040503050406030204" pitchFamily="18" charset="0"/>
                            </a:rPr>
                          </m:ctrlPr>
                        </m:sSupPr>
                        <m:e>
                          <m:d>
                            <m:dPr>
                              <m:ctrlPr>
                                <a:rPr lang="en-GB" sz="2400" i="1" dirty="0">
                                  <a:latin typeface="Cambria Math" panose="02040503050406030204" pitchFamily="18" charset="0"/>
                                </a:rPr>
                              </m:ctrlPr>
                            </m:dPr>
                            <m:e>
                              <m:r>
                                <a:rPr lang="en-GB" sz="2400" i="1" dirty="0">
                                  <a:latin typeface="Cambria Math" panose="02040503050406030204" pitchFamily="18" charset="0"/>
                                </a:rPr>
                                <m:t>𝑥</m:t>
                              </m:r>
                              <m:r>
                                <a:rPr lang="en-GB" sz="2400" i="1" dirty="0">
                                  <a:latin typeface="Cambria Math" panose="02040503050406030204" pitchFamily="18" charset="0"/>
                                </a:rPr>
                                <m:t>+5</m:t>
                              </m:r>
                            </m:e>
                          </m:d>
                        </m:e>
                        <m:sup>
                          <m:r>
                            <a:rPr lang="en-GB" sz="2400" i="1" dirty="0">
                              <a:latin typeface="Cambria Math" panose="02040503050406030204" pitchFamily="18" charset="0"/>
                            </a:rPr>
                            <m:t>2</m:t>
                          </m:r>
                        </m:sup>
                      </m:sSup>
                      <m:r>
                        <a:rPr lang="en-GB" sz="2400" i="1" dirty="0">
                          <a:latin typeface="Cambria Math" panose="02040503050406030204" pitchFamily="18" charset="0"/>
                        </a:rPr>
                        <m:t>+</m:t>
                      </m:r>
                      <m:sSup>
                        <m:sSupPr>
                          <m:ctrlPr>
                            <a:rPr lang="en-GB" sz="2400" i="1" dirty="0">
                              <a:latin typeface="Cambria Math" panose="02040503050406030204" pitchFamily="18" charset="0"/>
                            </a:rPr>
                          </m:ctrlPr>
                        </m:sSupPr>
                        <m:e>
                          <m:d>
                            <m:dPr>
                              <m:ctrlPr>
                                <a:rPr lang="en-GB" sz="2400" i="1" dirty="0">
                                  <a:latin typeface="Cambria Math" panose="02040503050406030204" pitchFamily="18" charset="0"/>
                                </a:rPr>
                              </m:ctrlPr>
                            </m:dPr>
                            <m:e>
                              <m:r>
                                <a:rPr lang="en-GB" sz="2400" i="1" dirty="0">
                                  <a:latin typeface="Cambria Math" panose="02040503050406030204" pitchFamily="18" charset="0"/>
                                </a:rPr>
                                <m:t>𝑦</m:t>
                              </m:r>
                              <m:r>
                                <a:rPr lang="en-GB" sz="2400" i="1" dirty="0">
                                  <a:latin typeface="Cambria Math" panose="02040503050406030204" pitchFamily="18" charset="0"/>
                                </a:rPr>
                                <m:t>−2</m:t>
                              </m:r>
                            </m:e>
                          </m:d>
                        </m:e>
                        <m:sup>
                          <m:r>
                            <a:rPr lang="en-GB" sz="2400" i="1" dirty="0">
                              <a:latin typeface="Cambria Math" panose="02040503050406030204" pitchFamily="18" charset="0"/>
                            </a:rPr>
                            <m:t>2</m:t>
                          </m:r>
                        </m:sup>
                      </m:sSup>
                      <m:r>
                        <a:rPr lang="en-GB" sz="2400" i="1" dirty="0">
                          <a:latin typeface="Cambria Math" panose="02040503050406030204" pitchFamily="18" charset="0"/>
                        </a:rPr>
                        <m:t>=49</m:t>
                      </m:r>
                    </m:oMath>
                  </m:oMathPara>
                </a14:m>
                <a:endParaRPr lang="en-GB" sz="2400"/>
              </a:p>
            </p:txBody>
          </p:sp>
        </mc:Choice>
        <mc:Fallback>
          <p:sp>
            <p:nvSpPr>
              <p:cNvPr id="70" name="Rectangle 69"/>
              <p:cNvSpPr>
                <a:spLocks noRot="1" noChangeAspect="1" noMove="1" noResize="1" noEditPoints="1" noAdjustHandles="1" noChangeArrowheads="1" noChangeShapeType="1" noTextEdit="1"/>
              </p:cNvSpPr>
              <p:nvPr/>
            </p:nvSpPr>
            <p:spPr>
              <a:xfrm>
                <a:off x="6871320" y="3428876"/>
                <a:ext cx="3490736" cy="504056"/>
              </a:xfrm>
              <a:prstGeom prst="rect">
                <a:avLst/>
              </a:prstGeom>
              <a:blipFill>
                <a:blip r:embed="rId13"/>
                <a:stretch>
                  <a:fillRect b="-2326"/>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1" name="Rectangle 70"/>
              <p:cNvSpPr/>
              <p:nvPr/>
            </p:nvSpPr>
            <p:spPr>
              <a:xfrm>
                <a:off x="1974776" y="3932932"/>
                <a:ext cx="2448272" cy="50405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14:m>
                  <m:oMathPara xmlns:m="http://schemas.openxmlformats.org/officeDocument/2006/math">
                    <m:oMath>
                      <m:r>
                        <a:rPr lang="en-GB" sz="2400" i="1" dirty="0">
                          <a:latin typeface="Cambria Math" panose="02040503050406030204" pitchFamily="18" charset="0"/>
                        </a:rPr>
                        <m:t>(−6,0)</m:t>
                      </m:r>
                    </m:oMath>
                  </m:oMathPara>
                </a14:m>
                <a:endParaRPr lang="en-GB" sz="2400"/>
              </a:p>
            </p:txBody>
          </p:sp>
        </mc:Choice>
        <mc:Fallback>
          <p:sp>
            <p:nvSpPr>
              <p:cNvPr id="71" name="Rectangle 70"/>
              <p:cNvSpPr>
                <a:spLocks noRot="1" noChangeAspect="1" noMove="1" noResize="1" noEditPoints="1" noAdjustHandles="1" noChangeArrowheads="1" noChangeShapeType="1" noTextEdit="1"/>
              </p:cNvSpPr>
              <p:nvPr/>
            </p:nvSpPr>
            <p:spPr>
              <a:xfrm>
                <a:off x="1974776" y="3932932"/>
                <a:ext cx="2448272" cy="504056"/>
              </a:xfrm>
              <a:prstGeom prst="rect">
                <a:avLst/>
              </a:prstGeom>
              <a:blipFill>
                <a:blip r:embed="rId14"/>
                <a:stretch>
                  <a:fillRect b="-9302"/>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2" name="Rectangle 71"/>
              <p:cNvSpPr/>
              <p:nvPr/>
            </p:nvSpPr>
            <p:spPr>
              <a:xfrm>
                <a:off x="4423048" y="3932932"/>
                <a:ext cx="2448272" cy="50405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14:m>
                  <m:oMathPara xmlns:m="http://schemas.openxmlformats.org/officeDocument/2006/math">
                    <m:oMath>
                      <m:r>
                        <a:rPr lang="en-GB" sz="2400" i="1" dirty="0">
                          <a:latin typeface="Cambria Math" panose="02040503050406030204" pitchFamily="18" charset="0"/>
                        </a:rPr>
                        <m:t>4</m:t>
                      </m:r>
                    </m:oMath>
                  </m:oMathPara>
                </a14:m>
                <a:endParaRPr lang="en-GB" sz="2400"/>
              </a:p>
            </p:txBody>
          </p:sp>
        </mc:Choice>
        <mc:Fallback>
          <p:sp>
            <p:nvSpPr>
              <p:cNvPr id="72" name="Rectangle 71"/>
              <p:cNvSpPr>
                <a:spLocks noRot="1" noChangeAspect="1" noMove="1" noResize="1" noEditPoints="1" noAdjustHandles="1" noChangeArrowheads="1" noChangeShapeType="1" noTextEdit="1"/>
              </p:cNvSpPr>
              <p:nvPr/>
            </p:nvSpPr>
            <p:spPr>
              <a:xfrm>
                <a:off x="4423048" y="3932932"/>
                <a:ext cx="2448272" cy="504056"/>
              </a:xfrm>
              <a:prstGeom prst="rect">
                <a:avLst/>
              </a:prstGeom>
              <a:blipFill>
                <a:blip r:embed="rId15"/>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3" name="Rectangle 72"/>
              <p:cNvSpPr/>
              <p:nvPr/>
            </p:nvSpPr>
            <p:spPr>
              <a:xfrm>
                <a:off x="6871320" y="3932932"/>
                <a:ext cx="3491880" cy="50405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14:m>
                  <m:oMathPara xmlns:m="http://schemas.openxmlformats.org/officeDocument/2006/math">
                    <m:oMath>
                      <m:sSup>
                        <m:sSupPr>
                          <m:ctrlPr>
                            <a:rPr lang="en-GB" sz="2400" i="1">
                              <a:latin typeface="Cambria Math" panose="02040503050406030204" pitchFamily="18" charset="0"/>
                            </a:rPr>
                          </m:ctrlPr>
                        </m:sSupPr>
                        <m:e>
                          <m:d>
                            <m:dPr>
                              <m:ctrlPr>
                                <a:rPr lang="en-GB" sz="2400" i="1">
                                  <a:latin typeface="Cambria Math" panose="02040503050406030204" pitchFamily="18" charset="0"/>
                                </a:rPr>
                              </m:ctrlPr>
                            </m:dPr>
                            <m:e>
                              <m:r>
                                <a:rPr lang="en-GB" sz="2400" i="1">
                                  <a:latin typeface="Cambria Math" panose="02040503050406030204" pitchFamily="18" charset="0"/>
                                </a:rPr>
                                <m:t>𝑥</m:t>
                              </m:r>
                              <m:r>
                                <a:rPr lang="en-GB" sz="2400" i="1">
                                  <a:latin typeface="Cambria Math" panose="02040503050406030204" pitchFamily="18" charset="0"/>
                                </a:rPr>
                                <m:t>+6</m:t>
                              </m:r>
                            </m:e>
                          </m:d>
                        </m:e>
                        <m:sup>
                          <m:r>
                            <a:rPr lang="en-GB" sz="2400" i="1">
                              <a:latin typeface="Cambria Math" panose="02040503050406030204" pitchFamily="18" charset="0"/>
                            </a:rPr>
                            <m:t>2</m:t>
                          </m:r>
                        </m:sup>
                      </m:sSup>
                      <m:r>
                        <a:rPr lang="en-GB" sz="2400" i="1">
                          <a:latin typeface="Cambria Math" panose="02040503050406030204" pitchFamily="18" charset="0"/>
                        </a:rPr>
                        <m:t>+</m:t>
                      </m:r>
                      <m:sSup>
                        <m:sSupPr>
                          <m:ctrlPr>
                            <a:rPr lang="en-GB" sz="2400" i="1">
                              <a:latin typeface="Cambria Math" panose="02040503050406030204" pitchFamily="18" charset="0"/>
                            </a:rPr>
                          </m:ctrlPr>
                        </m:sSupPr>
                        <m:e>
                          <m:r>
                            <a:rPr lang="en-GB" sz="2400" i="1">
                              <a:latin typeface="Cambria Math" panose="02040503050406030204" pitchFamily="18" charset="0"/>
                            </a:rPr>
                            <m:t>𝑦</m:t>
                          </m:r>
                        </m:e>
                        <m:sup>
                          <m:r>
                            <a:rPr lang="en-GB" sz="2400" i="1">
                              <a:latin typeface="Cambria Math" panose="02040503050406030204" pitchFamily="18" charset="0"/>
                            </a:rPr>
                            <m:t>2</m:t>
                          </m:r>
                        </m:sup>
                      </m:sSup>
                      <m:r>
                        <a:rPr lang="en-GB" sz="2400" i="1">
                          <a:latin typeface="Cambria Math" panose="02040503050406030204" pitchFamily="18" charset="0"/>
                        </a:rPr>
                        <m:t>=16</m:t>
                      </m:r>
                    </m:oMath>
                  </m:oMathPara>
                </a14:m>
                <a:endParaRPr lang="en-GB" sz="2400"/>
              </a:p>
            </p:txBody>
          </p:sp>
        </mc:Choice>
        <mc:Fallback>
          <p:sp>
            <p:nvSpPr>
              <p:cNvPr id="73" name="Rectangle 72"/>
              <p:cNvSpPr>
                <a:spLocks noRot="1" noChangeAspect="1" noMove="1" noResize="1" noEditPoints="1" noAdjustHandles="1" noChangeArrowheads="1" noChangeShapeType="1" noTextEdit="1"/>
              </p:cNvSpPr>
              <p:nvPr/>
            </p:nvSpPr>
            <p:spPr>
              <a:xfrm>
                <a:off x="6871320" y="3932932"/>
                <a:ext cx="3491880" cy="504056"/>
              </a:xfrm>
              <a:prstGeom prst="rect">
                <a:avLst/>
              </a:prstGeom>
              <a:blipFill>
                <a:blip r:embed="rId16"/>
                <a:stretch>
                  <a:fillRect b="-2326"/>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4" name="Rectangle 73"/>
              <p:cNvSpPr/>
              <p:nvPr/>
            </p:nvSpPr>
            <p:spPr>
              <a:xfrm>
                <a:off x="1974776" y="4436988"/>
                <a:ext cx="2448272" cy="50405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14:m>
                  <m:oMathPara xmlns:m="http://schemas.openxmlformats.org/officeDocument/2006/math">
                    <m:oMath>
                      <m:r>
                        <a:rPr lang="en-GB" sz="2400" i="1" dirty="0">
                          <a:latin typeface="Cambria Math" panose="02040503050406030204" pitchFamily="18" charset="0"/>
                        </a:rPr>
                        <m:t>(1,−1)</m:t>
                      </m:r>
                    </m:oMath>
                  </m:oMathPara>
                </a14:m>
                <a:endParaRPr lang="en-GB" sz="2400"/>
              </a:p>
            </p:txBody>
          </p:sp>
        </mc:Choice>
        <mc:Fallback>
          <p:sp>
            <p:nvSpPr>
              <p:cNvPr id="74" name="Rectangle 73"/>
              <p:cNvSpPr>
                <a:spLocks noRot="1" noChangeAspect="1" noMove="1" noResize="1" noEditPoints="1" noAdjustHandles="1" noChangeArrowheads="1" noChangeShapeType="1" noTextEdit="1"/>
              </p:cNvSpPr>
              <p:nvPr/>
            </p:nvSpPr>
            <p:spPr>
              <a:xfrm>
                <a:off x="1974776" y="4436988"/>
                <a:ext cx="2448272" cy="504056"/>
              </a:xfrm>
              <a:prstGeom prst="rect">
                <a:avLst/>
              </a:prstGeom>
              <a:blipFill>
                <a:blip r:embed="rId17"/>
                <a:stretch>
                  <a:fillRect b="-9302"/>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5" name="Rectangle 74"/>
              <p:cNvSpPr/>
              <p:nvPr/>
            </p:nvSpPr>
            <p:spPr>
              <a:xfrm>
                <a:off x="4423048" y="4436988"/>
                <a:ext cx="2448272" cy="50405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14:m>
                  <m:oMathPara xmlns:m="http://schemas.openxmlformats.org/officeDocument/2006/math">
                    <m:oMath>
                      <m:rad>
                        <m:radPr>
                          <m:degHide m:val="on"/>
                          <m:ctrlPr>
                            <a:rPr lang="en-GB" sz="2400" i="1">
                              <a:latin typeface="Cambria Math" panose="02040503050406030204" pitchFamily="18" charset="0"/>
                            </a:rPr>
                          </m:ctrlPr>
                        </m:radPr>
                        <m:deg/>
                        <m:e>
                          <m:r>
                            <a:rPr lang="en-GB" sz="2400" i="1">
                              <a:latin typeface="Cambria Math" panose="02040503050406030204" pitchFamily="18" charset="0"/>
                            </a:rPr>
                            <m:t>3</m:t>
                          </m:r>
                        </m:e>
                      </m:rad>
                    </m:oMath>
                  </m:oMathPara>
                </a14:m>
                <a:endParaRPr lang="en-GB" sz="2400"/>
              </a:p>
            </p:txBody>
          </p:sp>
        </mc:Choice>
        <mc:Fallback>
          <p:sp>
            <p:nvSpPr>
              <p:cNvPr id="75" name="Rectangle 74"/>
              <p:cNvSpPr>
                <a:spLocks noRot="1" noChangeAspect="1" noMove="1" noResize="1" noEditPoints="1" noAdjustHandles="1" noChangeArrowheads="1" noChangeShapeType="1" noTextEdit="1"/>
              </p:cNvSpPr>
              <p:nvPr/>
            </p:nvSpPr>
            <p:spPr>
              <a:xfrm>
                <a:off x="4423048" y="4436988"/>
                <a:ext cx="2448272" cy="504056"/>
              </a:xfrm>
              <a:prstGeom prst="rect">
                <a:avLst/>
              </a:prstGeom>
              <a:blipFill>
                <a:blip r:embed="rId18"/>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6" name="Rectangle 75"/>
              <p:cNvSpPr/>
              <p:nvPr/>
            </p:nvSpPr>
            <p:spPr>
              <a:xfrm>
                <a:off x="6871320" y="4436988"/>
                <a:ext cx="3490736" cy="50405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14:m>
                  <m:oMathPara xmlns:m="http://schemas.openxmlformats.org/officeDocument/2006/math">
                    <m:oMath>
                      <m:sSup>
                        <m:sSupPr>
                          <m:ctrlPr>
                            <a:rPr lang="en-GB" sz="2400" i="1" dirty="0">
                              <a:latin typeface="Cambria Math" panose="02040503050406030204" pitchFamily="18" charset="0"/>
                            </a:rPr>
                          </m:ctrlPr>
                        </m:sSupPr>
                        <m:e>
                          <m:d>
                            <m:dPr>
                              <m:ctrlPr>
                                <a:rPr lang="en-GB" sz="2400" i="1" dirty="0">
                                  <a:latin typeface="Cambria Math" panose="02040503050406030204" pitchFamily="18" charset="0"/>
                                </a:rPr>
                              </m:ctrlPr>
                            </m:dPr>
                            <m:e>
                              <m:r>
                                <a:rPr lang="en-GB" sz="2400" i="1" dirty="0">
                                  <a:latin typeface="Cambria Math" panose="02040503050406030204" pitchFamily="18" charset="0"/>
                                </a:rPr>
                                <m:t>𝑥</m:t>
                              </m:r>
                              <m:r>
                                <a:rPr lang="en-GB" sz="2400" i="1" dirty="0">
                                  <a:latin typeface="Cambria Math" panose="02040503050406030204" pitchFamily="18" charset="0"/>
                                </a:rPr>
                                <m:t>−1</m:t>
                              </m:r>
                            </m:e>
                          </m:d>
                        </m:e>
                        <m:sup>
                          <m:r>
                            <a:rPr lang="en-GB" sz="2400" i="1" dirty="0">
                              <a:latin typeface="Cambria Math" panose="02040503050406030204" pitchFamily="18" charset="0"/>
                            </a:rPr>
                            <m:t>2</m:t>
                          </m:r>
                        </m:sup>
                      </m:sSup>
                      <m:r>
                        <a:rPr lang="en-GB" sz="2400" i="1" dirty="0">
                          <a:latin typeface="Cambria Math" panose="02040503050406030204" pitchFamily="18" charset="0"/>
                        </a:rPr>
                        <m:t>+</m:t>
                      </m:r>
                      <m:sSup>
                        <m:sSupPr>
                          <m:ctrlPr>
                            <a:rPr lang="en-GB" sz="2400" i="1" dirty="0">
                              <a:latin typeface="Cambria Math" panose="02040503050406030204" pitchFamily="18" charset="0"/>
                            </a:rPr>
                          </m:ctrlPr>
                        </m:sSupPr>
                        <m:e>
                          <m:d>
                            <m:dPr>
                              <m:ctrlPr>
                                <a:rPr lang="en-GB" sz="2400" i="1" dirty="0">
                                  <a:latin typeface="Cambria Math" panose="02040503050406030204" pitchFamily="18" charset="0"/>
                                </a:rPr>
                              </m:ctrlPr>
                            </m:dPr>
                            <m:e>
                              <m:r>
                                <a:rPr lang="en-GB" sz="2400" i="1" dirty="0">
                                  <a:latin typeface="Cambria Math" panose="02040503050406030204" pitchFamily="18" charset="0"/>
                                </a:rPr>
                                <m:t>𝑦</m:t>
                              </m:r>
                              <m:r>
                                <a:rPr lang="en-GB" sz="2400" i="1" dirty="0">
                                  <a:latin typeface="Cambria Math" panose="02040503050406030204" pitchFamily="18" charset="0"/>
                                </a:rPr>
                                <m:t>+1</m:t>
                              </m:r>
                            </m:e>
                          </m:d>
                        </m:e>
                        <m:sup>
                          <m:r>
                            <a:rPr lang="en-GB" sz="2400" i="1" dirty="0">
                              <a:latin typeface="Cambria Math" panose="02040503050406030204" pitchFamily="18" charset="0"/>
                            </a:rPr>
                            <m:t>2</m:t>
                          </m:r>
                        </m:sup>
                      </m:sSup>
                      <m:r>
                        <a:rPr lang="en-GB" sz="2400" i="1" dirty="0">
                          <a:latin typeface="Cambria Math" panose="02040503050406030204" pitchFamily="18" charset="0"/>
                        </a:rPr>
                        <m:t>=3</m:t>
                      </m:r>
                    </m:oMath>
                  </m:oMathPara>
                </a14:m>
                <a:endParaRPr lang="en-GB" sz="2400"/>
              </a:p>
            </p:txBody>
          </p:sp>
        </mc:Choice>
        <mc:Fallback>
          <p:sp>
            <p:nvSpPr>
              <p:cNvPr id="76" name="Rectangle 75"/>
              <p:cNvSpPr>
                <a:spLocks noRot="1" noChangeAspect="1" noMove="1" noResize="1" noEditPoints="1" noAdjustHandles="1" noChangeArrowheads="1" noChangeShapeType="1" noTextEdit="1"/>
              </p:cNvSpPr>
              <p:nvPr/>
            </p:nvSpPr>
            <p:spPr>
              <a:xfrm>
                <a:off x="6871320" y="4436988"/>
                <a:ext cx="3490736" cy="504056"/>
              </a:xfrm>
              <a:prstGeom prst="rect">
                <a:avLst/>
              </a:prstGeom>
              <a:blipFill>
                <a:blip r:embed="rId19"/>
                <a:stretch>
                  <a:fillRect b="-2326"/>
                </a:stretch>
              </a:blipFill>
            </p:spPr>
            <p:txBody>
              <a:bodyPr/>
              <a:lstStyle/>
              <a:p>
                <a:r>
                  <a:rPr lang="en-US">
                    <a:noFill/>
                  </a:rPr>
                  <a:t> </a:t>
                </a:r>
              </a:p>
            </p:txBody>
          </p:sp>
        </mc:Fallback>
      </mc:AlternateContent>
      <p:sp>
        <p:nvSpPr>
          <p:cNvPr id="77" name="Rectangle 76"/>
          <p:cNvSpPr/>
          <p:nvPr/>
        </p:nvSpPr>
        <p:spPr>
          <a:xfrm>
            <a:off x="6858827" y="1915350"/>
            <a:ext cx="3504202" cy="504056"/>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
        <p:nvSpPr>
          <p:cNvPr id="78" name="Rectangle 77"/>
          <p:cNvSpPr/>
          <p:nvPr/>
        </p:nvSpPr>
        <p:spPr>
          <a:xfrm>
            <a:off x="6858827" y="2419406"/>
            <a:ext cx="3504202" cy="504056"/>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
        <p:nvSpPr>
          <p:cNvPr id="79" name="Rectangle 78"/>
          <p:cNvSpPr/>
          <p:nvPr/>
        </p:nvSpPr>
        <p:spPr>
          <a:xfrm>
            <a:off x="4409582" y="2915397"/>
            <a:ext cx="2448272" cy="504056"/>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
        <p:nvSpPr>
          <p:cNvPr id="80" name="Rectangle 79"/>
          <p:cNvSpPr/>
          <p:nvPr/>
        </p:nvSpPr>
        <p:spPr>
          <a:xfrm>
            <a:off x="1961310" y="2915397"/>
            <a:ext cx="2448272" cy="504056"/>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
        <p:nvSpPr>
          <p:cNvPr id="81" name="Rectangle 80"/>
          <p:cNvSpPr/>
          <p:nvPr/>
        </p:nvSpPr>
        <p:spPr>
          <a:xfrm>
            <a:off x="4409582" y="3419453"/>
            <a:ext cx="2448272" cy="504056"/>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
        <p:nvSpPr>
          <p:cNvPr id="82" name="Rectangle 81"/>
          <p:cNvSpPr/>
          <p:nvPr/>
        </p:nvSpPr>
        <p:spPr>
          <a:xfrm>
            <a:off x="1961310" y="3419453"/>
            <a:ext cx="2448272" cy="504056"/>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
        <p:nvSpPr>
          <p:cNvPr id="83" name="Rectangle 82"/>
          <p:cNvSpPr/>
          <p:nvPr/>
        </p:nvSpPr>
        <p:spPr>
          <a:xfrm>
            <a:off x="4409582" y="3923509"/>
            <a:ext cx="2448272" cy="504056"/>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
        <p:nvSpPr>
          <p:cNvPr id="84" name="Rectangle 83"/>
          <p:cNvSpPr/>
          <p:nvPr/>
        </p:nvSpPr>
        <p:spPr>
          <a:xfrm>
            <a:off x="1961310" y="3928221"/>
            <a:ext cx="2448272" cy="504056"/>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
        <p:nvSpPr>
          <p:cNvPr id="85" name="Rectangle 84"/>
          <p:cNvSpPr/>
          <p:nvPr/>
        </p:nvSpPr>
        <p:spPr>
          <a:xfrm>
            <a:off x="4409582" y="4427565"/>
            <a:ext cx="2448272" cy="504056"/>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
        <p:nvSpPr>
          <p:cNvPr id="86" name="Rectangle 85"/>
          <p:cNvSpPr/>
          <p:nvPr/>
        </p:nvSpPr>
        <p:spPr>
          <a:xfrm>
            <a:off x="1961310" y="4427565"/>
            <a:ext cx="2448272" cy="504056"/>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mc:AlternateContent xmlns:mc="http://schemas.openxmlformats.org/markup-compatibility/2006">
        <mc:Choice xmlns:a14="http://schemas.microsoft.com/office/drawing/2010/main" Requires="a14">
          <p:sp>
            <p:nvSpPr>
              <p:cNvPr id="87" name="Rectangle 86"/>
              <p:cNvSpPr/>
              <p:nvPr/>
            </p:nvSpPr>
            <p:spPr>
              <a:xfrm>
                <a:off x="1974776" y="4941044"/>
                <a:ext cx="2448272" cy="50405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14:m>
                  <m:oMathPara xmlns:m="http://schemas.openxmlformats.org/officeDocument/2006/math">
                    <m:oMath>
                      <m:r>
                        <a:rPr lang="en-GB" sz="2400" i="1" dirty="0">
                          <a:latin typeface="Cambria Math" panose="02040503050406030204" pitchFamily="18" charset="0"/>
                        </a:rPr>
                        <m:t>(−2,3)</m:t>
                      </m:r>
                    </m:oMath>
                  </m:oMathPara>
                </a14:m>
                <a:endParaRPr lang="en-GB" sz="2400"/>
              </a:p>
            </p:txBody>
          </p:sp>
        </mc:Choice>
        <mc:Fallback>
          <p:sp>
            <p:nvSpPr>
              <p:cNvPr id="87" name="Rectangle 86"/>
              <p:cNvSpPr>
                <a:spLocks noRot="1" noChangeAspect="1" noMove="1" noResize="1" noEditPoints="1" noAdjustHandles="1" noChangeArrowheads="1" noChangeShapeType="1" noTextEdit="1"/>
              </p:cNvSpPr>
              <p:nvPr/>
            </p:nvSpPr>
            <p:spPr>
              <a:xfrm>
                <a:off x="1974776" y="4941044"/>
                <a:ext cx="2448272" cy="504056"/>
              </a:xfrm>
              <a:prstGeom prst="rect">
                <a:avLst/>
              </a:prstGeom>
              <a:blipFill>
                <a:blip r:embed="rId20"/>
                <a:stretch>
                  <a:fillRect b="-9524"/>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88" name="Rectangle 87"/>
              <p:cNvSpPr/>
              <p:nvPr/>
            </p:nvSpPr>
            <p:spPr>
              <a:xfrm>
                <a:off x="4423048" y="4941044"/>
                <a:ext cx="2448272" cy="50405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14:m>
                  <m:oMathPara xmlns:m="http://schemas.openxmlformats.org/officeDocument/2006/math">
                    <m:oMath>
                      <m:r>
                        <a:rPr lang="en-GB" sz="2400" i="1">
                          <a:latin typeface="Cambria Math" panose="02040503050406030204" pitchFamily="18" charset="0"/>
                        </a:rPr>
                        <m:t>2</m:t>
                      </m:r>
                      <m:rad>
                        <m:radPr>
                          <m:degHide m:val="on"/>
                          <m:ctrlPr>
                            <a:rPr lang="en-GB" sz="2400" i="1">
                              <a:latin typeface="Cambria Math" panose="02040503050406030204" pitchFamily="18" charset="0"/>
                            </a:rPr>
                          </m:ctrlPr>
                        </m:radPr>
                        <m:deg/>
                        <m:e>
                          <m:r>
                            <a:rPr lang="en-GB" sz="2400" i="1">
                              <a:latin typeface="Cambria Math" panose="02040503050406030204" pitchFamily="18" charset="0"/>
                            </a:rPr>
                            <m:t>2</m:t>
                          </m:r>
                        </m:e>
                      </m:rad>
                    </m:oMath>
                  </m:oMathPara>
                </a14:m>
                <a:endParaRPr lang="en-GB" sz="2400"/>
              </a:p>
            </p:txBody>
          </p:sp>
        </mc:Choice>
        <mc:Fallback>
          <p:sp>
            <p:nvSpPr>
              <p:cNvPr id="88" name="Rectangle 87"/>
              <p:cNvSpPr>
                <a:spLocks noRot="1" noChangeAspect="1" noMove="1" noResize="1" noEditPoints="1" noAdjustHandles="1" noChangeArrowheads="1" noChangeShapeType="1" noTextEdit="1"/>
              </p:cNvSpPr>
              <p:nvPr/>
            </p:nvSpPr>
            <p:spPr>
              <a:xfrm>
                <a:off x="4423048" y="4941044"/>
                <a:ext cx="2448272" cy="504056"/>
              </a:xfrm>
              <a:prstGeom prst="rect">
                <a:avLst/>
              </a:prstGeom>
              <a:blipFill>
                <a:blip r:embed="rId21"/>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89" name="Rectangle 88"/>
              <p:cNvSpPr/>
              <p:nvPr/>
            </p:nvSpPr>
            <p:spPr>
              <a:xfrm>
                <a:off x="6871320" y="4941044"/>
                <a:ext cx="3490736" cy="50405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14:m>
                  <m:oMathPara xmlns:m="http://schemas.openxmlformats.org/officeDocument/2006/math">
                    <m:oMath>
                      <m:sSup>
                        <m:sSupPr>
                          <m:ctrlPr>
                            <a:rPr lang="en-GB" sz="2400" i="1" dirty="0">
                              <a:latin typeface="Cambria Math" panose="02040503050406030204" pitchFamily="18" charset="0"/>
                            </a:rPr>
                          </m:ctrlPr>
                        </m:sSupPr>
                        <m:e>
                          <m:d>
                            <m:dPr>
                              <m:ctrlPr>
                                <a:rPr lang="en-GB" sz="2400" i="1" dirty="0">
                                  <a:latin typeface="Cambria Math" panose="02040503050406030204" pitchFamily="18" charset="0"/>
                                </a:rPr>
                              </m:ctrlPr>
                            </m:dPr>
                            <m:e>
                              <m:r>
                                <a:rPr lang="en-GB" sz="2400" i="1" dirty="0">
                                  <a:latin typeface="Cambria Math" panose="02040503050406030204" pitchFamily="18" charset="0"/>
                                </a:rPr>
                                <m:t>𝑥</m:t>
                              </m:r>
                              <m:r>
                                <a:rPr lang="en-GB" sz="2400" i="1" dirty="0">
                                  <a:latin typeface="Cambria Math" panose="02040503050406030204" pitchFamily="18" charset="0"/>
                                </a:rPr>
                                <m:t>+2</m:t>
                              </m:r>
                            </m:e>
                          </m:d>
                        </m:e>
                        <m:sup>
                          <m:r>
                            <a:rPr lang="en-GB" sz="2400" i="1" dirty="0">
                              <a:latin typeface="Cambria Math" panose="02040503050406030204" pitchFamily="18" charset="0"/>
                            </a:rPr>
                            <m:t>2</m:t>
                          </m:r>
                        </m:sup>
                      </m:sSup>
                      <m:r>
                        <a:rPr lang="en-GB" sz="2400" i="1" dirty="0">
                          <a:latin typeface="Cambria Math" panose="02040503050406030204" pitchFamily="18" charset="0"/>
                        </a:rPr>
                        <m:t>+</m:t>
                      </m:r>
                      <m:sSup>
                        <m:sSupPr>
                          <m:ctrlPr>
                            <a:rPr lang="en-GB" sz="2400" i="1" dirty="0">
                              <a:latin typeface="Cambria Math" panose="02040503050406030204" pitchFamily="18" charset="0"/>
                            </a:rPr>
                          </m:ctrlPr>
                        </m:sSupPr>
                        <m:e>
                          <m:d>
                            <m:dPr>
                              <m:ctrlPr>
                                <a:rPr lang="en-GB" sz="2400" i="1" dirty="0">
                                  <a:latin typeface="Cambria Math" panose="02040503050406030204" pitchFamily="18" charset="0"/>
                                </a:rPr>
                              </m:ctrlPr>
                            </m:dPr>
                            <m:e>
                              <m:r>
                                <a:rPr lang="en-GB" sz="2400" i="1" dirty="0">
                                  <a:latin typeface="Cambria Math" panose="02040503050406030204" pitchFamily="18" charset="0"/>
                                </a:rPr>
                                <m:t>𝑦</m:t>
                              </m:r>
                              <m:r>
                                <a:rPr lang="en-GB" sz="2400" i="1" dirty="0">
                                  <a:latin typeface="Cambria Math" panose="02040503050406030204" pitchFamily="18" charset="0"/>
                                </a:rPr>
                                <m:t>−3</m:t>
                              </m:r>
                            </m:e>
                          </m:d>
                        </m:e>
                        <m:sup>
                          <m:r>
                            <a:rPr lang="en-GB" sz="2400" i="1" dirty="0">
                              <a:latin typeface="Cambria Math" panose="02040503050406030204" pitchFamily="18" charset="0"/>
                            </a:rPr>
                            <m:t>2</m:t>
                          </m:r>
                        </m:sup>
                      </m:sSup>
                      <m:r>
                        <a:rPr lang="en-GB" sz="2400" i="1" dirty="0">
                          <a:latin typeface="Cambria Math" panose="02040503050406030204" pitchFamily="18" charset="0"/>
                        </a:rPr>
                        <m:t>=8</m:t>
                      </m:r>
                    </m:oMath>
                  </m:oMathPara>
                </a14:m>
                <a:endParaRPr lang="en-GB" sz="2400"/>
              </a:p>
            </p:txBody>
          </p:sp>
        </mc:Choice>
        <mc:Fallback>
          <p:sp>
            <p:nvSpPr>
              <p:cNvPr id="89" name="Rectangle 88"/>
              <p:cNvSpPr>
                <a:spLocks noRot="1" noChangeAspect="1" noMove="1" noResize="1" noEditPoints="1" noAdjustHandles="1" noChangeArrowheads="1" noChangeShapeType="1" noTextEdit="1"/>
              </p:cNvSpPr>
              <p:nvPr/>
            </p:nvSpPr>
            <p:spPr>
              <a:xfrm>
                <a:off x="6871320" y="4941044"/>
                <a:ext cx="3490736" cy="504056"/>
              </a:xfrm>
              <a:prstGeom prst="rect">
                <a:avLst/>
              </a:prstGeom>
              <a:blipFill>
                <a:blip r:embed="rId22"/>
                <a:stretch>
                  <a:fillRect b="-2381"/>
                </a:stretch>
              </a:blipFill>
            </p:spPr>
            <p:txBody>
              <a:bodyPr/>
              <a:lstStyle/>
              <a:p>
                <a:r>
                  <a:rPr lang="en-US">
                    <a:noFill/>
                  </a:rPr>
                  <a:t> </a:t>
                </a:r>
              </a:p>
            </p:txBody>
          </p:sp>
        </mc:Fallback>
      </mc:AlternateContent>
      <p:sp>
        <p:nvSpPr>
          <p:cNvPr id="90" name="Rectangle 89"/>
          <p:cNvSpPr/>
          <p:nvPr/>
        </p:nvSpPr>
        <p:spPr>
          <a:xfrm>
            <a:off x="4409582" y="4931621"/>
            <a:ext cx="2448272" cy="504056"/>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
        <p:nvSpPr>
          <p:cNvPr id="91" name="Rectangle 90"/>
          <p:cNvSpPr/>
          <p:nvPr/>
        </p:nvSpPr>
        <p:spPr>
          <a:xfrm>
            <a:off x="1961310" y="4931621"/>
            <a:ext cx="2448272" cy="504056"/>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Tree>
    <p:extLst>
      <p:ext uri="{BB962C8B-B14F-4D97-AF65-F5344CB8AC3E}">
        <p14:creationId xmlns:p14="http://schemas.microsoft.com/office/powerpoint/2010/main" val="3844286048"/>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77"/>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77"/>
                                        </p:tgtEl>
                                      </p:cBhvr>
                                    </p:animEffect>
                                    <p:set>
                                      <p:cBhvr>
                                        <p:cTn id="7" dur="1" fill="hold">
                                          <p:stCondLst>
                                            <p:cond delay="499"/>
                                          </p:stCondLst>
                                        </p:cTn>
                                        <p:tgtEl>
                                          <p:spTgt spid="77"/>
                                        </p:tgtEl>
                                        <p:attrNameLst>
                                          <p:attrName>style.visibility</p:attrName>
                                        </p:attrNameLst>
                                      </p:cBhvr>
                                      <p:to>
                                        <p:strVal val="hidden"/>
                                      </p:to>
                                    </p:set>
                                  </p:childTnLst>
                                </p:cTn>
                              </p:par>
                            </p:childTnLst>
                          </p:cTn>
                        </p:par>
                      </p:childTnLst>
                    </p:cTn>
                  </p:par>
                </p:childTnLst>
              </p:cTn>
              <p:nextCondLst>
                <p:cond evt="onClick" delay="0">
                  <p:tgtEl>
                    <p:spTgt spid="77"/>
                  </p:tgtEl>
                </p:cond>
              </p:nextCondLst>
            </p:seq>
            <p:seq concurrent="1" nextAc="seek">
              <p:cTn id="8" restart="whenNotActive" fill="hold" evtFilter="cancelBubble" nodeType="interactiveSeq">
                <p:stCondLst>
                  <p:cond evt="onClick" delay="0">
                    <p:tgtEl>
                      <p:spTgt spid="78"/>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78"/>
                                        </p:tgtEl>
                                      </p:cBhvr>
                                    </p:animEffect>
                                    <p:set>
                                      <p:cBhvr>
                                        <p:cTn id="13" dur="1" fill="hold">
                                          <p:stCondLst>
                                            <p:cond delay="499"/>
                                          </p:stCondLst>
                                        </p:cTn>
                                        <p:tgtEl>
                                          <p:spTgt spid="78"/>
                                        </p:tgtEl>
                                        <p:attrNameLst>
                                          <p:attrName>style.visibility</p:attrName>
                                        </p:attrNameLst>
                                      </p:cBhvr>
                                      <p:to>
                                        <p:strVal val="hidden"/>
                                      </p:to>
                                    </p:set>
                                  </p:childTnLst>
                                </p:cTn>
                              </p:par>
                            </p:childTnLst>
                          </p:cTn>
                        </p:par>
                      </p:childTnLst>
                    </p:cTn>
                  </p:par>
                </p:childTnLst>
              </p:cTn>
              <p:nextCondLst>
                <p:cond evt="onClick" delay="0">
                  <p:tgtEl>
                    <p:spTgt spid="78"/>
                  </p:tgtEl>
                </p:cond>
              </p:nextCondLst>
            </p:seq>
            <p:seq concurrent="1" nextAc="seek">
              <p:cTn id="14" restart="whenNotActive" fill="hold" evtFilter="cancelBubble" nodeType="interactiveSeq">
                <p:stCondLst>
                  <p:cond evt="onClick" delay="0">
                    <p:tgtEl>
                      <p:spTgt spid="79"/>
                    </p:tgtEl>
                  </p:cond>
                </p:stCondLst>
                <p:endSync evt="end" delay="0">
                  <p:rtn val="all"/>
                </p:endSync>
                <p:childTnLst>
                  <p:par>
                    <p:cTn id="15" fill="hold">
                      <p:stCondLst>
                        <p:cond delay="0"/>
                      </p:stCondLst>
                      <p:childTnLst>
                        <p:par>
                          <p:cTn id="16" fill="hold">
                            <p:stCondLst>
                              <p:cond delay="0"/>
                            </p:stCondLst>
                            <p:childTnLst>
                              <p:par>
                                <p:cTn id="17" presetID="10" presetClass="exit" presetSubtype="0" fill="hold" grpId="0" nodeType="clickEffect">
                                  <p:stCondLst>
                                    <p:cond delay="0"/>
                                  </p:stCondLst>
                                  <p:childTnLst>
                                    <p:animEffect transition="out" filter="fade">
                                      <p:cBhvr>
                                        <p:cTn id="18" dur="500"/>
                                        <p:tgtEl>
                                          <p:spTgt spid="79"/>
                                        </p:tgtEl>
                                      </p:cBhvr>
                                    </p:animEffect>
                                    <p:set>
                                      <p:cBhvr>
                                        <p:cTn id="19" dur="1" fill="hold">
                                          <p:stCondLst>
                                            <p:cond delay="499"/>
                                          </p:stCondLst>
                                        </p:cTn>
                                        <p:tgtEl>
                                          <p:spTgt spid="79"/>
                                        </p:tgtEl>
                                        <p:attrNameLst>
                                          <p:attrName>style.visibility</p:attrName>
                                        </p:attrNameLst>
                                      </p:cBhvr>
                                      <p:to>
                                        <p:strVal val="hidden"/>
                                      </p:to>
                                    </p:set>
                                  </p:childTnLst>
                                </p:cTn>
                              </p:par>
                            </p:childTnLst>
                          </p:cTn>
                        </p:par>
                      </p:childTnLst>
                    </p:cTn>
                  </p:par>
                </p:childTnLst>
              </p:cTn>
              <p:nextCondLst>
                <p:cond evt="onClick" delay="0">
                  <p:tgtEl>
                    <p:spTgt spid="79"/>
                  </p:tgtEl>
                </p:cond>
              </p:nextCondLst>
            </p:seq>
            <p:seq concurrent="1" nextAc="seek">
              <p:cTn id="20" restart="whenNotActive" fill="hold" evtFilter="cancelBubble" nodeType="interactiveSeq">
                <p:stCondLst>
                  <p:cond evt="onClick" delay="0">
                    <p:tgtEl>
                      <p:spTgt spid="80"/>
                    </p:tgtEl>
                  </p:cond>
                </p:stCondLst>
                <p:endSync evt="end" delay="0">
                  <p:rtn val="all"/>
                </p:endSync>
                <p:childTnLst>
                  <p:par>
                    <p:cTn id="21" fill="hold">
                      <p:stCondLst>
                        <p:cond delay="0"/>
                      </p:stCondLst>
                      <p:childTnLst>
                        <p:par>
                          <p:cTn id="22" fill="hold">
                            <p:stCondLst>
                              <p:cond delay="0"/>
                            </p:stCondLst>
                            <p:childTnLst>
                              <p:par>
                                <p:cTn id="23" presetID="10" presetClass="exit" presetSubtype="0" fill="hold" grpId="0" nodeType="clickEffect">
                                  <p:stCondLst>
                                    <p:cond delay="0"/>
                                  </p:stCondLst>
                                  <p:childTnLst>
                                    <p:animEffect transition="out" filter="fade">
                                      <p:cBhvr>
                                        <p:cTn id="24" dur="500"/>
                                        <p:tgtEl>
                                          <p:spTgt spid="80"/>
                                        </p:tgtEl>
                                      </p:cBhvr>
                                    </p:animEffect>
                                    <p:set>
                                      <p:cBhvr>
                                        <p:cTn id="25" dur="1" fill="hold">
                                          <p:stCondLst>
                                            <p:cond delay="499"/>
                                          </p:stCondLst>
                                        </p:cTn>
                                        <p:tgtEl>
                                          <p:spTgt spid="80"/>
                                        </p:tgtEl>
                                        <p:attrNameLst>
                                          <p:attrName>style.visibility</p:attrName>
                                        </p:attrNameLst>
                                      </p:cBhvr>
                                      <p:to>
                                        <p:strVal val="hidden"/>
                                      </p:to>
                                    </p:set>
                                  </p:childTnLst>
                                </p:cTn>
                              </p:par>
                            </p:childTnLst>
                          </p:cTn>
                        </p:par>
                      </p:childTnLst>
                    </p:cTn>
                  </p:par>
                </p:childTnLst>
              </p:cTn>
              <p:nextCondLst>
                <p:cond evt="onClick" delay="0">
                  <p:tgtEl>
                    <p:spTgt spid="80"/>
                  </p:tgtEl>
                </p:cond>
              </p:nextCondLst>
            </p:seq>
            <p:seq concurrent="1" nextAc="seek">
              <p:cTn id="26" restart="whenNotActive" fill="hold" evtFilter="cancelBubble" nodeType="interactiveSeq">
                <p:stCondLst>
                  <p:cond evt="onClick" delay="0">
                    <p:tgtEl>
                      <p:spTgt spid="81"/>
                    </p:tgtEl>
                  </p:cond>
                </p:stCondLst>
                <p:endSync evt="end" delay="0">
                  <p:rtn val="all"/>
                </p:endSync>
                <p:childTnLst>
                  <p:par>
                    <p:cTn id="27" fill="hold">
                      <p:stCondLst>
                        <p:cond delay="0"/>
                      </p:stCondLst>
                      <p:childTnLst>
                        <p:par>
                          <p:cTn id="28" fill="hold">
                            <p:stCondLst>
                              <p:cond delay="0"/>
                            </p:stCondLst>
                            <p:childTnLst>
                              <p:par>
                                <p:cTn id="29" presetID="10" presetClass="exit" presetSubtype="0" fill="hold" grpId="0" nodeType="clickEffect">
                                  <p:stCondLst>
                                    <p:cond delay="0"/>
                                  </p:stCondLst>
                                  <p:childTnLst>
                                    <p:animEffect transition="out" filter="fade">
                                      <p:cBhvr>
                                        <p:cTn id="30" dur="500"/>
                                        <p:tgtEl>
                                          <p:spTgt spid="81"/>
                                        </p:tgtEl>
                                      </p:cBhvr>
                                    </p:animEffect>
                                    <p:set>
                                      <p:cBhvr>
                                        <p:cTn id="31" dur="1" fill="hold">
                                          <p:stCondLst>
                                            <p:cond delay="499"/>
                                          </p:stCondLst>
                                        </p:cTn>
                                        <p:tgtEl>
                                          <p:spTgt spid="81"/>
                                        </p:tgtEl>
                                        <p:attrNameLst>
                                          <p:attrName>style.visibility</p:attrName>
                                        </p:attrNameLst>
                                      </p:cBhvr>
                                      <p:to>
                                        <p:strVal val="hidden"/>
                                      </p:to>
                                    </p:set>
                                  </p:childTnLst>
                                </p:cTn>
                              </p:par>
                            </p:childTnLst>
                          </p:cTn>
                        </p:par>
                      </p:childTnLst>
                    </p:cTn>
                  </p:par>
                </p:childTnLst>
              </p:cTn>
              <p:nextCondLst>
                <p:cond evt="onClick" delay="0">
                  <p:tgtEl>
                    <p:spTgt spid="81"/>
                  </p:tgtEl>
                </p:cond>
              </p:nextCondLst>
            </p:seq>
            <p:seq concurrent="1" nextAc="seek">
              <p:cTn id="32" restart="whenNotActive" fill="hold" evtFilter="cancelBubble" nodeType="interactiveSeq">
                <p:stCondLst>
                  <p:cond evt="onClick" delay="0">
                    <p:tgtEl>
                      <p:spTgt spid="82"/>
                    </p:tgtEl>
                  </p:cond>
                </p:stCondLst>
                <p:endSync evt="end" delay="0">
                  <p:rtn val="all"/>
                </p:endSync>
                <p:childTnLst>
                  <p:par>
                    <p:cTn id="33" fill="hold">
                      <p:stCondLst>
                        <p:cond delay="0"/>
                      </p:stCondLst>
                      <p:childTnLst>
                        <p:par>
                          <p:cTn id="34" fill="hold">
                            <p:stCondLst>
                              <p:cond delay="0"/>
                            </p:stCondLst>
                            <p:childTnLst>
                              <p:par>
                                <p:cTn id="35" presetID="10" presetClass="exit" presetSubtype="0" fill="hold" grpId="0" nodeType="clickEffect">
                                  <p:stCondLst>
                                    <p:cond delay="0"/>
                                  </p:stCondLst>
                                  <p:childTnLst>
                                    <p:animEffect transition="out" filter="fade">
                                      <p:cBhvr>
                                        <p:cTn id="36" dur="500"/>
                                        <p:tgtEl>
                                          <p:spTgt spid="82"/>
                                        </p:tgtEl>
                                      </p:cBhvr>
                                    </p:animEffect>
                                    <p:set>
                                      <p:cBhvr>
                                        <p:cTn id="37" dur="1" fill="hold">
                                          <p:stCondLst>
                                            <p:cond delay="499"/>
                                          </p:stCondLst>
                                        </p:cTn>
                                        <p:tgtEl>
                                          <p:spTgt spid="82"/>
                                        </p:tgtEl>
                                        <p:attrNameLst>
                                          <p:attrName>style.visibility</p:attrName>
                                        </p:attrNameLst>
                                      </p:cBhvr>
                                      <p:to>
                                        <p:strVal val="hidden"/>
                                      </p:to>
                                    </p:set>
                                  </p:childTnLst>
                                </p:cTn>
                              </p:par>
                            </p:childTnLst>
                          </p:cTn>
                        </p:par>
                      </p:childTnLst>
                    </p:cTn>
                  </p:par>
                </p:childTnLst>
              </p:cTn>
              <p:nextCondLst>
                <p:cond evt="onClick" delay="0">
                  <p:tgtEl>
                    <p:spTgt spid="82"/>
                  </p:tgtEl>
                </p:cond>
              </p:nextCondLst>
            </p:seq>
            <p:seq concurrent="1" nextAc="seek">
              <p:cTn id="38" restart="whenNotActive" fill="hold" evtFilter="cancelBubble" nodeType="interactiveSeq">
                <p:stCondLst>
                  <p:cond evt="onClick" delay="0">
                    <p:tgtEl>
                      <p:spTgt spid="83"/>
                    </p:tgtEl>
                  </p:cond>
                </p:stCondLst>
                <p:endSync evt="end" delay="0">
                  <p:rtn val="all"/>
                </p:endSync>
                <p:childTnLst>
                  <p:par>
                    <p:cTn id="39" fill="hold">
                      <p:stCondLst>
                        <p:cond delay="0"/>
                      </p:stCondLst>
                      <p:childTnLst>
                        <p:par>
                          <p:cTn id="40" fill="hold">
                            <p:stCondLst>
                              <p:cond delay="0"/>
                            </p:stCondLst>
                            <p:childTnLst>
                              <p:par>
                                <p:cTn id="41" presetID="10" presetClass="exit" presetSubtype="0" fill="hold" grpId="0" nodeType="clickEffect">
                                  <p:stCondLst>
                                    <p:cond delay="0"/>
                                  </p:stCondLst>
                                  <p:childTnLst>
                                    <p:animEffect transition="out" filter="fade">
                                      <p:cBhvr>
                                        <p:cTn id="42" dur="500"/>
                                        <p:tgtEl>
                                          <p:spTgt spid="83"/>
                                        </p:tgtEl>
                                      </p:cBhvr>
                                    </p:animEffect>
                                    <p:set>
                                      <p:cBhvr>
                                        <p:cTn id="43" dur="1" fill="hold">
                                          <p:stCondLst>
                                            <p:cond delay="499"/>
                                          </p:stCondLst>
                                        </p:cTn>
                                        <p:tgtEl>
                                          <p:spTgt spid="83"/>
                                        </p:tgtEl>
                                        <p:attrNameLst>
                                          <p:attrName>style.visibility</p:attrName>
                                        </p:attrNameLst>
                                      </p:cBhvr>
                                      <p:to>
                                        <p:strVal val="hidden"/>
                                      </p:to>
                                    </p:set>
                                  </p:childTnLst>
                                </p:cTn>
                              </p:par>
                            </p:childTnLst>
                          </p:cTn>
                        </p:par>
                      </p:childTnLst>
                    </p:cTn>
                  </p:par>
                </p:childTnLst>
              </p:cTn>
              <p:nextCondLst>
                <p:cond evt="onClick" delay="0">
                  <p:tgtEl>
                    <p:spTgt spid="83"/>
                  </p:tgtEl>
                </p:cond>
              </p:nextCondLst>
            </p:seq>
            <p:seq concurrent="1" nextAc="seek">
              <p:cTn id="44" restart="whenNotActive" fill="hold" evtFilter="cancelBubble" nodeType="interactiveSeq">
                <p:stCondLst>
                  <p:cond evt="onClick" delay="0">
                    <p:tgtEl>
                      <p:spTgt spid="84"/>
                    </p:tgtEl>
                  </p:cond>
                </p:stCondLst>
                <p:endSync evt="end" delay="0">
                  <p:rtn val="all"/>
                </p:endSync>
                <p:childTnLst>
                  <p:par>
                    <p:cTn id="45" fill="hold">
                      <p:stCondLst>
                        <p:cond delay="0"/>
                      </p:stCondLst>
                      <p:childTnLst>
                        <p:par>
                          <p:cTn id="46" fill="hold">
                            <p:stCondLst>
                              <p:cond delay="0"/>
                            </p:stCondLst>
                            <p:childTnLst>
                              <p:par>
                                <p:cTn id="47" presetID="10" presetClass="exit" presetSubtype="0" fill="hold" grpId="0" nodeType="clickEffect">
                                  <p:stCondLst>
                                    <p:cond delay="0"/>
                                  </p:stCondLst>
                                  <p:childTnLst>
                                    <p:animEffect transition="out" filter="fade">
                                      <p:cBhvr>
                                        <p:cTn id="48" dur="500"/>
                                        <p:tgtEl>
                                          <p:spTgt spid="84"/>
                                        </p:tgtEl>
                                      </p:cBhvr>
                                    </p:animEffect>
                                    <p:set>
                                      <p:cBhvr>
                                        <p:cTn id="49" dur="1" fill="hold">
                                          <p:stCondLst>
                                            <p:cond delay="499"/>
                                          </p:stCondLst>
                                        </p:cTn>
                                        <p:tgtEl>
                                          <p:spTgt spid="84"/>
                                        </p:tgtEl>
                                        <p:attrNameLst>
                                          <p:attrName>style.visibility</p:attrName>
                                        </p:attrNameLst>
                                      </p:cBhvr>
                                      <p:to>
                                        <p:strVal val="hidden"/>
                                      </p:to>
                                    </p:set>
                                  </p:childTnLst>
                                </p:cTn>
                              </p:par>
                            </p:childTnLst>
                          </p:cTn>
                        </p:par>
                      </p:childTnLst>
                    </p:cTn>
                  </p:par>
                </p:childTnLst>
              </p:cTn>
              <p:nextCondLst>
                <p:cond evt="onClick" delay="0">
                  <p:tgtEl>
                    <p:spTgt spid="84"/>
                  </p:tgtEl>
                </p:cond>
              </p:nextCondLst>
            </p:seq>
            <p:seq concurrent="1" nextAc="seek">
              <p:cTn id="50" restart="whenNotActive" fill="hold" evtFilter="cancelBubble" nodeType="interactiveSeq">
                <p:stCondLst>
                  <p:cond evt="onClick" delay="0">
                    <p:tgtEl>
                      <p:spTgt spid="85"/>
                    </p:tgtEl>
                  </p:cond>
                </p:stCondLst>
                <p:endSync evt="end" delay="0">
                  <p:rtn val="all"/>
                </p:endSync>
                <p:childTnLst>
                  <p:par>
                    <p:cTn id="51" fill="hold">
                      <p:stCondLst>
                        <p:cond delay="0"/>
                      </p:stCondLst>
                      <p:childTnLst>
                        <p:par>
                          <p:cTn id="52" fill="hold">
                            <p:stCondLst>
                              <p:cond delay="0"/>
                            </p:stCondLst>
                            <p:childTnLst>
                              <p:par>
                                <p:cTn id="53" presetID="10" presetClass="exit" presetSubtype="0" fill="hold" grpId="0" nodeType="clickEffect">
                                  <p:stCondLst>
                                    <p:cond delay="0"/>
                                  </p:stCondLst>
                                  <p:childTnLst>
                                    <p:animEffect transition="out" filter="fade">
                                      <p:cBhvr>
                                        <p:cTn id="54" dur="500"/>
                                        <p:tgtEl>
                                          <p:spTgt spid="85"/>
                                        </p:tgtEl>
                                      </p:cBhvr>
                                    </p:animEffect>
                                    <p:set>
                                      <p:cBhvr>
                                        <p:cTn id="55" dur="1" fill="hold">
                                          <p:stCondLst>
                                            <p:cond delay="499"/>
                                          </p:stCondLst>
                                        </p:cTn>
                                        <p:tgtEl>
                                          <p:spTgt spid="85"/>
                                        </p:tgtEl>
                                        <p:attrNameLst>
                                          <p:attrName>style.visibility</p:attrName>
                                        </p:attrNameLst>
                                      </p:cBhvr>
                                      <p:to>
                                        <p:strVal val="hidden"/>
                                      </p:to>
                                    </p:set>
                                  </p:childTnLst>
                                </p:cTn>
                              </p:par>
                            </p:childTnLst>
                          </p:cTn>
                        </p:par>
                      </p:childTnLst>
                    </p:cTn>
                  </p:par>
                </p:childTnLst>
              </p:cTn>
              <p:nextCondLst>
                <p:cond evt="onClick" delay="0">
                  <p:tgtEl>
                    <p:spTgt spid="85"/>
                  </p:tgtEl>
                </p:cond>
              </p:nextCondLst>
            </p:seq>
            <p:seq concurrent="1" nextAc="seek">
              <p:cTn id="56" restart="whenNotActive" fill="hold" evtFilter="cancelBubble" nodeType="interactiveSeq">
                <p:stCondLst>
                  <p:cond evt="onClick" delay="0">
                    <p:tgtEl>
                      <p:spTgt spid="86"/>
                    </p:tgtEl>
                  </p:cond>
                </p:stCondLst>
                <p:endSync evt="end" delay="0">
                  <p:rtn val="all"/>
                </p:endSync>
                <p:childTnLst>
                  <p:par>
                    <p:cTn id="57" fill="hold">
                      <p:stCondLst>
                        <p:cond delay="0"/>
                      </p:stCondLst>
                      <p:childTnLst>
                        <p:par>
                          <p:cTn id="58" fill="hold">
                            <p:stCondLst>
                              <p:cond delay="0"/>
                            </p:stCondLst>
                            <p:childTnLst>
                              <p:par>
                                <p:cTn id="59" presetID="10" presetClass="exit" presetSubtype="0" fill="hold" grpId="0" nodeType="clickEffect">
                                  <p:stCondLst>
                                    <p:cond delay="0"/>
                                  </p:stCondLst>
                                  <p:childTnLst>
                                    <p:animEffect transition="out" filter="fade">
                                      <p:cBhvr>
                                        <p:cTn id="60" dur="500"/>
                                        <p:tgtEl>
                                          <p:spTgt spid="86"/>
                                        </p:tgtEl>
                                      </p:cBhvr>
                                    </p:animEffect>
                                    <p:set>
                                      <p:cBhvr>
                                        <p:cTn id="61" dur="1" fill="hold">
                                          <p:stCondLst>
                                            <p:cond delay="499"/>
                                          </p:stCondLst>
                                        </p:cTn>
                                        <p:tgtEl>
                                          <p:spTgt spid="86"/>
                                        </p:tgtEl>
                                        <p:attrNameLst>
                                          <p:attrName>style.visibility</p:attrName>
                                        </p:attrNameLst>
                                      </p:cBhvr>
                                      <p:to>
                                        <p:strVal val="hidden"/>
                                      </p:to>
                                    </p:set>
                                  </p:childTnLst>
                                </p:cTn>
                              </p:par>
                            </p:childTnLst>
                          </p:cTn>
                        </p:par>
                      </p:childTnLst>
                    </p:cTn>
                  </p:par>
                </p:childTnLst>
              </p:cTn>
              <p:nextCondLst>
                <p:cond evt="onClick" delay="0">
                  <p:tgtEl>
                    <p:spTgt spid="86"/>
                  </p:tgtEl>
                </p:cond>
              </p:nextCondLst>
            </p:seq>
            <p:seq concurrent="1" nextAc="seek">
              <p:cTn id="62" restart="whenNotActive" fill="hold" evtFilter="cancelBubble" nodeType="interactiveSeq">
                <p:stCondLst>
                  <p:cond evt="onClick" delay="0">
                    <p:tgtEl>
                      <p:spTgt spid="90"/>
                    </p:tgtEl>
                  </p:cond>
                </p:stCondLst>
                <p:endSync evt="end" delay="0">
                  <p:rtn val="all"/>
                </p:endSync>
                <p:childTnLst>
                  <p:par>
                    <p:cTn id="63" fill="hold">
                      <p:stCondLst>
                        <p:cond delay="0"/>
                      </p:stCondLst>
                      <p:childTnLst>
                        <p:par>
                          <p:cTn id="64" fill="hold">
                            <p:stCondLst>
                              <p:cond delay="0"/>
                            </p:stCondLst>
                            <p:childTnLst>
                              <p:par>
                                <p:cTn id="65" presetID="10" presetClass="exit" presetSubtype="0" fill="hold" grpId="0" nodeType="clickEffect">
                                  <p:stCondLst>
                                    <p:cond delay="0"/>
                                  </p:stCondLst>
                                  <p:childTnLst>
                                    <p:animEffect transition="out" filter="fade">
                                      <p:cBhvr>
                                        <p:cTn id="66" dur="500"/>
                                        <p:tgtEl>
                                          <p:spTgt spid="90"/>
                                        </p:tgtEl>
                                      </p:cBhvr>
                                    </p:animEffect>
                                    <p:set>
                                      <p:cBhvr>
                                        <p:cTn id="67" dur="1" fill="hold">
                                          <p:stCondLst>
                                            <p:cond delay="499"/>
                                          </p:stCondLst>
                                        </p:cTn>
                                        <p:tgtEl>
                                          <p:spTgt spid="90"/>
                                        </p:tgtEl>
                                        <p:attrNameLst>
                                          <p:attrName>style.visibility</p:attrName>
                                        </p:attrNameLst>
                                      </p:cBhvr>
                                      <p:to>
                                        <p:strVal val="hidden"/>
                                      </p:to>
                                    </p:set>
                                  </p:childTnLst>
                                </p:cTn>
                              </p:par>
                            </p:childTnLst>
                          </p:cTn>
                        </p:par>
                      </p:childTnLst>
                    </p:cTn>
                  </p:par>
                </p:childTnLst>
              </p:cTn>
              <p:nextCondLst>
                <p:cond evt="onClick" delay="0">
                  <p:tgtEl>
                    <p:spTgt spid="90"/>
                  </p:tgtEl>
                </p:cond>
              </p:nextCondLst>
            </p:seq>
            <p:seq concurrent="1" nextAc="seek">
              <p:cTn id="68" restart="whenNotActive" fill="hold" evtFilter="cancelBubble" nodeType="interactiveSeq">
                <p:stCondLst>
                  <p:cond evt="onClick" delay="0">
                    <p:tgtEl>
                      <p:spTgt spid="91"/>
                    </p:tgtEl>
                  </p:cond>
                </p:stCondLst>
                <p:endSync evt="end" delay="0">
                  <p:rtn val="all"/>
                </p:endSync>
                <p:childTnLst>
                  <p:par>
                    <p:cTn id="69" fill="hold">
                      <p:stCondLst>
                        <p:cond delay="0"/>
                      </p:stCondLst>
                      <p:childTnLst>
                        <p:par>
                          <p:cTn id="70" fill="hold">
                            <p:stCondLst>
                              <p:cond delay="0"/>
                            </p:stCondLst>
                            <p:childTnLst>
                              <p:par>
                                <p:cTn id="71" presetID="10" presetClass="exit" presetSubtype="0" fill="hold" grpId="0" nodeType="clickEffect">
                                  <p:stCondLst>
                                    <p:cond delay="0"/>
                                  </p:stCondLst>
                                  <p:childTnLst>
                                    <p:animEffect transition="out" filter="fade">
                                      <p:cBhvr>
                                        <p:cTn id="72" dur="500"/>
                                        <p:tgtEl>
                                          <p:spTgt spid="91"/>
                                        </p:tgtEl>
                                      </p:cBhvr>
                                    </p:animEffect>
                                    <p:set>
                                      <p:cBhvr>
                                        <p:cTn id="73" dur="1" fill="hold">
                                          <p:stCondLst>
                                            <p:cond delay="499"/>
                                          </p:stCondLst>
                                        </p:cTn>
                                        <p:tgtEl>
                                          <p:spTgt spid="91"/>
                                        </p:tgtEl>
                                        <p:attrNameLst>
                                          <p:attrName>style.visibility</p:attrName>
                                        </p:attrNameLst>
                                      </p:cBhvr>
                                      <p:to>
                                        <p:strVal val="hidden"/>
                                      </p:to>
                                    </p:set>
                                  </p:childTnLst>
                                </p:cTn>
                              </p:par>
                            </p:childTnLst>
                          </p:cTn>
                        </p:par>
                      </p:childTnLst>
                    </p:cTn>
                  </p:par>
                </p:childTnLst>
              </p:cTn>
              <p:nextCondLst>
                <p:cond evt="onClick" delay="0">
                  <p:tgtEl>
                    <p:spTgt spid="91"/>
                  </p:tgtEl>
                </p:cond>
              </p:nextCondLst>
            </p:seq>
          </p:childTnLst>
        </p:cTn>
      </p:par>
    </p:tnLst>
    <p:bldLst>
      <p:bldP spid="77" grpId="0" animBg="1"/>
      <p:bldP spid="78" grpId="0" animBg="1"/>
      <p:bldP spid="79" grpId="0" animBg="1"/>
      <p:bldP spid="80" grpId="0" animBg="1"/>
      <p:bldP spid="81" grpId="0" animBg="1"/>
      <p:bldP spid="82" grpId="0" animBg="1"/>
      <p:bldP spid="83" grpId="0" animBg="1"/>
      <p:bldP spid="84" grpId="0" animBg="1"/>
      <p:bldP spid="85" grpId="0" animBg="1"/>
      <p:bldP spid="86" grpId="0" animBg="1"/>
      <p:bldP spid="90" grpId="0" animBg="1"/>
      <p:bldP spid="91" grpId="0" animBg="1"/>
    </p:bldLst>
  </p:timing>
</p:sld>
</file>

<file path=ppt/c6/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7"/>
          <p:cNvGrpSpPr/>
          <p:nvPr/>
        </p:nvGrpSpPr>
        <p:grpSpPr>
          <a:xfrm>
            <a:off x="1524000" y="1"/>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a:t>Finding the equation using points</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p:sp>
        <p:nvSpPr>
          <p:cNvPr id="5" name="Oval 4"/>
          <p:cNvSpPr/>
          <p:nvPr/>
        </p:nvSpPr>
        <p:spPr>
          <a:xfrm>
            <a:off x="2205314" y="1339078"/>
            <a:ext cx="2880320" cy="2808312"/>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GB"/>
          </a:p>
        </p:txBody>
      </p:sp>
      <p:sp>
        <p:nvSpPr>
          <p:cNvPr id="6" name="Oval 5"/>
          <p:cNvSpPr/>
          <p:nvPr/>
        </p:nvSpPr>
        <p:spPr>
          <a:xfrm>
            <a:off x="2176740" y="3048770"/>
            <a:ext cx="189543" cy="195627"/>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sp>
        <p:nvSpPr>
          <p:cNvPr id="7" name="Oval 6"/>
          <p:cNvSpPr/>
          <p:nvPr/>
        </p:nvSpPr>
        <p:spPr>
          <a:xfrm>
            <a:off x="4908718" y="2204865"/>
            <a:ext cx="189543" cy="195627"/>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mc:AlternateContent xmlns:mc="http://schemas.openxmlformats.org/markup-compatibility/2006">
        <mc:Choice xmlns:a14="http://schemas.microsoft.com/office/drawing/2010/main" Requires="a14">
          <p:sp>
            <p:nvSpPr>
              <p:cNvPr id="8" name="TextBox 7"/>
              <p:cNvSpPr txBox="1"/>
              <p:nvPr/>
            </p:nvSpPr>
            <p:spPr>
              <a:xfrm>
                <a:off x="4905425" y="1867669"/>
                <a:ext cx="936104" cy="369332"/>
              </a:xfrm>
              <a:prstGeom prst="rect">
                <a:avLst/>
              </a:prstGeom>
              <a:noFill/>
            </p:spPr>
            <p:txBody>
              <a:bodyPr wrap="square" rtlCol="0">
                <a:spAutoFit/>
              </a:bodyPr>
              <a:lstStyle/>
              <a:p>
                <a:pPr/>
                <a14:m>
                  <m:oMathPara xmlns:m="http://schemas.openxmlformats.org/officeDocument/2006/math">
                    <m:oMath>
                      <m:r>
                        <a:rPr lang="en-GB" i="1">
                          <a:latin typeface="Cambria Math" panose="02040503050406030204" pitchFamily="18" charset="0"/>
                        </a:rPr>
                        <m:t>𝐴</m:t>
                      </m:r>
                      <m:d>
                        <m:dPr>
                          <m:ctrlPr>
                            <a:rPr lang="en-GB" i="1">
                              <a:latin typeface="Cambria Math" panose="02040503050406030204" pitchFamily="18" charset="0"/>
                            </a:rPr>
                          </m:ctrlPr>
                        </m:dPr>
                        <m:e>
                          <m:r>
                            <a:rPr lang="en-GB" i="1">
                              <a:latin typeface="Cambria Math" panose="02040503050406030204" pitchFamily="18" charset="0"/>
                            </a:rPr>
                            <m:t>5,8</m:t>
                          </m:r>
                        </m:e>
                      </m:d>
                    </m:oMath>
                  </m:oMathPara>
                </a14:m>
                <a:endParaRPr lang="en-GB"/>
              </a:p>
            </p:txBody>
          </p:sp>
        </mc:Choice>
        <mc:Fallback>
          <p:sp>
            <p:nvSpPr>
              <p:cNvPr id="8" name="TextBox 7"/>
              <p:cNvSpPr txBox="1">
                <a:spLocks noRot="1" noChangeAspect="1" noMove="1" noResize="1" noEditPoints="1" noAdjustHandles="1" noChangeArrowheads="1" noChangeShapeType="1" noTextEdit="1"/>
              </p:cNvSpPr>
              <p:nvPr/>
            </p:nvSpPr>
            <p:spPr>
              <a:xfrm>
                <a:off x="4905425" y="1867669"/>
                <a:ext cx="936104" cy="369332"/>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9" name="TextBox 8"/>
              <p:cNvSpPr txBox="1"/>
              <p:nvPr/>
            </p:nvSpPr>
            <p:spPr>
              <a:xfrm>
                <a:off x="2222188" y="2674501"/>
                <a:ext cx="936104" cy="369332"/>
              </a:xfrm>
              <a:prstGeom prst="rect">
                <a:avLst/>
              </a:prstGeom>
              <a:noFill/>
            </p:spPr>
            <p:txBody>
              <a:bodyPr wrap="square" rtlCol="0">
                <a:spAutoFit/>
              </a:bodyPr>
              <a:lstStyle/>
              <a:p>
                <a:pPr/>
                <a14:m>
                  <m:oMathPara xmlns:m="http://schemas.openxmlformats.org/officeDocument/2006/math">
                    <m:oMath>
                      <m:r>
                        <a:rPr lang="en-GB" i="1">
                          <a:latin typeface="Cambria Math" panose="02040503050406030204" pitchFamily="18" charset="0"/>
                        </a:rPr>
                        <m:t>𝐵</m:t>
                      </m:r>
                      <m:d>
                        <m:dPr>
                          <m:ctrlPr>
                            <a:rPr lang="en-GB" i="1">
                              <a:latin typeface="Cambria Math" panose="02040503050406030204" pitchFamily="18" charset="0"/>
                            </a:rPr>
                          </m:ctrlPr>
                        </m:dPr>
                        <m:e>
                          <m:r>
                            <a:rPr lang="en-GB" i="1">
                              <a:latin typeface="Cambria Math" panose="02040503050406030204" pitchFamily="18" charset="0"/>
                            </a:rPr>
                            <m:t>−7,4</m:t>
                          </m:r>
                        </m:e>
                      </m:d>
                    </m:oMath>
                  </m:oMathPara>
                </a14:m>
                <a:endParaRPr lang="en-GB"/>
              </a:p>
            </p:txBody>
          </p:sp>
        </mc:Choice>
        <mc:Fallback>
          <p:sp>
            <p:nvSpPr>
              <p:cNvPr id="9" name="TextBox 8"/>
              <p:cNvSpPr txBox="1">
                <a:spLocks noRot="1" noChangeAspect="1" noMove="1" noResize="1" noEditPoints="1" noAdjustHandles="1" noChangeArrowheads="1" noChangeShapeType="1" noTextEdit="1"/>
              </p:cNvSpPr>
              <p:nvPr/>
            </p:nvSpPr>
            <p:spPr>
              <a:xfrm>
                <a:off x="2222188" y="2674501"/>
                <a:ext cx="936104" cy="369332"/>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0" name="TextBox 9"/>
              <p:cNvSpPr txBox="1"/>
              <p:nvPr/>
            </p:nvSpPr>
            <p:spPr>
              <a:xfrm>
                <a:off x="6312024" y="1004535"/>
                <a:ext cx="3600400" cy="1477328"/>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a:t>A line segment </a:t>
                </a:r>
                <a14:m>
                  <m:oMath xmlns:m="http://schemas.openxmlformats.org/officeDocument/2006/math">
                    <m:r>
                      <a:rPr lang="en-GB" i="1">
                        <a:latin typeface="Cambria Math" panose="02040503050406030204" pitchFamily="18" charset="0"/>
                      </a:rPr>
                      <m:t>𝐴𝐵</m:t>
                    </m:r>
                  </m:oMath>
                </a14:m>
                <a:r>
                  <a:rPr lang="en-GB"/>
                  <a:t> is the diameter of a circle, where </a:t>
                </a:r>
                <a14:m>
                  <m:oMath xmlns:m="http://schemas.openxmlformats.org/officeDocument/2006/math">
                    <m:r>
                      <a:rPr lang="en-GB" i="1">
                        <a:latin typeface="Cambria Math" panose="02040503050406030204" pitchFamily="18" charset="0"/>
                      </a:rPr>
                      <m:t>𝐴</m:t>
                    </m:r>
                  </m:oMath>
                </a14:m>
                <a:r>
                  <a:rPr lang="en-GB"/>
                  <a:t> and </a:t>
                </a:r>
                <a14:m>
                  <m:oMath xmlns:m="http://schemas.openxmlformats.org/officeDocument/2006/math">
                    <m:r>
                      <a:rPr lang="en-GB" i="1">
                        <a:latin typeface="Cambria Math" panose="02040503050406030204" pitchFamily="18" charset="0"/>
                      </a:rPr>
                      <m:t>𝐵</m:t>
                    </m:r>
                  </m:oMath>
                </a14:m>
                <a:r>
                  <a:rPr lang="en-GB"/>
                  <a:t> have coordinates </a:t>
                </a:r>
                <a14:m>
                  <m:oMath xmlns:m="http://schemas.openxmlformats.org/officeDocument/2006/math">
                    <m:d>
                      <m:dPr>
                        <m:ctrlPr>
                          <a:rPr lang="en-GB" i="1">
                            <a:latin typeface="Cambria Math" panose="02040503050406030204" pitchFamily="18" charset="0"/>
                          </a:rPr>
                        </m:ctrlPr>
                      </m:dPr>
                      <m:e>
                        <m:r>
                          <a:rPr lang="en-GB" i="1">
                            <a:latin typeface="Cambria Math" panose="02040503050406030204" pitchFamily="18" charset="0"/>
                          </a:rPr>
                          <m:t>5,8</m:t>
                        </m:r>
                      </m:e>
                    </m:d>
                  </m:oMath>
                </a14:m>
                <a:r>
                  <a:rPr lang="en-GB"/>
                  <a:t> and </a:t>
                </a:r>
                <a14:m>
                  <m:oMath xmlns:m="http://schemas.openxmlformats.org/officeDocument/2006/math">
                    <m:d>
                      <m:dPr>
                        <m:ctrlPr>
                          <a:rPr lang="en-GB" i="1">
                            <a:latin typeface="Cambria Math" panose="02040503050406030204" pitchFamily="18" charset="0"/>
                          </a:rPr>
                        </m:ctrlPr>
                      </m:dPr>
                      <m:e>
                        <m:r>
                          <a:rPr lang="en-GB" i="1">
                            <a:latin typeface="Cambria Math" panose="02040503050406030204" pitchFamily="18" charset="0"/>
                          </a:rPr>
                          <m:t>−7,4</m:t>
                        </m:r>
                      </m:e>
                    </m:d>
                  </m:oMath>
                </a14:m>
                <a:r>
                  <a:rPr lang="en-GB"/>
                  <a:t> respectively. Determine the equation of the circle.</a:t>
                </a:r>
              </a:p>
            </p:txBody>
          </p:sp>
        </mc:Choice>
        <mc:Fallback>
          <p:sp>
            <p:nvSpPr>
              <p:cNvPr id="10" name="TextBox 9"/>
              <p:cNvSpPr txBox="1">
                <a:spLocks noRot="1" noChangeAspect="1" noMove="1" noResize="1" noEditPoints="1" noAdjustHandles="1" noChangeArrowheads="1" noChangeShapeType="1" noTextEdit="1"/>
              </p:cNvSpPr>
              <p:nvPr/>
            </p:nvSpPr>
            <p:spPr>
              <a:xfrm>
                <a:off x="6312024" y="1004535"/>
                <a:ext cx="3600400" cy="1477328"/>
              </a:xfrm>
              <a:prstGeom prst="rect">
                <a:avLst/>
              </a:prstGeom>
              <a:blipFill>
                <a:blip r:embed="rId4"/>
                <a:stretch>
                  <a:fillRect b="-769"/>
                </a:stretch>
              </a:blipFill>
              <a:effectLst>
                <a:outerShdw blurRad="63500" sx="102000" sy="102000" algn="ctr" rotWithShape="0">
                  <a:prstClr val="black">
                    <a:alpha val="40000"/>
                  </a:prstClr>
                </a:outerShdw>
              </a:effectLst>
            </p:spPr>
            <p:txBody>
              <a:bodyPr/>
              <a:lstStyle/>
              <a:p>
                <a:r>
                  <a:rPr lang="en-US">
                    <a:noFill/>
                  </a:rPr>
                  <a:t> </a:t>
                </a:r>
              </a:p>
            </p:txBody>
          </p:sp>
        </mc:Fallback>
      </mc:AlternateContent>
      <p:sp>
        <p:nvSpPr>
          <p:cNvPr id="11" name="TextBox 10"/>
          <p:cNvSpPr txBox="1"/>
          <p:nvPr/>
        </p:nvSpPr>
        <p:spPr>
          <a:xfrm>
            <a:off x="6281167" y="2592467"/>
            <a:ext cx="2810594" cy="523220"/>
          </a:xfrm>
          <a:prstGeom prst="rect">
            <a:avLst/>
          </a:prstGeom>
          <a:noFill/>
        </p:spPr>
        <p:txBody>
          <a:bodyPr wrap="square" rtlCol="0">
            <a:spAutoFit/>
          </a:bodyPr>
          <a:lstStyle/>
          <a:p>
            <a:r>
              <a:rPr lang="en-GB" sz="1400"/>
              <a:t>Hint: What two things do we need to use the circle formula?</a:t>
            </a:r>
          </a:p>
        </p:txBody>
      </p:sp>
      <mc:AlternateContent xmlns:mc="http://schemas.openxmlformats.org/markup-compatibility/2006">
        <mc:Choice xmlns:a14="http://schemas.microsoft.com/office/drawing/2010/main" Requires="a14">
          <p:sp>
            <p:nvSpPr>
              <p:cNvPr id="12" name="TextBox 11"/>
              <p:cNvSpPr txBox="1"/>
              <p:nvPr/>
            </p:nvSpPr>
            <p:spPr>
              <a:xfrm>
                <a:off x="6312023" y="3337942"/>
                <a:ext cx="4146427" cy="2097434"/>
              </a:xfrm>
              <a:prstGeom prst="rect">
                <a:avLst/>
              </a:prstGeom>
              <a:noFill/>
            </p:spPr>
            <p:txBody>
              <a:bodyPr wrap="square" rtlCol="0">
                <a:spAutoFit/>
              </a:bodyPr>
              <a:lstStyle/>
              <a:p>
                <a:r>
                  <a:rPr lang="en-GB" b="1"/>
                  <a:t>Centre: </a:t>
                </a:r>
                <a14:m>
                  <m:oMath xmlns:m="http://schemas.openxmlformats.org/officeDocument/2006/math">
                    <m:r>
                      <a:rPr lang="en-GB" b="1" i="1">
                        <a:latin typeface="Cambria Math" panose="02040503050406030204" pitchFamily="18" charset="0"/>
                      </a:rPr>
                      <m:t>𝑪</m:t>
                    </m:r>
                    <m:d>
                      <m:dPr>
                        <m:ctrlPr>
                          <a:rPr lang="en-GB" b="1" i="1">
                            <a:latin typeface="Cambria Math" panose="02040503050406030204" pitchFamily="18" charset="0"/>
                          </a:rPr>
                        </m:ctrlPr>
                      </m:dPr>
                      <m:e>
                        <m:r>
                          <a:rPr lang="en-GB" b="1" i="1">
                            <a:latin typeface="Cambria Math" panose="02040503050406030204" pitchFamily="18" charset="0"/>
                          </a:rPr>
                          <m:t>−</m:t>
                        </m:r>
                        <m:r>
                          <a:rPr lang="en-GB" b="1" i="1">
                            <a:latin typeface="Cambria Math" panose="02040503050406030204" pitchFamily="18" charset="0"/>
                          </a:rPr>
                          <m:t>𝟏</m:t>
                        </m:r>
                        <m:r>
                          <a:rPr lang="en-GB" b="1" i="1">
                            <a:latin typeface="Cambria Math" panose="02040503050406030204" pitchFamily="18" charset="0"/>
                          </a:rPr>
                          <m:t>, </m:t>
                        </m:r>
                        <m:r>
                          <a:rPr lang="en-GB" b="1" i="1">
                            <a:latin typeface="Cambria Math" panose="02040503050406030204" pitchFamily="18" charset="0"/>
                          </a:rPr>
                          <m:t>𝟔</m:t>
                        </m:r>
                      </m:e>
                    </m:d>
                  </m:oMath>
                </a14:m>
                <a:endParaRPr lang="en-GB" b="1"/>
              </a:p>
              <a:p>
                <a:endParaRPr lang="en-GB" b="1"/>
              </a:p>
              <a:p>
                <a:r>
                  <a:rPr lang="en-GB" b="1"/>
                  <a:t>We can use the distance </a:t>
                </a:r>
                <a14:m>
                  <m:oMath xmlns:m="http://schemas.openxmlformats.org/officeDocument/2006/math">
                    <m:r>
                      <a:rPr lang="en-GB" b="1" i="1">
                        <a:latin typeface="Cambria Math" panose="02040503050406030204" pitchFamily="18" charset="0"/>
                      </a:rPr>
                      <m:t>𝑩𝑪</m:t>
                    </m:r>
                  </m:oMath>
                </a14:m>
                <a:r>
                  <a:rPr lang="en-GB" b="1">
                    <a:latin typeface="+mj-lt"/>
                  </a:rPr>
                  <a:t> or </a:t>
                </a:r>
                <a14:m>
                  <m:oMath xmlns:m="http://schemas.openxmlformats.org/officeDocument/2006/math">
                    <m:r>
                      <a:rPr lang="en-GB" b="1" i="1">
                        <a:latin typeface="Cambria Math" panose="02040503050406030204" pitchFamily="18" charset="0"/>
                      </a:rPr>
                      <m:t>𝑨𝑪</m:t>
                    </m:r>
                  </m:oMath>
                </a14:m>
                <a:r>
                  <a:rPr lang="en-GB" b="1"/>
                  <a:t> as the radius. Using </a:t>
                </a:r>
                <a14:m>
                  <m:oMath xmlns:m="http://schemas.openxmlformats.org/officeDocument/2006/math">
                    <m:r>
                      <a:rPr lang="en-GB" b="1" i="1">
                        <a:latin typeface="Cambria Math" panose="02040503050406030204" pitchFamily="18" charset="0"/>
                      </a:rPr>
                      <m:t>𝑩</m:t>
                    </m:r>
                    <m:d>
                      <m:dPr>
                        <m:ctrlPr>
                          <a:rPr lang="en-GB" b="1" i="1">
                            <a:latin typeface="Cambria Math" panose="02040503050406030204" pitchFamily="18" charset="0"/>
                          </a:rPr>
                        </m:ctrlPr>
                      </m:dPr>
                      <m:e>
                        <m:r>
                          <a:rPr lang="en-GB" b="1" i="1">
                            <a:latin typeface="Cambria Math" panose="02040503050406030204" pitchFamily="18" charset="0"/>
                          </a:rPr>
                          <m:t>−</m:t>
                        </m:r>
                        <m:r>
                          <a:rPr lang="en-GB" b="1" i="1">
                            <a:latin typeface="Cambria Math" panose="02040503050406030204" pitchFamily="18" charset="0"/>
                          </a:rPr>
                          <m:t>𝟕</m:t>
                        </m:r>
                        <m:r>
                          <a:rPr lang="en-GB" b="1" i="1">
                            <a:latin typeface="Cambria Math" panose="02040503050406030204" pitchFamily="18" charset="0"/>
                          </a:rPr>
                          <m:t>,</m:t>
                        </m:r>
                        <m:r>
                          <a:rPr lang="en-GB" b="1" i="1">
                            <a:latin typeface="Cambria Math" panose="02040503050406030204" pitchFamily="18" charset="0"/>
                          </a:rPr>
                          <m:t>𝟒</m:t>
                        </m:r>
                      </m:e>
                    </m:d>
                  </m:oMath>
                </a14:m>
                <a:r>
                  <a:rPr lang="en-GB" b="1"/>
                  <a:t> and </a:t>
                </a:r>
                <a14:m>
                  <m:oMath xmlns:m="http://schemas.openxmlformats.org/officeDocument/2006/math">
                    <m:r>
                      <a:rPr lang="en-GB" b="1" i="1">
                        <a:latin typeface="Cambria Math" panose="02040503050406030204" pitchFamily="18" charset="0"/>
                      </a:rPr>
                      <m:t>𝑴</m:t>
                    </m:r>
                    <m:d>
                      <m:dPr>
                        <m:ctrlPr>
                          <a:rPr lang="en-GB" b="1" i="1">
                            <a:latin typeface="Cambria Math" panose="02040503050406030204" pitchFamily="18" charset="0"/>
                          </a:rPr>
                        </m:ctrlPr>
                      </m:dPr>
                      <m:e>
                        <m:r>
                          <a:rPr lang="en-GB" b="1" i="1">
                            <a:latin typeface="Cambria Math" panose="02040503050406030204" pitchFamily="18" charset="0"/>
                          </a:rPr>
                          <m:t>−</m:t>
                        </m:r>
                        <m:r>
                          <a:rPr lang="en-GB" b="1" i="1">
                            <a:latin typeface="Cambria Math" panose="02040503050406030204" pitchFamily="18" charset="0"/>
                          </a:rPr>
                          <m:t>𝟏</m:t>
                        </m:r>
                        <m:r>
                          <a:rPr lang="en-GB" b="1" i="1">
                            <a:latin typeface="Cambria Math" panose="02040503050406030204" pitchFamily="18" charset="0"/>
                          </a:rPr>
                          <m:t>,</m:t>
                        </m:r>
                        <m:r>
                          <a:rPr lang="en-GB" b="1" i="1">
                            <a:latin typeface="Cambria Math" panose="02040503050406030204" pitchFamily="18" charset="0"/>
                          </a:rPr>
                          <m:t>𝟔</m:t>
                        </m:r>
                      </m:e>
                    </m:d>
                  </m:oMath>
                </a14:m>
                <a:endParaRPr lang="en-GB" b="1"/>
              </a:p>
              <a:p>
                <a:pPr/>
                <a14:m>
                  <m:oMathPara xmlns:m="http://schemas.openxmlformats.org/officeDocument/2006/math">
                    <m:oMath>
                      <m:r>
                        <a:rPr lang="en-GB" b="1" i="1">
                          <a:latin typeface="Cambria Math" panose="02040503050406030204" pitchFamily="18" charset="0"/>
                        </a:rPr>
                        <m:t>𝒓</m:t>
                      </m:r>
                      <m:r>
                        <a:rPr lang="en-GB" b="1" i="1">
                          <a:latin typeface="Cambria Math" panose="02040503050406030204" pitchFamily="18" charset="0"/>
                        </a:rPr>
                        <m:t>=</m:t>
                      </m:r>
                      <m:rad>
                        <m:radPr>
                          <m:degHide m:val="on"/>
                          <m:ctrlPr>
                            <a:rPr lang="en-GB" b="1" i="1">
                              <a:latin typeface="Cambria Math" panose="02040503050406030204" pitchFamily="18" charset="0"/>
                            </a:rPr>
                          </m:ctrlPr>
                        </m:radPr>
                        <m:deg/>
                        <m:e>
                          <m:sSup>
                            <m:sSupPr>
                              <m:ctrlPr>
                                <a:rPr lang="en-GB" b="1" i="1">
                                  <a:latin typeface="Cambria Math" panose="02040503050406030204" pitchFamily="18" charset="0"/>
                                </a:rPr>
                              </m:ctrlPr>
                            </m:sSupPr>
                            <m:e>
                              <m:r>
                                <a:rPr lang="en-GB" b="1" i="1">
                                  <a:latin typeface="Cambria Math" panose="02040503050406030204" pitchFamily="18" charset="0"/>
                                </a:rPr>
                                <m:t>𝟔</m:t>
                              </m:r>
                            </m:e>
                            <m:sup>
                              <m:r>
                                <a:rPr lang="en-GB" b="1" i="1">
                                  <a:latin typeface="Cambria Math" panose="02040503050406030204" pitchFamily="18" charset="0"/>
                                </a:rPr>
                                <m:t>𝟐</m:t>
                              </m:r>
                            </m:sup>
                          </m:sSup>
                          <m:r>
                            <a:rPr lang="en-GB" b="1" i="1">
                              <a:latin typeface="Cambria Math" panose="02040503050406030204" pitchFamily="18" charset="0"/>
                            </a:rPr>
                            <m:t>+</m:t>
                          </m:r>
                          <m:sSup>
                            <m:sSupPr>
                              <m:ctrlPr>
                                <a:rPr lang="en-GB" b="1" i="1">
                                  <a:latin typeface="Cambria Math" panose="02040503050406030204" pitchFamily="18" charset="0"/>
                                </a:rPr>
                              </m:ctrlPr>
                            </m:sSupPr>
                            <m:e>
                              <m:r>
                                <a:rPr lang="en-GB" b="1" i="1">
                                  <a:latin typeface="Cambria Math" panose="02040503050406030204" pitchFamily="18" charset="0"/>
                                </a:rPr>
                                <m:t>𝟐</m:t>
                              </m:r>
                            </m:e>
                            <m:sup>
                              <m:r>
                                <a:rPr lang="en-GB" b="1" i="1">
                                  <a:latin typeface="Cambria Math" panose="02040503050406030204" pitchFamily="18" charset="0"/>
                                </a:rPr>
                                <m:t>𝟐</m:t>
                              </m:r>
                            </m:sup>
                          </m:sSup>
                        </m:e>
                      </m:rad>
                      <m:r>
                        <a:rPr lang="en-GB" b="1" i="1">
                          <a:latin typeface="Cambria Math" panose="02040503050406030204" pitchFamily="18" charset="0"/>
                        </a:rPr>
                        <m:t>=</m:t>
                      </m:r>
                      <m:rad>
                        <m:radPr>
                          <m:degHide m:val="on"/>
                          <m:ctrlPr>
                            <a:rPr lang="en-GB" b="1" i="1">
                              <a:latin typeface="Cambria Math" panose="02040503050406030204" pitchFamily="18" charset="0"/>
                            </a:rPr>
                          </m:ctrlPr>
                        </m:radPr>
                        <m:deg/>
                        <m:e>
                          <m:r>
                            <a:rPr lang="en-GB" b="1" i="1">
                              <a:latin typeface="Cambria Math" panose="02040503050406030204" pitchFamily="18" charset="0"/>
                            </a:rPr>
                            <m:t>𝟒𝟎</m:t>
                          </m:r>
                        </m:e>
                      </m:rad>
                      <m:r>
                        <a:rPr lang="en-GB" b="1" i="1">
                          <a:latin typeface="Cambria Math" panose="02040503050406030204" pitchFamily="18" charset="0"/>
                        </a:rPr>
                        <m:t>=</m:t>
                      </m:r>
                      <m:r>
                        <a:rPr lang="en-GB" b="1" i="1">
                          <a:latin typeface="Cambria Math" panose="02040503050406030204" pitchFamily="18" charset="0"/>
                        </a:rPr>
                        <m:t>𝟐</m:t>
                      </m:r>
                      <m:rad>
                        <m:radPr>
                          <m:degHide m:val="on"/>
                          <m:ctrlPr>
                            <a:rPr lang="en-GB" b="1" i="1">
                              <a:latin typeface="Cambria Math" panose="02040503050406030204" pitchFamily="18" charset="0"/>
                            </a:rPr>
                          </m:ctrlPr>
                        </m:radPr>
                        <m:deg/>
                        <m:e>
                          <m:r>
                            <a:rPr lang="en-GB" b="1" i="1">
                              <a:latin typeface="Cambria Math" panose="02040503050406030204" pitchFamily="18" charset="0"/>
                            </a:rPr>
                            <m:t>𝟏𝟎</m:t>
                          </m:r>
                        </m:e>
                      </m:rad>
                    </m:oMath>
                  </m:oMathPara>
                </a14:m>
                <a:endParaRPr lang="en-GB" b="1"/>
              </a:p>
              <a:p>
                <a:endParaRPr lang="en-GB" b="1"/>
              </a:p>
              <a:p>
                <a:pPr/>
                <a14:m>
                  <m:oMathPara xmlns:m="http://schemas.openxmlformats.org/officeDocument/2006/math">
                    <m:oMath>
                      <m:r>
                        <a:rPr lang="en-GB" b="1" i="1">
                          <a:latin typeface="Cambria Math" panose="02040503050406030204" pitchFamily="18" charset="0"/>
                        </a:rPr>
                        <m:t>∴  </m:t>
                      </m:r>
                      <m:sSup>
                        <m:sSupPr>
                          <m:ctrlPr>
                            <a:rPr lang="en-GB" b="1" i="1">
                              <a:latin typeface="Cambria Math" panose="02040503050406030204" pitchFamily="18" charset="0"/>
                            </a:rPr>
                          </m:ctrlPr>
                        </m:sSupPr>
                        <m:e>
                          <m:d>
                            <m:dPr>
                              <m:ctrlPr>
                                <a:rPr lang="en-GB" b="1" i="1">
                                  <a:latin typeface="Cambria Math" panose="02040503050406030204" pitchFamily="18" charset="0"/>
                                </a:rPr>
                              </m:ctrlPr>
                            </m:dPr>
                            <m:e>
                              <m:r>
                                <a:rPr lang="en-GB" b="1" i="1">
                                  <a:latin typeface="Cambria Math" panose="02040503050406030204" pitchFamily="18" charset="0"/>
                                </a:rPr>
                                <m:t>𝒙</m:t>
                              </m:r>
                              <m:r>
                                <a:rPr lang="en-GB" b="1" i="1">
                                  <a:latin typeface="Cambria Math" panose="02040503050406030204" pitchFamily="18" charset="0"/>
                                </a:rPr>
                                <m:t>+</m:t>
                              </m:r>
                              <m:r>
                                <a:rPr lang="en-GB" b="1" i="1">
                                  <a:latin typeface="Cambria Math" panose="02040503050406030204" pitchFamily="18" charset="0"/>
                                </a:rPr>
                                <m:t>𝟏</m:t>
                              </m:r>
                            </m:e>
                          </m:d>
                        </m:e>
                        <m:sup>
                          <m:r>
                            <a:rPr lang="en-GB" b="1" i="1">
                              <a:latin typeface="Cambria Math" panose="02040503050406030204" pitchFamily="18" charset="0"/>
                            </a:rPr>
                            <m:t>𝟐</m:t>
                          </m:r>
                        </m:sup>
                      </m:sSup>
                      <m:r>
                        <a:rPr lang="en-GB" b="1" i="1">
                          <a:latin typeface="Cambria Math" panose="02040503050406030204" pitchFamily="18" charset="0"/>
                        </a:rPr>
                        <m:t>+</m:t>
                      </m:r>
                      <m:sSup>
                        <m:sSupPr>
                          <m:ctrlPr>
                            <a:rPr lang="en-GB" b="1" i="1">
                              <a:latin typeface="Cambria Math" panose="02040503050406030204" pitchFamily="18" charset="0"/>
                            </a:rPr>
                          </m:ctrlPr>
                        </m:sSupPr>
                        <m:e>
                          <m:d>
                            <m:dPr>
                              <m:ctrlPr>
                                <a:rPr lang="en-GB" b="1" i="1">
                                  <a:latin typeface="Cambria Math" panose="02040503050406030204" pitchFamily="18" charset="0"/>
                                </a:rPr>
                              </m:ctrlPr>
                            </m:dPr>
                            <m:e>
                              <m:r>
                                <a:rPr lang="en-GB" b="1" i="1">
                                  <a:latin typeface="Cambria Math" panose="02040503050406030204" pitchFamily="18" charset="0"/>
                                </a:rPr>
                                <m:t>𝒚</m:t>
                              </m:r>
                              <m:r>
                                <a:rPr lang="en-GB" b="1" i="1">
                                  <a:latin typeface="Cambria Math" panose="02040503050406030204" pitchFamily="18" charset="0"/>
                                </a:rPr>
                                <m:t>−</m:t>
                              </m:r>
                              <m:r>
                                <a:rPr lang="en-GB" b="1" i="1">
                                  <a:latin typeface="Cambria Math" panose="02040503050406030204" pitchFamily="18" charset="0"/>
                                </a:rPr>
                                <m:t>𝟔</m:t>
                              </m:r>
                            </m:e>
                          </m:d>
                        </m:e>
                        <m:sup>
                          <m:r>
                            <a:rPr lang="en-GB" b="1" i="1">
                              <a:latin typeface="Cambria Math" panose="02040503050406030204" pitchFamily="18" charset="0"/>
                            </a:rPr>
                            <m:t>𝟐</m:t>
                          </m:r>
                        </m:sup>
                      </m:sSup>
                      <m:r>
                        <a:rPr lang="en-GB" b="1" i="1">
                          <a:latin typeface="Cambria Math" panose="02040503050406030204" pitchFamily="18" charset="0"/>
                        </a:rPr>
                        <m:t>=</m:t>
                      </m:r>
                      <m:r>
                        <a:rPr lang="en-GB" b="1" i="1">
                          <a:latin typeface="Cambria Math" panose="02040503050406030204" pitchFamily="18" charset="0"/>
                        </a:rPr>
                        <m:t>𝟒𝟎</m:t>
                      </m:r>
                    </m:oMath>
                  </m:oMathPara>
                </a14:m>
                <a:endParaRPr lang="en-GB" b="1"/>
              </a:p>
            </p:txBody>
          </p:sp>
        </mc:Choice>
        <mc:Fallback>
          <p:sp>
            <p:nvSpPr>
              <p:cNvPr id="12" name="TextBox 11"/>
              <p:cNvSpPr txBox="1">
                <a:spLocks noRot="1" noChangeAspect="1" noMove="1" noResize="1" noEditPoints="1" noAdjustHandles="1" noChangeArrowheads="1" noChangeShapeType="1" noTextEdit="1"/>
              </p:cNvSpPr>
              <p:nvPr/>
            </p:nvSpPr>
            <p:spPr>
              <a:xfrm>
                <a:off x="6312023" y="3337942"/>
                <a:ext cx="4146427" cy="2097434"/>
              </a:xfrm>
              <a:prstGeom prst="rect">
                <a:avLst/>
              </a:prstGeom>
              <a:blipFill>
                <a:blip r:embed="rId5"/>
                <a:stretch>
                  <a:fillRect l="-1220" t="-1807" r="-305" b="-2410"/>
                </a:stretch>
              </a:blipFill>
            </p:spPr>
            <p:txBody>
              <a:bodyPr/>
              <a:lstStyle/>
              <a:p>
                <a:r>
                  <a:rPr lang="en-US">
                    <a:noFill/>
                  </a:rPr>
                  <a:t> </a:t>
                </a:r>
              </a:p>
            </p:txBody>
          </p:sp>
        </mc:Fallback>
      </mc:AlternateContent>
      <p:sp>
        <p:nvSpPr>
          <p:cNvPr id="13" name="Rectangle 12"/>
          <p:cNvSpPr/>
          <p:nvPr/>
        </p:nvSpPr>
        <p:spPr>
          <a:xfrm>
            <a:off x="6305057" y="3296397"/>
            <a:ext cx="4058143" cy="2199528"/>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Tree>
    <p:extLst>
      <p:ext uri="{BB962C8B-B14F-4D97-AF65-F5344CB8AC3E}">
        <p14:creationId xmlns:p14="http://schemas.microsoft.com/office/powerpoint/2010/main" val="3265699334"/>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3"/>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3"/>
                                        </p:tgtEl>
                                      </p:cBhvr>
                                    </p:animEffect>
                                    <p:set>
                                      <p:cBhvr>
                                        <p:cTn id="7" dur="1" fill="hold">
                                          <p:stCondLst>
                                            <p:cond delay="499"/>
                                          </p:stCondLst>
                                        </p:cTn>
                                        <p:tgtEl>
                                          <p:spTgt spid="13"/>
                                        </p:tgtEl>
                                        <p:attrNameLst>
                                          <p:attrName>style.visibility</p:attrName>
                                        </p:attrNameLst>
                                      </p:cBhvr>
                                      <p:to>
                                        <p:strVal val="hidden"/>
                                      </p:to>
                                    </p:set>
                                  </p:childTnLst>
                                </p:cTn>
                              </p:par>
                            </p:childTnLst>
                          </p:cTn>
                        </p:par>
                      </p:childTnLst>
                    </p:cTn>
                  </p:par>
                </p:childTnLst>
              </p:cTn>
              <p:nextCondLst>
                <p:cond evt="onClick" delay="0">
                  <p:tgtEl>
                    <p:spTgt spid="13"/>
                  </p:tgtEl>
                </p:cond>
              </p:nextCondLst>
            </p:seq>
          </p:childTnLst>
        </p:cTn>
      </p:par>
    </p:tnLst>
    <p:bldLst>
      <p:bldP spid="13" grpId="0" animBg="1"/>
    </p:bldLst>
  </p:timing>
</p:sld>
</file>

<file path=ppt/c6/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7"/>
          <p:cNvGrpSpPr/>
          <p:nvPr/>
        </p:nvGrpSpPr>
        <p:grpSpPr>
          <a:xfrm>
            <a:off x="1524000" y="1"/>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a:t>Test Your Understanding</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28714" y="1268760"/>
            <a:ext cx="7515207" cy="2088232"/>
          </a:xfrm>
          <a:prstGeom prst="rect">
            <a:avLst/>
          </a:prstGeom>
          <a:noFill/>
          <a:ln>
            <a:noFill/>
          </a:ln>
          <a:effectLst>
            <a:outerShdw blurRad="63500" sx="102000" sy="102000" algn="ctr"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TextBox 5"/>
          <p:cNvSpPr txBox="1"/>
          <p:nvPr/>
        </p:nvSpPr>
        <p:spPr>
          <a:xfrm>
            <a:off x="1928713" y="899428"/>
            <a:ext cx="2509937" cy="369332"/>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wrap="square" rtlCol="0">
            <a:spAutoFit/>
          </a:bodyPr>
          <a:lstStyle/>
          <a:p>
            <a:r>
              <a:rPr lang="en-GB"/>
              <a:t>Edexcel C2 Jan 2005 Q2</a:t>
            </a:r>
          </a:p>
        </p:txBody>
      </p:sp>
      <mc:AlternateContent xmlns:mc="http://schemas.openxmlformats.org/markup-compatibility/2006">
        <mc:Choice xmlns:a14="http://schemas.microsoft.com/office/drawing/2010/main" Requires="a14">
          <p:sp>
            <p:nvSpPr>
              <p:cNvPr id="7" name="TextBox 6"/>
              <p:cNvSpPr txBox="1"/>
              <p:nvPr/>
            </p:nvSpPr>
            <p:spPr>
              <a:xfrm>
                <a:off x="3827115" y="3779696"/>
                <a:ext cx="4040535" cy="1301510"/>
              </a:xfrm>
              <a:prstGeom prst="rect">
                <a:avLst/>
              </a:prstGeom>
              <a:noFill/>
            </p:spPr>
            <p:txBody>
              <a:bodyPr wrap="square" rtlCol="0">
                <a:spAutoFit/>
              </a:bodyPr>
              <a:lstStyle/>
              <a:p>
                <a:pPr marL="342900" indent="-342900">
                  <a:buAutoNum type="alphaLcParenR"/>
                </a:pPr>
                <a:r>
                  <a:rPr lang="en-GB" sz="2400" b="1"/>
                  <a:t> </a:t>
                </a:r>
                <a14:m>
                  <m:oMath xmlns:m="http://schemas.openxmlformats.org/officeDocument/2006/math">
                    <m:d>
                      <m:dPr>
                        <m:ctrlPr>
                          <a:rPr lang="en-GB" sz="2400" b="1" i="1">
                            <a:latin typeface="Cambria Math"/>
                          </a:rPr>
                        </m:ctrlPr>
                      </m:dPr>
                      <m:e>
                        <m:r>
                          <a:rPr lang="en-GB" sz="2400" b="1" i="1">
                            <a:latin typeface="Cambria Math"/>
                          </a:rPr>
                          <m:t>𝟗</m:t>
                        </m:r>
                        <m:r>
                          <a:rPr lang="en-GB" sz="2400" b="1" i="1">
                            <a:latin typeface="Cambria Math"/>
                          </a:rPr>
                          <m:t>, </m:t>
                        </m:r>
                        <m:r>
                          <a:rPr lang="en-GB" sz="2400" b="1" i="1">
                            <a:latin typeface="Cambria Math"/>
                          </a:rPr>
                          <m:t>𝟓</m:t>
                        </m:r>
                      </m:e>
                    </m:d>
                  </m:oMath>
                </a14:m>
                <a:endParaRPr lang="en-GB" sz="2400" b="1"/>
              </a:p>
              <a:p>
                <a:pPr marL="342900" indent="-342900">
                  <a:buAutoNum type="alphaLcParenR"/>
                </a:pPr>
                <a:r>
                  <a:rPr lang="en-GB" sz="2400" b="1"/>
                  <a:t> </a:t>
                </a:r>
                <a14:m>
                  <m:oMath xmlns:m="http://schemas.openxmlformats.org/officeDocument/2006/math">
                    <m:r>
                      <a:rPr lang="en-GB" sz="2400" b="1" i="1">
                        <a:latin typeface="Cambria Math"/>
                      </a:rPr>
                      <m:t>𝒓</m:t>
                    </m:r>
                    <m:r>
                      <a:rPr lang="en-GB" sz="2400" b="1" i="1">
                        <a:latin typeface="Cambria Math"/>
                      </a:rPr>
                      <m:t>=</m:t>
                    </m:r>
                    <m:rad>
                      <m:radPr>
                        <m:degHide m:val="on"/>
                        <m:ctrlPr>
                          <a:rPr lang="en-GB" sz="2400" b="1" i="1">
                            <a:latin typeface="Cambria Math" panose="02040503050406030204" pitchFamily="18" charset="0"/>
                          </a:rPr>
                        </m:ctrlPr>
                      </m:radPr>
                      <m:deg/>
                      <m:e>
                        <m:sSup>
                          <m:sSupPr>
                            <m:ctrlPr>
                              <a:rPr lang="en-GB" sz="2400" b="1" i="1">
                                <a:latin typeface="Cambria Math"/>
                              </a:rPr>
                            </m:ctrlPr>
                          </m:sSupPr>
                          <m:e>
                            <m:r>
                              <a:rPr lang="en-GB" sz="2400" b="1" i="1">
                                <a:latin typeface="Cambria Math"/>
                              </a:rPr>
                              <m:t>𝟒</m:t>
                            </m:r>
                          </m:e>
                          <m:sup>
                            <m:r>
                              <a:rPr lang="en-GB" sz="2400" b="1" i="1">
                                <a:latin typeface="Cambria Math"/>
                              </a:rPr>
                              <m:t>𝟐</m:t>
                            </m:r>
                          </m:sup>
                        </m:sSup>
                        <m:r>
                          <a:rPr lang="en-GB" sz="2400" b="1" i="1">
                            <a:latin typeface="Cambria Math"/>
                          </a:rPr>
                          <m:t>+</m:t>
                        </m:r>
                        <m:sSup>
                          <m:sSupPr>
                            <m:ctrlPr>
                              <a:rPr lang="en-GB" sz="2400" b="1" i="1">
                                <a:latin typeface="Cambria Math"/>
                              </a:rPr>
                            </m:ctrlPr>
                          </m:sSupPr>
                          <m:e>
                            <m:r>
                              <a:rPr lang="en-GB" sz="2400" b="1" i="1">
                                <a:latin typeface="Cambria Math"/>
                              </a:rPr>
                              <m:t>𝟔</m:t>
                            </m:r>
                          </m:e>
                          <m:sup>
                            <m:r>
                              <a:rPr lang="en-GB" sz="2400" b="1" i="1">
                                <a:latin typeface="Cambria Math"/>
                              </a:rPr>
                              <m:t>𝟐</m:t>
                            </m:r>
                          </m:sup>
                        </m:sSup>
                      </m:e>
                    </m:rad>
                    <m:r>
                      <a:rPr lang="en-GB" sz="2400" b="1" i="1">
                        <a:latin typeface="Cambria Math"/>
                      </a:rPr>
                      <m:t>=</m:t>
                    </m:r>
                    <m:rad>
                      <m:radPr>
                        <m:degHide m:val="on"/>
                        <m:ctrlPr>
                          <a:rPr lang="en-GB" sz="2400" b="1" i="1">
                            <a:latin typeface="Cambria Math" panose="02040503050406030204" pitchFamily="18" charset="0"/>
                          </a:rPr>
                        </m:ctrlPr>
                      </m:radPr>
                      <m:deg/>
                      <m:e>
                        <m:r>
                          <a:rPr lang="en-GB" sz="2400" b="1" i="1">
                            <a:latin typeface="Cambria Math"/>
                          </a:rPr>
                          <m:t>𝟓𝟐</m:t>
                        </m:r>
                      </m:e>
                    </m:rad>
                  </m:oMath>
                </a14:m>
                <a:br>
                  <a:rPr lang="en-GB" sz="2400" b="1"/>
                </a:br>
                <a14:m>
                  <m:oMath xmlns:m="http://schemas.openxmlformats.org/officeDocument/2006/math">
                    <m:sSup>
                      <m:sSupPr>
                        <m:ctrlPr>
                          <a:rPr lang="en-GB" sz="2400" b="1" i="1">
                            <a:latin typeface="Cambria Math" panose="02040503050406030204" pitchFamily="18" charset="0"/>
                          </a:rPr>
                        </m:ctrlPr>
                      </m:sSupPr>
                      <m:e>
                        <m:d>
                          <m:dPr>
                            <m:ctrlPr>
                              <a:rPr lang="en-GB" sz="2400" b="1" i="1">
                                <a:latin typeface="Cambria Math"/>
                              </a:rPr>
                            </m:ctrlPr>
                          </m:dPr>
                          <m:e>
                            <m:r>
                              <a:rPr lang="en-GB" sz="2400" b="1" i="1">
                                <a:latin typeface="Cambria Math"/>
                              </a:rPr>
                              <m:t>𝒙</m:t>
                            </m:r>
                            <m:r>
                              <a:rPr lang="en-GB" sz="2400" b="1" i="1">
                                <a:latin typeface="Cambria Math"/>
                              </a:rPr>
                              <m:t>−</m:t>
                            </m:r>
                            <m:r>
                              <a:rPr lang="en-GB" sz="2400" b="1" i="1">
                                <a:latin typeface="Cambria Math"/>
                              </a:rPr>
                              <m:t>𝟗</m:t>
                            </m:r>
                          </m:e>
                        </m:d>
                      </m:e>
                      <m:sup>
                        <m:r>
                          <a:rPr lang="en-GB" sz="2400" b="1" i="1">
                            <a:latin typeface="Cambria Math"/>
                          </a:rPr>
                          <m:t>𝟐</m:t>
                        </m:r>
                      </m:sup>
                    </m:sSup>
                    <m:r>
                      <a:rPr lang="en-GB" sz="2400" b="1" i="1">
                        <a:latin typeface="Cambria Math"/>
                      </a:rPr>
                      <m:t>+</m:t>
                    </m:r>
                    <m:sSup>
                      <m:sSupPr>
                        <m:ctrlPr>
                          <a:rPr lang="en-GB" sz="2400" b="1" i="1">
                            <a:latin typeface="Cambria Math" panose="02040503050406030204" pitchFamily="18" charset="0"/>
                          </a:rPr>
                        </m:ctrlPr>
                      </m:sSupPr>
                      <m:e>
                        <m:d>
                          <m:dPr>
                            <m:ctrlPr>
                              <a:rPr lang="en-GB" sz="2400" b="1" i="1">
                                <a:latin typeface="Cambria Math"/>
                              </a:rPr>
                            </m:ctrlPr>
                          </m:dPr>
                          <m:e>
                            <m:r>
                              <a:rPr lang="en-GB" sz="2400" b="1" i="1">
                                <a:latin typeface="Cambria Math"/>
                              </a:rPr>
                              <m:t>𝒚</m:t>
                            </m:r>
                            <m:r>
                              <a:rPr lang="en-GB" sz="2400" b="1" i="1">
                                <a:latin typeface="Cambria Math"/>
                              </a:rPr>
                              <m:t>−</m:t>
                            </m:r>
                            <m:r>
                              <a:rPr lang="en-GB" sz="2400" b="1" i="1">
                                <a:latin typeface="Cambria Math"/>
                              </a:rPr>
                              <m:t>𝟓</m:t>
                            </m:r>
                          </m:e>
                        </m:d>
                      </m:e>
                      <m:sup>
                        <m:r>
                          <a:rPr lang="en-GB" sz="2400" b="1" i="1">
                            <a:latin typeface="Cambria Math"/>
                          </a:rPr>
                          <m:t>𝟐</m:t>
                        </m:r>
                      </m:sup>
                    </m:sSup>
                    <m:r>
                      <a:rPr lang="en-GB" sz="2400" b="1" i="1">
                        <a:latin typeface="Cambria Math"/>
                      </a:rPr>
                      <m:t>=</m:t>
                    </m:r>
                    <m:r>
                      <a:rPr lang="en-GB" sz="2400" b="1" i="1">
                        <a:latin typeface="Cambria Math"/>
                      </a:rPr>
                      <m:t>𝟓𝟐</m:t>
                    </m:r>
                  </m:oMath>
                </a14:m>
                <a:endParaRPr lang="en-GB" sz="2800" b="1"/>
              </a:p>
            </p:txBody>
          </p:sp>
        </mc:Choice>
        <mc:Fallback>
          <p:sp>
            <p:nvSpPr>
              <p:cNvPr id="7" name="TextBox 6"/>
              <p:cNvSpPr txBox="1">
                <a:spLocks noRot="1" noChangeAspect="1" noMove="1" noResize="1" noEditPoints="1" noAdjustHandles="1" noChangeArrowheads="1" noChangeShapeType="1" noTextEdit="1"/>
              </p:cNvSpPr>
              <p:nvPr/>
            </p:nvSpPr>
            <p:spPr>
              <a:xfrm>
                <a:off x="3827115" y="3779696"/>
                <a:ext cx="4040535" cy="1301510"/>
              </a:xfrm>
              <a:prstGeom prst="rect">
                <a:avLst/>
              </a:prstGeom>
              <a:blipFill>
                <a:blip r:embed="rId3"/>
                <a:stretch>
                  <a:fillRect l="-2508" t="-3846" b="-1923"/>
                </a:stretch>
              </a:blipFill>
            </p:spPr>
            <p:txBody>
              <a:bodyPr/>
              <a:lstStyle/>
              <a:p>
                <a:r>
                  <a:rPr lang="en-US">
                    <a:noFill/>
                  </a:rPr>
                  <a:t> </a:t>
                </a:r>
              </a:p>
            </p:txBody>
          </p:sp>
        </mc:Fallback>
      </mc:AlternateContent>
      <p:sp>
        <p:nvSpPr>
          <p:cNvPr id="8" name="Rectangle 7"/>
          <p:cNvSpPr/>
          <p:nvPr/>
        </p:nvSpPr>
        <p:spPr>
          <a:xfrm>
            <a:off x="4223657" y="3686176"/>
            <a:ext cx="1310368" cy="515712"/>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
        <p:nvSpPr>
          <p:cNvPr id="9" name="Rectangle 8"/>
          <p:cNvSpPr/>
          <p:nvPr/>
        </p:nvSpPr>
        <p:spPr>
          <a:xfrm>
            <a:off x="4223657" y="4201888"/>
            <a:ext cx="3539218" cy="903512"/>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
        <p:nvSpPr>
          <p:cNvPr id="10" name="Rectangle 9"/>
          <p:cNvSpPr/>
          <p:nvPr/>
        </p:nvSpPr>
        <p:spPr>
          <a:xfrm>
            <a:off x="2279577" y="3048000"/>
            <a:ext cx="396949" cy="16497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541998306"/>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8"/>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8"/>
                                        </p:tgtEl>
                                      </p:cBhvr>
                                    </p:animEffect>
                                    <p:set>
                                      <p:cBhvr>
                                        <p:cTn id="7" dur="1" fill="hold">
                                          <p:stCondLst>
                                            <p:cond delay="499"/>
                                          </p:stCondLst>
                                        </p:cTn>
                                        <p:tgtEl>
                                          <p:spTgt spid="8"/>
                                        </p:tgtEl>
                                        <p:attrNameLst>
                                          <p:attrName>style.visibility</p:attrName>
                                        </p:attrNameLst>
                                      </p:cBhvr>
                                      <p:to>
                                        <p:strVal val="hidden"/>
                                      </p:to>
                                    </p:set>
                                  </p:childTnLst>
                                </p:cTn>
                              </p:par>
                            </p:childTnLst>
                          </p:cTn>
                        </p:par>
                      </p:childTnLst>
                    </p:cTn>
                  </p:par>
                </p:childTnLst>
              </p:cTn>
              <p:nextCondLst>
                <p:cond evt="onClick" delay="0">
                  <p:tgtEl>
                    <p:spTgt spid="8"/>
                  </p:tgtEl>
                </p:cond>
              </p:nextCondLst>
            </p:seq>
            <p:seq concurrent="1" nextAc="seek">
              <p:cTn id="8" restart="whenNotActive" fill="hold" evtFilter="cancelBubble" nodeType="interactiveSeq">
                <p:stCondLst>
                  <p:cond evt="onClick" delay="0">
                    <p:tgtEl>
                      <p:spTgt spid="9"/>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9"/>
                                        </p:tgtEl>
                                      </p:cBhvr>
                                    </p:animEffect>
                                    <p:set>
                                      <p:cBhvr>
                                        <p:cTn id="13" dur="1" fill="hold">
                                          <p:stCondLst>
                                            <p:cond delay="499"/>
                                          </p:stCondLst>
                                        </p:cTn>
                                        <p:tgtEl>
                                          <p:spTgt spid="9"/>
                                        </p:tgtEl>
                                        <p:attrNameLst>
                                          <p:attrName>style.visibility</p:attrName>
                                        </p:attrNameLst>
                                      </p:cBhvr>
                                      <p:to>
                                        <p:strVal val="hidden"/>
                                      </p:to>
                                    </p:set>
                                  </p:childTnLst>
                                </p:cTn>
                              </p:par>
                            </p:childTnLst>
                          </p:cTn>
                        </p:par>
                      </p:childTnLst>
                    </p:cTn>
                  </p:par>
                </p:childTnLst>
              </p:cTn>
              <p:nextCondLst>
                <p:cond evt="onClick" delay="0">
                  <p:tgtEl>
                    <p:spTgt spid="9"/>
                  </p:tgtEl>
                </p:cond>
              </p:nextCondLst>
            </p:seq>
          </p:childTnLst>
        </p:cTn>
      </p:par>
    </p:tnLst>
    <p:bldLst>
      <p:bldP spid="8" grpId="0" animBg="1"/>
      <p:bldP spid="9" grpId="0" animBg="1"/>
    </p:bldLst>
  </p:timing>
</p:sld>
</file>

<file path=ppt/c6/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7"/>
          <p:cNvGrpSpPr/>
          <p:nvPr/>
        </p:nvGrpSpPr>
        <p:grpSpPr>
          <a:xfrm>
            <a:off x="1524000" y="1"/>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a:t>Completing the square</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mc:AlternateContent xmlns:mc="http://schemas.openxmlformats.org/markup-compatibility/2006">
        <mc:Choice xmlns:a14="http://schemas.microsoft.com/office/drawing/2010/main" Requires="a14">
          <p:sp>
            <p:nvSpPr>
              <p:cNvPr id="5" name="TextBox 4"/>
              <p:cNvSpPr txBox="1"/>
              <p:nvPr/>
            </p:nvSpPr>
            <p:spPr>
              <a:xfrm>
                <a:off x="1847528" y="908720"/>
                <a:ext cx="8352928" cy="923330"/>
              </a:xfrm>
              <a:prstGeom prst="rect">
                <a:avLst/>
              </a:prstGeom>
              <a:noFill/>
            </p:spPr>
            <p:txBody>
              <a:bodyPr wrap="square" rtlCol="0">
                <a:spAutoFit/>
              </a:bodyPr>
              <a:lstStyle/>
              <a:p>
                <a:r>
                  <a:rPr lang="en-GB"/>
                  <a:t>When the equation of a circle is in the form </a:t>
                </a:r>
                <a14:m>
                  <m:oMath xmlns:m="http://schemas.openxmlformats.org/officeDocument/2006/math">
                    <m:sSup>
                      <m:sSupPr>
                        <m:ctrlPr>
                          <a:rPr lang="en-GB" i="1">
                            <a:latin typeface="Cambria Math" panose="02040503050406030204" pitchFamily="18" charset="0"/>
                          </a:rPr>
                        </m:ctrlPr>
                      </m:sSupPr>
                      <m:e>
                        <m:d>
                          <m:dPr>
                            <m:ctrlPr>
                              <a:rPr lang="en-GB" i="1">
                                <a:latin typeface="Cambria Math" panose="02040503050406030204" pitchFamily="18" charset="0"/>
                              </a:rPr>
                            </m:ctrlPr>
                          </m:dPr>
                          <m:e>
                            <m:r>
                              <a:rPr lang="en-GB" i="1">
                                <a:latin typeface="Cambria Math" panose="02040503050406030204" pitchFamily="18" charset="0"/>
                              </a:rPr>
                              <m:t>𝑥</m:t>
                            </m:r>
                            <m:r>
                              <a:rPr lang="en-GB" i="1">
                                <a:latin typeface="Cambria Math" panose="02040503050406030204" pitchFamily="18" charset="0"/>
                              </a:rPr>
                              <m:t>−</m:t>
                            </m:r>
                            <m:r>
                              <a:rPr lang="en-GB" i="1">
                                <a:latin typeface="Cambria Math" panose="02040503050406030204" pitchFamily="18" charset="0"/>
                              </a:rPr>
                              <m:t>𝑎</m:t>
                            </m:r>
                          </m:e>
                        </m:d>
                      </m:e>
                      <m:sup>
                        <m:r>
                          <a:rPr lang="en-GB" i="1">
                            <a:latin typeface="Cambria Math" panose="02040503050406030204" pitchFamily="18" charset="0"/>
                          </a:rPr>
                          <m:t>2</m:t>
                        </m:r>
                      </m:sup>
                    </m:sSup>
                    <m:r>
                      <a:rPr lang="en-GB" i="1">
                        <a:latin typeface="Cambria Math" panose="02040503050406030204" pitchFamily="18" charset="0"/>
                      </a:rPr>
                      <m:t>+</m:t>
                    </m:r>
                    <m:sSup>
                      <m:sSupPr>
                        <m:ctrlPr>
                          <a:rPr lang="en-GB" i="1">
                            <a:latin typeface="Cambria Math" panose="02040503050406030204" pitchFamily="18" charset="0"/>
                          </a:rPr>
                        </m:ctrlPr>
                      </m:sSupPr>
                      <m:e>
                        <m:d>
                          <m:dPr>
                            <m:ctrlPr>
                              <a:rPr lang="en-GB" i="1">
                                <a:latin typeface="Cambria Math" panose="02040503050406030204" pitchFamily="18" charset="0"/>
                              </a:rPr>
                            </m:ctrlPr>
                          </m:dPr>
                          <m:e>
                            <m:r>
                              <a:rPr lang="en-GB" i="1">
                                <a:latin typeface="Cambria Math" panose="02040503050406030204" pitchFamily="18" charset="0"/>
                              </a:rPr>
                              <m:t>𝑦</m:t>
                            </m:r>
                            <m:r>
                              <a:rPr lang="en-GB" i="1">
                                <a:latin typeface="Cambria Math" panose="02040503050406030204" pitchFamily="18" charset="0"/>
                              </a:rPr>
                              <m:t>−</m:t>
                            </m:r>
                            <m:r>
                              <a:rPr lang="en-GB" i="1">
                                <a:latin typeface="Cambria Math" panose="02040503050406030204" pitchFamily="18" charset="0"/>
                              </a:rPr>
                              <m:t>𝑏</m:t>
                            </m:r>
                          </m:e>
                        </m:d>
                      </m:e>
                      <m:sup>
                        <m:r>
                          <a:rPr lang="en-GB" i="1">
                            <a:latin typeface="Cambria Math" panose="02040503050406030204" pitchFamily="18" charset="0"/>
                          </a:rPr>
                          <m:t>2</m:t>
                        </m:r>
                      </m:sup>
                    </m:sSup>
                    <m:r>
                      <a:rPr lang="en-GB" i="1">
                        <a:latin typeface="Cambria Math" panose="02040503050406030204" pitchFamily="18" charset="0"/>
                      </a:rPr>
                      <m:t>=</m:t>
                    </m:r>
                    <m:sSup>
                      <m:sSupPr>
                        <m:ctrlPr>
                          <a:rPr lang="en-GB" i="1">
                            <a:latin typeface="Cambria Math" panose="02040503050406030204" pitchFamily="18" charset="0"/>
                          </a:rPr>
                        </m:ctrlPr>
                      </m:sSupPr>
                      <m:e>
                        <m:r>
                          <a:rPr lang="en-GB" i="1">
                            <a:latin typeface="Cambria Math" panose="02040503050406030204" pitchFamily="18" charset="0"/>
                          </a:rPr>
                          <m:t>𝑟</m:t>
                        </m:r>
                      </m:e>
                      <m:sup>
                        <m:r>
                          <a:rPr lang="en-GB" i="1">
                            <a:latin typeface="Cambria Math" panose="02040503050406030204" pitchFamily="18" charset="0"/>
                          </a:rPr>
                          <m:t>2</m:t>
                        </m:r>
                      </m:sup>
                    </m:sSup>
                  </m:oMath>
                </a14:m>
                <a:r>
                  <a:rPr lang="en-GB"/>
                  <a:t>, we can instantly read off the centre </a:t>
                </a:r>
                <a14:m>
                  <m:oMath xmlns:m="http://schemas.openxmlformats.org/officeDocument/2006/math">
                    <m:d>
                      <m:dPr>
                        <m:ctrlPr>
                          <a:rPr lang="en-GB" i="1">
                            <a:latin typeface="Cambria Math" panose="02040503050406030204" pitchFamily="18" charset="0"/>
                          </a:rPr>
                        </m:ctrlPr>
                      </m:dPr>
                      <m:e>
                        <m:r>
                          <a:rPr lang="en-GB" i="1">
                            <a:latin typeface="Cambria Math" panose="02040503050406030204" pitchFamily="18" charset="0"/>
                          </a:rPr>
                          <m:t>𝑎</m:t>
                        </m:r>
                        <m:r>
                          <a:rPr lang="en-GB" i="1">
                            <a:latin typeface="Cambria Math" panose="02040503050406030204" pitchFamily="18" charset="0"/>
                          </a:rPr>
                          <m:t>,</m:t>
                        </m:r>
                        <m:r>
                          <a:rPr lang="en-GB" i="1">
                            <a:latin typeface="Cambria Math" panose="02040503050406030204" pitchFamily="18" charset="0"/>
                          </a:rPr>
                          <m:t>𝑏</m:t>
                        </m:r>
                      </m:e>
                    </m:d>
                  </m:oMath>
                </a14:m>
                <a:r>
                  <a:rPr lang="en-GB"/>
                  <a:t> and the radius </a:t>
                </a:r>
                <a14:m>
                  <m:oMath xmlns:m="http://schemas.openxmlformats.org/officeDocument/2006/math">
                    <m:r>
                      <a:rPr lang="en-GB" i="1">
                        <a:latin typeface="Cambria Math" panose="02040503050406030204" pitchFamily="18" charset="0"/>
                      </a:rPr>
                      <m:t>𝑟</m:t>
                    </m:r>
                  </m:oMath>
                </a14:m>
                <a:r>
                  <a:rPr lang="en-GB"/>
                  <a:t>.</a:t>
                </a:r>
              </a:p>
              <a:p>
                <a:r>
                  <a:rPr lang="en-GB"/>
                  <a:t>But what if the equation wasn’t in this form?</a:t>
                </a:r>
              </a:p>
            </p:txBody>
          </p:sp>
        </mc:Choice>
        <mc:Fallback>
          <p:sp>
            <p:nvSpPr>
              <p:cNvPr id="5" name="TextBox 4"/>
              <p:cNvSpPr txBox="1">
                <a:spLocks noRot="1" noChangeAspect="1" noMove="1" noResize="1" noEditPoints="1" noAdjustHandles="1" noChangeArrowheads="1" noChangeShapeType="1" noTextEdit="1"/>
              </p:cNvSpPr>
              <p:nvPr/>
            </p:nvSpPr>
            <p:spPr>
              <a:xfrm>
                <a:off x="1847528" y="908720"/>
                <a:ext cx="8352928" cy="923330"/>
              </a:xfrm>
              <a:prstGeom prst="rect">
                <a:avLst/>
              </a:prstGeom>
              <a:blipFill>
                <a:blip r:embed="rId2"/>
                <a:stretch>
                  <a:fillRect l="-607" t="-2703" r="-1062" b="-9459"/>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6" name="TextBox 5"/>
              <p:cNvSpPr txBox="1"/>
              <p:nvPr/>
            </p:nvSpPr>
            <p:spPr>
              <a:xfrm>
                <a:off x="1919536" y="2060848"/>
                <a:ext cx="8176964" cy="369332"/>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a:t>Find the centre and radius of the circle with equation </a:t>
                </a:r>
                <a14:m>
                  <m:oMath xmlns:m="http://schemas.openxmlformats.org/officeDocument/2006/math">
                    <m:sSup>
                      <m:sSupPr>
                        <m:ctrlPr>
                          <a:rPr lang="en-GB" i="1">
                            <a:latin typeface="Cambria Math" panose="02040503050406030204" pitchFamily="18" charset="0"/>
                          </a:rPr>
                        </m:ctrlPr>
                      </m:sSupPr>
                      <m:e>
                        <m:r>
                          <a:rPr lang="en-GB" i="1">
                            <a:latin typeface="Cambria Math" panose="02040503050406030204" pitchFamily="18" charset="0"/>
                          </a:rPr>
                          <m:t>𝑥</m:t>
                        </m:r>
                      </m:e>
                      <m:sup>
                        <m:r>
                          <a:rPr lang="en-GB" i="1">
                            <a:latin typeface="Cambria Math" panose="02040503050406030204" pitchFamily="18" charset="0"/>
                          </a:rPr>
                          <m:t>2</m:t>
                        </m:r>
                      </m:sup>
                    </m:sSup>
                    <m:r>
                      <a:rPr lang="en-GB" i="1">
                        <a:latin typeface="Cambria Math" panose="02040503050406030204" pitchFamily="18" charset="0"/>
                      </a:rPr>
                      <m:t>+</m:t>
                    </m:r>
                    <m:sSup>
                      <m:sSupPr>
                        <m:ctrlPr>
                          <a:rPr lang="en-GB" i="1">
                            <a:latin typeface="Cambria Math" panose="02040503050406030204" pitchFamily="18" charset="0"/>
                          </a:rPr>
                        </m:ctrlPr>
                      </m:sSupPr>
                      <m:e>
                        <m:r>
                          <a:rPr lang="en-GB" i="1">
                            <a:latin typeface="Cambria Math" panose="02040503050406030204" pitchFamily="18" charset="0"/>
                          </a:rPr>
                          <m:t>𝑦</m:t>
                        </m:r>
                      </m:e>
                      <m:sup>
                        <m:r>
                          <a:rPr lang="en-GB" i="1">
                            <a:latin typeface="Cambria Math" panose="02040503050406030204" pitchFamily="18" charset="0"/>
                          </a:rPr>
                          <m:t>2</m:t>
                        </m:r>
                      </m:sup>
                    </m:sSup>
                    <m:r>
                      <a:rPr lang="en-GB" i="1">
                        <a:latin typeface="Cambria Math" panose="02040503050406030204" pitchFamily="18" charset="0"/>
                      </a:rPr>
                      <m:t>−6</m:t>
                    </m:r>
                    <m:r>
                      <a:rPr lang="en-GB" i="1">
                        <a:latin typeface="Cambria Math" panose="02040503050406030204" pitchFamily="18" charset="0"/>
                      </a:rPr>
                      <m:t>𝑥</m:t>
                    </m:r>
                    <m:r>
                      <a:rPr lang="en-GB" i="1">
                        <a:latin typeface="Cambria Math" panose="02040503050406030204" pitchFamily="18" charset="0"/>
                      </a:rPr>
                      <m:t>+2</m:t>
                    </m:r>
                    <m:r>
                      <a:rPr lang="en-GB" i="1">
                        <a:latin typeface="Cambria Math" panose="02040503050406030204" pitchFamily="18" charset="0"/>
                      </a:rPr>
                      <m:t>𝑦</m:t>
                    </m:r>
                    <m:r>
                      <a:rPr lang="en-GB" i="1">
                        <a:latin typeface="Cambria Math" panose="02040503050406030204" pitchFamily="18" charset="0"/>
                      </a:rPr>
                      <m:t>−6=0</m:t>
                    </m:r>
                  </m:oMath>
                </a14:m>
                <a:endParaRPr lang="en-GB"/>
              </a:p>
            </p:txBody>
          </p:sp>
        </mc:Choice>
        <mc:Fallback>
          <p:sp>
            <p:nvSpPr>
              <p:cNvPr id="6" name="TextBox 5"/>
              <p:cNvSpPr txBox="1">
                <a:spLocks noRot="1" noChangeAspect="1" noMove="1" noResize="1" noEditPoints="1" noAdjustHandles="1" noChangeArrowheads="1" noChangeShapeType="1" noTextEdit="1"/>
              </p:cNvSpPr>
              <p:nvPr/>
            </p:nvSpPr>
            <p:spPr>
              <a:xfrm>
                <a:off x="1919536" y="2060848"/>
                <a:ext cx="8176964" cy="369332"/>
              </a:xfrm>
              <a:prstGeom prst="rect">
                <a:avLst/>
              </a:prstGeom>
              <a:blipFill>
                <a:blip r:embed="rId3"/>
                <a:stretch>
                  <a:fillRect b="-4762"/>
                </a:stretch>
              </a:blipFill>
              <a:effectLst>
                <a:outerShdw blurRad="63500" sx="102000" sy="102000" algn="ctr" rotWithShape="0">
                  <a:prstClr val="black">
                    <a:alpha val="40000"/>
                  </a:prstClr>
                </a:outerShdw>
              </a:effectLst>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 name="TextBox 6"/>
              <p:cNvSpPr txBox="1"/>
              <p:nvPr/>
            </p:nvSpPr>
            <p:spPr>
              <a:xfrm>
                <a:off x="2244899" y="3291087"/>
                <a:ext cx="4677866" cy="1015663"/>
              </a:xfrm>
              <a:prstGeom prst="rect">
                <a:avLst/>
              </a:prstGeom>
              <a:noFill/>
            </p:spPr>
            <p:txBody>
              <a:bodyPr wrap="square" rtlCol="0">
                <a:spAutoFit/>
              </a:bodyPr>
              <a:lstStyle/>
              <a:p>
                <a:pPr/>
                <a14:m>
                  <m:oMathPara xmlns:m="http://schemas.openxmlformats.org/officeDocument/2006/math">
                    <m:oMathParaPr>
                      <m:jc m:val="left"/>
                    </m:oMathParaPr>
                    <m:oMath>
                      <m:sSup>
                        <m:sSupPr>
                          <m:ctrlPr>
                            <a:rPr lang="en-GB" sz="2000" i="1">
                              <a:latin typeface="Cambria Math" panose="02040503050406030204" pitchFamily="18" charset="0"/>
                            </a:rPr>
                          </m:ctrlPr>
                        </m:sSupPr>
                        <m:e>
                          <m:r>
                            <a:rPr lang="en-GB" sz="2000" i="1">
                              <a:latin typeface="Cambria Math" panose="02040503050406030204" pitchFamily="18" charset="0"/>
                            </a:rPr>
                            <m:t>𝑥</m:t>
                          </m:r>
                        </m:e>
                        <m:sup>
                          <m:r>
                            <a:rPr lang="en-GB" sz="2000" i="1">
                              <a:latin typeface="Cambria Math" panose="02040503050406030204" pitchFamily="18" charset="0"/>
                            </a:rPr>
                            <m:t>2</m:t>
                          </m:r>
                        </m:sup>
                      </m:sSup>
                      <m:r>
                        <a:rPr lang="en-GB" sz="2000" i="1">
                          <a:latin typeface="Cambria Math" panose="02040503050406030204" pitchFamily="18" charset="0"/>
                        </a:rPr>
                        <m:t>−6</m:t>
                      </m:r>
                      <m:r>
                        <a:rPr lang="en-GB" sz="2000" i="1">
                          <a:latin typeface="Cambria Math" panose="02040503050406030204" pitchFamily="18" charset="0"/>
                        </a:rPr>
                        <m:t>𝑥</m:t>
                      </m:r>
                      <m:r>
                        <a:rPr lang="en-GB" sz="2000" i="1">
                          <a:latin typeface="Cambria Math" panose="02040503050406030204" pitchFamily="18" charset="0"/>
                        </a:rPr>
                        <m:t>+</m:t>
                      </m:r>
                      <m:sSup>
                        <m:sSupPr>
                          <m:ctrlPr>
                            <a:rPr lang="en-GB" sz="2000" i="1">
                              <a:latin typeface="Cambria Math" panose="02040503050406030204" pitchFamily="18" charset="0"/>
                            </a:rPr>
                          </m:ctrlPr>
                        </m:sSupPr>
                        <m:e>
                          <m:r>
                            <a:rPr lang="en-GB" sz="2000" i="1">
                              <a:latin typeface="Cambria Math" panose="02040503050406030204" pitchFamily="18" charset="0"/>
                            </a:rPr>
                            <m:t>𝑦</m:t>
                          </m:r>
                        </m:e>
                        <m:sup>
                          <m:r>
                            <a:rPr lang="en-GB" sz="2000" i="1">
                              <a:latin typeface="Cambria Math" panose="02040503050406030204" pitchFamily="18" charset="0"/>
                            </a:rPr>
                            <m:t>2</m:t>
                          </m:r>
                        </m:sup>
                      </m:sSup>
                      <m:r>
                        <a:rPr lang="en-GB" sz="2000" i="1">
                          <a:latin typeface="Cambria Math" panose="02040503050406030204" pitchFamily="18" charset="0"/>
                        </a:rPr>
                        <m:t>+2</m:t>
                      </m:r>
                      <m:r>
                        <a:rPr lang="en-GB" sz="2000" i="1">
                          <a:latin typeface="Cambria Math" panose="02040503050406030204" pitchFamily="18" charset="0"/>
                        </a:rPr>
                        <m:t>𝑦</m:t>
                      </m:r>
                      <m:r>
                        <a:rPr lang="en-GB" sz="2000" i="1">
                          <a:latin typeface="Cambria Math" panose="02040503050406030204" pitchFamily="18" charset="0"/>
                        </a:rPr>
                        <m:t>−6=0</m:t>
                      </m:r>
                    </m:oMath>
                    <m:oMath>
                      <m:sSup>
                        <m:sSupPr>
                          <m:ctrlPr>
                            <a:rPr lang="en-GB" sz="2000" i="1">
                              <a:latin typeface="Cambria Math" panose="02040503050406030204" pitchFamily="18" charset="0"/>
                            </a:rPr>
                          </m:ctrlPr>
                        </m:sSupPr>
                        <m:e>
                          <m:d>
                            <m:dPr>
                              <m:ctrlPr>
                                <a:rPr lang="en-GB" sz="2000" i="1">
                                  <a:latin typeface="Cambria Math" panose="02040503050406030204" pitchFamily="18" charset="0"/>
                                </a:rPr>
                              </m:ctrlPr>
                            </m:dPr>
                            <m:e>
                              <m:r>
                                <a:rPr lang="en-GB" sz="2000" i="1">
                                  <a:latin typeface="Cambria Math" panose="02040503050406030204" pitchFamily="18" charset="0"/>
                                </a:rPr>
                                <m:t>𝑥</m:t>
                              </m:r>
                              <m:r>
                                <a:rPr lang="en-GB" sz="2000" i="1">
                                  <a:latin typeface="Cambria Math" panose="02040503050406030204" pitchFamily="18" charset="0"/>
                                </a:rPr>
                                <m:t>−3</m:t>
                              </m:r>
                            </m:e>
                          </m:d>
                        </m:e>
                        <m:sup>
                          <m:r>
                            <a:rPr lang="en-GB" sz="2000" i="1">
                              <a:latin typeface="Cambria Math" panose="02040503050406030204" pitchFamily="18" charset="0"/>
                            </a:rPr>
                            <m:t>2</m:t>
                          </m:r>
                        </m:sup>
                      </m:sSup>
                      <m:r>
                        <a:rPr lang="en-GB" sz="2000" i="1">
                          <a:latin typeface="Cambria Math" panose="02040503050406030204" pitchFamily="18" charset="0"/>
                        </a:rPr>
                        <m:t>−9+</m:t>
                      </m:r>
                      <m:sSup>
                        <m:sSupPr>
                          <m:ctrlPr>
                            <a:rPr lang="en-GB" sz="2000" i="1">
                              <a:latin typeface="Cambria Math" panose="02040503050406030204" pitchFamily="18" charset="0"/>
                            </a:rPr>
                          </m:ctrlPr>
                        </m:sSupPr>
                        <m:e>
                          <m:d>
                            <m:dPr>
                              <m:ctrlPr>
                                <a:rPr lang="en-GB" sz="2000" i="1">
                                  <a:latin typeface="Cambria Math" panose="02040503050406030204" pitchFamily="18" charset="0"/>
                                </a:rPr>
                              </m:ctrlPr>
                            </m:dPr>
                            <m:e>
                              <m:r>
                                <a:rPr lang="en-GB" sz="2000" i="1">
                                  <a:latin typeface="Cambria Math" panose="02040503050406030204" pitchFamily="18" charset="0"/>
                                </a:rPr>
                                <m:t>𝑦</m:t>
                              </m:r>
                              <m:r>
                                <a:rPr lang="en-GB" sz="2000" i="1">
                                  <a:latin typeface="Cambria Math" panose="02040503050406030204" pitchFamily="18" charset="0"/>
                                </a:rPr>
                                <m:t>+1</m:t>
                              </m:r>
                            </m:e>
                          </m:d>
                        </m:e>
                        <m:sup>
                          <m:r>
                            <a:rPr lang="en-GB" sz="2000" i="1">
                              <a:latin typeface="Cambria Math" panose="02040503050406030204" pitchFamily="18" charset="0"/>
                            </a:rPr>
                            <m:t>2</m:t>
                          </m:r>
                        </m:sup>
                      </m:sSup>
                      <m:r>
                        <a:rPr lang="en-GB" sz="2000" i="1">
                          <a:latin typeface="Cambria Math" panose="02040503050406030204" pitchFamily="18" charset="0"/>
                        </a:rPr>
                        <m:t>−1−6=0</m:t>
                      </m:r>
                    </m:oMath>
                    <m:oMath>
                      <m:sSup>
                        <m:sSupPr>
                          <m:ctrlPr>
                            <a:rPr lang="en-GB" sz="2000" i="1">
                              <a:latin typeface="Cambria Math" panose="02040503050406030204" pitchFamily="18" charset="0"/>
                            </a:rPr>
                          </m:ctrlPr>
                        </m:sSupPr>
                        <m:e>
                          <m:d>
                            <m:dPr>
                              <m:ctrlPr>
                                <a:rPr lang="en-GB" sz="2000" i="1">
                                  <a:latin typeface="Cambria Math" panose="02040503050406030204" pitchFamily="18" charset="0"/>
                                </a:rPr>
                              </m:ctrlPr>
                            </m:dPr>
                            <m:e>
                              <m:r>
                                <a:rPr lang="en-GB" sz="2000" i="1">
                                  <a:latin typeface="Cambria Math" panose="02040503050406030204" pitchFamily="18" charset="0"/>
                                </a:rPr>
                                <m:t>𝑥</m:t>
                              </m:r>
                              <m:r>
                                <a:rPr lang="en-GB" sz="2000" i="1">
                                  <a:latin typeface="Cambria Math" panose="02040503050406030204" pitchFamily="18" charset="0"/>
                                </a:rPr>
                                <m:t>−3</m:t>
                              </m:r>
                            </m:e>
                          </m:d>
                        </m:e>
                        <m:sup>
                          <m:r>
                            <a:rPr lang="en-GB" sz="2000" i="1">
                              <a:latin typeface="Cambria Math" panose="02040503050406030204" pitchFamily="18" charset="0"/>
                            </a:rPr>
                            <m:t>2</m:t>
                          </m:r>
                        </m:sup>
                      </m:sSup>
                      <m:r>
                        <a:rPr lang="en-GB" sz="2000" i="1">
                          <a:latin typeface="Cambria Math" panose="02040503050406030204" pitchFamily="18" charset="0"/>
                        </a:rPr>
                        <m:t>+</m:t>
                      </m:r>
                      <m:sSup>
                        <m:sSupPr>
                          <m:ctrlPr>
                            <a:rPr lang="en-GB" sz="2000" i="1">
                              <a:latin typeface="Cambria Math" panose="02040503050406030204" pitchFamily="18" charset="0"/>
                            </a:rPr>
                          </m:ctrlPr>
                        </m:sSupPr>
                        <m:e>
                          <m:d>
                            <m:dPr>
                              <m:ctrlPr>
                                <a:rPr lang="en-GB" sz="2000" i="1">
                                  <a:latin typeface="Cambria Math" panose="02040503050406030204" pitchFamily="18" charset="0"/>
                                </a:rPr>
                              </m:ctrlPr>
                            </m:dPr>
                            <m:e>
                              <m:r>
                                <a:rPr lang="en-GB" sz="2000" i="1">
                                  <a:latin typeface="Cambria Math" panose="02040503050406030204" pitchFamily="18" charset="0"/>
                                </a:rPr>
                                <m:t>𝑦</m:t>
                              </m:r>
                              <m:r>
                                <a:rPr lang="en-GB" sz="2000" i="1">
                                  <a:latin typeface="Cambria Math" panose="02040503050406030204" pitchFamily="18" charset="0"/>
                                </a:rPr>
                                <m:t>+1</m:t>
                              </m:r>
                            </m:e>
                          </m:d>
                        </m:e>
                        <m:sup>
                          <m:r>
                            <a:rPr lang="en-GB" sz="2000" i="1">
                              <a:latin typeface="Cambria Math" panose="02040503050406030204" pitchFamily="18" charset="0"/>
                            </a:rPr>
                            <m:t>2</m:t>
                          </m:r>
                        </m:sup>
                      </m:sSup>
                      <m:r>
                        <a:rPr lang="en-GB" sz="2000" i="1">
                          <a:latin typeface="Cambria Math" panose="02040503050406030204" pitchFamily="18" charset="0"/>
                        </a:rPr>
                        <m:t>=16</m:t>
                      </m:r>
                    </m:oMath>
                  </m:oMathPara>
                </a14:m>
                <a:endParaRPr lang="en-GB"/>
              </a:p>
            </p:txBody>
          </p:sp>
        </mc:Choice>
        <mc:Fallback>
          <p:sp>
            <p:nvSpPr>
              <p:cNvPr id="7" name="TextBox 6"/>
              <p:cNvSpPr txBox="1">
                <a:spLocks noRot="1" noChangeAspect="1" noMove="1" noResize="1" noEditPoints="1" noAdjustHandles="1" noChangeArrowheads="1" noChangeShapeType="1" noTextEdit="1"/>
              </p:cNvSpPr>
              <p:nvPr/>
            </p:nvSpPr>
            <p:spPr>
              <a:xfrm>
                <a:off x="2244899" y="3291087"/>
                <a:ext cx="4677866" cy="1015663"/>
              </a:xfrm>
              <a:prstGeom prst="rect">
                <a:avLst/>
              </a:prstGeom>
              <a:blipFill>
                <a:blip r:embed="rId4"/>
                <a:stretch>
                  <a:fillRect b="-250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8" name="TextBox 7"/>
              <p:cNvSpPr txBox="1"/>
              <p:nvPr/>
            </p:nvSpPr>
            <p:spPr>
              <a:xfrm>
                <a:off x="6686550" y="2478003"/>
                <a:ext cx="3715072" cy="738664"/>
              </a:xfrm>
              <a:prstGeom prst="rect">
                <a:avLst/>
              </a:prstGeom>
              <a:noFill/>
            </p:spPr>
            <p:txBody>
              <a:bodyPr wrap="square" rtlCol="0">
                <a:spAutoFit/>
              </a:bodyPr>
              <a:lstStyle/>
              <a:p>
                <a:r>
                  <a:rPr lang="en-GB" sz="1400" b="1"/>
                  <a:t>Hint</a:t>
                </a:r>
                <a:r>
                  <a:rPr lang="en-GB" sz="1400"/>
                  <a:t>: Have we seen a method in a previous chapter that allows us to turn a </a:t>
                </a:r>
                <a14:m>
                  <m:oMath xmlns:m="http://schemas.openxmlformats.org/officeDocument/2006/math">
                    <m:sSup>
                      <m:sSupPr>
                        <m:ctrlPr>
                          <a:rPr lang="en-GB" sz="1400" i="1">
                            <a:latin typeface="Cambria Math" panose="02040503050406030204" pitchFamily="18" charset="0"/>
                          </a:rPr>
                        </m:ctrlPr>
                      </m:sSupPr>
                      <m:e>
                        <m:r>
                          <a:rPr lang="en-GB" sz="1400" i="1">
                            <a:latin typeface="Cambria Math" panose="02040503050406030204" pitchFamily="18" charset="0"/>
                          </a:rPr>
                          <m:t>𝑥</m:t>
                        </m:r>
                      </m:e>
                      <m:sup>
                        <m:r>
                          <a:rPr lang="en-GB" sz="1400" i="1">
                            <a:latin typeface="Cambria Math" panose="02040503050406030204" pitchFamily="18" charset="0"/>
                          </a:rPr>
                          <m:t>2</m:t>
                        </m:r>
                      </m:sup>
                    </m:sSup>
                  </m:oMath>
                </a14:m>
                <a:r>
                  <a:rPr lang="en-GB" sz="1400"/>
                  <a:t> term and a </a:t>
                </a:r>
                <a14:m>
                  <m:oMath xmlns:m="http://schemas.openxmlformats.org/officeDocument/2006/math">
                    <m:r>
                      <a:rPr lang="en-GB" sz="1400" i="1">
                        <a:latin typeface="Cambria Math" panose="02040503050406030204" pitchFamily="18" charset="0"/>
                      </a:rPr>
                      <m:t>𝑥</m:t>
                    </m:r>
                  </m:oMath>
                </a14:m>
                <a:r>
                  <a:rPr lang="en-GB" sz="1400"/>
                  <a:t>  term into a single expression involving </a:t>
                </a:r>
                <a14:m>
                  <m:oMath xmlns:m="http://schemas.openxmlformats.org/officeDocument/2006/math">
                    <m:r>
                      <a:rPr lang="en-GB" sz="1400" i="1">
                        <a:latin typeface="Cambria Math" panose="02040503050406030204" pitchFamily="18" charset="0"/>
                      </a:rPr>
                      <m:t>𝑥</m:t>
                    </m:r>
                  </m:oMath>
                </a14:m>
                <a:r>
                  <a:rPr lang="en-GB" sz="1400"/>
                  <a:t>?</a:t>
                </a:r>
              </a:p>
            </p:txBody>
          </p:sp>
        </mc:Choice>
        <mc:Fallback>
          <p:sp>
            <p:nvSpPr>
              <p:cNvPr id="8" name="TextBox 7"/>
              <p:cNvSpPr txBox="1">
                <a:spLocks noRot="1" noChangeAspect="1" noMove="1" noResize="1" noEditPoints="1" noAdjustHandles="1" noChangeArrowheads="1" noChangeShapeType="1" noTextEdit="1"/>
              </p:cNvSpPr>
              <p:nvPr/>
            </p:nvSpPr>
            <p:spPr>
              <a:xfrm>
                <a:off x="6686550" y="2478003"/>
                <a:ext cx="3715072" cy="738664"/>
              </a:xfrm>
              <a:prstGeom prst="rect">
                <a:avLst/>
              </a:prstGeom>
              <a:blipFill>
                <a:blip r:embed="rId5"/>
                <a:stretch>
                  <a:fillRect l="-341" b="-8333"/>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9" name="TextBox 8"/>
              <p:cNvSpPr txBox="1"/>
              <p:nvPr/>
            </p:nvSpPr>
            <p:spPr>
              <a:xfrm>
                <a:off x="7064102" y="3286126"/>
                <a:ext cx="2937470" cy="830997"/>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r>
                  <a:rPr lang="en-GB" sz="1600"/>
                  <a:t>Rearrange terms so that </a:t>
                </a:r>
                <a14:m>
                  <m:oMath xmlns:m="http://schemas.openxmlformats.org/officeDocument/2006/math">
                    <m:r>
                      <a:rPr lang="en-GB" sz="1600" i="1">
                        <a:latin typeface="Cambria Math" panose="02040503050406030204" pitchFamily="18" charset="0"/>
                      </a:rPr>
                      <m:t>𝑥</m:t>
                    </m:r>
                  </m:oMath>
                </a14:m>
                <a:r>
                  <a:rPr lang="en-GB" sz="1600"/>
                  <a:t> terms are together and </a:t>
                </a:r>
                <a14:m>
                  <m:oMath xmlns:m="http://schemas.openxmlformats.org/officeDocument/2006/math">
                    <m:r>
                      <a:rPr lang="en-GB" sz="1600" i="1">
                        <a:latin typeface="Cambria Math" panose="02040503050406030204" pitchFamily="18" charset="0"/>
                      </a:rPr>
                      <m:t>𝑦</m:t>
                    </m:r>
                  </m:oMath>
                </a14:m>
                <a:r>
                  <a:rPr lang="en-GB" sz="1600"/>
                  <a:t> terms are together.</a:t>
                </a:r>
              </a:p>
            </p:txBody>
          </p:sp>
        </mc:Choice>
        <mc:Fallback>
          <p:sp>
            <p:nvSpPr>
              <p:cNvPr id="9" name="TextBox 8"/>
              <p:cNvSpPr txBox="1">
                <a:spLocks noRot="1" noChangeAspect="1" noMove="1" noResize="1" noEditPoints="1" noAdjustHandles="1" noChangeArrowheads="1" noChangeShapeType="1" noTextEdit="1"/>
              </p:cNvSpPr>
              <p:nvPr/>
            </p:nvSpPr>
            <p:spPr>
              <a:xfrm>
                <a:off x="7064102" y="3286126"/>
                <a:ext cx="2937470" cy="830997"/>
              </a:xfrm>
              <a:prstGeom prst="rect">
                <a:avLst/>
              </a:prstGeom>
              <a:blipFill>
                <a:blip r:embed="rId6"/>
                <a:stretch>
                  <a:fillRect l="-855" b="-7353"/>
                </a:stretch>
              </a:blipFill>
            </p:spPr>
            <p:txBody>
              <a:bodyPr/>
              <a:lstStyle/>
              <a:p>
                <a:r>
                  <a:rPr lang="en-US">
                    <a:noFill/>
                  </a:rPr>
                  <a:t> </a:t>
                </a:r>
              </a:p>
            </p:txBody>
          </p:sp>
        </mc:Fallback>
      </mc:AlternateContent>
      <p:cxnSp>
        <p:nvCxnSpPr>
          <p:cNvPr id="11" name="Straight Arrow Connector 10"/>
          <p:cNvCxnSpPr>
            <a:stCxn id="9" idx="1"/>
          </p:cNvCxnSpPr>
          <p:nvPr/>
        </p:nvCxnSpPr>
        <p:spPr>
          <a:xfrm flipH="1" flipV="1">
            <a:off x="6516614" y="3501008"/>
            <a:ext cx="547489" cy="20061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2" name="TextBox 11"/>
          <p:cNvSpPr txBox="1"/>
          <p:nvPr/>
        </p:nvSpPr>
        <p:spPr>
          <a:xfrm>
            <a:off x="7061398" y="4264546"/>
            <a:ext cx="2937470" cy="338554"/>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r>
              <a:rPr lang="en-GB" sz="1600"/>
              <a:t>Complete the square!</a:t>
            </a:r>
          </a:p>
        </p:txBody>
      </p:sp>
      <p:cxnSp>
        <p:nvCxnSpPr>
          <p:cNvPr id="13" name="Straight Arrow Connector 12"/>
          <p:cNvCxnSpPr>
            <a:stCxn id="12" idx="1"/>
          </p:cNvCxnSpPr>
          <p:nvPr/>
        </p:nvCxnSpPr>
        <p:spPr>
          <a:xfrm flipH="1" flipV="1">
            <a:off x="6496050" y="3876675"/>
            <a:ext cx="565348" cy="55714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6" name="Rectangle 15"/>
          <p:cNvSpPr/>
          <p:nvPr/>
        </p:nvSpPr>
        <p:spPr>
          <a:xfrm>
            <a:off x="2045990" y="3220813"/>
            <a:ext cx="8040985" cy="1598837"/>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
        <p:nvSpPr>
          <p:cNvPr id="17" name="TextBox 16"/>
          <p:cNvSpPr txBox="1"/>
          <p:nvPr/>
        </p:nvSpPr>
        <p:spPr>
          <a:xfrm>
            <a:off x="3323120" y="5610282"/>
            <a:ext cx="5544616" cy="830997"/>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r>
              <a:rPr lang="en-GB" sz="1600" b="1"/>
              <a:t>Textbook Note</a:t>
            </a:r>
            <a:r>
              <a:rPr lang="en-GB" sz="1600"/>
              <a:t>: There’s a truly awful method, initially presented in the textbook, that allows you to find the centre/radius without completing the square. Don’t even contemplate using it.</a:t>
            </a:r>
          </a:p>
        </p:txBody>
      </p:sp>
    </p:spTree>
    <p:extLst>
      <p:ext uri="{BB962C8B-B14F-4D97-AF65-F5344CB8AC3E}">
        <p14:creationId xmlns:p14="http://schemas.microsoft.com/office/powerpoint/2010/main" val="1137175123"/>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6"/>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6"/>
                                        </p:tgtEl>
                                      </p:cBhvr>
                                    </p:animEffect>
                                    <p:set>
                                      <p:cBhvr>
                                        <p:cTn id="7" dur="1" fill="hold">
                                          <p:stCondLst>
                                            <p:cond delay="499"/>
                                          </p:stCondLst>
                                        </p:cTn>
                                        <p:tgtEl>
                                          <p:spTgt spid="16"/>
                                        </p:tgtEl>
                                        <p:attrNameLst>
                                          <p:attrName>style.visibility</p:attrName>
                                        </p:attrNameLst>
                                      </p:cBhvr>
                                      <p:to>
                                        <p:strVal val="hidden"/>
                                      </p:to>
                                    </p:set>
                                  </p:childTnLst>
                                </p:cTn>
                              </p:par>
                            </p:childTnLst>
                          </p:cTn>
                        </p:par>
                        <p:par>
                          <p:cTn id="8" fill="hold">
                            <p:stCondLst>
                              <p:cond delay="500"/>
                            </p:stCondLst>
                            <p:childTnLst>
                              <p:par>
                                <p:cTn id="9" presetID="10" presetClass="entr" presetSubtype="0" fill="hold" grpId="0" nodeType="afterEffect">
                                  <p:stCondLst>
                                    <p:cond delay="500"/>
                                  </p:stCondLst>
                                  <p:childTnLst>
                                    <p:set>
                                      <p:cBhvr>
                                        <p:cTn id="10" dur="1" fill="hold">
                                          <p:stCondLst>
                                            <p:cond delay="0"/>
                                          </p:stCondLst>
                                        </p:cTn>
                                        <p:tgtEl>
                                          <p:spTgt spid="17"/>
                                        </p:tgtEl>
                                        <p:attrNameLst>
                                          <p:attrName>style.visibility</p:attrName>
                                        </p:attrNameLst>
                                      </p:cBhvr>
                                      <p:to>
                                        <p:strVal val="visible"/>
                                      </p:to>
                                    </p:set>
                                    <p:animEffect transition="in" filter="fade">
                                      <p:cBhvr>
                                        <p:cTn id="11" dur="500"/>
                                        <p:tgtEl>
                                          <p:spTgt spid="17"/>
                                        </p:tgtEl>
                                      </p:cBhvr>
                                    </p:animEffect>
                                  </p:childTnLst>
                                </p:cTn>
                              </p:par>
                            </p:childTnLst>
                          </p:cTn>
                        </p:par>
                      </p:childTnLst>
                    </p:cTn>
                  </p:par>
                </p:childTnLst>
              </p:cTn>
              <p:nextCondLst>
                <p:cond evt="onClick" delay="0">
                  <p:tgtEl>
                    <p:spTgt spid="16"/>
                  </p:tgtEl>
                </p:cond>
              </p:nextCondLst>
            </p:seq>
          </p:childTnLst>
        </p:cTn>
      </p:par>
    </p:tnLst>
    <p:bldLst>
      <p:bldP spid="16" grpId="0" animBg="1"/>
      <p:bldP spid="17" grpId="0" animBg="1"/>
    </p:bldLst>
  </p:timing>
</p:sld>
</file>

<file path=ppt/c6/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7"/>
          <p:cNvGrpSpPr/>
          <p:nvPr/>
        </p:nvGrpSpPr>
        <p:grpSpPr>
          <a:xfrm>
            <a:off x="1524000" y="1"/>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a:t>Further Example</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p:pic>
        <p:nvPicPr>
          <p:cNvPr id="6" name="Picture 5"/>
          <p:cNvPicPr>
            <a:picLocks noChangeAspect="1"/>
          </p:cNvPicPr>
          <p:nvPr/>
        </p:nvPicPr>
        <p:blipFill>
          <a:blip r:embed="rId2"/>
          <a:stretch>
            <a:fillRect/>
          </a:stretch>
        </p:blipFill>
        <p:spPr>
          <a:xfrm>
            <a:off x="1996159" y="1226231"/>
            <a:ext cx="6477000" cy="2009775"/>
          </a:xfrm>
          <a:prstGeom prst="rect">
            <a:avLst/>
          </a:prstGeom>
          <a:effectLst>
            <a:outerShdw blurRad="63500" sx="102000" sy="102000" algn="ctr" rotWithShape="0">
              <a:prstClr val="black">
                <a:alpha val="40000"/>
              </a:prstClr>
            </a:outerShdw>
          </a:effectLst>
        </p:spPr>
      </p:pic>
      <p:sp>
        <p:nvSpPr>
          <p:cNvPr id="7" name="TextBox 6"/>
          <p:cNvSpPr txBox="1"/>
          <p:nvPr/>
        </p:nvSpPr>
        <p:spPr>
          <a:xfrm>
            <a:off x="1993815" y="841540"/>
            <a:ext cx="2918235" cy="369332"/>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wrap="square" rtlCol="0">
            <a:spAutoFit/>
          </a:bodyPr>
          <a:lstStyle/>
          <a:p>
            <a:r>
              <a:rPr lang="en-GB"/>
              <a:t>Edexcel C2 June 2012 Q3a,b</a:t>
            </a:r>
          </a:p>
        </p:txBody>
      </p:sp>
      <mc:AlternateContent xmlns:mc="http://schemas.openxmlformats.org/markup-compatibility/2006">
        <mc:Choice xmlns:a14="http://schemas.microsoft.com/office/drawing/2010/main" Requires="a14">
          <p:sp>
            <p:nvSpPr>
              <p:cNvPr id="8" name="TextBox 7"/>
              <p:cNvSpPr txBox="1"/>
              <p:nvPr/>
            </p:nvSpPr>
            <p:spPr>
              <a:xfrm>
                <a:off x="3503712" y="3861049"/>
                <a:ext cx="5184576" cy="1515543"/>
              </a:xfrm>
              <a:prstGeom prst="rect">
                <a:avLst/>
              </a:prstGeom>
              <a:noFill/>
            </p:spPr>
            <p:txBody>
              <a:bodyPr wrap="square" rtlCol="0">
                <a:spAutoFit/>
              </a:bodyPr>
              <a:lstStyle/>
              <a:p>
                <a:pPr/>
                <a14:m>
                  <m:oMathPara xmlns:m="http://schemas.openxmlformats.org/officeDocument/2006/math">
                    <m:oMath>
                      <m:sSup>
                        <m:sSupPr>
                          <m:ctrlPr>
                            <a:rPr lang="en-GB" i="1">
                              <a:latin typeface="Cambria Math" panose="02040503050406030204" pitchFamily="18" charset="0"/>
                            </a:rPr>
                          </m:ctrlPr>
                        </m:sSupPr>
                        <m:e>
                          <m:r>
                            <a:rPr lang="en-GB" i="1">
                              <a:latin typeface="Cambria Math" panose="02040503050406030204" pitchFamily="18" charset="0"/>
                            </a:rPr>
                            <m:t>𝑥</m:t>
                          </m:r>
                        </m:e>
                        <m:sup>
                          <m:r>
                            <a:rPr lang="en-GB" i="1">
                              <a:latin typeface="Cambria Math" panose="02040503050406030204" pitchFamily="18" charset="0"/>
                            </a:rPr>
                            <m:t>2</m:t>
                          </m:r>
                        </m:sup>
                      </m:sSup>
                      <m:r>
                        <a:rPr lang="en-GB" i="1">
                          <a:latin typeface="Cambria Math" panose="02040503050406030204" pitchFamily="18" charset="0"/>
                        </a:rPr>
                        <m:t>−20</m:t>
                      </m:r>
                      <m:r>
                        <a:rPr lang="en-GB" i="1">
                          <a:latin typeface="Cambria Math" panose="02040503050406030204" pitchFamily="18" charset="0"/>
                        </a:rPr>
                        <m:t>𝑥</m:t>
                      </m:r>
                      <m:r>
                        <a:rPr lang="en-GB" i="1">
                          <a:latin typeface="Cambria Math" panose="02040503050406030204" pitchFamily="18" charset="0"/>
                        </a:rPr>
                        <m:t>+</m:t>
                      </m:r>
                      <m:sSup>
                        <m:sSupPr>
                          <m:ctrlPr>
                            <a:rPr lang="en-GB" i="1">
                              <a:latin typeface="Cambria Math" panose="02040503050406030204" pitchFamily="18" charset="0"/>
                            </a:rPr>
                          </m:ctrlPr>
                        </m:sSupPr>
                        <m:e>
                          <m:r>
                            <a:rPr lang="en-GB" i="1">
                              <a:latin typeface="Cambria Math" panose="02040503050406030204" pitchFamily="18" charset="0"/>
                            </a:rPr>
                            <m:t>𝑦</m:t>
                          </m:r>
                        </m:e>
                        <m:sup>
                          <m:r>
                            <a:rPr lang="en-GB" i="1">
                              <a:latin typeface="Cambria Math" panose="02040503050406030204" pitchFamily="18" charset="0"/>
                            </a:rPr>
                            <m:t>2</m:t>
                          </m:r>
                        </m:sup>
                      </m:sSup>
                      <m:r>
                        <a:rPr lang="en-GB" i="1">
                          <a:latin typeface="Cambria Math" panose="02040503050406030204" pitchFamily="18" charset="0"/>
                        </a:rPr>
                        <m:t>−16</m:t>
                      </m:r>
                      <m:r>
                        <a:rPr lang="en-GB" i="1">
                          <a:latin typeface="Cambria Math" panose="02040503050406030204" pitchFamily="18" charset="0"/>
                        </a:rPr>
                        <m:t>𝑦</m:t>
                      </m:r>
                      <m:r>
                        <a:rPr lang="en-GB" i="1">
                          <a:latin typeface="Cambria Math" panose="02040503050406030204" pitchFamily="18" charset="0"/>
                        </a:rPr>
                        <m:t>+139=0</m:t>
                      </m:r>
                    </m:oMath>
                    <m:oMath>
                      <m:sSup>
                        <m:sSupPr>
                          <m:ctrlPr>
                            <a:rPr lang="en-GB" i="1">
                              <a:latin typeface="Cambria Math" panose="02040503050406030204" pitchFamily="18" charset="0"/>
                            </a:rPr>
                          </m:ctrlPr>
                        </m:sSupPr>
                        <m:e>
                          <m:d>
                            <m:dPr>
                              <m:ctrlPr>
                                <a:rPr lang="en-GB" i="1">
                                  <a:latin typeface="Cambria Math" panose="02040503050406030204" pitchFamily="18" charset="0"/>
                                </a:rPr>
                              </m:ctrlPr>
                            </m:dPr>
                            <m:e>
                              <m:r>
                                <a:rPr lang="en-GB" i="1">
                                  <a:latin typeface="Cambria Math" panose="02040503050406030204" pitchFamily="18" charset="0"/>
                                </a:rPr>
                                <m:t>𝑥</m:t>
                              </m:r>
                              <m:r>
                                <a:rPr lang="en-GB" i="1">
                                  <a:latin typeface="Cambria Math" panose="02040503050406030204" pitchFamily="18" charset="0"/>
                                </a:rPr>
                                <m:t>−10</m:t>
                              </m:r>
                            </m:e>
                          </m:d>
                        </m:e>
                        <m:sup>
                          <m:r>
                            <a:rPr lang="en-GB" i="1">
                              <a:latin typeface="Cambria Math" panose="02040503050406030204" pitchFamily="18" charset="0"/>
                            </a:rPr>
                            <m:t>2</m:t>
                          </m:r>
                        </m:sup>
                      </m:sSup>
                      <m:r>
                        <a:rPr lang="en-GB" i="1">
                          <a:latin typeface="Cambria Math" panose="02040503050406030204" pitchFamily="18" charset="0"/>
                        </a:rPr>
                        <m:t>−100+</m:t>
                      </m:r>
                      <m:sSup>
                        <m:sSupPr>
                          <m:ctrlPr>
                            <a:rPr lang="en-GB" i="1">
                              <a:latin typeface="Cambria Math" panose="02040503050406030204" pitchFamily="18" charset="0"/>
                            </a:rPr>
                          </m:ctrlPr>
                        </m:sSupPr>
                        <m:e>
                          <m:d>
                            <m:dPr>
                              <m:ctrlPr>
                                <a:rPr lang="en-GB" i="1">
                                  <a:latin typeface="Cambria Math" panose="02040503050406030204" pitchFamily="18" charset="0"/>
                                </a:rPr>
                              </m:ctrlPr>
                            </m:dPr>
                            <m:e>
                              <m:r>
                                <a:rPr lang="en-GB" i="1">
                                  <a:latin typeface="Cambria Math" panose="02040503050406030204" pitchFamily="18" charset="0"/>
                                </a:rPr>
                                <m:t>𝑦</m:t>
                              </m:r>
                              <m:r>
                                <a:rPr lang="en-GB" i="1">
                                  <a:latin typeface="Cambria Math" panose="02040503050406030204" pitchFamily="18" charset="0"/>
                                </a:rPr>
                                <m:t>−8</m:t>
                              </m:r>
                            </m:e>
                          </m:d>
                        </m:e>
                        <m:sup>
                          <m:r>
                            <a:rPr lang="en-GB" i="1">
                              <a:latin typeface="Cambria Math" panose="02040503050406030204" pitchFamily="18" charset="0"/>
                            </a:rPr>
                            <m:t>2</m:t>
                          </m:r>
                        </m:sup>
                      </m:sSup>
                      <m:r>
                        <a:rPr lang="en-GB" i="1">
                          <a:latin typeface="Cambria Math" panose="02040503050406030204" pitchFamily="18" charset="0"/>
                        </a:rPr>
                        <m:t>−64+139=0</m:t>
                      </m:r>
                    </m:oMath>
                    <m:oMath>
                      <m:sSup>
                        <m:sSupPr>
                          <m:ctrlPr>
                            <a:rPr lang="en-GB" i="1">
                              <a:latin typeface="Cambria Math" panose="02040503050406030204" pitchFamily="18" charset="0"/>
                            </a:rPr>
                          </m:ctrlPr>
                        </m:sSupPr>
                        <m:e>
                          <m:d>
                            <m:dPr>
                              <m:ctrlPr>
                                <a:rPr lang="en-GB" i="1">
                                  <a:latin typeface="Cambria Math" panose="02040503050406030204" pitchFamily="18" charset="0"/>
                                </a:rPr>
                              </m:ctrlPr>
                            </m:dPr>
                            <m:e>
                              <m:r>
                                <a:rPr lang="en-GB" i="1">
                                  <a:latin typeface="Cambria Math" panose="02040503050406030204" pitchFamily="18" charset="0"/>
                                </a:rPr>
                                <m:t>𝑥</m:t>
                              </m:r>
                              <m:r>
                                <a:rPr lang="en-GB" i="1">
                                  <a:latin typeface="Cambria Math" panose="02040503050406030204" pitchFamily="18" charset="0"/>
                                </a:rPr>
                                <m:t>−10</m:t>
                              </m:r>
                            </m:e>
                          </m:d>
                        </m:e>
                        <m:sup>
                          <m:r>
                            <a:rPr lang="en-GB" i="1">
                              <a:latin typeface="Cambria Math" panose="02040503050406030204" pitchFamily="18" charset="0"/>
                            </a:rPr>
                            <m:t>2</m:t>
                          </m:r>
                        </m:sup>
                      </m:sSup>
                      <m:r>
                        <a:rPr lang="en-GB" i="1">
                          <a:latin typeface="Cambria Math" panose="02040503050406030204" pitchFamily="18" charset="0"/>
                        </a:rPr>
                        <m:t>+</m:t>
                      </m:r>
                      <m:sSup>
                        <m:sSupPr>
                          <m:ctrlPr>
                            <a:rPr lang="en-GB" i="1">
                              <a:latin typeface="Cambria Math" panose="02040503050406030204" pitchFamily="18" charset="0"/>
                            </a:rPr>
                          </m:ctrlPr>
                        </m:sSupPr>
                        <m:e>
                          <m:d>
                            <m:dPr>
                              <m:ctrlPr>
                                <a:rPr lang="en-GB" i="1">
                                  <a:latin typeface="Cambria Math" panose="02040503050406030204" pitchFamily="18" charset="0"/>
                                </a:rPr>
                              </m:ctrlPr>
                            </m:dPr>
                            <m:e>
                              <m:r>
                                <a:rPr lang="en-GB" i="1">
                                  <a:latin typeface="Cambria Math" panose="02040503050406030204" pitchFamily="18" charset="0"/>
                                </a:rPr>
                                <m:t>𝑦</m:t>
                              </m:r>
                              <m:r>
                                <a:rPr lang="en-GB" i="1">
                                  <a:latin typeface="Cambria Math" panose="02040503050406030204" pitchFamily="18" charset="0"/>
                                </a:rPr>
                                <m:t>−8</m:t>
                              </m:r>
                            </m:e>
                          </m:d>
                        </m:e>
                        <m:sup>
                          <m:r>
                            <a:rPr lang="en-GB" i="1">
                              <a:latin typeface="Cambria Math" panose="02040503050406030204" pitchFamily="18" charset="0"/>
                            </a:rPr>
                            <m:t>2</m:t>
                          </m:r>
                        </m:sup>
                      </m:sSup>
                      <m:r>
                        <a:rPr lang="en-GB" i="1">
                          <a:latin typeface="Cambria Math" panose="02040503050406030204" pitchFamily="18" charset="0"/>
                        </a:rPr>
                        <m:t>=25</m:t>
                      </m:r>
                    </m:oMath>
                  </m:oMathPara>
                </a14:m>
                <a:endParaRPr lang="en-GB"/>
              </a:p>
              <a:p>
                <a:endParaRPr lang="en-GB"/>
              </a:p>
              <a:p>
                <a:pPr/>
                <a14:m>
                  <m:oMathPara xmlns:m="http://schemas.openxmlformats.org/officeDocument/2006/math">
                    <m:oMath>
                      <m:r>
                        <a:rPr lang="en-GB" i="1">
                          <a:latin typeface="Cambria Math" panose="02040503050406030204" pitchFamily="18" charset="0"/>
                        </a:rPr>
                        <m:t>𝐶</m:t>
                      </m:r>
                      <m:d>
                        <m:dPr>
                          <m:ctrlPr>
                            <a:rPr lang="en-GB" i="1">
                              <a:latin typeface="Cambria Math" panose="02040503050406030204" pitchFamily="18" charset="0"/>
                            </a:rPr>
                          </m:ctrlPr>
                        </m:dPr>
                        <m:e>
                          <m:r>
                            <a:rPr lang="en-GB" i="1">
                              <a:latin typeface="Cambria Math" panose="02040503050406030204" pitchFamily="18" charset="0"/>
                            </a:rPr>
                            <m:t>10,8</m:t>
                          </m:r>
                        </m:e>
                      </m:d>
                      <m:r>
                        <a:rPr lang="en-GB" i="1">
                          <a:latin typeface="Cambria Math" panose="02040503050406030204" pitchFamily="18" charset="0"/>
                        </a:rPr>
                        <m:t>,  </m:t>
                      </m:r>
                      <m:r>
                        <a:rPr lang="en-GB" i="1">
                          <a:latin typeface="Cambria Math" panose="02040503050406030204" pitchFamily="18" charset="0"/>
                        </a:rPr>
                        <m:t>𝑟</m:t>
                      </m:r>
                      <m:r>
                        <a:rPr lang="en-GB" i="1">
                          <a:latin typeface="Cambria Math" panose="02040503050406030204" pitchFamily="18" charset="0"/>
                        </a:rPr>
                        <m:t>=</m:t>
                      </m:r>
                      <m:rad>
                        <m:radPr>
                          <m:degHide m:val="on"/>
                          <m:ctrlPr>
                            <a:rPr lang="en-GB" i="1">
                              <a:latin typeface="Cambria Math" panose="02040503050406030204" pitchFamily="18" charset="0"/>
                            </a:rPr>
                          </m:ctrlPr>
                        </m:radPr>
                        <m:deg/>
                        <m:e>
                          <m:r>
                            <a:rPr lang="en-GB" i="1">
                              <a:latin typeface="Cambria Math" panose="02040503050406030204" pitchFamily="18" charset="0"/>
                            </a:rPr>
                            <m:t>25</m:t>
                          </m:r>
                        </m:e>
                      </m:rad>
                      <m:r>
                        <a:rPr lang="en-GB" i="1">
                          <a:latin typeface="Cambria Math" panose="02040503050406030204" pitchFamily="18" charset="0"/>
                        </a:rPr>
                        <m:t>=5</m:t>
                      </m:r>
                    </m:oMath>
                  </m:oMathPara>
                </a14:m>
                <a:endParaRPr lang="en-GB"/>
              </a:p>
            </p:txBody>
          </p:sp>
        </mc:Choice>
        <mc:Fallback>
          <p:sp>
            <p:nvSpPr>
              <p:cNvPr id="8" name="TextBox 7"/>
              <p:cNvSpPr txBox="1">
                <a:spLocks noRot="1" noChangeAspect="1" noMove="1" noResize="1" noEditPoints="1" noAdjustHandles="1" noChangeArrowheads="1" noChangeShapeType="1" noTextEdit="1"/>
              </p:cNvSpPr>
              <p:nvPr/>
            </p:nvSpPr>
            <p:spPr>
              <a:xfrm>
                <a:off x="3503712" y="3861049"/>
                <a:ext cx="5184576" cy="1515543"/>
              </a:xfrm>
              <a:prstGeom prst="rect">
                <a:avLst/>
              </a:prstGeom>
              <a:blipFill>
                <a:blip r:embed="rId3"/>
                <a:stretch>
                  <a:fillRect/>
                </a:stretch>
              </a:blipFill>
            </p:spPr>
            <p:txBody>
              <a:bodyPr/>
              <a:lstStyle/>
              <a:p>
                <a:r>
                  <a:rPr lang="en-US">
                    <a:noFill/>
                  </a:rPr>
                  <a:t> </a:t>
                </a:r>
              </a:p>
            </p:txBody>
          </p:sp>
        </mc:Fallback>
      </mc:AlternateContent>
      <p:sp>
        <p:nvSpPr>
          <p:cNvPr id="9" name="Rectangle 8"/>
          <p:cNvSpPr/>
          <p:nvPr/>
        </p:nvSpPr>
        <p:spPr>
          <a:xfrm>
            <a:off x="3406956" y="3624849"/>
            <a:ext cx="5281332" cy="1864372"/>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Tree>
    <p:extLst>
      <p:ext uri="{BB962C8B-B14F-4D97-AF65-F5344CB8AC3E}">
        <p14:creationId xmlns:p14="http://schemas.microsoft.com/office/powerpoint/2010/main" val="2140368262"/>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9"/>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9"/>
                                        </p:tgtEl>
                                      </p:cBhvr>
                                    </p:animEffect>
                                    <p:set>
                                      <p:cBhvr>
                                        <p:cTn id="7" dur="1" fill="hold">
                                          <p:stCondLst>
                                            <p:cond delay="499"/>
                                          </p:stCondLst>
                                        </p:cTn>
                                        <p:tgtEl>
                                          <p:spTgt spid="9"/>
                                        </p:tgtEl>
                                        <p:attrNameLst>
                                          <p:attrName>style.visibility</p:attrName>
                                        </p:attrNameLst>
                                      </p:cBhvr>
                                      <p:to>
                                        <p:strVal val="hidden"/>
                                      </p:to>
                                    </p:set>
                                  </p:childTnLst>
                                </p:cTn>
                              </p:par>
                            </p:childTnLst>
                          </p:cTn>
                        </p:par>
                      </p:childTnLst>
                    </p:cTn>
                  </p:par>
                </p:childTnLst>
              </p:cTn>
              <p:nextCondLst>
                <p:cond evt="onClick" delay="0">
                  <p:tgtEl>
                    <p:spTgt spid="9"/>
                  </p:tgtEl>
                </p:cond>
              </p:nextCondLst>
            </p:seq>
          </p:childTnLst>
        </p:cTn>
      </p:par>
    </p:tnLst>
    <p:bldLst>
      <p:bldP spid="9" grpId="0" animBg="1"/>
    </p:bldLst>
  </p:timing>
</p:sld>
</file>

<file path=ppt/c6/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7"/>
          <p:cNvGrpSpPr/>
          <p:nvPr/>
        </p:nvGrpSpPr>
        <p:grpSpPr>
          <a:xfrm>
            <a:off x="1524000" y="1"/>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a:t>Example </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id="{58EFFB2E-C05B-DACE-11B2-5E8CFBAB3596}"/>
                  </a:ext>
                </a:extLst>
              </p:cNvPr>
              <p:cNvSpPr txBox="1"/>
              <p:nvPr/>
            </p:nvSpPr>
            <p:spPr>
              <a:xfrm>
                <a:off x="1919536" y="692697"/>
                <a:ext cx="8424936" cy="1200329"/>
              </a:xfrm>
              <a:prstGeom prst="rect">
                <a:avLst/>
              </a:prstGeom>
              <a:noFill/>
            </p:spPr>
            <p:txBody>
              <a:bodyPr wrap="square" rtlCol="0">
                <a:spAutoFit/>
              </a:bodyPr>
              <a:lstStyle/>
              <a:p>
                <a:r>
                  <a:rPr lang="en-GB" sz="2400"/>
                  <a:t>Given the generic equation of a circle </a:t>
                </a:r>
                <a14:m>
                  <m:oMath xmlns:m="http://schemas.openxmlformats.org/officeDocument/2006/math">
                    <m:sSup>
                      <m:sSupPr>
                        <m:ctrlPr>
                          <a:rPr lang="en-GB" sz="2400" i="1">
                            <a:latin typeface="Cambria Math" panose="02040503050406030204" pitchFamily="18" charset="0"/>
                          </a:rPr>
                        </m:ctrlPr>
                      </m:sSupPr>
                      <m:e>
                        <m:r>
                          <a:rPr lang="en-GB" sz="2400" i="1">
                            <a:latin typeface="Cambria Math" panose="02040503050406030204" pitchFamily="18" charset="0"/>
                          </a:rPr>
                          <m:t>𝑥</m:t>
                        </m:r>
                      </m:e>
                      <m:sup>
                        <m:r>
                          <a:rPr lang="en-GB" sz="2400">
                            <a:latin typeface="Cambria Math" panose="02040503050406030204" pitchFamily="18" charset="0"/>
                          </a:rPr>
                          <m:t>2</m:t>
                        </m:r>
                      </m:sup>
                    </m:sSup>
                    <m:r>
                      <a:rPr lang="en-GB" sz="2400">
                        <a:latin typeface="Cambria Math" panose="02040503050406030204" pitchFamily="18" charset="0"/>
                      </a:rPr>
                      <m:t>+</m:t>
                    </m:r>
                    <m:sSup>
                      <m:sSupPr>
                        <m:ctrlPr>
                          <a:rPr lang="en-GB" sz="2400" i="1">
                            <a:latin typeface="Cambria Math" panose="02040503050406030204" pitchFamily="18" charset="0"/>
                          </a:rPr>
                        </m:ctrlPr>
                      </m:sSupPr>
                      <m:e>
                        <m:r>
                          <a:rPr lang="en-GB" sz="2400" i="1">
                            <a:latin typeface="Cambria Math" panose="02040503050406030204" pitchFamily="18" charset="0"/>
                          </a:rPr>
                          <m:t>𝑦</m:t>
                        </m:r>
                      </m:e>
                      <m:sup>
                        <m:r>
                          <a:rPr lang="en-GB" sz="2400">
                            <a:latin typeface="Cambria Math" panose="02040503050406030204" pitchFamily="18" charset="0"/>
                          </a:rPr>
                          <m:t>2</m:t>
                        </m:r>
                      </m:sup>
                    </m:sSup>
                    <m:r>
                      <a:rPr lang="en-GB" sz="2400">
                        <a:latin typeface="Cambria Math" panose="02040503050406030204" pitchFamily="18" charset="0"/>
                      </a:rPr>
                      <m:t>+</m:t>
                    </m:r>
                    <m:r>
                      <a:rPr lang="en-GB" sz="2400" i="1">
                        <a:latin typeface="Cambria Math" panose="02040503050406030204" pitchFamily="18" charset="0"/>
                      </a:rPr>
                      <m:t>𝑎𝑥</m:t>
                    </m:r>
                    <m:r>
                      <a:rPr lang="en-GB" sz="2400">
                        <a:latin typeface="Cambria Math" panose="02040503050406030204" pitchFamily="18" charset="0"/>
                      </a:rPr>
                      <m:t>+</m:t>
                    </m:r>
                    <m:r>
                      <a:rPr lang="en-GB" sz="2400" i="1">
                        <a:latin typeface="Cambria Math" panose="02040503050406030204" pitchFamily="18" charset="0"/>
                      </a:rPr>
                      <m:t>𝑏𝑦</m:t>
                    </m:r>
                    <m:r>
                      <a:rPr lang="en-GB" sz="2400">
                        <a:latin typeface="Cambria Math" panose="02040503050406030204" pitchFamily="18" charset="0"/>
                      </a:rPr>
                      <m:t>+</m:t>
                    </m:r>
                    <m:r>
                      <a:rPr lang="en-GB" sz="2400" i="1">
                        <a:latin typeface="Cambria Math" panose="02040503050406030204" pitchFamily="18" charset="0"/>
                      </a:rPr>
                      <m:t>𝑐</m:t>
                    </m:r>
                    <m:r>
                      <a:rPr lang="en-GB" sz="2400">
                        <a:latin typeface="Cambria Math" panose="02040503050406030204" pitchFamily="18" charset="0"/>
                      </a:rPr>
                      <m:t>=0</m:t>
                    </m:r>
                  </m:oMath>
                </a14:m>
                <a:r>
                  <a:rPr lang="en-GB" sz="2400"/>
                  <a:t> find a formula to determine the co-ordinate of the centre and the radius of the circle. </a:t>
                </a:r>
              </a:p>
            </p:txBody>
          </p:sp>
        </mc:Choice>
        <mc:Fallback>
          <p:sp>
            <p:nvSpPr>
              <p:cNvPr id="10" name="TextBox 9">
                <a:extLst>
                  <a:ext uri="{FF2B5EF4-FFF2-40B4-BE49-F238E27FC236}">
                    <a16:creationId xmlns:a16="http://schemas.microsoft.com/office/drawing/2014/main" id="{58EFFB2E-C05B-DACE-11B2-5E8CFBAB3596}"/>
                  </a:ext>
                </a:extLst>
              </p:cNvPr>
              <p:cNvSpPr txBox="1">
                <a:spLocks noRot="1" noChangeAspect="1" noMove="1" noResize="1" noEditPoints="1" noAdjustHandles="1" noChangeArrowheads="1" noChangeShapeType="1" noTextEdit="1"/>
              </p:cNvSpPr>
              <p:nvPr/>
            </p:nvSpPr>
            <p:spPr>
              <a:xfrm>
                <a:off x="1919536" y="692697"/>
                <a:ext cx="8424936" cy="1200329"/>
              </a:xfrm>
              <a:prstGeom prst="rect">
                <a:avLst/>
              </a:prstGeom>
              <a:blipFill>
                <a:blip r:embed="rId2"/>
                <a:stretch>
                  <a:fillRect l="-1205" t="-3125" r="-151" b="-9375"/>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79" name="Tekstiruutu 178">
                <a:extLst>
                  <a:ext uri="{FF2B5EF4-FFF2-40B4-BE49-F238E27FC236}">
                    <a16:creationId xmlns:a16="http://schemas.microsoft.com/office/drawing/2014/main" id="{FF4C4315-F615-4AEC-A981-B973395CBE8E}"/>
                  </a:ext>
                </a:extLst>
              </p:cNvPr>
              <p:cNvSpPr txBox="1"/>
              <p:nvPr/>
            </p:nvSpPr>
            <p:spPr>
              <a:xfrm>
                <a:off x="2869385" y="2336127"/>
                <a:ext cx="5980483" cy="1145570"/>
              </a:xfrm>
              <a:prstGeom prst="rect">
                <a:avLst/>
              </a:prstGeom>
              <a:noFill/>
            </p:spPr>
            <p:txBody>
              <a:bodyPr wrap="none" rtlCol="0" anchor="ctr" anchorCtr="1">
                <a:spAutoFit/>
              </a:bodyPr>
              <a:lstStyle/>
              <a:p>
                <a:pPr algn="ctr"/>
                <a14:m>
                  <m:oMathPara xmlns:m="http://schemas.openxmlformats.org/officeDocument/2006/math">
                    <m:oMath>
                      <m:sSup>
                        <m:sSupPr>
                          <m:ctrlPr>
                            <a:rPr lang="en-US" sz="2800" i="1">
                              <a:latin typeface="Cambria Math" panose="02040503050406030204" pitchFamily="18" charset="0"/>
                            </a:rPr>
                          </m:ctrlPr>
                        </m:sSupPr>
                        <m:e>
                          <m:d>
                            <m:dPr>
                              <m:ctrlPr>
                                <a:rPr lang="en-US" sz="2800" i="1">
                                  <a:latin typeface="Cambria Math" panose="02040503050406030204" pitchFamily="18" charset="0"/>
                                </a:rPr>
                              </m:ctrlPr>
                            </m:dPr>
                            <m:e>
                              <m:r>
                                <a:rPr lang="en-US" sz="2800" i="1">
                                  <a:latin typeface="Cambria Math" panose="02040503050406030204" pitchFamily="18" charset="0"/>
                                </a:rPr>
                                <m:t>𝑥</m:t>
                              </m:r>
                              <m:r>
                                <a:rPr lang="en-US" sz="2800">
                                  <a:latin typeface="Cambria Math" panose="02040503050406030204" pitchFamily="18" charset="0"/>
                                </a:rPr>
                                <m:t>+</m:t>
                              </m:r>
                              <m:f>
                                <m:fPr>
                                  <m:ctrlPr>
                                    <a:rPr lang="en-US" sz="2800" i="1">
                                      <a:latin typeface="Cambria Math" panose="02040503050406030204" pitchFamily="18" charset="0"/>
                                    </a:rPr>
                                  </m:ctrlPr>
                                </m:fPr>
                                <m:num>
                                  <m:r>
                                    <a:rPr lang="en-US" sz="2800" i="1">
                                      <a:latin typeface="Cambria Math" panose="02040503050406030204" pitchFamily="18" charset="0"/>
                                    </a:rPr>
                                    <m:t>𝑎</m:t>
                                  </m:r>
                                </m:num>
                                <m:den>
                                  <m:r>
                                    <a:rPr lang="en-US" sz="2800">
                                      <a:latin typeface="Cambria Math" panose="02040503050406030204" pitchFamily="18" charset="0"/>
                                    </a:rPr>
                                    <m:t>2</m:t>
                                  </m:r>
                                </m:den>
                              </m:f>
                            </m:e>
                          </m:d>
                        </m:e>
                        <m:sup>
                          <m:r>
                            <a:rPr lang="en-US" sz="2800">
                              <a:latin typeface="Cambria Math" panose="02040503050406030204" pitchFamily="18" charset="0"/>
                            </a:rPr>
                            <m:t>2</m:t>
                          </m:r>
                        </m:sup>
                      </m:sSup>
                      <m:r>
                        <a:rPr lang="en-US" sz="2800">
                          <a:latin typeface="Cambria Math" panose="02040503050406030204" pitchFamily="18" charset="0"/>
                        </a:rPr>
                        <m:t>+</m:t>
                      </m:r>
                      <m:sSup>
                        <m:sSupPr>
                          <m:ctrlPr>
                            <a:rPr lang="en-US" sz="2800" i="1">
                              <a:latin typeface="Cambria Math" panose="02040503050406030204" pitchFamily="18" charset="0"/>
                            </a:rPr>
                          </m:ctrlPr>
                        </m:sSupPr>
                        <m:e>
                          <m:d>
                            <m:dPr>
                              <m:ctrlPr>
                                <a:rPr lang="en-US" sz="2800" i="1">
                                  <a:latin typeface="Cambria Math" panose="02040503050406030204" pitchFamily="18" charset="0"/>
                                </a:rPr>
                              </m:ctrlPr>
                            </m:dPr>
                            <m:e>
                              <m:r>
                                <a:rPr lang="en-US" sz="2800" i="1">
                                  <a:latin typeface="Cambria Math" panose="02040503050406030204" pitchFamily="18" charset="0"/>
                                </a:rPr>
                                <m:t>𝑦</m:t>
                              </m:r>
                              <m:r>
                                <a:rPr lang="en-US" sz="2800">
                                  <a:latin typeface="Cambria Math" panose="02040503050406030204" pitchFamily="18" charset="0"/>
                                </a:rPr>
                                <m:t>+</m:t>
                              </m:r>
                              <m:f>
                                <m:fPr>
                                  <m:ctrlPr>
                                    <a:rPr lang="en-US" sz="2800" i="1">
                                      <a:latin typeface="Cambria Math" panose="02040503050406030204" pitchFamily="18" charset="0"/>
                                    </a:rPr>
                                  </m:ctrlPr>
                                </m:fPr>
                                <m:num>
                                  <m:r>
                                    <a:rPr lang="en-US" sz="2800" i="1">
                                      <a:latin typeface="Cambria Math" panose="02040503050406030204" pitchFamily="18" charset="0"/>
                                    </a:rPr>
                                    <m:t>𝑏</m:t>
                                  </m:r>
                                </m:num>
                                <m:den>
                                  <m:r>
                                    <a:rPr lang="en-US" sz="2800">
                                      <a:latin typeface="Cambria Math" panose="02040503050406030204" pitchFamily="18" charset="0"/>
                                    </a:rPr>
                                    <m:t>2</m:t>
                                  </m:r>
                                </m:den>
                              </m:f>
                            </m:e>
                          </m:d>
                        </m:e>
                        <m:sup>
                          <m:r>
                            <a:rPr lang="en-US" sz="2800">
                              <a:latin typeface="Cambria Math" panose="02040503050406030204" pitchFamily="18" charset="0"/>
                            </a:rPr>
                            <m:t>2</m:t>
                          </m:r>
                        </m:sup>
                      </m:sSup>
                      <m:r>
                        <a:rPr lang="en-US" sz="2800">
                          <a:latin typeface="Cambria Math" panose="02040503050406030204" pitchFamily="18" charset="0"/>
                        </a:rPr>
                        <m:t>=−</m:t>
                      </m:r>
                      <m:r>
                        <a:rPr lang="en-US" sz="2800" i="1">
                          <a:latin typeface="Cambria Math" panose="02040503050406030204" pitchFamily="18" charset="0"/>
                        </a:rPr>
                        <m:t>𝑐</m:t>
                      </m:r>
                      <m:r>
                        <a:rPr lang="en-US" sz="2800">
                          <a:latin typeface="Cambria Math" panose="02040503050406030204" pitchFamily="18" charset="0"/>
                        </a:rPr>
                        <m:t>+</m:t>
                      </m:r>
                      <m:f>
                        <m:fPr>
                          <m:ctrlPr>
                            <a:rPr lang="en-US" sz="2800" i="1">
                              <a:latin typeface="Cambria Math" panose="02040503050406030204" pitchFamily="18" charset="0"/>
                            </a:rPr>
                          </m:ctrlPr>
                        </m:fPr>
                        <m:num>
                          <m:sSup>
                            <m:sSupPr>
                              <m:ctrlPr>
                                <a:rPr lang="en-US" sz="2800" i="1">
                                  <a:latin typeface="Cambria Math" panose="02040503050406030204" pitchFamily="18" charset="0"/>
                                </a:rPr>
                              </m:ctrlPr>
                            </m:sSupPr>
                            <m:e>
                              <m:r>
                                <a:rPr lang="en-US" sz="2800" i="1">
                                  <a:latin typeface="Cambria Math" panose="02040503050406030204" pitchFamily="18" charset="0"/>
                                </a:rPr>
                                <m:t>𝑎</m:t>
                              </m:r>
                            </m:e>
                            <m:sup>
                              <m:r>
                                <a:rPr lang="en-US" sz="2800">
                                  <a:latin typeface="Cambria Math" panose="02040503050406030204" pitchFamily="18" charset="0"/>
                                </a:rPr>
                                <m:t>2</m:t>
                              </m:r>
                            </m:sup>
                          </m:sSup>
                        </m:num>
                        <m:den>
                          <m:r>
                            <a:rPr lang="en-US" sz="2800">
                              <a:latin typeface="Cambria Math" panose="02040503050406030204" pitchFamily="18" charset="0"/>
                            </a:rPr>
                            <m:t>4</m:t>
                          </m:r>
                        </m:den>
                      </m:f>
                      <m:r>
                        <a:rPr lang="en-US" sz="2800">
                          <a:latin typeface="Cambria Math" panose="02040503050406030204" pitchFamily="18" charset="0"/>
                        </a:rPr>
                        <m:t>+</m:t>
                      </m:r>
                      <m:f>
                        <m:fPr>
                          <m:ctrlPr>
                            <a:rPr lang="en-US" sz="2800" i="1">
                              <a:latin typeface="Cambria Math" panose="02040503050406030204" pitchFamily="18" charset="0"/>
                            </a:rPr>
                          </m:ctrlPr>
                        </m:fPr>
                        <m:num>
                          <m:sSup>
                            <m:sSupPr>
                              <m:ctrlPr>
                                <a:rPr lang="en-US" sz="2800" i="1">
                                  <a:latin typeface="Cambria Math" panose="02040503050406030204" pitchFamily="18" charset="0"/>
                                </a:rPr>
                              </m:ctrlPr>
                            </m:sSupPr>
                            <m:e>
                              <m:r>
                                <a:rPr lang="en-US" sz="2800" i="1">
                                  <a:latin typeface="Cambria Math" panose="02040503050406030204" pitchFamily="18" charset="0"/>
                                </a:rPr>
                                <m:t>𝑏</m:t>
                              </m:r>
                            </m:e>
                            <m:sup>
                              <m:r>
                                <a:rPr lang="en-US" sz="2800">
                                  <a:latin typeface="Cambria Math" panose="02040503050406030204" pitchFamily="18" charset="0"/>
                                </a:rPr>
                                <m:t>2</m:t>
                              </m:r>
                            </m:sup>
                          </m:sSup>
                        </m:num>
                        <m:den>
                          <m:r>
                            <a:rPr lang="en-US" sz="2800">
                              <a:latin typeface="Cambria Math" panose="02040503050406030204" pitchFamily="18" charset="0"/>
                            </a:rPr>
                            <m:t>4</m:t>
                          </m:r>
                        </m:den>
                      </m:f>
                    </m:oMath>
                  </m:oMathPara>
                </a14:m>
                <a:endParaRPr lang="en-US" sz="5800"/>
              </a:p>
            </p:txBody>
          </p:sp>
        </mc:Choice>
        <mc:Fallback>
          <p:sp>
            <p:nvSpPr>
              <p:cNvPr id="179" name="Tekstiruutu 178">
                <a:extLst>
                  <a:ext uri="{FF2B5EF4-FFF2-40B4-BE49-F238E27FC236}">
                    <a16:creationId xmlns:a16="http://schemas.microsoft.com/office/drawing/2014/main" id="{FF4C4315-F615-4AEC-A981-B973395CBE8E}"/>
                  </a:ext>
                </a:extLst>
              </p:cNvPr>
              <p:cNvSpPr txBox="1">
                <a:spLocks noRot="1" noChangeAspect="1" noMove="1" noResize="1" noEditPoints="1" noAdjustHandles="1" noChangeArrowheads="1" noChangeShapeType="1" noTextEdit="1"/>
              </p:cNvSpPr>
              <p:nvPr/>
            </p:nvSpPr>
            <p:spPr>
              <a:xfrm>
                <a:off x="2869385" y="2336127"/>
                <a:ext cx="5980483" cy="1145570"/>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9" name="TekstSylinder 48">
                <a:extLst>
                  <a:ext uri="{FF2B5EF4-FFF2-40B4-BE49-F238E27FC236}">
                    <a16:creationId xmlns:a16="http://schemas.microsoft.com/office/drawing/2014/main" id="{5DA3FA7D-1166-4BDA-95BF-AA9E618F93EF}"/>
                  </a:ext>
                </a:extLst>
              </p:cNvPr>
              <p:cNvSpPr txBox="1"/>
              <p:nvPr/>
            </p:nvSpPr>
            <p:spPr>
              <a:xfrm>
                <a:off x="2891898" y="3645024"/>
                <a:ext cx="2981906" cy="995144"/>
              </a:xfrm>
              <a:prstGeom prst="rect">
                <a:avLst/>
              </a:prstGeom>
              <a:noFill/>
            </p:spPr>
            <p:txBody>
              <a:bodyPr wrap="none" rtlCol="0" anchor="ctr" anchorCtr="1">
                <a:spAutoFit/>
              </a:bodyPr>
              <a:lstStyle/>
              <a:p>
                <a:pPr algn="ctr"/>
                <a14:m>
                  <m:oMathPara xmlns:m="http://schemas.openxmlformats.org/officeDocument/2006/math">
                    <m:oMath>
                      <m:r>
                        <a:rPr lang="en-US" sz="2400" i="1">
                          <a:latin typeface="Cambria Math" panose="02040503050406030204" pitchFamily="18" charset="0"/>
                        </a:rPr>
                        <m:t>𝑟</m:t>
                      </m:r>
                      <m:r>
                        <a:rPr lang="en-US" sz="2400">
                          <a:latin typeface="Cambria Math" panose="02040503050406030204" pitchFamily="18" charset="0"/>
                        </a:rPr>
                        <m:t>=</m:t>
                      </m:r>
                      <m:sSup>
                        <m:sSupPr>
                          <m:ctrlPr>
                            <a:rPr lang="en-US" sz="2400" i="1">
                              <a:latin typeface="Cambria Math" panose="02040503050406030204" pitchFamily="18" charset="0"/>
                            </a:rPr>
                          </m:ctrlPr>
                        </m:sSupPr>
                        <m:e>
                          <m:d>
                            <m:dPr>
                              <m:ctrlPr>
                                <a:rPr lang="en-GB" sz="2400" i="1">
                                  <a:latin typeface="Cambria Math" panose="02040503050406030204" pitchFamily="18" charset="0"/>
                                </a:rPr>
                              </m:ctrlPr>
                            </m:dPr>
                            <m:e>
                              <m:f>
                                <m:fPr>
                                  <m:ctrlPr>
                                    <a:rPr lang="en-GB" sz="2400" i="1">
                                      <a:latin typeface="Cambria Math" panose="02040503050406030204" pitchFamily="18" charset="0"/>
                                    </a:rPr>
                                  </m:ctrlPr>
                                </m:fPr>
                                <m:num>
                                  <m:r>
                                    <a:rPr lang="en-GB" sz="2400" i="1">
                                      <a:latin typeface="Cambria Math" panose="02040503050406030204" pitchFamily="18" charset="0"/>
                                    </a:rPr>
                                    <m:t>𝑎</m:t>
                                  </m:r>
                                </m:num>
                                <m:den>
                                  <m:r>
                                    <a:rPr lang="en-US" sz="2400">
                                      <a:latin typeface="Cambria Math" panose="02040503050406030204" pitchFamily="18" charset="0"/>
                                    </a:rPr>
                                    <m:t>2</m:t>
                                  </m:r>
                                </m:den>
                              </m:f>
                            </m:e>
                          </m:d>
                        </m:e>
                        <m:sup>
                          <m:r>
                            <a:rPr lang="en-US" sz="2400">
                              <a:latin typeface="Cambria Math" panose="02040503050406030204" pitchFamily="18" charset="0"/>
                            </a:rPr>
                            <m:t>2</m:t>
                          </m:r>
                        </m:sup>
                      </m:sSup>
                      <m:r>
                        <a:rPr lang="en-US" sz="2400">
                          <a:latin typeface="Cambria Math" panose="02040503050406030204" pitchFamily="18" charset="0"/>
                        </a:rPr>
                        <m:t>+</m:t>
                      </m:r>
                      <m:sSup>
                        <m:sSupPr>
                          <m:ctrlPr>
                            <a:rPr lang="en-US" sz="2400" i="1">
                              <a:latin typeface="Cambria Math" panose="02040503050406030204" pitchFamily="18" charset="0"/>
                            </a:rPr>
                          </m:ctrlPr>
                        </m:sSupPr>
                        <m:e>
                          <m:d>
                            <m:dPr>
                              <m:ctrlPr>
                                <a:rPr lang="en-US" sz="2400" i="1">
                                  <a:latin typeface="Cambria Math" panose="02040503050406030204" pitchFamily="18" charset="0"/>
                                </a:rPr>
                              </m:ctrlPr>
                            </m:dPr>
                            <m:e>
                              <m:f>
                                <m:fPr>
                                  <m:ctrlPr>
                                    <a:rPr lang="en-US" sz="2400" i="1">
                                      <a:latin typeface="Cambria Math" panose="02040503050406030204" pitchFamily="18" charset="0"/>
                                    </a:rPr>
                                  </m:ctrlPr>
                                </m:fPr>
                                <m:num>
                                  <m:r>
                                    <a:rPr lang="en-US" sz="2400" i="1">
                                      <a:latin typeface="Cambria Math" panose="02040503050406030204" pitchFamily="18" charset="0"/>
                                    </a:rPr>
                                    <m:t>𝑏</m:t>
                                  </m:r>
                                </m:num>
                                <m:den>
                                  <m:r>
                                    <a:rPr lang="en-US" sz="2400">
                                      <a:latin typeface="Cambria Math" panose="02040503050406030204" pitchFamily="18" charset="0"/>
                                    </a:rPr>
                                    <m:t>2</m:t>
                                  </m:r>
                                </m:den>
                              </m:f>
                            </m:e>
                          </m:d>
                        </m:e>
                        <m:sup>
                          <m:r>
                            <a:rPr lang="en-US" sz="2400">
                              <a:latin typeface="Cambria Math" panose="02040503050406030204" pitchFamily="18" charset="0"/>
                            </a:rPr>
                            <m:t>2</m:t>
                          </m:r>
                        </m:sup>
                      </m:sSup>
                      <m:r>
                        <a:rPr lang="en-US" sz="2400">
                          <a:latin typeface="Cambria Math" panose="02040503050406030204" pitchFamily="18" charset="0"/>
                        </a:rPr>
                        <m:t>−</m:t>
                      </m:r>
                      <m:r>
                        <a:rPr lang="en-US" sz="2400" i="1">
                          <a:latin typeface="Cambria Math" panose="02040503050406030204" pitchFamily="18" charset="0"/>
                        </a:rPr>
                        <m:t>𝑐</m:t>
                      </m:r>
                    </m:oMath>
                  </m:oMathPara>
                </a14:m>
                <a:endParaRPr lang="en-US" sz="2400"/>
              </a:p>
            </p:txBody>
          </p:sp>
        </mc:Choice>
        <mc:Fallback>
          <p:sp>
            <p:nvSpPr>
              <p:cNvPr id="49" name="TekstSylinder 48">
                <a:extLst>
                  <a:ext uri="{FF2B5EF4-FFF2-40B4-BE49-F238E27FC236}">
                    <a16:creationId xmlns:a16="http://schemas.microsoft.com/office/drawing/2014/main" id="{5DA3FA7D-1166-4BDA-95BF-AA9E618F93EF}"/>
                  </a:ext>
                </a:extLst>
              </p:cNvPr>
              <p:cNvSpPr txBox="1">
                <a:spLocks noRot="1" noChangeAspect="1" noMove="1" noResize="1" noEditPoints="1" noAdjustHandles="1" noChangeArrowheads="1" noChangeShapeType="1" noTextEdit="1"/>
              </p:cNvSpPr>
              <p:nvPr/>
            </p:nvSpPr>
            <p:spPr>
              <a:xfrm>
                <a:off x="2891898" y="3645024"/>
                <a:ext cx="2981906" cy="995144"/>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7" name="Textfeld 36">
                <a:extLst>
                  <a:ext uri="{FF2B5EF4-FFF2-40B4-BE49-F238E27FC236}">
                    <a16:creationId xmlns:a16="http://schemas.microsoft.com/office/drawing/2014/main" id="{B3B9E14B-4EB1-4AFF-9453-5698BAB61BA0}"/>
                  </a:ext>
                </a:extLst>
              </p:cNvPr>
              <p:cNvSpPr txBox="1"/>
              <p:nvPr/>
            </p:nvSpPr>
            <p:spPr>
              <a:xfrm>
                <a:off x="2963906" y="4797153"/>
                <a:ext cx="2174250" cy="1060483"/>
              </a:xfrm>
              <a:prstGeom prst="rect">
                <a:avLst/>
              </a:prstGeom>
              <a:noFill/>
            </p:spPr>
            <p:txBody>
              <a:bodyPr wrap="none" rtlCol="0" anchor="ctr" anchorCtr="1">
                <a:spAutoFit/>
              </a:bodyPr>
              <a:lstStyle/>
              <a:p>
                <a:pPr algn="ctr"/>
                <a14:m>
                  <m:oMathPara xmlns:m="http://schemas.openxmlformats.org/officeDocument/2006/math">
                    <m:oMath>
                      <m:r>
                        <a:rPr lang="en-US" sz="2800" i="1">
                          <a:latin typeface="Cambria Math" panose="02040503050406030204" pitchFamily="18" charset="0"/>
                        </a:rPr>
                        <m:t>𝑐</m:t>
                      </m:r>
                      <m:d>
                        <m:dPr>
                          <m:ctrlPr>
                            <a:rPr lang="en-US" sz="2800">
                              <a:latin typeface="Cambria Math" panose="02040503050406030204" pitchFamily="18" charset="0"/>
                            </a:rPr>
                          </m:ctrlPr>
                        </m:dPr>
                        <m:e>
                          <m:r>
                            <a:rPr lang="en-US" sz="2800">
                              <a:latin typeface="Cambria Math" panose="02040503050406030204" pitchFamily="18" charset="0"/>
                            </a:rPr>
                            <m:t>−</m:t>
                          </m:r>
                          <m:f>
                            <m:fPr>
                              <m:ctrlPr>
                                <a:rPr lang="en-US" sz="2800" i="1">
                                  <a:latin typeface="Cambria Math" panose="02040503050406030204" pitchFamily="18" charset="0"/>
                                </a:rPr>
                              </m:ctrlPr>
                            </m:fPr>
                            <m:num>
                              <m:r>
                                <a:rPr lang="en-US" sz="2800" i="1">
                                  <a:latin typeface="Cambria Math" panose="02040503050406030204" pitchFamily="18" charset="0"/>
                                </a:rPr>
                                <m:t>𝑎</m:t>
                              </m:r>
                            </m:num>
                            <m:den>
                              <m:r>
                                <a:rPr lang="en-US" sz="2800">
                                  <a:latin typeface="Cambria Math" panose="02040503050406030204" pitchFamily="18" charset="0"/>
                                </a:rPr>
                                <m:t>2</m:t>
                              </m:r>
                            </m:den>
                          </m:f>
                          <m:r>
                            <a:rPr lang="en-US" sz="2800">
                              <a:latin typeface="Cambria Math" panose="02040503050406030204" pitchFamily="18" charset="0"/>
                            </a:rPr>
                            <m:t>,−</m:t>
                          </m:r>
                          <m:f>
                            <m:fPr>
                              <m:ctrlPr>
                                <a:rPr lang="en-US" sz="2800" i="1">
                                  <a:latin typeface="Cambria Math" panose="02040503050406030204" pitchFamily="18" charset="0"/>
                                </a:rPr>
                              </m:ctrlPr>
                            </m:fPr>
                            <m:num>
                              <m:r>
                                <a:rPr lang="en-US" sz="2800" i="1">
                                  <a:latin typeface="Cambria Math" panose="02040503050406030204" pitchFamily="18" charset="0"/>
                                </a:rPr>
                                <m:t>𝑏</m:t>
                              </m:r>
                            </m:num>
                            <m:den>
                              <m:r>
                                <a:rPr lang="en-US" sz="2800">
                                  <a:latin typeface="Cambria Math" panose="02040503050406030204" pitchFamily="18" charset="0"/>
                                </a:rPr>
                                <m:t>2</m:t>
                              </m:r>
                            </m:den>
                          </m:f>
                        </m:e>
                      </m:d>
                    </m:oMath>
                  </m:oMathPara>
                </a14:m>
                <a:endParaRPr lang="en-US" sz="2800"/>
              </a:p>
            </p:txBody>
          </p:sp>
        </mc:Choice>
        <mc:Fallback>
          <p:sp>
            <p:nvSpPr>
              <p:cNvPr id="37" name="Textfeld 36">
                <a:extLst>
                  <a:ext uri="{FF2B5EF4-FFF2-40B4-BE49-F238E27FC236}">
                    <a16:creationId xmlns:a16="http://schemas.microsoft.com/office/drawing/2014/main" id="{B3B9E14B-4EB1-4AFF-9453-5698BAB61BA0}"/>
                  </a:ext>
                </a:extLst>
              </p:cNvPr>
              <p:cNvSpPr txBox="1">
                <a:spLocks noRot="1" noChangeAspect="1" noMove="1" noResize="1" noEditPoints="1" noAdjustHandles="1" noChangeArrowheads="1" noChangeShapeType="1" noTextEdit="1"/>
              </p:cNvSpPr>
              <p:nvPr/>
            </p:nvSpPr>
            <p:spPr>
              <a:xfrm>
                <a:off x="2963906" y="4797153"/>
                <a:ext cx="2174250" cy="1060483"/>
              </a:xfrm>
              <a:prstGeom prst="rect">
                <a:avLst/>
              </a:prstGeom>
              <a:blipFill>
                <a:blip r:embed="rId5"/>
                <a:stretch>
                  <a:fillRect/>
                </a:stretch>
              </a:blipFill>
            </p:spPr>
            <p:txBody>
              <a:bodyPr/>
              <a:lstStyle/>
              <a:p>
                <a:r>
                  <a:rPr lang="en-US">
                    <a:noFill/>
                  </a:rPr>
                  <a:t> </a:t>
                </a:r>
              </a:p>
            </p:txBody>
          </p:sp>
        </mc:Fallback>
      </mc:AlternateContent>
      <p:sp>
        <p:nvSpPr>
          <p:cNvPr id="111" name="Rectangle 110">
            <a:extLst>
              <a:ext uri="{FF2B5EF4-FFF2-40B4-BE49-F238E27FC236}">
                <a16:creationId xmlns:a16="http://schemas.microsoft.com/office/drawing/2014/main" id="{B8C16051-8B45-6EAE-2C9F-F6054BB9B62A}"/>
              </a:ext>
            </a:extLst>
          </p:cNvPr>
          <p:cNvSpPr/>
          <p:nvPr/>
        </p:nvSpPr>
        <p:spPr>
          <a:xfrm>
            <a:off x="2021376" y="2032449"/>
            <a:ext cx="8131881" cy="4267791"/>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Tree>
    <p:extLst>
      <p:ext uri="{BB962C8B-B14F-4D97-AF65-F5344CB8AC3E}">
        <p14:creationId xmlns:p14="http://schemas.microsoft.com/office/powerpoint/2010/main" val="3706175316"/>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11"/>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11"/>
                                        </p:tgtEl>
                                      </p:cBhvr>
                                    </p:animEffect>
                                    <p:set>
                                      <p:cBhvr>
                                        <p:cTn id="7" dur="1" fill="hold">
                                          <p:stCondLst>
                                            <p:cond delay="499"/>
                                          </p:stCondLst>
                                        </p:cTn>
                                        <p:tgtEl>
                                          <p:spTgt spid="111"/>
                                        </p:tgtEl>
                                        <p:attrNameLst>
                                          <p:attrName>style.visibility</p:attrName>
                                        </p:attrNameLst>
                                      </p:cBhvr>
                                      <p:to>
                                        <p:strVal val="hidden"/>
                                      </p:to>
                                    </p:set>
                                  </p:childTnLst>
                                </p:cTn>
                              </p:par>
                            </p:childTnLst>
                          </p:cTn>
                        </p:par>
                      </p:childTnLst>
                    </p:cTn>
                  </p:par>
                </p:childTnLst>
              </p:cTn>
              <p:nextCondLst>
                <p:cond evt="onClick" delay="0">
                  <p:tgtEl>
                    <p:spTgt spid="111"/>
                  </p:tgtEl>
                </p:cond>
              </p:nextCondLst>
            </p:seq>
          </p:childTnLst>
        </p:cTn>
      </p:par>
    </p:tnLst>
    <p:bldLst>
      <p:bldP spid="111" grpId="0" animBg="1"/>
    </p:bldLst>
  </p:timing>
</p:sld>
</file>

<file path=ppt/c6/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0" y="1"/>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a:t>Exercise 6C - Y1 Page 120</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p:grpSp>
        <p:nvGrpSpPr>
          <p:cNvPr id="7" name="Group 6">
            <a:extLst>
              <a:ext uri="{FF2B5EF4-FFF2-40B4-BE49-F238E27FC236}">
                <a16:creationId xmlns:a16="http://schemas.microsoft.com/office/drawing/2014/main" id="{C3781A9A-DE71-527F-EE86-879CA6E4E92C}"/>
              </a:ext>
            </a:extLst>
          </p:cNvPr>
          <p:cNvGrpSpPr/>
          <p:nvPr/>
        </p:nvGrpSpPr>
        <p:grpSpPr>
          <a:xfrm>
            <a:off x="1703512" y="620688"/>
            <a:ext cx="8064896" cy="792088"/>
            <a:chOff x="179512" y="692696"/>
            <a:chExt cx="7776864" cy="720080"/>
          </a:xfrm>
        </p:grpSpPr>
        <p:pic>
          <p:nvPicPr>
            <p:cNvPr id="5" name="Picture 4">
              <a:extLst>
                <a:ext uri="{FF2B5EF4-FFF2-40B4-BE49-F238E27FC236}">
                  <a16:creationId xmlns:a16="http://schemas.microsoft.com/office/drawing/2014/main" id="{A1333A07-3771-32F7-6481-1E5ABD77D2BD}"/>
                </a:ext>
              </a:extLst>
            </p:cNvPr>
            <p:cNvPicPr>
              <a:picLocks noChangeAspect="1"/>
            </p:cNvPicPr>
            <p:nvPr/>
          </p:nvPicPr>
          <p:blipFill>
            <a:blip r:embed="rId2"/>
            <a:stretch>
              <a:fillRect/>
            </a:stretch>
          </p:blipFill>
          <p:spPr>
            <a:xfrm>
              <a:off x="179512" y="692696"/>
              <a:ext cx="7772400" cy="595940"/>
            </a:xfrm>
            <a:prstGeom prst="rect">
              <a:avLst/>
            </a:prstGeom>
          </p:spPr>
        </p:pic>
        <p:sp>
          <p:nvSpPr>
            <p:cNvPr id="6" name="Rectangle 5">
              <a:extLst>
                <a:ext uri="{FF2B5EF4-FFF2-40B4-BE49-F238E27FC236}">
                  <a16:creationId xmlns:a16="http://schemas.microsoft.com/office/drawing/2014/main" id="{E7DAA6FB-81CA-AD60-8D1B-1C56F747E7E3}"/>
                </a:ext>
              </a:extLst>
            </p:cNvPr>
            <p:cNvSpPr/>
            <p:nvPr/>
          </p:nvSpPr>
          <p:spPr>
            <a:xfrm>
              <a:off x="7668344" y="1052736"/>
              <a:ext cx="288032" cy="36004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2" name="Group 11">
            <a:extLst>
              <a:ext uri="{FF2B5EF4-FFF2-40B4-BE49-F238E27FC236}">
                <a16:creationId xmlns:a16="http://schemas.microsoft.com/office/drawing/2014/main" id="{F4BAC032-AC02-4106-86D6-6859D54D54D2}"/>
              </a:ext>
            </a:extLst>
          </p:cNvPr>
          <p:cNvGrpSpPr/>
          <p:nvPr/>
        </p:nvGrpSpPr>
        <p:grpSpPr>
          <a:xfrm>
            <a:off x="1913676" y="1293959"/>
            <a:ext cx="4248472" cy="1885685"/>
            <a:chOff x="323528" y="1441799"/>
            <a:chExt cx="4749800" cy="2108200"/>
          </a:xfrm>
        </p:grpSpPr>
        <p:pic>
          <p:nvPicPr>
            <p:cNvPr id="8" name="Picture 7">
              <a:extLst>
                <a:ext uri="{FF2B5EF4-FFF2-40B4-BE49-F238E27FC236}">
                  <a16:creationId xmlns:a16="http://schemas.microsoft.com/office/drawing/2014/main" id="{6BD57C20-7C09-414A-67C7-EB543ADC310C}"/>
                </a:ext>
              </a:extLst>
            </p:cNvPr>
            <p:cNvPicPr>
              <a:picLocks noChangeAspect="1"/>
            </p:cNvPicPr>
            <p:nvPr/>
          </p:nvPicPr>
          <p:blipFill>
            <a:blip r:embed="rId3"/>
            <a:stretch>
              <a:fillRect/>
            </a:stretch>
          </p:blipFill>
          <p:spPr>
            <a:xfrm>
              <a:off x="323528" y="1441799"/>
              <a:ext cx="4749800" cy="2108200"/>
            </a:xfrm>
            <a:prstGeom prst="rect">
              <a:avLst/>
            </a:prstGeom>
          </p:spPr>
        </p:pic>
        <p:pic>
          <p:nvPicPr>
            <p:cNvPr id="10" name="Picture 9">
              <a:extLst>
                <a:ext uri="{FF2B5EF4-FFF2-40B4-BE49-F238E27FC236}">
                  <a16:creationId xmlns:a16="http://schemas.microsoft.com/office/drawing/2014/main" id="{98FB8DFA-DB77-A0D6-30C8-B5394243CE0D}"/>
                </a:ext>
              </a:extLst>
            </p:cNvPr>
            <p:cNvPicPr>
              <a:picLocks noChangeAspect="1"/>
            </p:cNvPicPr>
            <p:nvPr/>
          </p:nvPicPr>
          <p:blipFill>
            <a:blip r:embed="rId4"/>
            <a:stretch>
              <a:fillRect/>
            </a:stretch>
          </p:blipFill>
          <p:spPr>
            <a:xfrm>
              <a:off x="4247578" y="2853076"/>
              <a:ext cx="647700" cy="635000"/>
            </a:xfrm>
            <a:prstGeom prst="rect">
              <a:avLst/>
            </a:prstGeom>
          </p:spPr>
        </p:pic>
      </p:grpSp>
      <p:pic>
        <p:nvPicPr>
          <p:cNvPr id="11" name="Picture 10">
            <a:extLst>
              <a:ext uri="{FF2B5EF4-FFF2-40B4-BE49-F238E27FC236}">
                <a16:creationId xmlns:a16="http://schemas.microsoft.com/office/drawing/2014/main" id="{528247BC-68A4-E9ED-BC50-2177294FC1AA}"/>
              </a:ext>
            </a:extLst>
          </p:cNvPr>
          <p:cNvPicPr>
            <a:picLocks noChangeAspect="1"/>
          </p:cNvPicPr>
          <p:nvPr/>
        </p:nvPicPr>
        <p:blipFill>
          <a:blip r:embed="rId5"/>
          <a:stretch>
            <a:fillRect/>
          </a:stretch>
        </p:blipFill>
        <p:spPr>
          <a:xfrm>
            <a:off x="1980748" y="3124255"/>
            <a:ext cx="4403285" cy="908130"/>
          </a:xfrm>
          <a:prstGeom prst="rect">
            <a:avLst/>
          </a:prstGeom>
        </p:spPr>
      </p:pic>
      <p:pic>
        <p:nvPicPr>
          <p:cNvPr id="13" name="Picture 12">
            <a:extLst>
              <a:ext uri="{FF2B5EF4-FFF2-40B4-BE49-F238E27FC236}">
                <a16:creationId xmlns:a16="http://schemas.microsoft.com/office/drawing/2014/main" id="{77AD0F22-3021-F16D-F98E-503714A55CFC}"/>
              </a:ext>
            </a:extLst>
          </p:cNvPr>
          <p:cNvPicPr>
            <a:picLocks noChangeAspect="1"/>
          </p:cNvPicPr>
          <p:nvPr/>
        </p:nvPicPr>
        <p:blipFill>
          <a:blip r:embed="rId6"/>
          <a:stretch>
            <a:fillRect/>
          </a:stretch>
        </p:blipFill>
        <p:spPr>
          <a:xfrm>
            <a:off x="1760874" y="4248352"/>
            <a:ext cx="7772400" cy="355035"/>
          </a:xfrm>
          <a:prstGeom prst="rect">
            <a:avLst/>
          </a:prstGeom>
        </p:spPr>
      </p:pic>
      <p:pic>
        <p:nvPicPr>
          <p:cNvPr id="14" name="Picture 13">
            <a:extLst>
              <a:ext uri="{FF2B5EF4-FFF2-40B4-BE49-F238E27FC236}">
                <a16:creationId xmlns:a16="http://schemas.microsoft.com/office/drawing/2014/main" id="{6810CE95-B899-579E-DB80-620D20DC7197}"/>
              </a:ext>
            </a:extLst>
          </p:cNvPr>
          <p:cNvPicPr>
            <a:picLocks noChangeAspect="1"/>
          </p:cNvPicPr>
          <p:nvPr/>
        </p:nvPicPr>
        <p:blipFill>
          <a:blip r:embed="rId7"/>
          <a:stretch>
            <a:fillRect/>
          </a:stretch>
        </p:blipFill>
        <p:spPr>
          <a:xfrm>
            <a:off x="2207568" y="4819352"/>
            <a:ext cx="4305300" cy="1778000"/>
          </a:xfrm>
          <a:prstGeom prst="rect">
            <a:avLst/>
          </a:prstGeom>
        </p:spPr>
      </p:pic>
      <p:sp>
        <p:nvSpPr>
          <p:cNvPr id="15" name="Rectangle 14">
            <a:extLst>
              <a:ext uri="{FF2B5EF4-FFF2-40B4-BE49-F238E27FC236}">
                <a16:creationId xmlns:a16="http://schemas.microsoft.com/office/drawing/2014/main" id="{C23ADDC7-2E0A-431B-BF76-E7F6392481F3}"/>
              </a:ext>
            </a:extLst>
          </p:cNvPr>
          <p:cNvSpPr/>
          <p:nvPr/>
        </p:nvSpPr>
        <p:spPr>
          <a:xfrm>
            <a:off x="1961799" y="1290650"/>
            <a:ext cx="5430345" cy="2821147"/>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
        <p:nvSpPr>
          <p:cNvPr id="16" name="Rectangle 15">
            <a:extLst>
              <a:ext uri="{FF2B5EF4-FFF2-40B4-BE49-F238E27FC236}">
                <a16:creationId xmlns:a16="http://schemas.microsoft.com/office/drawing/2014/main" id="{1BEE743A-CF48-3000-7D5C-54D6C7F658FD}"/>
              </a:ext>
            </a:extLst>
          </p:cNvPr>
          <p:cNvSpPr/>
          <p:nvPr/>
        </p:nvSpPr>
        <p:spPr>
          <a:xfrm>
            <a:off x="1961799" y="4739941"/>
            <a:ext cx="5430345" cy="1942254"/>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Tree>
    <p:extLst>
      <p:ext uri="{BB962C8B-B14F-4D97-AF65-F5344CB8AC3E}">
        <p14:creationId xmlns:p14="http://schemas.microsoft.com/office/powerpoint/2010/main" val="2439553580"/>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5"/>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5"/>
                                        </p:tgtEl>
                                      </p:cBhvr>
                                    </p:animEffect>
                                    <p:set>
                                      <p:cBhvr>
                                        <p:cTn id="7" dur="1" fill="hold">
                                          <p:stCondLst>
                                            <p:cond delay="499"/>
                                          </p:stCondLst>
                                        </p:cTn>
                                        <p:tgtEl>
                                          <p:spTgt spid="15"/>
                                        </p:tgtEl>
                                        <p:attrNameLst>
                                          <p:attrName>style.visibility</p:attrName>
                                        </p:attrNameLst>
                                      </p:cBhvr>
                                      <p:to>
                                        <p:strVal val="hidden"/>
                                      </p:to>
                                    </p:set>
                                  </p:childTnLst>
                                </p:cTn>
                              </p:par>
                            </p:childTnLst>
                          </p:cTn>
                        </p:par>
                      </p:childTnLst>
                    </p:cTn>
                  </p:par>
                </p:childTnLst>
              </p:cTn>
              <p:nextCondLst>
                <p:cond evt="onClick" delay="0">
                  <p:tgtEl>
                    <p:spTgt spid="15"/>
                  </p:tgtEl>
                </p:cond>
              </p:nextCondLst>
            </p:seq>
            <p:seq concurrent="1" nextAc="seek">
              <p:cTn id="8" restart="whenNotActive" fill="hold" evtFilter="cancelBubble" nodeType="interactiveSeq">
                <p:stCondLst>
                  <p:cond evt="onClick" delay="0">
                    <p:tgtEl>
                      <p:spTgt spid="16"/>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16"/>
                                        </p:tgtEl>
                                      </p:cBhvr>
                                    </p:animEffect>
                                    <p:set>
                                      <p:cBhvr>
                                        <p:cTn id="13" dur="1" fill="hold">
                                          <p:stCondLst>
                                            <p:cond delay="499"/>
                                          </p:stCondLst>
                                        </p:cTn>
                                        <p:tgtEl>
                                          <p:spTgt spid="16"/>
                                        </p:tgtEl>
                                        <p:attrNameLst>
                                          <p:attrName>style.visibility</p:attrName>
                                        </p:attrNameLst>
                                      </p:cBhvr>
                                      <p:to>
                                        <p:strVal val="hidden"/>
                                      </p:to>
                                    </p:set>
                                  </p:childTnLst>
                                </p:cTn>
                              </p:par>
                            </p:childTnLst>
                          </p:cTn>
                        </p:par>
                      </p:childTnLst>
                    </p:cTn>
                  </p:par>
                </p:childTnLst>
              </p:cTn>
              <p:nextCondLst>
                <p:cond evt="onClick" delay="0">
                  <p:tgtEl>
                    <p:spTgt spid="16"/>
                  </p:tgtEl>
                </p:cond>
              </p:nextCondLst>
            </p:seq>
          </p:childTnLst>
        </p:cTn>
      </p:par>
    </p:tnLst>
    <p:bldLst>
      <p:bldP spid="15" grpId="0" animBg="1"/>
      <p:bldP spid="16" grpId="0" animBg="1"/>
    </p:bldLst>
  </p:timing>
</p:sld>
</file>

<file path=ppt/c6/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0" y="1"/>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a:t>Exercise 6C - Y1 Page 120</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p:grpSp>
        <p:nvGrpSpPr>
          <p:cNvPr id="24" name="Group 23">
            <a:extLst>
              <a:ext uri="{FF2B5EF4-FFF2-40B4-BE49-F238E27FC236}">
                <a16:creationId xmlns:a16="http://schemas.microsoft.com/office/drawing/2014/main" id="{417A0D27-8E98-71BD-4C86-6FF34E8B8F43}"/>
              </a:ext>
            </a:extLst>
          </p:cNvPr>
          <p:cNvGrpSpPr/>
          <p:nvPr/>
        </p:nvGrpSpPr>
        <p:grpSpPr>
          <a:xfrm>
            <a:off x="1703512" y="684714"/>
            <a:ext cx="7056784" cy="1232118"/>
            <a:chOff x="179512" y="692696"/>
            <a:chExt cx="7344816" cy="1224136"/>
          </a:xfrm>
        </p:grpSpPr>
        <p:pic>
          <p:nvPicPr>
            <p:cNvPr id="17" name="Picture 16">
              <a:extLst>
                <a:ext uri="{FF2B5EF4-FFF2-40B4-BE49-F238E27FC236}">
                  <a16:creationId xmlns:a16="http://schemas.microsoft.com/office/drawing/2014/main" id="{27B20981-A7A5-1B4E-C0B7-0CDF495BC916}"/>
                </a:ext>
              </a:extLst>
            </p:cNvPr>
            <p:cNvPicPr>
              <a:picLocks noChangeAspect="1"/>
            </p:cNvPicPr>
            <p:nvPr/>
          </p:nvPicPr>
          <p:blipFill>
            <a:blip r:embed="rId2"/>
            <a:stretch>
              <a:fillRect/>
            </a:stretch>
          </p:blipFill>
          <p:spPr>
            <a:xfrm>
              <a:off x="179512" y="692696"/>
              <a:ext cx="7128792" cy="1062837"/>
            </a:xfrm>
            <a:prstGeom prst="rect">
              <a:avLst/>
            </a:prstGeom>
          </p:spPr>
        </p:pic>
        <p:sp>
          <p:nvSpPr>
            <p:cNvPr id="19" name="Rectangle 18">
              <a:extLst>
                <a:ext uri="{FF2B5EF4-FFF2-40B4-BE49-F238E27FC236}">
                  <a16:creationId xmlns:a16="http://schemas.microsoft.com/office/drawing/2014/main" id="{E37AD363-7C60-90D5-AA13-EA28D0A49D72}"/>
                </a:ext>
              </a:extLst>
            </p:cNvPr>
            <p:cNvSpPr/>
            <p:nvPr/>
          </p:nvSpPr>
          <p:spPr>
            <a:xfrm>
              <a:off x="5436096" y="1484784"/>
              <a:ext cx="1944216" cy="43204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Rectangle 19">
              <a:extLst>
                <a:ext uri="{FF2B5EF4-FFF2-40B4-BE49-F238E27FC236}">
                  <a16:creationId xmlns:a16="http://schemas.microsoft.com/office/drawing/2014/main" id="{D44BBC3D-5BC2-F1DA-874A-7E6B9B4C5553}"/>
                </a:ext>
              </a:extLst>
            </p:cNvPr>
            <p:cNvSpPr/>
            <p:nvPr/>
          </p:nvSpPr>
          <p:spPr>
            <a:xfrm>
              <a:off x="5580112" y="980728"/>
              <a:ext cx="1944216" cy="32403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Rectangle 20">
              <a:extLst>
                <a:ext uri="{FF2B5EF4-FFF2-40B4-BE49-F238E27FC236}">
                  <a16:creationId xmlns:a16="http://schemas.microsoft.com/office/drawing/2014/main" id="{98680D6A-65F5-E9D6-F1FB-964924EF0394}"/>
                </a:ext>
              </a:extLst>
            </p:cNvPr>
            <p:cNvSpPr/>
            <p:nvPr/>
          </p:nvSpPr>
          <p:spPr>
            <a:xfrm>
              <a:off x="6444208" y="1197002"/>
              <a:ext cx="936104" cy="32403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25" name="Group 24">
            <a:extLst>
              <a:ext uri="{FF2B5EF4-FFF2-40B4-BE49-F238E27FC236}">
                <a16:creationId xmlns:a16="http://schemas.microsoft.com/office/drawing/2014/main" id="{41F6733E-9D31-39C9-E627-D477BA77C0FB}"/>
              </a:ext>
            </a:extLst>
          </p:cNvPr>
          <p:cNvGrpSpPr/>
          <p:nvPr/>
        </p:nvGrpSpPr>
        <p:grpSpPr>
          <a:xfrm>
            <a:off x="1703513" y="3550524"/>
            <a:ext cx="8157167" cy="1102613"/>
            <a:chOff x="179512" y="3284984"/>
            <a:chExt cx="8157167" cy="1102613"/>
          </a:xfrm>
        </p:grpSpPr>
        <p:pic>
          <p:nvPicPr>
            <p:cNvPr id="18" name="Picture 17">
              <a:extLst>
                <a:ext uri="{FF2B5EF4-FFF2-40B4-BE49-F238E27FC236}">
                  <a16:creationId xmlns:a16="http://schemas.microsoft.com/office/drawing/2014/main" id="{A8DDE267-2CD9-7346-8151-3A2A771533FD}"/>
                </a:ext>
              </a:extLst>
            </p:cNvPr>
            <p:cNvPicPr>
              <a:picLocks noChangeAspect="1"/>
            </p:cNvPicPr>
            <p:nvPr/>
          </p:nvPicPr>
          <p:blipFill>
            <a:blip r:embed="rId3"/>
            <a:stretch>
              <a:fillRect/>
            </a:stretch>
          </p:blipFill>
          <p:spPr>
            <a:xfrm>
              <a:off x="179512" y="3284984"/>
              <a:ext cx="7772400" cy="1036320"/>
            </a:xfrm>
            <a:prstGeom prst="rect">
              <a:avLst/>
            </a:prstGeom>
          </p:spPr>
        </p:pic>
        <p:sp>
          <p:nvSpPr>
            <p:cNvPr id="22" name="Rectangle 21">
              <a:extLst>
                <a:ext uri="{FF2B5EF4-FFF2-40B4-BE49-F238E27FC236}">
                  <a16:creationId xmlns:a16="http://schemas.microsoft.com/office/drawing/2014/main" id="{85786239-B476-4009-494A-67AC6EC4A3BE}"/>
                </a:ext>
              </a:extLst>
            </p:cNvPr>
            <p:cNvSpPr/>
            <p:nvPr/>
          </p:nvSpPr>
          <p:spPr>
            <a:xfrm>
              <a:off x="7236296" y="3519942"/>
              <a:ext cx="936104" cy="32403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Rectangle 22">
              <a:extLst>
                <a:ext uri="{FF2B5EF4-FFF2-40B4-BE49-F238E27FC236}">
                  <a16:creationId xmlns:a16="http://schemas.microsoft.com/office/drawing/2014/main" id="{00EEB107-B2DB-5D83-01AC-974F0744BFDB}"/>
                </a:ext>
              </a:extLst>
            </p:cNvPr>
            <p:cNvSpPr/>
            <p:nvPr/>
          </p:nvSpPr>
          <p:spPr>
            <a:xfrm>
              <a:off x="7400575" y="4063561"/>
              <a:ext cx="936104" cy="32403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6" name="Picture 25">
            <a:extLst>
              <a:ext uri="{FF2B5EF4-FFF2-40B4-BE49-F238E27FC236}">
                <a16:creationId xmlns:a16="http://schemas.microsoft.com/office/drawing/2014/main" id="{AFE51D86-BFB2-4025-949D-075DBD636EEF}"/>
              </a:ext>
            </a:extLst>
          </p:cNvPr>
          <p:cNvPicPr>
            <a:picLocks noChangeAspect="1"/>
          </p:cNvPicPr>
          <p:nvPr/>
        </p:nvPicPr>
        <p:blipFill>
          <a:blip r:embed="rId4"/>
          <a:stretch>
            <a:fillRect/>
          </a:stretch>
        </p:blipFill>
        <p:spPr>
          <a:xfrm>
            <a:off x="1806605" y="1834756"/>
            <a:ext cx="4680520" cy="1432177"/>
          </a:xfrm>
          <a:prstGeom prst="rect">
            <a:avLst/>
          </a:prstGeom>
        </p:spPr>
      </p:pic>
      <p:pic>
        <p:nvPicPr>
          <p:cNvPr id="27" name="Picture 26">
            <a:extLst>
              <a:ext uri="{FF2B5EF4-FFF2-40B4-BE49-F238E27FC236}">
                <a16:creationId xmlns:a16="http://schemas.microsoft.com/office/drawing/2014/main" id="{C2334F4C-7DA7-F31B-0E45-E9B4FB5E5D75}"/>
              </a:ext>
            </a:extLst>
          </p:cNvPr>
          <p:cNvPicPr>
            <a:picLocks noChangeAspect="1"/>
          </p:cNvPicPr>
          <p:nvPr/>
        </p:nvPicPr>
        <p:blipFill>
          <a:blip r:embed="rId5"/>
          <a:stretch>
            <a:fillRect/>
          </a:stretch>
        </p:blipFill>
        <p:spPr>
          <a:xfrm>
            <a:off x="6780465" y="1808790"/>
            <a:ext cx="3733800" cy="406400"/>
          </a:xfrm>
          <a:prstGeom prst="rect">
            <a:avLst/>
          </a:prstGeom>
        </p:spPr>
      </p:pic>
      <p:pic>
        <p:nvPicPr>
          <p:cNvPr id="28" name="Picture 27">
            <a:extLst>
              <a:ext uri="{FF2B5EF4-FFF2-40B4-BE49-F238E27FC236}">
                <a16:creationId xmlns:a16="http://schemas.microsoft.com/office/drawing/2014/main" id="{47A72FED-7A5A-D251-0A77-7BDC615CE192}"/>
              </a:ext>
            </a:extLst>
          </p:cNvPr>
          <p:cNvPicPr>
            <a:picLocks noChangeAspect="1"/>
          </p:cNvPicPr>
          <p:nvPr/>
        </p:nvPicPr>
        <p:blipFill>
          <a:blip r:embed="rId6"/>
          <a:stretch>
            <a:fillRect/>
          </a:stretch>
        </p:blipFill>
        <p:spPr>
          <a:xfrm>
            <a:off x="1793490" y="4983631"/>
            <a:ext cx="3352800" cy="1219200"/>
          </a:xfrm>
          <a:prstGeom prst="rect">
            <a:avLst/>
          </a:prstGeom>
        </p:spPr>
      </p:pic>
      <p:pic>
        <p:nvPicPr>
          <p:cNvPr id="29" name="Picture 28">
            <a:extLst>
              <a:ext uri="{FF2B5EF4-FFF2-40B4-BE49-F238E27FC236}">
                <a16:creationId xmlns:a16="http://schemas.microsoft.com/office/drawing/2014/main" id="{BD99DB33-49A0-3652-7E61-5B673B0F2D38}"/>
              </a:ext>
            </a:extLst>
          </p:cNvPr>
          <p:cNvPicPr>
            <a:picLocks noChangeAspect="1"/>
          </p:cNvPicPr>
          <p:nvPr/>
        </p:nvPicPr>
        <p:blipFill>
          <a:blip r:embed="rId7"/>
          <a:stretch>
            <a:fillRect/>
          </a:stretch>
        </p:blipFill>
        <p:spPr>
          <a:xfrm>
            <a:off x="6713990" y="5036029"/>
            <a:ext cx="3695700" cy="457200"/>
          </a:xfrm>
          <a:prstGeom prst="rect">
            <a:avLst/>
          </a:prstGeom>
        </p:spPr>
      </p:pic>
      <p:sp>
        <p:nvSpPr>
          <p:cNvPr id="30" name="Rectangle 29">
            <a:extLst>
              <a:ext uri="{FF2B5EF4-FFF2-40B4-BE49-F238E27FC236}">
                <a16:creationId xmlns:a16="http://schemas.microsoft.com/office/drawing/2014/main" id="{282B5D9E-8A81-2F87-0A29-CAE3B21FD446}"/>
              </a:ext>
            </a:extLst>
          </p:cNvPr>
          <p:cNvSpPr/>
          <p:nvPr/>
        </p:nvSpPr>
        <p:spPr>
          <a:xfrm>
            <a:off x="1775520" y="1852806"/>
            <a:ext cx="4711606" cy="1432178"/>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
        <p:nvSpPr>
          <p:cNvPr id="31" name="Rectangle 30">
            <a:extLst>
              <a:ext uri="{FF2B5EF4-FFF2-40B4-BE49-F238E27FC236}">
                <a16:creationId xmlns:a16="http://schemas.microsoft.com/office/drawing/2014/main" id="{AF533313-636E-37D0-0FFC-84C8772834A5}"/>
              </a:ext>
            </a:extLst>
          </p:cNvPr>
          <p:cNvSpPr/>
          <p:nvPr/>
        </p:nvSpPr>
        <p:spPr>
          <a:xfrm>
            <a:off x="1775520" y="4877142"/>
            <a:ext cx="4711606" cy="1432178"/>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
        <p:nvSpPr>
          <p:cNvPr id="32" name="Rectangle 31">
            <a:extLst>
              <a:ext uri="{FF2B5EF4-FFF2-40B4-BE49-F238E27FC236}">
                <a16:creationId xmlns:a16="http://schemas.microsoft.com/office/drawing/2014/main" id="{8662D1C3-8E81-8168-023E-F4D51EF12ECA}"/>
              </a:ext>
            </a:extLst>
          </p:cNvPr>
          <p:cNvSpPr/>
          <p:nvPr/>
        </p:nvSpPr>
        <p:spPr>
          <a:xfrm>
            <a:off x="6631141" y="1847607"/>
            <a:ext cx="3883124" cy="1432178"/>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
        <p:nvSpPr>
          <p:cNvPr id="33" name="Rectangle 32">
            <a:extLst>
              <a:ext uri="{FF2B5EF4-FFF2-40B4-BE49-F238E27FC236}">
                <a16:creationId xmlns:a16="http://schemas.microsoft.com/office/drawing/2014/main" id="{809AFED5-C47C-0EBA-EBC2-7553244D8AE0}"/>
              </a:ext>
            </a:extLst>
          </p:cNvPr>
          <p:cNvSpPr/>
          <p:nvPr/>
        </p:nvSpPr>
        <p:spPr>
          <a:xfrm>
            <a:off x="6600056" y="4877142"/>
            <a:ext cx="3883124" cy="1432178"/>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Tree>
    <p:extLst>
      <p:ext uri="{BB962C8B-B14F-4D97-AF65-F5344CB8AC3E}">
        <p14:creationId xmlns:p14="http://schemas.microsoft.com/office/powerpoint/2010/main" val="1757048435"/>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30"/>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30"/>
                                        </p:tgtEl>
                                      </p:cBhvr>
                                    </p:animEffect>
                                    <p:set>
                                      <p:cBhvr>
                                        <p:cTn id="7" dur="1" fill="hold">
                                          <p:stCondLst>
                                            <p:cond delay="499"/>
                                          </p:stCondLst>
                                        </p:cTn>
                                        <p:tgtEl>
                                          <p:spTgt spid="30"/>
                                        </p:tgtEl>
                                        <p:attrNameLst>
                                          <p:attrName>style.visibility</p:attrName>
                                        </p:attrNameLst>
                                      </p:cBhvr>
                                      <p:to>
                                        <p:strVal val="hidden"/>
                                      </p:to>
                                    </p:set>
                                  </p:childTnLst>
                                </p:cTn>
                              </p:par>
                            </p:childTnLst>
                          </p:cTn>
                        </p:par>
                      </p:childTnLst>
                    </p:cTn>
                  </p:par>
                </p:childTnLst>
              </p:cTn>
              <p:nextCondLst>
                <p:cond evt="onClick" delay="0">
                  <p:tgtEl>
                    <p:spTgt spid="30"/>
                  </p:tgtEl>
                </p:cond>
              </p:nextCondLst>
            </p:seq>
            <p:seq concurrent="1" nextAc="seek">
              <p:cTn id="8" restart="whenNotActive" fill="hold" evtFilter="cancelBubble" nodeType="interactiveSeq">
                <p:stCondLst>
                  <p:cond evt="onClick" delay="0">
                    <p:tgtEl>
                      <p:spTgt spid="31"/>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31"/>
                                        </p:tgtEl>
                                      </p:cBhvr>
                                    </p:animEffect>
                                    <p:set>
                                      <p:cBhvr>
                                        <p:cTn id="13" dur="1" fill="hold">
                                          <p:stCondLst>
                                            <p:cond delay="499"/>
                                          </p:stCondLst>
                                        </p:cTn>
                                        <p:tgtEl>
                                          <p:spTgt spid="31"/>
                                        </p:tgtEl>
                                        <p:attrNameLst>
                                          <p:attrName>style.visibility</p:attrName>
                                        </p:attrNameLst>
                                      </p:cBhvr>
                                      <p:to>
                                        <p:strVal val="hidden"/>
                                      </p:to>
                                    </p:set>
                                  </p:childTnLst>
                                </p:cTn>
                              </p:par>
                            </p:childTnLst>
                          </p:cTn>
                        </p:par>
                      </p:childTnLst>
                    </p:cTn>
                  </p:par>
                </p:childTnLst>
              </p:cTn>
              <p:nextCondLst>
                <p:cond evt="onClick" delay="0">
                  <p:tgtEl>
                    <p:spTgt spid="31"/>
                  </p:tgtEl>
                </p:cond>
              </p:nextCondLst>
            </p:seq>
            <p:seq concurrent="1" nextAc="seek">
              <p:cTn id="14" restart="whenNotActive" fill="hold" evtFilter="cancelBubble" nodeType="interactiveSeq">
                <p:stCondLst>
                  <p:cond evt="onClick" delay="0">
                    <p:tgtEl>
                      <p:spTgt spid="32"/>
                    </p:tgtEl>
                  </p:cond>
                </p:stCondLst>
                <p:endSync evt="end" delay="0">
                  <p:rtn val="all"/>
                </p:endSync>
                <p:childTnLst>
                  <p:par>
                    <p:cTn id="15" fill="hold">
                      <p:stCondLst>
                        <p:cond delay="0"/>
                      </p:stCondLst>
                      <p:childTnLst>
                        <p:par>
                          <p:cTn id="16" fill="hold">
                            <p:stCondLst>
                              <p:cond delay="0"/>
                            </p:stCondLst>
                            <p:childTnLst>
                              <p:par>
                                <p:cTn id="17" presetID="10" presetClass="exit" presetSubtype="0" fill="hold" grpId="0" nodeType="clickEffect">
                                  <p:stCondLst>
                                    <p:cond delay="0"/>
                                  </p:stCondLst>
                                  <p:childTnLst>
                                    <p:animEffect transition="out" filter="fade">
                                      <p:cBhvr>
                                        <p:cTn id="18" dur="500"/>
                                        <p:tgtEl>
                                          <p:spTgt spid="32"/>
                                        </p:tgtEl>
                                      </p:cBhvr>
                                    </p:animEffect>
                                    <p:set>
                                      <p:cBhvr>
                                        <p:cTn id="19" dur="1" fill="hold">
                                          <p:stCondLst>
                                            <p:cond delay="499"/>
                                          </p:stCondLst>
                                        </p:cTn>
                                        <p:tgtEl>
                                          <p:spTgt spid="32"/>
                                        </p:tgtEl>
                                        <p:attrNameLst>
                                          <p:attrName>style.visibility</p:attrName>
                                        </p:attrNameLst>
                                      </p:cBhvr>
                                      <p:to>
                                        <p:strVal val="hidden"/>
                                      </p:to>
                                    </p:set>
                                  </p:childTnLst>
                                </p:cTn>
                              </p:par>
                            </p:childTnLst>
                          </p:cTn>
                        </p:par>
                      </p:childTnLst>
                    </p:cTn>
                  </p:par>
                </p:childTnLst>
              </p:cTn>
              <p:nextCondLst>
                <p:cond evt="onClick" delay="0">
                  <p:tgtEl>
                    <p:spTgt spid="32"/>
                  </p:tgtEl>
                </p:cond>
              </p:nextCondLst>
            </p:seq>
            <p:seq concurrent="1" nextAc="seek">
              <p:cTn id="20" restart="whenNotActive" fill="hold" evtFilter="cancelBubble" nodeType="interactiveSeq">
                <p:stCondLst>
                  <p:cond evt="onClick" delay="0">
                    <p:tgtEl>
                      <p:spTgt spid="33"/>
                    </p:tgtEl>
                  </p:cond>
                </p:stCondLst>
                <p:endSync evt="end" delay="0">
                  <p:rtn val="all"/>
                </p:endSync>
                <p:childTnLst>
                  <p:par>
                    <p:cTn id="21" fill="hold">
                      <p:stCondLst>
                        <p:cond delay="0"/>
                      </p:stCondLst>
                      <p:childTnLst>
                        <p:par>
                          <p:cTn id="22" fill="hold">
                            <p:stCondLst>
                              <p:cond delay="0"/>
                            </p:stCondLst>
                            <p:childTnLst>
                              <p:par>
                                <p:cTn id="23" presetID="10" presetClass="exit" presetSubtype="0" fill="hold" grpId="0" nodeType="clickEffect">
                                  <p:stCondLst>
                                    <p:cond delay="0"/>
                                  </p:stCondLst>
                                  <p:childTnLst>
                                    <p:animEffect transition="out" filter="fade">
                                      <p:cBhvr>
                                        <p:cTn id="24" dur="500"/>
                                        <p:tgtEl>
                                          <p:spTgt spid="33"/>
                                        </p:tgtEl>
                                      </p:cBhvr>
                                    </p:animEffect>
                                    <p:set>
                                      <p:cBhvr>
                                        <p:cTn id="25" dur="1" fill="hold">
                                          <p:stCondLst>
                                            <p:cond delay="499"/>
                                          </p:stCondLst>
                                        </p:cTn>
                                        <p:tgtEl>
                                          <p:spTgt spid="33"/>
                                        </p:tgtEl>
                                        <p:attrNameLst>
                                          <p:attrName>style.visibility</p:attrName>
                                        </p:attrNameLst>
                                      </p:cBhvr>
                                      <p:to>
                                        <p:strVal val="hidden"/>
                                      </p:to>
                                    </p:set>
                                  </p:childTnLst>
                                </p:cTn>
                              </p:par>
                            </p:childTnLst>
                          </p:cTn>
                        </p:par>
                      </p:childTnLst>
                    </p:cTn>
                  </p:par>
                </p:childTnLst>
              </p:cTn>
              <p:nextCondLst>
                <p:cond evt="onClick" delay="0">
                  <p:tgtEl>
                    <p:spTgt spid="33"/>
                  </p:tgtEl>
                </p:cond>
              </p:nextCondLst>
            </p:seq>
          </p:childTnLst>
        </p:cTn>
      </p:par>
    </p:tnLst>
    <p:bldLst>
      <p:bldP spid="30" grpId="0" animBg="1"/>
      <p:bldP spid="31" grpId="0" animBg="1"/>
      <p:bldP spid="32" grpId="0" animBg="1"/>
      <p:bldP spid="33" grpId="0" animBg="1"/>
    </p:bldLst>
  </p:timing>
</p:sld>
</file>

<file path=ppt/c6/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0" y="1"/>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a:t>Exercise 6C - Y1 Page 120</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p:pic>
        <p:nvPicPr>
          <p:cNvPr id="34" name="Picture 33">
            <a:extLst>
              <a:ext uri="{FF2B5EF4-FFF2-40B4-BE49-F238E27FC236}">
                <a16:creationId xmlns:a16="http://schemas.microsoft.com/office/drawing/2014/main" id="{FEFD2A9C-3C2F-3F96-7F36-5903985435BE}"/>
              </a:ext>
            </a:extLst>
          </p:cNvPr>
          <p:cNvPicPr>
            <a:picLocks noChangeAspect="1"/>
          </p:cNvPicPr>
          <p:nvPr/>
        </p:nvPicPr>
        <p:blipFill>
          <a:blip r:embed="rId2"/>
          <a:stretch>
            <a:fillRect/>
          </a:stretch>
        </p:blipFill>
        <p:spPr>
          <a:xfrm>
            <a:off x="1703512" y="705616"/>
            <a:ext cx="7772400" cy="906458"/>
          </a:xfrm>
          <a:prstGeom prst="rect">
            <a:avLst/>
          </a:prstGeom>
        </p:spPr>
      </p:pic>
      <p:pic>
        <p:nvPicPr>
          <p:cNvPr id="5" name="Picture 4">
            <a:extLst>
              <a:ext uri="{FF2B5EF4-FFF2-40B4-BE49-F238E27FC236}">
                <a16:creationId xmlns:a16="http://schemas.microsoft.com/office/drawing/2014/main" id="{E5540FC9-1DE8-DE6A-5215-8E768BB2E0D3}"/>
              </a:ext>
            </a:extLst>
          </p:cNvPr>
          <p:cNvPicPr>
            <a:picLocks noChangeAspect="1"/>
          </p:cNvPicPr>
          <p:nvPr/>
        </p:nvPicPr>
        <p:blipFill>
          <a:blip r:embed="rId3"/>
          <a:stretch>
            <a:fillRect/>
          </a:stretch>
        </p:blipFill>
        <p:spPr>
          <a:xfrm>
            <a:off x="1703512" y="3717032"/>
            <a:ext cx="7772400" cy="906458"/>
          </a:xfrm>
          <a:prstGeom prst="rect">
            <a:avLst/>
          </a:prstGeom>
        </p:spPr>
      </p:pic>
      <p:pic>
        <p:nvPicPr>
          <p:cNvPr id="6" name="Picture 5">
            <a:extLst>
              <a:ext uri="{FF2B5EF4-FFF2-40B4-BE49-F238E27FC236}">
                <a16:creationId xmlns:a16="http://schemas.microsoft.com/office/drawing/2014/main" id="{D0492C54-78D6-7C62-6A9D-3E84177CD5C0}"/>
              </a:ext>
            </a:extLst>
          </p:cNvPr>
          <p:cNvPicPr>
            <a:picLocks noChangeAspect="1"/>
          </p:cNvPicPr>
          <p:nvPr/>
        </p:nvPicPr>
        <p:blipFill>
          <a:blip r:embed="rId4"/>
          <a:stretch>
            <a:fillRect/>
          </a:stretch>
        </p:blipFill>
        <p:spPr>
          <a:xfrm>
            <a:off x="2135560" y="1588690"/>
            <a:ext cx="3708400" cy="1866900"/>
          </a:xfrm>
          <a:prstGeom prst="rect">
            <a:avLst/>
          </a:prstGeom>
        </p:spPr>
      </p:pic>
      <p:pic>
        <p:nvPicPr>
          <p:cNvPr id="7" name="Picture 6">
            <a:extLst>
              <a:ext uri="{FF2B5EF4-FFF2-40B4-BE49-F238E27FC236}">
                <a16:creationId xmlns:a16="http://schemas.microsoft.com/office/drawing/2014/main" id="{2C5248E9-73AB-C7B7-762C-8B1560591BEA}"/>
              </a:ext>
            </a:extLst>
          </p:cNvPr>
          <p:cNvPicPr>
            <a:picLocks noChangeAspect="1"/>
          </p:cNvPicPr>
          <p:nvPr/>
        </p:nvPicPr>
        <p:blipFill>
          <a:blip r:embed="rId5"/>
          <a:stretch>
            <a:fillRect/>
          </a:stretch>
        </p:blipFill>
        <p:spPr>
          <a:xfrm>
            <a:off x="6456287" y="1537857"/>
            <a:ext cx="3708400" cy="2247900"/>
          </a:xfrm>
          <a:prstGeom prst="rect">
            <a:avLst/>
          </a:prstGeom>
        </p:spPr>
      </p:pic>
      <p:pic>
        <p:nvPicPr>
          <p:cNvPr id="8" name="Picture 7">
            <a:extLst>
              <a:ext uri="{FF2B5EF4-FFF2-40B4-BE49-F238E27FC236}">
                <a16:creationId xmlns:a16="http://schemas.microsoft.com/office/drawing/2014/main" id="{162AB381-6672-4CAF-9907-0CADCB270594}"/>
              </a:ext>
            </a:extLst>
          </p:cNvPr>
          <p:cNvPicPr>
            <a:picLocks noChangeAspect="1"/>
          </p:cNvPicPr>
          <p:nvPr/>
        </p:nvPicPr>
        <p:blipFill>
          <a:blip r:embed="rId6"/>
          <a:stretch>
            <a:fillRect/>
          </a:stretch>
        </p:blipFill>
        <p:spPr>
          <a:xfrm>
            <a:off x="2158153" y="4884932"/>
            <a:ext cx="5118100" cy="1752600"/>
          </a:xfrm>
          <a:prstGeom prst="rect">
            <a:avLst/>
          </a:prstGeom>
        </p:spPr>
      </p:pic>
      <p:sp>
        <p:nvSpPr>
          <p:cNvPr id="10" name="Rectangle 9">
            <a:extLst>
              <a:ext uri="{FF2B5EF4-FFF2-40B4-BE49-F238E27FC236}">
                <a16:creationId xmlns:a16="http://schemas.microsoft.com/office/drawing/2014/main" id="{24805BD7-3F4C-1A19-882B-A523FA8550C2}"/>
              </a:ext>
            </a:extLst>
          </p:cNvPr>
          <p:cNvSpPr/>
          <p:nvPr/>
        </p:nvSpPr>
        <p:spPr>
          <a:xfrm>
            <a:off x="2135560" y="1615358"/>
            <a:ext cx="7517642" cy="2173683"/>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
        <p:nvSpPr>
          <p:cNvPr id="11" name="Rectangle 10">
            <a:extLst>
              <a:ext uri="{FF2B5EF4-FFF2-40B4-BE49-F238E27FC236}">
                <a16:creationId xmlns:a16="http://schemas.microsoft.com/office/drawing/2014/main" id="{2882D749-6727-EB22-70BF-DA02DEB9C533}"/>
              </a:ext>
            </a:extLst>
          </p:cNvPr>
          <p:cNvSpPr/>
          <p:nvPr/>
        </p:nvSpPr>
        <p:spPr>
          <a:xfrm>
            <a:off x="2135560" y="4554766"/>
            <a:ext cx="7517642" cy="2173683"/>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Tree>
    <p:extLst>
      <p:ext uri="{BB962C8B-B14F-4D97-AF65-F5344CB8AC3E}">
        <p14:creationId xmlns:p14="http://schemas.microsoft.com/office/powerpoint/2010/main" val="37330464"/>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0"/>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0"/>
                                        </p:tgtEl>
                                      </p:cBhvr>
                                    </p:animEffect>
                                    <p:set>
                                      <p:cBhvr>
                                        <p:cTn id="7" dur="1" fill="hold">
                                          <p:stCondLst>
                                            <p:cond delay="499"/>
                                          </p:stCondLst>
                                        </p:cTn>
                                        <p:tgtEl>
                                          <p:spTgt spid="10"/>
                                        </p:tgtEl>
                                        <p:attrNameLst>
                                          <p:attrName>style.visibility</p:attrName>
                                        </p:attrNameLst>
                                      </p:cBhvr>
                                      <p:to>
                                        <p:strVal val="hidden"/>
                                      </p:to>
                                    </p:set>
                                  </p:childTnLst>
                                </p:cTn>
                              </p:par>
                            </p:childTnLst>
                          </p:cTn>
                        </p:par>
                      </p:childTnLst>
                    </p:cTn>
                  </p:par>
                </p:childTnLst>
              </p:cTn>
              <p:nextCondLst>
                <p:cond evt="onClick" delay="0">
                  <p:tgtEl>
                    <p:spTgt spid="10"/>
                  </p:tgtEl>
                </p:cond>
              </p:nextCondLst>
            </p:seq>
            <p:seq concurrent="1" nextAc="seek">
              <p:cTn id="8" restart="whenNotActive" fill="hold" evtFilter="cancelBubble" nodeType="interactiveSeq">
                <p:stCondLst>
                  <p:cond evt="onClick" delay="0">
                    <p:tgtEl>
                      <p:spTgt spid="11"/>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11"/>
                                        </p:tgtEl>
                                      </p:cBhvr>
                                    </p:animEffect>
                                    <p:set>
                                      <p:cBhvr>
                                        <p:cTn id="13" dur="1" fill="hold">
                                          <p:stCondLst>
                                            <p:cond delay="499"/>
                                          </p:stCondLst>
                                        </p:cTn>
                                        <p:tgtEl>
                                          <p:spTgt spid="11"/>
                                        </p:tgtEl>
                                        <p:attrNameLst>
                                          <p:attrName>style.visibility</p:attrName>
                                        </p:attrNameLst>
                                      </p:cBhvr>
                                      <p:to>
                                        <p:strVal val="hidden"/>
                                      </p:to>
                                    </p:set>
                                  </p:childTnLst>
                                </p:cTn>
                              </p:par>
                            </p:childTnLst>
                          </p:cTn>
                        </p:par>
                      </p:childTnLst>
                    </p:cTn>
                  </p:par>
                </p:childTnLst>
              </p:cTn>
              <p:nextCondLst>
                <p:cond evt="onClick" delay="0">
                  <p:tgtEl>
                    <p:spTgt spid="11"/>
                  </p:tgtEl>
                </p:cond>
              </p:nextCondLst>
            </p:seq>
          </p:childTnLst>
        </p:cTn>
      </p:par>
    </p:tnLst>
    <p:bldLst>
      <p:bldP spid="10" grpId="0" animBg="1"/>
      <p:bldP spid="11" grpId="0" animBg="1"/>
    </p:bldLst>
  </p:timing>
</p:sld>
</file>

<file path=ppt/c6/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0" y="1"/>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a:t>Extension</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mc:AlternateContent xmlns:mc="http://schemas.openxmlformats.org/markup-compatibility/2006">
        <mc:Choice xmlns:a14="http://schemas.microsoft.com/office/drawing/2010/main" Requires="a14">
          <p:sp>
            <p:nvSpPr>
              <p:cNvPr id="8" name="TextBox 7"/>
              <p:cNvSpPr txBox="1"/>
              <p:nvPr/>
            </p:nvSpPr>
            <p:spPr>
              <a:xfrm>
                <a:off x="1760448" y="1250071"/>
                <a:ext cx="2952328" cy="2585323"/>
              </a:xfrm>
              <a:prstGeom prst="rect">
                <a:avLst/>
              </a:prstGeom>
              <a:noFill/>
            </p:spPr>
            <p:txBody>
              <a:bodyPr wrap="square" rtlCol="0">
                <a:spAutoFit/>
              </a:bodyPr>
              <a:lstStyle/>
              <a:p>
                <a:r>
                  <a:rPr lang="en-GB" sz="1600"/>
                  <a:t>[MAT 2009 1B] The point on the circle </a:t>
                </a:r>
                <a14:m>
                  <m:oMath xmlns:m="http://schemas.openxmlformats.org/officeDocument/2006/math">
                    <m:sSup>
                      <m:sSupPr>
                        <m:ctrlPr>
                          <a:rPr lang="en-GB" sz="1600" i="1">
                            <a:latin typeface="Cambria Math" panose="02040503050406030204" pitchFamily="18" charset="0"/>
                          </a:rPr>
                        </m:ctrlPr>
                      </m:sSupPr>
                      <m:e>
                        <m:r>
                          <a:rPr lang="en-GB" sz="1600" i="1">
                            <a:latin typeface="Cambria Math" panose="02040503050406030204" pitchFamily="18" charset="0"/>
                          </a:rPr>
                          <m:t>𝑥</m:t>
                        </m:r>
                      </m:e>
                      <m:sup>
                        <m:r>
                          <a:rPr lang="en-GB" sz="1600" i="1">
                            <a:latin typeface="Cambria Math" panose="02040503050406030204" pitchFamily="18" charset="0"/>
                          </a:rPr>
                          <m:t>2</m:t>
                        </m:r>
                      </m:sup>
                    </m:sSup>
                    <m:r>
                      <a:rPr lang="en-GB" sz="1600" i="1">
                        <a:latin typeface="Cambria Math" panose="02040503050406030204" pitchFamily="18" charset="0"/>
                      </a:rPr>
                      <m:t>+</m:t>
                    </m:r>
                    <m:sSup>
                      <m:sSupPr>
                        <m:ctrlPr>
                          <a:rPr lang="en-GB" sz="1600" i="1">
                            <a:latin typeface="Cambria Math" panose="02040503050406030204" pitchFamily="18" charset="0"/>
                          </a:rPr>
                        </m:ctrlPr>
                      </m:sSupPr>
                      <m:e>
                        <m:r>
                          <a:rPr lang="en-GB" sz="1600" i="1">
                            <a:latin typeface="Cambria Math" panose="02040503050406030204" pitchFamily="18" charset="0"/>
                          </a:rPr>
                          <m:t>𝑦</m:t>
                        </m:r>
                      </m:e>
                      <m:sup>
                        <m:r>
                          <a:rPr lang="en-GB" sz="1600" i="1">
                            <a:latin typeface="Cambria Math" panose="02040503050406030204" pitchFamily="18" charset="0"/>
                          </a:rPr>
                          <m:t>2</m:t>
                        </m:r>
                      </m:sup>
                    </m:sSup>
                    <m:r>
                      <a:rPr lang="en-GB" sz="1600" i="1">
                        <a:latin typeface="Cambria Math" panose="02040503050406030204" pitchFamily="18" charset="0"/>
                      </a:rPr>
                      <m:t>+6</m:t>
                    </m:r>
                    <m:r>
                      <a:rPr lang="en-GB" sz="1600" i="1">
                        <a:latin typeface="Cambria Math" panose="02040503050406030204" pitchFamily="18" charset="0"/>
                      </a:rPr>
                      <m:t>𝑥</m:t>
                    </m:r>
                    <m:r>
                      <a:rPr lang="en-GB" sz="1600" i="1">
                        <a:latin typeface="Cambria Math" panose="02040503050406030204" pitchFamily="18" charset="0"/>
                      </a:rPr>
                      <m:t>+8</m:t>
                    </m:r>
                    <m:r>
                      <a:rPr lang="en-GB" sz="1600" i="1">
                        <a:latin typeface="Cambria Math" panose="02040503050406030204" pitchFamily="18" charset="0"/>
                      </a:rPr>
                      <m:t>𝑦</m:t>
                    </m:r>
                    <m:r>
                      <a:rPr lang="en-GB" sz="1600" i="1">
                        <a:latin typeface="Cambria Math" panose="02040503050406030204" pitchFamily="18" charset="0"/>
                      </a:rPr>
                      <m:t>=75</m:t>
                    </m:r>
                  </m:oMath>
                </a14:m>
                <a:r>
                  <a:rPr lang="en-GB" sz="1600"/>
                  <a:t> which is closest to the origin, is at what distance from the origin?</a:t>
                </a:r>
              </a:p>
              <a:p>
                <a:pPr/>
                <a14:m>
                  <m:oMathPara xmlns:m="http://schemas.openxmlformats.org/officeDocument/2006/math">
                    <m:oMath>
                      <m:sSup>
                        <m:sSupPr>
                          <m:ctrlPr>
                            <a:rPr lang="en-GB" sz="1400" b="1" i="1">
                              <a:latin typeface="Cambria Math" panose="02040503050406030204" pitchFamily="18" charset="0"/>
                            </a:rPr>
                          </m:ctrlPr>
                        </m:sSupPr>
                        <m:e>
                          <m:d>
                            <m:dPr>
                              <m:ctrlPr>
                                <a:rPr lang="en-GB" sz="1400" b="1" i="1">
                                  <a:latin typeface="Cambria Math" panose="02040503050406030204" pitchFamily="18" charset="0"/>
                                </a:rPr>
                              </m:ctrlPr>
                            </m:dPr>
                            <m:e>
                              <m:r>
                                <a:rPr lang="en-GB" sz="1400" b="1" i="1">
                                  <a:latin typeface="Cambria Math" panose="02040503050406030204" pitchFamily="18" charset="0"/>
                                </a:rPr>
                                <m:t>𝒙</m:t>
                              </m:r>
                              <m:r>
                                <a:rPr lang="en-GB" sz="1400" b="1" i="1">
                                  <a:latin typeface="Cambria Math" panose="02040503050406030204" pitchFamily="18" charset="0"/>
                                </a:rPr>
                                <m:t>+</m:t>
                              </m:r>
                              <m:r>
                                <a:rPr lang="en-GB" sz="1400" b="1" i="1">
                                  <a:latin typeface="Cambria Math" panose="02040503050406030204" pitchFamily="18" charset="0"/>
                                </a:rPr>
                                <m:t>𝟑</m:t>
                              </m:r>
                            </m:e>
                          </m:d>
                        </m:e>
                        <m:sup>
                          <m:r>
                            <a:rPr lang="en-GB" sz="1400" b="1" i="1">
                              <a:latin typeface="Cambria Math" panose="02040503050406030204" pitchFamily="18" charset="0"/>
                            </a:rPr>
                            <m:t>𝟐</m:t>
                          </m:r>
                        </m:sup>
                      </m:sSup>
                      <m:r>
                        <a:rPr lang="en-GB" sz="1400" b="1" i="1">
                          <a:latin typeface="Cambria Math" panose="02040503050406030204" pitchFamily="18" charset="0"/>
                        </a:rPr>
                        <m:t>+</m:t>
                      </m:r>
                      <m:sSup>
                        <m:sSupPr>
                          <m:ctrlPr>
                            <a:rPr lang="en-GB" sz="1400" b="1" i="1">
                              <a:latin typeface="Cambria Math" panose="02040503050406030204" pitchFamily="18" charset="0"/>
                            </a:rPr>
                          </m:ctrlPr>
                        </m:sSupPr>
                        <m:e>
                          <m:d>
                            <m:dPr>
                              <m:ctrlPr>
                                <a:rPr lang="en-GB" sz="1400" b="1" i="1">
                                  <a:latin typeface="Cambria Math" panose="02040503050406030204" pitchFamily="18" charset="0"/>
                                </a:rPr>
                              </m:ctrlPr>
                            </m:dPr>
                            <m:e>
                              <m:r>
                                <a:rPr lang="en-GB" sz="1400" b="1" i="1">
                                  <a:latin typeface="Cambria Math" panose="02040503050406030204" pitchFamily="18" charset="0"/>
                                </a:rPr>
                                <m:t>𝒚</m:t>
                              </m:r>
                              <m:r>
                                <a:rPr lang="en-GB" sz="1400" b="1" i="1">
                                  <a:latin typeface="Cambria Math" panose="02040503050406030204" pitchFamily="18" charset="0"/>
                                </a:rPr>
                                <m:t>+</m:t>
                              </m:r>
                              <m:r>
                                <a:rPr lang="en-GB" sz="1400" b="1" i="1">
                                  <a:latin typeface="Cambria Math" panose="02040503050406030204" pitchFamily="18" charset="0"/>
                                </a:rPr>
                                <m:t>𝟒</m:t>
                              </m:r>
                            </m:e>
                          </m:d>
                        </m:e>
                        <m:sup>
                          <m:r>
                            <a:rPr lang="en-GB" sz="1400" b="1" i="1">
                              <a:latin typeface="Cambria Math" panose="02040503050406030204" pitchFamily="18" charset="0"/>
                            </a:rPr>
                            <m:t>𝟐</m:t>
                          </m:r>
                        </m:sup>
                      </m:sSup>
                      <m:r>
                        <a:rPr lang="en-GB" sz="1400" b="1" i="1">
                          <a:latin typeface="Cambria Math" panose="02040503050406030204" pitchFamily="18" charset="0"/>
                        </a:rPr>
                        <m:t>=</m:t>
                      </m:r>
                      <m:r>
                        <a:rPr lang="en-GB" sz="1400" b="1" i="1">
                          <a:latin typeface="Cambria Math" panose="02040503050406030204" pitchFamily="18" charset="0"/>
                        </a:rPr>
                        <m:t>𝟏𝟎𝟎</m:t>
                      </m:r>
                    </m:oMath>
                    <m:oMath>
                      <m:r>
                        <a:rPr lang="en-GB" sz="1400" b="1" i="1">
                          <a:latin typeface="Cambria Math" panose="02040503050406030204" pitchFamily="18" charset="0"/>
                        </a:rPr>
                        <m:t>∴</m:t>
                      </m:r>
                      <m:r>
                        <a:rPr lang="en-GB" sz="1400" b="1" i="1">
                          <a:latin typeface="Cambria Math" panose="02040503050406030204" pitchFamily="18" charset="0"/>
                        </a:rPr>
                        <m:t>𝑪</m:t>
                      </m:r>
                      <m:d>
                        <m:dPr>
                          <m:ctrlPr>
                            <a:rPr lang="en-GB" sz="1400" b="1" i="1">
                              <a:latin typeface="Cambria Math" panose="02040503050406030204" pitchFamily="18" charset="0"/>
                            </a:rPr>
                          </m:ctrlPr>
                        </m:dPr>
                        <m:e>
                          <m:r>
                            <a:rPr lang="en-GB" sz="1400" b="1" i="1">
                              <a:latin typeface="Cambria Math" panose="02040503050406030204" pitchFamily="18" charset="0"/>
                            </a:rPr>
                            <m:t>−</m:t>
                          </m:r>
                          <m:r>
                            <a:rPr lang="en-GB" sz="1400" b="1" i="1">
                              <a:latin typeface="Cambria Math" panose="02040503050406030204" pitchFamily="18" charset="0"/>
                            </a:rPr>
                            <m:t>𝟑</m:t>
                          </m:r>
                          <m:r>
                            <a:rPr lang="en-GB" sz="1400" b="1" i="1">
                              <a:latin typeface="Cambria Math" panose="02040503050406030204" pitchFamily="18" charset="0"/>
                            </a:rPr>
                            <m:t>,−</m:t>
                          </m:r>
                          <m:r>
                            <a:rPr lang="en-GB" sz="1400" b="1" i="1">
                              <a:latin typeface="Cambria Math" panose="02040503050406030204" pitchFamily="18" charset="0"/>
                            </a:rPr>
                            <m:t>𝟒</m:t>
                          </m:r>
                        </m:e>
                      </m:d>
                      <m:r>
                        <a:rPr lang="en-GB" sz="1400" b="1" i="1">
                          <a:latin typeface="Cambria Math" panose="02040503050406030204" pitchFamily="18" charset="0"/>
                        </a:rPr>
                        <m:t>,  </m:t>
                      </m:r>
                      <m:r>
                        <a:rPr lang="en-GB" sz="1400" b="1" i="1">
                          <a:latin typeface="Cambria Math" panose="02040503050406030204" pitchFamily="18" charset="0"/>
                        </a:rPr>
                        <m:t>𝒓</m:t>
                      </m:r>
                      <m:r>
                        <a:rPr lang="en-GB" sz="1400" b="1" i="1">
                          <a:latin typeface="Cambria Math" panose="02040503050406030204" pitchFamily="18" charset="0"/>
                        </a:rPr>
                        <m:t>=</m:t>
                      </m:r>
                      <m:r>
                        <a:rPr lang="en-GB" sz="1400" b="1" i="1">
                          <a:latin typeface="Cambria Math" panose="02040503050406030204" pitchFamily="18" charset="0"/>
                        </a:rPr>
                        <m:t>𝟏𝟎</m:t>
                      </m:r>
                    </m:oMath>
                  </m:oMathPara>
                </a14:m>
                <a:endParaRPr lang="en-GB" sz="1400" b="1"/>
              </a:p>
              <a:p>
                <a:r>
                  <a:rPr lang="en-GB" sz="1400" b="1"/>
                  <a:t>The closest point </a:t>
                </a:r>
                <a14:m>
                  <m:oMath xmlns:m="http://schemas.openxmlformats.org/officeDocument/2006/math">
                    <m:r>
                      <a:rPr lang="en-GB" sz="1400" b="1" i="1">
                        <a:latin typeface="Cambria Math" panose="02040503050406030204" pitchFamily="18" charset="0"/>
                      </a:rPr>
                      <m:t>𝑷</m:t>
                    </m:r>
                  </m:oMath>
                </a14:m>
                <a:r>
                  <a:rPr lang="en-GB" sz="1400" b="1"/>
                  <a:t> lies on the line between the circle centre and the origin. Since </a:t>
                </a:r>
                <a14:m>
                  <m:oMath xmlns:m="http://schemas.openxmlformats.org/officeDocument/2006/math">
                    <m:d>
                      <m:dPr>
                        <m:ctrlPr>
                          <a:rPr lang="en-GB" sz="1400" b="1" i="1">
                            <a:latin typeface="Cambria Math" panose="02040503050406030204" pitchFamily="18" charset="0"/>
                          </a:rPr>
                        </m:ctrlPr>
                      </m:dPr>
                      <m:e>
                        <m:r>
                          <a:rPr lang="en-GB" sz="1400" b="1" i="1">
                            <a:latin typeface="Cambria Math" panose="02040503050406030204" pitchFamily="18" charset="0"/>
                          </a:rPr>
                          <m:t>−</m:t>
                        </m:r>
                        <m:r>
                          <a:rPr lang="en-GB" sz="1400" b="1" i="1">
                            <a:latin typeface="Cambria Math" panose="02040503050406030204" pitchFamily="18" charset="0"/>
                          </a:rPr>
                          <m:t>𝟑</m:t>
                        </m:r>
                        <m:r>
                          <a:rPr lang="en-GB" sz="1400" b="1" i="1">
                            <a:latin typeface="Cambria Math" panose="02040503050406030204" pitchFamily="18" charset="0"/>
                          </a:rPr>
                          <m:t>,−</m:t>
                        </m:r>
                        <m:r>
                          <a:rPr lang="en-GB" sz="1400" b="1" i="1">
                            <a:latin typeface="Cambria Math" panose="02040503050406030204" pitchFamily="18" charset="0"/>
                          </a:rPr>
                          <m:t>𝟒</m:t>
                        </m:r>
                      </m:e>
                    </m:d>
                  </m:oMath>
                </a14:m>
                <a:r>
                  <a:rPr lang="en-GB" sz="1400" b="1"/>
                  <a:t> is 5 away from the origin, the distance between the origin and </a:t>
                </a:r>
                <a14:m>
                  <m:oMath xmlns:m="http://schemas.openxmlformats.org/officeDocument/2006/math">
                    <m:r>
                      <a:rPr lang="en-GB" sz="1400" b="1" i="1">
                        <a:latin typeface="Cambria Math" panose="02040503050406030204" pitchFamily="18" charset="0"/>
                      </a:rPr>
                      <m:t>𝑷</m:t>
                    </m:r>
                  </m:oMath>
                </a14:m>
                <a:r>
                  <a:rPr lang="en-GB" sz="1400" b="1"/>
                  <a:t> must be </a:t>
                </a:r>
                <a14:m>
                  <m:oMath xmlns:m="http://schemas.openxmlformats.org/officeDocument/2006/math">
                    <m:r>
                      <a:rPr lang="en-GB" sz="1400" b="1" i="1">
                        <a:latin typeface="Cambria Math" panose="02040503050406030204" pitchFamily="18" charset="0"/>
                      </a:rPr>
                      <m:t>𝟏𝟎</m:t>
                    </m:r>
                    <m:r>
                      <a:rPr lang="en-GB" sz="1400" b="1" i="1">
                        <a:latin typeface="Cambria Math" panose="02040503050406030204" pitchFamily="18" charset="0"/>
                      </a:rPr>
                      <m:t>−</m:t>
                    </m:r>
                    <m:r>
                      <a:rPr lang="en-GB" sz="1400" b="1" i="1">
                        <a:latin typeface="Cambria Math" panose="02040503050406030204" pitchFamily="18" charset="0"/>
                      </a:rPr>
                      <m:t>𝟓</m:t>
                    </m:r>
                    <m:r>
                      <a:rPr lang="en-GB" sz="1400" b="1" i="1">
                        <a:latin typeface="Cambria Math" panose="02040503050406030204" pitchFamily="18" charset="0"/>
                      </a:rPr>
                      <m:t>=</m:t>
                    </m:r>
                    <m:r>
                      <a:rPr lang="en-GB" sz="1400" b="1" i="1">
                        <a:latin typeface="Cambria Math" panose="02040503050406030204" pitchFamily="18" charset="0"/>
                      </a:rPr>
                      <m:t>𝟓</m:t>
                    </m:r>
                  </m:oMath>
                </a14:m>
                <a:endParaRPr lang="en-GB" sz="1400" b="1"/>
              </a:p>
            </p:txBody>
          </p:sp>
        </mc:Choice>
        <mc:Fallback>
          <p:sp>
            <p:nvSpPr>
              <p:cNvPr id="8" name="TextBox 7"/>
              <p:cNvSpPr txBox="1">
                <a:spLocks noRot="1" noChangeAspect="1" noMove="1" noResize="1" noEditPoints="1" noAdjustHandles="1" noChangeArrowheads="1" noChangeShapeType="1" noTextEdit="1"/>
              </p:cNvSpPr>
              <p:nvPr/>
            </p:nvSpPr>
            <p:spPr>
              <a:xfrm>
                <a:off x="1760448" y="1250071"/>
                <a:ext cx="2952328" cy="2585323"/>
              </a:xfrm>
              <a:prstGeom prst="rect">
                <a:avLst/>
              </a:prstGeom>
              <a:blipFill>
                <a:blip r:embed="rId2"/>
                <a:stretch>
                  <a:fillRect l="-1282" t="-980" r="-2564" b="-1961"/>
                </a:stretch>
              </a:blipFill>
            </p:spPr>
            <p:txBody>
              <a:bodyPr/>
              <a:lstStyle/>
              <a:p>
                <a:r>
                  <a:rPr lang="en-US">
                    <a:noFill/>
                  </a:rPr>
                  <a:t> </a:t>
                </a:r>
              </a:p>
            </p:txBody>
          </p:sp>
        </mc:Fallback>
      </mc:AlternateContent>
      <p:cxnSp>
        <p:nvCxnSpPr>
          <p:cNvPr id="10" name="Straight Arrow Connector 9"/>
          <p:cNvCxnSpPr/>
          <p:nvPr/>
        </p:nvCxnSpPr>
        <p:spPr>
          <a:xfrm flipV="1">
            <a:off x="3175084" y="3882208"/>
            <a:ext cx="0" cy="180020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 name="Straight Arrow Connector 10"/>
          <p:cNvCxnSpPr/>
          <p:nvPr/>
        </p:nvCxnSpPr>
        <p:spPr>
          <a:xfrm>
            <a:off x="2312733" y="4806590"/>
            <a:ext cx="1840986" cy="1172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6" name="Oval 15"/>
          <p:cNvSpPr/>
          <p:nvPr/>
        </p:nvSpPr>
        <p:spPr>
          <a:xfrm>
            <a:off x="2743036" y="5178352"/>
            <a:ext cx="72008" cy="72008"/>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mc:AlternateContent xmlns:mc="http://schemas.openxmlformats.org/markup-compatibility/2006">
        <mc:Choice xmlns:a14="http://schemas.microsoft.com/office/drawing/2010/main" Requires="a14">
          <p:sp>
            <p:nvSpPr>
              <p:cNvPr id="17" name="TextBox 16"/>
              <p:cNvSpPr txBox="1"/>
              <p:nvPr/>
            </p:nvSpPr>
            <p:spPr>
              <a:xfrm>
                <a:off x="2146012" y="5211496"/>
                <a:ext cx="648072" cy="261610"/>
              </a:xfrm>
              <a:prstGeom prst="rect">
                <a:avLst/>
              </a:prstGeom>
              <a:noFill/>
            </p:spPr>
            <p:txBody>
              <a:bodyPr wrap="square" rtlCol="0">
                <a:spAutoFit/>
              </a:bodyPr>
              <a:lstStyle/>
              <a:p>
                <a:pPr/>
                <a14:m>
                  <m:oMathPara xmlns:m="http://schemas.openxmlformats.org/officeDocument/2006/math">
                    <m:oMath>
                      <m:d>
                        <m:dPr>
                          <m:ctrlPr>
                            <a:rPr lang="en-GB" sz="1100" i="1">
                              <a:latin typeface="Cambria Math" panose="02040503050406030204" pitchFamily="18" charset="0"/>
                            </a:rPr>
                          </m:ctrlPr>
                        </m:dPr>
                        <m:e>
                          <m:r>
                            <a:rPr lang="en-GB" sz="1100" i="1">
                              <a:latin typeface="Cambria Math" panose="02040503050406030204" pitchFamily="18" charset="0"/>
                            </a:rPr>
                            <m:t>−3,−4</m:t>
                          </m:r>
                        </m:e>
                      </m:d>
                    </m:oMath>
                  </m:oMathPara>
                </a14:m>
                <a:endParaRPr lang="en-GB"/>
              </a:p>
            </p:txBody>
          </p:sp>
        </mc:Choice>
        <mc:Fallback>
          <p:sp>
            <p:nvSpPr>
              <p:cNvPr id="17" name="TextBox 16"/>
              <p:cNvSpPr txBox="1">
                <a:spLocks noRot="1" noChangeAspect="1" noMove="1" noResize="1" noEditPoints="1" noAdjustHandles="1" noChangeArrowheads="1" noChangeShapeType="1" noTextEdit="1"/>
              </p:cNvSpPr>
              <p:nvPr/>
            </p:nvSpPr>
            <p:spPr>
              <a:xfrm>
                <a:off x="2146012" y="5211496"/>
                <a:ext cx="648072" cy="261610"/>
              </a:xfrm>
              <a:prstGeom prst="rect">
                <a:avLst/>
              </a:prstGeom>
              <a:blipFill>
                <a:blip r:embed="rId3"/>
                <a:stretch>
                  <a:fillRect/>
                </a:stretch>
              </a:blipFill>
            </p:spPr>
            <p:txBody>
              <a:bodyPr/>
              <a:lstStyle/>
              <a:p>
                <a:r>
                  <a:rPr lang="en-US">
                    <a:noFill/>
                  </a:rPr>
                  <a:t> </a:t>
                </a:r>
              </a:p>
            </p:txBody>
          </p:sp>
        </mc:Fallback>
      </mc:AlternateContent>
      <p:sp>
        <p:nvSpPr>
          <p:cNvPr id="18" name="Arc 17"/>
          <p:cNvSpPr/>
          <p:nvPr/>
        </p:nvSpPr>
        <p:spPr>
          <a:xfrm>
            <a:off x="1670531" y="3942807"/>
            <a:ext cx="2274515" cy="2125935"/>
          </a:xfrm>
          <a:prstGeom prst="arc">
            <a:avLst>
              <a:gd name="adj1" fmla="val 16200000"/>
              <a:gd name="adj2" fmla="val 311073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cxnSp>
        <p:nvCxnSpPr>
          <p:cNvPr id="20" name="Straight Connector 19"/>
          <p:cNvCxnSpPr/>
          <p:nvPr/>
        </p:nvCxnSpPr>
        <p:spPr>
          <a:xfrm flipV="1">
            <a:off x="2807604" y="4295231"/>
            <a:ext cx="851693" cy="891890"/>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25" name="TextBox 24"/>
              <p:cNvSpPr txBox="1"/>
              <p:nvPr/>
            </p:nvSpPr>
            <p:spPr>
              <a:xfrm>
                <a:off x="7685949" y="1254603"/>
                <a:ext cx="2933700" cy="2169825"/>
              </a:xfrm>
              <a:prstGeom prst="rect">
                <a:avLst/>
              </a:prstGeom>
              <a:noFill/>
            </p:spPr>
            <p:txBody>
              <a:bodyPr wrap="square" rtlCol="0">
                <a:spAutoFit/>
              </a:bodyPr>
              <a:lstStyle/>
              <a:p>
                <a:r>
                  <a:rPr lang="en-GB" sz="1400"/>
                  <a:t>[MAT 2016 1I] Let </a:t>
                </a:r>
                <a14:m>
                  <m:oMath xmlns:m="http://schemas.openxmlformats.org/officeDocument/2006/math">
                    <m:r>
                      <a:rPr lang="en-GB" sz="1400" i="1">
                        <a:latin typeface="Cambria Math" panose="02040503050406030204" pitchFamily="18" charset="0"/>
                      </a:rPr>
                      <m:t>𝑎</m:t>
                    </m:r>
                  </m:oMath>
                </a14:m>
                <a:r>
                  <a:rPr lang="en-GB" sz="1400"/>
                  <a:t> and </a:t>
                </a:r>
                <a14:m>
                  <m:oMath xmlns:m="http://schemas.openxmlformats.org/officeDocument/2006/math">
                    <m:r>
                      <a:rPr lang="en-GB" sz="1400" i="1">
                        <a:latin typeface="Cambria Math" panose="02040503050406030204" pitchFamily="18" charset="0"/>
                      </a:rPr>
                      <m:t>𝑏</m:t>
                    </m:r>
                  </m:oMath>
                </a14:m>
                <a:r>
                  <a:rPr lang="en-GB" sz="1400"/>
                  <a:t> be positive real numbers. If </a:t>
                </a:r>
                <a:br>
                  <a:rPr lang="en-GB" sz="1400" i="1">
                    <a:latin typeface="Cambria Math" panose="02040503050406030204" pitchFamily="18" charset="0"/>
                  </a:rPr>
                </a:br>
                <a14:m>
                  <m:oMath xmlns:m="http://schemas.openxmlformats.org/officeDocument/2006/math">
                    <m:sSup>
                      <m:sSupPr>
                        <m:ctrlPr>
                          <a:rPr lang="en-GB" sz="1400" i="1">
                            <a:latin typeface="Cambria Math" panose="02040503050406030204" pitchFamily="18" charset="0"/>
                          </a:rPr>
                        </m:ctrlPr>
                      </m:sSupPr>
                      <m:e>
                        <m:r>
                          <a:rPr lang="en-GB" sz="1400" i="1">
                            <a:latin typeface="Cambria Math" panose="02040503050406030204" pitchFamily="18" charset="0"/>
                          </a:rPr>
                          <m:t>𝑥</m:t>
                        </m:r>
                      </m:e>
                      <m:sup>
                        <m:r>
                          <a:rPr lang="en-GB" sz="1400" i="1">
                            <a:latin typeface="Cambria Math" panose="02040503050406030204" pitchFamily="18" charset="0"/>
                          </a:rPr>
                          <m:t>2</m:t>
                        </m:r>
                      </m:sup>
                    </m:sSup>
                    <m:r>
                      <a:rPr lang="en-GB" sz="1400" i="1">
                        <a:latin typeface="Cambria Math" panose="02040503050406030204" pitchFamily="18" charset="0"/>
                      </a:rPr>
                      <m:t>+</m:t>
                    </m:r>
                    <m:sSup>
                      <m:sSupPr>
                        <m:ctrlPr>
                          <a:rPr lang="en-GB" sz="1400" i="1">
                            <a:latin typeface="Cambria Math" panose="02040503050406030204" pitchFamily="18" charset="0"/>
                          </a:rPr>
                        </m:ctrlPr>
                      </m:sSupPr>
                      <m:e>
                        <m:r>
                          <a:rPr lang="en-GB" sz="1400" i="1">
                            <a:latin typeface="Cambria Math" panose="02040503050406030204" pitchFamily="18" charset="0"/>
                          </a:rPr>
                          <m:t>𝑦</m:t>
                        </m:r>
                      </m:e>
                      <m:sup>
                        <m:r>
                          <a:rPr lang="en-GB" sz="1400" i="1">
                            <a:latin typeface="Cambria Math" panose="02040503050406030204" pitchFamily="18" charset="0"/>
                          </a:rPr>
                          <m:t>2</m:t>
                        </m:r>
                      </m:sup>
                    </m:sSup>
                    <m:r>
                      <a:rPr lang="en-GB" sz="1400" i="1">
                        <a:latin typeface="Cambria Math" panose="02040503050406030204" pitchFamily="18" charset="0"/>
                      </a:rPr>
                      <m:t>≤1</m:t>
                    </m:r>
                  </m:oMath>
                </a14:m>
                <a:r>
                  <a:rPr lang="en-GB" sz="1400"/>
                  <a:t> then the largest that </a:t>
                </a:r>
                <a14:m>
                  <m:oMath xmlns:m="http://schemas.openxmlformats.org/officeDocument/2006/math">
                    <m:r>
                      <a:rPr lang="en-GB" sz="1400" i="1">
                        <a:latin typeface="Cambria Math" panose="02040503050406030204" pitchFamily="18" charset="0"/>
                      </a:rPr>
                      <m:t>𝑎𝑥</m:t>
                    </m:r>
                    <m:r>
                      <a:rPr lang="en-GB" sz="1400" i="1">
                        <a:latin typeface="Cambria Math" panose="02040503050406030204" pitchFamily="18" charset="0"/>
                      </a:rPr>
                      <m:t>+</m:t>
                    </m:r>
                    <m:r>
                      <a:rPr lang="en-GB" sz="1400" i="1">
                        <a:latin typeface="Cambria Math" panose="02040503050406030204" pitchFamily="18" charset="0"/>
                      </a:rPr>
                      <m:t>𝑏𝑦</m:t>
                    </m:r>
                  </m:oMath>
                </a14:m>
                <a:r>
                  <a:rPr lang="en-GB" sz="1400"/>
                  <a:t> can equal is what? Give your expression in terms of </a:t>
                </a:r>
                <a14:m>
                  <m:oMath xmlns:m="http://schemas.openxmlformats.org/officeDocument/2006/math">
                    <m:r>
                      <a:rPr lang="en-GB" sz="1400" i="1">
                        <a:latin typeface="Cambria Math" panose="02040503050406030204" pitchFamily="18" charset="0"/>
                      </a:rPr>
                      <m:t>𝑎</m:t>
                    </m:r>
                  </m:oMath>
                </a14:m>
                <a:r>
                  <a:rPr lang="en-GB" sz="1400"/>
                  <a:t> and </a:t>
                </a:r>
                <a14:m>
                  <m:oMath xmlns:m="http://schemas.openxmlformats.org/officeDocument/2006/math">
                    <m:r>
                      <a:rPr lang="en-GB" sz="1400" i="1">
                        <a:latin typeface="Cambria Math" panose="02040503050406030204" pitchFamily="18" charset="0"/>
                      </a:rPr>
                      <m:t>𝑏</m:t>
                    </m:r>
                  </m:oMath>
                </a14:m>
                <a:r>
                  <a:rPr lang="en-GB" sz="1400"/>
                  <a:t>.</a:t>
                </a:r>
              </a:p>
              <a:p>
                <a:endParaRPr lang="en-GB" sz="500"/>
              </a:p>
              <a:p>
                <a:r>
                  <a:rPr lang="en-GB" sz="1200" b="1"/>
                  <a:t>Many MAT questions consider maximising an expression in terms of </a:t>
                </a:r>
                <a14:m>
                  <m:oMath xmlns:m="http://schemas.openxmlformats.org/officeDocument/2006/math">
                    <m:r>
                      <a:rPr lang="en-GB" sz="1200" b="1" i="1">
                        <a:latin typeface="Cambria Math" panose="02040503050406030204" pitchFamily="18" charset="0"/>
                      </a:rPr>
                      <m:t>𝒙</m:t>
                    </m:r>
                  </m:oMath>
                </a14:m>
                <a:r>
                  <a:rPr lang="en-GB" sz="1200" b="1"/>
                  <a:t> and </a:t>
                </a:r>
                <a14:m>
                  <m:oMath xmlns:m="http://schemas.openxmlformats.org/officeDocument/2006/math">
                    <m:r>
                      <a:rPr lang="en-GB" sz="1200" b="1" i="1">
                        <a:latin typeface="Cambria Math" panose="02040503050406030204" pitchFamily="18" charset="0"/>
                      </a:rPr>
                      <m:t>𝒚</m:t>
                    </m:r>
                  </m:oMath>
                </a14:m>
                <a:r>
                  <a:rPr lang="en-GB" sz="1200" b="1"/>
                  <a:t>. Consider for example the simple case </a:t>
                </a:r>
                <a:br>
                  <a:rPr lang="en-GB" sz="1200" b="1"/>
                </a:br>
                <a14:m>
                  <m:oMath xmlns:m="http://schemas.openxmlformats.org/officeDocument/2006/math">
                    <m:r>
                      <a:rPr lang="en-GB" sz="1200" b="1" i="1">
                        <a:latin typeface="Cambria Math" panose="02040503050406030204" pitchFamily="18" charset="0"/>
                      </a:rPr>
                      <m:t>𝒙</m:t>
                    </m:r>
                    <m:r>
                      <a:rPr lang="en-GB" sz="1200" b="1" i="1">
                        <a:latin typeface="Cambria Math" panose="02040503050406030204" pitchFamily="18" charset="0"/>
                      </a:rPr>
                      <m:t>+</m:t>
                    </m:r>
                    <m:r>
                      <a:rPr lang="en-GB" sz="1200" b="1" i="1">
                        <a:latin typeface="Cambria Math" panose="02040503050406030204" pitchFamily="18" charset="0"/>
                      </a:rPr>
                      <m:t>𝒚</m:t>
                    </m:r>
                    <m:r>
                      <a:rPr lang="en-GB" sz="1200" b="1" i="1">
                        <a:latin typeface="Cambria Math" panose="02040503050406030204" pitchFamily="18" charset="0"/>
                      </a:rPr>
                      <m:t>=</m:t>
                    </m:r>
                    <m:r>
                      <a:rPr lang="en-GB" sz="1200" b="1" i="1">
                        <a:latin typeface="Cambria Math" panose="02040503050406030204" pitchFamily="18" charset="0"/>
                      </a:rPr>
                      <m:t>𝒌</m:t>
                    </m:r>
                  </m:oMath>
                </a14:m>
                <a:r>
                  <a:rPr lang="en-GB" sz="1200" b="1"/>
                  <a:t>. As we increase </a:t>
                </a:r>
                <a14:m>
                  <m:oMath xmlns:m="http://schemas.openxmlformats.org/officeDocument/2006/math">
                    <m:r>
                      <a:rPr lang="en-GB" sz="1200" b="1" i="1">
                        <a:latin typeface="Cambria Math" panose="02040503050406030204" pitchFamily="18" charset="0"/>
                      </a:rPr>
                      <m:t>𝒌</m:t>
                    </m:r>
                  </m:oMath>
                </a14:m>
                <a:r>
                  <a:rPr lang="en-GB" sz="1200" b="1"/>
                  <a:t>, the line stays in the same direction but ‘sweeps’ across:</a:t>
                </a:r>
              </a:p>
            </p:txBody>
          </p:sp>
        </mc:Choice>
        <mc:Fallback>
          <p:sp>
            <p:nvSpPr>
              <p:cNvPr id="25" name="TextBox 24"/>
              <p:cNvSpPr txBox="1">
                <a:spLocks noRot="1" noChangeAspect="1" noMove="1" noResize="1" noEditPoints="1" noAdjustHandles="1" noChangeArrowheads="1" noChangeShapeType="1" noTextEdit="1"/>
              </p:cNvSpPr>
              <p:nvPr/>
            </p:nvSpPr>
            <p:spPr>
              <a:xfrm>
                <a:off x="7685949" y="1254603"/>
                <a:ext cx="2933700" cy="2169825"/>
              </a:xfrm>
              <a:prstGeom prst="rect">
                <a:avLst/>
              </a:prstGeom>
              <a:blipFill>
                <a:blip r:embed="rId4"/>
                <a:stretch>
                  <a:fillRect l="-862" t="-581" r="-862" b="-1163"/>
                </a:stretch>
              </a:blipFill>
            </p:spPr>
            <p:txBody>
              <a:bodyPr/>
              <a:lstStyle/>
              <a:p>
                <a:r>
                  <a:rPr lang="en-US">
                    <a:noFill/>
                  </a:rPr>
                  <a:t> </a:t>
                </a:r>
              </a:p>
            </p:txBody>
          </p:sp>
        </mc:Fallback>
      </mc:AlternateContent>
      <p:cxnSp>
        <p:nvCxnSpPr>
          <p:cNvPr id="27" name="Straight Arrow Connector 26"/>
          <p:cNvCxnSpPr/>
          <p:nvPr/>
        </p:nvCxnSpPr>
        <p:spPr>
          <a:xfrm>
            <a:off x="8163316" y="4144460"/>
            <a:ext cx="808509" cy="459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8" name="Straight Arrow Connector 27"/>
          <p:cNvCxnSpPr/>
          <p:nvPr/>
        </p:nvCxnSpPr>
        <p:spPr>
          <a:xfrm flipH="1" flipV="1">
            <a:off x="8152675" y="3420388"/>
            <a:ext cx="10641" cy="72407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2" name="Straight Connector 31"/>
          <p:cNvCxnSpPr/>
          <p:nvPr/>
        </p:nvCxnSpPr>
        <p:spPr>
          <a:xfrm>
            <a:off x="8101973" y="3824232"/>
            <a:ext cx="360040" cy="348630"/>
          </a:xfrm>
          <a:prstGeom prst="line">
            <a:avLst/>
          </a:prstGeom>
          <a:ln>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8132645" y="3670366"/>
            <a:ext cx="520093" cy="521547"/>
          </a:xfrm>
          <a:prstGeom prst="line">
            <a:avLst/>
          </a:prstGeom>
          <a:ln>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a:xfrm>
            <a:off x="8184239" y="3543903"/>
            <a:ext cx="620899" cy="638485"/>
          </a:xfrm>
          <a:prstGeom prst="line">
            <a:avLst/>
          </a:prstGeom>
          <a:ln>
            <a:prstDash val="sysDot"/>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41" name="TextBox 40"/>
              <p:cNvSpPr txBox="1"/>
              <p:nvPr/>
            </p:nvSpPr>
            <p:spPr>
              <a:xfrm rot="2750566">
                <a:off x="8050281" y="3777576"/>
                <a:ext cx="410132" cy="200055"/>
              </a:xfrm>
              <a:prstGeom prst="rect">
                <a:avLst/>
              </a:prstGeom>
              <a:noFill/>
            </p:spPr>
            <p:txBody>
              <a:bodyPr wrap="square" rtlCol="0">
                <a:spAutoFit/>
              </a:bodyPr>
              <a:lstStyle/>
              <a:p>
                <a:pPr/>
                <a14:m>
                  <m:oMathPara xmlns:m="http://schemas.openxmlformats.org/officeDocument/2006/math">
                    <m:oMath>
                      <m:r>
                        <a:rPr lang="en-GB" sz="700" i="1">
                          <a:latin typeface="Cambria Math" panose="02040503050406030204" pitchFamily="18" charset="0"/>
                        </a:rPr>
                        <m:t>𝑘</m:t>
                      </m:r>
                      <m:r>
                        <a:rPr lang="en-GB" sz="700" i="1">
                          <a:latin typeface="Cambria Math" panose="02040503050406030204" pitchFamily="18" charset="0"/>
                        </a:rPr>
                        <m:t>=1</m:t>
                      </m:r>
                    </m:oMath>
                  </m:oMathPara>
                </a14:m>
                <a:endParaRPr lang="en-GB"/>
              </a:p>
            </p:txBody>
          </p:sp>
        </mc:Choice>
        <mc:Fallback>
          <p:sp>
            <p:nvSpPr>
              <p:cNvPr id="41" name="TextBox 40"/>
              <p:cNvSpPr txBox="1">
                <a:spLocks noRot="1" noChangeAspect="1" noMove="1" noResize="1" noEditPoints="1" noAdjustHandles="1" noChangeArrowheads="1" noChangeShapeType="1" noTextEdit="1"/>
              </p:cNvSpPr>
              <p:nvPr/>
            </p:nvSpPr>
            <p:spPr>
              <a:xfrm rot="2750566">
                <a:off x="8050281" y="3777576"/>
                <a:ext cx="410132" cy="200055"/>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2" name="TextBox 41"/>
              <p:cNvSpPr txBox="1"/>
              <p:nvPr/>
            </p:nvSpPr>
            <p:spPr>
              <a:xfrm rot="2480583">
                <a:off x="8059251" y="3656731"/>
                <a:ext cx="479308" cy="200055"/>
              </a:xfrm>
              <a:prstGeom prst="rect">
                <a:avLst/>
              </a:prstGeom>
              <a:noFill/>
            </p:spPr>
            <p:txBody>
              <a:bodyPr wrap="square" rtlCol="0">
                <a:spAutoFit/>
              </a:bodyPr>
              <a:lstStyle/>
              <a:p>
                <a:pPr/>
                <a14:m>
                  <m:oMathPara xmlns:m="http://schemas.openxmlformats.org/officeDocument/2006/math">
                    <m:oMath>
                      <m:r>
                        <a:rPr lang="en-GB" sz="700" i="1">
                          <a:latin typeface="Cambria Math" panose="02040503050406030204" pitchFamily="18" charset="0"/>
                        </a:rPr>
                        <m:t>𝑘</m:t>
                      </m:r>
                      <m:r>
                        <a:rPr lang="en-GB" sz="700" i="1">
                          <a:latin typeface="Cambria Math" panose="02040503050406030204" pitchFamily="18" charset="0"/>
                        </a:rPr>
                        <m:t>=2</m:t>
                      </m:r>
                    </m:oMath>
                  </m:oMathPara>
                </a14:m>
                <a:endParaRPr lang="en-GB"/>
              </a:p>
            </p:txBody>
          </p:sp>
        </mc:Choice>
        <mc:Fallback>
          <p:sp>
            <p:nvSpPr>
              <p:cNvPr id="42" name="TextBox 41"/>
              <p:cNvSpPr txBox="1">
                <a:spLocks noRot="1" noChangeAspect="1" noMove="1" noResize="1" noEditPoints="1" noAdjustHandles="1" noChangeArrowheads="1" noChangeShapeType="1" noTextEdit="1"/>
              </p:cNvSpPr>
              <p:nvPr/>
            </p:nvSpPr>
            <p:spPr>
              <a:xfrm rot="2480583">
                <a:off x="8059251" y="3656731"/>
                <a:ext cx="479308" cy="200055"/>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3" name="TextBox 42"/>
              <p:cNvSpPr txBox="1"/>
              <p:nvPr/>
            </p:nvSpPr>
            <p:spPr>
              <a:xfrm rot="2752051">
                <a:off x="8158706" y="3551529"/>
                <a:ext cx="410132" cy="200055"/>
              </a:xfrm>
              <a:prstGeom prst="rect">
                <a:avLst/>
              </a:prstGeom>
              <a:noFill/>
            </p:spPr>
            <p:txBody>
              <a:bodyPr wrap="square" rtlCol="0">
                <a:spAutoFit/>
              </a:bodyPr>
              <a:lstStyle/>
              <a:p>
                <a:pPr/>
                <a14:m>
                  <m:oMathPara xmlns:m="http://schemas.openxmlformats.org/officeDocument/2006/math">
                    <m:oMath>
                      <m:r>
                        <a:rPr lang="en-GB" sz="700" i="1">
                          <a:latin typeface="Cambria Math" panose="02040503050406030204" pitchFamily="18" charset="0"/>
                        </a:rPr>
                        <m:t>𝑘</m:t>
                      </m:r>
                      <m:r>
                        <a:rPr lang="en-GB" sz="700" i="1">
                          <a:latin typeface="Cambria Math" panose="02040503050406030204" pitchFamily="18" charset="0"/>
                        </a:rPr>
                        <m:t>=3</m:t>
                      </m:r>
                    </m:oMath>
                  </m:oMathPara>
                </a14:m>
                <a:endParaRPr lang="en-GB"/>
              </a:p>
            </p:txBody>
          </p:sp>
        </mc:Choice>
        <mc:Fallback>
          <p:sp>
            <p:nvSpPr>
              <p:cNvPr id="43" name="TextBox 42"/>
              <p:cNvSpPr txBox="1">
                <a:spLocks noRot="1" noChangeAspect="1" noMove="1" noResize="1" noEditPoints="1" noAdjustHandles="1" noChangeArrowheads="1" noChangeShapeType="1" noTextEdit="1"/>
              </p:cNvSpPr>
              <p:nvPr/>
            </p:nvSpPr>
            <p:spPr>
              <a:xfrm rot="2752051">
                <a:off x="8158706" y="3551529"/>
                <a:ext cx="410132" cy="200055"/>
              </a:xfrm>
              <a:prstGeom prst="rect">
                <a:avLst/>
              </a:prstGeom>
              <a:blipFill>
                <a:blip r:embed="rId7"/>
                <a:stretch>
                  <a:fillRect/>
                </a:stretch>
              </a:blipFill>
            </p:spPr>
            <p:txBody>
              <a:bodyPr/>
              <a:lstStyle/>
              <a:p>
                <a:r>
                  <a:rPr lang="en-US">
                    <a:noFill/>
                  </a:rPr>
                  <a:t> </a:t>
                </a:r>
              </a:p>
            </p:txBody>
          </p:sp>
        </mc:Fallback>
      </mc:AlternateContent>
      <p:sp>
        <p:nvSpPr>
          <p:cNvPr id="44" name="Arrow: Right 43"/>
          <p:cNvSpPr/>
          <p:nvPr/>
        </p:nvSpPr>
        <p:spPr>
          <a:xfrm rot="18846394">
            <a:off x="8392914" y="3851196"/>
            <a:ext cx="318348" cy="15748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mc:Choice xmlns:a14="http://schemas.microsoft.com/office/drawing/2010/main" Requires="a14">
          <p:sp>
            <p:nvSpPr>
              <p:cNvPr id="45" name="TextBox 44"/>
              <p:cNvSpPr txBox="1"/>
              <p:nvPr/>
            </p:nvSpPr>
            <p:spPr>
              <a:xfrm>
                <a:off x="8743571" y="3476690"/>
                <a:ext cx="1728192" cy="600164"/>
              </a:xfrm>
              <a:prstGeom prst="rect">
                <a:avLst/>
              </a:prstGeom>
              <a:noFill/>
            </p:spPr>
            <p:txBody>
              <a:bodyPr wrap="square" rtlCol="0">
                <a:spAutoFit/>
              </a:bodyPr>
              <a:lstStyle/>
              <a:p>
                <a14:m>
                  <m:oMath xmlns:m="http://schemas.openxmlformats.org/officeDocument/2006/math">
                    <m:r>
                      <a:rPr lang="en-GB" sz="1100" b="1" i="1">
                        <a:latin typeface="Cambria Math" panose="02040503050406030204" pitchFamily="18" charset="0"/>
                      </a:rPr>
                      <m:t>𝒌</m:t>
                    </m:r>
                  </m:oMath>
                </a14:m>
                <a:r>
                  <a:rPr lang="en-GB" sz="1100" b="1"/>
                  <a:t>, and therefore </a:t>
                </a:r>
                <a14:m>
                  <m:oMath xmlns:m="http://schemas.openxmlformats.org/officeDocument/2006/math">
                    <m:r>
                      <a:rPr lang="en-GB" sz="1100" b="1" i="1">
                        <a:latin typeface="Cambria Math" panose="02040503050406030204" pitchFamily="18" charset="0"/>
                      </a:rPr>
                      <m:t>𝒙</m:t>
                    </m:r>
                    <m:r>
                      <a:rPr lang="en-GB" sz="1100" b="1" i="1">
                        <a:latin typeface="Cambria Math" panose="02040503050406030204" pitchFamily="18" charset="0"/>
                      </a:rPr>
                      <m:t>+</m:t>
                    </m:r>
                    <m:r>
                      <a:rPr lang="en-GB" sz="1100" b="1" i="1">
                        <a:latin typeface="Cambria Math" panose="02040503050406030204" pitchFamily="18" charset="0"/>
                      </a:rPr>
                      <m:t>𝒚</m:t>
                    </m:r>
                  </m:oMath>
                </a14:m>
                <a:r>
                  <a:rPr lang="en-GB" sz="1100" b="1"/>
                  <a:t>, increase as we move in this direction.</a:t>
                </a:r>
              </a:p>
            </p:txBody>
          </p:sp>
        </mc:Choice>
        <mc:Fallback>
          <p:sp>
            <p:nvSpPr>
              <p:cNvPr id="45" name="TextBox 44"/>
              <p:cNvSpPr txBox="1">
                <a:spLocks noRot="1" noChangeAspect="1" noMove="1" noResize="1" noEditPoints="1" noAdjustHandles="1" noChangeArrowheads="1" noChangeShapeType="1" noTextEdit="1"/>
              </p:cNvSpPr>
              <p:nvPr/>
            </p:nvSpPr>
            <p:spPr>
              <a:xfrm>
                <a:off x="8743571" y="3476690"/>
                <a:ext cx="1728192" cy="600164"/>
              </a:xfrm>
              <a:prstGeom prst="rect">
                <a:avLst/>
              </a:prstGeom>
              <a:blipFill>
                <a:blip r:embed="rId8"/>
                <a:stretch>
                  <a:fillRect b="-4082"/>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6" name="TextBox 45"/>
              <p:cNvSpPr txBox="1"/>
              <p:nvPr/>
            </p:nvSpPr>
            <p:spPr>
              <a:xfrm>
                <a:off x="8908439" y="4000347"/>
                <a:ext cx="139734" cy="276999"/>
              </a:xfrm>
              <a:prstGeom prst="rect">
                <a:avLst/>
              </a:prstGeom>
              <a:noFill/>
            </p:spPr>
            <p:txBody>
              <a:bodyPr wrap="square" rtlCol="0">
                <a:spAutoFit/>
              </a:bodyPr>
              <a:lstStyle/>
              <a:p>
                <a:pPr/>
                <a14:m>
                  <m:oMathPara xmlns:m="http://schemas.openxmlformats.org/officeDocument/2006/math">
                    <m:oMath>
                      <m:r>
                        <a:rPr lang="en-GB" sz="1200" i="1">
                          <a:latin typeface="Cambria Math" panose="02040503050406030204" pitchFamily="18" charset="0"/>
                        </a:rPr>
                        <m:t>𝑥</m:t>
                      </m:r>
                    </m:oMath>
                  </m:oMathPara>
                </a14:m>
                <a:endParaRPr lang="en-GB"/>
              </a:p>
            </p:txBody>
          </p:sp>
        </mc:Choice>
        <mc:Fallback>
          <p:sp>
            <p:nvSpPr>
              <p:cNvPr id="46" name="TextBox 45"/>
              <p:cNvSpPr txBox="1">
                <a:spLocks noRot="1" noChangeAspect="1" noMove="1" noResize="1" noEditPoints="1" noAdjustHandles="1" noChangeArrowheads="1" noChangeShapeType="1" noTextEdit="1"/>
              </p:cNvSpPr>
              <p:nvPr/>
            </p:nvSpPr>
            <p:spPr>
              <a:xfrm>
                <a:off x="8908439" y="4000347"/>
                <a:ext cx="139734" cy="276999"/>
              </a:xfrm>
              <a:prstGeom prst="rect">
                <a:avLst/>
              </a:prstGeom>
              <a:blipFill>
                <a:blip r:embed="rId9"/>
                <a:stretch>
                  <a:fillRect r="-33333"/>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7" name="TextBox 46"/>
              <p:cNvSpPr txBox="1"/>
              <p:nvPr/>
            </p:nvSpPr>
            <p:spPr>
              <a:xfrm>
                <a:off x="7979354" y="3274931"/>
                <a:ext cx="139734" cy="276999"/>
              </a:xfrm>
              <a:prstGeom prst="rect">
                <a:avLst/>
              </a:prstGeom>
              <a:noFill/>
            </p:spPr>
            <p:txBody>
              <a:bodyPr wrap="square" rtlCol="0">
                <a:spAutoFit/>
              </a:bodyPr>
              <a:lstStyle/>
              <a:p>
                <a:pPr/>
                <a14:m>
                  <m:oMathPara xmlns:m="http://schemas.openxmlformats.org/officeDocument/2006/math">
                    <m:oMath>
                      <m:r>
                        <a:rPr lang="en-GB" sz="1200" i="1">
                          <a:latin typeface="Cambria Math" panose="02040503050406030204" pitchFamily="18" charset="0"/>
                        </a:rPr>
                        <m:t>𝑦</m:t>
                      </m:r>
                    </m:oMath>
                  </m:oMathPara>
                </a14:m>
                <a:endParaRPr lang="en-GB"/>
              </a:p>
            </p:txBody>
          </p:sp>
        </mc:Choice>
        <mc:Fallback>
          <p:sp>
            <p:nvSpPr>
              <p:cNvPr id="47" name="TextBox 46"/>
              <p:cNvSpPr txBox="1">
                <a:spLocks noRot="1" noChangeAspect="1" noMove="1" noResize="1" noEditPoints="1" noAdjustHandles="1" noChangeArrowheads="1" noChangeShapeType="1" noTextEdit="1"/>
              </p:cNvSpPr>
              <p:nvPr/>
            </p:nvSpPr>
            <p:spPr>
              <a:xfrm>
                <a:off x="7979354" y="3274931"/>
                <a:ext cx="139734" cy="276999"/>
              </a:xfrm>
              <a:prstGeom prst="rect">
                <a:avLst/>
              </a:prstGeom>
              <a:blipFill>
                <a:blip r:embed="rId10"/>
                <a:stretch>
                  <a:fillRect r="-50000" b="-4348"/>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8" name="TextBox 47"/>
              <p:cNvSpPr txBox="1"/>
              <p:nvPr/>
            </p:nvSpPr>
            <p:spPr>
              <a:xfrm>
                <a:off x="7571649" y="4224006"/>
                <a:ext cx="3100516" cy="646331"/>
              </a:xfrm>
              <a:prstGeom prst="rect">
                <a:avLst/>
              </a:prstGeom>
              <a:noFill/>
            </p:spPr>
            <p:txBody>
              <a:bodyPr wrap="square" rtlCol="0">
                <a:spAutoFit/>
              </a:bodyPr>
              <a:lstStyle/>
              <a:p>
                <a:r>
                  <a:rPr lang="en-GB" sz="1200" b="1"/>
                  <a:t>If we similarly consider the line </a:t>
                </a:r>
                <a14:m>
                  <m:oMath xmlns:m="http://schemas.openxmlformats.org/officeDocument/2006/math">
                    <m:r>
                      <a:rPr lang="en-GB" sz="1200" b="1" i="1">
                        <a:latin typeface="Cambria Math" panose="02040503050406030204" pitchFamily="18" charset="0"/>
                      </a:rPr>
                      <m:t>𝒂𝒙</m:t>
                    </m:r>
                    <m:r>
                      <a:rPr lang="en-GB" sz="1200" b="1" i="1">
                        <a:latin typeface="Cambria Math" panose="02040503050406030204" pitchFamily="18" charset="0"/>
                      </a:rPr>
                      <m:t>+</m:t>
                    </m:r>
                    <m:r>
                      <a:rPr lang="en-GB" sz="1200" b="1" i="1">
                        <a:latin typeface="Cambria Math" panose="02040503050406030204" pitchFamily="18" charset="0"/>
                      </a:rPr>
                      <m:t>𝒃𝒚</m:t>
                    </m:r>
                    <m:r>
                      <a:rPr lang="en-GB" sz="1200" b="1" i="1">
                        <a:latin typeface="Cambria Math" panose="02040503050406030204" pitchFamily="18" charset="0"/>
                      </a:rPr>
                      <m:t>=</m:t>
                    </m:r>
                    <m:r>
                      <a:rPr lang="en-GB" sz="1200" b="1" i="1">
                        <a:latin typeface="Cambria Math" panose="02040503050406030204" pitchFamily="18" charset="0"/>
                      </a:rPr>
                      <m:t>𝒌</m:t>
                    </m:r>
                  </m:oMath>
                </a14:m>
                <a:r>
                  <a:rPr lang="en-GB" sz="1200" b="1"/>
                  <a:t>, </a:t>
                </a:r>
                <a14:m>
                  <m:oMath xmlns:m="http://schemas.openxmlformats.org/officeDocument/2006/math">
                    <m:r>
                      <a:rPr lang="en-GB" sz="1200" b="1" i="1">
                        <a:latin typeface="Cambria Math" panose="02040503050406030204" pitchFamily="18" charset="0"/>
                      </a:rPr>
                      <m:t>𝒂𝒙</m:t>
                    </m:r>
                    <m:r>
                      <a:rPr lang="en-GB" sz="1200" b="1" i="1">
                        <a:latin typeface="Cambria Math" panose="02040503050406030204" pitchFamily="18" charset="0"/>
                      </a:rPr>
                      <m:t>+</m:t>
                    </m:r>
                    <m:r>
                      <a:rPr lang="en-GB" sz="1200" b="1" i="1">
                        <a:latin typeface="Cambria Math" panose="02040503050406030204" pitchFamily="18" charset="0"/>
                      </a:rPr>
                      <m:t>𝒃𝒚</m:t>
                    </m:r>
                  </m:oMath>
                </a14:m>
                <a:r>
                  <a:rPr lang="en-GB" sz="1200" b="1"/>
                  <a:t> is therefore maximised when the line is tangent to the unit circle.</a:t>
                </a:r>
              </a:p>
            </p:txBody>
          </p:sp>
        </mc:Choice>
        <mc:Fallback>
          <p:sp>
            <p:nvSpPr>
              <p:cNvPr id="48" name="TextBox 47"/>
              <p:cNvSpPr txBox="1">
                <a:spLocks noRot="1" noChangeAspect="1" noMove="1" noResize="1" noEditPoints="1" noAdjustHandles="1" noChangeArrowheads="1" noChangeShapeType="1" noTextEdit="1"/>
              </p:cNvSpPr>
              <p:nvPr/>
            </p:nvSpPr>
            <p:spPr>
              <a:xfrm>
                <a:off x="7571649" y="4224006"/>
                <a:ext cx="3100516" cy="646331"/>
              </a:xfrm>
              <a:prstGeom prst="rect">
                <a:avLst/>
              </a:prstGeom>
              <a:blipFill>
                <a:blip r:embed="rId11"/>
                <a:stretch>
                  <a:fillRect b="-5769"/>
                </a:stretch>
              </a:blipFill>
            </p:spPr>
            <p:txBody>
              <a:bodyPr/>
              <a:lstStyle/>
              <a:p>
                <a:r>
                  <a:rPr lang="en-US">
                    <a:noFill/>
                  </a:rPr>
                  <a:t> </a:t>
                </a:r>
              </a:p>
            </p:txBody>
          </p:sp>
        </mc:Fallback>
      </mc:AlternateContent>
      <p:cxnSp>
        <p:nvCxnSpPr>
          <p:cNvPr id="49" name="Straight Arrow Connector 48"/>
          <p:cNvCxnSpPr/>
          <p:nvPr/>
        </p:nvCxnSpPr>
        <p:spPr>
          <a:xfrm>
            <a:off x="7417850" y="5728454"/>
            <a:ext cx="1582396"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1" name="Straight Arrow Connector 50"/>
          <p:cNvCxnSpPr/>
          <p:nvPr/>
        </p:nvCxnSpPr>
        <p:spPr>
          <a:xfrm flipV="1">
            <a:off x="7581418" y="4842741"/>
            <a:ext cx="0" cy="106897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54" name="Arc 53"/>
          <p:cNvSpPr/>
          <p:nvPr/>
        </p:nvSpPr>
        <p:spPr>
          <a:xfrm>
            <a:off x="6820671" y="5172418"/>
            <a:ext cx="1429494" cy="1316118"/>
          </a:xfrm>
          <a:prstGeom prst="arc">
            <a:avLst>
              <a:gd name="adj1" fmla="val 15024339"/>
              <a:gd name="adj2" fmla="val 880465"/>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GB"/>
          </a:p>
        </p:txBody>
      </p:sp>
      <p:cxnSp>
        <p:nvCxnSpPr>
          <p:cNvPr id="57" name="Straight Connector 56"/>
          <p:cNvCxnSpPr/>
          <p:nvPr/>
        </p:nvCxnSpPr>
        <p:spPr>
          <a:xfrm>
            <a:off x="7570530" y="5080159"/>
            <a:ext cx="1216025" cy="647700"/>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60" name="TextBox 59"/>
              <p:cNvSpPr txBox="1"/>
              <p:nvPr/>
            </p:nvSpPr>
            <p:spPr>
              <a:xfrm rot="1770672">
                <a:off x="7793373" y="5253156"/>
                <a:ext cx="1152128" cy="261610"/>
              </a:xfrm>
              <a:prstGeom prst="rect">
                <a:avLst/>
              </a:prstGeom>
              <a:noFill/>
            </p:spPr>
            <p:txBody>
              <a:bodyPr wrap="square" rtlCol="0">
                <a:spAutoFit/>
              </a:bodyPr>
              <a:lstStyle/>
              <a:p>
                <a:pPr/>
                <a14:m>
                  <m:oMathPara xmlns:m="http://schemas.openxmlformats.org/officeDocument/2006/math">
                    <m:oMath>
                      <m:r>
                        <a:rPr lang="en-GB" sz="1050" i="1">
                          <a:latin typeface="Cambria Math" panose="02040503050406030204" pitchFamily="18" charset="0"/>
                        </a:rPr>
                        <m:t>𝑎𝑥</m:t>
                      </m:r>
                      <m:r>
                        <a:rPr lang="en-GB" sz="1050" i="1">
                          <a:latin typeface="Cambria Math" panose="02040503050406030204" pitchFamily="18" charset="0"/>
                        </a:rPr>
                        <m:t>+</m:t>
                      </m:r>
                      <m:r>
                        <a:rPr lang="en-GB" sz="1050" i="1">
                          <a:latin typeface="Cambria Math" panose="02040503050406030204" pitchFamily="18" charset="0"/>
                        </a:rPr>
                        <m:t>𝑏𝑦</m:t>
                      </m:r>
                      <m:r>
                        <a:rPr lang="en-GB" sz="1050" i="1">
                          <a:latin typeface="Cambria Math" panose="02040503050406030204" pitchFamily="18" charset="0"/>
                        </a:rPr>
                        <m:t>=</m:t>
                      </m:r>
                      <m:r>
                        <a:rPr lang="en-GB" sz="1050" i="1">
                          <a:latin typeface="Cambria Math" panose="02040503050406030204" pitchFamily="18" charset="0"/>
                        </a:rPr>
                        <m:t>𝑘</m:t>
                      </m:r>
                    </m:oMath>
                  </m:oMathPara>
                </a14:m>
                <a:endParaRPr lang="en-GB" sz="1050"/>
              </a:p>
            </p:txBody>
          </p:sp>
        </mc:Choice>
        <mc:Fallback>
          <p:sp>
            <p:nvSpPr>
              <p:cNvPr id="60" name="TextBox 59"/>
              <p:cNvSpPr txBox="1">
                <a:spLocks noRot="1" noChangeAspect="1" noMove="1" noResize="1" noEditPoints="1" noAdjustHandles="1" noChangeArrowheads="1" noChangeShapeType="1" noTextEdit="1"/>
              </p:cNvSpPr>
              <p:nvPr/>
            </p:nvSpPr>
            <p:spPr>
              <a:xfrm rot="1770672">
                <a:off x="7793373" y="5253156"/>
                <a:ext cx="1152128" cy="261610"/>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61" name="TextBox 60"/>
              <p:cNvSpPr txBox="1"/>
              <p:nvPr/>
            </p:nvSpPr>
            <p:spPr>
              <a:xfrm>
                <a:off x="8648037" y="5708809"/>
                <a:ext cx="277936" cy="355290"/>
              </a:xfrm>
              <a:prstGeom prst="rect">
                <a:avLst/>
              </a:prstGeom>
              <a:noFill/>
            </p:spPr>
            <p:txBody>
              <a:bodyPr wrap="square" rtlCol="0">
                <a:spAutoFit/>
              </a:bodyPr>
              <a:lstStyle/>
              <a:p>
                <a:pPr/>
                <a14:m>
                  <m:oMathPara xmlns:m="http://schemas.openxmlformats.org/officeDocument/2006/math">
                    <m:oMath>
                      <m:f>
                        <m:fPr>
                          <m:ctrlPr>
                            <a:rPr lang="en-GB" sz="900" i="1">
                              <a:latin typeface="Cambria Math" panose="02040503050406030204" pitchFamily="18" charset="0"/>
                            </a:rPr>
                          </m:ctrlPr>
                        </m:fPr>
                        <m:num>
                          <m:r>
                            <a:rPr lang="en-GB" sz="900" i="1">
                              <a:latin typeface="Cambria Math" panose="02040503050406030204" pitchFamily="18" charset="0"/>
                            </a:rPr>
                            <m:t>𝑘</m:t>
                          </m:r>
                        </m:num>
                        <m:den>
                          <m:r>
                            <a:rPr lang="en-GB" sz="900" i="1">
                              <a:latin typeface="Cambria Math" panose="02040503050406030204" pitchFamily="18" charset="0"/>
                            </a:rPr>
                            <m:t>𝑎</m:t>
                          </m:r>
                        </m:den>
                      </m:f>
                    </m:oMath>
                  </m:oMathPara>
                </a14:m>
                <a:endParaRPr lang="en-GB"/>
              </a:p>
            </p:txBody>
          </p:sp>
        </mc:Choice>
        <mc:Fallback>
          <p:sp>
            <p:nvSpPr>
              <p:cNvPr id="61" name="TextBox 60"/>
              <p:cNvSpPr txBox="1">
                <a:spLocks noRot="1" noChangeAspect="1" noMove="1" noResize="1" noEditPoints="1" noAdjustHandles="1" noChangeArrowheads="1" noChangeShapeType="1" noTextEdit="1"/>
              </p:cNvSpPr>
              <p:nvPr/>
            </p:nvSpPr>
            <p:spPr>
              <a:xfrm>
                <a:off x="8648037" y="5708809"/>
                <a:ext cx="277936" cy="355290"/>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62" name="TextBox 61"/>
              <p:cNvSpPr txBox="1"/>
              <p:nvPr/>
            </p:nvSpPr>
            <p:spPr>
              <a:xfrm>
                <a:off x="7376796" y="4861197"/>
                <a:ext cx="277936" cy="355290"/>
              </a:xfrm>
              <a:prstGeom prst="rect">
                <a:avLst/>
              </a:prstGeom>
              <a:noFill/>
            </p:spPr>
            <p:txBody>
              <a:bodyPr wrap="square" rtlCol="0">
                <a:spAutoFit/>
              </a:bodyPr>
              <a:lstStyle/>
              <a:p>
                <a:pPr/>
                <a14:m>
                  <m:oMathPara xmlns:m="http://schemas.openxmlformats.org/officeDocument/2006/math">
                    <m:oMath>
                      <m:f>
                        <m:fPr>
                          <m:ctrlPr>
                            <a:rPr lang="en-GB" sz="900" i="1">
                              <a:latin typeface="Cambria Math" panose="02040503050406030204" pitchFamily="18" charset="0"/>
                            </a:rPr>
                          </m:ctrlPr>
                        </m:fPr>
                        <m:num>
                          <m:r>
                            <a:rPr lang="en-GB" sz="900" i="1">
                              <a:latin typeface="Cambria Math" panose="02040503050406030204" pitchFamily="18" charset="0"/>
                            </a:rPr>
                            <m:t>𝑘</m:t>
                          </m:r>
                        </m:num>
                        <m:den>
                          <m:r>
                            <a:rPr lang="en-GB" sz="900" i="1">
                              <a:latin typeface="Cambria Math" panose="02040503050406030204" pitchFamily="18" charset="0"/>
                            </a:rPr>
                            <m:t>𝑏</m:t>
                          </m:r>
                        </m:den>
                      </m:f>
                    </m:oMath>
                  </m:oMathPara>
                </a14:m>
                <a:endParaRPr lang="en-GB"/>
              </a:p>
            </p:txBody>
          </p:sp>
        </mc:Choice>
        <mc:Fallback>
          <p:sp>
            <p:nvSpPr>
              <p:cNvPr id="62" name="TextBox 61"/>
              <p:cNvSpPr txBox="1">
                <a:spLocks noRot="1" noChangeAspect="1" noMove="1" noResize="1" noEditPoints="1" noAdjustHandles="1" noChangeArrowheads="1" noChangeShapeType="1" noTextEdit="1"/>
              </p:cNvSpPr>
              <p:nvPr/>
            </p:nvSpPr>
            <p:spPr>
              <a:xfrm>
                <a:off x="7376796" y="4861197"/>
                <a:ext cx="277936" cy="355290"/>
              </a:xfrm>
              <a:prstGeom prst="rect">
                <a:avLst/>
              </a:prstGeom>
              <a:blipFill>
                <a:blip r:embed="rId14"/>
                <a:stretch>
                  <a:fillRect/>
                </a:stretch>
              </a:blipFill>
            </p:spPr>
            <p:txBody>
              <a:bodyPr/>
              <a:lstStyle/>
              <a:p>
                <a:r>
                  <a:rPr lang="en-US">
                    <a:noFill/>
                  </a:rPr>
                  <a:t> </a:t>
                </a:r>
              </a:p>
            </p:txBody>
          </p:sp>
        </mc:Fallback>
      </mc:AlternateContent>
      <p:cxnSp>
        <p:nvCxnSpPr>
          <p:cNvPr id="64" name="Straight Connector 63"/>
          <p:cNvCxnSpPr/>
          <p:nvPr/>
        </p:nvCxnSpPr>
        <p:spPr>
          <a:xfrm flipH="1">
            <a:off x="7581418" y="5216487"/>
            <a:ext cx="283318" cy="511372"/>
          </a:xfrm>
          <a:prstGeom prst="line">
            <a:avLst/>
          </a:prstGeom>
        </p:spPr>
        <p:style>
          <a:lnRef idx="1">
            <a:schemeClr val="accent1"/>
          </a:lnRef>
          <a:fillRef idx="0">
            <a:schemeClr val="accent1"/>
          </a:fillRef>
          <a:effectRef idx="0">
            <a:schemeClr val="accent1"/>
          </a:effectRef>
          <a:fontRef idx="minor">
            <a:schemeClr val="tx1"/>
          </a:fontRef>
        </p:style>
      </p:cxnSp>
      <p:sp>
        <p:nvSpPr>
          <p:cNvPr id="65" name="TextBox 64"/>
          <p:cNvSpPr txBox="1"/>
          <p:nvPr/>
        </p:nvSpPr>
        <p:spPr>
          <a:xfrm>
            <a:off x="7659621" y="5350607"/>
            <a:ext cx="165086" cy="276999"/>
          </a:xfrm>
          <a:prstGeom prst="rect">
            <a:avLst/>
          </a:prstGeom>
          <a:noFill/>
        </p:spPr>
        <p:txBody>
          <a:bodyPr wrap="square" rtlCol="0">
            <a:spAutoFit/>
          </a:bodyPr>
          <a:lstStyle/>
          <a:p>
            <a:r>
              <a:rPr lang="en-GB" sz="1200"/>
              <a:t>1</a:t>
            </a:r>
          </a:p>
        </p:txBody>
      </p:sp>
      <p:cxnSp>
        <p:nvCxnSpPr>
          <p:cNvPr id="68" name="Straight Connector 67"/>
          <p:cNvCxnSpPr/>
          <p:nvPr/>
        </p:nvCxnSpPr>
        <p:spPr>
          <a:xfrm>
            <a:off x="9430352" y="4967687"/>
            <a:ext cx="0" cy="553699"/>
          </a:xfrm>
          <a:prstGeom prst="line">
            <a:avLst/>
          </a:prstGeom>
        </p:spPr>
        <p:style>
          <a:lnRef idx="1">
            <a:schemeClr val="dk1"/>
          </a:lnRef>
          <a:fillRef idx="0">
            <a:schemeClr val="dk1"/>
          </a:fillRef>
          <a:effectRef idx="0">
            <a:schemeClr val="dk1"/>
          </a:effectRef>
          <a:fontRef idx="minor">
            <a:schemeClr val="tx1"/>
          </a:fontRef>
        </p:style>
      </p:cxnSp>
      <p:cxnSp>
        <p:nvCxnSpPr>
          <p:cNvPr id="69" name="Straight Connector 68"/>
          <p:cNvCxnSpPr/>
          <p:nvPr/>
        </p:nvCxnSpPr>
        <p:spPr>
          <a:xfrm flipH="1">
            <a:off x="9427263" y="5513855"/>
            <a:ext cx="978966" cy="0"/>
          </a:xfrm>
          <a:prstGeom prst="line">
            <a:avLst/>
          </a:prstGeom>
        </p:spPr>
        <p:style>
          <a:lnRef idx="1">
            <a:schemeClr val="dk1"/>
          </a:lnRef>
          <a:fillRef idx="0">
            <a:schemeClr val="dk1"/>
          </a:fillRef>
          <a:effectRef idx="0">
            <a:schemeClr val="dk1"/>
          </a:effectRef>
          <a:fontRef idx="minor">
            <a:schemeClr val="tx1"/>
          </a:fontRef>
        </p:style>
      </p:cxnSp>
      <p:cxnSp>
        <p:nvCxnSpPr>
          <p:cNvPr id="72" name="Straight Connector 71"/>
          <p:cNvCxnSpPr/>
          <p:nvPr/>
        </p:nvCxnSpPr>
        <p:spPr>
          <a:xfrm flipH="1" flipV="1">
            <a:off x="9427263" y="4971233"/>
            <a:ext cx="978967" cy="542623"/>
          </a:xfrm>
          <a:prstGeom prst="line">
            <a:avLst/>
          </a:prstGeom>
        </p:spPr>
        <p:style>
          <a:lnRef idx="1">
            <a:schemeClr val="dk1"/>
          </a:lnRef>
          <a:fillRef idx="0">
            <a:schemeClr val="dk1"/>
          </a:fillRef>
          <a:effectRef idx="0">
            <a:schemeClr val="dk1"/>
          </a:effectRef>
          <a:fontRef idx="minor">
            <a:schemeClr val="tx1"/>
          </a:fontRef>
        </p:style>
      </p:cxnSp>
      <p:cxnSp>
        <p:nvCxnSpPr>
          <p:cNvPr id="75" name="Straight Connector 74"/>
          <p:cNvCxnSpPr/>
          <p:nvPr/>
        </p:nvCxnSpPr>
        <p:spPr>
          <a:xfrm flipH="1">
            <a:off x="9427262" y="5106313"/>
            <a:ext cx="244650" cy="400807"/>
          </a:xfrm>
          <a:prstGeom prst="line">
            <a:avLst/>
          </a:prstGeom>
        </p:spPr>
        <p:style>
          <a:lnRef idx="1">
            <a:schemeClr val="dk1"/>
          </a:lnRef>
          <a:fillRef idx="0">
            <a:schemeClr val="dk1"/>
          </a:fillRef>
          <a:effectRef idx="0">
            <a:schemeClr val="dk1"/>
          </a:effectRef>
          <a:fontRef idx="minor">
            <a:schemeClr val="tx1"/>
          </a:fontRef>
        </p:style>
      </p:cxnSp>
      <p:cxnSp>
        <p:nvCxnSpPr>
          <p:cNvPr id="78" name="Straight Connector 77"/>
          <p:cNvCxnSpPr/>
          <p:nvPr/>
        </p:nvCxnSpPr>
        <p:spPr>
          <a:xfrm flipH="1">
            <a:off x="9692550" y="5128235"/>
            <a:ext cx="36367" cy="63802"/>
          </a:xfrm>
          <a:prstGeom prst="line">
            <a:avLst/>
          </a:prstGeom>
        </p:spPr>
        <p:style>
          <a:lnRef idx="1">
            <a:schemeClr val="dk1"/>
          </a:lnRef>
          <a:fillRef idx="0">
            <a:schemeClr val="dk1"/>
          </a:fillRef>
          <a:effectRef idx="0">
            <a:schemeClr val="dk1"/>
          </a:effectRef>
          <a:fontRef idx="minor">
            <a:schemeClr val="tx1"/>
          </a:fontRef>
        </p:style>
      </p:cxnSp>
      <p:cxnSp>
        <p:nvCxnSpPr>
          <p:cNvPr id="81" name="Straight Connector 80"/>
          <p:cNvCxnSpPr/>
          <p:nvPr/>
        </p:nvCxnSpPr>
        <p:spPr>
          <a:xfrm flipH="1" flipV="1">
            <a:off x="9590950" y="5137269"/>
            <a:ext cx="104777" cy="57945"/>
          </a:xfrm>
          <a:prstGeom prst="line">
            <a:avLst/>
          </a:prstGeom>
        </p:spPr>
        <p:style>
          <a:lnRef idx="1">
            <a:schemeClr val="dk1"/>
          </a:lnRef>
          <a:fillRef idx="0">
            <a:schemeClr val="dk1"/>
          </a:fillRef>
          <a:effectRef idx="0">
            <a:schemeClr val="dk1"/>
          </a:effectRef>
          <a:fontRef idx="minor">
            <a:schemeClr val="tx1"/>
          </a:fontRef>
        </p:style>
      </p:cxnSp>
      <p:cxnSp>
        <p:nvCxnSpPr>
          <p:cNvPr id="84" name="Straight Connector 83"/>
          <p:cNvCxnSpPr/>
          <p:nvPr/>
        </p:nvCxnSpPr>
        <p:spPr>
          <a:xfrm flipH="1">
            <a:off x="9590950" y="5080119"/>
            <a:ext cx="28575" cy="50007"/>
          </a:xfrm>
          <a:prstGeom prst="line">
            <a:avLst/>
          </a:prstGeom>
        </p:spPr>
        <p:style>
          <a:lnRef idx="1">
            <a:schemeClr val="dk1"/>
          </a:lnRef>
          <a:fillRef idx="0">
            <a:schemeClr val="dk1"/>
          </a:fillRef>
          <a:effectRef idx="0">
            <a:schemeClr val="dk1"/>
          </a:effectRef>
          <a:fontRef idx="minor">
            <a:schemeClr val="tx1"/>
          </a:fontRef>
        </p:style>
      </p:cxnSp>
      <p:cxnSp>
        <p:nvCxnSpPr>
          <p:cNvPr id="91" name="Straight Connector 90"/>
          <p:cNvCxnSpPr/>
          <p:nvPr/>
        </p:nvCxnSpPr>
        <p:spPr>
          <a:xfrm>
            <a:off x="9493318" y="5434924"/>
            <a:ext cx="2908" cy="76628"/>
          </a:xfrm>
          <a:prstGeom prst="line">
            <a:avLst/>
          </a:prstGeom>
        </p:spPr>
        <p:style>
          <a:lnRef idx="1">
            <a:schemeClr val="dk1"/>
          </a:lnRef>
          <a:fillRef idx="0">
            <a:schemeClr val="dk1"/>
          </a:fillRef>
          <a:effectRef idx="0">
            <a:schemeClr val="dk1"/>
          </a:effectRef>
          <a:fontRef idx="minor">
            <a:schemeClr val="tx1"/>
          </a:fontRef>
        </p:style>
      </p:cxnSp>
      <p:cxnSp>
        <p:nvCxnSpPr>
          <p:cNvPr id="93" name="Straight Connector 92"/>
          <p:cNvCxnSpPr/>
          <p:nvPr/>
        </p:nvCxnSpPr>
        <p:spPr>
          <a:xfrm>
            <a:off x="9431406" y="5439687"/>
            <a:ext cx="66675" cy="0"/>
          </a:xfrm>
          <a:prstGeom prst="line">
            <a:avLst/>
          </a:prstGeom>
        </p:spPr>
        <p:style>
          <a:lnRef idx="1">
            <a:schemeClr val="dk1"/>
          </a:lnRef>
          <a:fillRef idx="0">
            <a:schemeClr val="dk1"/>
          </a:fillRef>
          <a:effectRef idx="0">
            <a:schemeClr val="dk1"/>
          </a:effectRef>
          <a:fontRef idx="minor">
            <a:schemeClr val="tx1"/>
          </a:fontRef>
        </p:style>
      </p:cxnSp>
      <p:sp>
        <p:nvSpPr>
          <p:cNvPr id="97" name="TextBox 96"/>
          <p:cNvSpPr txBox="1"/>
          <p:nvPr/>
        </p:nvSpPr>
        <p:spPr>
          <a:xfrm>
            <a:off x="9514750" y="5190155"/>
            <a:ext cx="119783" cy="261610"/>
          </a:xfrm>
          <a:prstGeom prst="rect">
            <a:avLst/>
          </a:prstGeom>
          <a:noFill/>
        </p:spPr>
        <p:txBody>
          <a:bodyPr wrap="square" rtlCol="0">
            <a:spAutoFit/>
          </a:bodyPr>
          <a:lstStyle/>
          <a:p>
            <a:r>
              <a:rPr lang="en-GB" sz="1100"/>
              <a:t>1</a:t>
            </a:r>
            <a:endParaRPr lang="en-GB"/>
          </a:p>
        </p:txBody>
      </p:sp>
      <mc:AlternateContent xmlns:mc="http://schemas.openxmlformats.org/markup-compatibility/2006">
        <mc:Choice xmlns:a14="http://schemas.microsoft.com/office/drawing/2010/main" Requires="a14">
          <p:sp>
            <p:nvSpPr>
              <p:cNvPr id="98" name="TextBox 97"/>
              <p:cNvSpPr txBox="1"/>
              <p:nvPr/>
            </p:nvSpPr>
            <p:spPr>
              <a:xfrm>
                <a:off x="9252573" y="5034061"/>
                <a:ext cx="119783" cy="384529"/>
              </a:xfrm>
              <a:prstGeom prst="rect">
                <a:avLst/>
              </a:prstGeom>
              <a:noFill/>
            </p:spPr>
            <p:txBody>
              <a:bodyPr wrap="square" rtlCol="0">
                <a:spAutoFit/>
              </a:bodyPr>
              <a:lstStyle/>
              <a:p>
                <a:pPr/>
                <a14:m>
                  <m:oMathPara xmlns:m="http://schemas.openxmlformats.org/officeDocument/2006/math">
                    <m:oMath>
                      <m:f>
                        <m:fPr>
                          <m:ctrlPr>
                            <a:rPr lang="en-GB" sz="1000" i="1">
                              <a:latin typeface="Cambria Math" panose="02040503050406030204" pitchFamily="18" charset="0"/>
                            </a:rPr>
                          </m:ctrlPr>
                        </m:fPr>
                        <m:num>
                          <m:r>
                            <a:rPr lang="en-GB" sz="1000" i="1">
                              <a:latin typeface="Cambria Math" panose="02040503050406030204" pitchFamily="18" charset="0"/>
                            </a:rPr>
                            <m:t>𝑘</m:t>
                          </m:r>
                        </m:num>
                        <m:den>
                          <m:r>
                            <a:rPr lang="en-GB" sz="1000" i="1">
                              <a:latin typeface="Cambria Math" panose="02040503050406030204" pitchFamily="18" charset="0"/>
                            </a:rPr>
                            <m:t>𝑏</m:t>
                          </m:r>
                        </m:den>
                      </m:f>
                    </m:oMath>
                  </m:oMathPara>
                </a14:m>
                <a:endParaRPr lang="en-GB"/>
              </a:p>
            </p:txBody>
          </p:sp>
        </mc:Choice>
        <mc:Fallback>
          <p:sp>
            <p:nvSpPr>
              <p:cNvPr id="98" name="TextBox 97"/>
              <p:cNvSpPr txBox="1">
                <a:spLocks noRot="1" noChangeAspect="1" noMove="1" noResize="1" noEditPoints="1" noAdjustHandles="1" noChangeArrowheads="1" noChangeShapeType="1" noTextEdit="1"/>
              </p:cNvSpPr>
              <p:nvPr/>
            </p:nvSpPr>
            <p:spPr>
              <a:xfrm>
                <a:off x="9252573" y="5034061"/>
                <a:ext cx="119783" cy="384529"/>
              </a:xfrm>
              <a:prstGeom prst="rect">
                <a:avLst/>
              </a:prstGeom>
              <a:blipFill>
                <a:blip r:embed="rId15"/>
                <a:stretch>
                  <a:fillRect r="-5000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99" name="TextBox 98"/>
              <p:cNvSpPr txBox="1"/>
              <p:nvPr/>
            </p:nvSpPr>
            <p:spPr>
              <a:xfrm>
                <a:off x="9765672" y="5334943"/>
                <a:ext cx="119783" cy="384529"/>
              </a:xfrm>
              <a:prstGeom prst="rect">
                <a:avLst/>
              </a:prstGeom>
              <a:noFill/>
            </p:spPr>
            <p:txBody>
              <a:bodyPr wrap="square" rtlCol="0">
                <a:spAutoFit/>
              </a:bodyPr>
              <a:lstStyle/>
              <a:p>
                <a:pPr/>
                <a14:m>
                  <m:oMathPara xmlns:m="http://schemas.openxmlformats.org/officeDocument/2006/math">
                    <m:oMath>
                      <m:f>
                        <m:fPr>
                          <m:ctrlPr>
                            <a:rPr lang="en-GB" sz="1000" i="1">
                              <a:latin typeface="Cambria Math" panose="02040503050406030204" pitchFamily="18" charset="0"/>
                            </a:rPr>
                          </m:ctrlPr>
                        </m:fPr>
                        <m:num>
                          <m:r>
                            <a:rPr lang="en-GB" sz="1000" i="1">
                              <a:latin typeface="Cambria Math" panose="02040503050406030204" pitchFamily="18" charset="0"/>
                            </a:rPr>
                            <m:t>𝑘</m:t>
                          </m:r>
                        </m:num>
                        <m:den>
                          <m:r>
                            <a:rPr lang="en-GB" sz="1000" i="1">
                              <a:latin typeface="Cambria Math" panose="02040503050406030204" pitchFamily="18" charset="0"/>
                            </a:rPr>
                            <m:t>𝑎</m:t>
                          </m:r>
                        </m:den>
                      </m:f>
                    </m:oMath>
                  </m:oMathPara>
                </a14:m>
                <a:endParaRPr lang="en-GB"/>
              </a:p>
            </p:txBody>
          </p:sp>
        </mc:Choice>
        <mc:Fallback>
          <p:sp>
            <p:nvSpPr>
              <p:cNvPr id="99" name="TextBox 98"/>
              <p:cNvSpPr txBox="1">
                <a:spLocks noRot="1" noChangeAspect="1" noMove="1" noResize="1" noEditPoints="1" noAdjustHandles="1" noChangeArrowheads="1" noChangeShapeType="1" noTextEdit="1"/>
              </p:cNvSpPr>
              <p:nvPr/>
            </p:nvSpPr>
            <p:spPr>
              <a:xfrm>
                <a:off x="9765672" y="5334943"/>
                <a:ext cx="119783" cy="384529"/>
              </a:xfrm>
              <a:prstGeom prst="rect">
                <a:avLst/>
              </a:prstGeom>
              <a:blipFill>
                <a:blip r:embed="rId16"/>
                <a:stretch>
                  <a:fillRect r="-36364"/>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00" name="TextBox 99"/>
              <p:cNvSpPr txBox="1"/>
              <p:nvPr/>
            </p:nvSpPr>
            <p:spPr>
              <a:xfrm>
                <a:off x="9788108" y="4678560"/>
                <a:ext cx="660092" cy="547009"/>
              </a:xfrm>
              <a:prstGeom prst="rect">
                <a:avLst/>
              </a:prstGeom>
              <a:noFill/>
            </p:spPr>
            <p:txBody>
              <a:bodyPr wrap="square" rtlCol="0">
                <a:spAutoFit/>
              </a:bodyPr>
              <a:lstStyle/>
              <a:p>
                <a:pPr/>
                <a14:m>
                  <m:oMathPara xmlns:m="http://schemas.openxmlformats.org/officeDocument/2006/math">
                    <m:oMath>
                      <m:rad>
                        <m:radPr>
                          <m:degHide m:val="on"/>
                          <m:ctrlPr>
                            <a:rPr lang="en-GB" sz="1000" i="1">
                              <a:latin typeface="Cambria Math" panose="02040503050406030204" pitchFamily="18" charset="0"/>
                            </a:rPr>
                          </m:ctrlPr>
                        </m:radPr>
                        <m:deg/>
                        <m:e>
                          <m:f>
                            <m:fPr>
                              <m:ctrlPr>
                                <a:rPr lang="en-GB" sz="1000" i="1">
                                  <a:latin typeface="Cambria Math" panose="02040503050406030204" pitchFamily="18" charset="0"/>
                                </a:rPr>
                              </m:ctrlPr>
                            </m:fPr>
                            <m:num>
                              <m:sSup>
                                <m:sSupPr>
                                  <m:ctrlPr>
                                    <a:rPr lang="en-GB" sz="1000" i="1">
                                      <a:latin typeface="Cambria Math" panose="02040503050406030204" pitchFamily="18" charset="0"/>
                                    </a:rPr>
                                  </m:ctrlPr>
                                </m:sSupPr>
                                <m:e>
                                  <m:r>
                                    <a:rPr lang="en-GB" sz="1000" i="1">
                                      <a:latin typeface="Cambria Math" panose="02040503050406030204" pitchFamily="18" charset="0"/>
                                    </a:rPr>
                                    <m:t>𝑘</m:t>
                                  </m:r>
                                </m:e>
                                <m:sup>
                                  <m:r>
                                    <a:rPr lang="en-GB" sz="1000" i="1">
                                      <a:latin typeface="Cambria Math" panose="02040503050406030204" pitchFamily="18" charset="0"/>
                                    </a:rPr>
                                    <m:t>2</m:t>
                                  </m:r>
                                </m:sup>
                              </m:sSup>
                            </m:num>
                            <m:den>
                              <m:sSup>
                                <m:sSupPr>
                                  <m:ctrlPr>
                                    <a:rPr lang="en-GB" sz="1000" i="1">
                                      <a:latin typeface="Cambria Math" panose="02040503050406030204" pitchFamily="18" charset="0"/>
                                    </a:rPr>
                                  </m:ctrlPr>
                                </m:sSupPr>
                                <m:e>
                                  <m:r>
                                    <a:rPr lang="en-GB" sz="1000" i="1">
                                      <a:latin typeface="Cambria Math" panose="02040503050406030204" pitchFamily="18" charset="0"/>
                                    </a:rPr>
                                    <m:t>𝑎</m:t>
                                  </m:r>
                                </m:e>
                                <m:sup>
                                  <m:r>
                                    <a:rPr lang="en-GB" sz="1000" i="1">
                                      <a:latin typeface="Cambria Math" panose="02040503050406030204" pitchFamily="18" charset="0"/>
                                    </a:rPr>
                                    <m:t>2</m:t>
                                  </m:r>
                                </m:sup>
                              </m:sSup>
                            </m:den>
                          </m:f>
                          <m:r>
                            <a:rPr lang="en-GB" sz="1000" i="1">
                              <a:latin typeface="Cambria Math" panose="02040503050406030204" pitchFamily="18" charset="0"/>
                            </a:rPr>
                            <m:t>+</m:t>
                          </m:r>
                          <m:f>
                            <m:fPr>
                              <m:ctrlPr>
                                <a:rPr lang="en-GB" sz="1000" i="1">
                                  <a:latin typeface="Cambria Math" panose="02040503050406030204" pitchFamily="18" charset="0"/>
                                </a:rPr>
                              </m:ctrlPr>
                            </m:fPr>
                            <m:num>
                              <m:sSup>
                                <m:sSupPr>
                                  <m:ctrlPr>
                                    <a:rPr lang="en-GB" sz="1000" i="1">
                                      <a:latin typeface="Cambria Math" panose="02040503050406030204" pitchFamily="18" charset="0"/>
                                    </a:rPr>
                                  </m:ctrlPr>
                                </m:sSupPr>
                                <m:e>
                                  <m:r>
                                    <a:rPr lang="en-GB" sz="1000" i="1">
                                      <a:latin typeface="Cambria Math" panose="02040503050406030204" pitchFamily="18" charset="0"/>
                                    </a:rPr>
                                    <m:t>𝑘</m:t>
                                  </m:r>
                                </m:e>
                                <m:sup>
                                  <m:r>
                                    <a:rPr lang="en-GB" sz="1000" i="1">
                                      <a:latin typeface="Cambria Math" panose="02040503050406030204" pitchFamily="18" charset="0"/>
                                    </a:rPr>
                                    <m:t>2</m:t>
                                  </m:r>
                                </m:sup>
                              </m:sSup>
                            </m:num>
                            <m:den>
                              <m:sSup>
                                <m:sSupPr>
                                  <m:ctrlPr>
                                    <a:rPr lang="en-GB" sz="1000" i="1">
                                      <a:latin typeface="Cambria Math" panose="02040503050406030204" pitchFamily="18" charset="0"/>
                                    </a:rPr>
                                  </m:ctrlPr>
                                </m:sSupPr>
                                <m:e>
                                  <m:r>
                                    <a:rPr lang="en-GB" sz="1000" i="1">
                                      <a:latin typeface="Cambria Math" panose="02040503050406030204" pitchFamily="18" charset="0"/>
                                    </a:rPr>
                                    <m:t>𝑏</m:t>
                                  </m:r>
                                </m:e>
                                <m:sup>
                                  <m:r>
                                    <a:rPr lang="en-GB" sz="1000" i="1">
                                      <a:latin typeface="Cambria Math" panose="02040503050406030204" pitchFamily="18" charset="0"/>
                                    </a:rPr>
                                    <m:t>2</m:t>
                                  </m:r>
                                </m:sup>
                              </m:sSup>
                            </m:den>
                          </m:f>
                        </m:e>
                      </m:rad>
                    </m:oMath>
                  </m:oMathPara>
                </a14:m>
                <a:endParaRPr lang="en-GB"/>
              </a:p>
            </p:txBody>
          </p:sp>
        </mc:Choice>
        <mc:Fallback>
          <p:sp>
            <p:nvSpPr>
              <p:cNvPr id="100" name="TextBox 99"/>
              <p:cNvSpPr txBox="1">
                <a:spLocks noRot="1" noChangeAspect="1" noMove="1" noResize="1" noEditPoints="1" noAdjustHandles="1" noChangeArrowheads="1" noChangeShapeType="1" noTextEdit="1"/>
              </p:cNvSpPr>
              <p:nvPr/>
            </p:nvSpPr>
            <p:spPr>
              <a:xfrm>
                <a:off x="9788108" y="4678560"/>
                <a:ext cx="660092" cy="547009"/>
              </a:xfrm>
              <a:prstGeom prst="rect">
                <a:avLst/>
              </a:prstGeom>
              <a:blipFill>
                <a:blip r:embed="rId17"/>
                <a:stretch>
                  <a:fillRect/>
                </a:stretch>
              </a:blipFill>
            </p:spPr>
            <p:txBody>
              <a:bodyPr/>
              <a:lstStyle/>
              <a:p>
                <a:r>
                  <a:rPr lang="en-US">
                    <a:noFill/>
                  </a:rPr>
                  <a:t> </a:t>
                </a:r>
              </a:p>
            </p:txBody>
          </p:sp>
        </mc:Fallback>
      </mc:AlternateContent>
      <p:cxnSp>
        <p:nvCxnSpPr>
          <p:cNvPr id="102" name="Straight Arrow Connector 101"/>
          <p:cNvCxnSpPr/>
          <p:nvPr/>
        </p:nvCxnSpPr>
        <p:spPr>
          <a:xfrm>
            <a:off x="9462363" y="4939625"/>
            <a:ext cx="949467" cy="512140"/>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sp>
        <p:nvSpPr>
          <p:cNvPr id="103" name="Arrow: Right 102"/>
          <p:cNvSpPr/>
          <p:nvPr/>
        </p:nvSpPr>
        <p:spPr>
          <a:xfrm rot="20181435">
            <a:off x="8783096" y="5205715"/>
            <a:ext cx="273596" cy="167007"/>
          </a:xfrm>
          <a:prstGeom prst="right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GB"/>
          </a:p>
        </p:txBody>
      </p:sp>
      <mc:AlternateContent xmlns:mc="http://schemas.openxmlformats.org/markup-compatibility/2006">
        <mc:Choice xmlns:a14="http://schemas.microsoft.com/office/drawing/2010/main" Requires="a14">
          <p:sp>
            <p:nvSpPr>
              <p:cNvPr id="104" name="TextBox 103"/>
              <p:cNvSpPr txBox="1"/>
              <p:nvPr/>
            </p:nvSpPr>
            <p:spPr>
              <a:xfrm>
                <a:off x="8962300" y="5633675"/>
                <a:ext cx="1733549" cy="473463"/>
              </a:xfrm>
              <a:prstGeom prst="rect">
                <a:avLst/>
              </a:prstGeom>
              <a:noFill/>
            </p:spPr>
            <p:txBody>
              <a:bodyPr wrap="square" rtlCol="0">
                <a:spAutoFit/>
              </a:bodyPr>
              <a:lstStyle/>
              <a:p>
                <a:r>
                  <a:rPr lang="en-GB" sz="1100" b="1"/>
                  <a:t>Using similar triangles, we can obtain </a:t>
                </a:r>
                <a14:m>
                  <m:oMath xmlns:m="http://schemas.openxmlformats.org/officeDocument/2006/math">
                    <m:r>
                      <a:rPr lang="en-GB" sz="1100" b="1" i="1">
                        <a:latin typeface="Cambria Math" panose="02040503050406030204" pitchFamily="18" charset="0"/>
                      </a:rPr>
                      <m:t>𝒌</m:t>
                    </m:r>
                    <m:r>
                      <a:rPr lang="en-GB" sz="1100" b="1" i="1">
                        <a:latin typeface="Cambria Math" panose="02040503050406030204" pitchFamily="18" charset="0"/>
                      </a:rPr>
                      <m:t>=</m:t>
                    </m:r>
                    <m:rad>
                      <m:radPr>
                        <m:degHide m:val="on"/>
                        <m:ctrlPr>
                          <a:rPr lang="en-GB" sz="1100" b="1" i="1">
                            <a:latin typeface="Cambria Math" panose="02040503050406030204" pitchFamily="18" charset="0"/>
                          </a:rPr>
                        </m:ctrlPr>
                      </m:radPr>
                      <m:deg/>
                      <m:e>
                        <m:sSup>
                          <m:sSupPr>
                            <m:ctrlPr>
                              <a:rPr lang="en-GB" sz="1100" b="1" i="1">
                                <a:latin typeface="Cambria Math" panose="02040503050406030204" pitchFamily="18" charset="0"/>
                              </a:rPr>
                            </m:ctrlPr>
                          </m:sSupPr>
                          <m:e>
                            <m:r>
                              <a:rPr lang="en-GB" sz="1100" b="1" i="1">
                                <a:latin typeface="Cambria Math" panose="02040503050406030204" pitchFamily="18" charset="0"/>
                              </a:rPr>
                              <m:t>𝒂</m:t>
                            </m:r>
                          </m:e>
                          <m:sup>
                            <m:r>
                              <a:rPr lang="en-GB" sz="1100" b="1" i="1">
                                <a:latin typeface="Cambria Math" panose="02040503050406030204" pitchFamily="18" charset="0"/>
                              </a:rPr>
                              <m:t>𝟐</m:t>
                            </m:r>
                          </m:sup>
                        </m:sSup>
                        <m:r>
                          <a:rPr lang="en-GB" sz="1100" b="1" i="1">
                            <a:latin typeface="Cambria Math" panose="02040503050406030204" pitchFamily="18" charset="0"/>
                          </a:rPr>
                          <m:t>+</m:t>
                        </m:r>
                        <m:sSup>
                          <m:sSupPr>
                            <m:ctrlPr>
                              <a:rPr lang="en-GB" sz="1100" b="1" i="1">
                                <a:latin typeface="Cambria Math" panose="02040503050406030204" pitchFamily="18" charset="0"/>
                              </a:rPr>
                            </m:ctrlPr>
                          </m:sSupPr>
                          <m:e>
                            <m:r>
                              <a:rPr lang="en-GB" sz="1100" b="1" i="1">
                                <a:latin typeface="Cambria Math" panose="02040503050406030204" pitchFamily="18" charset="0"/>
                              </a:rPr>
                              <m:t>𝒃</m:t>
                            </m:r>
                          </m:e>
                          <m:sup>
                            <m:r>
                              <a:rPr lang="en-GB" sz="1100" b="1" i="1">
                                <a:latin typeface="Cambria Math" panose="02040503050406030204" pitchFamily="18" charset="0"/>
                              </a:rPr>
                              <m:t>𝟐</m:t>
                            </m:r>
                          </m:sup>
                        </m:sSup>
                      </m:e>
                    </m:rad>
                  </m:oMath>
                </a14:m>
                <a:endParaRPr lang="en-GB" b="1"/>
              </a:p>
            </p:txBody>
          </p:sp>
        </mc:Choice>
        <mc:Fallback>
          <p:sp>
            <p:nvSpPr>
              <p:cNvPr id="104" name="TextBox 103"/>
              <p:cNvSpPr txBox="1">
                <a:spLocks noRot="1" noChangeAspect="1" noMove="1" noResize="1" noEditPoints="1" noAdjustHandles="1" noChangeArrowheads="1" noChangeShapeType="1" noTextEdit="1"/>
              </p:cNvSpPr>
              <p:nvPr/>
            </p:nvSpPr>
            <p:spPr>
              <a:xfrm>
                <a:off x="8962300" y="5633675"/>
                <a:ext cx="1733549" cy="473463"/>
              </a:xfrm>
              <a:prstGeom prst="rect">
                <a:avLst/>
              </a:prstGeom>
              <a:blipFill>
                <a:blip r:embed="rId18"/>
                <a:stretch>
                  <a:fillRect b="-7895"/>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10" name="TextBox 109"/>
              <p:cNvSpPr txBox="1"/>
              <p:nvPr/>
            </p:nvSpPr>
            <p:spPr>
              <a:xfrm>
                <a:off x="5050203" y="1235553"/>
                <a:ext cx="2292846" cy="4874027"/>
              </a:xfrm>
              <a:prstGeom prst="rect">
                <a:avLst/>
              </a:prstGeom>
              <a:noFill/>
            </p:spPr>
            <p:txBody>
              <a:bodyPr wrap="square" rtlCol="0">
                <a:spAutoFit/>
              </a:bodyPr>
              <a:lstStyle/>
              <a:p>
                <a:r>
                  <a:rPr lang="en-GB" sz="1600"/>
                  <a:t>[MAT 2007 1D]</a:t>
                </a:r>
              </a:p>
              <a:p>
                <a:r>
                  <a:rPr lang="en-GB" sz="1600"/>
                  <a:t>The point on the circle</a:t>
                </a:r>
              </a:p>
              <a:p>
                <a:pPr/>
                <a14:m>
                  <m:oMathPara xmlns:m="http://schemas.openxmlformats.org/officeDocument/2006/math">
                    <m:oMath>
                      <m:sSup>
                        <m:sSupPr>
                          <m:ctrlPr>
                            <a:rPr lang="en-GB" sz="1600" i="1">
                              <a:latin typeface="Cambria Math" panose="02040503050406030204" pitchFamily="18" charset="0"/>
                            </a:rPr>
                          </m:ctrlPr>
                        </m:sSupPr>
                        <m:e>
                          <m:d>
                            <m:dPr>
                              <m:ctrlPr>
                                <a:rPr lang="en-GB" sz="1600" i="1">
                                  <a:latin typeface="Cambria Math" panose="02040503050406030204" pitchFamily="18" charset="0"/>
                                </a:rPr>
                              </m:ctrlPr>
                            </m:dPr>
                            <m:e>
                              <m:r>
                                <a:rPr lang="en-GB" sz="1600" i="1">
                                  <a:latin typeface="Cambria Math" panose="02040503050406030204" pitchFamily="18" charset="0"/>
                                </a:rPr>
                                <m:t>𝑥</m:t>
                              </m:r>
                              <m:r>
                                <a:rPr lang="en-GB" sz="1600" i="1">
                                  <a:latin typeface="Cambria Math" panose="02040503050406030204" pitchFamily="18" charset="0"/>
                                </a:rPr>
                                <m:t>−5</m:t>
                              </m:r>
                            </m:e>
                          </m:d>
                        </m:e>
                        <m:sup>
                          <m:r>
                            <a:rPr lang="en-GB" sz="1600" i="1">
                              <a:latin typeface="Cambria Math" panose="02040503050406030204" pitchFamily="18" charset="0"/>
                            </a:rPr>
                            <m:t>2</m:t>
                          </m:r>
                        </m:sup>
                      </m:sSup>
                      <m:r>
                        <a:rPr lang="en-GB" sz="1600" i="1">
                          <a:latin typeface="Cambria Math" panose="02040503050406030204" pitchFamily="18" charset="0"/>
                        </a:rPr>
                        <m:t>+</m:t>
                      </m:r>
                      <m:sSup>
                        <m:sSupPr>
                          <m:ctrlPr>
                            <a:rPr lang="en-GB" sz="1600" i="1">
                              <a:latin typeface="Cambria Math" panose="02040503050406030204" pitchFamily="18" charset="0"/>
                            </a:rPr>
                          </m:ctrlPr>
                        </m:sSupPr>
                        <m:e>
                          <m:d>
                            <m:dPr>
                              <m:ctrlPr>
                                <a:rPr lang="en-GB" sz="1600" i="1">
                                  <a:latin typeface="Cambria Math" panose="02040503050406030204" pitchFamily="18" charset="0"/>
                                </a:rPr>
                              </m:ctrlPr>
                            </m:dPr>
                            <m:e>
                              <m:r>
                                <a:rPr lang="en-GB" sz="1600" i="1">
                                  <a:latin typeface="Cambria Math" panose="02040503050406030204" pitchFamily="18" charset="0"/>
                                </a:rPr>
                                <m:t>𝑦</m:t>
                              </m:r>
                              <m:r>
                                <a:rPr lang="en-GB" sz="1600" i="1">
                                  <a:latin typeface="Cambria Math" panose="02040503050406030204" pitchFamily="18" charset="0"/>
                                </a:rPr>
                                <m:t>−4</m:t>
                              </m:r>
                            </m:e>
                          </m:d>
                        </m:e>
                        <m:sup>
                          <m:r>
                            <a:rPr lang="en-GB" sz="1600" i="1">
                              <a:latin typeface="Cambria Math" panose="02040503050406030204" pitchFamily="18" charset="0"/>
                            </a:rPr>
                            <m:t>2</m:t>
                          </m:r>
                        </m:sup>
                      </m:sSup>
                      <m:r>
                        <a:rPr lang="en-GB" sz="1600" i="1">
                          <a:latin typeface="Cambria Math" panose="02040503050406030204" pitchFamily="18" charset="0"/>
                        </a:rPr>
                        <m:t>=4</m:t>
                      </m:r>
                    </m:oMath>
                  </m:oMathPara>
                </a14:m>
                <a:endParaRPr lang="en-GB" sz="1600"/>
              </a:p>
              <a:p>
                <a:r>
                  <a:rPr lang="en-GB" sz="1600"/>
                  <a:t>which is closest to the circle</a:t>
                </a:r>
              </a:p>
              <a:p>
                <a:pPr/>
                <a14:m>
                  <m:oMathPara xmlns:m="http://schemas.openxmlformats.org/officeDocument/2006/math">
                    <m:oMath>
                      <m:sSup>
                        <m:sSupPr>
                          <m:ctrlPr>
                            <a:rPr lang="en-GB" sz="1600" i="1">
                              <a:latin typeface="Cambria Math" panose="02040503050406030204" pitchFamily="18" charset="0"/>
                            </a:rPr>
                          </m:ctrlPr>
                        </m:sSupPr>
                        <m:e>
                          <m:d>
                            <m:dPr>
                              <m:ctrlPr>
                                <a:rPr lang="en-GB" sz="1600" i="1">
                                  <a:latin typeface="Cambria Math" panose="02040503050406030204" pitchFamily="18" charset="0"/>
                                </a:rPr>
                              </m:ctrlPr>
                            </m:dPr>
                            <m:e>
                              <m:r>
                                <a:rPr lang="en-GB" sz="1600" i="1">
                                  <a:latin typeface="Cambria Math" panose="02040503050406030204" pitchFamily="18" charset="0"/>
                                </a:rPr>
                                <m:t>𝑥</m:t>
                              </m:r>
                              <m:r>
                                <a:rPr lang="en-GB" sz="1600" i="1">
                                  <a:latin typeface="Cambria Math" panose="02040503050406030204" pitchFamily="18" charset="0"/>
                                </a:rPr>
                                <m:t>−1</m:t>
                              </m:r>
                            </m:e>
                          </m:d>
                        </m:e>
                        <m:sup>
                          <m:r>
                            <a:rPr lang="en-GB" sz="1600" i="1">
                              <a:latin typeface="Cambria Math" panose="02040503050406030204" pitchFamily="18" charset="0"/>
                            </a:rPr>
                            <m:t>2</m:t>
                          </m:r>
                        </m:sup>
                      </m:sSup>
                      <m:r>
                        <a:rPr lang="en-GB" sz="1600" i="1">
                          <a:latin typeface="Cambria Math" panose="02040503050406030204" pitchFamily="18" charset="0"/>
                        </a:rPr>
                        <m:t>+</m:t>
                      </m:r>
                      <m:sSup>
                        <m:sSupPr>
                          <m:ctrlPr>
                            <a:rPr lang="en-GB" sz="1600" i="1">
                              <a:latin typeface="Cambria Math" panose="02040503050406030204" pitchFamily="18" charset="0"/>
                            </a:rPr>
                          </m:ctrlPr>
                        </m:sSupPr>
                        <m:e>
                          <m:d>
                            <m:dPr>
                              <m:ctrlPr>
                                <a:rPr lang="en-GB" sz="1600" i="1">
                                  <a:latin typeface="Cambria Math" panose="02040503050406030204" pitchFamily="18" charset="0"/>
                                </a:rPr>
                              </m:ctrlPr>
                            </m:dPr>
                            <m:e>
                              <m:r>
                                <a:rPr lang="en-GB" sz="1600" i="1">
                                  <a:latin typeface="Cambria Math" panose="02040503050406030204" pitchFamily="18" charset="0"/>
                                </a:rPr>
                                <m:t>𝑦</m:t>
                              </m:r>
                              <m:r>
                                <a:rPr lang="en-GB" sz="1600" i="1">
                                  <a:latin typeface="Cambria Math" panose="02040503050406030204" pitchFamily="18" charset="0"/>
                                </a:rPr>
                                <m:t>−1</m:t>
                              </m:r>
                            </m:e>
                          </m:d>
                        </m:e>
                        <m:sup>
                          <m:r>
                            <a:rPr lang="en-GB" sz="1600" i="1">
                              <a:latin typeface="Cambria Math" panose="02040503050406030204" pitchFamily="18" charset="0"/>
                            </a:rPr>
                            <m:t>2</m:t>
                          </m:r>
                        </m:sup>
                      </m:sSup>
                      <m:r>
                        <a:rPr lang="en-GB" sz="1600" i="1">
                          <a:latin typeface="Cambria Math" panose="02040503050406030204" pitchFamily="18" charset="0"/>
                        </a:rPr>
                        <m:t>=1</m:t>
                      </m:r>
                    </m:oMath>
                  </m:oMathPara>
                </a14:m>
                <a:endParaRPr lang="en-GB" sz="1600"/>
              </a:p>
              <a:p>
                <a:r>
                  <a:rPr lang="en-GB" sz="1600"/>
                  <a:t>has what coordinates?</a:t>
                </a:r>
              </a:p>
              <a:p>
                <a:endParaRPr lang="en-GB" sz="1600"/>
              </a:p>
              <a:p>
                <a:r>
                  <a:rPr lang="en-GB" sz="1600" b="1"/>
                  <a:t>Drawing the circles on the same axes, and drawing a straight line connecting their centres, the point is where the straight line intersects the first circle.</a:t>
                </a:r>
              </a:p>
              <a:p>
                <a:r>
                  <a:rPr lang="en-GB" sz="1600" b="1"/>
                  <a:t>The circle centres are 5 apart, so we need to go </a:t>
                </a:r>
                <a14:m>
                  <m:oMath xmlns:m="http://schemas.openxmlformats.org/officeDocument/2006/math">
                    <m:f>
                      <m:fPr>
                        <m:ctrlPr>
                          <a:rPr lang="en-GB" sz="1600" b="1" i="1">
                            <a:latin typeface="Cambria Math" panose="02040503050406030204" pitchFamily="18" charset="0"/>
                          </a:rPr>
                        </m:ctrlPr>
                      </m:fPr>
                      <m:num>
                        <m:r>
                          <a:rPr lang="en-GB" sz="1600" b="1" i="1">
                            <a:latin typeface="Cambria Math" panose="02040503050406030204" pitchFamily="18" charset="0"/>
                          </a:rPr>
                          <m:t>𝟐</m:t>
                        </m:r>
                      </m:num>
                      <m:den>
                        <m:r>
                          <a:rPr lang="en-GB" sz="1600" b="1" i="1">
                            <a:latin typeface="Cambria Math" panose="02040503050406030204" pitchFamily="18" charset="0"/>
                          </a:rPr>
                          <m:t>𝟓</m:t>
                        </m:r>
                      </m:den>
                    </m:f>
                  </m:oMath>
                </a14:m>
                <a:r>
                  <a:rPr lang="en-GB" sz="1600" b="1"/>
                  <a:t> of the way across this line, giving </a:t>
                </a:r>
                <a14:m>
                  <m:oMath xmlns:m="http://schemas.openxmlformats.org/officeDocument/2006/math">
                    <m:r>
                      <a:rPr lang="en-GB" sz="1600" b="1" i="1">
                        <a:latin typeface="Cambria Math" panose="02040503050406030204" pitchFamily="18" charset="0"/>
                      </a:rPr>
                      <m:t>(</m:t>
                    </m:r>
                    <m:r>
                      <a:rPr lang="en-GB" sz="1600" b="1" i="1">
                        <a:latin typeface="Cambria Math" panose="02040503050406030204" pitchFamily="18" charset="0"/>
                      </a:rPr>
                      <m:t>𝟑</m:t>
                    </m:r>
                    <m:r>
                      <a:rPr lang="en-GB" sz="1600" b="1" i="1">
                        <a:latin typeface="Cambria Math" panose="02040503050406030204" pitchFamily="18" charset="0"/>
                      </a:rPr>
                      <m:t>.</m:t>
                    </m:r>
                    <m:r>
                      <a:rPr lang="en-GB" sz="1600" b="1" i="1">
                        <a:latin typeface="Cambria Math" panose="02040503050406030204" pitchFamily="18" charset="0"/>
                      </a:rPr>
                      <m:t>𝟒</m:t>
                    </m:r>
                    <m:r>
                      <a:rPr lang="en-GB" sz="1600" b="1" i="1">
                        <a:latin typeface="Cambria Math" panose="02040503050406030204" pitchFamily="18" charset="0"/>
                      </a:rPr>
                      <m:t>, </m:t>
                    </m:r>
                    <m:r>
                      <a:rPr lang="en-GB" sz="1600" b="1" i="1">
                        <a:latin typeface="Cambria Math" panose="02040503050406030204" pitchFamily="18" charset="0"/>
                      </a:rPr>
                      <m:t>𝟐</m:t>
                    </m:r>
                    <m:r>
                      <a:rPr lang="en-GB" sz="1600" b="1" i="1">
                        <a:latin typeface="Cambria Math" panose="02040503050406030204" pitchFamily="18" charset="0"/>
                      </a:rPr>
                      <m:t>.</m:t>
                    </m:r>
                    <m:r>
                      <a:rPr lang="en-GB" sz="1600" b="1" i="1">
                        <a:latin typeface="Cambria Math" panose="02040503050406030204" pitchFamily="18" charset="0"/>
                      </a:rPr>
                      <m:t>𝟖</m:t>
                    </m:r>
                    <m:r>
                      <a:rPr lang="en-GB" sz="1600" b="1" i="1">
                        <a:latin typeface="Cambria Math" panose="02040503050406030204" pitchFamily="18" charset="0"/>
                      </a:rPr>
                      <m:t>)</m:t>
                    </m:r>
                  </m:oMath>
                </a14:m>
                <a:endParaRPr lang="en-GB" sz="1600" b="1"/>
              </a:p>
            </p:txBody>
          </p:sp>
        </mc:Choice>
        <mc:Fallback>
          <p:sp>
            <p:nvSpPr>
              <p:cNvPr id="110" name="TextBox 109"/>
              <p:cNvSpPr txBox="1">
                <a:spLocks noRot="1" noChangeAspect="1" noMove="1" noResize="1" noEditPoints="1" noAdjustHandles="1" noChangeArrowheads="1" noChangeShapeType="1" noTextEdit="1"/>
              </p:cNvSpPr>
              <p:nvPr/>
            </p:nvSpPr>
            <p:spPr>
              <a:xfrm>
                <a:off x="5050203" y="1235553"/>
                <a:ext cx="2292846" cy="4874027"/>
              </a:xfrm>
              <a:prstGeom prst="rect">
                <a:avLst/>
              </a:prstGeom>
              <a:blipFill>
                <a:blip r:embed="rId19"/>
                <a:stretch>
                  <a:fillRect l="-1099" t="-260" r="-2198" b="-781"/>
                </a:stretch>
              </a:blipFill>
            </p:spPr>
            <p:txBody>
              <a:bodyPr/>
              <a:lstStyle/>
              <a:p>
                <a:r>
                  <a:rPr lang="en-US">
                    <a:noFill/>
                  </a:rPr>
                  <a:t> </a:t>
                </a:r>
              </a:p>
            </p:txBody>
          </p:sp>
        </mc:Fallback>
      </mc:AlternateContent>
      <p:sp>
        <p:nvSpPr>
          <p:cNvPr id="111" name="Rectangle 110"/>
          <p:cNvSpPr/>
          <p:nvPr/>
        </p:nvSpPr>
        <p:spPr>
          <a:xfrm>
            <a:off x="1846552" y="2290805"/>
            <a:ext cx="2892244" cy="3588751"/>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
        <p:nvSpPr>
          <p:cNvPr id="112" name="Rectangle 111"/>
          <p:cNvSpPr/>
          <p:nvPr/>
        </p:nvSpPr>
        <p:spPr>
          <a:xfrm>
            <a:off x="5124717" y="3201313"/>
            <a:ext cx="2116733" cy="2908299"/>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
        <p:nvSpPr>
          <p:cNvPr id="113" name="Rectangle 112"/>
          <p:cNvSpPr/>
          <p:nvPr/>
        </p:nvSpPr>
        <p:spPr>
          <a:xfrm>
            <a:off x="7351777" y="2433657"/>
            <a:ext cx="3255289" cy="3670182"/>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
        <p:nvSpPr>
          <p:cNvPr id="114" name="Rectangle 113"/>
          <p:cNvSpPr/>
          <p:nvPr/>
        </p:nvSpPr>
        <p:spPr>
          <a:xfrm>
            <a:off x="1518900" y="1326270"/>
            <a:ext cx="241548" cy="251682"/>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a:t>1</a:t>
            </a:r>
          </a:p>
        </p:txBody>
      </p:sp>
      <p:sp>
        <p:nvSpPr>
          <p:cNvPr id="115" name="Rectangle 114"/>
          <p:cNvSpPr/>
          <p:nvPr/>
        </p:nvSpPr>
        <p:spPr>
          <a:xfrm>
            <a:off x="4732116" y="1087679"/>
            <a:ext cx="241548" cy="251682"/>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a:t>2</a:t>
            </a:r>
          </a:p>
        </p:txBody>
      </p:sp>
      <p:sp>
        <p:nvSpPr>
          <p:cNvPr id="116" name="Rectangle 115"/>
          <p:cNvSpPr/>
          <p:nvPr/>
        </p:nvSpPr>
        <p:spPr>
          <a:xfrm>
            <a:off x="7457349" y="1328778"/>
            <a:ext cx="241548" cy="251682"/>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a:t>3</a:t>
            </a:r>
          </a:p>
        </p:txBody>
      </p:sp>
    </p:spTree>
    <p:extLst>
      <p:ext uri="{BB962C8B-B14F-4D97-AF65-F5344CB8AC3E}">
        <p14:creationId xmlns:p14="http://schemas.microsoft.com/office/powerpoint/2010/main" val="2386310467"/>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11"/>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11"/>
                                        </p:tgtEl>
                                      </p:cBhvr>
                                    </p:animEffect>
                                    <p:set>
                                      <p:cBhvr>
                                        <p:cTn id="7" dur="1" fill="hold">
                                          <p:stCondLst>
                                            <p:cond delay="499"/>
                                          </p:stCondLst>
                                        </p:cTn>
                                        <p:tgtEl>
                                          <p:spTgt spid="111"/>
                                        </p:tgtEl>
                                        <p:attrNameLst>
                                          <p:attrName>style.visibility</p:attrName>
                                        </p:attrNameLst>
                                      </p:cBhvr>
                                      <p:to>
                                        <p:strVal val="hidden"/>
                                      </p:to>
                                    </p:set>
                                  </p:childTnLst>
                                </p:cTn>
                              </p:par>
                            </p:childTnLst>
                          </p:cTn>
                        </p:par>
                      </p:childTnLst>
                    </p:cTn>
                  </p:par>
                </p:childTnLst>
              </p:cTn>
              <p:nextCondLst>
                <p:cond evt="onClick" delay="0">
                  <p:tgtEl>
                    <p:spTgt spid="111"/>
                  </p:tgtEl>
                </p:cond>
              </p:nextCondLst>
            </p:seq>
            <p:seq concurrent="1" nextAc="seek">
              <p:cTn id="8" restart="whenNotActive" fill="hold" evtFilter="cancelBubble" nodeType="interactiveSeq">
                <p:stCondLst>
                  <p:cond evt="onClick" delay="0">
                    <p:tgtEl>
                      <p:spTgt spid="112"/>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112"/>
                                        </p:tgtEl>
                                      </p:cBhvr>
                                    </p:animEffect>
                                    <p:set>
                                      <p:cBhvr>
                                        <p:cTn id="13" dur="1" fill="hold">
                                          <p:stCondLst>
                                            <p:cond delay="499"/>
                                          </p:stCondLst>
                                        </p:cTn>
                                        <p:tgtEl>
                                          <p:spTgt spid="112"/>
                                        </p:tgtEl>
                                        <p:attrNameLst>
                                          <p:attrName>style.visibility</p:attrName>
                                        </p:attrNameLst>
                                      </p:cBhvr>
                                      <p:to>
                                        <p:strVal val="hidden"/>
                                      </p:to>
                                    </p:set>
                                  </p:childTnLst>
                                </p:cTn>
                              </p:par>
                            </p:childTnLst>
                          </p:cTn>
                        </p:par>
                      </p:childTnLst>
                    </p:cTn>
                  </p:par>
                </p:childTnLst>
              </p:cTn>
              <p:nextCondLst>
                <p:cond evt="onClick" delay="0">
                  <p:tgtEl>
                    <p:spTgt spid="112"/>
                  </p:tgtEl>
                </p:cond>
              </p:nextCondLst>
            </p:seq>
            <p:seq concurrent="1" nextAc="seek">
              <p:cTn id="14" restart="whenNotActive" fill="hold" evtFilter="cancelBubble" nodeType="interactiveSeq">
                <p:stCondLst>
                  <p:cond evt="onClick" delay="0">
                    <p:tgtEl>
                      <p:spTgt spid="113"/>
                    </p:tgtEl>
                  </p:cond>
                </p:stCondLst>
                <p:endSync evt="end" delay="0">
                  <p:rtn val="all"/>
                </p:endSync>
                <p:childTnLst>
                  <p:par>
                    <p:cTn id="15" fill="hold">
                      <p:stCondLst>
                        <p:cond delay="0"/>
                      </p:stCondLst>
                      <p:childTnLst>
                        <p:par>
                          <p:cTn id="16" fill="hold">
                            <p:stCondLst>
                              <p:cond delay="0"/>
                            </p:stCondLst>
                            <p:childTnLst>
                              <p:par>
                                <p:cTn id="17" presetID="10" presetClass="exit" presetSubtype="0" fill="hold" grpId="0" nodeType="clickEffect">
                                  <p:stCondLst>
                                    <p:cond delay="0"/>
                                  </p:stCondLst>
                                  <p:childTnLst>
                                    <p:animEffect transition="out" filter="fade">
                                      <p:cBhvr>
                                        <p:cTn id="18" dur="500"/>
                                        <p:tgtEl>
                                          <p:spTgt spid="113"/>
                                        </p:tgtEl>
                                      </p:cBhvr>
                                    </p:animEffect>
                                    <p:set>
                                      <p:cBhvr>
                                        <p:cTn id="19" dur="1" fill="hold">
                                          <p:stCondLst>
                                            <p:cond delay="499"/>
                                          </p:stCondLst>
                                        </p:cTn>
                                        <p:tgtEl>
                                          <p:spTgt spid="113"/>
                                        </p:tgtEl>
                                        <p:attrNameLst>
                                          <p:attrName>style.visibility</p:attrName>
                                        </p:attrNameLst>
                                      </p:cBhvr>
                                      <p:to>
                                        <p:strVal val="hidden"/>
                                      </p:to>
                                    </p:set>
                                  </p:childTnLst>
                                </p:cTn>
                              </p:par>
                            </p:childTnLst>
                          </p:cTn>
                        </p:par>
                      </p:childTnLst>
                    </p:cTn>
                  </p:par>
                </p:childTnLst>
              </p:cTn>
              <p:nextCondLst>
                <p:cond evt="onClick" delay="0">
                  <p:tgtEl>
                    <p:spTgt spid="113"/>
                  </p:tgtEl>
                </p:cond>
              </p:nextCondLst>
            </p:seq>
          </p:childTnLst>
        </p:cTn>
      </p:par>
    </p:tnLst>
    <p:bldLst>
      <p:bldP spid="111" grpId="0" animBg="1"/>
      <p:bldP spid="112" grpId="0" animBg="1"/>
      <p:bldP spid="113" grpId="0" animBg="1"/>
    </p:bldLst>
  </p:timing>
</p:sld>
</file>

<file path=ppt/c6/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0" y="1"/>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a:t>Intersections of Lines and Circles</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p:sp>
        <p:nvSpPr>
          <p:cNvPr id="5" name="TextBox 4"/>
          <p:cNvSpPr txBox="1"/>
          <p:nvPr/>
        </p:nvSpPr>
        <p:spPr>
          <a:xfrm>
            <a:off x="1895852" y="844926"/>
            <a:ext cx="3768101" cy="2031325"/>
          </a:xfrm>
          <a:prstGeom prst="rect">
            <a:avLst/>
          </a:prstGeom>
          <a:noFill/>
        </p:spPr>
        <p:txBody>
          <a:bodyPr wrap="square" rtlCol="0">
            <a:spAutoFit/>
          </a:bodyPr>
          <a:lstStyle/>
          <a:p>
            <a:r>
              <a:rPr lang="en-GB"/>
              <a:t>Recall that to consider the </a:t>
            </a:r>
            <a:r>
              <a:rPr lang="en-GB" b="1"/>
              <a:t>intersection of two lines</a:t>
            </a:r>
            <a:r>
              <a:rPr lang="en-GB"/>
              <a:t>, we attempt to solve them </a:t>
            </a:r>
            <a:r>
              <a:rPr lang="en-GB" b="1"/>
              <a:t>simultaneously</a:t>
            </a:r>
            <a:r>
              <a:rPr lang="en-GB"/>
              <a:t> by substitution, potentially using the </a:t>
            </a:r>
            <a:r>
              <a:rPr lang="en-GB" b="1"/>
              <a:t>discriminant</a:t>
            </a:r>
            <a:r>
              <a:rPr lang="en-GB"/>
              <a:t> to show that there are no solutions (and hence no points of intersection).</a:t>
            </a:r>
          </a:p>
        </p:txBody>
      </p:sp>
      <p:sp>
        <p:nvSpPr>
          <p:cNvPr id="6" name="Oval 5"/>
          <p:cNvSpPr/>
          <p:nvPr/>
        </p:nvSpPr>
        <p:spPr>
          <a:xfrm>
            <a:off x="2423592" y="3501008"/>
            <a:ext cx="2520280" cy="252028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GB"/>
          </a:p>
        </p:txBody>
      </p:sp>
      <p:cxnSp>
        <p:nvCxnSpPr>
          <p:cNvPr id="8" name="Straight Connector 7"/>
          <p:cNvCxnSpPr/>
          <p:nvPr/>
        </p:nvCxnSpPr>
        <p:spPr>
          <a:xfrm>
            <a:off x="2639616" y="3501008"/>
            <a:ext cx="2520280" cy="1080120"/>
          </a:xfrm>
          <a:prstGeom prst="line">
            <a:avLst/>
          </a:prstGeom>
          <a:effectLst/>
        </p:spPr>
        <p:style>
          <a:lnRef idx="3">
            <a:schemeClr val="accent6"/>
          </a:lnRef>
          <a:fillRef idx="0">
            <a:schemeClr val="accent6"/>
          </a:fillRef>
          <a:effectRef idx="2">
            <a:schemeClr val="accent6"/>
          </a:effectRef>
          <a:fontRef idx="minor">
            <a:schemeClr val="tx1"/>
          </a:fontRef>
        </p:style>
      </p:cxnSp>
      <p:cxnSp>
        <p:nvCxnSpPr>
          <p:cNvPr id="9" name="Straight Connector 8"/>
          <p:cNvCxnSpPr/>
          <p:nvPr/>
        </p:nvCxnSpPr>
        <p:spPr>
          <a:xfrm>
            <a:off x="2146300" y="4254500"/>
            <a:ext cx="635000" cy="1727200"/>
          </a:xfrm>
          <a:prstGeom prst="line">
            <a:avLst/>
          </a:prstGeom>
          <a:effectLst/>
        </p:spPr>
        <p:style>
          <a:lnRef idx="3">
            <a:schemeClr val="accent6"/>
          </a:lnRef>
          <a:fillRef idx="0">
            <a:schemeClr val="accent6"/>
          </a:fillRef>
          <a:effectRef idx="2">
            <a:schemeClr val="accent6"/>
          </a:effectRef>
          <a:fontRef idx="minor">
            <a:schemeClr val="tx1"/>
          </a:fontRef>
        </p:style>
      </p:cxnSp>
      <p:cxnSp>
        <p:nvCxnSpPr>
          <p:cNvPr id="13" name="Straight Connector 12"/>
          <p:cNvCxnSpPr/>
          <p:nvPr/>
        </p:nvCxnSpPr>
        <p:spPr>
          <a:xfrm flipH="1">
            <a:off x="4259816" y="5061394"/>
            <a:ext cx="1180214" cy="1392865"/>
          </a:xfrm>
          <a:prstGeom prst="line">
            <a:avLst/>
          </a:prstGeom>
          <a:effectLst/>
        </p:spPr>
        <p:style>
          <a:lnRef idx="3">
            <a:schemeClr val="accent6"/>
          </a:lnRef>
          <a:fillRef idx="0">
            <a:schemeClr val="accent6"/>
          </a:fillRef>
          <a:effectRef idx="2">
            <a:schemeClr val="accent6"/>
          </a:effectRef>
          <a:fontRef idx="minor">
            <a:schemeClr val="tx1"/>
          </a:fontRef>
        </p:style>
      </p:cxnSp>
      <p:sp>
        <p:nvSpPr>
          <p:cNvPr id="16" name="TextBox 15"/>
          <p:cNvSpPr txBox="1"/>
          <p:nvPr/>
        </p:nvSpPr>
        <p:spPr>
          <a:xfrm>
            <a:off x="2932632" y="2986320"/>
            <a:ext cx="2515668" cy="523220"/>
          </a:xfrm>
          <a:prstGeom prst="rect">
            <a:avLst/>
          </a:prstGeom>
          <a:noFill/>
        </p:spPr>
        <p:txBody>
          <a:bodyPr wrap="square" rtlCol="0">
            <a:spAutoFit/>
          </a:bodyPr>
          <a:lstStyle/>
          <a:p>
            <a:r>
              <a:rPr lang="en-GB" sz="1400" b="1"/>
              <a:t>2</a:t>
            </a:r>
            <a:r>
              <a:rPr lang="en-GB" sz="1400"/>
              <a:t> intersections (such a line is known as a </a:t>
            </a:r>
            <a:r>
              <a:rPr lang="en-GB" sz="1400" b="1"/>
              <a:t>secant</a:t>
            </a:r>
            <a:r>
              <a:rPr lang="en-GB" sz="1400"/>
              <a:t> of the circle)</a:t>
            </a:r>
          </a:p>
        </p:txBody>
      </p:sp>
      <p:sp>
        <p:nvSpPr>
          <p:cNvPr id="17" name="TextBox 16"/>
          <p:cNvSpPr txBox="1"/>
          <p:nvPr/>
        </p:nvSpPr>
        <p:spPr>
          <a:xfrm>
            <a:off x="1522931" y="6032843"/>
            <a:ext cx="2566469" cy="523220"/>
          </a:xfrm>
          <a:prstGeom prst="rect">
            <a:avLst/>
          </a:prstGeom>
          <a:noFill/>
        </p:spPr>
        <p:txBody>
          <a:bodyPr wrap="square" rtlCol="0">
            <a:spAutoFit/>
          </a:bodyPr>
          <a:lstStyle/>
          <a:p>
            <a:r>
              <a:rPr lang="en-GB" sz="1400" b="1"/>
              <a:t>1</a:t>
            </a:r>
            <a:r>
              <a:rPr lang="en-GB" sz="1400"/>
              <a:t> intersections (such a line is known as a </a:t>
            </a:r>
            <a:r>
              <a:rPr lang="en-GB" sz="1400" b="1"/>
              <a:t>tangent</a:t>
            </a:r>
            <a:r>
              <a:rPr lang="en-GB" sz="1400"/>
              <a:t> of the circle)</a:t>
            </a:r>
          </a:p>
        </p:txBody>
      </p:sp>
      <p:sp>
        <p:nvSpPr>
          <p:cNvPr id="18" name="TextBox 17"/>
          <p:cNvSpPr txBox="1"/>
          <p:nvPr/>
        </p:nvSpPr>
        <p:spPr>
          <a:xfrm>
            <a:off x="4664716" y="6075487"/>
            <a:ext cx="1418460" cy="307777"/>
          </a:xfrm>
          <a:prstGeom prst="rect">
            <a:avLst/>
          </a:prstGeom>
          <a:noFill/>
        </p:spPr>
        <p:txBody>
          <a:bodyPr wrap="square" rtlCol="0">
            <a:spAutoFit/>
          </a:bodyPr>
          <a:lstStyle/>
          <a:p>
            <a:r>
              <a:rPr lang="en-GB" sz="1400" b="1"/>
              <a:t>0</a:t>
            </a:r>
            <a:r>
              <a:rPr lang="en-GB" sz="1400"/>
              <a:t> intersections</a:t>
            </a:r>
          </a:p>
        </p:txBody>
      </p:sp>
      <p:cxnSp>
        <p:nvCxnSpPr>
          <p:cNvPr id="20" name="Straight Connector 19"/>
          <p:cNvCxnSpPr/>
          <p:nvPr/>
        </p:nvCxnSpPr>
        <p:spPr>
          <a:xfrm>
            <a:off x="5951984" y="908721"/>
            <a:ext cx="0" cy="5752427"/>
          </a:xfrm>
          <a:prstGeom prst="line">
            <a:avLst/>
          </a:prstGeom>
        </p:spPr>
        <p:style>
          <a:lnRef idx="1">
            <a:schemeClr val="dk1"/>
          </a:lnRef>
          <a:fillRef idx="0">
            <a:schemeClr val="dk1"/>
          </a:fillRef>
          <a:effectRef idx="0">
            <a:schemeClr val="dk1"/>
          </a:effectRef>
          <a:fontRef idx="minor">
            <a:schemeClr val="tx1"/>
          </a:fontRef>
        </p:style>
      </p:cxnSp>
      <mc:AlternateContent xmlns:mc="http://schemas.openxmlformats.org/markup-compatibility/2006">
        <mc:Choice xmlns:a14="http://schemas.microsoft.com/office/drawing/2010/main" Requires="a14">
          <p:sp>
            <p:nvSpPr>
              <p:cNvPr id="21" name="TextBox 20"/>
              <p:cNvSpPr txBox="1"/>
              <p:nvPr/>
            </p:nvSpPr>
            <p:spPr>
              <a:xfrm>
                <a:off x="6379840" y="870620"/>
                <a:ext cx="3744416" cy="923330"/>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a:t>Show that the line </a:t>
                </a:r>
                <a14:m>
                  <m:oMath xmlns:m="http://schemas.openxmlformats.org/officeDocument/2006/math">
                    <m:r>
                      <a:rPr lang="en-GB" i="1">
                        <a:latin typeface="Cambria Math" panose="02040503050406030204" pitchFamily="18" charset="0"/>
                      </a:rPr>
                      <m:t>𝑦</m:t>
                    </m:r>
                    <m:r>
                      <a:rPr lang="en-GB" i="1">
                        <a:latin typeface="Cambria Math" panose="02040503050406030204" pitchFamily="18" charset="0"/>
                      </a:rPr>
                      <m:t>=</m:t>
                    </m:r>
                    <m:r>
                      <a:rPr lang="en-GB" i="1">
                        <a:latin typeface="Cambria Math" panose="02040503050406030204" pitchFamily="18" charset="0"/>
                      </a:rPr>
                      <m:t>𝑥</m:t>
                    </m:r>
                    <m:r>
                      <a:rPr lang="en-GB" i="1">
                        <a:latin typeface="Cambria Math" panose="02040503050406030204" pitchFamily="18" charset="0"/>
                      </a:rPr>
                      <m:t>+3</m:t>
                    </m:r>
                  </m:oMath>
                </a14:m>
                <a:r>
                  <a:rPr lang="en-GB"/>
                  <a:t> never intersects the circle with equation </a:t>
                </a:r>
                <a14:m>
                  <m:oMath xmlns:m="http://schemas.openxmlformats.org/officeDocument/2006/math">
                    <m:sSup>
                      <m:sSupPr>
                        <m:ctrlPr>
                          <a:rPr lang="en-GB" i="1">
                            <a:latin typeface="Cambria Math" panose="02040503050406030204" pitchFamily="18" charset="0"/>
                          </a:rPr>
                        </m:ctrlPr>
                      </m:sSupPr>
                      <m:e>
                        <m:r>
                          <a:rPr lang="en-GB" i="1">
                            <a:latin typeface="Cambria Math" panose="02040503050406030204" pitchFamily="18" charset="0"/>
                          </a:rPr>
                          <m:t>𝑥</m:t>
                        </m:r>
                      </m:e>
                      <m:sup>
                        <m:r>
                          <a:rPr lang="en-GB" i="1">
                            <a:latin typeface="Cambria Math" panose="02040503050406030204" pitchFamily="18" charset="0"/>
                          </a:rPr>
                          <m:t>2</m:t>
                        </m:r>
                      </m:sup>
                    </m:sSup>
                    <m:r>
                      <a:rPr lang="en-GB" i="1">
                        <a:latin typeface="Cambria Math" panose="02040503050406030204" pitchFamily="18" charset="0"/>
                      </a:rPr>
                      <m:t>+</m:t>
                    </m:r>
                    <m:sSup>
                      <m:sSupPr>
                        <m:ctrlPr>
                          <a:rPr lang="en-GB" i="1">
                            <a:latin typeface="Cambria Math" panose="02040503050406030204" pitchFamily="18" charset="0"/>
                          </a:rPr>
                        </m:ctrlPr>
                      </m:sSupPr>
                      <m:e>
                        <m:r>
                          <a:rPr lang="en-GB" i="1">
                            <a:latin typeface="Cambria Math" panose="02040503050406030204" pitchFamily="18" charset="0"/>
                          </a:rPr>
                          <m:t>𝑦</m:t>
                        </m:r>
                      </m:e>
                      <m:sup>
                        <m:r>
                          <a:rPr lang="en-GB" i="1">
                            <a:latin typeface="Cambria Math" panose="02040503050406030204" pitchFamily="18" charset="0"/>
                          </a:rPr>
                          <m:t>2</m:t>
                        </m:r>
                      </m:sup>
                    </m:sSup>
                    <m:r>
                      <a:rPr lang="en-GB" i="1">
                        <a:latin typeface="Cambria Math" panose="02040503050406030204" pitchFamily="18" charset="0"/>
                      </a:rPr>
                      <m:t>=1</m:t>
                    </m:r>
                  </m:oMath>
                </a14:m>
                <a:r>
                  <a:rPr lang="en-GB"/>
                  <a:t>.</a:t>
                </a:r>
              </a:p>
            </p:txBody>
          </p:sp>
        </mc:Choice>
        <mc:Fallback>
          <p:sp>
            <p:nvSpPr>
              <p:cNvPr id="21" name="TextBox 20"/>
              <p:cNvSpPr txBox="1">
                <a:spLocks noRot="1" noChangeAspect="1" noMove="1" noResize="1" noEditPoints="1" noAdjustHandles="1" noChangeArrowheads="1" noChangeShapeType="1" noTextEdit="1"/>
              </p:cNvSpPr>
              <p:nvPr/>
            </p:nvSpPr>
            <p:spPr>
              <a:xfrm>
                <a:off x="6379840" y="870620"/>
                <a:ext cx="3744416" cy="923330"/>
              </a:xfrm>
              <a:prstGeom prst="rect">
                <a:avLst/>
              </a:prstGeom>
              <a:blipFill>
                <a:blip r:embed="rId2"/>
                <a:stretch>
                  <a:fillRect b="-2353"/>
                </a:stretch>
              </a:blipFill>
              <a:effectLst>
                <a:outerShdw blurRad="63500" sx="102000" sy="102000" algn="ctr" rotWithShape="0">
                  <a:prstClr val="black">
                    <a:alpha val="40000"/>
                  </a:prstClr>
                </a:outerShdw>
              </a:effectLst>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2" name="TextBox 21"/>
              <p:cNvSpPr txBox="1"/>
              <p:nvPr/>
            </p:nvSpPr>
            <p:spPr>
              <a:xfrm>
                <a:off x="6528048" y="2276872"/>
                <a:ext cx="3428752" cy="2862322"/>
              </a:xfrm>
              <a:prstGeom prst="rect">
                <a:avLst/>
              </a:prstGeom>
              <a:noFill/>
            </p:spPr>
            <p:txBody>
              <a:bodyPr wrap="square" rtlCol="0">
                <a:spAutoFit/>
              </a:bodyPr>
              <a:lstStyle/>
              <a:p>
                <a:r>
                  <a:rPr lang="en-GB"/>
                  <a:t>Using substitution:</a:t>
                </a:r>
              </a:p>
              <a:p>
                <a:pPr/>
                <a14:m>
                  <m:oMathPara xmlns:m="http://schemas.openxmlformats.org/officeDocument/2006/math">
                    <m:oMath>
                      <m:sSup>
                        <m:sSupPr>
                          <m:ctrlPr>
                            <a:rPr lang="en-GB" i="1">
                              <a:latin typeface="Cambria Math" panose="02040503050406030204" pitchFamily="18" charset="0"/>
                            </a:rPr>
                          </m:ctrlPr>
                        </m:sSupPr>
                        <m:e>
                          <m:r>
                            <a:rPr lang="en-GB" i="1">
                              <a:latin typeface="Cambria Math" panose="02040503050406030204" pitchFamily="18" charset="0"/>
                            </a:rPr>
                            <m:t>𝑥</m:t>
                          </m:r>
                        </m:e>
                        <m:sup>
                          <m:r>
                            <a:rPr lang="en-GB" i="1">
                              <a:latin typeface="Cambria Math" panose="02040503050406030204" pitchFamily="18" charset="0"/>
                            </a:rPr>
                            <m:t>2</m:t>
                          </m:r>
                        </m:sup>
                      </m:sSup>
                      <m:r>
                        <a:rPr lang="en-GB" i="1">
                          <a:latin typeface="Cambria Math" panose="02040503050406030204" pitchFamily="18" charset="0"/>
                        </a:rPr>
                        <m:t>+</m:t>
                      </m:r>
                      <m:sSup>
                        <m:sSupPr>
                          <m:ctrlPr>
                            <a:rPr lang="en-GB" i="1">
                              <a:latin typeface="Cambria Math" panose="02040503050406030204" pitchFamily="18" charset="0"/>
                            </a:rPr>
                          </m:ctrlPr>
                        </m:sSupPr>
                        <m:e>
                          <m:d>
                            <m:dPr>
                              <m:ctrlPr>
                                <a:rPr lang="en-GB" i="1">
                                  <a:latin typeface="Cambria Math" panose="02040503050406030204" pitchFamily="18" charset="0"/>
                                </a:rPr>
                              </m:ctrlPr>
                            </m:dPr>
                            <m:e>
                              <m:r>
                                <a:rPr lang="en-GB" i="1">
                                  <a:latin typeface="Cambria Math" panose="02040503050406030204" pitchFamily="18" charset="0"/>
                                </a:rPr>
                                <m:t>𝑥</m:t>
                              </m:r>
                              <m:r>
                                <a:rPr lang="en-GB" i="1">
                                  <a:latin typeface="Cambria Math" panose="02040503050406030204" pitchFamily="18" charset="0"/>
                                </a:rPr>
                                <m:t>+3</m:t>
                              </m:r>
                            </m:e>
                          </m:d>
                        </m:e>
                        <m:sup>
                          <m:r>
                            <a:rPr lang="en-GB" i="1">
                              <a:latin typeface="Cambria Math" panose="02040503050406030204" pitchFamily="18" charset="0"/>
                            </a:rPr>
                            <m:t>2</m:t>
                          </m:r>
                        </m:sup>
                      </m:sSup>
                      <m:r>
                        <a:rPr lang="en-GB" i="1">
                          <a:latin typeface="Cambria Math" panose="02040503050406030204" pitchFamily="18" charset="0"/>
                        </a:rPr>
                        <m:t>=1</m:t>
                      </m:r>
                    </m:oMath>
                    <m:oMath>
                      <m:sSup>
                        <m:sSupPr>
                          <m:ctrlPr>
                            <a:rPr lang="en-GB" i="1">
                              <a:latin typeface="Cambria Math" panose="02040503050406030204" pitchFamily="18" charset="0"/>
                            </a:rPr>
                          </m:ctrlPr>
                        </m:sSupPr>
                        <m:e>
                          <m:r>
                            <a:rPr lang="en-GB" i="1">
                              <a:latin typeface="Cambria Math" panose="02040503050406030204" pitchFamily="18" charset="0"/>
                            </a:rPr>
                            <m:t>𝑥</m:t>
                          </m:r>
                        </m:e>
                        <m:sup>
                          <m:r>
                            <a:rPr lang="en-GB" i="1">
                              <a:latin typeface="Cambria Math" panose="02040503050406030204" pitchFamily="18" charset="0"/>
                            </a:rPr>
                            <m:t>2</m:t>
                          </m:r>
                        </m:sup>
                      </m:sSup>
                      <m:r>
                        <a:rPr lang="en-GB" i="1">
                          <a:latin typeface="Cambria Math" panose="02040503050406030204" pitchFamily="18" charset="0"/>
                        </a:rPr>
                        <m:t>+</m:t>
                      </m:r>
                      <m:sSup>
                        <m:sSupPr>
                          <m:ctrlPr>
                            <a:rPr lang="en-GB" i="1">
                              <a:latin typeface="Cambria Math" panose="02040503050406030204" pitchFamily="18" charset="0"/>
                            </a:rPr>
                          </m:ctrlPr>
                        </m:sSupPr>
                        <m:e>
                          <m:r>
                            <a:rPr lang="en-GB" i="1">
                              <a:latin typeface="Cambria Math" panose="02040503050406030204" pitchFamily="18" charset="0"/>
                            </a:rPr>
                            <m:t>𝑥</m:t>
                          </m:r>
                        </m:e>
                        <m:sup>
                          <m:r>
                            <a:rPr lang="en-GB" i="1">
                              <a:latin typeface="Cambria Math" panose="02040503050406030204" pitchFamily="18" charset="0"/>
                            </a:rPr>
                            <m:t>2</m:t>
                          </m:r>
                        </m:sup>
                      </m:sSup>
                      <m:r>
                        <a:rPr lang="en-GB" i="1">
                          <a:latin typeface="Cambria Math" panose="02040503050406030204" pitchFamily="18" charset="0"/>
                        </a:rPr>
                        <m:t>+6</m:t>
                      </m:r>
                      <m:r>
                        <a:rPr lang="en-GB" i="1">
                          <a:latin typeface="Cambria Math" panose="02040503050406030204" pitchFamily="18" charset="0"/>
                        </a:rPr>
                        <m:t>𝑥</m:t>
                      </m:r>
                      <m:r>
                        <a:rPr lang="en-GB" i="1">
                          <a:latin typeface="Cambria Math" panose="02040503050406030204" pitchFamily="18" charset="0"/>
                        </a:rPr>
                        <m:t>+9=1</m:t>
                      </m:r>
                    </m:oMath>
                    <m:oMath>
                      <m:r>
                        <a:rPr lang="en-GB" i="1">
                          <a:latin typeface="Cambria Math" panose="02040503050406030204" pitchFamily="18" charset="0"/>
                        </a:rPr>
                        <m:t>2</m:t>
                      </m:r>
                      <m:sSup>
                        <m:sSupPr>
                          <m:ctrlPr>
                            <a:rPr lang="en-GB" i="1">
                              <a:latin typeface="Cambria Math" panose="02040503050406030204" pitchFamily="18" charset="0"/>
                            </a:rPr>
                          </m:ctrlPr>
                        </m:sSupPr>
                        <m:e>
                          <m:r>
                            <a:rPr lang="en-GB" i="1">
                              <a:latin typeface="Cambria Math" panose="02040503050406030204" pitchFamily="18" charset="0"/>
                            </a:rPr>
                            <m:t>𝑥</m:t>
                          </m:r>
                        </m:e>
                        <m:sup>
                          <m:r>
                            <a:rPr lang="en-GB" i="1">
                              <a:latin typeface="Cambria Math" panose="02040503050406030204" pitchFamily="18" charset="0"/>
                            </a:rPr>
                            <m:t>2</m:t>
                          </m:r>
                        </m:sup>
                      </m:sSup>
                      <m:r>
                        <a:rPr lang="en-GB" i="1">
                          <a:latin typeface="Cambria Math" panose="02040503050406030204" pitchFamily="18" charset="0"/>
                        </a:rPr>
                        <m:t>+6</m:t>
                      </m:r>
                      <m:r>
                        <a:rPr lang="en-GB" i="1">
                          <a:latin typeface="Cambria Math" panose="02040503050406030204" pitchFamily="18" charset="0"/>
                        </a:rPr>
                        <m:t>𝑥</m:t>
                      </m:r>
                      <m:r>
                        <a:rPr lang="en-GB" i="1">
                          <a:latin typeface="Cambria Math" panose="02040503050406030204" pitchFamily="18" charset="0"/>
                        </a:rPr>
                        <m:t>+8=0</m:t>
                      </m:r>
                    </m:oMath>
                    <m:oMath>
                      <m:sSup>
                        <m:sSupPr>
                          <m:ctrlPr>
                            <a:rPr lang="en-GB" i="1">
                              <a:latin typeface="Cambria Math" panose="02040503050406030204" pitchFamily="18" charset="0"/>
                            </a:rPr>
                          </m:ctrlPr>
                        </m:sSupPr>
                        <m:e>
                          <m:r>
                            <a:rPr lang="en-GB" i="1">
                              <a:latin typeface="Cambria Math" panose="02040503050406030204" pitchFamily="18" charset="0"/>
                            </a:rPr>
                            <m:t>𝑥</m:t>
                          </m:r>
                        </m:e>
                        <m:sup>
                          <m:r>
                            <a:rPr lang="en-GB" i="1">
                              <a:latin typeface="Cambria Math" panose="02040503050406030204" pitchFamily="18" charset="0"/>
                            </a:rPr>
                            <m:t>2</m:t>
                          </m:r>
                        </m:sup>
                      </m:sSup>
                      <m:r>
                        <a:rPr lang="en-GB" i="1">
                          <a:latin typeface="Cambria Math" panose="02040503050406030204" pitchFamily="18" charset="0"/>
                        </a:rPr>
                        <m:t>+3</m:t>
                      </m:r>
                      <m:r>
                        <a:rPr lang="en-GB" i="1">
                          <a:latin typeface="Cambria Math" panose="02040503050406030204" pitchFamily="18" charset="0"/>
                        </a:rPr>
                        <m:t>𝑥</m:t>
                      </m:r>
                      <m:r>
                        <a:rPr lang="en-GB" i="1">
                          <a:latin typeface="Cambria Math" panose="02040503050406030204" pitchFamily="18" charset="0"/>
                        </a:rPr>
                        <m:t>+4=0</m:t>
                      </m:r>
                    </m:oMath>
                  </m:oMathPara>
                </a14:m>
                <a:endParaRPr lang="en-GB"/>
              </a:p>
              <a:p>
                <a:endParaRPr lang="en-GB"/>
              </a:p>
              <a:p>
                <a:r>
                  <a:rPr lang="en-GB"/>
                  <a:t>Discriminant:</a:t>
                </a:r>
              </a:p>
              <a:p>
                <a:pPr/>
                <a14:m>
                  <m:oMathPara xmlns:m="http://schemas.openxmlformats.org/officeDocument/2006/math">
                    <m:oMath>
                      <m:r>
                        <a:rPr lang="en-GB" i="1">
                          <a:latin typeface="Cambria Math" panose="02040503050406030204" pitchFamily="18" charset="0"/>
                        </a:rPr>
                        <m:t>𝑎</m:t>
                      </m:r>
                      <m:r>
                        <a:rPr lang="en-GB" i="1">
                          <a:latin typeface="Cambria Math" panose="02040503050406030204" pitchFamily="18" charset="0"/>
                        </a:rPr>
                        <m:t>=1, </m:t>
                      </m:r>
                      <m:r>
                        <a:rPr lang="en-GB" i="1">
                          <a:latin typeface="Cambria Math" panose="02040503050406030204" pitchFamily="18" charset="0"/>
                        </a:rPr>
                        <m:t>𝑏</m:t>
                      </m:r>
                      <m:r>
                        <a:rPr lang="en-GB" i="1">
                          <a:latin typeface="Cambria Math" panose="02040503050406030204" pitchFamily="18" charset="0"/>
                        </a:rPr>
                        <m:t>=3, </m:t>
                      </m:r>
                      <m:r>
                        <a:rPr lang="en-GB" i="1">
                          <a:latin typeface="Cambria Math" panose="02040503050406030204" pitchFamily="18" charset="0"/>
                        </a:rPr>
                        <m:t>𝑐</m:t>
                      </m:r>
                      <m:r>
                        <a:rPr lang="en-GB" i="1">
                          <a:latin typeface="Cambria Math" panose="02040503050406030204" pitchFamily="18" charset="0"/>
                        </a:rPr>
                        <m:t>=4</m:t>
                      </m:r>
                    </m:oMath>
                    <m:oMath>
                      <m:r>
                        <a:rPr lang="en-GB" i="1">
                          <a:latin typeface="Cambria Math" panose="02040503050406030204" pitchFamily="18" charset="0"/>
                        </a:rPr>
                        <m:t>9−16=−7</m:t>
                      </m:r>
                    </m:oMath>
                  </m:oMathPara>
                </a14:m>
                <a:endParaRPr lang="en-GB"/>
              </a:p>
              <a:p>
                <a14:m>
                  <m:oMath xmlns:m="http://schemas.openxmlformats.org/officeDocument/2006/math">
                    <m:r>
                      <a:rPr lang="en-GB" i="1">
                        <a:latin typeface="Cambria Math" panose="02040503050406030204" pitchFamily="18" charset="0"/>
                      </a:rPr>
                      <m:t>−7&lt;0</m:t>
                    </m:r>
                  </m:oMath>
                </a14:m>
                <a:r>
                  <a:rPr lang="en-GB"/>
                  <a:t> therefore no solutions.</a:t>
                </a:r>
              </a:p>
            </p:txBody>
          </p:sp>
        </mc:Choice>
        <mc:Fallback>
          <p:sp>
            <p:nvSpPr>
              <p:cNvPr id="22" name="TextBox 21"/>
              <p:cNvSpPr txBox="1">
                <a:spLocks noRot="1" noChangeAspect="1" noMove="1" noResize="1" noEditPoints="1" noAdjustHandles="1" noChangeArrowheads="1" noChangeShapeType="1" noTextEdit="1"/>
              </p:cNvSpPr>
              <p:nvPr/>
            </p:nvSpPr>
            <p:spPr>
              <a:xfrm>
                <a:off x="6528048" y="2276872"/>
                <a:ext cx="3428752" cy="2862322"/>
              </a:xfrm>
              <a:prstGeom prst="rect">
                <a:avLst/>
              </a:prstGeom>
              <a:blipFill>
                <a:blip r:embed="rId3"/>
                <a:stretch>
                  <a:fillRect l="-1852" t="-885" b="-2212"/>
                </a:stretch>
              </a:blipFill>
            </p:spPr>
            <p:txBody>
              <a:bodyPr/>
              <a:lstStyle/>
              <a:p>
                <a:r>
                  <a:rPr lang="en-US">
                    <a:noFill/>
                  </a:rPr>
                  <a:t> </a:t>
                </a:r>
              </a:p>
            </p:txBody>
          </p:sp>
        </mc:Fallback>
      </mc:AlternateContent>
      <p:sp>
        <p:nvSpPr>
          <p:cNvPr id="23" name="Rectangle 22"/>
          <p:cNvSpPr/>
          <p:nvPr/>
        </p:nvSpPr>
        <p:spPr>
          <a:xfrm>
            <a:off x="6360347" y="2080224"/>
            <a:ext cx="3763909" cy="3995262"/>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Tree>
    <p:extLst>
      <p:ext uri="{BB962C8B-B14F-4D97-AF65-F5344CB8AC3E}">
        <p14:creationId xmlns:p14="http://schemas.microsoft.com/office/powerpoint/2010/main" val="3826966332"/>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23"/>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23"/>
                                        </p:tgtEl>
                                      </p:cBhvr>
                                    </p:animEffect>
                                    <p:set>
                                      <p:cBhvr>
                                        <p:cTn id="7" dur="1" fill="hold">
                                          <p:stCondLst>
                                            <p:cond delay="499"/>
                                          </p:stCondLst>
                                        </p:cTn>
                                        <p:tgtEl>
                                          <p:spTgt spid="23"/>
                                        </p:tgtEl>
                                        <p:attrNameLst>
                                          <p:attrName>style.visibility</p:attrName>
                                        </p:attrNameLst>
                                      </p:cBhvr>
                                      <p:to>
                                        <p:strVal val="hidden"/>
                                      </p:to>
                                    </p:set>
                                  </p:childTnLst>
                                </p:cTn>
                              </p:par>
                            </p:childTnLst>
                          </p:cTn>
                        </p:par>
                      </p:childTnLst>
                    </p:cTn>
                  </p:par>
                </p:childTnLst>
              </p:cTn>
              <p:nextCondLst>
                <p:cond evt="onClick" delay="0">
                  <p:tgtEl>
                    <p:spTgt spid="23"/>
                  </p:tgtEl>
                </p:cond>
              </p:nextCondLst>
            </p:seq>
          </p:childTnLst>
        </p:cTn>
      </p:par>
    </p:tnLst>
    <p:bldLst>
      <p:bldP spid="23" grpId="0" animBg="1"/>
    </p:bldLst>
  </p:timing>
</p:sld>
</file>

<file path=ppt/c6/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0" y="1"/>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a:t>Test Your Understanding</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mc:AlternateContent xmlns:mc="http://schemas.openxmlformats.org/markup-compatibility/2006">
        <mc:Choice xmlns:a14="http://schemas.microsoft.com/office/drawing/2010/main" Requires="a14">
          <p:sp>
            <p:nvSpPr>
              <p:cNvPr id="5" name="TextBox 4"/>
              <p:cNvSpPr txBox="1"/>
              <p:nvPr/>
            </p:nvSpPr>
            <p:spPr>
              <a:xfrm>
                <a:off x="2063552" y="980728"/>
                <a:ext cx="3312368" cy="923330"/>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a:t>Find the points of intersection where the line </a:t>
                </a:r>
                <a14:m>
                  <m:oMath xmlns:m="http://schemas.openxmlformats.org/officeDocument/2006/math">
                    <m:r>
                      <a:rPr lang="en-GB" i="1">
                        <a:latin typeface="Cambria Math" panose="02040503050406030204" pitchFamily="18" charset="0"/>
                      </a:rPr>
                      <m:t>𝑦</m:t>
                    </m:r>
                    <m:r>
                      <a:rPr lang="en-GB" i="1">
                        <a:latin typeface="Cambria Math" panose="02040503050406030204" pitchFamily="18" charset="0"/>
                      </a:rPr>
                      <m:t>=</m:t>
                    </m:r>
                    <m:r>
                      <a:rPr lang="en-GB" i="1">
                        <a:latin typeface="Cambria Math" panose="02040503050406030204" pitchFamily="18" charset="0"/>
                      </a:rPr>
                      <m:t>𝑥</m:t>
                    </m:r>
                    <m:r>
                      <a:rPr lang="en-GB" i="1">
                        <a:latin typeface="Cambria Math" panose="02040503050406030204" pitchFamily="18" charset="0"/>
                      </a:rPr>
                      <m:t>+6</m:t>
                    </m:r>
                  </m:oMath>
                </a14:m>
                <a:r>
                  <a:rPr lang="en-GB"/>
                  <a:t> meets </a:t>
                </a:r>
                <a:br>
                  <a:rPr lang="en-GB"/>
                </a:br>
                <a14:m>
                  <m:oMath xmlns:m="http://schemas.openxmlformats.org/officeDocument/2006/math">
                    <m:sSup>
                      <m:sSupPr>
                        <m:ctrlPr>
                          <a:rPr lang="en-GB" i="1">
                            <a:latin typeface="Cambria Math" panose="02040503050406030204" pitchFamily="18" charset="0"/>
                          </a:rPr>
                        </m:ctrlPr>
                      </m:sSupPr>
                      <m:e>
                        <m:r>
                          <a:rPr lang="en-GB" i="1">
                            <a:latin typeface="Cambria Math" panose="02040503050406030204" pitchFamily="18" charset="0"/>
                          </a:rPr>
                          <m:t>𝑥</m:t>
                        </m:r>
                      </m:e>
                      <m:sup>
                        <m:r>
                          <a:rPr lang="en-GB" i="1">
                            <a:latin typeface="Cambria Math" panose="02040503050406030204" pitchFamily="18" charset="0"/>
                          </a:rPr>
                          <m:t>2</m:t>
                        </m:r>
                      </m:sup>
                    </m:sSup>
                    <m:r>
                      <a:rPr lang="en-GB" i="1">
                        <a:latin typeface="Cambria Math" panose="02040503050406030204" pitchFamily="18" charset="0"/>
                      </a:rPr>
                      <m:t>+</m:t>
                    </m:r>
                    <m:sSup>
                      <m:sSupPr>
                        <m:ctrlPr>
                          <a:rPr lang="en-GB" i="1">
                            <a:latin typeface="Cambria Math" panose="02040503050406030204" pitchFamily="18" charset="0"/>
                          </a:rPr>
                        </m:ctrlPr>
                      </m:sSupPr>
                      <m:e>
                        <m:d>
                          <m:dPr>
                            <m:ctrlPr>
                              <a:rPr lang="en-GB" i="1">
                                <a:latin typeface="Cambria Math" panose="02040503050406030204" pitchFamily="18" charset="0"/>
                              </a:rPr>
                            </m:ctrlPr>
                          </m:dPr>
                          <m:e>
                            <m:r>
                              <a:rPr lang="en-GB" i="1">
                                <a:latin typeface="Cambria Math" panose="02040503050406030204" pitchFamily="18" charset="0"/>
                              </a:rPr>
                              <m:t>𝑦</m:t>
                            </m:r>
                            <m:r>
                              <a:rPr lang="en-GB" i="1">
                                <a:latin typeface="Cambria Math" panose="02040503050406030204" pitchFamily="18" charset="0"/>
                              </a:rPr>
                              <m:t>−3</m:t>
                            </m:r>
                          </m:e>
                        </m:d>
                      </m:e>
                      <m:sup>
                        <m:r>
                          <a:rPr lang="en-GB" i="1">
                            <a:latin typeface="Cambria Math" panose="02040503050406030204" pitchFamily="18" charset="0"/>
                          </a:rPr>
                          <m:t>2</m:t>
                        </m:r>
                      </m:sup>
                    </m:sSup>
                    <m:r>
                      <a:rPr lang="en-GB" i="1">
                        <a:latin typeface="Cambria Math" panose="02040503050406030204" pitchFamily="18" charset="0"/>
                      </a:rPr>
                      <m:t>=29</m:t>
                    </m:r>
                  </m:oMath>
                </a14:m>
                <a:r>
                  <a:rPr lang="en-GB"/>
                  <a:t>.</a:t>
                </a:r>
              </a:p>
            </p:txBody>
          </p:sp>
        </mc:Choice>
        <mc:Fallback>
          <p:sp>
            <p:nvSpPr>
              <p:cNvPr id="5" name="TextBox 4"/>
              <p:cNvSpPr txBox="1">
                <a:spLocks noRot="1" noChangeAspect="1" noMove="1" noResize="1" noEditPoints="1" noAdjustHandles="1" noChangeArrowheads="1" noChangeShapeType="1" noTextEdit="1"/>
              </p:cNvSpPr>
              <p:nvPr/>
            </p:nvSpPr>
            <p:spPr>
              <a:xfrm>
                <a:off x="2063552" y="980728"/>
                <a:ext cx="3312368" cy="923330"/>
              </a:xfrm>
              <a:prstGeom prst="rect">
                <a:avLst/>
              </a:prstGeom>
              <a:blipFill>
                <a:blip r:embed="rId2"/>
                <a:stretch>
                  <a:fillRect b="-1176"/>
                </a:stretch>
              </a:blipFill>
              <a:effectLst>
                <a:outerShdw blurRad="63500" sx="102000" sy="102000" algn="ctr" rotWithShape="0">
                  <a:prstClr val="black">
                    <a:alpha val="40000"/>
                  </a:prstClr>
                </a:outerShdw>
              </a:effectLst>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6" name="TextBox 5"/>
              <p:cNvSpPr txBox="1"/>
              <p:nvPr/>
            </p:nvSpPr>
            <p:spPr>
              <a:xfrm>
                <a:off x="6095428" y="980728"/>
                <a:ext cx="3456956" cy="1477328"/>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a:t>Using an algebraic (and not geometric) method, determine the </a:t>
                </a:r>
                <a14:m>
                  <m:oMath xmlns:m="http://schemas.openxmlformats.org/officeDocument/2006/math">
                    <m:r>
                      <a:rPr lang="en-GB" i="1">
                        <a:latin typeface="Cambria Math" panose="02040503050406030204" pitchFamily="18" charset="0"/>
                      </a:rPr>
                      <m:t>𝑘</m:t>
                    </m:r>
                  </m:oMath>
                </a14:m>
                <a:r>
                  <a:rPr lang="en-GB"/>
                  <a:t> such that the line </a:t>
                </a:r>
                <a14:m>
                  <m:oMath xmlns:m="http://schemas.openxmlformats.org/officeDocument/2006/math">
                    <m:r>
                      <a:rPr lang="en-GB" i="1">
                        <a:latin typeface="Cambria Math" panose="02040503050406030204" pitchFamily="18" charset="0"/>
                      </a:rPr>
                      <m:t>𝑦</m:t>
                    </m:r>
                    <m:r>
                      <a:rPr lang="en-GB">
                        <a:latin typeface="Cambria Math" panose="02040503050406030204" pitchFamily="18" charset="0"/>
                      </a:rPr>
                      <m:t>=</m:t>
                    </m:r>
                    <m:r>
                      <a:rPr lang="en-GB" i="1">
                        <a:latin typeface="Cambria Math" panose="02040503050406030204" pitchFamily="18" charset="0"/>
                      </a:rPr>
                      <m:t>𝑥</m:t>
                    </m:r>
                    <m:r>
                      <a:rPr lang="en-GB" i="1">
                        <a:latin typeface="Cambria Math" panose="02040503050406030204" pitchFamily="18" charset="0"/>
                      </a:rPr>
                      <m:t>+</m:t>
                    </m:r>
                    <m:r>
                      <a:rPr lang="en-GB" i="1">
                        <a:latin typeface="Cambria Math" panose="02040503050406030204" pitchFamily="18" charset="0"/>
                      </a:rPr>
                      <m:t>𝑘</m:t>
                    </m:r>
                  </m:oMath>
                </a14:m>
                <a:r>
                  <a:rPr lang="en-GB"/>
                  <a:t> </a:t>
                </a:r>
                <a:r>
                  <a:rPr lang="en-GB" b="1"/>
                  <a:t>touches</a:t>
                </a:r>
                <a:r>
                  <a:rPr lang="en-GB"/>
                  <a:t> the circle with equation </a:t>
                </a:r>
                <a14:m>
                  <m:oMath xmlns:m="http://schemas.openxmlformats.org/officeDocument/2006/math">
                    <m:sSup>
                      <m:sSupPr>
                        <m:ctrlPr>
                          <a:rPr lang="en-GB" i="1">
                            <a:latin typeface="Cambria Math" panose="02040503050406030204" pitchFamily="18" charset="0"/>
                          </a:rPr>
                        </m:ctrlPr>
                      </m:sSupPr>
                      <m:e>
                        <m:r>
                          <a:rPr lang="en-GB" i="1">
                            <a:latin typeface="Cambria Math" panose="02040503050406030204" pitchFamily="18" charset="0"/>
                          </a:rPr>
                          <m:t>𝑥</m:t>
                        </m:r>
                      </m:e>
                      <m:sup>
                        <m:r>
                          <a:rPr lang="en-GB" i="1">
                            <a:latin typeface="Cambria Math" panose="02040503050406030204" pitchFamily="18" charset="0"/>
                          </a:rPr>
                          <m:t>2</m:t>
                        </m:r>
                      </m:sup>
                    </m:sSup>
                    <m:r>
                      <a:rPr lang="en-GB" i="1">
                        <a:latin typeface="Cambria Math" panose="02040503050406030204" pitchFamily="18" charset="0"/>
                      </a:rPr>
                      <m:t>+</m:t>
                    </m:r>
                    <m:sSup>
                      <m:sSupPr>
                        <m:ctrlPr>
                          <a:rPr lang="en-GB" i="1">
                            <a:latin typeface="Cambria Math" panose="02040503050406030204" pitchFamily="18" charset="0"/>
                          </a:rPr>
                        </m:ctrlPr>
                      </m:sSupPr>
                      <m:e>
                        <m:r>
                          <a:rPr lang="en-GB" i="1">
                            <a:latin typeface="Cambria Math" panose="02040503050406030204" pitchFamily="18" charset="0"/>
                          </a:rPr>
                          <m:t>𝑦</m:t>
                        </m:r>
                      </m:e>
                      <m:sup>
                        <m:r>
                          <a:rPr lang="en-GB" i="1">
                            <a:latin typeface="Cambria Math" panose="02040503050406030204" pitchFamily="18" charset="0"/>
                          </a:rPr>
                          <m:t>2</m:t>
                        </m:r>
                      </m:sup>
                    </m:sSup>
                    <m:r>
                      <a:rPr lang="en-GB" i="1">
                        <a:latin typeface="Cambria Math" panose="02040503050406030204" pitchFamily="18" charset="0"/>
                      </a:rPr>
                      <m:t>=1</m:t>
                    </m:r>
                  </m:oMath>
                </a14:m>
                <a:r>
                  <a:rPr lang="en-GB"/>
                  <a:t>.</a:t>
                </a:r>
              </a:p>
            </p:txBody>
          </p:sp>
        </mc:Choice>
        <mc:Fallback>
          <p:sp>
            <p:nvSpPr>
              <p:cNvPr id="6" name="TextBox 5"/>
              <p:cNvSpPr txBox="1">
                <a:spLocks noRot="1" noChangeAspect="1" noMove="1" noResize="1" noEditPoints="1" noAdjustHandles="1" noChangeArrowheads="1" noChangeShapeType="1" noTextEdit="1"/>
              </p:cNvSpPr>
              <p:nvPr/>
            </p:nvSpPr>
            <p:spPr>
              <a:xfrm>
                <a:off x="6095428" y="980728"/>
                <a:ext cx="3456956" cy="1477328"/>
              </a:xfrm>
              <a:prstGeom prst="rect">
                <a:avLst/>
              </a:prstGeom>
              <a:blipFill>
                <a:blip r:embed="rId3"/>
                <a:stretch>
                  <a:fillRect b="-775"/>
                </a:stretch>
              </a:blipFill>
              <a:effectLst>
                <a:outerShdw blurRad="63500" sx="102000" sy="102000" algn="ctr" rotWithShape="0">
                  <a:prstClr val="black">
                    <a:alpha val="40000"/>
                  </a:prstClr>
                </a:outerShdw>
              </a:effectLst>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 name="TextBox 6"/>
              <p:cNvSpPr txBox="1"/>
              <p:nvPr/>
            </p:nvSpPr>
            <p:spPr>
              <a:xfrm>
                <a:off x="2063552" y="2132856"/>
                <a:ext cx="3168352" cy="2308324"/>
              </a:xfrm>
              <a:prstGeom prst="rect">
                <a:avLst/>
              </a:prstGeom>
              <a:noFill/>
            </p:spPr>
            <p:txBody>
              <a:bodyPr wrap="square" rtlCol="0">
                <a:spAutoFit/>
              </a:bodyPr>
              <a:lstStyle/>
              <a:p>
                <a:pPr/>
                <a14:m>
                  <m:oMathPara xmlns:m="http://schemas.openxmlformats.org/officeDocument/2006/math">
                    <m:oMath>
                      <m:sSup>
                        <m:sSupPr>
                          <m:ctrlPr>
                            <a:rPr lang="en-GB" i="1">
                              <a:latin typeface="Cambria Math" panose="02040503050406030204" pitchFamily="18" charset="0"/>
                            </a:rPr>
                          </m:ctrlPr>
                        </m:sSupPr>
                        <m:e>
                          <m:r>
                            <a:rPr lang="en-GB" i="1">
                              <a:latin typeface="Cambria Math" panose="02040503050406030204" pitchFamily="18" charset="0"/>
                            </a:rPr>
                            <m:t>𝑥</m:t>
                          </m:r>
                        </m:e>
                        <m:sup>
                          <m:r>
                            <a:rPr lang="en-GB" i="1">
                              <a:latin typeface="Cambria Math" panose="02040503050406030204" pitchFamily="18" charset="0"/>
                            </a:rPr>
                            <m:t>2</m:t>
                          </m:r>
                        </m:sup>
                      </m:sSup>
                      <m:r>
                        <a:rPr lang="en-GB" i="1">
                          <a:latin typeface="Cambria Math" panose="02040503050406030204" pitchFamily="18" charset="0"/>
                        </a:rPr>
                        <m:t>+</m:t>
                      </m:r>
                      <m:sSup>
                        <m:sSupPr>
                          <m:ctrlPr>
                            <a:rPr lang="en-GB" i="1">
                              <a:latin typeface="Cambria Math" panose="02040503050406030204" pitchFamily="18" charset="0"/>
                            </a:rPr>
                          </m:ctrlPr>
                        </m:sSupPr>
                        <m:e>
                          <m:d>
                            <m:dPr>
                              <m:ctrlPr>
                                <a:rPr lang="en-GB" i="1">
                                  <a:latin typeface="Cambria Math" panose="02040503050406030204" pitchFamily="18" charset="0"/>
                                </a:rPr>
                              </m:ctrlPr>
                            </m:dPr>
                            <m:e>
                              <m:r>
                                <a:rPr lang="en-GB" i="1">
                                  <a:latin typeface="Cambria Math" panose="02040503050406030204" pitchFamily="18" charset="0"/>
                                </a:rPr>
                                <m:t>𝑥</m:t>
                              </m:r>
                              <m:r>
                                <a:rPr lang="en-GB" i="1">
                                  <a:latin typeface="Cambria Math" panose="02040503050406030204" pitchFamily="18" charset="0"/>
                                </a:rPr>
                                <m:t>+6−3</m:t>
                              </m:r>
                            </m:e>
                          </m:d>
                        </m:e>
                        <m:sup>
                          <m:r>
                            <a:rPr lang="en-GB" i="1">
                              <a:latin typeface="Cambria Math" panose="02040503050406030204" pitchFamily="18" charset="0"/>
                            </a:rPr>
                            <m:t>2</m:t>
                          </m:r>
                        </m:sup>
                      </m:sSup>
                      <m:r>
                        <a:rPr lang="en-GB" i="1">
                          <a:latin typeface="Cambria Math" panose="02040503050406030204" pitchFamily="18" charset="0"/>
                        </a:rPr>
                        <m:t>=29</m:t>
                      </m:r>
                    </m:oMath>
                    <m:oMath>
                      <m:sSup>
                        <m:sSupPr>
                          <m:ctrlPr>
                            <a:rPr lang="en-GB" i="1">
                              <a:latin typeface="Cambria Math" panose="02040503050406030204" pitchFamily="18" charset="0"/>
                            </a:rPr>
                          </m:ctrlPr>
                        </m:sSupPr>
                        <m:e>
                          <m:r>
                            <a:rPr lang="en-GB" i="1">
                              <a:latin typeface="Cambria Math" panose="02040503050406030204" pitchFamily="18" charset="0"/>
                            </a:rPr>
                            <m:t>𝑥</m:t>
                          </m:r>
                        </m:e>
                        <m:sup>
                          <m:r>
                            <a:rPr lang="en-GB" i="1">
                              <a:latin typeface="Cambria Math" panose="02040503050406030204" pitchFamily="18" charset="0"/>
                            </a:rPr>
                            <m:t>2</m:t>
                          </m:r>
                        </m:sup>
                      </m:sSup>
                      <m:r>
                        <a:rPr lang="en-GB" i="1">
                          <a:latin typeface="Cambria Math" panose="02040503050406030204" pitchFamily="18" charset="0"/>
                        </a:rPr>
                        <m:t>+</m:t>
                      </m:r>
                      <m:sSup>
                        <m:sSupPr>
                          <m:ctrlPr>
                            <a:rPr lang="en-GB" i="1">
                              <a:latin typeface="Cambria Math" panose="02040503050406030204" pitchFamily="18" charset="0"/>
                            </a:rPr>
                          </m:ctrlPr>
                        </m:sSupPr>
                        <m:e>
                          <m:r>
                            <a:rPr lang="en-GB" i="1">
                              <a:latin typeface="Cambria Math" panose="02040503050406030204" pitchFamily="18" charset="0"/>
                            </a:rPr>
                            <m:t>𝑥</m:t>
                          </m:r>
                        </m:e>
                        <m:sup>
                          <m:r>
                            <a:rPr lang="en-GB" i="1">
                              <a:latin typeface="Cambria Math" panose="02040503050406030204" pitchFamily="18" charset="0"/>
                            </a:rPr>
                            <m:t>2</m:t>
                          </m:r>
                        </m:sup>
                      </m:sSup>
                      <m:r>
                        <a:rPr lang="en-GB" i="1">
                          <a:latin typeface="Cambria Math" panose="02040503050406030204" pitchFamily="18" charset="0"/>
                        </a:rPr>
                        <m:t>+6</m:t>
                      </m:r>
                      <m:r>
                        <a:rPr lang="en-GB" i="1">
                          <a:latin typeface="Cambria Math" panose="02040503050406030204" pitchFamily="18" charset="0"/>
                        </a:rPr>
                        <m:t>𝑥</m:t>
                      </m:r>
                      <m:r>
                        <a:rPr lang="en-GB" i="1">
                          <a:latin typeface="Cambria Math" panose="02040503050406030204" pitchFamily="18" charset="0"/>
                        </a:rPr>
                        <m:t>+9=29</m:t>
                      </m:r>
                    </m:oMath>
                    <m:oMath>
                      <m:r>
                        <a:rPr lang="en-GB" i="1">
                          <a:latin typeface="Cambria Math" panose="02040503050406030204" pitchFamily="18" charset="0"/>
                        </a:rPr>
                        <m:t>2</m:t>
                      </m:r>
                      <m:sSup>
                        <m:sSupPr>
                          <m:ctrlPr>
                            <a:rPr lang="en-GB" i="1">
                              <a:latin typeface="Cambria Math" panose="02040503050406030204" pitchFamily="18" charset="0"/>
                            </a:rPr>
                          </m:ctrlPr>
                        </m:sSupPr>
                        <m:e>
                          <m:r>
                            <a:rPr lang="en-GB" i="1">
                              <a:latin typeface="Cambria Math" panose="02040503050406030204" pitchFamily="18" charset="0"/>
                            </a:rPr>
                            <m:t>𝑥</m:t>
                          </m:r>
                        </m:e>
                        <m:sup>
                          <m:r>
                            <a:rPr lang="en-GB" i="1">
                              <a:latin typeface="Cambria Math" panose="02040503050406030204" pitchFamily="18" charset="0"/>
                            </a:rPr>
                            <m:t>2</m:t>
                          </m:r>
                        </m:sup>
                      </m:sSup>
                      <m:r>
                        <a:rPr lang="en-GB" i="1">
                          <a:latin typeface="Cambria Math" panose="02040503050406030204" pitchFamily="18" charset="0"/>
                        </a:rPr>
                        <m:t>+6</m:t>
                      </m:r>
                      <m:r>
                        <a:rPr lang="en-GB" i="1">
                          <a:latin typeface="Cambria Math" panose="02040503050406030204" pitchFamily="18" charset="0"/>
                        </a:rPr>
                        <m:t>𝑥</m:t>
                      </m:r>
                      <m:r>
                        <a:rPr lang="en-GB" i="1">
                          <a:latin typeface="Cambria Math" panose="02040503050406030204" pitchFamily="18" charset="0"/>
                        </a:rPr>
                        <m:t>−20=0</m:t>
                      </m:r>
                    </m:oMath>
                    <m:oMath>
                      <m:sSup>
                        <m:sSupPr>
                          <m:ctrlPr>
                            <a:rPr lang="en-GB" i="1">
                              <a:latin typeface="Cambria Math" panose="02040503050406030204" pitchFamily="18" charset="0"/>
                            </a:rPr>
                          </m:ctrlPr>
                        </m:sSupPr>
                        <m:e>
                          <m:r>
                            <a:rPr lang="en-GB" i="1">
                              <a:latin typeface="Cambria Math" panose="02040503050406030204" pitchFamily="18" charset="0"/>
                            </a:rPr>
                            <m:t>𝑥</m:t>
                          </m:r>
                        </m:e>
                        <m:sup>
                          <m:r>
                            <a:rPr lang="en-GB" i="1">
                              <a:latin typeface="Cambria Math" panose="02040503050406030204" pitchFamily="18" charset="0"/>
                            </a:rPr>
                            <m:t>2</m:t>
                          </m:r>
                        </m:sup>
                      </m:sSup>
                      <m:r>
                        <a:rPr lang="en-GB" i="1">
                          <a:latin typeface="Cambria Math" panose="02040503050406030204" pitchFamily="18" charset="0"/>
                        </a:rPr>
                        <m:t>+3</m:t>
                      </m:r>
                      <m:r>
                        <a:rPr lang="en-GB" i="1">
                          <a:latin typeface="Cambria Math" panose="02040503050406030204" pitchFamily="18" charset="0"/>
                        </a:rPr>
                        <m:t>𝑥</m:t>
                      </m:r>
                      <m:r>
                        <a:rPr lang="en-GB" i="1">
                          <a:latin typeface="Cambria Math" panose="02040503050406030204" pitchFamily="18" charset="0"/>
                        </a:rPr>
                        <m:t>−10=0</m:t>
                      </m:r>
                    </m:oMath>
                    <m:oMath>
                      <m:d>
                        <m:dPr>
                          <m:ctrlPr>
                            <a:rPr lang="en-GB" i="1">
                              <a:latin typeface="Cambria Math" panose="02040503050406030204" pitchFamily="18" charset="0"/>
                            </a:rPr>
                          </m:ctrlPr>
                        </m:dPr>
                        <m:e>
                          <m:r>
                            <a:rPr lang="en-GB" i="1">
                              <a:latin typeface="Cambria Math" panose="02040503050406030204" pitchFamily="18" charset="0"/>
                            </a:rPr>
                            <m:t>𝑥</m:t>
                          </m:r>
                          <m:r>
                            <a:rPr lang="en-GB" i="1">
                              <a:latin typeface="Cambria Math" panose="02040503050406030204" pitchFamily="18" charset="0"/>
                            </a:rPr>
                            <m:t>+5</m:t>
                          </m:r>
                        </m:e>
                      </m:d>
                      <m:d>
                        <m:dPr>
                          <m:ctrlPr>
                            <a:rPr lang="en-GB" i="1">
                              <a:latin typeface="Cambria Math" panose="02040503050406030204" pitchFamily="18" charset="0"/>
                            </a:rPr>
                          </m:ctrlPr>
                        </m:dPr>
                        <m:e>
                          <m:r>
                            <a:rPr lang="en-GB" i="1">
                              <a:latin typeface="Cambria Math" panose="02040503050406030204" pitchFamily="18" charset="0"/>
                            </a:rPr>
                            <m:t>𝑥</m:t>
                          </m:r>
                          <m:r>
                            <a:rPr lang="en-GB" i="1">
                              <a:latin typeface="Cambria Math" panose="02040503050406030204" pitchFamily="18" charset="0"/>
                            </a:rPr>
                            <m:t>−2</m:t>
                          </m:r>
                        </m:e>
                      </m:d>
                      <m:r>
                        <a:rPr lang="en-GB" i="1">
                          <a:latin typeface="Cambria Math" panose="02040503050406030204" pitchFamily="18" charset="0"/>
                        </a:rPr>
                        <m:t>=0</m:t>
                      </m:r>
                    </m:oMath>
                    <m:oMath>
                      <m:r>
                        <a:rPr lang="en-GB" i="1">
                          <a:latin typeface="Cambria Math" panose="02040503050406030204" pitchFamily="18" charset="0"/>
                        </a:rPr>
                        <m:t>𝑥</m:t>
                      </m:r>
                      <m:r>
                        <a:rPr lang="en-GB" i="1">
                          <a:latin typeface="Cambria Math" panose="02040503050406030204" pitchFamily="18" charset="0"/>
                        </a:rPr>
                        <m:t>=−5 </m:t>
                      </m:r>
                      <m:r>
                        <a:rPr lang="en-GB" i="1">
                          <a:latin typeface="Cambria Math" panose="02040503050406030204" pitchFamily="18" charset="0"/>
                        </a:rPr>
                        <m:t>𝑜𝑟</m:t>
                      </m:r>
                      <m:r>
                        <a:rPr lang="en-GB" i="1">
                          <a:latin typeface="Cambria Math" panose="02040503050406030204" pitchFamily="18" charset="0"/>
                        </a:rPr>
                        <m:t> </m:t>
                      </m:r>
                      <m:r>
                        <a:rPr lang="en-GB" i="1">
                          <a:latin typeface="Cambria Math" panose="02040503050406030204" pitchFamily="18" charset="0"/>
                        </a:rPr>
                        <m:t>𝑥</m:t>
                      </m:r>
                      <m:r>
                        <a:rPr lang="en-GB" i="1">
                          <a:latin typeface="Cambria Math" panose="02040503050406030204" pitchFamily="18" charset="0"/>
                        </a:rPr>
                        <m:t>=2</m:t>
                      </m:r>
                    </m:oMath>
                    <m:oMath>
                      <m:r>
                        <a:rPr lang="en-GB" i="1">
                          <a:latin typeface="Cambria Math" panose="02040503050406030204" pitchFamily="18" charset="0"/>
                        </a:rPr>
                        <m:t>𝑦</m:t>
                      </m:r>
                      <m:r>
                        <a:rPr lang="en-GB" i="1">
                          <a:latin typeface="Cambria Math" panose="02040503050406030204" pitchFamily="18" charset="0"/>
                        </a:rPr>
                        <m:t>=1 </m:t>
                      </m:r>
                      <m:r>
                        <a:rPr lang="en-GB" i="1">
                          <a:latin typeface="Cambria Math" panose="02040503050406030204" pitchFamily="18" charset="0"/>
                        </a:rPr>
                        <m:t>𝑜𝑟</m:t>
                      </m:r>
                      <m:r>
                        <a:rPr lang="en-GB" i="1">
                          <a:latin typeface="Cambria Math" panose="02040503050406030204" pitchFamily="18" charset="0"/>
                        </a:rPr>
                        <m:t> </m:t>
                      </m:r>
                      <m:r>
                        <a:rPr lang="en-GB" i="1">
                          <a:latin typeface="Cambria Math" panose="02040503050406030204" pitchFamily="18" charset="0"/>
                        </a:rPr>
                        <m:t>𝑦</m:t>
                      </m:r>
                      <m:r>
                        <a:rPr lang="en-GB" i="1">
                          <a:latin typeface="Cambria Math" panose="02040503050406030204" pitchFamily="18" charset="0"/>
                        </a:rPr>
                        <m:t>=8</m:t>
                      </m:r>
                    </m:oMath>
                    <m:oMath>
                      <m:d>
                        <m:dPr>
                          <m:ctrlPr>
                            <a:rPr lang="en-GB" i="1">
                              <a:latin typeface="Cambria Math" panose="02040503050406030204" pitchFamily="18" charset="0"/>
                            </a:rPr>
                          </m:ctrlPr>
                        </m:dPr>
                        <m:e>
                          <m:r>
                            <a:rPr lang="en-GB" i="1">
                              <a:latin typeface="Cambria Math" panose="02040503050406030204" pitchFamily="18" charset="0"/>
                            </a:rPr>
                            <m:t>−5, 1</m:t>
                          </m:r>
                        </m:e>
                      </m:d>
                      <m:r>
                        <a:rPr lang="en-GB" i="1">
                          <a:latin typeface="Cambria Math" panose="02040503050406030204" pitchFamily="18" charset="0"/>
                        </a:rPr>
                        <m:t>, </m:t>
                      </m:r>
                      <m:d>
                        <m:dPr>
                          <m:ctrlPr>
                            <a:rPr lang="en-GB" i="1">
                              <a:latin typeface="Cambria Math" panose="02040503050406030204" pitchFamily="18" charset="0"/>
                            </a:rPr>
                          </m:ctrlPr>
                        </m:dPr>
                        <m:e>
                          <m:r>
                            <a:rPr lang="en-GB" i="1">
                              <a:latin typeface="Cambria Math" panose="02040503050406030204" pitchFamily="18" charset="0"/>
                            </a:rPr>
                            <m:t>2,8</m:t>
                          </m:r>
                        </m:e>
                      </m:d>
                    </m:oMath>
                  </m:oMathPara>
                </a14:m>
                <a:endParaRPr lang="en-GB"/>
              </a:p>
            </p:txBody>
          </p:sp>
        </mc:Choice>
        <mc:Fallback>
          <p:sp>
            <p:nvSpPr>
              <p:cNvPr id="7" name="TextBox 6"/>
              <p:cNvSpPr txBox="1">
                <a:spLocks noRot="1" noChangeAspect="1" noMove="1" noResize="1" noEditPoints="1" noAdjustHandles="1" noChangeArrowheads="1" noChangeShapeType="1" noTextEdit="1"/>
              </p:cNvSpPr>
              <p:nvPr/>
            </p:nvSpPr>
            <p:spPr>
              <a:xfrm>
                <a:off x="2063552" y="2132856"/>
                <a:ext cx="3168352" cy="2308324"/>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8" name="TextBox 7"/>
              <p:cNvSpPr txBox="1"/>
              <p:nvPr/>
            </p:nvSpPr>
            <p:spPr>
              <a:xfrm>
                <a:off x="6167436" y="2733020"/>
                <a:ext cx="3168352" cy="3416320"/>
              </a:xfrm>
              <a:prstGeom prst="rect">
                <a:avLst/>
              </a:prstGeom>
              <a:noFill/>
            </p:spPr>
            <p:txBody>
              <a:bodyPr wrap="square" rtlCol="0">
                <a:spAutoFit/>
              </a:bodyPr>
              <a:lstStyle/>
              <a:p>
                <a:pPr/>
                <a14:m>
                  <m:oMathPara xmlns:m="http://schemas.openxmlformats.org/officeDocument/2006/math">
                    <m:oMath>
                      <m:sSup>
                        <m:sSupPr>
                          <m:ctrlPr>
                            <a:rPr lang="en-GB" i="1">
                              <a:latin typeface="Cambria Math" panose="02040503050406030204" pitchFamily="18" charset="0"/>
                            </a:rPr>
                          </m:ctrlPr>
                        </m:sSupPr>
                        <m:e>
                          <m:r>
                            <a:rPr lang="en-GB" i="1">
                              <a:latin typeface="Cambria Math" panose="02040503050406030204" pitchFamily="18" charset="0"/>
                            </a:rPr>
                            <m:t>𝑥</m:t>
                          </m:r>
                        </m:e>
                        <m:sup>
                          <m:r>
                            <a:rPr lang="en-GB" i="1">
                              <a:latin typeface="Cambria Math" panose="02040503050406030204" pitchFamily="18" charset="0"/>
                            </a:rPr>
                            <m:t>2</m:t>
                          </m:r>
                        </m:sup>
                      </m:sSup>
                      <m:r>
                        <a:rPr lang="en-GB" i="1">
                          <a:latin typeface="Cambria Math" panose="02040503050406030204" pitchFamily="18" charset="0"/>
                        </a:rPr>
                        <m:t>+</m:t>
                      </m:r>
                      <m:sSup>
                        <m:sSupPr>
                          <m:ctrlPr>
                            <a:rPr lang="en-GB" i="1">
                              <a:latin typeface="Cambria Math" panose="02040503050406030204" pitchFamily="18" charset="0"/>
                            </a:rPr>
                          </m:ctrlPr>
                        </m:sSupPr>
                        <m:e>
                          <m:d>
                            <m:dPr>
                              <m:ctrlPr>
                                <a:rPr lang="en-GB" i="1">
                                  <a:latin typeface="Cambria Math" panose="02040503050406030204" pitchFamily="18" charset="0"/>
                                </a:rPr>
                              </m:ctrlPr>
                            </m:dPr>
                            <m:e>
                              <m:r>
                                <a:rPr lang="en-GB" i="1">
                                  <a:latin typeface="Cambria Math" panose="02040503050406030204" pitchFamily="18" charset="0"/>
                                </a:rPr>
                                <m:t>𝑥</m:t>
                              </m:r>
                              <m:r>
                                <a:rPr lang="en-GB" i="1">
                                  <a:latin typeface="Cambria Math" panose="02040503050406030204" pitchFamily="18" charset="0"/>
                                </a:rPr>
                                <m:t>+</m:t>
                              </m:r>
                              <m:r>
                                <a:rPr lang="en-GB" i="1">
                                  <a:latin typeface="Cambria Math" panose="02040503050406030204" pitchFamily="18" charset="0"/>
                                </a:rPr>
                                <m:t>𝑘</m:t>
                              </m:r>
                            </m:e>
                          </m:d>
                        </m:e>
                        <m:sup>
                          <m:r>
                            <a:rPr lang="en-GB" i="1">
                              <a:latin typeface="Cambria Math" panose="02040503050406030204" pitchFamily="18" charset="0"/>
                            </a:rPr>
                            <m:t>2</m:t>
                          </m:r>
                        </m:sup>
                      </m:sSup>
                      <m:r>
                        <a:rPr lang="en-GB" i="1">
                          <a:latin typeface="Cambria Math" panose="02040503050406030204" pitchFamily="18" charset="0"/>
                        </a:rPr>
                        <m:t>=1</m:t>
                      </m:r>
                    </m:oMath>
                    <m:oMath>
                      <m:sSup>
                        <m:sSupPr>
                          <m:ctrlPr>
                            <a:rPr lang="en-GB" i="1">
                              <a:latin typeface="Cambria Math" panose="02040503050406030204" pitchFamily="18" charset="0"/>
                            </a:rPr>
                          </m:ctrlPr>
                        </m:sSupPr>
                        <m:e>
                          <m:r>
                            <a:rPr lang="en-GB" i="1">
                              <a:latin typeface="Cambria Math" panose="02040503050406030204" pitchFamily="18" charset="0"/>
                            </a:rPr>
                            <m:t>𝑥</m:t>
                          </m:r>
                        </m:e>
                        <m:sup>
                          <m:r>
                            <a:rPr lang="en-GB" i="1">
                              <a:latin typeface="Cambria Math" panose="02040503050406030204" pitchFamily="18" charset="0"/>
                            </a:rPr>
                            <m:t>2</m:t>
                          </m:r>
                        </m:sup>
                      </m:sSup>
                      <m:r>
                        <a:rPr lang="en-GB" i="1">
                          <a:latin typeface="Cambria Math" panose="02040503050406030204" pitchFamily="18" charset="0"/>
                        </a:rPr>
                        <m:t>+</m:t>
                      </m:r>
                      <m:sSup>
                        <m:sSupPr>
                          <m:ctrlPr>
                            <a:rPr lang="en-GB" i="1">
                              <a:latin typeface="Cambria Math" panose="02040503050406030204" pitchFamily="18" charset="0"/>
                            </a:rPr>
                          </m:ctrlPr>
                        </m:sSupPr>
                        <m:e>
                          <m:r>
                            <a:rPr lang="en-GB" i="1">
                              <a:latin typeface="Cambria Math" panose="02040503050406030204" pitchFamily="18" charset="0"/>
                            </a:rPr>
                            <m:t>𝑥</m:t>
                          </m:r>
                        </m:e>
                        <m:sup>
                          <m:r>
                            <a:rPr lang="en-GB" i="1">
                              <a:latin typeface="Cambria Math" panose="02040503050406030204" pitchFamily="18" charset="0"/>
                            </a:rPr>
                            <m:t>2</m:t>
                          </m:r>
                        </m:sup>
                      </m:sSup>
                      <m:r>
                        <a:rPr lang="en-GB" i="1">
                          <a:latin typeface="Cambria Math" panose="02040503050406030204" pitchFamily="18" charset="0"/>
                        </a:rPr>
                        <m:t>+2</m:t>
                      </m:r>
                      <m:r>
                        <a:rPr lang="en-GB" i="1">
                          <a:latin typeface="Cambria Math" panose="02040503050406030204" pitchFamily="18" charset="0"/>
                        </a:rPr>
                        <m:t>𝑘𝑥</m:t>
                      </m:r>
                      <m:r>
                        <a:rPr lang="en-GB" i="1">
                          <a:latin typeface="Cambria Math" panose="02040503050406030204" pitchFamily="18" charset="0"/>
                        </a:rPr>
                        <m:t>+</m:t>
                      </m:r>
                      <m:sSup>
                        <m:sSupPr>
                          <m:ctrlPr>
                            <a:rPr lang="en-GB" i="1">
                              <a:latin typeface="Cambria Math" panose="02040503050406030204" pitchFamily="18" charset="0"/>
                            </a:rPr>
                          </m:ctrlPr>
                        </m:sSupPr>
                        <m:e>
                          <m:r>
                            <a:rPr lang="en-GB" i="1">
                              <a:latin typeface="Cambria Math" panose="02040503050406030204" pitchFamily="18" charset="0"/>
                            </a:rPr>
                            <m:t>𝑘</m:t>
                          </m:r>
                        </m:e>
                        <m:sup>
                          <m:r>
                            <a:rPr lang="en-GB" i="1">
                              <a:latin typeface="Cambria Math" panose="02040503050406030204" pitchFamily="18" charset="0"/>
                            </a:rPr>
                            <m:t>2</m:t>
                          </m:r>
                        </m:sup>
                      </m:sSup>
                      <m:r>
                        <a:rPr lang="en-GB" i="1">
                          <a:latin typeface="Cambria Math" panose="02040503050406030204" pitchFamily="18" charset="0"/>
                        </a:rPr>
                        <m:t>=1</m:t>
                      </m:r>
                    </m:oMath>
                    <m:oMath>
                      <m:r>
                        <a:rPr lang="en-GB" i="1">
                          <a:latin typeface="Cambria Math" panose="02040503050406030204" pitchFamily="18" charset="0"/>
                        </a:rPr>
                        <m:t>2</m:t>
                      </m:r>
                      <m:sSup>
                        <m:sSupPr>
                          <m:ctrlPr>
                            <a:rPr lang="en-GB" i="1">
                              <a:latin typeface="Cambria Math" panose="02040503050406030204" pitchFamily="18" charset="0"/>
                            </a:rPr>
                          </m:ctrlPr>
                        </m:sSupPr>
                        <m:e>
                          <m:r>
                            <a:rPr lang="en-GB" i="1">
                              <a:latin typeface="Cambria Math" panose="02040503050406030204" pitchFamily="18" charset="0"/>
                            </a:rPr>
                            <m:t>𝑥</m:t>
                          </m:r>
                        </m:e>
                        <m:sup>
                          <m:r>
                            <a:rPr lang="en-GB" i="1">
                              <a:latin typeface="Cambria Math" panose="02040503050406030204" pitchFamily="18" charset="0"/>
                            </a:rPr>
                            <m:t>2</m:t>
                          </m:r>
                        </m:sup>
                      </m:sSup>
                      <m:r>
                        <a:rPr lang="en-GB" i="1">
                          <a:latin typeface="Cambria Math" panose="02040503050406030204" pitchFamily="18" charset="0"/>
                        </a:rPr>
                        <m:t>+2</m:t>
                      </m:r>
                      <m:r>
                        <a:rPr lang="en-GB" i="1">
                          <a:latin typeface="Cambria Math" panose="02040503050406030204" pitchFamily="18" charset="0"/>
                        </a:rPr>
                        <m:t>𝑘𝑥</m:t>
                      </m:r>
                      <m:r>
                        <a:rPr lang="en-GB" i="1">
                          <a:latin typeface="Cambria Math" panose="02040503050406030204" pitchFamily="18" charset="0"/>
                        </a:rPr>
                        <m:t>+</m:t>
                      </m:r>
                      <m:sSup>
                        <m:sSupPr>
                          <m:ctrlPr>
                            <a:rPr lang="en-GB" i="1">
                              <a:latin typeface="Cambria Math" panose="02040503050406030204" pitchFamily="18" charset="0"/>
                            </a:rPr>
                          </m:ctrlPr>
                        </m:sSupPr>
                        <m:e>
                          <m:r>
                            <a:rPr lang="en-GB" i="1">
                              <a:latin typeface="Cambria Math" panose="02040503050406030204" pitchFamily="18" charset="0"/>
                            </a:rPr>
                            <m:t>𝑘</m:t>
                          </m:r>
                        </m:e>
                        <m:sup>
                          <m:r>
                            <a:rPr lang="en-GB" i="1">
                              <a:latin typeface="Cambria Math" panose="02040503050406030204" pitchFamily="18" charset="0"/>
                            </a:rPr>
                            <m:t>2</m:t>
                          </m:r>
                        </m:sup>
                      </m:sSup>
                      <m:r>
                        <a:rPr lang="en-GB" i="1">
                          <a:latin typeface="Cambria Math" panose="02040503050406030204" pitchFamily="18" charset="0"/>
                        </a:rPr>
                        <m:t>−1=0</m:t>
                      </m:r>
                    </m:oMath>
                  </m:oMathPara>
                </a14:m>
                <a:endParaRPr lang="en-GB"/>
              </a:p>
              <a:p>
                <a:r>
                  <a:rPr lang="en-GB"/>
                  <a:t>If the line touches the circle, one point of intersection and therefore one solution.</a:t>
                </a:r>
              </a:p>
              <a:p>
                <a:r>
                  <a:rPr lang="en-GB"/>
                  <a:t>Discriminant:</a:t>
                </a:r>
              </a:p>
              <a:p>
                <a:pPr/>
                <a14:m>
                  <m:oMathPara xmlns:m="http://schemas.openxmlformats.org/officeDocument/2006/math">
                    <m:oMath>
                      <m:r>
                        <a:rPr lang="en-GB" i="1">
                          <a:latin typeface="Cambria Math" panose="02040503050406030204" pitchFamily="18" charset="0"/>
                        </a:rPr>
                        <m:t>𝑎</m:t>
                      </m:r>
                      <m:r>
                        <a:rPr lang="en-GB" i="1">
                          <a:latin typeface="Cambria Math" panose="02040503050406030204" pitchFamily="18" charset="0"/>
                        </a:rPr>
                        <m:t>=2, </m:t>
                      </m:r>
                      <m:r>
                        <a:rPr lang="en-GB" i="1">
                          <a:latin typeface="Cambria Math" panose="02040503050406030204" pitchFamily="18" charset="0"/>
                        </a:rPr>
                        <m:t>𝑏</m:t>
                      </m:r>
                      <m:r>
                        <a:rPr lang="en-GB" i="1">
                          <a:latin typeface="Cambria Math" panose="02040503050406030204" pitchFamily="18" charset="0"/>
                        </a:rPr>
                        <m:t>=2</m:t>
                      </m:r>
                      <m:r>
                        <a:rPr lang="en-GB" i="1">
                          <a:latin typeface="Cambria Math" panose="02040503050406030204" pitchFamily="18" charset="0"/>
                        </a:rPr>
                        <m:t>𝑘</m:t>
                      </m:r>
                      <m:r>
                        <a:rPr lang="en-GB" i="1">
                          <a:latin typeface="Cambria Math" panose="02040503050406030204" pitchFamily="18" charset="0"/>
                        </a:rPr>
                        <m:t>, </m:t>
                      </m:r>
                      <m:r>
                        <a:rPr lang="en-GB" i="1">
                          <a:latin typeface="Cambria Math" panose="02040503050406030204" pitchFamily="18" charset="0"/>
                        </a:rPr>
                        <m:t>𝑐</m:t>
                      </m:r>
                      <m:r>
                        <a:rPr lang="en-GB" i="1">
                          <a:latin typeface="Cambria Math" panose="02040503050406030204" pitchFamily="18" charset="0"/>
                        </a:rPr>
                        <m:t>=</m:t>
                      </m:r>
                      <m:sSup>
                        <m:sSupPr>
                          <m:ctrlPr>
                            <a:rPr lang="en-GB" i="1">
                              <a:latin typeface="Cambria Math" panose="02040503050406030204" pitchFamily="18" charset="0"/>
                            </a:rPr>
                          </m:ctrlPr>
                        </m:sSupPr>
                        <m:e>
                          <m:r>
                            <a:rPr lang="en-GB" i="1">
                              <a:latin typeface="Cambria Math" panose="02040503050406030204" pitchFamily="18" charset="0"/>
                            </a:rPr>
                            <m:t>𝑘</m:t>
                          </m:r>
                        </m:e>
                        <m:sup>
                          <m:r>
                            <a:rPr lang="en-GB" i="1">
                              <a:latin typeface="Cambria Math" panose="02040503050406030204" pitchFamily="18" charset="0"/>
                            </a:rPr>
                            <m:t>2</m:t>
                          </m:r>
                        </m:sup>
                      </m:sSup>
                      <m:r>
                        <a:rPr lang="en-GB" i="1">
                          <a:latin typeface="Cambria Math" panose="02040503050406030204" pitchFamily="18" charset="0"/>
                        </a:rPr>
                        <m:t>−1</m:t>
                      </m:r>
                    </m:oMath>
                    <m:oMath>
                      <m:r>
                        <a:rPr lang="en-GB" i="1">
                          <a:latin typeface="Cambria Math" panose="02040503050406030204" pitchFamily="18" charset="0"/>
                        </a:rPr>
                        <m:t>4</m:t>
                      </m:r>
                      <m:sSup>
                        <m:sSupPr>
                          <m:ctrlPr>
                            <a:rPr lang="en-GB" i="1">
                              <a:latin typeface="Cambria Math" panose="02040503050406030204" pitchFamily="18" charset="0"/>
                            </a:rPr>
                          </m:ctrlPr>
                        </m:sSupPr>
                        <m:e>
                          <m:r>
                            <a:rPr lang="en-GB" i="1">
                              <a:latin typeface="Cambria Math" panose="02040503050406030204" pitchFamily="18" charset="0"/>
                            </a:rPr>
                            <m:t>𝑘</m:t>
                          </m:r>
                        </m:e>
                        <m:sup>
                          <m:r>
                            <a:rPr lang="en-GB" i="1">
                              <a:latin typeface="Cambria Math" panose="02040503050406030204" pitchFamily="18" charset="0"/>
                            </a:rPr>
                            <m:t>2</m:t>
                          </m:r>
                        </m:sup>
                      </m:sSup>
                      <m:r>
                        <a:rPr lang="en-GB" i="1">
                          <a:latin typeface="Cambria Math" panose="02040503050406030204" pitchFamily="18" charset="0"/>
                        </a:rPr>
                        <m:t>−4</m:t>
                      </m:r>
                      <m:d>
                        <m:dPr>
                          <m:ctrlPr>
                            <a:rPr lang="en-GB" i="1">
                              <a:latin typeface="Cambria Math" panose="02040503050406030204" pitchFamily="18" charset="0"/>
                            </a:rPr>
                          </m:ctrlPr>
                        </m:dPr>
                        <m:e>
                          <m:r>
                            <a:rPr lang="en-GB" i="1">
                              <a:latin typeface="Cambria Math" panose="02040503050406030204" pitchFamily="18" charset="0"/>
                            </a:rPr>
                            <m:t>2</m:t>
                          </m:r>
                        </m:e>
                      </m:d>
                      <m:d>
                        <m:dPr>
                          <m:ctrlPr>
                            <a:rPr lang="en-GB" i="1">
                              <a:latin typeface="Cambria Math" panose="02040503050406030204" pitchFamily="18" charset="0"/>
                            </a:rPr>
                          </m:ctrlPr>
                        </m:dPr>
                        <m:e>
                          <m:sSup>
                            <m:sSupPr>
                              <m:ctrlPr>
                                <a:rPr lang="en-GB" i="1">
                                  <a:latin typeface="Cambria Math" panose="02040503050406030204" pitchFamily="18" charset="0"/>
                                </a:rPr>
                              </m:ctrlPr>
                            </m:sSupPr>
                            <m:e>
                              <m:r>
                                <a:rPr lang="en-GB" i="1">
                                  <a:latin typeface="Cambria Math" panose="02040503050406030204" pitchFamily="18" charset="0"/>
                                </a:rPr>
                                <m:t>𝑘</m:t>
                              </m:r>
                            </m:e>
                            <m:sup>
                              <m:r>
                                <a:rPr lang="en-GB" i="1">
                                  <a:latin typeface="Cambria Math" panose="02040503050406030204" pitchFamily="18" charset="0"/>
                                </a:rPr>
                                <m:t>2</m:t>
                              </m:r>
                            </m:sup>
                          </m:sSup>
                          <m:r>
                            <a:rPr lang="en-GB" i="1">
                              <a:latin typeface="Cambria Math" panose="02040503050406030204" pitchFamily="18" charset="0"/>
                            </a:rPr>
                            <m:t>−1</m:t>
                          </m:r>
                        </m:e>
                      </m:d>
                      <m:r>
                        <a:rPr lang="en-GB" i="1">
                          <a:latin typeface="Cambria Math" panose="02040503050406030204" pitchFamily="18" charset="0"/>
                        </a:rPr>
                        <m:t>=0</m:t>
                      </m:r>
                    </m:oMath>
                    <m:oMath>
                      <m:r>
                        <a:rPr lang="en-GB" i="1">
                          <a:latin typeface="Cambria Math" panose="02040503050406030204" pitchFamily="18" charset="0"/>
                        </a:rPr>
                        <m:t>4</m:t>
                      </m:r>
                      <m:sSup>
                        <m:sSupPr>
                          <m:ctrlPr>
                            <a:rPr lang="en-GB" i="1">
                              <a:latin typeface="Cambria Math" panose="02040503050406030204" pitchFamily="18" charset="0"/>
                            </a:rPr>
                          </m:ctrlPr>
                        </m:sSupPr>
                        <m:e>
                          <m:r>
                            <a:rPr lang="en-GB" i="1">
                              <a:latin typeface="Cambria Math" panose="02040503050406030204" pitchFamily="18" charset="0"/>
                            </a:rPr>
                            <m:t>𝑘</m:t>
                          </m:r>
                        </m:e>
                        <m:sup>
                          <m:r>
                            <a:rPr lang="en-GB" i="1">
                              <a:latin typeface="Cambria Math" panose="02040503050406030204" pitchFamily="18" charset="0"/>
                            </a:rPr>
                            <m:t>2</m:t>
                          </m:r>
                        </m:sup>
                      </m:sSup>
                      <m:r>
                        <a:rPr lang="en-GB" i="1">
                          <a:latin typeface="Cambria Math" panose="02040503050406030204" pitchFamily="18" charset="0"/>
                        </a:rPr>
                        <m:t>−8</m:t>
                      </m:r>
                      <m:sSup>
                        <m:sSupPr>
                          <m:ctrlPr>
                            <a:rPr lang="en-GB" i="1">
                              <a:latin typeface="Cambria Math" panose="02040503050406030204" pitchFamily="18" charset="0"/>
                            </a:rPr>
                          </m:ctrlPr>
                        </m:sSupPr>
                        <m:e>
                          <m:r>
                            <a:rPr lang="en-GB" i="1">
                              <a:latin typeface="Cambria Math" panose="02040503050406030204" pitchFamily="18" charset="0"/>
                            </a:rPr>
                            <m:t>𝑘</m:t>
                          </m:r>
                        </m:e>
                        <m:sup>
                          <m:r>
                            <a:rPr lang="en-GB" i="1">
                              <a:latin typeface="Cambria Math" panose="02040503050406030204" pitchFamily="18" charset="0"/>
                            </a:rPr>
                            <m:t>2</m:t>
                          </m:r>
                        </m:sup>
                      </m:sSup>
                      <m:r>
                        <a:rPr lang="en-GB" i="1">
                          <a:latin typeface="Cambria Math" panose="02040503050406030204" pitchFamily="18" charset="0"/>
                        </a:rPr>
                        <m:t>+8=0</m:t>
                      </m:r>
                    </m:oMath>
                    <m:oMath>
                      <m:r>
                        <a:rPr lang="en-GB" i="1">
                          <a:latin typeface="Cambria Math" panose="02040503050406030204" pitchFamily="18" charset="0"/>
                        </a:rPr>
                        <m:t>4</m:t>
                      </m:r>
                      <m:sSup>
                        <m:sSupPr>
                          <m:ctrlPr>
                            <a:rPr lang="en-GB" i="1">
                              <a:latin typeface="Cambria Math" panose="02040503050406030204" pitchFamily="18" charset="0"/>
                            </a:rPr>
                          </m:ctrlPr>
                        </m:sSupPr>
                        <m:e>
                          <m:r>
                            <a:rPr lang="en-GB" i="1">
                              <a:latin typeface="Cambria Math" panose="02040503050406030204" pitchFamily="18" charset="0"/>
                            </a:rPr>
                            <m:t>𝑘</m:t>
                          </m:r>
                        </m:e>
                        <m:sup>
                          <m:r>
                            <a:rPr lang="en-GB" i="1">
                              <a:latin typeface="Cambria Math" panose="02040503050406030204" pitchFamily="18" charset="0"/>
                            </a:rPr>
                            <m:t>2</m:t>
                          </m:r>
                        </m:sup>
                      </m:sSup>
                      <m:r>
                        <a:rPr lang="en-GB" i="1">
                          <a:latin typeface="Cambria Math" panose="02040503050406030204" pitchFamily="18" charset="0"/>
                        </a:rPr>
                        <m:t>−8=0</m:t>
                      </m:r>
                    </m:oMath>
                    <m:oMath>
                      <m:r>
                        <a:rPr lang="en-GB" i="1">
                          <a:latin typeface="Cambria Math" panose="02040503050406030204" pitchFamily="18" charset="0"/>
                        </a:rPr>
                        <m:t>𝑘</m:t>
                      </m:r>
                      <m:r>
                        <a:rPr lang="en-GB" i="1">
                          <a:latin typeface="Cambria Math" panose="02040503050406030204" pitchFamily="18" charset="0"/>
                        </a:rPr>
                        <m:t>=±</m:t>
                      </m:r>
                      <m:rad>
                        <m:radPr>
                          <m:degHide m:val="on"/>
                          <m:ctrlPr>
                            <a:rPr lang="en-GB" i="1">
                              <a:latin typeface="Cambria Math" panose="02040503050406030204" pitchFamily="18" charset="0"/>
                            </a:rPr>
                          </m:ctrlPr>
                        </m:radPr>
                        <m:deg/>
                        <m:e>
                          <m:r>
                            <a:rPr lang="en-GB" i="1">
                              <a:latin typeface="Cambria Math" panose="02040503050406030204" pitchFamily="18" charset="0"/>
                            </a:rPr>
                            <m:t>2</m:t>
                          </m:r>
                        </m:e>
                      </m:rad>
                    </m:oMath>
                  </m:oMathPara>
                </a14:m>
                <a:endParaRPr lang="en-GB"/>
              </a:p>
            </p:txBody>
          </p:sp>
        </mc:Choice>
        <mc:Fallback>
          <p:sp>
            <p:nvSpPr>
              <p:cNvPr id="8" name="TextBox 7"/>
              <p:cNvSpPr txBox="1">
                <a:spLocks noRot="1" noChangeAspect="1" noMove="1" noResize="1" noEditPoints="1" noAdjustHandles="1" noChangeArrowheads="1" noChangeShapeType="1" noTextEdit="1"/>
              </p:cNvSpPr>
              <p:nvPr/>
            </p:nvSpPr>
            <p:spPr>
              <a:xfrm>
                <a:off x="6167436" y="2733020"/>
                <a:ext cx="3168352" cy="3416320"/>
              </a:xfrm>
              <a:prstGeom prst="rect">
                <a:avLst/>
              </a:prstGeom>
              <a:blipFill>
                <a:blip r:embed="rId5"/>
                <a:stretch>
                  <a:fillRect l="-1600"/>
                </a:stretch>
              </a:blipFill>
            </p:spPr>
            <p:txBody>
              <a:bodyPr/>
              <a:lstStyle/>
              <a:p>
                <a:r>
                  <a:rPr lang="en-US">
                    <a:noFill/>
                  </a:rPr>
                  <a:t> </a:t>
                </a:r>
              </a:p>
            </p:txBody>
          </p:sp>
        </mc:Fallback>
      </mc:AlternateContent>
      <p:sp>
        <p:nvSpPr>
          <p:cNvPr id="9" name="Rectangle 8"/>
          <p:cNvSpPr/>
          <p:nvPr/>
        </p:nvSpPr>
        <p:spPr>
          <a:xfrm>
            <a:off x="6095429" y="2458056"/>
            <a:ext cx="3456955" cy="3923272"/>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
        <p:nvSpPr>
          <p:cNvPr id="10" name="Rectangle 9"/>
          <p:cNvSpPr/>
          <p:nvPr/>
        </p:nvSpPr>
        <p:spPr>
          <a:xfrm>
            <a:off x="2063553" y="1904058"/>
            <a:ext cx="3312368" cy="4477270"/>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Tree>
    <p:extLst>
      <p:ext uri="{BB962C8B-B14F-4D97-AF65-F5344CB8AC3E}">
        <p14:creationId xmlns:p14="http://schemas.microsoft.com/office/powerpoint/2010/main" val="438732336"/>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9"/>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9"/>
                                        </p:tgtEl>
                                      </p:cBhvr>
                                    </p:animEffect>
                                    <p:set>
                                      <p:cBhvr>
                                        <p:cTn id="7" dur="1" fill="hold">
                                          <p:stCondLst>
                                            <p:cond delay="499"/>
                                          </p:stCondLst>
                                        </p:cTn>
                                        <p:tgtEl>
                                          <p:spTgt spid="9"/>
                                        </p:tgtEl>
                                        <p:attrNameLst>
                                          <p:attrName>style.visibility</p:attrName>
                                        </p:attrNameLst>
                                      </p:cBhvr>
                                      <p:to>
                                        <p:strVal val="hidden"/>
                                      </p:to>
                                    </p:set>
                                  </p:childTnLst>
                                </p:cTn>
                              </p:par>
                            </p:childTnLst>
                          </p:cTn>
                        </p:par>
                      </p:childTnLst>
                    </p:cTn>
                  </p:par>
                </p:childTnLst>
              </p:cTn>
              <p:nextCondLst>
                <p:cond evt="onClick" delay="0">
                  <p:tgtEl>
                    <p:spTgt spid="9"/>
                  </p:tgtEl>
                </p:cond>
              </p:nextCondLst>
            </p:seq>
            <p:seq concurrent="1" nextAc="seek">
              <p:cTn id="8" restart="whenNotActive" fill="hold" evtFilter="cancelBubble" nodeType="interactiveSeq">
                <p:stCondLst>
                  <p:cond evt="onClick" delay="0">
                    <p:tgtEl>
                      <p:spTgt spid="10"/>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10"/>
                                        </p:tgtEl>
                                      </p:cBhvr>
                                    </p:animEffect>
                                    <p:set>
                                      <p:cBhvr>
                                        <p:cTn id="13" dur="1" fill="hold">
                                          <p:stCondLst>
                                            <p:cond delay="499"/>
                                          </p:stCondLst>
                                        </p:cTn>
                                        <p:tgtEl>
                                          <p:spTgt spid="10"/>
                                        </p:tgtEl>
                                        <p:attrNameLst>
                                          <p:attrName>style.visibility</p:attrName>
                                        </p:attrNameLst>
                                      </p:cBhvr>
                                      <p:to>
                                        <p:strVal val="hidden"/>
                                      </p:to>
                                    </p:set>
                                  </p:childTnLst>
                                </p:cTn>
                              </p:par>
                            </p:childTnLst>
                          </p:cTn>
                        </p:par>
                      </p:childTnLst>
                    </p:cTn>
                  </p:par>
                </p:childTnLst>
              </p:cTn>
              <p:nextCondLst>
                <p:cond evt="onClick" delay="0">
                  <p:tgtEl>
                    <p:spTgt spid="10"/>
                  </p:tgtEl>
                </p:cond>
              </p:nextCondLst>
            </p:seq>
          </p:childTnLst>
        </p:cTn>
      </p:par>
    </p:tnLst>
    <p:bldLst>
      <p:bldP spid="9" grpId="0" animBg="1"/>
      <p:bldP spid="10" grpId="0" animBg="1"/>
    </p:bldLst>
  </p:timing>
</p:sld>
</file>

<file path=ppt/c6/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0" y="1"/>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a:t>Exercise 6D - Y1 Page 122</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p:pic>
        <p:nvPicPr>
          <p:cNvPr id="6" name="Picture 5">
            <a:extLst>
              <a:ext uri="{FF2B5EF4-FFF2-40B4-BE49-F238E27FC236}">
                <a16:creationId xmlns:a16="http://schemas.microsoft.com/office/drawing/2014/main" id="{216CCFC5-F68B-D489-3798-57533AF48FAF}"/>
              </a:ext>
            </a:extLst>
          </p:cNvPr>
          <p:cNvPicPr>
            <a:picLocks noChangeAspect="1"/>
          </p:cNvPicPr>
          <p:nvPr/>
        </p:nvPicPr>
        <p:blipFill>
          <a:blip r:embed="rId2"/>
          <a:stretch>
            <a:fillRect/>
          </a:stretch>
        </p:blipFill>
        <p:spPr>
          <a:xfrm>
            <a:off x="2031689" y="2118516"/>
            <a:ext cx="3860800" cy="4025900"/>
          </a:xfrm>
          <a:prstGeom prst="rect">
            <a:avLst/>
          </a:prstGeom>
        </p:spPr>
      </p:pic>
      <p:pic>
        <p:nvPicPr>
          <p:cNvPr id="8" name="Picture 7">
            <a:extLst>
              <a:ext uri="{FF2B5EF4-FFF2-40B4-BE49-F238E27FC236}">
                <a16:creationId xmlns:a16="http://schemas.microsoft.com/office/drawing/2014/main" id="{0F7AA3D9-C1CE-E85E-463C-5CB9118EDD26}"/>
              </a:ext>
            </a:extLst>
          </p:cNvPr>
          <p:cNvPicPr>
            <a:picLocks noChangeAspect="1"/>
          </p:cNvPicPr>
          <p:nvPr/>
        </p:nvPicPr>
        <p:blipFill>
          <a:blip r:embed="rId3"/>
          <a:stretch>
            <a:fillRect/>
          </a:stretch>
        </p:blipFill>
        <p:spPr>
          <a:xfrm>
            <a:off x="6523819" y="1974500"/>
            <a:ext cx="3149600" cy="1346200"/>
          </a:xfrm>
          <a:prstGeom prst="rect">
            <a:avLst/>
          </a:prstGeom>
        </p:spPr>
      </p:pic>
      <p:grpSp>
        <p:nvGrpSpPr>
          <p:cNvPr id="10" name="Group 9">
            <a:extLst>
              <a:ext uri="{FF2B5EF4-FFF2-40B4-BE49-F238E27FC236}">
                <a16:creationId xmlns:a16="http://schemas.microsoft.com/office/drawing/2014/main" id="{8E377F7C-D6ED-89B6-AF49-11285E806957}"/>
              </a:ext>
            </a:extLst>
          </p:cNvPr>
          <p:cNvGrpSpPr/>
          <p:nvPr/>
        </p:nvGrpSpPr>
        <p:grpSpPr>
          <a:xfrm>
            <a:off x="1535964" y="599128"/>
            <a:ext cx="9240557" cy="1101677"/>
            <a:chOff x="11963" y="599127"/>
            <a:chExt cx="8016421" cy="892787"/>
          </a:xfrm>
        </p:grpSpPr>
        <p:pic>
          <p:nvPicPr>
            <p:cNvPr id="5" name="Picture 4">
              <a:extLst>
                <a:ext uri="{FF2B5EF4-FFF2-40B4-BE49-F238E27FC236}">
                  <a16:creationId xmlns:a16="http://schemas.microsoft.com/office/drawing/2014/main" id="{E8C5C858-CB1F-15B1-C51E-56591D839694}"/>
                </a:ext>
              </a:extLst>
            </p:cNvPr>
            <p:cNvPicPr>
              <a:picLocks noChangeAspect="1"/>
            </p:cNvPicPr>
            <p:nvPr/>
          </p:nvPicPr>
          <p:blipFill>
            <a:blip r:embed="rId4"/>
            <a:stretch>
              <a:fillRect/>
            </a:stretch>
          </p:blipFill>
          <p:spPr>
            <a:xfrm>
              <a:off x="11963" y="599127"/>
              <a:ext cx="7772400" cy="881405"/>
            </a:xfrm>
            <a:prstGeom prst="rect">
              <a:avLst/>
            </a:prstGeom>
          </p:spPr>
        </p:pic>
        <p:sp>
          <p:nvSpPr>
            <p:cNvPr id="9" name="Rectangle 8">
              <a:extLst>
                <a:ext uri="{FF2B5EF4-FFF2-40B4-BE49-F238E27FC236}">
                  <a16:creationId xmlns:a16="http://schemas.microsoft.com/office/drawing/2014/main" id="{04B33849-5644-7FD2-5072-EE326EFAEF5F}"/>
                </a:ext>
              </a:extLst>
            </p:cNvPr>
            <p:cNvSpPr/>
            <p:nvPr/>
          </p:nvSpPr>
          <p:spPr>
            <a:xfrm>
              <a:off x="7164288" y="908720"/>
              <a:ext cx="864096" cy="58319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11" name="Rectangle 10">
            <a:extLst>
              <a:ext uri="{FF2B5EF4-FFF2-40B4-BE49-F238E27FC236}">
                <a16:creationId xmlns:a16="http://schemas.microsoft.com/office/drawing/2014/main" id="{AE2E216C-87BF-8FF4-434F-C234297F412B}"/>
              </a:ext>
            </a:extLst>
          </p:cNvPr>
          <p:cNvSpPr/>
          <p:nvPr/>
        </p:nvSpPr>
        <p:spPr>
          <a:xfrm>
            <a:off x="1941475" y="1892831"/>
            <a:ext cx="3991828" cy="4477270"/>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a:t>
            </a:r>
          </a:p>
        </p:txBody>
      </p:sp>
      <p:sp>
        <p:nvSpPr>
          <p:cNvPr id="12" name="Rectangle 11">
            <a:extLst>
              <a:ext uri="{FF2B5EF4-FFF2-40B4-BE49-F238E27FC236}">
                <a16:creationId xmlns:a16="http://schemas.microsoft.com/office/drawing/2014/main" id="{38106260-EAD3-DA4A-A823-B76458DD86F0}"/>
              </a:ext>
            </a:extLst>
          </p:cNvPr>
          <p:cNvSpPr/>
          <p:nvPr/>
        </p:nvSpPr>
        <p:spPr>
          <a:xfrm>
            <a:off x="6112976" y="1904058"/>
            <a:ext cx="4087480" cy="4477270"/>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a:t>
            </a:r>
          </a:p>
        </p:txBody>
      </p:sp>
    </p:spTree>
    <p:extLst>
      <p:ext uri="{BB962C8B-B14F-4D97-AF65-F5344CB8AC3E}">
        <p14:creationId xmlns:p14="http://schemas.microsoft.com/office/powerpoint/2010/main" val="1991254769"/>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1"/>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1"/>
                                        </p:tgtEl>
                                      </p:cBhvr>
                                    </p:animEffect>
                                    <p:set>
                                      <p:cBhvr>
                                        <p:cTn id="7" dur="1" fill="hold">
                                          <p:stCondLst>
                                            <p:cond delay="499"/>
                                          </p:stCondLst>
                                        </p:cTn>
                                        <p:tgtEl>
                                          <p:spTgt spid="11"/>
                                        </p:tgtEl>
                                        <p:attrNameLst>
                                          <p:attrName>style.visibility</p:attrName>
                                        </p:attrNameLst>
                                      </p:cBhvr>
                                      <p:to>
                                        <p:strVal val="hidden"/>
                                      </p:to>
                                    </p:set>
                                  </p:childTnLst>
                                </p:cTn>
                              </p:par>
                            </p:childTnLst>
                          </p:cTn>
                        </p:par>
                      </p:childTnLst>
                    </p:cTn>
                  </p:par>
                </p:childTnLst>
              </p:cTn>
              <p:nextCondLst>
                <p:cond evt="onClick" delay="0">
                  <p:tgtEl>
                    <p:spTgt spid="11"/>
                  </p:tgtEl>
                </p:cond>
              </p:nextCondLst>
            </p:seq>
            <p:seq concurrent="1" nextAc="seek">
              <p:cTn id="8" restart="whenNotActive" fill="hold" evtFilter="cancelBubble" nodeType="interactiveSeq">
                <p:stCondLst>
                  <p:cond evt="onClick" delay="0">
                    <p:tgtEl>
                      <p:spTgt spid="12"/>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12"/>
                                        </p:tgtEl>
                                      </p:cBhvr>
                                    </p:animEffect>
                                    <p:set>
                                      <p:cBhvr>
                                        <p:cTn id="13" dur="1" fill="hold">
                                          <p:stCondLst>
                                            <p:cond delay="499"/>
                                          </p:stCondLst>
                                        </p:cTn>
                                        <p:tgtEl>
                                          <p:spTgt spid="12"/>
                                        </p:tgtEl>
                                        <p:attrNameLst>
                                          <p:attrName>style.visibility</p:attrName>
                                        </p:attrNameLst>
                                      </p:cBhvr>
                                      <p:to>
                                        <p:strVal val="hidden"/>
                                      </p:to>
                                    </p:set>
                                  </p:childTnLst>
                                </p:cTn>
                              </p:par>
                            </p:childTnLst>
                          </p:cTn>
                        </p:par>
                      </p:childTnLst>
                    </p:cTn>
                  </p:par>
                </p:childTnLst>
              </p:cTn>
              <p:nextCondLst>
                <p:cond evt="onClick" delay="0">
                  <p:tgtEl>
                    <p:spTgt spid="12"/>
                  </p:tgtEl>
                </p:cond>
              </p:nextCondLst>
            </p:seq>
          </p:childTnLst>
        </p:cTn>
      </p:par>
    </p:tnLst>
    <p:bldLst>
      <p:bldP spid="11" grpId="0" animBg="1"/>
      <p:bldP spid="12" grpId="0" animBg="1"/>
    </p:bldLst>
  </p:timing>
</p:sld>
</file>

<file path=ppt/c6/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0" y="1"/>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a:t>Exercise 6D - Y1 Page 122</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p:pic>
        <p:nvPicPr>
          <p:cNvPr id="5" name="Picture 4">
            <a:extLst>
              <a:ext uri="{FF2B5EF4-FFF2-40B4-BE49-F238E27FC236}">
                <a16:creationId xmlns:a16="http://schemas.microsoft.com/office/drawing/2014/main" id="{2578356F-439E-8DDC-C91A-D771C21008DC}"/>
              </a:ext>
            </a:extLst>
          </p:cNvPr>
          <p:cNvPicPr>
            <a:picLocks noChangeAspect="1"/>
          </p:cNvPicPr>
          <p:nvPr/>
        </p:nvPicPr>
        <p:blipFill>
          <a:blip r:embed="rId2"/>
          <a:stretch>
            <a:fillRect/>
          </a:stretch>
        </p:blipFill>
        <p:spPr>
          <a:xfrm>
            <a:off x="1775520" y="638354"/>
            <a:ext cx="6192688" cy="874067"/>
          </a:xfrm>
          <a:prstGeom prst="rect">
            <a:avLst/>
          </a:prstGeom>
        </p:spPr>
      </p:pic>
      <p:pic>
        <p:nvPicPr>
          <p:cNvPr id="6" name="Picture 5">
            <a:extLst>
              <a:ext uri="{FF2B5EF4-FFF2-40B4-BE49-F238E27FC236}">
                <a16:creationId xmlns:a16="http://schemas.microsoft.com/office/drawing/2014/main" id="{F85C5366-386B-E7F1-20E2-B8F476511B62}"/>
              </a:ext>
            </a:extLst>
          </p:cNvPr>
          <p:cNvPicPr>
            <a:picLocks noChangeAspect="1"/>
          </p:cNvPicPr>
          <p:nvPr/>
        </p:nvPicPr>
        <p:blipFill>
          <a:blip r:embed="rId3"/>
          <a:stretch>
            <a:fillRect/>
          </a:stretch>
        </p:blipFill>
        <p:spPr>
          <a:xfrm>
            <a:off x="1631505" y="3355028"/>
            <a:ext cx="4830973" cy="906342"/>
          </a:xfrm>
          <a:prstGeom prst="rect">
            <a:avLst/>
          </a:prstGeom>
        </p:spPr>
      </p:pic>
      <p:grpSp>
        <p:nvGrpSpPr>
          <p:cNvPr id="13" name="Group 12">
            <a:extLst>
              <a:ext uri="{FF2B5EF4-FFF2-40B4-BE49-F238E27FC236}">
                <a16:creationId xmlns:a16="http://schemas.microsoft.com/office/drawing/2014/main" id="{B361E3F5-C1D4-4996-347F-95C4628B7ABB}"/>
              </a:ext>
            </a:extLst>
          </p:cNvPr>
          <p:cNvGrpSpPr/>
          <p:nvPr/>
        </p:nvGrpSpPr>
        <p:grpSpPr>
          <a:xfrm>
            <a:off x="2016256" y="1772816"/>
            <a:ext cx="3935728" cy="1215504"/>
            <a:chOff x="492256" y="1579900"/>
            <a:chExt cx="4483912" cy="1408420"/>
          </a:xfrm>
        </p:grpSpPr>
        <p:pic>
          <p:nvPicPr>
            <p:cNvPr id="8" name="Picture 7">
              <a:extLst>
                <a:ext uri="{FF2B5EF4-FFF2-40B4-BE49-F238E27FC236}">
                  <a16:creationId xmlns:a16="http://schemas.microsoft.com/office/drawing/2014/main" id="{C4D46174-EF25-6153-2CE9-8084EE73A92D}"/>
                </a:ext>
              </a:extLst>
            </p:cNvPr>
            <p:cNvPicPr>
              <a:picLocks noChangeAspect="1"/>
            </p:cNvPicPr>
            <p:nvPr/>
          </p:nvPicPr>
          <p:blipFill>
            <a:blip r:embed="rId4"/>
            <a:stretch>
              <a:fillRect/>
            </a:stretch>
          </p:blipFill>
          <p:spPr>
            <a:xfrm>
              <a:off x="492256" y="1579900"/>
              <a:ext cx="2844800" cy="520700"/>
            </a:xfrm>
            <a:prstGeom prst="rect">
              <a:avLst/>
            </a:prstGeom>
          </p:spPr>
        </p:pic>
        <p:pic>
          <p:nvPicPr>
            <p:cNvPr id="9" name="Picture 8">
              <a:extLst>
                <a:ext uri="{FF2B5EF4-FFF2-40B4-BE49-F238E27FC236}">
                  <a16:creationId xmlns:a16="http://schemas.microsoft.com/office/drawing/2014/main" id="{10E086D5-F66F-B729-E183-4F56B271DAD6}"/>
                </a:ext>
              </a:extLst>
            </p:cNvPr>
            <p:cNvPicPr>
              <a:picLocks noChangeAspect="1"/>
            </p:cNvPicPr>
            <p:nvPr/>
          </p:nvPicPr>
          <p:blipFill>
            <a:blip r:embed="rId5"/>
            <a:stretch>
              <a:fillRect/>
            </a:stretch>
          </p:blipFill>
          <p:spPr>
            <a:xfrm>
              <a:off x="621809" y="2246147"/>
              <a:ext cx="2755900" cy="520700"/>
            </a:xfrm>
            <a:prstGeom prst="rect">
              <a:avLst/>
            </a:prstGeom>
          </p:spPr>
        </p:pic>
        <p:pic>
          <p:nvPicPr>
            <p:cNvPr id="10" name="Picture 9">
              <a:extLst>
                <a:ext uri="{FF2B5EF4-FFF2-40B4-BE49-F238E27FC236}">
                  <a16:creationId xmlns:a16="http://schemas.microsoft.com/office/drawing/2014/main" id="{09087526-CC5C-1190-B553-627F29EDD440}"/>
                </a:ext>
              </a:extLst>
            </p:cNvPr>
            <p:cNvPicPr>
              <a:picLocks noChangeAspect="1"/>
            </p:cNvPicPr>
            <p:nvPr/>
          </p:nvPicPr>
          <p:blipFill>
            <a:blip r:embed="rId6"/>
            <a:stretch>
              <a:fillRect/>
            </a:stretch>
          </p:blipFill>
          <p:spPr>
            <a:xfrm>
              <a:off x="683568" y="2708920"/>
              <a:ext cx="4292600" cy="279400"/>
            </a:xfrm>
            <a:prstGeom prst="rect">
              <a:avLst/>
            </a:prstGeom>
          </p:spPr>
        </p:pic>
      </p:grpSp>
      <p:pic>
        <p:nvPicPr>
          <p:cNvPr id="11" name="Picture 10">
            <a:extLst>
              <a:ext uri="{FF2B5EF4-FFF2-40B4-BE49-F238E27FC236}">
                <a16:creationId xmlns:a16="http://schemas.microsoft.com/office/drawing/2014/main" id="{E9E5B0F5-153E-F4BB-2EDD-BDEC90737E62}"/>
              </a:ext>
            </a:extLst>
          </p:cNvPr>
          <p:cNvPicPr>
            <a:picLocks noChangeAspect="1"/>
          </p:cNvPicPr>
          <p:nvPr/>
        </p:nvPicPr>
        <p:blipFill>
          <a:blip r:embed="rId7"/>
          <a:stretch>
            <a:fillRect/>
          </a:stretch>
        </p:blipFill>
        <p:spPr>
          <a:xfrm>
            <a:off x="6462478" y="1196753"/>
            <a:ext cx="3305931" cy="776631"/>
          </a:xfrm>
          <a:prstGeom prst="rect">
            <a:avLst/>
          </a:prstGeom>
        </p:spPr>
      </p:pic>
      <p:pic>
        <p:nvPicPr>
          <p:cNvPr id="12" name="Picture 11">
            <a:extLst>
              <a:ext uri="{FF2B5EF4-FFF2-40B4-BE49-F238E27FC236}">
                <a16:creationId xmlns:a16="http://schemas.microsoft.com/office/drawing/2014/main" id="{4DE05CFD-5526-41AE-065C-38F7A30716B7}"/>
              </a:ext>
            </a:extLst>
          </p:cNvPr>
          <p:cNvPicPr>
            <a:picLocks noChangeAspect="1"/>
          </p:cNvPicPr>
          <p:nvPr/>
        </p:nvPicPr>
        <p:blipFill>
          <a:blip r:embed="rId8"/>
          <a:stretch>
            <a:fillRect/>
          </a:stretch>
        </p:blipFill>
        <p:spPr>
          <a:xfrm>
            <a:off x="6492403" y="2028630"/>
            <a:ext cx="4146197" cy="930568"/>
          </a:xfrm>
          <a:prstGeom prst="rect">
            <a:avLst/>
          </a:prstGeom>
        </p:spPr>
      </p:pic>
      <p:sp>
        <p:nvSpPr>
          <p:cNvPr id="14" name="Rectangle 13">
            <a:extLst>
              <a:ext uri="{FF2B5EF4-FFF2-40B4-BE49-F238E27FC236}">
                <a16:creationId xmlns:a16="http://schemas.microsoft.com/office/drawing/2014/main" id="{FB513DCC-7E8B-9C0F-E3B3-7DD9702FF28E}"/>
              </a:ext>
            </a:extLst>
          </p:cNvPr>
          <p:cNvSpPr/>
          <p:nvPr/>
        </p:nvSpPr>
        <p:spPr>
          <a:xfrm>
            <a:off x="2016256" y="1609488"/>
            <a:ext cx="3991828" cy="1603489"/>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a:t>
            </a:r>
          </a:p>
        </p:txBody>
      </p:sp>
      <p:sp>
        <p:nvSpPr>
          <p:cNvPr id="15" name="Rectangle 14">
            <a:extLst>
              <a:ext uri="{FF2B5EF4-FFF2-40B4-BE49-F238E27FC236}">
                <a16:creationId xmlns:a16="http://schemas.microsoft.com/office/drawing/2014/main" id="{D1A4C960-D50F-A6C0-F359-7D1B419C3DBF}"/>
              </a:ext>
            </a:extLst>
          </p:cNvPr>
          <p:cNvSpPr/>
          <p:nvPr/>
        </p:nvSpPr>
        <p:spPr>
          <a:xfrm>
            <a:off x="6177824" y="1052737"/>
            <a:ext cx="4454681" cy="2160239"/>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b?</a:t>
            </a:r>
          </a:p>
        </p:txBody>
      </p:sp>
      <p:pic>
        <p:nvPicPr>
          <p:cNvPr id="16" name="Picture 15">
            <a:extLst>
              <a:ext uri="{FF2B5EF4-FFF2-40B4-BE49-F238E27FC236}">
                <a16:creationId xmlns:a16="http://schemas.microsoft.com/office/drawing/2014/main" id="{1068E5FD-A255-DB66-A941-ECCF328CC7F3}"/>
              </a:ext>
            </a:extLst>
          </p:cNvPr>
          <p:cNvPicPr>
            <a:picLocks noChangeAspect="1"/>
          </p:cNvPicPr>
          <p:nvPr/>
        </p:nvPicPr>
        <p:blipFill>
          <a:blip r:embed="rId9"/>
          <a:stretch>
            <a:fillRect/>
          </a:stretch>
        </p:blipFill>
        <p:spPr>
          <a:xfrm>
            <a:off x="2016257" y="4299842"/>
            <a:ext cx="3348267" cy="2394862"/>
          </a:xfrm>
          <a:prstGeom prst="rect">
            <a:avLst/>
          </a:prstGeom>
        </p:spPr>
      </p:pic>
      <p:pic>
        <p:nvPicPr>
          <p:cNvPr id="17" name="Picture 16">
            <a:extLst>
              <a:ext uri="{FF2B5EF4-FFF2-40B4-BE49-F238E27FC236}">
                <a16:creationId xmlns:a16="http://schemas.microsoft.com/office/drawing/2014/main" id="{DDD4BEAF-D7AA-91CC-7F74-315F7FC9A414}"/>
              </a:ext>
            </a:extLst>
          </p:cNvPr>
          <p:cNvPicPr>
            <a:picLocks noChangeAspect="1"/>
          </p:cNvPicPr>
          <p:nvPr/>
        </p:nvPicPr>
        <p:blipFill>
          <a:blip r:embed="rId10"/>
          <a:stretch>
            <a:fillRect/>
          </a:stretch>
        </p:blipFill>
        <p:spPr>
          <a:xfrm>
            <a:off x="5540572" y="5014712"/>
            <a:ext cx="4864883" cy="1843289"/>
          </a:xfrm>
          <a:prstGeom prst="rect">
            <a:avLst/>
          </a:prstGeom>
        </p:spPr>
      </p:pic>
      <p:sp>
        <p:nvSpPr>
          <p:cNvPr id="18" name="Rectangle 17">
            <a:extLst>
              <a:ext uri="{FF2B5EF4-FFF2-40B4-BE49-F238E27FC236}">
                <a16:creationId xmlns:a16="http://schemas.microsoft.com/office/drawing/2014/main" id="{0F58A8F1-EE5D-51B1-D720-018AF63A4201}"/>
              </a:ext>
            </a:extLst>
          </p:cNvPr>
          <p:cNvSpPr/>
          <p:nvPr/>
        </p:nvSpPr>
        <p:spPr>
          <a:xfrm>
            <a:off x="1960156" y="4253840"/>
            <a:ext cx="8528332" cy="2604161"/>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Tree>
    <p:extLst>
      <p:ext uri="{BB962C8B-B14F-4D97-AF65-F5344CB8AC3E}">
        <p14:creationId xmlns:p14="http://schemas.microsoft.com/office/powerpoint/2010/main" val="2835822554"/>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4"/>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4"/>
                                        </p:tgtEl>
                                      </p:cBhvr>
                                    </p:animEffect>
                                    <p:set>
                                      <p:cBhvr>
                                        <p:cTn id="7" dur="1" fill="hold">
                                          <p:stCondLst>
                                            <p:cond delay="499"/>
                                          </p:stCondLst>
                                        </p:cTn>
                                        <p:tgtEl>
                                          <p:spTgt spid="14"/>
                                        </p:tgtEl>
                                        <p:attrNameLst>
                                          <p:attrName>style.visibility</p:attrName>
                                        </p:attrNameLst>
                                      </p:cBhvr>
                                      <p:to>
                                        <p:strVal val="hidden"/>
                                      </p:to>
                                    </p:set>
                                  </p:childTnLst>
                                </p:cTn>
                              </p:par>
                            </p:childTnLst>
                          </p:cTn>
                        </p:par>
                      </p:childTnLst>
                    </p:cTn>
                  </p:par>
                </p:childTnLst>
              </p:cTn>
              <p:nextCondLst>
                <p:cond evt="onClick" delay="0">
                  <p:tgtEl>
                    <p:spTgt spid="14"/>
                  </p:tgtEl>
                </p:cond>
              </p:nextCondLst>
            </p:seq>
            <p:seq concurrent="1" nextAc="seek">
              <p:cTn id="8" restart="whenNotActive" fill="hold" evtFilter="cancelBubble" nodeType="interactiveSeq">
                <p:stCondLst>
                  <p:cond evt="onClick" delay="0">
                    <p:tgtEl>
                      <p:spTgt spid="15"/>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15"/>
                                        </p:tgtEl>
                                      </p:cBhvr>
                                    </p:animEffect>
                                    <p:set>
                                      <p:cBhvr>
                                        <p:cTn id="13" dur="1" fill="hold">
                                          <p:stCondLst>
                                            <p:cond delay="499"/>
                                          </p:stCondLst>
                                        </p:cTn>
                                        <p:tgtEl>
                                          <p:spTgt spid="15"/>
                                        </p:tgtEl>
                                        <p:attrNameLst>
                                          <p:attrName>style.visibility</p:attrName>
                                        </p:attrNameLst>
                                      </p:cBhvr>
                                      <p:to>
                                        <p:strVal val="hidden"/>
                                      </p:to>
                                    </p:set>
                                  </p:childTnLst>
                                </p:cTn>
                              </p:par>
                            </p:childTnLst>
                          </p:cTn>
                        </p:par>
                      </p:childTnLst>
                    </p:cTn>
                  </p:par>
                </p:childTnLst>
              </p:cTn>
              <p:nextCondLst>
                <p:cond evt="onClick" delay="0">
                  <p:tgtEl>
                    <p:spTgt spid="15"/>
                  </p:tgtEl>
                </p:cond>
              </p:nextCondLst>
            </p:seq>
            <p:seq concurrent="1" nextAc="seek">
              <p:cTn id="14" restart="whenNotActive" fill="hold" evtFilter="cancelBubble" nodeType="interactiveSeq">
                <p:stCondLst>
                  <p:cond evt="onClick" delay="0">
                    <p:tgtEl>
                      <p:spTgt spid="18"/>
                    </p:tgtEl>
                  </p:cond>
                </p:stCondLst>
                <p:endSync evt="end" delay="0">
                  <p:rtn val="all"/>
                </p:endSync>
                <p:childTnLst>
                  <p:par>
                    <p:cTn id="15" fill="hold">
                      <p:stCondLst>
                        <p:cond delay="0"/>
                      </p:stCondLst>
                      <p:childTnLst>
                        <p:par>
                          <p:cTn id="16" fill="hold">
                            <p:stCondLst>
                              <p:cond delay="0"/>
                            </p:stCondLst>
                            <p:childTnLst>
                              <p:par>
                                <p:cTn id="17" presetID="10" presetClass="exit" presetSubtype="0" fill="hold" grpId="0" nodeType="clickEffect">
                                  <p:stCondLst>
                                    <p:cond delay="0"/>
                                  </p:stCondLst>
                                  <p:childTnLst>
                                    <p:animEffect transition="out" filter="fade">
                                      <p:cBhvr>
                                        <p:cTn id="18" dur="500"/>
                                        <p:tgtEl>
                                          <p:spTgt spid="18"/>
                                        </p:tgtEl>
                                      </p:cBhvr>
                                    </p:animEffect>
                                    <p:set>
                                      <p:cBhvr>
                                        <p:cTn id="19" dur="1" fill="hold">
                                          <p:stCondLst>
                                            <p:cond delay="499"/>
                                          </p:stCondLst>
                                        </p:cTn>
                                        <p:tgtEl>
                                          <p:spTgt spid="18"/>
                                        </p:tgtEl>
                                        <p:attrNameLst>
                                          <p:attrName>style.visibility</p:attrName>
                                        </p:attrNameLst>
                                      </p:cBhvr>
                                      <p:to>
                                        <p:strVal val="hidden"/>
                                      </p:to>
                                    </p:set>
                                  </p:childTnLst>
                                </p:cTn>
                              </p:par>
                            </p:childTnLst>
                          </p:cTn>
                        </p:par>
                      </p:childTnLst>
                    </p:cTn>
                  </p:par>
                </p:childTnLst>
              </p:cTn>
              <p:nextCondLst>
                <p:cond evt="onClick" delay="0">
                  <p:tgtEl>
                    <p:spTgt spid="18"/>
                  </p:tgtEl>
                </p:cond>
              </p:nextCondLst>
            </p:seq>
          </p:childTnLst>
        </p:cTn>
      </p:par>
    </p:tnLst>
    <p:bldLst>
      <p:bldP spid="14" grpId="0" animBg="1"/>
      <p:bldP spid="15" grpId="0" animBg="1"/>
      <p:bldP spid="18" grpId="0" animBg="1"/>
    </p:bldLst>
  </p:timing>
</p:sld>
</file>

<file path=ppt/c6/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0" y="1"/>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a:t>Tangents, Chords, Perpendicular Bisectors</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p:sp>
        <p:nvSpPr>
          <p:cNvPr id="5" name="Oval 4"/>
          <p:cNvSpPr/>
          <p:nvPr/>
        </p:nvSpPr>
        <p:spPr>
          <a:xfrm>
            <a:off x="2520105" y="2127577"/>
            <a:ext cx="2520280" cy="252028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GB"/>
          </a:p>
        </p:txBody>
      </p:sp>
      <p:cxnSp>
        <p:nvCxnSpPr>
          <p:cNvPr id="6" name="Straight Connector 5"/>
          <p:cNvCxnSpPr/>
          <p:nvPr/>
        </p:nvCxnSpPr>
        <p:spPr>
          <a:xfrm>
            <a:off x="3700722" y="1726609"/>
            <a:ext cx="1676400" cy="1346200"/>
          </a:xfrm>
          <a:prstGeom prst="line">
            <a:avLst/>
          </a:prstGeom>
          <a:effectLst/>
        </p:spPr>
        <p:style>
          <a:lnRef idx="3">
            <a:schemeClr val="accent6"/>
          </a:lnRef>
          <a:fillRef idx="0">
            <a:schemeClr val="accent6"/>
          </a:fillRef>
          <a:effectRef idx="2">
            <a:schemeClr val="accent6"/>
          </a:effectRef>
          <a:fontRef idx="minor">
            <a:schemeClr val="tx1"/>
          </a:fontRef>
        </p:style>
      </p:cxnSp>
      <p:cxnSp>
        <p:nvCxnSpPr>
          <p:cNvPr id="9" name="Straight Connector 8"/>
          <p:cNvCxnSpPr/>
          <p:nvPr/>
        </p:nvCxnSpPr>
        <p:spPr>
          <a:xfrm flipV="1">
            <a:off x="3764222" y="2412409"/>
            <a:ext cx="800100" cy="1016000"/>
          </a:xfrm>
          <a:prstGeom prst="line">
            <a:avLst/>
          </a:prstGeom>
          <a:ln>
            <a:solidFill>
              <a:schemeClr val="accent1"/>
            </a:solidFill>
          </a:ln>
          <a:effectLst/>
        </p:spPr>
        <p:style>
          <a:lnRef idx="3">
            <a:schemeClr val="accent6"/>
          </a:lnRef>
          <a:fillRef idx="0">
            <a:schemeClr val="accent6"/>
          </a:fillRef>
          <a:effectRef idx="2">
            <a:schemeClr val="accent6"/>
          </a:effectRef>
          <a:fontRef idx="minor">
            <a:schemeClr val="tx1"/>
          </a:fontRef>
        </p:style>
      </p:cxnSp>
      <p:cxnSp>
        <p:nvCxnSpPr>
          <p:cNvPr id="12" name="Straight Connector 11"/>
          <p:cNvCxnSpPr/>
          <p:nvPr/>
        </p:nvCxnSpPr>
        <p:spPr>
          <a:xfrm flipV="1">
            <a:off x="4567497" y="2527301"/>
            <a:ext cx="128328" cy="164509"/>
          </a:xfrm>
          <a:prstGeom prst="line">
            <a:avLst/>
          </a:prstGeom>
        </p:spPr>
        <p:style>
          <a:lnRef idx="1">
            <a:schemeClr val="dk1"/>
          </a:lnRef>
          <a:fillRef idx="0">
            <a:schemeClr val="dk1"/>
          </a:fillRef>
          <a:effectRef idx="0">
            <a:schemeClr val="dk1"/>
          </a:effectRef>
          <a:fontRef idx="minor">
            <a:schemeClr val="tx1"/>
          </a:fontRef>
        </p:style>
      </p:cxnSp>
      <p:cxnSp>
        <p:nvCxnSpPr>
          <p:cNvPr id="14" name="Straight Connector 13"/>
          <p:cNvCxnSpPr/>
          <p:nvPr/>
        </p:nvCxnSpPr>
        <p:spPr>
          <a:xfrm flipH="1" flipV="1">
            <a:off x="4437322" y="2577509"/>
            <a:ext cx="133350" cy="114300"/>
          </a:xfrm>
          <a:prstGeom prst="line">
            <a:avLst/>
          </a:prstGeom>
        </p:spPr>
        <p:style>
          <a:lnRef idx="1">
            <a:schemeClr val="dk1"/>
          </a:lnRef>
          <a:fillRef idx="0">
            <a:schemeClr val="dk1"/>
          </a:fillRef>
          <a:effectRef idx="0">
            <a:schemeClr val="dk1"/>
          </a:effectRef>
          <a:fontRef idx="minor">
            <a:schemeClr val="tx1"/>
          </a:fontRef>
        </p:style>
      </p:cxnSp>
      <p:sp>
        <p:nvSpPr>
          <p:cNvPr id="17" name="TextBox 16"/>
          <p:cNvSpPr txBox="1"/>
          <p:nvPr/>
        </p:nvSpPr>
        <p:spPr>
          <a:xfrm rot="18429468">
            <a:off x="3676117" y="2605713"/>
            <a:ext cx="758031" cy="369332"/>
          </a:xfrm>
          <a:prstGeom prst="rect">
            <a:avLst/>
          </a:prstGeom>
          <a:noFill/>
        </p:spPr>
        <p:txBody>
          <a:bodyPr wrap="square" rtlCol="0">
            <a:spAutoFit/>
          </a:bodyPr>
          <a:lstStyle/>
          <a:p>
            <a:pPr algn="ctr"/>
            <a:r>
              <a:rPr lang="en-GB"/>
              <a:t>radius</a:t>
            </a:r>
          </a:p>
        </p:txBody>
      </p:sp>
      <p:sp>
        <p:nvSpPr>
          <p:cNvPr id="18" name="TextBox 17"/>
          <p:cNvSpPr txBox="1"/>
          <p:nvPr/>
        </p:nvSpPr>
        <p:spPr>
          <a:xfrm rot="2322804">
            <a:off x="4560262" y="2445926"/>
            <a:ext cx="1100875" cy="369332"/>
          </a:xfrm>
          <a:prstGeom prst="rect">
            <a:avLst/>
          </a:prstGeom>
          <a:noFill/>
        </p:spPr>
        <p:txBody>
          <a:bodyPr wrap="square" rtlCol="0">
            <a:spAutoFit/>
          </a:bodyPr>
          <a:lstStyle/>
          <a:p>
            <a:pPr algn="ctr"/>
            <a:r>
              <a:rPr lang="en-GB"/>
              <a:t>tangent</a:t>
            </a:r>
          </a:p>
        </p:txBody>
      </p:sp>
      <p:sp>
        <p:nvSpPr>
          <p:cNvPr id="19" name="Oval 18"/>
          <p:cNvSpPr/>
          <p:nvPr/>
        </p:nvSpPr>
        <p:spPr>
          <a:xfrm>
            <a:off x="6579964" y="2107386"/>
            <a:ext cx="2520280" cy="252028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GB"/>
          </a:p>
        </p:txBody>
      </p:sp>
      <p:cxnSp>
        <p:nvCxnSpPr>
          <p:cNvPr id="20" name="Straight Connector 19"/>
          <p:cNvCxnSpPr/>
          <p:nvPr/>
        </p:nvCxnSpPr>
        <p:spPr>
          <a:xfrm>
            <a:off x="7456747" y="2172698"/>
            <a:ext cx="1600200" cy="1481137"/>
          </a:xfrm>
          <a:prstGeom prst="line">
            <a:avLst/>
          </a:prstGeom>
          <a:effectLst/>
        </p:spPr>
        <p:style>
          <a:lnRef idx="3">
            <a:schemeClr val="accent6"/>
          </a:lnRef>
          <a:fillRef idx="0">
            <a:schemeClr val="accent6"/>
          </a:fillRef>
          <a:effectRef idx="2">
            <a:schemeClr val="accent6"/>
          </a:effectRef>
          <a:fontRef idx="minor">
            <a:schemeClr val="tx1"/>
          </a:fontRef>
        </p:style>
      </p:cxnSp>
      <p:cxnSp>
        <p:nvCxnSpPr>
          <p:cNvPr id="22" name="Straight Connector 21"/>
          <p:cNvCxnSpPr/>
          <p:nvPr/>
        </p:nvCxnSpPr>
        <p:spPr>
          <a:xfrm flipV="1">
            <a:off x="6787117" y="1562987"/>
            <a:ext cx="2668772" cy="2987749"/>
          </a:xfrm>
          <a:prstGeom prst="line">
            <a:avLst/>
          </a:prstGeom>
          <a:ln>
            <a:solidFill>
              <a:schemeClr val="accent1"/>
            </a:solidFill>
          </a:ln>
          <a:effectLst/>
        </p:spPr>
        <p:style>
          <a:lnRef idx="3">
            <a:schemeClr val="accent6"/>
          </a:lnRef>
          <a:fillRef idx="0">
            <a:schemeClr val="accent6"/>
          </a:fillRef>
          <a:effectRef idx="2">
            <a:schemeClr val="accent6"/>
          </a:effectRef>
          <a:fontRef idx="minor">
            <a:schemeClr val="tx1"/>
          </a:fontRef>
        </p:style>
      </p:cxnSp>
      <p:cxnSp>
        <p:nvCxnSpPr>
          <p:cNvPr id="25" name="Straight Connector 24"/>
          <p:cNvCxnSpPr/>
          <p:nvPr/>
        </p:nvCxnSpPr>
        <p:spPr>
          <a:xfrm flipV="1">
            <a:off x="8556886" y="3182349"/>
            <a:ext cx="147637" cy="171449"/>
          </a:xfrm>
          <a:prstGeom prst="line">
            <a:avLst/>
          </a:prstGeom>
          <a:effectLst/>
        </p:spPr>
        <p:style>
          <a:lnRef idx="3">
            <a:schemeClr val="accent6"/>
          </a:lnRef>
          <a:fillRef idx="0">
            <a:schemeClr val="accent6"/>
          </a:fillRef>
          <a:effectRef idx="2">
            <a:schemeClr val="accent6"/>
          </a:effectRef>
          <a:fontRef idx="minor">
            <a:schemeClr val="tx1"/>
          </a:fontRef>
        </p:style>
      </p:cxnSp>
      <p:cxnSp>
        <p:nvCxnSpPr>
          <p:cNvPr id="29" name="Straight Connector 28"/>
          <p:cNvCxnSpPr/>
          <p:nvPr/>
        </p:nvCxnSpPr>
        <p:spPr>
          <a:xfrm flipV="1">
            <a:off x="7773454" y="2460830"/>
            <a:ext cx="147637" cy="171449"/>
          </a:xfrm>
          <a:prstGeom prst="line">
            <a:avLst/>
          </a:prstGeom>
          <a:effectLst/>
        </p:spPr>
        <p:style>
          <a:lnRef idx="3">
            <a:schemeClr val="accent6"/>
          </a:lnRef>
          <a:fillRef idx="0">
            <a:schemeClr val="accent6"/>
          </a:fillRef>
          <a:effectRef idx="2">
            <a:schemeClr val="accent6"/>
          </a:effectRef>
          <a:fontRef idx="minor">
            <a:schemeClr val="tx1"/>
          </a:fontRef>
        </p:style>
      </p:cxnSp>
      <p:sp>
        <p:nvSpPr>
          <p:cNvPr id="31" name="TextBox 30"/>
          <p:cNvSpPr txBox="1"/>
          <p:nvPr/>
        </p:nvSpPr>
        <p:spPr>
          <a:xfrm rot="2602958">
            <a:off x="8175516" y="2866517"/>
            <a:ext cx="1100875" cy="369332"/>
          </a:xfrm>
          <a:prstGeom prst="rect">
            <a:avLst/>
          </a:prstGeom>
          <a:noFill/>
        </p:spPr>
        <p:txBody>
          <a:bodyPr wrap="square" rtlCol="0">
            <a:spAutoFit/>
          </a:bodyPr>
          <a:lstStyle/>
          <a:p>
            <a:pPr algn="ctr"/>
            <a:r>
              <a:rPr lang="en-GB"/>
              <a:t>chord</a:t>
            </a:r>
          </a:p>
        </p:txBody>
      </p:sp>
      <p:sp>
        <p:nvSpPr>
          <p:cNvPr id="32" name="TextBox 31"/>
          <p:cNvSpPr txBox="1"/>
          <p:nvPr/>
        </p:nvSpPr>
        <p:spPr>
          <a:xfrm rot="18765582">
            <a:off x="7019082" y="2387675"/>
            <a:ext cx="2585817" cy="369332"/>
          </a:xfrm>
          <a:prstGeom prst="rect">
            <a:avLst/>
          </a:prstGeom>
          <a:noFill/>
        </p:spPr>
        <p:txBody>
          <a:bodyPr wrap="square" rtlCol="0">
            <a:spAutoFit/>
          </a:bodyPr>
          <a:lstStyle/>
          <a:p>
            <a:pPr algn="ctr"/>
            <a:r>
              <a:rPr lang="en-GB"/>
              <a:t>perpendicular bisector</a:t>
            </a:r>
          </a:p>
        </p:txBody>
      </p:sp>
      <p:sp>
        <p:nvSpPr>
          <p:cNvPr id="33" name="Oval 32"/>
          <p:cNvSpPr/>
          <p:nvPr/>
        </p:nvSpPr>
        <p:spPr>
          <a:xfrm>
            <a:off x="3733142" y="3355968"/>
            <a:ext cx="113630" cy="113717"/>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sp>
        <p:nvSpPr>
          <p:cNvPr id="34" name="Oval 33"/>
          <p:cNvSpPr/>
          <p:nvPr/>
        </p:nvSpPr>
        <p:spPr>
          <a:xfrm>
            <a:off x="7720455" y="3375347"/>
            <a:ext cx="113630" cy="113717"/>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sp>
        <p:nvSpPr>
          <p:cNvPr id="39" name="TextBox 38"/>
          <p:cNvSpPr txBox="1"/>
          <p:nvPr/>
        </p:nvSpPr>
        <p:spPr>
          <a:xfrm>
            <a:off x="2052921" y="4731453"/>
            <a:ext cx="3292305" cy="584775"/>
          </a:xfrm>
          <a:prstGeom prst="rect">
            <a:avLst/>
          </a:prstGeom>
          <a:noFill/>
        </p:spPr>
        <p:txBody>
          <a:bodyPr wrap="square" rtlCol="0">
            <a:spAutoFit/>
          </a:bodyPr>
          <a:lstStyle/>
          <a:p>
            <a:r>
              <a:rPr lang="en-GB" sz="1600"/>
              <a:t>The tangent is perpendicular to the radius (at the point of intersection).</a:t>
            </a:r>
          </a:p>
        </p:txBody>
      </p:sp>
      <p:sp>
        <p:nvSpPr>
          <p:cNvPr id="40" name="TextBox 39"/>
          <p:cNvSpPr txBox="1"/>
          <p:nvPr/>
        </p:nvSpPr>
        <p:spPr>
          <a:xfrm>
            <a:off x="6241229" y="4743302"/>
            <a:ext cx="3594348" cy="584775"/>
          </a:xfrm>
          <a:prstGeom prst="rect">
            <a:avLst/>
          </a:prstGeom>
          <a:noFill/>
        </p:spPr>
        <p:txBody>
          <a:bodyPr wrap="square" rtlCol="0">
            <a:spAutoFit/>
          </a:bodyPr>
          <a:lstStyle/>
          <a:p>
            <a:r>
              <a:rPr lang="en-GB" sz="1600"/>
              <a:t>The perpendicular bisector of any chord passes through the centre of the circle.</a:t>
            </a:r>
          </a:p>
        </p:txBody>
      </p:sp>
      <p:sp>
        <p:nvSpPr>
          <p:cNvPr id="41" name="TextBox 40"/>
          <p:cNvSpPr txBox="1"/>
          <p:nvPr/>
        </p:nvSpPr>
        <p:spPr>
          <a:xfrm>
            <a:off x="1845110" y="799976"/>
            <a:ext cx="7416457" cy="646331"/>
          </a:xfrm>
          <a:prstGeom prst="rect">
            <a:avLst/>
          </a:prstGeom>
          <a:noFill/>
        </p:spPr>
        <p:txBody>
          <a:bodyPr wrap="square" rtlCol="0">
            <a:spAutoFit/>
          </a:bodyPr>
          <a:lstStyle/>
          <a:p>
            <a:r>
              <a:rPr lang="en-GB"/>
              <a:t>There are two circle theorems that are of particular relevance to problems in this chapter, the latter you might be less familiar with:</a:t>
            </a:r>
          </a:p>
        </p:txBody>
      </p:sp>
      <p:sp>
        <p:nvSpPr>
          <p:cNvPr id="43" name="TextBox 42"/>
          <p:cNvSpPr txBox="1"/>
          <p:nvPr/>
        </p:nvSpPr>
        <p:spPr>
          <a:xfrm>
            <a:off x="1662848" y="5446551"/>
            <a:ext cx="4367849" cy="954107"/>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r>
              <a:rPr lang="en-GB" sz="1400" b="1"/>
              <a:t>Why this will help:</a:t>
            </a:r>
          </a:p>
          <a:p>
            <a:r>
              <a:rPr lang="en-GB" sz="1400"/>
              <a:t>If we knew the centre of the circle and the point of intersection, we can easily find the gradient of the radius, and thus the gradient and hence equation of the tangent.</a:t>
            </a:r>
          </a:p>
        </p:txBody>
      </p:sp>
      <p:sp>
        <p:nvSpPr>
          <p:cNvPr id="44" name="TextBox 43"/>
          <p:cNvSpPr txBox="1"/>
          <p:nvPr/>
        </p:nvSpPr>
        <p:spPr>
          <a:xfrm>
            <a:off x="6204017" y="5446551"/>
            <a:ext cx="4367849" cy="1169551"/>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r>
              <a:rPr lang="en-GB" sz="1400" b="1"/>
              <a:t>Why this will help:</a:t>
            </a:r>
          </a:p>
          <a:p>
            <a:r>
              <a:rPr lang="en-GB" sz="1400"/>
              <a:t>The first thing we did in this chapter is find the equation of the perpendicular bisector. If we had two chords, and hence found two bisectors, we could find the point of intersection, which would be the centre of the circle.</a:t>
            </a:r>
          </a:p>
        </p:txBody>
      </p:sp>
    </p:spTree>
    <p:extLst>
      <p:ext uri="{BB962C8B-B14F-4D97-AF65-F5344CB8AC3E}">
        <p14:creationId xmlns:p14="http://schemas.microsoft.com/office/powerpoint/2010/main" val="10961316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3"/>
                                        </p:tgtEl>
                                        <p:attrNameLst>
                                          <p:attrName>style.visibility</p:attrName>
                                        </p:attrNameLst>
                                      </p:cBhvr>
                                      <p:to>
                                        <p:strVal val="visible"/>
                                      </p:to>
                                    </p:set>
                                    <p:animEffect transition="in" filter="fade">
                                      <p:cBhvr>
                                        <p:cTn id="7" dur="500"/>
                                        <p:tgtEl>
                                          <p:spTgt spid="4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4"/>
                                        </p:tgtEl>
                                        <p:attrNameLst>
                                          <p:attrName>style.visibility</p:attrName>
                                        </p:attrNameLst>
                                      </p:cBhvr>
                                      <p:to>
                                        <p:strVal val="visible"/>
                                      </p:to>
                                    </p:set>
                                    <p:animEffect transition="in" filter="fade">
                                      <p:cBhvr>
                                        <p:cTn id="12"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animBg="1"/>
      <p:bldP spid="44" grpId="0" animBg="1"/>
    </p:bldLst>
  </p:timing>
</p:sld>
</file>

<file path=ppt/c6/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0" y="1"/>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a:t>Examples</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mc:AlternateContent xmlns:mc="http://schemas.openxmlformats.org/markup-compatibility/2006">
        <mc:Choice xmlns:a14="http://schemas.microsoft.com/office/drawing/2010/main" Requires="a14">
          <p:sp>
            <p:nvSpPr>
              <p:cNvPr id="5" name="TextBox 4"/>
              <p:cNvSpPr txBox="1"/>
              <p:nvPr/>
            </p:nvSpPr>
            <p:spPr>
              <a:xfrm>
                <a:off x="1847528" y="1485298"/>
                <a:ext cx="3897598" cy="1754326"/>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a:t>The circle </a:t>
                </a:r>
                <a14:m>
                  <m:oMath xmlns:m="http://schemas.openxmlformats.org/officeDocument/2006/math">
                    <m:r>
                      <a:rPr lang="en-GB" i="1">
                        <a:latin typeface="Cambria Math" panose="02040503050406030204" pitchFamily="18" charset="0"/>
                      </a:rPr>
                      <m:t>𝐶</m:t>
                    </m:r>
                  </m:oMath>
                </a14:m>
                <a:r>
                  <a:rPr lang="en-GB"/>
                  <a:t> has equation </a:t>
                </a:r>
                <a:br>
                  <a:rPr lang="en-GB"/>
                </a:br>
                <a14:m>
                  <m:oMath xmlns:m="http://schemas.openxmlformats.org/officeDocument/2006/math">
                    <m:sSup>
                      <m:sSupPr>
                        <m:ctrlPr>
                          <a:rPr lang="en-GB" i="1">
                            <a:latin typeface="Cambria Math" panose="02040503050406030204" pitchFamily="18" charset="0"/>
                          </a:rPr>
                        </m:ctrlPr>
                      </m:sSupPr>
                      <m:e>
                        <m:d>
                          <m:dPr>
                            <m:ctrlPr>
                              <a:rPr lang="en-GB" i="1">
                                <a:latin typeface="Cambria Math" panose="02040503050406030204" pitchFamily="18" charset="0"/>
                              </a:rPr>
                            </m:ctrlPr>
                          </m:dPr>
                          <m:e>
                            <m:r>
                              <a:rPr lang="en-GB" i="1">
                                <a:latin typeface="Cambria Math" panose="02040503050406030204" pitchFamily="18" charset="0"/>
                              </a:rPr>
                              <m:t>𝑥</m:t>
                            </m:r>
                            <m:r>
                              <a:rPr lang="en-GB" i="1">
                                <a:latin typeface="Cambria Math" panose="02040503050406030204" pitchFamily="18" charset="0"/>
                              </a:rPr>
                              <m:t>−3</m:t>
                            </m:r>
                          </m:e>
                        </m:d>
                      </m:e>
                      <m:sup>
                        <m:r>
                          <a:rPr lang="en-GB" i="1">
                            <a:latin typeface="Cambria Math" panose="02040503050406030204" pitchFamily="18" charset="0"/>
                          </a:rPr>
                          <m:t>2</m:t>
                        </m:r>
                      </m:sup>
                    </m:sSup>
                    <m:r>
                      <a:rPr lang="en-GB" i="1">
                        <a:latin typeface="Cambria Math" panose="02040503050406030204" pitchFamily="18" charset="0"/>
                      </a:rPr>
                      <m:t>+</m:t>
                    </m:r>
                    <m:sSup>
                      <m:sSupPr>
                        <m:ctrlPr>
                          <a:rPr lang="en-GB" i="1">
                            <a:latin typeface="Cambria Math" panose="02040503050406030204" pitchFamily="18" charset="0"/>
                          </a:rPr>
                        </m:ctrlPr>
                      </m:sSupPr>
                      <m:e>
                        <m:d>
                          <m:dPr>
                            <m:ctrlPr>
                              <a:rPr lang="en-GB" i="1">
                                <a:latin typeface="Cambria Math" panose="02040503050406030204" pitchFamily="18" charset="0"/>
                              </a:rPr>
                            </m:ctrlPr>
                          </m:dPr>
                          <m:e>
                            <m:r>
                              <a:rPr lang="en-GB" i="1">
                                <a:latin typeface="Cambria Math" panose="02040503050406030204" pitchFamily="18" charset="0"/>
                              </a:rPr>
                              <m:t>𝑦</m:t>
                            </m:r>
                            <m:r>
                              <a:rPr lang="en-GB" i="1">
                                <a:latin typeface="Cambria Math" panose="02040503050406030204" pitchFamily="18" charset="0"/>
                              </a:rPr>
                              <m:t>−7</m:t>
                            </m:r>
                          </m:e>
                        </m:d>
                      </m:e>
                      <m:sup>
                        <m:r>
                          <a:rPr lang="en-GB" i="1">
                            <a:latin typeface="Cambria Math" panose="02040503050406030204" pitchFamily="18" charset="0"/>
                          </a:rPr>
                          <m:t>2</m:t>
                        </m:r>
                      </m:sup>
                    </m:sSup>
                    <m:r>
                      <a:rPr lang="en-GB" i="1">
                        <a:latin typeface="Cambria Math" panose="02040503050406030204" pitchFamily="18" charset="0"/>
                      </a:rPr>
                      <m:t>=100</m:t>
                    </m:r>
                  </m:oMath>
                </a14:m>
                <a:r>
                  <a:rPr lang="en-GB"/>
                  <a:t>.</a:t>
                </a:r>
              </a:p>
              <a:p>
                <a:pPr marL="342900" indent="-342900">
                  <a:buAutoNum type="alphaLcParenR"/>
                </a:pPr>
                <a:r>
                  <a:rPr lang="en-GB"/>
                  <a:t>Verify the point </a:t>
                </a:r>
                <a14:m>
                  <m:oMath xmlns:m="http://schemas.openxmlformats.org/officeDocument/2006/math">
                    <m:r>
                      <a:rPr lang="en-GB" i="1">
                        <a:latin typeface="Cambria Math" panose="02040503050406030204" pitchFamily="18" charset="0"/>
                      </a:rPr>
                      <m:t>𝑃</m:t>
                    </m:r>
                    <m:d>
                      <m:dPr>
                        <m:ctrlPr>
                          <a:rPr lang="en-GB" i="1">
                            <a:latin typeface="Cambria Math" panose="02040503050406030204" pitchFamily="18" charset="0"/>
                          </a:rPr>
                        </m:ctrlPr>
                      </m:dPr>
                      <m:e>
                        <m:r>
                          <a:rPr lang="en-GB" i="1">
                            <a:latin typeface="Cambria Math" panose="02040503050406030204" pitchFamily="18" charset="0"/>
                          </a:rPr>
                          <m:t>11,1</m:t>
                        </m:r>
                      </m:e>
                    </m:d>
                  </m:oMath>
                </a14:m>
                <a:r>
                  <a:rPr lang="en-GB"/>
                  <a:t> lies on </a:t>
                </a:r>
                <a14:m>
                  <m:oMath xmlns:m="http://schemas.openxmlformats.org/officeDocument/2006/math">
                    <m:r>
                      <a:rPr lang="en-GB" i="1">
                        <a:latin typeface="Cambria Math" panose="02040503050406030204" pitchFamily="18" charset="0"/>
                      </a:rPr>
                      <m:t>𝐶</m:t>
                    </m:r>
                  </m:oMath>
                </a14:m>
                <a:r>
                  <a:rPr lang="en-GB"/>
                  <a:t>.</a:t>
                </a:r>
              </a:p>
              <a:p>
                <a:pPr marL="342900" indent="-342900">
                  <a:buAutoNum type="alphaLcParenR"/>
                </a:pPr>
                <a:r>
                  <a:rPr lang="en-GB"/>
                  <a:t>Find an equation of the tangent to </a:t>
                </a:r>
                <a14:m>
                  <m:oMath xmlns:m="http://schemas.openxmlformats.org/officeDocument/2006/math">
                    <m:r>
                      <a:rPr lang="en-GB" i="1">
                        <a:latin typeface="Cambria Math" panose="02040503050406030204" pitchFamily="18" charset="0"/>
                      </a:rPr>
                      <m:t>𝐶</m:t>
                    </m:r>
                  </m:oMath>
                </a14:m>
                <a:r>
                  <a:rPr lang="en-GB"/>
                  <a:t> at the point </a:t>
                </a:r>
                <a14:m>
                  <m:oMath xmlns:m="http://schemas.openxmlformats.org/officeDocument/2006/math">
                    <m:r>
                      <a:rPr lang="en-GB" i="1">
                        <a:latin typeface="Cambria Math" panose="02040503050406030204" pitchFamily="18" charset="0"/>
                      </a:rPr>
                      <m:t>𝑃</m:t>
                    </m:r>
                  </m:oMath>
                </a14:m>
                <a:r>
                  <a:rPr lang="en-GB"/>
                  <a:t>, giving your answer in the form </a:t>
                </a:r>
                <a14:m>
                  <m:oMath xmlns:m="http://schemas.openxmlformats.org/officeDocument/2006/math">
                    <m:r>
                      <a:rPr lang="en-GB" i="1">
                        <a:latin typeface="Cambria Math" panose="02040503050406030204" pitchFamily="18" charset="0"/>
                      </a:rPr>
                      <m:t>𝑎𝑥</m:t>
                    </m:r>
                    <m:r>
                      <a:rPr lang="en-GB" i="1">
                        <a:latin typeface="Cambria Math" panose="02040503050406030204" pitchFamily="18" charset="0"/>
                      </a:rPr>
                      <m:t>+</m:t>
                    </m:r>
                    <m:r>
                      <a:rPr lang="en-GB" i="1">
                        <a:latin typeface="Cambria Math" panose="02040503050406030204" pitchFamily="18" charset="0"/>
                      </a:rPr>
                      <m:t>𝑏𝑦</m:t>
                    </m:r>
                    <m:r>
                      <a:rPr lang="en-GB" i="1">
                        <a:latin typeface="Cambria Math" panose="02040503050406030204" pitchFamily="18" charset="0"/>
                      </a:rPr>
                      <m:t>+</m:t>
                    </m:r>
                    <m:r>
                      <a:rPr lang="en-GB" i="1">
                        <a:latin typeface="Cambria Math" panose="02040503050406030204" pitchFamily="18" charset="0"/>
                      </a:rPr>
                      <m:t>𝑐</m:t>
                    </m:r>
                    <m:r>
                      <a:rPr lang="en-GB" i="1">
                        <a:latin typeface="Cambria Math" panose="02040503050406030204" pitchFamily="18" charset="0"/>
                      </a:rPr>
                      <m:t>=0</m:t>
                    </m:r>
                  </m:oMath>
                </a14:m>
                <a:endParaRPr lang="en-GB"/>
              </a:p>
            </p:txBody>
          </p:sp>
        </mc:Choice>
        <mc:Fallback>
          <p:sp>
            <p:nvSpPr>
              <p:cNvPr id="5" name="TextBox 4"/>
              <p:cNvSpPr txBox="1">
                <a:spLocks noRot="1" noChangeAspect="1" noMove="1" noResize="1" noEditPoints="1" noAdjustHandles="1" noChangeArrowheads="1" noChangeShapeType="1" noTextEdit="1"/>
              </p:cNvSpPr>
              <p:nvPr/>
            </p:nvSpPr>
            <p:spPr>
              <a:xfrm>
                <a:off x="1847528" y="1485298"/>
                <a:ext cx="3897598" cy="1754326"/>
              </a:xfrm>
              <a:prstGeom prst="rect">
                <a:avLst/>
              </a:prstGeom>
              <a:blipFill>
                <a:blip r:embed="rId2"/>
                <a:stretch>
                  <a:fillRect/>
                </a:stretch>
              </a:blipFill>
              <a:effectLst>
                <a:outerShdw blurRad="63500" sx="102000" sy="102000" algn="ctr" rotWithShape="0">
                  <a:prstClr val="black">
                    <a:alpha val="40000"/>
                  </a:prstClr>
                </a:outerShdw>
              </a:effectLst>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1" name="TextBox 10"/>
              <p:cNvSpPr txBox="1"/>
              <p:nvPr/>
            </p:nvSpPr>
            <p:spPr>
              <a:xfrm>
                <a:off x="2074186" y="3458479"/>
                <a:ext cx="2830969" cy="3201967"/>
              </a:xfrm>
              <a:prstGeom prst="rect">
                <a:avLst/>
              </a:prstGeom>
              <a:noFill/>
            </p:spPr>
            <p:txBody>
              <a:bodyPr wrap="square" rtlCol="0">
                <a:spAutoFit/>
              </a:bodyPr>
              <a:lstStyle/>
              <a:p>
                <a:pPr marL="342900" indent="-342900">
                  <a:buAutoNum type="alphaLcParenR"/>
                </a:pPr>
                <a:r>
                  <a:rPr lang="en-GB" sz="1600"/>
                  <a:t> </a:t>
                </a:r>
                <a14:m>
                  <m:oMath xmlns:m="http://schemas.openxmlformats.org/officeDocument/2006/math">
                    <m:sSup>
                      <m:sSupPr>
                        <m:ctrlPr>
                          <a:rPr lang="en-GB" sz="1600" i="1">
                            <a:latin typeface="Cambria Math" panose="02040503050406030204" pitchFamily="18" charset="0"/>
                          </a:rPr>
                        </m:ctrlPr>
                      </m:sSupPr>
                      <m:e>
                        <m:d>
                          <m:dPr>
                            <m:ctrlPr>
                              <a:rPr lang="en-GB" sz="1600" i="1">
                                <a:latin typeface="Cambria Math" panose="02040503050406030204" pitchFamily="18" charset="0"/>
                              </a:rPr>
                            </m:ctrlPr>
                          </m:dPr>
                          <m:e>
                            <m:r>
                              <a:rPr lang="en-GB" sz="1600" i="1">
                                <a:latin typeface="Cambria Math" panose="02040503050406030204" pitchFamily="18" charset="0"/>
                              </a:rPr>
                              <m:t>11−3</m:t>
                            </m:r>
                          </m:e>
                        </m:d>
                      </m:e>
                      <m:sup>
                        <m:r>
                          <a:rPr lang="en-GB" sz="1600" i="1">
                            <a:latin typeface="Cambria Math" panose="02040503050406030204" pitchFamily="18" charset="0"/>
                          </a:rPr>
                          <m:t>2</m:t>
                        </m:r>
                      </m:sup>
                    </m:sSup>
                    <m:r>
                      <a:rPr lang="en-GB" sz="1600" i="1">
                        <a:latin typeface="Cambria Math" panose="02040503050406030204" pitchFamily="18" charset="0"/>
                      </a:rPr>
                      <m:t>+</m:t>
                    </m:r>
                    <m:sSup>
                      <m:sSupPr>
                        <m:ctrlPr>
                          <a:rPr lang="en-GB" sz="1600" i="1">
                            <a:latin typeface="Cambria Math" panose="02040503050406030204" pitchFamily="18" charset="0"/>
                          </a:rPr>
                        </m:ctrlPr>
                      </m:sSupPr>
                      <m:e>
                        <m:d>
                          <m:dPr>
                            <m:ctrlPr>
                              <a:rPr lang="en-GB" sz="1600" i="1">
                                <a:latin typeface="Cambria Math" panose="02040503050406030204" pitchFamily="18" charset="0"/>
                              </a:rPr>
                            </m:ctrlPr>
                          </m:dPr>
                          <m:e>
                            <m:r>
                              <a:rPr lang="en-GB" sz="1600" i="1">
                                <a:latin typeface="Cambria Math" panose="02040503050406030204" pitchFamily="18" charset="0"/>
                              </a:rPr>
                              <m:t>1−7</m:t>
                            </m:r>
                          </m:e>
                        </m:d>
                      </m:e>
                      <m:sup>
                        <m:r>
                          <a:rPr lang="en-GB" sz="1600" i="1">
                            <a:latin typeface="Cambria Math" panose="02040503050406030204" pitchFamily="18" charset="0"/>
                          </a:rPr>
                          <m:t>2</m:t>
                        </m:r>
                      </m:sup>
                    </m:sSup>
                  </m:oMath>
                </a14:m>
                <a:br>
                  <a:rPr lang="en-GB" sz="1600"/>
                </a:br>
                <a14:m>
                  <m:oMath xmlns:m="http://schemas.openxmlformats.org/officeDocument/2006/math">
                    <m:r>
                      <a:rPr lang="en-GB" sz="1600" i="1">
                        <a:latin typeface="Cambria Math" panose="02040503050406030204" pitchFamily="18" charset="0"/>
                      </a:rPr>
                      <m:t>=</m:t>
                    </m:r>
                    <m:sSup>
                      <m:sSupPr>
                        <m:ctrlPr>
                          <a:rPr lang="en-GB" sz="1600" i="1">
                            <a:latin typeface="Cambria Math" panose="02040503050406030204" pitchFamily="18" charset="0"/>
                          </a:rPr>
                        </m:ctrlPr>
                      </m:sSupPr>
                      <m:e>
                        <m:r>
                          <a:rPr lang="en-GB" sz="1600" i="1">
                            <a:latin typeface="Cambria Math" panose="02040503050406030204" pitchFamily="18" charset="0"/>
                          </a:rPr>
                          <m:t>8</m:t>
                        </m:r>
                      </m:e>
                      <m:sup>
                        <m:r>
                          <a:rPr lang="en-GB" sz="1600" i="1">
                            <a:latin typeface="Cambria Math" panose="02040503050406030204" pitchFamily="18" charset="0"/>
                          </a:rPr>
                          <m:t>2</m:t>
                        </m:r>
                      </m:sup>
                    </m:sSup>
                    <m:r>
                      <a:rPr lang="en-GB" sz="1600" i="1">
                        <a:latin typeface="Cambria Math" panose="02040503050406030204" pitchFamily="18" charset="0"/>
                      </a:rPr>
                      <m:t>+</m:t>
                    </m:r>
                    <m:sSup>
                      <m:sSupPr>
                        <m:ctrlPr>
                          <a:rPr lang="en-GB" sz="1600" i="1">
                            <a:latin typeface="Cambria Math" panose="02040503050406030204" pitchFamily="18" charset="0"/>
                          </a:rPr>
                        </m:ctrlPr>
                      </m:sSupPr>
                      <m:e>
                        <m:r>
                          <a:rPr lang="en-GB" sz="1600" i="1">
                            <a:latin typeface="Cambria Math" panose="02040503050406030204" pitchFamily="18" charset="0"/>
                          </a:rPr>
                          <m:t>6</m:t>
                        </m:r>
                      </m:e>
                      <m:sup>
                        <m:r>
                          <a:rPr lang="en-GB" sz="1600" i="1">
                            <a:latin typeface="Cambria Math" panose="02040503050406030204" pitchFamily="18" charset="0"/>
                          </a:rPr>
                          <m:t>2</m:t>
                        </m:r>
                      </m:sup>
                    </m:sSup>
                    <m:r>
                      <a:rPr lang="en-GB" sz="1600" i="1">
                        <a:latin typeface="Cambria Math" panose="02040503050406030204" pitchFamily="18" charset="0"/>
                      </a:rPr>
                      <m:t>=100</m:t>
                    </m:r>
                  </m:oMath>
                </a14:m>
                <a:endParaRPr lang="en-GB" sz="1600"/>
              </a:p>
              <a:p>
                <a:pPr marL="342900" indent="-342900">
                  <a:buAutoNum type="alphaLcParenR"/>
                </a:pPr>
                <a:r>
                  <a:rPr lang="en-GB" sz="1600"/>
                  <a:t> Circle centre: </a:t>
                </a:r>
                <a14:m>
                  <m:oMath xmlns:m="http://schemas.openxmlformats.org/officeDocument/2006/math">
                    <m:d>
                      <m:dPr>
                        <m:ctrlPr>
                          <a:rPr lang="en-GB" sz="1600" i="1">
                            <a:latin typeface="Cambria Math" panose="02040503050406030204" pitchFamily="18" charset="0"/>
                          </a:rPr>
                        </m:ctrlPr>
                      </m:dPr>
                      <m:e>
                        <m:r>
                          <a:rPr lang="en-GB" sz="1600" i="1">
                            <a:latin typeface="Cambria Math" panose="02040503050406030204" pitchFamily="18" charset="0"/>
                          </a:rPr>
                          <m:t>3,7</m:t>
                        </m:r>
                      </m:e>
                    </m:d>
                  </m:oMath>
                </a14:m>
                <a:br>
                  <a:rPr lang="en-GB" sz="1600"/>
                </a:br>
                <a:r>
                  <a:rPr lang="en-GB" sz="1600"/>
                  <a:t>Gradient of radius:</a:t>
                </a:r>
                <a:br>
                  <a:rPr lang="en-GB" sz="1600"/>
                </a:br>
                <a14:m>
                  <m:oMath xmlns:m="http://schemas.openxmlformats.org/officeDocument/2006/math">
                    <m:sSub>
                      <m:sSubPr>
                        <m:ctrlPr>
                          <a:rPr lang="en-GB" sz="1600" i="1">
                            <a:latin typeface="Cambria Math" panose="02040503050406030204" pitchFamily="18" charset="0"/>
                          </a:rPr>
                        </m:ctrlPr>
                      </m:sSubPr>
                      <m:e>
                        <m:r>
                          <a:rPr lang="en-GB" sz="1600" i="1">
                            <a:latin typeface="Cambria Math" panose="02040503050406030204" pitchFamily="18" charset="0"/>
                          </a:rPr>
                          <m:t>𝑚</m:t>
                        </m:r>
                      </m:e>
                      <m:sub>
                        <m:r>
                          <a:rPr lang="en-GB" sz="1600" i="1">
                            <a:latin typeface="Cambria Math" panose="02040503050406030204" pitchFamily="18" charset="0"/>
                          </a:rPr>
                          <m:t>𝑟</m:t>
                        </m:r>
                      </m:sub>
                    </m:sSub>
                    <m:r>
                      <a:rPr lang="en-GB" sz="1600" i="1">
                        <a:latin typeface="Cambria Math" panose="02040503050406030204" pitchFamily="18" charset="0"/>
                      </a:rPr>
                      <m:t>=</m:t>
                    </m:r>
                    <m:f>
                      <m:fPr>
                        <m:ctrlPr>
                          <a:rPr lang="en-GB" sz="1600" i="1">
                            <a:latin typeface="Cambria Math" panose="02040503050406030204" pitchFamily="18" charset="0"/>
                          </a:rPr>
                        </m:ctrlPr>
                      </m:fPr>
                      <m:num>
                        <m:r>
                          <a:rPr lang="en-GB" sz="1600" i="1">
                            <a:latin typeface="Cambria Math" panose="02040503050406030204" pitchFamily="18" charset="0"/>
                          </a:rPr>
                          <m:t>1−7</m:t>
                        </m:r>
                      </m:num>
                      <m:den>
                        <m:r>
                          <a:rPr lang="en-GB" sz="1600" i="1">
                            <a:latin typeface="Cambria Math" panose="02040503050406030204" pitchFamily="18" charset="0"/>
                          </a:rPr>
                          <m:t>11−3</m:t>
                        </m:r>
                      </m:den>
                    </m:f>
                    <m:r>
                      <a:rPr lang="en-GB" sz="1600" i="1">
                        <a:latin typeface="Cambria Math" panose="02040503050406030204" pitchFamily="18" charset="0"/>
                      </a:rPr>
                      <m:t>=−</m:t>
                    </m:r>
                    <m:f>
                      <m:fPr>
                        <m:ctrlPr>
                          <a:rPr lang="en-GB" sz="1600" i="1">
                            <a:latin typeface="Cambria Math" panose="02040503050406030204" pitchFamily="18" charset="0"/>
                          </a:rPr>
                        </m:ctrlPr>
                      </m:fPr>
                      <m:num>
                        <m:r>
                          <a:rPr lang="en-GB" sz="1600" i="1">
                            <a:latin typeface="Cambria Math" panose="02040503050406030204" pitchFamily="18" charset="0"/>
                          </a:rPr>
                          <m:t>3</m:t>
                        </m:r>
                      </m:num>
                      <m:den>
                        <m:r>
                          <a:rPr lang="en-GB" sz="1600" i="1">
                            <a:latin typeface="Cambria Math" panose="02040503050406030204" pitchFamily="18" charset="0"/>
                          </a:rPr>
                          <m:t>4</m:t>
                        </m:r>
                      </m:den>
                    </m:f>
                  </m:oMath>
                </a14:m>
                <a:br>
                  <a:rPr lang="en-GB" sz="1600"/>
                </a:br>
                <a14:m>
                  <m:oMath xmlns:m="http://schemas.openxmlformats.org/officeDocument/2006/math">
                    <m:r>
                      <a:rPr lang="en-GB" sz="1600" i="1">
                        <a:latin typeface="Cambria Math" panose="02040503050406030204" pitchFamily="18" charset="0"/>
                      </a:rPr>
                      <m:t>∴</m:t>
                    </m:r>
                    <m:sSub>
                      <m:sSubPr>
                        <m:ctrlPr>
                          <a:rPr lang="en-GB" sz="1600" i="1">
                            <a:latin typeface="Cambria Math" panose="02040503050406030204" pitchFamily="18" charset="0"/>
                          </a:rPr>
                        </m:ctrlPr>
                      </m:sSubPr>
                      <m:e>
                        <m:r>
                          <a:rPr lang="en-GB" sz="1600" i="1">
                            <a:latin typeface="Cambria Math" panose="02040503050406030204" pitchFamily="18" charset="0"/>
                          </a:rPr>
                          <m:t>𝑚</m:t>
                        </m:r>
                      </m:e>
                      <m:sub>
                        <m:r>
                          <a:rPr lang="en-GB" sz="1600" i="1">
                            <a:latin typeface="Cambria Math" panose="02040503050406030204" pitchFamily="18" charset="0"/>
                          </a:rPr>
                          <m:t>𝑡</m:t>
                        </m:r>
                      </m:sub>
                    </m:sSub>
                    <m:r>
                      <a:rPr lang="en-GB" sz="1600" i="1">
                        <a:latin typeface="Cambria Math" panose="02040503050406030204" pitchFamily="18" charset="0"/>
                      </a:rPr>
                      <m:t>=</m:t>
                    </m:r>
                    <m:f>
                      <m:fPr>
                        <m:ctrlPr>
                          <a:rPr lang="en-GB" sz="1600" i="1">
                            <a:latin typeface="Cambria Math" panose="02040503050406030204" pitchFamily="18" charset="0"/>
                          </a:rPr>
                        </m:ctrlPr>
                      </m:fPr>
                      <m:num>
                        <m:r>
                          <a:rPr lang="en-GB" sz="1600" i="1">
                            <a:latin typeface="Cambria Math" panose="02040503050406030204" pitchFamily="18" charset="0"/>
                          </a:rPr>
                          <m:t>4</m:t>
                        </m:r>
                      </m:num>
                      <m:den>
                        <m:r>
                          <a:rPr lang="en-GB" sz="1600" i="1">
                            <a:latin typeface="Cambria Math" panose="02040503050406030204" pitchFamily="18" charset="0"/>
                          </a:rPr>
                          <m:t>3</m:t>
                        </m:r>
                      </m:den>
                    </m:f>
                  </m:oMath>
                </a14:m>
                <a:br>
                  <a:rPr lang="en-GB" sz="1600"/>
                </a:br>
                <a14:m>
                  <m:oMath xmlns:m="http://schemas.openxmlformats.org/officeDocument/2006/math">
                    <m:r>
                      <a:rPr lang="en-GB" sz="1600" i="1">
                        <a:latin typeface="Cambria Math" panose="02040503050406030204" pitchFamily="18" charset="0"/>
                      </a:rPr>
                      <m:t>𝑦</m:t>
                    </m:r>
                    <m:r>
                      <a:rPr lang="en-GB" sz="1600" i="1">
                        <a:latin typeface="Cambria Math" panose="02040503050406030204" pitchFamily="18" charset="0"/>
                      </a:rPr>
                      <m:t>−1=</m:t>
                    </m:r>
                    <m:f>
                      <m:fPr>
                        <m:ctrlPr>
                          <a:rPr lang="en-GB" sz="1600" i="1">
                            <a:latin typeface="Cambria Math" panose="02040503050406030204" pitchFamily="18" charset="0"/>
                          </a:rPr>
                        </m:ctrlPr>
                      </m:fPr>
                      <m:num>
                        <m:r>
                          <a:rPr lang="en-GB" sz="1600" i="1">
                            <a:latin typeface="Cambria Math" panose="02040503050406030204" pitchFamily="18" charset="0"/>
                          </a:rPr>
                          <m:t>4</m:t>
                        </m:r>
                      </m:num>
                      <m:den>
                        <m:r>
                          <a:rPr lang="en-GB" sz="1600" i="1">
                            <a:latin typeface="Cambria Math" panose="02040503050406030204" pitchFamily="18" charset="0"/>
                          </a:rPr>
                          <m:t>3</m:t>
                        </m:r>
                      </m:den>
                    </m:f>
                    <m:d>
                      <m:dPr>
                        <m:ctrlPr>
                          <a:rPr lang="en-GB" sz="1600" i="1">
                            <a:latin typeface="Cambria Math" panose="02040503050406030204" pitchFamily="18" charset="0"/>
                          </a:rPr>
                        </m:ctrlPr>
                      </m:dPr>
                      <m:e>
                        <m:r>
                          <a:rPr lang="en-GB" sz="1600" i="1">
                            <a:latin typeface="Cambria Math" panose="02040503050406030204" pitchFamily="18" charset="0"/>
                          </a:rPr>
                          <m:t>𝑥</m:t>
                        </m:r>
                        <m:r>
                          <a:rPr lang="en-GB" sz="1600" i="1">
                            <a:latin typeface="Cambria Math" panose="02040503050406030204" pitchFamily="18" charset="0"/>
                          </a:rPr>
                          <m:t>−11</m:t>
                        </m:r>
                      </m:e>
                    </m:d>
                  </m:oMath>
                </a14:m>
                <a:br>
                  <a:rPr lang="en-GB" sz="1600"/>
                </a:br>
                <a14:m>
                  <m:oMath xmlns:m="http://schemas.openxmlformats.org/officeDocument/2006/math">
                    <m:r>
                      <a:rPr lang="en-GB" sz="1600" i="1">
                        <a:latin typeface="Cambria Math" panose="02040503050406030204" pitchFamily="18" charset="0"/>
                      </a:rPr>
                      <m:t>3</m:t>
                    </m:r>
                    <m:r>
                      <a:rPr lang="en-GB" sz="1600" i="1">
                        <a:latin typeface="Cambria Math" panose="02040503050406030204" pitchFamily="18" charset="0"/>
                      </a:rPr>
                      <m:t>𝑦</m:t>
                    </m:r>
                    <m:r>
                      <a:rPr lang="en-GB" sz="1600" i="1">
                        <a:latin typeface="Cambria Math" panose="02040503050406030204" pitchFamily="18" charset="0"/>
                      </a:rPr>
                      <m:t>−3=4</m:t>
                    </m:r>
                    <m:d>
                      <m:dPr>
                        <m:ctrlPr>
                          <a:rPr lang="en-GB" sz="1600" i="1">
                            <a:latin typeface="Cambria Math" panose="02040503050406030204" pitchFamily="18" charset="0"/>
                          </a:rPr>
                        </m:ctrlPr>
                      </m:dPr>
                      <m:e>
                        <m:r>
                          <a:rPr lang="en-GB" sz="1600" i="1">
                            <a:latin typeface="Cambria Math" panose="02040503050406030204" pitchFamily="18" charset="0"/>
                          </a:rPr>
                          <m:t>𝑥</m:t>
                        </m:r>
                        <m:r>
                          <a:rPr lang="en-GB" sz="1600" i="1">
                            <a:latin typeface="Cambria Math" panose="02040503050406030204" pitchFamily="18" charset="0"/>
                          </a:rPr>
                          <m:t>−11</m:t>
                        </m:r>
                      </m:e>
                    </m:d>
                  </m:oMath>
                </a14:m>
                <a:br>
                  <a:rPr lang="en-GB" sz="1600"/>
                </a:br>
                <a14:m>
                  <m:oMath xmlns:m="http://schemas.openxmlformats.org/officeDocument/2006/math">
                    <m:r>
                      <a:rPr lang="en-GB" sz="1600" i="1">
                        <a:latin typeface="Cambria Math" panose="02040503050406030204" pitchFamily="18" charset="0"/>
                      </a:rPr>
                      <m:t>3</m:t>
                    </m:r>
                    <m:r>
                      <a:rPr lang="en-GB" sz="1600" i="1">
                        <a:latin typeface="Cambria Math" panose="02040503050406030204" pitchFamily="18" charset="0"/>
                      </a:rPr>
                      <m:t>𝑦</m:t>
                    </m:r>
                    <m:r>
                      <a:rPr lang="en-GB" sz="1600" i="1">
                        <a:latin typeface="Cambria Math" panose="02040503050406030204" pitchFamily="18" charset="0"/>
                      </a:rPr>
                      <m:t>−3=4</m:t>
                    </m:r>
                    <m:r>
                      <a:rPr lang="en-GB" sz="1600" i="1">
                        <a:latin typeface="Cambria Math" panose="02040503050406030204" pitchFamily="18" charset="0"/>
                      </a:rPr>
                      <m:t>𝑥</m:t>
                    </m:r>
                    <m:r>
                      <a:rPr lang="en-GB" sz="1600" i="1">
                        <a:latin typeface="Cambria Math" panose="02040503050406030204" pitchFamily="18" charset="0"/>
                      </a:rPr>
                      <m:t>−44</m:t>
                    </m:r>
                  </m:oMath>
                </a14:m>
                <a:br>
                  <a:rPr lang="en-GB" sz="1600"/>
                </a:br>
                <a14:m>
                  <m:oMath xmlns:m="http://schemas.openxmlformats.org/officeDocument/2006/math">
                    <m:r>
                      <a:rPr lang="en-GB" sz="1600" i="1">
                        <a:latin typeface="Cambria Math" panose="02040503050406030204" pitchFamily="18" charset="0"/>
                      </a:rPr>
                      <m:t>4</m:t>
                    </m:r>
                    <m:r>
                      <a:rPr lang="en-GB" sz="1600" i="1">
                        <a:latin typeface="Cambria Math" panose="02040503050406030204" pitchFamily="18" charset="0"/>
                      </a:rPr>
                      <m:t>𝑥</m:t>
                    </m:r>
                    <m:r>
                      <a:rPr lang="en-GB" sz="1600" i="1">
                        <a:latin typeface="Cambria Math" panose="02040503050406030204" pitchFamily="18" charset="0"/>
                      </a:rPr>
                      <m:t>−3</m:t>
                    </m:r>
                    <m:r>
                      <a:rPr lang="en-GB" sz="1600" i="1">
                        <a:latin typeface="Cambria Math" panose="02040503050406030204" pitchFamily="18" charset="0"/>
                      </a:rPr>
                      <m:t>𝑦</m:t>
                    </m:r>
                    <m:r>
                      <a:rPr lang="en-GB" sz="1600" i="1">
                        <a:latin typeface="Cambria Math" panose="02040503050406030204" pitchFamily="18" charset="0"/>
                      </a:rPr>
                      <m:t>−41=0</m:t>
                    </m:r>
                  </m:oMath>
                </a14:m>
                <a:endParaRPr lang="en-GB" sz="1600"/>
              </a:p>
            </p:txBody>
          </p:sp>
        </mc:Choice>
        <mc:Fallback>
          <p:sp>
            <p:nvSpPr>
              <p:cNvPr id="11" name="TextBox 10"/>
              <p:cNvSpPr txBox="1">
                <a:spLocks noRot="1" noChangeAspect="1" noMove="1" noResize="1" noEditPoints="1" noAdjustHandles="1" noChangeArrowheads="1" noChangeShapeType="1" noTextEdit="1"/>
              </p:cNvSpPr>
              <p:nvPr/>
            </p:nvSpPr>
            <p:spPr>
              <a:xfrm>
                <a:off x="2074186" y="3458479"/>
                <a:ext cx="2830969" cy="3201967"/>
              </a:xfrm>
              <a:prstGeom prst="rect">
                <a:avLst/>
              </a:prstGeom>
              <a:blipFill>
                <a:blip r:embed="rId3"/>
                <a:stretch>
                  <a:fillRect l="-1339" t="-791"/>
                </a:stretch>
              </a:blipFill>
            </p:spPr>
            <p:txBody>
              <a:bodyPr/>
              <a:lstStyle/>
              <a:p>
                <a:r>
                  <a:rPr lang="en-US">
                    <a:noFill/>
                  </a:rPr>
                  <a:t> </a:t>
                </a:r>
              </a:p>
            </p:txBody>
          </p:sp>
        </mc:Fallback>
      </mc:AlternateContent>
      <p:sp>
        <p:nvSpPr>
          <p:cNvPr id="12" name="TextBox 11"/>
          <p:cNvSpPr txBox="1"/>
          <p:nvPr/>
        </p:nvSpPr>
        <p:spPr>
          <a:xfrm>
            <a:off x="4643740" y="4523126"/>
            <a:ext cx="1380252" cy="1384995"/>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r>
              <a:rPr lang="en-GB" sz="1200" b="1"/>
              <a:t>Tip</a:t>
            </a:r>
            <a:r>
              <a:rPr lang="en-GB" sz="1200"/>
              <a:t>: Use ‘subscripting’ of variables to make clear to the examiner (and yourself!) what you’re calculating.</a:t>
            </a:r>
          </a:p>
        </p:txBody>
      </p:sp>
      <p:cxnSp>
        <p:nvCxnSpPr>
          <p:cNvPr id="14" name="Straight Arrow Connector 13"/>
          <p:cNvCxnSpPr/>
          <p:nvPr/>
        </p:nvCxnSpPr>
        <p:spPr>
          <a:xfrm flipH="1" flipV="1">
            <a:off x="3575720" y="5013176"/>
            <a:ext cx="1068020" cy="21602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mc:Choice xmlns:a14="http://schemas.microsoft.com/office/drawing/2010/main" Requires="a14">
          <p:sp>
            <p:nvSpPr>
              <p:cNvPr id="15" name="TextBox 14"/>
              <p:cNvSpPr txBox="1"/>
              <p:nvPr/>
            </p:nvSpPr>
            <p:spPr>
              <a:xfrm>
                <a:off x="6500932" y="793780"/>
                <a:ext cx="4078168" cy="1754326"/>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pPr/>
                <a:r>
                  <a:rPr lang="en-GB"/>
                  <a:t>A circle </a:t>
                </a:r>
                <a14:m>
                  <m:oMath xmlns:m="http://schemas.openxmlformats.org/officeDocument/2006/math">
                    <m:r>
                      <a:rPr lang="en-GB" i="1">
                        <a:latin typeface="Cambria Math" panose="02040503050406030204" pitchFamily="18" charset="0"/>
                      </a:rPr>
                      <m:t>𝐶</m:t>
                    </m:r>
                  </m:oMath>
                </a14:m>
                <a:r>
                  <a:rPr lang="en-GB"/>
                  <a:t> has equation </a:t>
                </a:r>
                <a:br>
                  <a:rPr lang="en-GB"/>
                </a:br>
                <a14:m>
                  <m:oMathPara xmlns:m="http://schemas.openxmlformats.org/officeDocument/2006/math">
                    <m:oMath>
                      <m:sSup>
                        <m:sSupPr>
                          <m:ctrlPr>
                            <a:rPr lang="en-GB" i="1">
                              <a:latin typeface="Cambria Math" panose="02040503050406030204" pitchFamily="18" charset="0"/>
                            </a:rPr>
                          </m:ctrlPr>
                        </m:sSupPr>
                        <m:e>
                          <m:d>
                            <m:dPr>
                              <m:ctrlPr>
                                <a:rPr lang="en-GB" i="1">
                                  <a:latin typeface="Cambria Math" panose="02040503050406030204" pitchFamily="18" charset="0"/>
                                </a:rPr>
                              </m:ctrlPr>
                            </m:dPr>
                            <m:e>
                              <m:r>
                                <a:rPr lang="en-GB" i="1">
                                  <a:latin typeface="Cambria Math" panose="02040503050406030204" pitchFamily="18" charset="0"/>
                                </a:rPr>
                                <m:t>𝑥</m:t>
                              </m:r>
                              <m:r>
                                <a:rPr lang="en-GB" i="1">
                                  <a:latin typeface="Cambria Math" panose="02040503050406030204" pitchFamily="18" charset="0"/>
                                </a:rPr>
                                <m:t>−4</m:t>
                              </m:r>
                            </m:e>
                          </m:d>
                        </m:e>
                        <m:sup>
                          <m:r>
                            <a:rPr lang="en-GB" i="1">
                              <a:latin typeface="Cambria Math" panose="02040503050406030204" pitchFamily="18" charset="0"/>
                            </a:rPr>
                            <m:t>2</m:t>
                          </m:r>
                        </m:sup>
                      </m:sSup>
                      <m:r>
                        <a:rPr lang="en-GB" i="1">
                          <a:latin typeface="Cambria Math" panose="02040503050406030204" pitchFamily="18" charset="0"/>
                        </a:rPr>
                        <m:t>+</m:t>
                      </m:r>
                      <m:sSup>
                        <m:sSupPr>
                          <m:ctrlPr>
                            <a:rPr lang="en-GB" i="1">
                              <a:latin typeface="Cambria Math" panose="02040503050406030204" pitchFamily="18" charset="0"/>
                            </a:rPr>
                          </m:ctrlPr>
                        </m:sSupPr>
                        <m:e>
                          <m:d>
                            <m:dPr>
                              <m:ctrlPr>
                                <a:rPr lang="en-GB" i="1">
                                  <a:latin typeface="Cambria Math" panose="02040503050406030204" pitchFamily="18" charset="0"/>
                                </a:rPr>
                              </m:ctrlPr>
                            </m:dPr>
                            <m:e>
                              <m:r>
                                <a:rPr lang="en-GB" i="1">
                                  <a:latin typeface="Cambria Math" panose="02040503050406030204" pitchFamily="18" charset="0"/>
                                </a:rPr>
                                <m:t>𝑦</m:t>
                              </m:r>
                              <m:r>
                                <a:rPr lang="en-GB" i="1">
                                  <a:latin typeface="Cambria Math" panose="02040503050406030204" pitchFamily="18" charset="0"/>
                                </a:rPr>
                                <m:t>+4</m:t>
                              </m:r>
                            </m:e>
                          </m:d>
                        </m:e>
                        <m:sup>
                          <m:r>
                            <a:rPr lang="en-GB" i="1">
                              <a:latin typeface="Cambria Math" panose="02040503050406030204" pitchFamily="18" charset="0"/>
                            </a:rPr>
                            <m:t>2</m:t>
                          </m:r>
                        </m:sup>
                      </m:sSup>
                      <m:r>
                        <a:rPr lang="en-GB" i="1">
                          <a:latin typeface="Cambria Math" panose="02040503050406030204" pitchFamily="18" charset="0"/>
                        </a:rPr>
                        <m:t>=10</m:t>
                      </m:r>
                    </m:oMath>
                  </m:oMathPara>
                </a14:m>
                <a:endParaRPr lang="en-GB"/>
              </a:p>
              <a:p>
                <a:r>
                  <a:rPr lang="en-GB"/>
                  <a:t>The line </a:t>
                </a:r>
                <a14:m>
                  <m:oMath xmlns:m="http://schemas.openxmlformats.org/officeDocument/2006/math">
                    <m:r>
                      <a:rPr lang="en-GB" i="1">
                        <a:latin typeface="Cambria Math" panose="02040503050406030204" pitchFamily="18" charset="0"/>
                      </a:rPr>
                      <m:t>𝑙</m:t>
                    </m:r>
                  </m:oMath>
                </a14:m>
                <a:r>
                  <a:rPr lang="en-GB"/>
                  <a:t> is a tangent to the circle and has gradient -3. Find two possible equations for </a:t>
                </a:r>
                <a14:m>
                  <m:oMath xmlns:m="http://schemas.openxmlformats.org/officeDocument/2006/math">
                    <m:r>
                      <a:rPr lang="en-GB" i="1">
                        <a:latin typeface="Cambria Math" panose="02040503050406030204" pitchFamily="18" charset="0"/>
                      </a:rPr>
                      <m:t>𝑙</m:t>
                    </m:r>
                  </m:oMath>
                </a14:m>
                <a:r>
                  <a:rPr lang="en-GB"/>
                  <a:t>, giving your answers in the form </a:t>
                </a:r>
                <a14:m>
                  <m:oMath xmlns:m="http://schemas.openxmlformats.org/officeDocument/2006/math">
                    <m:r>
                      <a:rPr lang="en-GB" i="1">
                        <a:latin typeface="Cambria Math" panose="02040503050406030204" pitchFamily="18" charset="0"/>
                      </a:rPr>
                      <m:t>𝑦</m:t>
                    </m:r>
                    <m:r>
                      <a:rPr lang="en-GB" i="1">
                        <a:latin typeface="Cambria Math" panose="02040503050406030204" pitchFamily="18" charset="0"/>
                      </a:rPr>
                      <m:t>=</m:t>
                    </m:r>
                    <m:r>
                      <a:rPr lang="en-GB" i="1">
                        <a:latin typeface="Cambria Math" panose="02040503050406030204" pitchFamily="18" charset="0"/>
                      </a:rPr>
                      <m:t>𝑚𝑥</m:t>
                    </m:r>
                    <m:r>
                      <a:rPr lang="en-GB" i="1">
                        <a:latin typeface="Cambria Math" panose="02040503050406030204" pitchFamily="18" charset="0"/>
                      </a:rPr>
                      <m:t>+</m:t>
                    </m:r>
                    <m:r>
                      <a:rPr lang="en-GB" i="1">
                        <a:latin typeface="Cambria Math" panose="02040503050406030204" pitchFamily="18" charset="0"/>
                      </a:rPr>
                      <m:t>𝑐</m:t>
                    </m:r>
                  </m:oMath>
                </a14:m>
                <a:r>
                  <a:rPr lang="en-GB"/>
                  <a:t>.</a:t>
                </a:r>
              </a:p>
            </p:txBody>
          </p:sp>
        </mc:Choice>
        <mc:Fallback>
          <p:sp>
            <p:nvSpPr>
              <p:cNvPr id="15" name="TextBox 14"/>
              <p:cNvSpPr txBox="1">
                <a:spLocks noRot="1" noChangeAspect="1" noMove="1" noResize="1" noEditPoints="1" noAdjustHandles="1" noChangeArrowheads="1" noChangeShapeType="1" noTextEdit="1"/>
              </p:cNvSpPr>
              <p:nvPr/>
            </p:nvSpPr>
            <p:spPr>
              <a:xfrm>
                <a:off x="6500932" y="793780"/>
                <a:ext cx="4078168" cy="1754326"/>
              </a:xfrm>
              <a:prstGeom prst="rect">
                <a:avLst/>
              </a:prstGeom>
              <a:blipFill>
                <a:blip r:embed="rId4"/>
                <a:stretch>
                  <a:fillRect/>
                </a:stretch>
              </a:blipFill>
              <a:effectLst>
                <a:outerShdw blurRad="63500" sx="102000" sy="102000" algn="ctr" rotWithShape="0">
                  <a:prstClr val="black">
                    <a:alpha val="40000"/>
                  </a:prstClr>
                </a:outerShdw>
              </a:effectLst>
            </p:spPr>
            <p:txBody>
              <a:bodyPr/>
              <a:lstStyle/>
              <a:p>
                <a:r>
                  <a:rPr lang="en-US">
                    <a:noFill/>
                  </a:rPr>
                  <a:t> </a:t>
                </a:r>
              </a:p>
            </p:txBody>
          </p:sp>
        </mc:Fallback>
      </mc:AlternateContent>
      <p:cxnSp>
        <p:nvCxnSpPr>
          <p:cNvPr id="19" name="Straight Connector 18"/>
          <p:cNvCxnSpPr/>
          <p:nvPr/>
        </p:nvCxnSpPr>
        <p:spPr>
          <a:xfrm>
            <a:off x="6237596" y="793780"/>
            <a:ext cx="0" cy="5803572"/>
          </a:xfrm>
          <a:prstGeom prst="line">
            <a:avLst/>
          </a:prstGeom>
        </p:spPr>
        <p:style>
          <a:lnRef idx="1">
            <a:schemeClr val="dk1"/>
          </a:lnRef>
          <a:fillRef idx="0">
            <a:schemeClr val="dk1"/>
          </a:fillRef>
          <a:effectRef idx="0">
            <a:schemeClr val="dk1"/>
          </a:effectRef>
          <a:fontRef idx="minor">
            <a:schemeClr val="tx1"/>
          </a:fontRef>
        </p:style>
      </p:cxnSp>
      <p:sp>
        <p:nvSpPr>
          <p:cNvPr id="20" name="TextBox 19"/>
          <p:cNvSpPr txBox="1"/>
          <p:nvPr/>
        </p:nvSpPr>
        <p:spPr>
          <a:xfrm>
            <a:off x="6458402" y="2581329"/>
            <a:ext cx="3915548" cy="523220"/>
          </a:xfrm>
          <a:prstGeom prst="rect">
            <a:avLst/>
          </a:prstGeom>
          <a:noFill/>
        </p:spPr>
        <p:txBody>
          <a:bodyPr wrap="square" rtlCol="0">
            <a:spAutoFit/>
          </a:bodyPr>
          <a:lstStyle/>
          <a:p>
            <a:r>
              <a:rPr lang="en-GB" sz="1400"/>
              <a:t>This time we have the gradient, but don’t have the points where the tangent(s) intersect the radius.</a:t>
            </a:r>
          </a:p>
        </p:txBody>
      </p:sp>
      <p:sp>
        <p:nvSpPr>
          <p:cNvPr id="21" name="Oval 20"/>
          <p:cNvSpPr/>
          <p:nvPr/>
        </p:nvSpPr>
        <p:spPr>
          <a:xfrm>
            <a:off x="6793207" y="3540595"/>
            <a:ext cx="884997" cy="82791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GB"/>
          </a:p>
        </p:txBody>
      </p:sp>
      <p:cxnSp>
        <p:nvCxnSpPr>
          <p:cNvPr id="23" name="Straight Connector 22"/>
          <p:cNvCxnSpPr/>
          <p:nvPr/>
        </p:nvCxnSpPr>
        <p:spPr>
          <a:xfrm>
            <a:off x="7327329" y="3262721"/>
            <a:ext cx="552893" cy="903767"/>
          </a:xfrm>
          <a:prstGeom prst="line">
            <a:avLst/>
          </a:prstGeom>
        </p:spPr>
        <p:style>
          <a:lnRef idx="1">
            <a:schemeClr val="dk1"/>
          </a:lnRef>
          <a:fillRef idx="0">
            <a:schemeClr val="dk1"/>
          </a:fillRef>
          <a:effectRef idx="0">
            <a:schemeClr val="dk1"/>
          </a:effectRef>
          <a:fontRef idx="minor">
            <a:schemeClr val="tx1"/>
          </a:fontRef>
        </p:style>
      </p:cxnSp>
      <p:cxnSp>
        <p:nvCxnSpPr>
          <p:cNvPr id="26" name="Straight Connector 25"/>
          <p:cNvCxnSpPr/>
          <p:nvPr/>
        </p:nvCxnSpPr>
        <p:spPr>
          <a:xfrm>
            <a:off x="6473201" y="3540596"/>
            <a:ext cx="552893" cy="903767"/>
          </a:xfrm>
          <a:prstGeom prst="line">
            <a:avLst/>
          </a:prstGeom>
        </p:spPr>
        <p:style>
          <a:lnRef idx="1">
            <a:schemeClr val="dk1"/>
          </a:lnRef>
          <a:fillRef idx="0">
            <a:schemeClr val="dk1"/>
          </a:fillRef>
          <a:effectRef idx="0">
            <a:schemeClr val="dk1"/>
          </a:effectRef>
          <a:fontRef idx="minor">
            <a:schemeClr val="tx1"/>
          </a:fontRef>
        </p:style>
      </p:cxnSp>
      <mc:AlternateContent xmlns:mc="http://schemas.openxmlformats.org/markup-compatibility/2006">
        <mc:Choice xmlns:a14="http://schemas.microsoft.com/office/drawing/2010/main" Requires="a14">
          <p:sp>
            <p:nvSpPr>
              <p:cNvPr id="27" name="TextBox 26"/>
              <p:cNvSpPr txBox="1"/>
              <p:nvPr/>
            </p:nvSpPr>
            <p:spPr>
              <a:xfrm rot="3569325">
                <a:off x="7189341" y="3288898"/>
                <a:ext cx="749950" cy="276999"/>
              </a:xfrm>
              <a:prstGeom prst="rect">
                <a:avLst/>
              </a:prstGeom>
              <a:noFill/>
            </p:spPr>
            <p:txBody>
              <a:bodyPr wrap="square" rtlCol="0">
                <a:spAutoFit/>
              </a:bodyPr>
              <a:lstStyle/>
              <a:p>
                <a:pPr/>
                <a14:m>
                  <m:oMathPara xmlns:m="http://schemas.openxmlformats.org/officeDocument/2006/math">
                    <m:oMath>
                      <m:r>
                        <a:rPr lang="en-GB" sz="1200" i="1">
                          <a:latin typeface="Cambria Math" panose="02040503050406030204" pitchFamily="18" charset="0"/>
                        </a:rPr>
                        <m:t>𝑚</m:t>
                      </m:r>
                      <m:r>
                        <a:rPr lang="en-GB" sz="1200" i="1">
                          <a:latin typeface="Cambria Math" panose="02040503050406030204" pitchFamily="18" charset="0"/>
                        </a:rPr>
                        <m:t>=−3</m:t>
                      </m:r>
                    </m:oMath>
                  </m:oMathPara>
                </a14:m>
                <a:endParaRPr lang="en-GB"/>
              </a:p>
            </p:txBody>
          </p:sp>
        </mc:Choice>
        <mc:Fallback>
          <p:sp>
            <p:nvSpPr>
              <p:cNvPr id="27" name="TextBox 26"/>
              <p:cNvSpPr txBox="1">
                <a:spLocks noRot="1" noChangeAspect="1" noMove="1" noResize="1" noEditPoints="1" noAdjustHandles="1" noChangeArrowheads="1" noChangeShapeType="1" noTextEdit="1"/>
              </p:cNvSpPr>
              <p:nvPr/>
            </p:nvSpPr>
            <p:spPr>
              <a:xfrm rot="3569325">
                <a:off x="7189341" y="3288898"/>
                <a:ext cx="749950" cy="276999"/>
              </a:xfrm>
              <a:prstGeom prst="rect">
                <a:avLst/>
              </a:prstGeom>
              <a:blipFill>
                <a:blip r:embed="rId5"/>
                <a:stretch>
                  <a:fillRect/>
                </a:stretch>
              </a:blipFill>
            </p:spPr>
            <p:txBody>
              <a:bodyPr/>
              <a:lstStyle/>
              <a:p>
                <a:r>
                  <a:rPr lang="en-US">
                    <a:noFill/>
                  </a:rPr>
                  <a:t> </a:t>
                </a:r>
              </a:p>
            </p:txBody>
          </p:sp>
        </mc:Fallback>
      </mc:AlternateContent>
      <p:cxnSp>
        <p:nvCxnSpPr>
          <p:cNvPr id="28" name="Straight Connector 27"/>
          <p:cNvCxnSpPr/>
          <p:nvPr/>
        </p:nvCxnSpPr>
        <p:spPr>
          <a:xfrm flipV="1">
            <a:off x="6869951" y="3736400"/>
            <a:ext cx="746760" cy="441960"/>
          </a:xfrm>
          <a:prstGeom prst="line">
            <a:avLst/>
          </a:prstGeom>
        </p:spPr>
        <p:style>
          <a:lnRef idx="1">
            <a:schemeClr val="dk1"/>
          </a:lnRef>
          <a:fillRef idx="0">
            <a:schemeClr val="dk1"/>
          </a:fillRef>
          <a:effectRef idx="0">
            <a:schemeClr val="dk1"/>
          </a:effectRef>
          <a:fontRef idx="minor">
            <a:schemeClr val="tx1"/>
          </a:fontRef>
        </p:style>
      </p:cxnSp>
      <mc:AlternateContent xmlns:mc="http://schemas.openxmlformats.org/markup-compatibility/2006">
        <mc:Choice xmlns:a14="http://schemas.microsoft.com/office/drawing/2010/main" Requires="a14">
          <p:sp>
            <p:nvSpPr>
              <p:cNvPr id="32" name="TextBox 31"/>
              <p:cNvSpPr txBox="1"/>
              <p:nvPr/>
            </p:nvSpPr>
            <p:spPr>
              <a:xfrm>
                <a:off x="7066503" y="3957380"/>
                <a:ext cx="648072" cy="261610"/>
              </a:xfrm>
              <a:prstGeom prst="rect">
                <a:avLst/>
              </a:prstGeom>
              <a:noFill/>
            </p:spPr>
            <p:txBody>
              <a:bodyPr wrap="square" rtlCol="0">
                <a:spAutoFit/>
              </a:bodyPr>
              <a:lstStyle/>
              <a:p>
                <a:pPr/>
                <a14:m>
                  <m:oMathPara xmlns:m="http://schemas.openxmlformats.org/officeDocument/2006/math">
                    <m:oMath>
                      <m:d>
                        <m:dPr>
                          <m:ctrlPr>
                            <a:rPr lang="en-GB" sz="1050" i="1">
                              <a:latin typeface="Cambria Math" panose="02040503050406030204" pitchFamily="18" charset="0"/>
                            </a:rPr>
                          </m:ctrlPr>
                        </m:dPr>
                        <m:e>
                          <m:r>
                            <a:rPr lang="en-GB" sz="1050" i="1">
                              <a:latin typeface="Cambria Math" panose="02040503050406030204" pitchFamily="18" charset="0"/>
                            </a:rPr>
                            <m:t>4,−4</m:t>
                          </m:r>
                        </m:e>
                      </m:d>
                    </m:oMath>
                  </m:oMathPara>
                </a14:m>
                <a:endParaRPr lang="en-GB"/>
              </a:p>
            </p:txBody>
          </p:sp>
        </mc:Choice>
        <mc:Fallback>
          <p:sp>
            <p:nvSpPr>
              <p:cNvPr id="32" name="TextBox 31"/>
              <p:cNvSpPr txBox="1">
                <a:spLocks noRot="1" noChangeAspect="1" noMove="1" noResize="1" noEditPoints="1" noAdjustHandles="1" noChangeArrowheads="1" noChangeShapeType="1" noTextEdit="1"/>
              </p:cNvSpPr>
              <p:nvPr/>
            </p:nvSpPr>
            <p:spPr>
              <a:xfrm>
                <a:off x="7066503" y="3957380"/>
                <a:ext cx="648072" cy="261610"/>
              </a:xfrm>
              <a:prstGeom prst="rect">
                <a:avLst/>
              </a:prstGeom>
              <a:blipFill>
                <a:blip r:embed="rId6"/>
                <a:stretch>
                  <a:fillRect/>
                </a:stretch>
              </a:blipFill>
            </p:spPr>
            <p:txBody>
              <a:bodyPr/>
              <a:lstStyle/>
              <a:p>
                <a:r>
                  <a:rPr lang="en-US">
                    <a:noFill/>
                  </a:rPr>
                  <a:t> </a:t>
                </a:r>
              </a:p>
            </p:txBody>
          </p:sp>
        </mc:Fallback>
      </mc:AlternateContent>
      <p:sp>
        <p:nvSpPr>
          <p:cNvPr id="33" name="Oval 32"/>
          <p:cNvSpPr/>
          <p:nvPr/>
        </p:nvSpPr>
        <p:spPr>
          <a:xfrm>
            <a:off x="7203584" y="3919652"/>
            <a:ext cx="72008" cy="72008"/>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mc:AlternateContent xmlns:mc="http://schemas.openxmlformats.org/markup-compatibility/2006">
        <mc:Choice xmlns:a14="http://schemas.microsoft.com/office/drawing/2010/main" Requires="a14">
          <p:sp>
            <p:nvSpPr>
              <p:cNvPr id="34" name="TextBox 33"/>
              <p:cNvSpPr txBox="1"/>
              <p:nvPr/>
            </p:nvSpPr>
            <p:spPr>
              <a:xfrm>
                <a:off x="7966816" y="3090455"/>
                <a:ext cx="2708105" cy="2136226"/>
              </a:xfrm>
              <a:prstGeom prst="rect">
                <a:avLst/>
              </a:prstGeom>
              <a:noFill/>
            </p:spPr>
            <p:txBody>
              <a:bodyPr wrap="square" rtlCol="0">
                <a:spAutoFit/>
              </a:bodyPr>
              <a:lstStyle/>
              <a:p>
                <a:r>
                  <a:rPr lang="en-GB" sz="1400"/>
                  <a:t>Equation of radius/diameter:</a:t>
                </a:r>
              </a:p>
              <a:p>
                <a:pPr/>
                <a14:m>
                  <m:oMathPara xmlns:m="http://schemas.openxmlformats.org/officeDocument/2006/math">
                    <m:oMath>
                      <m:r>
                        <a:rPr lang="en-GB" sz="1400" i="1">
                          <a:latin typeface="Cambria Math" panose="02040503050406030204" pitchFamily="18" charset="0"/>
                        </a:rPr>
                        <m:t>𝑦</m:t>
                      </m:r>
                      <m:r>
                        <a:rPr lang="en-GB" sz="1400" i="1">
                          <a:latin typeface="Cambria Math" panose="02040503050406030204" pitchFamily="18" charset="0"/>
                        </a:rPr>
                        <m:t>+4=</m:t>
                      </m:r>
                      <m:f>
                        <m:fPr>
                          <m:ctrlPr>
                            <a:rPr lang="en-GB" sz="1400" i="1">
                              <a:latin typeface="Cambria Math" panose="02040503050406030204" pitchFamily="18" charset="0"/>
                            </a:rPr>
                          </m:ctrlPr>
                        </m:fPr>
                        <m:num>
                          <m:r>
                            <a:rPr lang="en-GB" sz="1400" i="1">
                              <a:latin typeface="Cambria Math" panose="02040503050406030204" pitchFamily="18" charset="0"/>
                            </a:rPr>
                            <m:t>1</m:t>
                          </m:r>
                        </m:num>
                        <m:den>
                          <m:r>
                            <a:rPr lang="en-GB" sz="1400" i="1">
                              <a:latin typeface="Cambria Math" panose="02040503050406030204" pitchFamily="18" charset="0"/>
                            </a:rPr>
                            <m:t>3</m:t>
                          </m:r>
                        </m:den>
                      </m:f>
                      <m:d>
                        <m:dPr>
                          <m:ctrlPr>
                            <a:rPr lang="en-GB" sz="1400" i="1">
                              <a:latin typeface="Cambria Math" panose="02040503050406030204" pitchFamily="18" charset="0"/>
                            </a:rPr>
                          </m:ctrlPr>
                        </m:dPr>
                        <m:e>
                          <m:r>
                            <a:rPr lang="en-GB" sz="1400" i="1">
                              <a:latin typeface="Cambria Math" panose="02040503050406030204" pitchFamily="18" charset="0"/>
                            </a:rPr>
                            <m:t>𝑥</m:t>
                          </m:r>
                          <m:r>
                            <a:rPr lang="en-GB" sz="1400" i="1">
                              <a:latin typeface="Cambria Math" panose="02040503050406030204" pitchFamily="18" charset="0"/>
                            </a:rPr>
                            <m:t>−4</m:t>
                          </m:r>
                        </m:e>
                      </m:d>
                    </m:oMath>
                    <m:oMath>
                      <m:r>
                        <a:rPr lang="en-GB" sz="1400" i="1">
                          <a:latin typeface="Cambria Math" panose="02040503050406030204" pitchFamily="18" charset="0"/>
                        </a:rPr>
                        <m:t>𝑦</m:t>
                      </m:r>
                      <m:r>
                        <a:rPr lang="en-GB" sz="1400" i="1">
                          <a:latin typeface="Cambria Math" panose="02040503050406030204" pitchFamily="18" charset="0"/>
                        </a:rPr>
                        <m:t>=</m:t>
                      </m:r>
                      <m:f>
                        <m:fPr>
                          <m:ctrlPr>
                            <a:rPr lang="en-GB" sz="1400" i="1">
                              <a:latin typeface="Cambria Math" panose="02040503050406030204" pitchFamily="18" charset="0"/>
                            </a:rPr>
                          </m:ctrlPr>
                        </m:fPr>
                        <m:num>
                          <m:r>
                            <a:rPr lang="en-GB" sz="1400" i="1">
                              <a:latin typeface="Cambria Math" panose="02040503050406030204" pitchFamily="18" charset="0"/>
                            </a:rPr>
                            <m:t>1</m:t>
                          </m:r>
                        </m:num>
                        <m:den>
                          <m:r>
                            <a:rPr lang="en-GB" sz="1400" i="1">
                              <a:latin typeface="Cambria Math" panose="02040503050406030204" pitchFamily="18" charset="0"/>
                            </a:rPr>
                            <m:t>3</m:t>
                          </m:r>
                        </m:den>
                      </m:f>
                      <m:r>
                        <a:rPr lang="en-GB" sz="1400" i="1">
                          <a:latin typeface="Cambria Math" panose="02040503050406030204" pitchFamily="18" charset="0"/>
                        </a:rPr>
                        <m:t>𝑥</m:t>
                      </m:r>
                      <m:r>
                        <a:rPr lang="en-GB" sz="1400" i="1">
                          <a:latin typeface="Cambria Math" panose="02040503050406030204" pitchFamily="18" charset="0"/>
                        </a:rPr>
                        <m:t>−</m:t>
                      </m:r>
                      <m:f>
                        <m:fPr>
                          <m:ctrlPr>
                            <a:rPr lang="en-GB" sz="1400" i="1">
                              <a:latin typeface="Cambria Math" panose="02040503050406030204" pitchFamily="18" charset="0"/>
                            </a:rPr>
                          </m:ctrlPr>
                        </m:fPr>
                        <m:num>
                          <m:r>
                            <a:rPr lang="en-GB" sz="1400" i="1">
                              <a:latin typeface="Cambria Math" panose="02040503050406030204" pitchFamily="18" charset="0"/>
                            </a:rPr>
                            <m:t>16</m:t>
                          </m:r>
                        </m:num>
                        <m:den>
                          <m:r>
                            <a:rPr lang="en-GB" sz="1400" i="1">
                              <a:latin typeface="Cambria Math" panose="02040503050406030204" pitchFamily="18" charset="0"/>
                            </a:rPr>
                            <m:t>3</m:t>
                          </m:r>
                        </m:den>
                      </m:f>
                    </m:oMath>
                  </m:oMathPara>
                </a14:m>
                <a:endParaRPr lang="en-GB" sz="1400"/>
              </a:p>
              <a:p>
                <a:r>
                  <a:rPr lang="en-GB" sz="1400"/>
                  <a:t>Intersecting with circle:</a:t>
                </a:r>
              </a:p>
              <a:p>
                <a:pPr/>
                <a14:m>
                  <m:oMathPara xmlns:m="http://schemas.openxmlformats.org/officeDocument/2006/math">
                    <m:oMath>
                      <m:sSup>
                        <m:sSupPr>
                          <m:ctrlPr>
                            <a:rPr lang="en-GB" sz="1400" i="1">
                              <a:latin typeface="Cambria Math" panose="02040503050406030204" pitchFamily="18" charset="0"/>
                            </a:rPr>
                          </m:ctrlPr>
                        </m:sSupPr>
                        <m:e>
                          <m:d>
                            <m:dPr>
                              <m:ctrlPr>
                                <a:rPr lang="en-GB" sz="1400" i="1">
                                  <a:latin typeface="Cambria Math" panose="02040503050406030204" pitchFamily="18" charset="0"/>
                                </a:rPr>
                              </m:ctrlPr>
                            </m:dPr>
                            <m:e>
                              <m:r>
                                <a:rPr lang="en-GB" sz="1400" i="1">
                                  <a:latin typeface="Cambria Math" panose="02040503050406030204" pitchFamily="18" charset="0"/>
                                </a:rPr>
                                <m:t>𝑥</m:t>
                              </m:r>
                              <m:r>
                                <a:rPr lang="en-GB" sz="1400" i="1">
                                  <a:latin typeface="Cambria Math" panose="02040503050406030204" pitchFamily="18" charset="0"/>
                                </a:rPr>
                                <m:t>−4</m:t>
                              </m:r>
                            </m:e>
                          </m:d>
                        </m:e>
                        <m:sup>
                          <m:r>
                            <a:rPr lang="en-GB" sz="1400" i="1">
                              <a:latin typeface="Cambria Math" panose="02040503050406030204" pitchFamily="18" charset="0"/>
                            </a:rPr>
                            <m:t>2</m:t>
                          </m:r>
                        </m:sup>
                      </m:sSup>
                      <m:r>
                        <a:rPr lang="en-GB" sz="1400" i="1">
                          <a:latin typeface="Cambria Math" panose="02040503050406030204" pitchFamily="18" charset="0"/>
                        </a:rPr>
                        <m:t>+</m:t>
                      </m:r>
                      <m:sSup>
                        <m:sSupPr>
                          <m:ctrlPr>
                            <a:rPr lang="en-GB" sz="1400" i="1">
                              <a:latin typeface="Cambria Math" panose="02040503050406030204" pitchFamily="18" charset="0"/>
                            </a:rPr>
                          </m:ctrlPr>
                        </m:sSupPr>
                        <m:e>
                          <m:d>
                            <m:dPr>
                              <m:ctrlPr>
                                <a:rPr lang="en-GB" sz="1400" i="1">
                                  <a:latin typeface="Cambria Math" panose="02040503050406030204" pitchFamily="18" charset="0"/>
                                </a:rPr>
                              </m:ctrlPr>
                            </m:dPr>
                            <m:e>
                              <m:f>
                                <m:fPr>
                                  <m:ctrlPr>
                                    <a:rPr lang="en-GB" sz="1400" i="1">
                                      <a:latin typeface="Cambria Math" panose="02040503050406030204" pitchFamily="18" charset="0"/>
                                    </a:rPr>
                                  </m:ctrlPr>
                                </m:fPr>
                                <m:num>
                                  <m:r>
                                    <a:rPr lang="en-GB" sz="1400" i="1">
                                      <a:latin typeface="Cambria Math" panose="02040503050406030204" pitchFamily="18" charset="0"/>
                                    </a:rPr>
                                    <m:t>1</m:t>
                                  </m:r>
                                </m:num>
                                <m:den>
                                  <m:r>
                                    <a:rPr lang="en-GB" sz="1400" i="1">
                                      <a:latin typeface="Cambria Math" panose="02040503050406030204" pitchFamily="18" charset="0"/>
                                    </a:rPr>
                                    <m:t>3</m:t>
                                  </m:r>
                                </m:den>
                              </m:f>
                              <m:r>
                                <a:rPr lang="en-GB" sz="1400" i="1">
                                  <a:latin typeface="Cambria Math" panose="02040503050406030204" pitchFamily="18" charset="0"/>
                                </a:rPr>
                                <m:t>𝑥</m:t>
                              </m:r>
                              <m:r>
                                <a:rPr lang="en-GB" sz="1400" i="1">
                                  <a:latin typeface="Cambria Math" panose="02040503050406030204" pitchFamily="18" charset="0"/>
                                </a:rPr>
                                <m:t>−</m:t>
                              </m:r>
                              <m:f>
                                <m:fPr>
                                  <m:ctrlPr>
                                    <a:rPr lang="en-GB" sz="1400" i="1">
                                      <a:latin typeface="Cambria Math" panose="02040503050406030204" pitchFamily="18" charset="0"/>
                                    </a:rPr>
                                  </m:ctrlPr>
                                </m:fPr>
                                <m:num>
                                  <m:r>
                                    <a:rPr lang="en-GB" sz="1400" i="1">
                                      <a:latin typeface="Cambria Math" panose="02040503050406030204" pitchFamily="18" charset="0"/>
                                    </a:rPr>
                                    <m:t>16</m:t>
                                  </m:r>
                                </m:num>
                                <m:den>
                                  <m:r>
                                    <a:rPr lang="en-GB" sz="1400" i="1">
                                      <a:latin typeface="Cambria Math" panose="02040503050406030204" pitchFamily="18" charset="0"/>
                                    </a:rPr>
                                    <m:t>3</m:t>
                                  </m:r>
                                </m:den>
                              </m:f>
                              <m:r>
                                <a:rPr lang="en-GB" sz="1400" i="1">
                                  <a:latin typeface="Cambria Math" panose="02040503050406030204" pitchFamily="18" charset="0"/>
                                </a:rPr>
                                <m:t>+4</m:t>
                              </m:r>
                            </m:e>
                          </m:d>
                        </m:e>
                        <m:sup>
                          <m:r>
                            <a:rPr lang="en-GB" sz="1400" i="1">
                              <a:latin typeface="Cambria Math" panose="02040503050406030204" pitchFamily="18" charset="0"/>
                            </a:rPr>
                            <m:t>2</m:t>
                          </m:r>
                        </m:sup>
                      </m:sSup>
                      <m:r>
                        <a:rPr lang="en-GB" sz="1400" i="1">
                          <a:latin typeface="Cambria Math" panose="02040503050406030204" pitchFamily="18" charset="0"/>
                        </a:rPr>
                        <m:t>=10</m:t>
                      </m:r>
                    </m:oMath>
                  </m:oMathPara>
                </a14:m>
                <a:endParaRPr lang="en-GB" sz="1400"/>
              </a:p>
              <a:p>
                <a:endParaRPr lang="en-GB"/>
              </a:p>
            </p:txBody>
          </p:sp>
        </mc:Choice>
        <mc:Fallback>
          <p:sp>
            <p:nvSpPr>
              <p:cNvPr id="34" name="TextBox 33"/>
              <p:cNvSpPr txBox="1">
                <a:spLocks noRot="1" noChangeAspect="1" noMove="1" noResize="1" noEditPoints="1" noAdjustHandles="1" noChangeArrowheads="1" noChangeShapeType="1" noTextEdit="1"/>
              </p:cNvSpPr>
              <p:nvPr/>
            </p:nvSpPr>
            <p:spPr>
              <a:xfrm>
                <a:off x="7966816" y="3090455"/>
                <a:ext cx="2708105" cy="2136226"/>
              </a:xfrm>
              <a:prstGeom prst="rect">
                <a:avLst/>
              </a:prstGeom>
              <a:blipFill>
                <a:blip r:embed="rId7"/>
                <a:stretch>
                  <a:fillRect l="-935" t="-592"/>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5" name="TextBox 34"/>
              <p:cNvSpPr txBox="1"/>
              <p:nvPr/>
            </p:nvSpPr>
            <p:spPr>
              <a:xfrm>
                <a:off x="6600056" y="5013177"/>
                <a:ext cx="3888432" cy="954107"/>
              </a:xfrm>
              <a:prstGeom prst="rect">
                <a:avLst/>
              </a:prstGeom>
              <a:noFill/>
            </p:spPr>
            <p:txBody>
              <a:bodyPr wrap="square" rtlCol="0">
                <a:spAutoFit/>
              </a:bodyPr>
              <a:lstStyle/>
              <a:p>
                <a:r>
                  <a:rPr lang="en-GB" sz="1400"/>
                  <a:t>Solving results in the points </a:t>
                </a:r>
                <a14:m>
                  <m:oMath xmlns:m="http://schemas.openxmlformats.org/officeDocument/2006/math">
                    <m:d>
                      <m:dPr>
                        <m:ctrlPr>
                          <a:rPr lang="en-GB" sz="1400" i="1">
                            <a:latin typeface="Cambria Math" panose="02040503050406030204" pitchFamily="18" charset="0"/>
                          </a:rPr>
                        </m:ctrlPr>
                      </m:dPr>
                      <m:e>
                        <m:r>
                          <a:rPr lang="en-GB" sz="1400" i="1">
                            <a:latin typeface="Cambria Math" panose="02040503050406030204" pitchFamily="18" charset="0"/>
                          </a:rPr>
                          <m:t>1,−5</m:t>
                        </m:r>
                      </m:e>
                    </m:d>
                    <m:r>
                      <a:rPr lang="en-GB" sz="1400" i="1">
                        <a:latin typeface="Cambria Math" panose="02040503050406030204" pitchFamily="18" charset="0"/>
                      </a:rPr>
                      <m:t>, </m:t>
                    </m:r>
                    <m:d>
                      <m:dPr>
                        <m:ctrlPr>
                          <a:rPr lang="en-GB" sz="1400" i="1">
                            <a:latin typeface="Cambria Math" panose="02040503050406030204" pitchFamily="18" charset="0"/>
                          </a:rPr>
                        </m:ctrlPr>
                      </m:dPr>
                      <m:e>
                        <m:r>
                          <a:rPr lang="en-GB" sz="1400" i="1">
                            <a:latin typeface="Cambria Math" panose="02040503050406030204" pitchFamily="18" charset="0"/>
                          </a:rPr>
                          <m:t>7,−3</m:t>
                        </m:r>
                      </m:e>
                    </m:d>
                  </m:oMath>
                </a14:m>
                <a:r>
                  <a:rPr lang="en-GB" sz="1400"/>
                  <a:t>.</a:t>
                </a:r>
              </a:p>
              <a:p>
                <a:r>
                  <a:rPr lang="en-GB" sz="1400"/>
                  <a:t>Then equations of tangents:</a:t>
                </a:r>
              </a:p>
              <a:p>
                <a:pPr/>
                <a14:m>
                  <m:oMathPara xmlns:m="http://schemas.openxmlformats.org/officeDocument/2006/math">
                    <m:oMath>
                      <m:r>
                        <a:rPr lang="en-GB" sz="1400" i="1">
                          <a:latin typeface="Cambria Math" panose="02040503050406030204" pitchFamily="18" charset="0"/>
                        </a:rPr>
                        <m:t>𝑦</m:t>
                      </m:r>
                      <m:r>
                        <a:rPr lang="en-GB" sz="1400" i="1">
                          <a:latin typeface="Cambria Math" panose="02040503050406030204" pitchFamily="18" charset="0"/>
                        </a:rPr>
                        <m:t>+5=−3</m:t>
                      </m:r>
                      <m:d>
                        <m:dPr>
                          <m:ctrlPr>
                            <a:rPr lang="en-GB" sz="1400" i="1">
                              <a:latin typeface="Cambria Math" panose="02040503050406030204" pitchFamily="18" charset="0"/>
                            </a:rPr>
                          </m:ctrlPr>
                        </m:dPr>
                        <m:e>
                          <m:r>
                            <a:rPr lang="en-GB" sz="1400" i="1">
                              <a:latin typeface="Cambria Math" panose="02040503050406030204" pitchFamily="18" charset="0"/>
                            </a:rPr>
                            <m:t>𝑥</m:t>
                          </m:r>
                          <m:r>
                            <a:rPr lang="en-GB" sz="1400" i="1">
                              <a:latin typeface="Cambria Math" panose="02040503050406030204" pitchFamily="18" charset="0"/>
                            </a:rPr>
                            <m:t>−1</m:t>
                          </m:r>
                        </m:e>
                      </m:d>
                      <m:r>
                        <a:rPr lang="en-GB" sz="1400" i="1">
                          <a:latin typeface="Cambria Math" panose="02040503050406030204" pitchFamily="18" charset="0"/>
                        </a:rPr>
                        <m:t>  →  </m:t>
                      </m:r>
                      <m:r>
                        <a:rPr lang="en-GB" sz="1400" b="1" i="1">
                          <a:latin typeface="Cambria Math" panose="02040503050406030204" pitchFamily="18" charset="0"/>
                        </a:rPr>
                        <m:t>𝒚</m:t>
                      </m:r>
                      <m:r>
                        <a:rPr lang="en-GB" sz="1400" b="1" i="1">
                          <a:latin typeface="Cambria Math" panose="02040503050406030204" pitchFamily="18" charset="0"/>
                        </a:rPr>
                        <m:t>=−</m:t>
                      </m:r>
                      <m:r>
                        <a:rPr lang="en-GB" sz="1400" b="1" i="1">
                          <a:latin typeface="Cambria Math" panose="02040503050406030204" pitchFamily="18" charset="0"/>
                        </a:rPr>
                        <m:t>𝟑</m:t>
                      </m:r>
                      <m:r>
                        <a:rPr lang="en-GB" sz="1400" b="1" i="1">
                          <a:latin typeface="Cambria Math" panose="02040503050406030204" pitchFamily="18" charset="0"/>
                        </a:rPr>
                        <m:t>𝒙</m:t>
                      </m:r>
                      <m:r>
                        <a:rPr lang="en-GB" sz="1400" b="1" i="1">
                          <a:latin typeface="Cambria Math" panose="02040503050406030204" pitchFamily="18" charset="0"/>
                        </a:rPr>
                        <m:t>−</m:t>
                      </m:r>
                      <m:r>
                        <a:rPr lang="en-GB" sz="1400" b="1" i="1">
                          <a:latin typeface="Cambria Math" panose="02040503050406030204" pitchFamily="18" charset="0"/>
                        </a:rPr>
                        <m:t>𝟐</m:t>
                      </m:r>
                    </m:oMath>
                    <m:oMath>
                      <m:r>
                        <a:rPr lang="en-GB" sz="1400" i="1">
                          <a:latin typeface="Cambria Math" panose="02040503050406030204" pitchFamily="18" charset="0"/>
                        </a:rPr>
                        <m:t>𝑦</m:t>
                      </m:r>
                      <m:r>
                        <a:rPr lang="en-GB" sz="1400" i="1">
                          <a:latin typeface="Cambria Math" panose="02040503050406030204" pitchFamily="18" charset="0"/>
                        </a:rPr>
                        <m:t>+3=−3</m:t>
                      </m:r>
                      <m:d>
                        <m:dPr>
                          <m:ctrlPr>
                            <a:rPr lang="en-GB" sz="1400" i="1">
                              <a:latin typeface="Cambria Math" panose="02040503050406030204" pitchFamily="18" charset="0"/>
                            </a:rPr>
                          </m:ctrlPr>
                        </m:dPr>
                        <m:e>
                          <m:r>
                            <a:rPr lang="en-GB" sz="1400" i="1">
                              <a:latin typeface="Cambria Math" panose="02040503050406030204" pitchFamily="18" charset="0"/>
                            </a:rPr>
                            <m:t>𝑥</m:t>
                          </m:r>
                          <m:r>
                            <a:rPr lang="en-GB" sz="1400" i="1">
                              <a:latin typeface="Cambria Math" panose="02040503050406030204" pitchFamily="18" charset="0"/>
                            </a:rPr>
                            <m:t>−7</m:t>
                          </m:r>
                        </m:e>
                      </m:d>
                      <m:r>
                        <a:rPr lang="en-GB" sz="1400" i="1">
                          <a:latin typeface="Cambria Math" panose="02040503050406030204" pitchFamily="18" charset="0"/>
                        </a:rPr>
                        <m:t>  →  </m:t>
                      </m:r>
                      <m:r>
                        <a:rPr lang="en-GB" sz="1400" b="1" i="1">
                          <a:latin typeface="Cambria Math" panose="02040503050406030204" pitchFamily="18" charset="0"/>
                        </a:rPr>
                        <m:t>𝒚</m:t>
                      </m:r>
                      <m:r>
                        <a:rPr lang="en-GB" sz="1400" b="1" i="1">
                          <a:latin typeface="Cambria Math" panose="02040503050406030204" pitchFamily="18" charset="0"/>
                        </a:rPr>
                        <m:t>=−</m:t>
                      </m:r>
                      <m:r>
                        <a:rPr lang="en-GB" sz="1400" b="1" i="1">
                          <a:latin typeface="Cambria Math" panose="02040503050406030204" pitchFamily="18" charset="0"/>
                        </a:rPr>
                        <m:t>𝟑</m:t>
                      </m:r>
                      <m:r>
                        <a:rPr lang="en-GB" sz="1400" b="1" i="1">
                          <a:latin typeface="Cambria Math" panose="02040503050406030204" pitchFamily="18" charset="0"/>
                        </a:rPr>
                        <m:t>𝒙</m:t>
                      </m:r>
                      <m:r>
                        <a:rPr lang="en-GB" sz="1400" b="1" i="1">
                          <a:latin typeface="Cambria Math" panose="02040503050406030204" pitchFamily="18" charset="0"/>
                        </a:rPr>
                        <m:t>+</m:t>
                      </m:r>
                      <m:r>
                        <a:rPr lang="en-GB" sz="1400" b="1" i="1">
                          <a:latin typeface="Cambria Math" panose="02040503050406030204" pitchFamily="18" charset="0"/>
                        </a:rPr>
                        <m:t>𝟏𝟖</m:t>
                      </m:r>
                    </m:oMath>
                  </m:oMathPara>
                </a14:m>
                <a:endParaRPr lang="en-GB" sz="1400" b="1"/>
              </a:p>
            </p:txBody>
          </p:sp>
        </mc:Choice>
        <mc:Fallback>
          <p:sp>
            <p:nvSpPr>
              <p:cNvPr id="35" name="TextBox 34"/>
              <p:cNvSpPr txBox="1">
                <a:spLocks noRot="1" noChangeAspect="1" noMove="1" noResize="1" noEditPoints="1" noAdjustHandles="1" noChangeArrowheads="1" noChangeShapeType="1" noTextEdit="1"/>
              </p:cNvSpPr>
              <p:nvPr/>
            </p:nvSpPr>
            <p:spPr>
              <a:xfrm>
                <a:off x="6600056" y="5013177"/>
                <a:ext cx="3888432" cy="954107"/>
              </a:xfrm>
              <a:prstGeom prst="rect">
                <a:avLst/>
              </a:prstGeom>
              <a:blipFill>
                <a:blip r:embed="rId8"/>
                <a:stretch>
                  <a:fillRect l="-649" b="-3947"/>
                </a:stretch>
              </a:blipFill>
            </p:spPr>
            <p:txBody>
              <a:bodyPr/>
              <a:lstStyle/>
              <a:p>
                <a:r>
                  <a:rPr lang="en-US">
                    <a:noFill/>
                  </a:rPr>
                  <a:t> </a:t>
                </a:r>
              </a:p>
            </p:txBody>
          </p:sp>
        </mc:Fallback>
      </mc:AlternateContent>
      <p:sp>
        <p:nvSpPr>
          <p:cNvPr id="36" name="Rectangle 35"/>
          <p:cNvSpPr/>
          <p:nvPr/>
        </p:nvSpPr>
        <p:spPr>
          <a:xfrm>
            <a:off x="1888078" y="3267854"/>
            <a:ext cx="4207350" cy="3427689"/>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
        <p:nvSpPr>
          <p:cNvPr id="37" name="Rectangle 36"/>
          <p:cNvSpPr/>
          <p:nvPr/>
        </p:nvSpPr>
        <p:spPr>
          <a:xfrm>
            <a:off x="6489837" y="2636912"/>
            <a:ext cx="4126432" cy="4106694"/>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Tree>
    <p:extLst>
      <p:ext uri="{BB962C8B-B14F-4D97-AF65-F5344CB8AC3E}">
        <p14:creationId xmlns:p14="http://schemas.microsoft.com/office/powerpoint/2010/main" val="2354154179"/>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36"/>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36"/>
                                        </p:tgtEl>
                                      </p:cBhvr>
                                    </p:animEffect>
                                    <p:set>
                                      <p:cBhvr>
                                        <p:cTn id="7" dur="1" fill="hold">
                                          <p:stCondLst>
                                            <p:cond delay="499"/>
                                          </p:stCondLst>
                                        </p:cTn>
                                        <p:tgtEl>
                                          <p:spTgt spid="36"/>
                                        </p:tgtEl>
                                        <p:attrNameLst>
                                          <p:attrName>style.visibility</p:attrName>
                                        </p:attrNameLst>
                                      </p:cBhvr>
                                      <p:to>
                                        <p:strVal val="hidden"/>
                                      </p:to>
                                    </p:set>
                                  </p:childTnLst>
                                </p:cTn>
                              </p:par>
                            </p:childTnLst>
                          </p:cTn>
                        </p:par>
                      </p:childTnLst>
                    </p:cTn>
                  </p:par>
                </p:childTnLst>
              </p:cTn>
              <p:nextCondLst>
                <p:cond evt="onClick" delay="0">
                  <p:tgtEl>
                    <p:spTgt spid="36"/>
                  </p:tgtEl>
                </p:cond>
              </p:nextCondLst>
            </p:seq>
            <p:seq concurrent="1" nextAc="seek">
              <p:cTn id="8" restart="whenNotActive" fill="hold" evtFilter="cancelBubble" nodeType="interactiveSeq">
                <p:stCondLst>
                  <p:cond evt="onClick" delay="0">
                    <p:tgtEl>
                      <p:spTgt spid="37"/>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37"/>
                                        </p:tgtEl>
                                      </p:cBhvr>
                                    </p:animEffect>
                                    <p:set>
                                      <p:cBhvr>
                                        <p:cTn id="13" dur="1" fill="hold">
                                          <p:stCondLst>
                                            <p:cond delay="499"/>
                                          </p:stCondLst>
                                        </p:cTn>
                                        <p:tgtEl>
                                          <p:spTgt spid="37"/>
                                        </p:tgtEl>
                                        <p:attrNameLst>
                                          <p:attrName>style.visibility</p:attrName>
                                        </p:attrNameLst>
                                      </p:cBhvr>
                                      <p:to>
                                        <p:strVal val="hidden"/>
                                      </p:to>
                                    </p:set>
                                  </p:childTnLst>
                                </p:cTn>
                              </p:par>
                            </p:childTnLst>
                          </p:cTn>
                        </p:par>
                      </p:childTnLst>
                    </p:cTn>
                  </p:par>
                </p:childTnLst>
              </p:cTn>
              <p:nextCondLst>
                <p:cond evt="onClick" delay="0">
                  <p:tgtEl>
                    <p:spTgt spid="37"/>
                  </p:tgtEl>
                </p:cond>
              </p:nextCondLst>
            </p:seq>
          </p:childTnLst>
        </p:cTn>
      </p:par>
    </p:tnLst>
    <p:bldLst>
      <p:bldP spid="36" grpId="0" animBg="1"/>
      <p:bldP spid="37" grpId="0" animBg="1"/>
    </p:bldLst>
  </p:timing>
</p:sld>
</file>

<file path=ppt/c6/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0" y="1"/>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a:t>Determining the Circle Centre</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mc:AlternateContent xmlns:mc="http://schemas.openxmlformats.org/markup-compatibility/2006">
        <mc:Choice xmlns:a14="http://schemas.microsoft.com/office/drawing/2010/main" Requires="a14">
          <p:sp>
            <p:nvSpPr>
              <p:cNvPr id="5" name="TextBox 4"/>
              <p:cNvSpPr txBox="1"/>
              <p:nvPr/>
            </p:nvSpPr>
            <p:spPr>
              <a:xfrm>
                <a:off x="1915468" y="806480"/>
                <a:ext cx="5332660" cy="2746906"/>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a:t>The points </a:t>
                </a:r>
                <a14:m>
                  <m:oMath xmlns:m="http://schemas.openxmlformats.org/officeDocument/2006/math">
                    <m:r>
                      <a:rPr lang="en-GB" i="1">
                        <a:latin typeface="Cambria Math" panose="02040503050406030204" pitchFamily="18" charset="0"/>
                      </a:rPr>
                      <m:t>𝑃</m:t>
                    </m:r>
                  </m:oMath>
                </a14:m>
                <a:r>
                  <a:rPr lang="en-GB"/>
                  <a:t> and </a:t>
                </a:r>
                <a14:m>
                  <m:oMath xmlns:m="http://schemas.openxmlformats.org/officeDocument/2006/math">
                    <m:r>
                      <a:rPr lang="en-GB" i="1">
                        <a:latin typeface="Cambria Math" panose="02040503050406030204" pitchFamily="18" charset="0"/>
                      </a:rPr>
                      <m:t>𝑄</m:t>
                    </m:r>
                  </m:oMath>
                </a14:m>
                <a:r>
                  <a:rPr lang="en-GB"/>
                  <a:t> lie on a circle with centre </a:t>
                </a:r>
                <a14:m>
                  <m:oMath xmlns:m="http://schemas.openxmlformats.org/officeDocument/2006/math">
                    <m:r>
                      <a:rPr lang="en-GB" i="1">
                        <a:latin typeface="Cambria Math" panose="02040503050406030204" pitchFamily="18" charset="0"/>
                      </a:rPr>
                      <m:t>𝐶</m:t>
                    </m:r>
                  </m:oMath>
                </a14:m>
                <a:r>
                  <a:rPr lang="en-GB"/>
                  <a:t>, as shown in the diagram. The point </a:t>
                </a:r>
                <a14:m>
                  <m:oMath xmlns:m="http://schemas.openxmlformats.org/officeDocument/2006/math">
                    <m:r>
                      <a:rPr lang="en-GB" i="1">
                        <a:latin typeface="Cambria Math" panose="02040503050406030204" pitchFamily="18" charset="0"/>
                      </a:rPr>
                      <m:t>𝑃</m:t>
                    </m:r>
                  </m:oMath>
                </a14:m>
                <a:r>
                  <a:rPr lang="en-GB"/>
                  <a:t> has coordinates </a:t>
                </a:r>
                <a14:m>
                  <m:oMath xmlns:m="http://schemas.openxmlformats.org/officeDocument/2006/math">
                    <m:r>
                      <a:rPr lang="en-GB" i="1">
                        <a:latin typeface="Cambria Math" panose="02040503050406030204" pitchFamily="18" charset="0"/>
                      </a:rPr>
                      <m:t>(−8,−2)</m:t>
                    </m:r>
                  </m:oMath>
                </a14:m>
                <a:r>
                  <a:rPr lang="en-GB"/>
                  <a:t> and the point </a:t>
                </a:r>
                <a14:m>
                  <m:oMath xmlns:m="http://schemas.openxmlformats.org/officeDocument/2006/math">
                    <m:r>
                      <a:rPr lang="en-GB" i="1">
                        <a:latin typeface="Cambria Math" panose="02040503050406030204" pitchFamily="18" charset="0"/>
                      </a:rPr>
                      <m:t>𝑄</m:t>
                    </m:r>
                  </m:oMath>
                </a14:m>
                <a:r>
                  <a:rPr lang="en-GB"/>
                  <a:t> has coordinates </a:t>
                </a:r>
                <a14:m>
                  <m:oMath xmlns:m="http://schemas.openxmlformats.org/officeDocument/2006/math">
                    <m:d>
                      <m:dPr>
                        <m:ctrlPr>
                          <a:rPr lang="en-GB" i="1">
                            <a:latin typeface="Cambria Math" panose="02040503050406030204" pitchFamily="18" charset="0"/>
                          </a:rPr>
                        </m:ctrlPr>
                      </m:dPr>
                      <m:e>
                        <m:r>
                          <a:rPr lang="en-GB" i="1">
                            <a:latin typeface="Cambria Math" panose="02040503050406030204" pitchFamily="18" charset="0"/>
                          </a:rPr>
                          <m:t>2,−6</m:t>
                        </m:r>
                      </m:e>
                    </m:d>
                  </m:oMath>
                </a14:m>
                <a:r>
                  <a:rPr lang="en-GB"/>
                  <a:t>. </a:t>
                </a:r>
                <a14:m>
                  <m:oMath xmlns:m="http://schemas.openxmlformats.org/officeDocument/2006/math">
                    <m:r>
                      <a:rPr lang="en-GB" i="1" dirty="0">
                        <a:latin typeface="Cambria Math" panose="02040503050406030204" pitchFamily="18" charset="0"/>
                      </a:rPr>
                      <m:t>𝑀</m:t>
                    </m:r>
                  </m:oMath>
                </a14:m>
                <a:r>
                  <a:rPr lang="en-GB"/>
                  <a:t> is the midpoint of the line segment </a:t>
                </a:r>
                <a14:m>
                  <m:oMath xmlns:m="http://schemas.openxmlformats.org/officeDocument/2006/math">
                    <m:r>
                      <a:rPr lang="en-GB" i="1">
                        <a:latin typeface="Cambria Math" panose="02040503050406030204" pitchFamily="18" charset="0"/>
                      </a:rPr>
                      <m:t>𝑃𝑄</m:t>
                    </m:r>
                  </m:oMath>
                </a14:m>
                <a:r>
                  <a:rPr lang="en-GB"/>
                  <a:t>.</a:t>
                </a:r>
              </a:p>
              <a:p>
                <a:r>
                  <a:rPr lang="en-GB"/>
                  <a:t>The line </a:t>
                </a:r>
                <a14:m>
                  <m:oMath xmlns:m="http://schemas.openxmlformats.org/officeDocument/2006/math">
                    <m:r>
                      <a:rPr lang="en-GB" i="1">
                        <a:latin typeface="Cambria Math" panose="02040503050406030204" pitchFamily="18" charset="0"/>
                      </a:rPr>
                      <m:t>𝑙</m:t>
                    </m:r>
                  </m:oMath>
                </a14:m>
                <a:r>
                  <a:rPr lang="en-GB"/>
                  <a:t> passes through the points </a:t>
                </a:r>
                <a14:m>
                  <m:oMath xmlns:m="http://schemas.openxmlformats.org/officeDocument/2006/math">
                    <m:r>
                      <a:rPr lang="en-GB" i="1">
                        <a:latin typeface="Cambria Math" panose="02040503050406030204" pitchFamily="18" charset="0"/>
                      </a:rPr>
                      <m:t>𝑀</m:t>
                    </m:r>
                  </m:oMath>
                </a14:m>
                <a:r>
                  <a:rPr lang="en-GB"/>
                  <a:t> and </a:t>
                </a:r>
                <a14:m>
                  <m:oMath xmlns:m="http://schemas.openxmlformats.org/officeDocument/2006/math">
                    <m:r>
                      <a:rPr lang="en-GB" i="1">
                        <a:latin typeface="Cambria Math" panose="02040503050406030204" pitchFamily="18" charset="0"/>
                      </a:rPr>
                      <m:t>𝐶</m:t>
                    </m:r>
                  </m:oMath>
                </a14:m>
                <a:r>
                  <a:rPr lang="en-GB"/>
                  <a:t>.</a:t>
                </a:r>
              </a:p>
              <a:p>
                <a:endParaRPr lang="en-GB" sz="1050"/>
              </a:p>
              <a:p>
                <a:r>
                  <a:rPr lang="en-GB"/>
                  <a:t>a) Find an equation for </a:t>
                </a:r>
                <a14:m>
                  <m:oMath xmlns:m="http://schemas.openxmlformats.org/officeDocument/2006/math">
                    <m:r>
                      <a:rPr lang="en-GB" i="1">
                        <a:latin typeface="Cambria Math" panose="02040503050406030204" pitchFamily="18" charset="0"/>
                      </a:rPr>
                      <m:t>𝑙</m:t>
                    </m:r>
                  </m:oMath>
                </a14:m>
                <a:r>
                  <a:rPr lang="en-GB"/>
                  <a:t>.</a:t>
                </a:r>
              </a:p>
              <a:p>
                <a:r>
                  <a:rPr lang="en-GB"/>
                  <a:t>b) Given that the </a:t>
                </a:r>
                <a14:m>
                  <m:oMath xmlns:m="http://schemas.openxmlformats.org/officeDocument/2006/math">
                    <m:r>
                      <a:rPr lang="en-GB" i="1">
                        <a:latin typeface="Cambria Math" panose="02040503050406030204" pitchFamily="18" charset="0"/>
                      </a:rPr>
                      <m:t>𝑦</m:t>
                    </m:r>
                  </m:oMath>
                </a14:m>
                <a:r>
                  <a:rPr lang="en-GB"/>
                  <a:t>-coordinate of </a:t>
                </a:r>
                <a14:m>
                  <m:oMath xmlns:m="http://schemas.openxmlformats.org/officeDocument/2006/math">
                    <m:r>
                      <a:rPr lang="en-GB" i="1">
                        <a:latin typeface="Cambria Math" panose="02040503050406030204" pitchFamily="18" charset="0"/>
                      </a:rPr>
                      <m:t>𝐶</m:t>
                    </m:r>
                  </m:oMath>
                </a14:m>
                <a:r>
                  <a:rPr lang="en-GB"/>
                  <a:t> is -9:</a:t>
                </a:r>
                <a:br>
                  <a:rPr lang="en-GB"/>
                </a:br>
                <a:r>
                  <a:rPr lang="en-GB"/>
                  <a:t>    </a:t>
                </a:r>
                <a:r>
                  <a:rPr lang="en-GB" err="1"/>
                  <a:t>i</a:t>
                </a:r>
                <a:r>
                  <a:rPr lang="en-GB"/>
                  <a:t>) show that the </a:t>
                </a:r>
                <a14:m>
                  <m:oMath xmlns:m="http://schemas.openxmlformats.org/officeDocument/2006/math">
                    <m:r>
                      <a:rPr lang="en-GB" i="1">
                        <a:latin typeface="Cambria Math" panose="02040503050406030204" pitchFamily="18" charset="0"/>
                      </a:rPr>
                      <m:t>𝑥</m:t>
                    </m:r>
                  </m:oMath>
                </a14:m>
                <a:r>
                  <a:rPr lang="en-GB"/>
                  <a:t>-coordinate of </a:t>
                </a:r>
                <a14:m>
                  <m:oMath xmlns:m="http://schemas.openxmlformats.org/officeDocument/2006/math">
                    <m:r>
                      <a:rPr lang="en-GB" i="1">
                        <a:latin typeface="Cambria Math" panose="02040503050406030204" pitchFamily="18" charset="0"/>
                      </a:rPr>
                      <m:t>𝐶</m:t>
                    </m:r>
                  </m:oMath>
                </a14:m>
                <a:r>
                  <a:rPr lang="en-GB"/>
                  <a:t> is -5.</a:t>
                </a:r>
                <a:br>
                  <a:rPr lang="en-GB"/>
                </a:br>
                <a:r>
                  <a:rPr lang="en-GB"/>
                  <a:t>    ii) find an equation of the circle.</a:t>
                </a:r>
              </a:p>
            </p:txBody>
          </p:sp>
        </mc:Choice>
        <mc:Fallback>
          <p:sp>
            <p:nvSpPr>
              <p:cNvPr id="5" name="TextBox 4"/>
              <p:cNvSpPr txBox="1">
                <a:spLocks noRot="1" noChangeAspect="1" noMove="1" noResize="1" noEditPoints="1" noAdjustHandles="1" noChangeArrowheads="1" noChangeShapeType="1" noTextEdit="1"/>
              </p:cNvSpPr>
              <p:nvPr/>
            </p:nvSpPr>
            <p:spPr>
              <a:xfrm>
                <a:off x="1915468" y="806480"/>
                <a:ext cx="5332660" cy="2746906"/>
              </a:xfrm>
              <a:prstGeom prst="rect">
                <a:avLst/>
              </a:prstGeom>
              <a:blipFill>
                <a:blip r:embed="rId2"/>
                <a:stretch>
                  <a:fillRect/>
                </a:stretch>
              </a:blipFill>
              <a:effectLst>
                <a:outerShdw blurRad="63500" sx="102000" sy="102000" algn="ctr" rotWithShape="0">
                  <a:prstClr val="black">
                    <a:alpha val="40000"/>
                  </a:prstClr>
                </a:outerShdw>
              </a:effectLst>
            </p:spPr>
            <p:txBody>
              <a:bodyPr/>
              <a:lstStyle/>
              <a:p>
                <a:r>
                  <a:rPr lang="en-US">
                    <a:noFill/>
                  </a:rPr>
                  <a:t> </a:t>
                </a:r>
              </a:p>
            </p:txBody>
          </p:sp>
        </mc:Fallback>
      </mc:AlternateContent>
      <p:cxnSp>
        <p:nvCxnSpPr>
          <p:cNvPr id="7" name="Straight Arrow Connector 6"/>
          <p:cNvCxnSpPr/>
          <p:nvPr/>
        </p:nvCxnSpPr>
        <p:spPr>
          <a:xfrm>
            <a:off x="7739484" y="1591030"/>
            <a:ext cx="2016224"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mc:Choice xmlns:a14="http://schemas.microsoft.com/office/drawing/2010/main" Requires="a14">
          <p:sp>
            <p:nvSpPr>
              <p:cNvPr id="8" name="TextBox 7"/>
              <p:cNvSpPr txBox="1"/>
              <p:nvPr/>
            </p:nvSpPr>
            <p:spPr>
              <a:xfrm>
                <a:off x="9755708" y="1375006"/>
                <a:ext cx="360040" cy="369332"/>
              </a:xfrm>
              <a:prstGeom prst="rect">
                <a:avLst/>
              </a:prstGeom>
              <a:noFill/>
            </p:spPr>
            <p:txBody>
              <a:bodyPr wrap="square" rtlCol="0">
                <a:spAutoFit/>
              </a:bodyPr>
              <a:lstStyle/>
              <a:p>
                <a:pPr/>
                <a14:m>
                  <m:oMathPara xmlns:m="http://schemas.openxmlformats.org/officeDocument/2006/math">
                    <m:oMath>
                      <m:r>
                        <a:rPr lang="en-GB" i="1">
                          <a:latin typeface="Cambria Math" panose="02040503050406030204" pitchFamily="18" charset="0"/>
                        </a:rPr>
                        <m:t>𝑥</m:t>
                      </m:r>
                    </m:oMath>
                  </m:oMathPara>
                </a14:m>
                <a:endParaRPr lang="en-GB"/>
              </a:p>
            </p:txBody>
          </p:sp>
        </mc:Choice>
        <mc:Fallback>
          <p:sp>
            <p:nvSpPr>
              <p:cNvPr id="8" name="TextBox 7"/>
              <p:cNvSpPr txBox="1">
                <a:spLocks noRot="1" noChangeAspect="1" noMove="1" noResize="1" noEditPoints="1" noAdjustHandles="1" noChangeArrowheads="1" noChangeShapeType="1" noTextEdit="1"/>
              </p:cNvSpPr>
              <p:nvPr/>
            </p:nvSpPr>
            <p:spPr>
              <a:xfrm>
                <a:off x="9755708" y="1375006"/>
                <a:ext cx="360040" cy="369332"/>
              </a:xfrm>
              <a:prstGeom prst="rect">
                <a:avLst/>
              </a:prstGeom>
              <a:blipFill>
                <a:blip r:embed="rId3"/>
                <a:stretch>
                  <a:fillRect/>
                </a:stretch>
              </a:blipFill>
            </p:spPr>
            <p:txBody>
              <a:bodyPr/>
              <a:lstStyle/>
              <a:p>
                <a:r>
                  <a:rPr lang="en-US">
                    <a:noFill/>
                  </a:rPr>
                  <a:t> </a:t>
                </a:r>
              </a:p>
            </p:txBody>
          </p:sp>
        </mc:Fallback>
      </mc:AlternateContent>
      <p:cxnSp>
        <p:nvCxnSpPr>
          <p:cNvPr id="9" name="Straight Arrow Connector 8"/>
          <p:cNvCxnSpPr/>
          <p:nvPr/>
        </p:nvCxnSpPr>
        <p:spPr>
          <a:xfrm flipV="1">
            <a:off x="9035628" y="912726"/>
            <a:ext cx="0" cy="329192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mc:Choice xmlns:a14="http://schemas.microsoft.com/office/drawing/2010/main" Requires="a14">
          <p:sp>
            <p:nvSpPr>
              <p:cNvPr id="13" name="TextBox 12"/>
              <p:cNvSpPr txBox="1"/>
              <p:nvPr/>
            </p:nvSpPr>
            <p:spPr>
              <a:xfrm>
                <a:off x="8868308" y="548680"/>
                <a:ext cx="360040" cy="369332"/>
              </a:xfrm>
              <a:prstGeom prst="rect">
                <a:avLst/>
              </a:prstGeom>
              <a:noFill/>
            </p:spPr>
            <p:txBody>
              <a:bodyPr wrap="square" rtlCol="0">
                <a:spAutoFit/>
              </a:bodyPr>
              <a:lstStyle/>
              <a:p>
                <a:pPr/>
                <a14:m>
                  <m:oMathPara xmlns:m="http://schemas.openxmlformats.org/officeDocument/2006/math">
                    <m:oMath>
                      <m:r>
                        <a:rPr lang="en-GB" i="1">
                          <a:latin typeface="Cambria Math" panose="02040503050406030204" pitchFamily="18" charset="0"/>
                        </a:rPr>
                        <m:t>𝑦</m:t>
                      </m:r>
                    </m:oMath>
                  </m:oMathPara>
                </a14:m>
                <a:endParaRPr lang="en-GB"/>
              </a:p>
            </p:txBody>
          </p:sp>
        </mc:Choice>
        <mc:Fallback>
          <p:sp>
            <p:nvSpPr>
              <p:cNvPr id="13" name="TextBox 12"/>
              <p:cNvSpPr txBox="1">
                <a:spLocks noRot="1" noChangeAspect="1" noMove="1" noResize="1" noEditPoints="1" noAdjustHandles="1" noChangeArrowheads="1" noChangeShapeType="1" noTextEdit="1"/>
              </p:cNvSpPr>
              <p:nvPr/>
            </p:nvSpPr>
            <p:spPr>
              <a:xfrm>
                <a:off x="8868308" y="548680"/>
                <a:ext cx="360040" cy="369332"/>
              </a:xfrm>
              <a:prstGeom prst="rect">
                <a:avLst/>
              </a:prstGeom>
              <a:blipFill>
                <a:blip r:embed="rId4"/>
                <a:stretch>
                  <a:fillRect b="-6667"/>
                </a:stretch>
              </a:blipFill>
            </p:spPr>
            <p:txBody>
              <a:bodyPr/>
              <a:lstStyle/>
              <a:p>
                <a:r>
                  <a:rPr lang="en-US">
                    <a:noFill/>
                  </a:rPr>
                  <a:t> </a:t>
                </a:r>
              </a:p>
            </p:txBody>
          </p:sp>
        </mc:Fallback>
      </mc:AlternateContent>
      <p:sp>
        <p:nvSpPr>
          <p:cNvPr id="14" name="Oval 13"/>
          <p:cNvSpPr/>
          <p:nvPr/>
        </p:nvSpPr>
        <p:spPr>
          <a:xfrm>
            <a:off x="7968207" y="2007962"/>
            <a:ext cx="137568" cy="136634"/>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sp>
        <p:nvSpPr>
          <p:cNvPr id="15" name="Oval 14"/>
          <p:cNvSpPr/>
          <p:nvPr/>
        </p:nvSpPr>
        <p:spPr>
          <a:xfrm>
            <a:off x="9326884" y="2404450"/>
            <a:ext cx="137568" cy="136634"/>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sp>
        <p:nvSpPr>
          <p:cNvPr id="16" name="Oval 15"/>
          <p:cNvSpPr/>
          <p:nvPr/>
        </p:nvSpPr>
        <p:spPr>
          <a:xfrm>
            <a:off x="7471767" y="1953888"/>
            <a:ext cx="2100859" cy="2086184"/>
          </a:xfrm>
          <a:prstGeom prst="ellipse">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GB"/>
          </a:p>
        </p:txBody>
      </p:sp>
      <mc:AlternateContent xmlns:mc="http://schemas.openxmlformats.org/markup-compatibility/2006">
        <mc:Choice xmlns:a14="http://schemas.microsoft.com/office/drawing/2010/main" Requires="a14">
          <p:sp>
            <p:nvSpPr>
              <p:cNvPr id="17" name="TextBox 16"/>
              <p:cNvSpPr txBox="1"/>
              <p:nvPr/>
            </p:nvSpPr>
            <p:spPr>
              <a:xfrm>
                <a:off x="7370044" y="1696714"/>
                <a:ext cx="992907" cy="307777"/>
              </a:xfrm>
              <a:prstGeom prst="rect">
                <a:avLst/>
              </a:prstGeom>
              <a:noFill/>
            </p:spPr>
            <p:txBody>
              <a:bodyPr wrap="square" rtlCol="0">
                <a:spAutoFit/>
              </a:bodyPr>
              <a:lstStyle/>
              <a:p>
                <a:pPr/>
                <a14:m>
                  <m:oMathPara xmlns:m="http://schemas.openxmlformats.org/officeDocument/2006/math">
                    <m:oMath>
                      <m:r>
                        <a:rPr lang="en-GB" sz="1400" i="1">
                          <a:latin typeface="Cambria Math" panose="02040503050406030204" pitchFamily="18" charset="0"/>
                        </a:rPr>
                        <m:t>𝑃</m:t>
                      </m:r>
                      <m:d>
                        <m:dPr>
                          <m:ctrlPr>
                            <a:rPr lang="en-GB" sz="1400" i="1">
                              <a:latin typeface="Cambria Math" panose="02040503050406030204" pitchFamily="18" charset="0"/>
                            </a:rPr>
                          </m:ctrlPr>
                        </m:dPr>
                        <m:e>
                          <m:r>
                            <a:rPr lang="en-GB" sz="1400" i="1">
                              <a:latin typeface="Cambria Math" panose="02040503050406030204" pitchFamily="18" charset="0"/>
                            </a:rPr>
                            <m:t>−8,−2</m:t>
                          </m:r>
                        </m:e>
                      </m:d>
                    </m:oMath>
                  </m:oMathPara>
                </a14:m>
                <a:endParaRPr lang="en-GB"/>
              </a:p>
            </p:txBody>
          </p:sp>
        </mc:Choice>
        <mc:Fallback>
          <p:sp>
            <p:nvSpPr>
              <p:cNvPr id="17" name="TextBox 16"/>
              <p:cNvSpPr txBox="1">
                <a:spLocks noRot="1" noChangeAspect="1" noMove="1" noResize="1" noEditPoints="1" noAdjustHandles="1" noChangeArrowheads="1" noChangeShapeType="1" noTextEdit="1"/>
              </p:cNvSpPr>
              <p:nvPr/>
            </p:nvSpPr>
            <p:spPr>
              <a:xfrm>
                <a:off x="7370044" y="1696714"/>
                <a:ext cx="992907" cy="307777"/>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8" name="TextBox 17"/>
              <p:cNvSpPr txBox="1"/>
              <p:nvPr/>
            </p:nvSpPr>
            <p:spPr>
              <a:xfrm>
                <a:off x="9509572" y="2314629"/>
                <a:ext cx="992907" cy="307777"/>
              </a:xfrm>
              <a:prstGeom prst="rect">
                <a:avLst/>
              </a:prstGeom>
              <a:noFill/>
            </p:spPr>
            <p:txBody>
              <a:bodyPr wrap="square" rtlCol="0">
                <a:spAutoFit/>
              </a:bodyPr>
              <a:lstStyle/>
              <a:p>
                <a:pPr/>
                <a14:m>
                  <m:oMathPara xmlns:m="http://schemas.openxmlformats.org/officeDocument/2006/math">
                    <m:oMath>
                      <m:r>
                        <a:rPr lang="en-GB" sz="1400" i="1">
                          <a:latin typeface="Cambria Math" panose="02040503050406030204" pitchFamily="18" charset="0"/>
                        </a:rPr>
                        <m:t>𝑄</m:t>
                      </m:r>
                      <m:d>
                        <m:dPr>
                          <m:ctrlPr>
                            <a:rPr lang="en-GB" sz="1400" i="1">
                              <a:latin typeface="Cambria Math" panose="02040503050406030204" pitchFamily="18" charset="0"/>
                            </a:rPr>
                          </m:ctrlPr>
                        </m:dPr>
                        <m:e>
                          <m:r>
                            <a:rPr lang="en-GB" sz="1400" i="1">
                              <a:latin typeface="Cambria Math" panose="02040503050406030204" pitchFamily="18" charset="0"/>
                            </a:rPr>
                            <m:t>2,−6</m:t>
                          </m:r>
                        </m:e>
                      </m:d>
                    </m:oMath>
                  </m:oMathPara>
                </a14:m>
                <a:endParaRPr lang="en-GB"/>
              </a:p>
            </p:txBody>
          </p:sp>
        </mc:Choice>
        <mc:Fallback>
          <p:sp>
            <p:nvSpPr>
              <p:cNvPr id="18" name="TextBox 17"/>
              <p:cNvSpPr txBox="1">
                <a:spLocks noRot="1" noChangeAspect="1" noMove="1" noResize="1" noEditPoints="1" noAdjustHandles="1" noChangeArrowheads="1" noChangeShapeType="1" noTextEdit="1"/>
              </p:cNvSpPr>
              <p:nvPr/>
            </p:nvSpPr>
            <p:spPr>
              <a:xfrm>
                <a:off x="9509572" y="2314629"/>
                <a:ext cx="992907" cy="307777"/>
              </a:xfrm>
              <a:prstGeom prst="rect">
                <a:avLst/>
              </a:prstGeom>
              <a:blipFill>
                <a:blip r:embed="rId6"/>
                <a:stretch>
                  <a:fillRect b="-8000"/>
                </a:stretch>
              </a:blipFill>
            </p:spPr>
            <p:txBody>
              <a:bodyPr/>
              <a:lstStyle/>
              <a:p>
                <a:r>
                  <a:rPr lang="en-US">
                    <a:noFill/>
                  </a:rPr>
                  <a:t> </a:t>
                </a:r>
              </a:p>
            </p:txBody>
          </p:sp>
        </mc:Fallback>
      </mc:AlternateContent>
      <p:cxnSp>
        <p:nvCxnSpPr>
          <p:cNvPr id="21" name="Straight Connector 20"/>
          <p:cNvCxnSpPr/>
          <p:nvPr/>
        </p:nvCxnSpPr>
        <p:spPr>
          <a:xfrm>
            <a:off x="8070850" y="2100146"/>
            <a:ext cx="1307930" cy="381464"/>
          </a:xfrm>
          <a:prstGeom prst="line">
            <a:avLst/>
          </a:prstGeom>
        </p:spPr>
        <p:style>
          <a:lnRef idx="1">
            <a:schemeClr val="dk1"/>
          </a:lnRef>
          <a:fillRef idx="0">
            <a:schemeClr val="dk1"/>
          </a:fillRef>
          <a:effectRef idx="0">
            <a:schemeClr val="dk1"/>
          </a:effectRef>
          <a:fontRef idx="minor">
            <a:schemeClr val="tx1"/>
          </a:fontRef>
        </p:style>
      </p:cxnSp>
      <p:cxnSp>
        <p:nvCxnSpPr>
          <p:cNvPr id="23" name="Straight Connector 22"/>
          <p:cNvCxnSpPr/>
          <p:nvPr/>
        </p:nvCxnSpPr>
        <p:spPr>
          <a:xfrm flipV="1">
            <a:off x="8221980" y="1287346"/>
            <a:ext cx="795020" cy="2811780"/>
          </a:xfrm>
          <a:prstGeom prst="line">
            <a:avLst/>
          </a:prstGeom>
        </p:spPr>
        <p:style>
          <a:lnRef idx="1">
            <a:schemeClr val="dk1"/>
          </a:lnRef>
          <a:fillRef idx="0">
            <a:schemeClr val="dk1"/>
          </a:fillRef>
          <a:effectRef idx="0">
            <a:schemeClr val="dk1"/>
          </a:effectRef>
          <a:fontRef idx="minor">
            <a:schemeClr val="tx1"/>
          </a:fontRef>
        </p:style>
      </p:cxnSp>
      <p:sp>
        <p:nvSpPr>
          <p:cNvPr id="29" name="Oval 28"/>
          <p:cNvSpPr/>
          <p:nvPr/>
        </p:nvSpPr>
        <p:spPr>
          <a:xfrm>
            <a:off x="8453411" y="2928663"/>
            <a:ext cx="137568" cy="136634"/>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mc:AlternateContent xmlns:mc="http://schemas.openxmlformats.org/markup-compatibility/2006">
        <mc:Choice xmlns:a14="http://schemas.microsoft.com/office/drawing/2010/main" Requires="a14">
          <p:sp>
            <p:nvSpPr>
              <p:cNvPr id="30" name="TextBox 29"/>
              <p:cNvSpPr txBox="1"/>
              <p:nvPr/>
            </p:nvSpPr>
            <p:spPr>
              <a:xfrm>
                <a:off x="8168640" y="2674300"/>
                <a:ext cx="504446" cy="307777"/>
              </a:xfrm>
              <a:prstGeom prst="rect">
                <a:avLst/>
              </a:prstGeom>
              <a:noFill/>
            </p:spPr>
            <p:txBody>
              <a:bodyPr wrap="square" rtlCol="0">
                <a:spAutoFit/>
              </a:bodyPr>
              <a:lstStyle/>
              <a:p>
                <a:pPr/>
                <a14:m>
                  <m:oMathPara xmlns:m="http://schemas.openxmlformats.org/officeDocument/2006/math">
                    <m:oMath>
                      <m:r>
                        <a:rPr lang="en-GB" sz="1400" i="1">
                          <a:latin typeface="Cambria Math" panose="02040503050406030204" pitchFamily="18" charset="0"/>
                        </a:rPr>
                        <m:t>𝐶</m:t>
                      </m:r>
                    </m:oMath>
                  </m:oMathPara>
                </a14:m>
                <a:endParaRPr lang="en-GB"/>
              </a:p>
            </p:txBody>
          </p:sp>
        </mc:Choice>
        <mc:Fallback>
          <p:sp>
            <p:nvSpPr>
              <p:cNvPr id="30" name="TextBox 29"/>
              <p:cNvSpPr txBox="1">
                <a:spLocks noRot="1" noChangeAspect="1" noMove="1" noResize="1" noEditPoints="1" noAdjustHandles="1" noChangeArrowheads="1" noChangeShapeType="1" noTextEdit="1"/>
              </p:cNvSpPr>
              <p:nvPr/>
            </p:nvSpPr>
            <p:spPr>
              <a:xfrm>
                <a:off x="8168640" y="2674300"/>
                <a:ext cx="504446" cy="307777"/>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1" name="TextBox 30"/>
              <p:cNvSpPr txBox="1"/>
              <p:nvPr/>
            </p:nvSpPr>
            <p:spPr>
              <a:xfrm>
                <a:off x="8014908" y="3559684"/>
                <a:ext cx="504446" cy="307777"/>
              </a:xfrm>
              <a:prstGeom prst="rect">
                <a:avLst/>
              </a:prstGeom>
              <a:noFill/>
            </p:spPr>
            <p:txBody>
              <a:bodyPr wrap="square" rtlCol="0">
                <a:spAutoFit/>
              </a:bodyPr>
              <a:lstStyle/>
              <a:p>
                <a:pPr/>
                <a14:m>
                  <m:oMathPara xmlns:m="http://schemas.openxmlformats.org/officeDocument/2006/math">
                    <m:oMath>
                      <m:r>
                        <a:rPr lang="en-GB" sz="1400" i="1">
                          <a:latin typeface="Cambria Math" panose="02040503050406030204" pitchFamily="18" charset="0"/>
                        </a:rPr>
                        <m:t>𝑙</m:t>
                      </m:r>
                    </m:oMath>
                  </m:oMathPara>
                </a14:m>
                <a:endParaRPr lang="en-GB"/>
              </a:p>
            </p:txBody>
          </p:sp>
        </mc:Choice>
        <mc:Fallback>
          <p:sp>
            <p:nvSpPr>
              <p:cNvPr id="31" name="TextBox 30"/>
              <p:cNvSpPr txBox="1">
                <a:spLocks noRot="1" noChangeAspect="1" noMove="1" noResize="1" noEditPoints="1" noAdjustHandles="1" noChangeArrowheads="1" noChangeShapeType="1" noTextEdit="1"/>
              </p:cNvSpPr>
              <p:nvPr/>
            </p:nvSpPr>
            <p:spPr>
              <a:xfrm>
                <a:off x="8014908" y="3559684"/>
                <a:ext cx="504446" cy="307777"/>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2" name="TextBox 31"/>
              <p:cNvSpPr txBox="1"/>
              <p:nvPr/>
            </p:nvSpPr>
            <p:spPr>
              <a:xfrm>
                <a:off x="1993478" y="3699793"/>
                <a:ext cx="5540376" cy="1535933"/>
              </a:xfrm>
              <a:prstGeom prst="rect">
                <a:avLst/>
              </a:prstGeom>
              <a:noFill/>
            </p:spPr>
            <p:txBody>
              <a:bodyPr wrap="square" rtlCol="0">
                <a:spAutoFit/>
              </a:bodyPr>
              <a:lstStyle/>
              <a:p>
                <a:r>
                  <a:rPr lang="en-GB" sz="1600"/>
                  <a:t>We know the line going through the midpoint of a chord and a centre of the circle is the perpendicular bisector of the chord.</a:t>
                </a:r>
              </a:p>
              <a:p>
                <a14:m>
                  <m:oMath xmlns:m="http://schemas.openxmlformats.org/officeDocument/2006/math">
                    <m:r>
                      <a:rPr lang="en-GB" sz="1600" i="1">
                        <a:latin typeface="Cambria Math" panose="02040503050406030204" pitchFamily="18" charset="0"/>
                      </a:rPr>
                      <m:t>𝑀</m:t>
                    </m:r>
                    <m:r>
                      <a:rPr lang="en-GB" sz="1600" i="1">
                        <a:latin typeface="Cambria Math" panose="02040503050406030204" pitchFamily="18" charset="0"/>
                      </a:rPr>
                      <m:t>(−3, −4)</m:t>
                    </m:r>
                  </m:oMath>
                </a14:m>
                <a:r>
                  <a:rPr lang="en-GB" sz="1600"/>
                  <a:t> </a:t>
                </a:r>
              </a:p>
              <a:p>
                <a14:m>
                  <m:oMath xmlns:m="http://schemas.openxmlformats.org/officeDocument/2006/math">
                    <m:sSub>
                      <m:sSubPr>
                        <m:ctrlPr>
                          <a:rPr lang="en-GB" sz="1600" i="1">
                            <a:latin typeface="Cambria Math" panose="02040503050406030204" pitchFamily="18" charset="0"/>
                          </a:rPr>
                        </m:ctrlPr>
                      </m:sSubPr>
                      <m:e>
                        <m:r>
                          <a:rPr lang="en-GB" sz="1600" i="1">
                            <a:latin typeface="Cambria Math" panose="02040503050406030204" pitchFamily="18" charset="0"/>
                          </a:rPr>
                          <m:t>𝑚</m:t>
                        </m:r>
                      </m:e>
                      <m:sub>
                        <m:r>
                          <a:rPr lang="en-GB" sz="1600" i="1">
                            <a:latin typeface="Cambria Math" panose="02040503050406030204" pitchFamily="18" charset="0"/>
                          </a:rPr>
                          <m:t>𝑃𝑄</m:t>
                        </m:r>
                      </m:sub>
                    </m:sSub>
                    <m:r>
                      <a:rPr lang="en-GB" sz="1600" i="1">
                        <a:latin typeface="Cambria Math" panose="02040503050406030204" pitchFamily="18" charset="0"/>
                      </a:rPr>
                      <m:t>=−</m:t>
                    </m:r>
                    <m:f>
                      <m:fPr>
                        <m:ctrlPr>
                          <a:rPr lang="en-GB" sz="1600" i="1">
                            <a:latin typeface="Cambria Math" panose="02040503050406030204" pitchFamily="18" charset="0"/>
                          </a:rPr>
                        </m:ctrlPr>
                      </m:fPr>
                      <m:num>
                        <m:r>
                          <a:rPr lang="en-GB" sz="1600" i="1">
                            <a:latin typeface="Cambria Math" panose="02040503050406030204" pitchFamily="18" charset="0"/>
                          </a:rPr>
                          <m:t>4</m:t>
                        </m:r>
                      </m:num>
                      <m:den>
                        <m:r>
                          <a:rPr lang="en-GB" sz="1600" i="1">
                            <a:latin typeface="Cambria Math" panose="02040503050406030204" pitchFamily="18" charset="0"/>
                          </a:rPr>
                          <m:t>10</m:t>
                        </m:r>
                      </m:den>
                    </m:f>
                    <m:r>
                      <a:rPr lang="en-GB" sz="1600" i="1">
                        <a:latin typeface="Cambria Math" panose="02040503050406030204" pitchFamily="18" charset="0"/>
                      </a:rPr>
                      <m:t>=−</m:t>
                    </m:r>
                    <m:f>
                      <m:fPr>
                        <m:ctrlPr>
                          <a:rPr lang="en-GB" sz="1600" i="1">
                            <a:latin typeface="Cambria Math" panose="02040503050406030204" pitchFamily="18" charset="0"/>
                          </a:rPr>
                        </m:ctrlPr>
                      </m:fPr>
                      <m:num>
                        <m:r>
                          <a:rPr lang="en-GB" sz="1600" i="1">
                            <a:latin typeface="Cambria Math" panose="02040503050406030204" pitchFamily="18" charset="0"/>
                          </a:rPr>
                          <m:t>2</m:t>
                        </m:r>
                      </m:num>
                      <m:den>
                        <m:r>
                          <a:rPr lang="en-GB" sz="1600" i="1">
                            <a:latin typeface="Cambria Math" panose="02040503050406030204" pitchFamily="18" charset="0"/>
                          </a:rPr>
                          <m:t>5</m:t>
                        </m:r>
                      </m:den>
                    </m:f>
                    <m:r>
                      <a:rPr lang="en-GB" sz="1600" i="1">
                        <a:latin typeface="Cambria Math" panose="02040503050406030204" pitchFamily="18" charset="0"/>
                      </a:rPr>
                      <m:t>   ∴  </m:t>
                    </m:r>
                    <m:sSub>
                      <m:sSubPr>
                        <m:ctrlPr>
                          <a:rPr lang="en-GB" sz="1600" i="1">
                            <a:latin typeface="Cambria Math" panose="02040503050406030204" pitchFamily="18" charset="0"/>
                          </a:rPr>
                        </m:ctrlPr>
                      </m:sSubPr>
                      <m:e>
                        <m:r>
                          <a:rPr lang="en-GB" sz="1600" i="1">
                            <a:latin typeface="Cambria Math" panose="02040503050406030204" pitchFamily="18" charset="0"/>
                          </a:rPr>
                          <m:t>𝑚</m:t>
                        </m:r>
                      </m:e>
                      <m:sub>
                        <m:r>
                          <a:rPr lang="en-GB" sz="1600" i="1">
                            <a:latin typeface="Cambria Math" panose="02040503050406030204" pitchFamily="18" charset="0"/>
                          </a:rPr>
                          <m:t>𝑀𝐶</m:t>
                        </m:r>
                      </m:sub>
                    </m:sSub>
                    <m:r>
                      <a:rPr lang="en-GB" sz="1600" i="1">
                        <a:latin typeface="Cambria Math" panose="02040503050406030204" pitchFamily="18" charset="0"/>
                      </a:rPr>
                      <m:t>=</m:t>
                    </m:r>
                    <m:f>
                      <m:fPr>
                        <m:ctrlPr>
                          <a:rPr lang="en-GB" sz="1600" i="1">
                            <a:latin typeface="Cambria Math" panose="02040503050406030204" pitchFamily="18" charset="0"/>
                          </a:rPr>
                        </m:ctrlPr>
                      </m:fPr>
                      <m:num>
                        <m:r>
                          <a:rPr lang="en-GB" sz="1600" i="1">
                            <a:latin typeface="Cambria Math" panose="02040503050406030204" pitchFamily="18" charset="0"/>
                          </a:rPr>
                          <m:t>5</m:t>
                        </m:r>
                      </m:num>
                      <m:den>
                        <m:r>
                          <a:rPr lang="en-GB" sz="1600" i="1">
                            <a:latin typeface="Cambria Math" panose="02040503050406030204" pitchFamily="18" charset="0"/>
                          </a:rPr>
                          <m:t>2</m:t>
                        </m:r>
                      </m:den>
                    </m:f>
                  </m:oMath>
                </a14:m>
                <a:r>
                  <a:rPr lang="en-GB" sz="1600"/>
                  <a:t> </a:t>
                </a:r>
              </a:p>
              <a:p>
                <a:r>
                  <a:rPr lang="en-GB" sz="1600"/>
                  <a:t>Equation of </a:t>
                </a:r>
                <a14:m>
                  <m:oMath xmlns:m="http://schemas.openxmlformats.org/officeDocument/2006/math">
                    <m:r>
                      <a:rPr lang="en-GB" sz="1600" i="1">
                        <a:latin typeface="Cambria Math" panose="02040503050406030204" pitchFamily="18" charset="0"/>
                      </a:rPr>
                      <m:t>𝑙</m:t>
                    </m:r>
                  </m:oMath>
                </a14:m>
                <a:r>
                  <a:rPr lang="en-GB" sz="1600"/>
                  <a:t>:    </a:t>
                </a:r>
                <a14:m>
                  <m:oMath xmlns:m="http://schemas.openxmlformats.org/officeDocument/2006/math">
                    <m:r>
                      <a:rPr lang="en-GB" sz="1600" i="1">
                        <a:latin typeface="Cambria Math" panose="02040503050406030204" pitchFamily="18" charset="0"/>
                      </a:rPr>
                      <m:t>𝑦</m:t>
                    </m:r>
                    <m:r>
                      <a:rPr lang="en-GB" sz="1600" i="1">
                        <a:latin typeface="Cambria Math" panose="02040503050406030204" pitchFamily="18" charset="0"/>
                      </a:rPr>
                      <m:t>+4=</m:t>
                    </m:r>
                    <m:f>
                      <m:fPr>
                        <m:ctrlPr>
                          <a:rPr lang="en-GB" sz="1600" i="1">
                            <a:latin typeface="Cambria Math" panose="02040503050406030204" pitchFamily="18" charset="0"/>
                          </a:rPr>
                        </m:ctrlPr>
                      </m:fPr>
                      <m:num>
                        <m:r>
                          <a:rPr lang="en-GB" sz="1600" i="1">
                            <a:latin typeface="Cambria Math" panose="02040503050406030204" pitchFamily="18" charset="0"/>
                          </a:rPr>
                          <m:t>5</m:t>
                        </m:r>
                      </m:num>
                      <m:den>
                        <m:r>
                          <a:rPr lang="en-GB" sz="1600" i="1">
                            <a:latin typeface="Cambria Math" panose="02040503050406030204" pitchFamily="18" charset="0"/>
                          </a:rPr>
                          <m:t>2</m:t>
                        </m:r>
                      </m:den>
                    </m:f>
                    <m:d>
                      <m:dPr>
                        <m:ctrlPr>
                          <a:rPr lang="en-GB" sz="1600" i="1">
                            <a:latin typeface="Cambria Math" panose="02040503050406030204" pitchFamily="18" charset="0"/>
                          </a:rPr>
                        </m:ctrlPr>
                      </m:dPr>
                      <m:e>
                        <m:r>
                          <a:rPr lang="en-GB" sz="1600" i="1">
                            <a:latin typeface="Cambria Math" panose="02040503050406030204" pitchFamily="18" charset="0"/>
                          </a:rPr>
                          <m:t>𝑥</m:t>
                        </m:r>
                        <m:r>
                          <a:rPr lang="en-GB" sz="1600" i="1">
                            <a:latin typeface="Cambria Math" panose="02040503050406030204" pitchFamily="18" charset="0"/>
                          </a:rPr>
                          <m:t>+3</m:t>
                        </m:r>
                      </m:e>
                    </m:d>
                  </m:oMath>
                </a14:m>
                <a:endParaRPr lang="en-GB"/>
              </a:p>
            </p:txBody>
          </p:sp>
        </mc:Choice>
        <mc:Fallback>
          <p:sp>
            <p:nvSpPr>
              <p:cNvPr id="32" name="TextBox 31"/>
              <p:cNvSpPr txBox="1">
                <a:spLocks noRot="1" noChangeAspect="1" noMove="1" noResize="1" noEditPoints="1" noAdjustHandles="1" noChangeArrowheads="1" noChangeShapeType="1" noTextEdit="1"/>
              </p:cNvSpPr>
              <p:nvPr/>
            </p:nvSpPr>
            <p:spPr>
              <a:xfrm>
                <a:off x="1993478" y="3699793"/>
                <a:ext cx="5540376" cy="1535933"/>
              </a:xfrm>
              <a:prstGeom prst="rect">
                <a:avLst/>
              </a:prstGeom>
              <a:blipFill>
                <a:blip r:embed="rId9"/>
                <a:stretch>
                  <a:fillRect l="-457" t="-1639" b="-82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3" name="TextBox 32"/>
              <p:cNvSpPr txBox="1"/>
              <p:nvPr/>
            </p:nvSpPr>
            <p:spPr>
              <a:xfrm>
                <a:off x="8357814" y="1938021"/>
                <a:ext cx="504446" cy="307777"/>
              </a:xfrm>
              <a:prstGeom prst="rect">
                <a:avLst/>
              </a:prstGeom>
              <a:noFill/>
            </p:spPr>
            <p:txBody>
              <a:bodyPr wrap="square" rtlCol="0">
                <a:spAutoFit/>
              </a:bodyPr>
              <a:lstStyle/>
              <a:p>
                <a:pPr/>
                <a14:m>
                  <m:oMathPara xmlns:m="http://schemas.openxmlformats.org/officeDocument/2006/math">
                    <m:oMath>
                      <m:r>
                        <a:rPr lang="en-GB" sz="1400" i="1">
                          <a:latin typeface="Cambria Math" panose="02040503050406030204" pitchFamily="18" charset="0"/>
                        </a:rPr>
                        <m:t>𝑀</m:t>
                      </m:r>
                    </m:oMath>
                  </m:oMathPara>
                </a14:m>
                <a:endParaRPr lang="en-GB"/>
              </a:p>
            </p:txBody>
          </p:sp>
        </mc:Choice>
        <mc:Fallback>
          <p:sp>
            <p:nvSpPr>
              <p:cNvPr id="33" name="TextBox 32"/>
              <p:cNvSpPr txBox="1">
                <a:spLocks noRot="1" noChangeAspect="1" noMove="1" noResize="1" noEditPoints="1" noAdjustHandles="1" noChangeArrowheads="1" noChangeShapeType="1" noTextEdit="1"/>
              </p:cNvSpPr>
              <p:nvPr/>
            </p:nvSpPr>
            <p:spPr>
              <a:xfrm>
                <a:off x="8357814" y="1938021"/>
                <a:ext cx="504446" cy="307777"/>
              </a:xfrm>
              <a:prstGeom prst="rect">
                <a:avLst/>
              </a:prstGeom>
              <a:blipFill>
                <a:blip r:embed="rId10"/>
                <a:stretch>
                  <a:fillRect/>
                </a:stretch>
              </a:blipFill>
            </p:spPr>
            <p:txBody>
              <a:bodyPr/>
              <a:lstStyle/>
              <a:p>
                <a:r>
                  <a:rPr lang="en-US">
                    <a:noFill/>
                  </a:rPr>
                  <a:t> </a:t>
                </a:r>
              </a:p>
            </p:txBody>
          </p:sp>
        </mc:Fallback>
      </mc:AlternateContent>
      <p:sp>
        <p:nvSpPr>
          <p:cNvPr id="34" name="Oval 33"/>
          <p:cNvSpPr/>
          <p:nvPr/>
        </p:nvSpPr>
        <p:spPr>
          <a:xfrm>
            <a:off x="8671306" y="2222561"/>
            <a:ext cx="137568" cy="136634"/>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mc:AlternateContent xmlns:mc="http://schemas.openxmlformats.org/markup-compatibility/2006">
        <mc:Choice xmlns:a14="http://schemas.microsoft.com/office/drawing/2010/main" Requires="a14">
          <p:sp>
            <p:nvSpPr>
              <p:cNvPr id="35" name="Rectangle 34"/>
              <p:cNvSpPr/>
              <p:nvPr/>
            </p:nvSpPr>
            <p:spPr>
              <a:xfrm>
                <a:off x="2077903" y="5240424"/>
                <a:ext cx="6375508" cy="1397498"/>
              </a:xfrm>
              <a:prstGeom prst="rect">
                <a:avLst/>
              </a:prstGeom>
            </p:spPr>
            <p:txBody>
              <a:bodyPr wrap="square">
                <a:spAutoFit/>
              </a:bodyPr>
              <a:lstStyle/>
              <a:p>
                <a:r>
                  <a:rPr lang="en-GB" sz="1600"/>
                  <a:t>When </a:t>
                </a:r>
                <a14:m>
                  <m:oMath xmlns:m="http://schemas.openxmlformats.org/officeDocument/2006/math">
                    <m:r>
                      <a:rPr lang="en-GB" sz="1600" i="1">
                        <a:latin typeface="Cambria Math" panose="02040503050406030204" pitchFamily="18" charset="0"/>
                      </a:rPr>
                      <m:t>𝑦</m:t>
                    </m:r>
                    <m:r>
                      <a:rPr lang="en-GB" sz="1600" i="1">
                        <a:latin typeface="Cambria Math" panose="02040503050406030204" pitchFamily="18" charset="0"/>
                      </a:rPr>
                      <m:t>=−9</m:t>
                    </m:r>
                  </m:oMath>
                </a14:m>
                <a:r>
                  <a:rPr lang="en-GB" sz="1600"/>
                  <a:t>:     </a:t>
                </a:r>
                <a14:m>
                  <m:oMath xmlns:m="http://schemas.openxmlformats.org/officeDocument/2006/math">
                    <m:r>
                      <a:rPr lang="en-GB" sz="1600" i="1">
                        <a:latin typeface="Cambria Math" panose="02040503050406030204" pitchFamily="18" charset="0"/>
                      </a:rPr>
                      <m:t>−9+4=</m:t>
                    </m:r>
                    <m:f>
                      <m:fPr>
                        <m:ctrlPr>
                          <a:rPr lang="en-GB" sz="1600" i="1">
                            <a:latin typeface="Cambria Math" panose="02040503050406030204" pitchFamily="18" charset="0"/>
                          </a:rPr>
                        </m:ctrlPr>
                      </m:fPr>
                      <m:num>
                        <m:r>
                          <a:rPr lang="en-GB" sz="1600" i="1">
                            <a:latin typeface="Cambria Math" panose="02040503050406030204" pitchFamily="18" charset="0"/>
                          </a:rPr>
                          <m:t>5</m:t>
                        </m:r>
                      </m:num>
                      <m:den>
                        <m:r>
                          <a:rPr lang="en-GB" sz="1600" i="1">
                            <a:latin typeface="Cambria Math" panose="02040503050406030204" pitchFamily="18" charset="0"/>
                          </a:rPr>
                          <m:t>2</m:t>
                        </m:r>
                      </m:den>
                    </m:f>
                    <m:d>
                      <m:dPr>
                        <m:ctrlPr>
                          <a:rPr lang="en-GB" sz="1600" i="1">
                            <a:latin typeface="Cambria Math" panose="02040503050406030204" pitchFamily="18" charset="0"/>
                          </a:rPr>
                        </m:ctrlPr>
                      </m:dPr>
                      <m:e>
                        <m:r>
                          <a:rPr lang="en-GB" sz="1600" i="1">
                            <a:latin typeface="Cambria Math" panose="02040503050406030204" pitchFamily="18" charset="0"/>
                          </a:rPr>
                          <m:t>𝑥</m:t>
                        </m:r>
                        <m:r>
                          <a:rPr lang="en-GB" sz="1600" i="1">
                            <a:latin typeface="Cambria Math" panose="02040503050406030204" pitchFamily="18" charset="0"/>
                          </a:rPr>
                          <m:t>+3</m:t>
                        </m:r>
                      </m:e>
                    </m:d>
                    <m:r>
                      <a:rPr lang="en-GB" sz="1600" i="1">
                        <a:latin typeface="Cambria Math" panose="02040503050406030204" pitchFamily="18" charset="0"/>
                      </a:rPr>
                      <m:t> … </m:t>
                    </m:r>
                    <m:r>
                      <a:rPr lang="en-GB" sz="1600" i="1">
                        <a:latin typeface="Cambria Math" panose="02040503050406030204" pitchFamily="18" charset="0"/>
                      </a:rPr>
                      <m:t>𝑥</m:t>
                    </m:r>
                    <m:r>
                      <a:rPr lang="en-GB" sz="1600" i="1">
                        <a:latin typeface="Cambria Math" panose="02040503050406030204" pitchFamily="18" charset="0"/>
                      </a:rPr>
                      <m:t>=−5    →  </m:t>
                    </m:r>
                    <m:r>
                      <a:rPr lang="en-GB" sz="1600" i="1">
                        <a:latin typeface="Cambria Math" panose="02040503050406030204" pitchFamily="18" charset="0"/>
                      </a:rPr>
                      <m:t>𝐶</m:t>
                    </m:r>
                    <m:r>
                      <a:rPr lang="en-GB" sz="1600" i="1">
                        <a:latin typeface="Cambria Math" panose="02040503050406030204" pitchFamily="18" charset="0"/>
                      </a:rPr>
                      <m:t>(−5,−9)</m:t>
                    </m:r>
                  </m:oMath>
                </a14:m>
                <a:endParaRPr lang="en-GB" sz="1600"/>
              </a:p>
              <a:p>
                <a:endParaRPr lang="en-GB" sz="900"/>
              </a:p>
              <a:p>
                <a:r>
                  <a:rPr lang="en-GB" sz="1600"/>
                  <a:t>Use either </a:t>
                </a:r>
                <a14:m>
                  <m:oMath xmlns:m="http://schemas.openxmlformats.org/officeDocument/2006/math">
                    <m:r>
                      <a:rPr lang="en-GB" sz="1600" i="1">
                        <a:latin typeface="Cambria Math" panose="02040503050406030204" pitchFamily="18" charset="0"/>
                      </a:rPr>
                      <m:t>𝑃𝐶</m:t>
                    </m:r>
                  </m:oMath>
                </a14:m>
                <a:r>
                  <a:rPr lang="en-GB" sz="1600"/>
                  <a:t> or </a:t>
                </a:r>
                <a14:m>
                  <m:oMath xmlns:m="http://schemas.openxmlformats.org/officeDocument/2006/math">
                    <m:r>
                      <a:rPr lang="en-GB" sz="1600" i="1">
                        <a:latin typeface="Cambria Math" panose="02040503050406030204" pitchFamily="18" charset="0"/>
                      </a:rPr>
                      <m:t>𝐶𝑄</m:t>
                    </m:r>
                  </m:oMath>
                </a14:m>
                <a:r>
                  <a:rPr lang="en-GB" sz="1600"/>
                  <a:t> for the radius.</a:t>
                </a:r>
              </a:p>
              <a:p>
                <a14:m>
                  <m:oMath xmlns:m="http://schemas.openxmlformats.org/officeDocument/2006/math">
                    <m:r>
                      <a:rPr lang="en-GB" sz="1600" i="1">
                        <a:latin typeface="Cambria Math" panose="02040503050406030204" pitchFamily="18" charset="0"/>
                      </a:rPr>
                      <m:t>𝑟</m:t>
                    </m:r>
                    <m:r>
                      <a:rPr lang="en-GB" sz="1600" i="1">
                        <a:latin typeface="Cambria Math" panose="02040503050406030204" pitchFamily="18" charset="0"/>
                      </a:rPr>
                      <m:t>=</m:t>
                    </m:r>
                    <m:r>
                      <a:rPr lang="en-GB" sz="1600" i="1">
                        <a:latin typeface="Cambria Math" panose="02040503050406030204" pitchFamily="18" charset="0"/>
                      </a:rPr>
                      <m:t>𝑃𝐶</m:t>
                    </m:r>
                    <m:r>
                      <a:rPr lang="en-GB" sz="1600" i="1">
                        <a:latin typeface="Cambria Math" panose="02040503050406030204" pitchFamily="18" charset="0"/>
                      </a:rPr>
                      <m:t>=</m:t>
                    </m:r>
                    <m:rad>
                      <m:radPr>
                        <m:degHide m:val="on"/>
                        <m:ctrlPr>
                          <a:rPr lang="en-GB" sz="1600" i="1">
                            <a:latin typeface="Cambria Math" panose="02040503050406030204" pitchFamily="18" charset="0"/>
                          </a:rPr>
                        </m:ctrlPr>
                      </m:radPr>
                      <m:deg/>
                      <m:e>
                        <m:sSup>
                          <m:sSupPr>
                            <m:ctrlPr>
                              <a:rPr lang="en-GB" sz="1600" i="1">
                                <a:latin typeface="Cambria Math" panose="02040503050406030204" pitchFamily="18" charset="0"/>
                              </a:rPr>
                            </m:ctrlPr>
                          </m:sSupPr>
                          <m:e>
                            <m:r>
                              <a:rPr lang="en-GB" sz="1600" i="1">
                                <a:latin typeface="Cambria Math" panose="02040503050406030204" pitchFamily="18" charset="0"/>
                              </a:rPr>
                              <m:t>3</m:t>
                            </m:r>
                          </m:e>
                          <m:sup>
                            <m:r>
                              <a:rPr lang="en-GB" sz="1600" i="1">
                                <a:latin typeface="Cambria Math" panose="02040503050406030204" pitchFamily="18" charset="0"/>
                              </a:rPr>
                              <m:t>2</m:t>
                            </m:r>
                          </m:sup>
                        </m:sSup>
                        <m:r>
                          <a:rPr lang="en-GB" sz="1600" i="1">
                            <a:latin typeface="Cambria Math" panose="02040503050406030204" pitchFamily="18" charset="0"/>
                          </a:rPr>
                          <m:t>+</m:t>
                        </m:r>
                        <m:sSup>
                          <m:sSupPr>
                            <m:ctrlPr>
                              <a:rPr lang="en-GB" sz="1600" i="1">
                                <a:latin typeface="Cambria Math" panose="02040503050406030204" pitchFamily="18" charset="0"/>
                              </a:rPr>
                            </m:ctrlPr>
                          </m:sSupPr>
                          <m:e>
                            <m:r>
                              <a:rPr lang="en-GB" sz="1600" i="1">
                                <a:latin typeface="Cambria Math" panose="02040503050406030204" pitchFamily="18" charset="0"/>
                              </a:rPr>
                              <m:t>7</m:t>
                            </m:r>
                          </m:e>
                          <m:sup>
                            <m:r>
                              <a:rPr lang="en-GB" sz="1600" i="1">
                                <a:latin typeface="Cambria Math" panose="02040503050406030204" pitchFamily="18" charset="0"/>
                              </a:rPr>
                              <m:t>2</m:t>
                            </m:r>
                          </m:sup>
                        </m:sSup>
                      </m:e>
                    </m:rad>
                    <m:r>
                      <a:rPr lang="en-GB" sz="1600" i="1">
                        <a:latin typeface="Cambria Math" panose="02040503050406030204" pitchFamily="18" charset="0"/>
                      </a:rPr>
                      <m:t>=</m:t>
                    </m:r>
                    <m:rad>
                      <m:radPr>
                        <m:degHide m:val="on"/>
                        <m:ctrlPr>
                          <a:rPr lang="en-GB" sz="1600" i="1">
                            <a:latin typeface="Cambria Math" panose="02040503050406030204" pitchFamily="18" charset="0"/>
                          </a:rPr>
                        </m:ctrlPr>
                      </m:radPr>
                      <m:deg/>
                      <m:e>
                        <m:r>
                          <a:rPr lang="en-GB" sz="1600" i="1">
                            <a:latin typeface="Cambria Math" panose="02040503050406030204" pitchFamily="18" charset="0"/>
                          </a:rPr>
                          <m:t>58</m:t>
                        </m:r>
                      </m:e>
                    </m:rad>
                  </m:oMath>
                </a14:m>
                <a:r>
                  <a:rPr lang="en-GB" sz="1600"/>
                  <a:t> </a:t>
                </a:r>
              </a:p>
              <a:p>
                <a14:m>
                  <m:oMath xmlns:m="http://schemas.openxmlformats.org/officeDocument/2006/math">
                    <m:r>
                      <a:rPr lang="en-GB" sz="1600" i="1">
                        <a:latin typeface="Cambria Math" panose="02040503050406030204" pitchFamily="18" charset="0"/>
                      </a:rPr>
                      <m:t>∴  </m:t>
                    </m:r>
                    <m:sSup>
                      <m:sSupPr>
                        <m:ctrlPr>
                          <a:rPr lang="en-GB" sz="1600" i="1">
                            <a:latin typeface="Cambria Math" panose="02040503050406030204" pitchFamily="18" charset="0"/>
                          </a:rPr>
                        </m:ctrlPr>
                      </m:sSupPr>
                      <m:e>
                        <m:d>
                          <m:dPr>
                            <m:ctrlPr>
                              <a:rPr lang="en-GB" sz="1600" i="1">
                                <a:latin typeface="Cambria Math" panose="02040503050406030204" pitchFamily="18" charset="0"/>
                              </a:rPr>
                            </m:ctrlPr>
                          </m:dPr>
                          <m:e>
                            <m:r>
                              <a:rPr lang="en-GB" sz="1600" i="1">
                                <a:latin typeface="Cambria Math" panose="02040503050406030204" pitchFamily="18" charset="0"/>
                              </a:rPr>
                              <m:t>𝑥</m:t>
                            </m:r>
                            <m:r>
                              <a:rPr lang="en-GB" sz="1600" i="1">
                                <a:latin typeface="Cambria Math" panose="02040503050406030204" pitchFamily="18" charset="0"/>
                              </a:rPr>
                              <m:t>+5</m:t>
                            </m:r>
                          </m:e>
                        </m:d>
                      </m:e>
                      <m:sup>
                        <m:r>
                          <a:rPr lang="en-GB" sz="1600" i="1">
                            <a:latin typeface="Cambria Math" panose="02040503050406030204" pitchFamily="18" charset="0"/>
                          </a:rPr>
                          <m:t>2</m:t>
                        </m:r>
                      </m:sup>
                    </m:sSup>
                    <m:r>
                      <a:rPr lang="en-GB" sz="1600" i="1">
                        <a:latin typeface="Cambria Math" panose="02040503050406030204" pitchFamily="18" charset="0"/>
                      </a:rPr>
                      <m:t>+</m:t>
                    </m:r>
                    <m:sSup>
                      <m:sSupPr>
                        <m:ctrlPr>
                          <a:rPr lang="en-GB" sz="1600" i="1">
                            <a:latin typeface="Cambria Math" panose="02040503050406030204" pitchFamily="18" charset="0"/>
                          </a:rPr>
                        </m:ctrlPr>
                      </m:sSupPr>
                      <m:e>
                        <m:d>
                          <m:dPr>
                            <m:ctrlPr>
                              <a:rPr lang="en-GB" sz="1600" i="1">
                                <a:latin typeface="Cambria Math" panose="02040503050406030204" pitchFamily="18" charset="0"/>
                              </a:rPr>
                            </m:ctrlPr>
                          </m:dPr>
                          <m:e>
                            <m:r>
                              <a:rPr lang="en-GB" sz="1600" i="1">
                                <a:latin typeface="Cambria Math" panose="02040503050406030204" pitchFamily="18" charset="0"/>
                              </a:rPr>
                              <m:t>𝑦</m:t>
                            </m:r>
                            <m:r>
                              <a:rPr lang="en-GB" sz="1600" i="1">
                                <a:latin typeface="Cambria Math" panose="02040503050406030204" pitchFamily="18" charset="0"/>
                              </a:rPr>
                              <m:t>+9</m:t>
                            </m:r>
                          </m:e>
                        </m:d>
                      </m:e>
                      <m:sup>
                        <m:r>
                          <a:rPr lang="en-GB" sz="1600" i="1">
                            <a:latin typeface="Cambria Math" panose="02040503050406030204" pitchFamily="18" charset="0"/>
                          </a:rPr>
                          <m:t>2</m:t>
                        </m:r>
                      </m:sup>
                    </m:sSup>
                    <m:r>
                      <a:rPr lang="en-GB" sz="1600" i="1">
                        <a:latin typeface="Cambria Math" panose="02040503050406030204" pitchFamily="18" charset="0"/>
                      </a:rPr>
                      <m:t>=58</m:t>
                    </m:r>
                  </m:oMath>
                </a14:m>
                <a:r>
                  <a:rPr lang="en-GB" sz="1600"/>
                  <a:t> </a:t>
                </a:r>
              </a:p>
            </p:txBody>
          </p:sp>
        </mc:Choice>
        <mc:Fallback>
          <p:sp>
            <p:nvSpPr>
              <p:cNvPr id="35" name="Rectangle 34"/>
              <p:cNvSpPr>
                <a:spLocks noRot="1" noChangeAspect="1" noMove="1" noResize="1" noEditPoints="1" noAdjustHandles="1" noChangeArrowheads="1" noChangeShapeType="1" noTextEdit="1"/>
              </p:cNvSpPr>
              <p:nvPr/>
            </p:nvSpPr>
            <p:spPr>
              <a:xfrm>
                <a:off x="2077903" y="5240424"/>
                <a:ext cx="6375508" cy="1397498"/>
              </a:xfrm>
              <a:prstGeom prst="rect">
                <a:avLst/>
              </a:prstGeom>
              <a:blipFill>
                <a:blip r:embed="rId11"/>
                <a:stretch>
                  <a:fillRect l="-398"/>
                </a:stretch>
              </a:blipFill>
            </p:spPr>
            <p:txBody>
              <a:bodyPr/>
              <a:lstStyle/>
              <a:p>
                <a:r>
                  <a:rPr lang="en-US">
                    <a:noFill/>
                  </a:rPr>
                  <a:t> </a:t>
                </a:r>
              </a:p>
            </p:txBody>
          </p:sp>
        </mc:Fallback>
      </mc:AlternateContent>
      <p:sp>
        <p:nvSpPr>
          <p:cNvPr id="36" name="Rectangle 35"/>
          <p:cNvSpPr/>
          <p:nvPr/>
        </p:nvSpPr>
        <p:spPr>
          <a:xfrm>
            <a:off x="1688358" y="3718843"/>
            <a:ext cx="238447" cy="278875"/>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a:t>a</a:t>
            </a:r>
          </a:p>
        </p:txBody>
      </p:sp>
      <p:sp>
        <p:nvSpPr>
          <p:cNvPr id="37" name="Rectangle 36"/>
          <p:cNvSpPr/>
          <p:nvPr/>
        </p:nvSpPr>
        <p:spPr>
          <a:xfrm>
            <a:off x="1684390" y="5272319"/>
            <a:ext cx="238447" cy="278875"/>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a:t>b</a:t>
            </a:r>
          </a:p>
        </p:txBody>
      </p:sp>
      <p:sp>
        <p:nvSpPr>
          <p:cNvPr id="38" name="Rectangle 37"/>
          <p:cNvSpPr/>
          <p:nvPr/>
        </p:nvSpPr>
        <p:spPr>
          <a:xfrm>
            <a:off x="1684390" y="5790217"/>
            <a:ext cx="238447" cy="278875"/>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a:t>c</a:t>
            </a:r>
          </a:p>
        </p:txBody>
      </p:sp>
      <p:grpSp>
        <p:nvGrpSpPr>
          <p:cNvPr id="46" name="Group 45"/>
          <p:cNvGrpSpPr/>
          <p:nvPr/>
        </p:nvGrpSpPr>
        <p:grpSpPr>
          <a:xfrm>
            <a:off x="4938243" y="4460148"/>
            <a:ext cx="2662287" cy="738664"/>
            <a:chOff x="3559063" y="4634381"/>
            <a:chExt cx="2931730" cy="738664"/>
          </a:xfrm>
        </p:grpSpPr>
        <p:sp>
          <p:nvSpPr>
            <p:cNvPr id="41" name="TextBox 40"/>
            <p:cNvSpPr txBox="1"/>
            <p:nvPr/>
          </p:nvSpPr>
          <p:spPr>
            <a:xfrm>
              <a:off x="3827190" y="4634381"/>
              <a:ext cx="2663603" cy="738664"/>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r>
                <a:rPr lang="en-GB" sz="1400" b="1"/>
                <a:t>Exam Tip</a:t>
              </a:r>
              <a:r>
                <a:rPr lang="en-GB" sz="1400"/>
                <a:t>: If you’re not asked for the equation in a particular form, </a:t>
              </a:r>
              <a:r>
                <a:rPr lang="en-GB" sz="1400" u="sng"/>
                <a:t>just leave it as it is</a:t>
              </a:r>
              <a:r>
                <a:rPr lang="en-GB" sz="1400"/>
                <a:t>.</a:t>
              </a:r>
            </a:p>
          </p:txBody>
        </p:sp>
        <p:cxnSp>
          <p:nvCxnSpPr>
            <p:cNvPr id="43" name="Straight Arrow Connector 42"/>
            <p:cNvCxnSpPr>
              <a:cxnSpLocks/>
              <a:stCxn id="41" idx="1"/>
            </p:cNvCxnSpPr>
            <p:nvPr/>
          </p:nvCxnSpPr>
          <p:spPr>
            <a:xfrm flipH="1">
              <a:off x="3559063" y="5003713"/>
              <a:ext cx="268127" cy="15347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sp>
        <p:nvSpPr>
          <p:cNvPr id="40" name="Rectangle 39"/>
          <p:cNvSpPr/>
          <p:nvPr/>
        </p:nvSpPr>
        <p:spPr>
          <a:xfrm>
            <a:off x="2053942" y="3751881"/>
            <a:ext cx="5631042" cy="1479025"/>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
        <p:nvSpPr>
          <p:cNvPr id="44" name="Rectangle 43"/>
          <p:cNvSpPr/>
          <p:nvPr/>
        </p:nvSpPr>
        <p:spPr>
          <a:xfrm>
            <a:off x="2053942" y="5281770"/>
            <a:ext cx="5631042" cy="413743"/>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
        <p:nvSpPr>
          <p:cNvPr id="45" name="Rectangle 44"/>
          <p:cNvSpPr/>
          <p:nvPr/>
        </p:nvSpPr>
        <p:spPr>
          <a:xfrm>
            <a:off x="2053942" y="5746375"/>
            <a:ext cx="5631042" cy="900828"/>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Tree>
    <p:extLst>
      <p:ext uri="{BB962C8B-B14F-4D97-AF65-F5344CB8AC3E}">
        <p14:creationId xmlns:p14="http://schemas.microsoft.com/office/powerpoint/2010/main" val="253319264"/>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40"/>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40"/>
                                        </p:tgtEl>
                                      </p:cBhvr>
                                    </p:animEffect>
                                    <p:set>
                                      <p:cBhvr>
                                        <p:cTn id="7" dur="1" fill="hold">
                                          <p:stCondLst>
                                            <p:cond delay="499"/>
                                          </p:stCondLst>
                                        </p:cTn>
                                        <p:tgtEl>
                                          <p:spTgt spid="40"/>
                                        </p:tgtEl>
                                        <p:attrNameLst>
                                          <p:attrName>style.visibility</p:attrName>
                                        </p:attrNameLst>
                                      </p:cBhvr>
                                      <p:to>
                                        <p:strVal val="hidden"/>
                                      </p:to>
                                    </p:se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46"/>
                                        </p:tgtEl>
                                        <p:attrNameLst>
                                          <p:attrName>style.visibility</p:attrName>
                                        </p:attrNameLst>
                                      </p:cBhvr>
                                      <p:to>
                                        <p:strVal val="visible"/>
                                      </p:to>
                                    </p:set>
                                    <p:animEffect transition="in" filter="fade">
                                      <p:cBhvr>
                                        <p:cTn id="11" dur="500"/>
                                        <p:tgtEl>
                                          <p:spTgt spid="46"/>
                                        </p:tgtEl>
                                      </p:cBhvr>
                                    </p:animEffect>
                                  </p:childTnLst>
                                </p:cTn>
                              </p:par>
                            </p:childTnLst>
                          </p:cTn>
                        </p:par>
                      </p:childTnLst>
                    </p:cTn>
                  </p:par>
                </p:childTnLst>
              </p:cTn>
              <p:nextCondLst>
                <p:cond evt="onClick" delay="0">
                  <p:tgtEl>
                    <p:spTgt spid="40"/>
                  </p:tgtEl>
                </p:cond>
              </p:nextCondLst>
            </p:seq>
            <p:seq concurrent="1" nextAc="seek">
              <p:cTn id="12" restart="whenNotActive" fill="hold" evtFilter="cancelBubble" nodeType="interactiveSeq">
                <p:stCondLst>
                  <p:cond evt="onClick" delay="0">
                    <p:tgtEl>
                      <p:spTgt spid="44"/>
                    </p:tgtEl>
                  </p:cond>
                </p:stCondLst>
                <p:endSync evt="end" delay="0">
                  <p:rtn val="all"/>
                </p:endSync>
                <p:childTnLst>
                  <p:par>
                    <p:cTn id="13" fill="hold">
                      <p:stCondLst>
                        <p:cond delay="0"/>
                      </p:stCondLst>
                      <p:childTnLst>
                        <p:par>
                          <p:cTn id="14" fill="hold">
                            <p:stCondLst>
                              <p:cond delay="0"/>
                            </p:stCondLst>
                            <p:childTnLst>
                              <p:par>
                                <p:cTn id="15" presetID="10" presetClass="exit" presetSubtype="0" fill="hold" grpId="0" nodeType="clickEffect">
                                  <p:stCondLst>
                                    <p:cond delay="0"/>
                                  </p:stCondLst>
                                  <p:childTnLst>
                                    <p:animEffect transition="out" filter="fade">
                                      <p:cBhvr>
                                        <p:cTn id="16" dur="500"/>
                                        <p:tgtEl>
                                          <p:spTgt spid="44"/>
                                        </p:tgtEl>
                                      </p:cBhvr>
                                    </p:animEffect>
                                    <p:set>
                                      <p:cBhvr>
                                        <p:cTn id="17" dur="1" fill="hold">
                                          <p:stCondLst>
                                            <p:cond delay="499"/>
                                          </p:stCondLst>
                                        </p:cTn>
                                        <p:tgtEl>
                                          <p:spTgt spid="44"/>
                                        </p:tgtEl>
                                        <p:attrNameLst>
                                          <p:attrName>style.visibility</p:attrName>
                                        </p:attrNameLst>
                                      </p:cBhvr>
                                      <p:to>
                                        <p:strVal val="hidden"/>
                                      </p:to>
                                    </p:set>
                                  </p:childTnLst>
                                </p:cTn>
                              </p:par>
                            </p:childTnLst>
                          </p:cTn>
                        </p:par>
                      </p:childTnLst>
                    </p:cTn>
                  </p:par>
                </p:childTnLst>
              </p:cTn>
              <p:nextCondLst>
                <p:cond evt="onClick" delay="0">
                  <p:tgtEl>
                    <p:spTgt spid="44"/>
                  </p:tgtEl>
                </p:cond>
              </p:nextCondLst>
            </p:seq>
            <p:seq concurrent="1" nextAc="seek">
              <p:cTn id="18" restart="whenNotActive" fill="hold" evtFilter="cancelBubble" nodeType="interactiveSeq">
                <p:stCondLst>
                  <p:cond evt="onClick" delay="0">
                    <p:tgtEl>
                      <p:spTgt spid="45"/>
                    </p:tgtEl>
                  </p:cond>
                </p:stCondLst>
                <p:endSync evt="end" delay="0">
                  <p:rtn val="all"/>
                </p:endSync>
                <p:childTnLst>
                  <p:par>
                    <p:cTn id="19" fill="hold">
                      <p:stCondLst>
                        <p:cond delay="0"/>
                      </p:stCondLst>
                      <p:childTnLst>
                        <p:par>
                          <p:cTn id="20" fill="hold">
                            <p:stCondLst>
                              <p:cond delay="0"/>
                            </p:stCondLst>
                            <p:childTnLst>
                              <p:par>
                                <p:cTn id="21" presetID="10" presetClass="exit" presetSubtype="0" fill="hold" grpId="0" nodeType="clickEffect">
                                  <p:stCondLst>
                                    <p:cond delay="0"/>
                                  </p:stCondLst>
                                  <p:childTnLst>
                                    <p:animEffect transition="out" filter="fade">
                                      <p:cBhvr>
                                        <p:cTn id="22" dur="500"/>
                                        <p:tgtEl>
                                          <p:spTgt spid="45"/>
                                        </p:tgtEl>
                                      </p:cBhvr>
                                    </p:animEffect>
                                    <p:set>
                                      <p:cBhvr>
                                        <p:cTn id="23" dur="1" fill="hold">
                                          <p:stCondLst>
                                            <p:cond delay="499"/>
                                          </p:stCondLst>
                                        </p:cTn>
                                        <p:tgtEl>
                                          <p:spTgt spid="45"/>
                                        </p:tgtEl>
                                        <p:attrNameLst>
                                          <p:attrName>style.visibility</p:attrName>
                                        </p:attrNameLst>
                                      </p:cBhvr>
                                      <p:to>
                                        <p:strVal val="hidden"/>
                                      </p:to>
                                    </p:set>
                                  </p:childTnLst>
                                </p:cTn>
                              </p:par>
                            </p:childTnLst>
                          </p:cTn>
                        </p:par>
                      </p:childTnLst>
                    </p:cTn>
                  </p:par>
                </p:childTnLst>
              </p:cTn>
              <p:nextCondLst>
                <p:cond evt="onClick" delay="0">
                  <p:tgtEl>
                    <p:spTgt spid="45"/>
                  </p:tgtEl>
                </p:cond>
              </p:nextCondLst>
            </p:seq>
          </p:childTnLst>
        </p:cTn>
      </p:par>
    </p:tnLst>
    <p:bldLst>
      <p:bldP spid="40" grpId="0" animBg="1"/>
      <p:bldP spid="44" grpId="0" animBg="1"/>
      <p:bldP spid="45" grpId="0" animBg="1"/>
    </p:bldLst>
  </p:timing>
</p:sld>
</file>

<file path=ppt/c6/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0" y="1"/>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a:t>Test Your Understanding</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mc:AlternateContent xmlns:mc="http://schemas.openxmlformats.org/markup-compatibility/2006">
        <mc:Choice xmlns:a14="http://schemas.microsoft.com/office/drawing/2010/main" Requires="a14">
          <p:sp>
            <p:nvSpPr>
              <p:cNvPr id="5" name="TextBox 4"/>
              <p:cNvSpPr txBox="1"/>
              <p:nvPr/>
            </p:nvSpPr>
            <p:spPr>
              <a:xfrm>
                <a:off x="1915468" y="806480"/>
                <a:ext cx="3604468" cy="1754326"/>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a:t>A circle has centre </a:t>
                </a:r>
                <a14:m>
                  <m:oMath xmlns:m="http://schemas.openxmlformats.org/officeDocument/2006/math">
                    <m:r>
                      <a:rPr lang="en-GB" i="1">
                        <a:latin typeface="Cambria Math" panose="02040503050406030204" pitchFamily="18" charset="0"/>
                      </a:rPr>
                      <m:t>𝐶</m:t>
                    </m:r>
                    <m:d>
                      <m:dPr>
                        <m:ctrlPr>
                          <a:rPr lang="en-GB" i="1">
                            <a:latin typeface="Cambria Math" panose="02040503050406030204" pitchFamily="18" charset="0"/>
                          </a:rPr>
                        </m:ctrlPr>
                      </m:dPr>
                      <m:e>
                        <m:r>
                          <a:rPr lang="en-GB" i="1">
                            <a:latin typeface="Cambria Math" panose="02040503050406030204" pitchFamily="18" charset="0"/>
                          </a:rPr>
                          <m:t>3,5</m:t>
                        </m:r>
                      </m:e>
                    </m:d>
                  </m:oMath>
                </a14:m>
                <a:r>
                  <a:rPr lang="en-GB"/>
                  <a:t>, and goes through the point </a:t>
                </a:r>
                <a14:m>
                  <m:oMath xmlns:m="http://schemas.openxmlformats.org/officeDocument/2006/math">
                    <m:r>
                      <a:rPr lang="en-GB" i="1">
                        <a:latin typeface="Cambria Math" panose="02040503050406030204" pitchFamily="18" charset="0"/>
                      </a:rPr>
                      <m:t>𝑃</m:t>
                    </m:r>
                    <m:r>
                      <a:rPr lang="en-GB" i="1">
                        <a:latin typeface="Cambria Math" panose="02040503050406030204" pitchFamily="18" charset="0"/>
                      </a:rPr>
                      <m:t>(6,9)</m:t>
                    </m:r>
                  </m:oMath>
                </a14:m>
                <a:r>
                  <a:rPr lang="en-GB"/>
                  <a:t>. Find the equation of the tangent of the circle at the point </a:t>
                </a:r>
                <a14:m>
                  <m:oMath xmlns:m="http://schemas.openxmlformats.org/officeDocument/2006/math">
                    <m:r>
                      <a:rPr lang="en-GB" i="1">
                        <a:latin typeface="Cambria Math" panose="02040503050406030204" pitchFamily="18" charset="0"/>
                      </a:rPr>
                      <m:t>𝑃</m:t>
                    </m:r>
                  </m:oMath>
                </a14:m>
                <a:r>
                  <a:rPr lang="en-GB"/>
                  <a:t>, giving your equation in the form </a:t>
                </a:r>
                <a14:m>
                  <m:oMath xmlns:m="http://schemas.openxmlformats.org/officeDocument/2006/math">
                    <m:r>
                      <a:rPr lang="en-GB" i="1">
                        <a:latin typeface="Cambria Math" panose="02040503050406030204" pitchFamily="18" charset="0"/>
                      </a:rPr>
                      <m:t>𝑎𝑥</m:t>
                    </m:r>
                    <m:r>
                      <a:rPr lang="en-GB" i="1">
                        <a:latin typeface="Cambria Math" panose="02040503050406030204" pitchFamily="18" charset="0"/>
                      </a:rPr>
                      <m:t>+</m:t>
                    </m:r>
                    <m:r>
                      <a:rPr lang="en-GB" i="1">
                        <a:latin typeface="Cambria Math" panose="02040503050406030204" pitchFamily="18" charset="0"/>
                      </a:rPr>
                      <m:t>𝑏𝑦</m:t>
                    </m:r>
                    <m:r>
                      <a:rPr lang="en-GB" i="1">
                        <a:latin typeface="Cambria Math" panose="02040503050406030204" pitchFamily="18" charset="0"/>
                      </a:rPr>
                      <m:t>+</m:t>
                    </m:r>
                    <m:r>
                      <a:rPr lang="en-GB" i="1">
                        <a:latin typeface="Cambria Math" panose="02040503050406030204" pitchFamily="18" charset="0"/>
                      </a:rPr>
                      <m:t>𝑐</m:t>
                    </m:r>
                    <m:r>
                      <a:rPr lang="en-GB" i="1">
                        <a:latin typeface="Cambria Math" panose="02040503050406030204" pitchFamily="18" charset="0"/>
                      </a:rPr>
                      <m:t>=0</m:t>
                    </m:r>
                  </m:oMath>
                </a14:m>
                <a:r>
                  <a:rPr lang="en-GB"/>
                  <a:t> where </a:t>
                </a:r>
                <a14:m>
                  <m:oMath xmlns:m="http://schemas.openxmlformats.org/officeDocument/2006/math">
                    <m:r>
                      <a:rPr lang="en-GB" i="1">
                        <a:latin typeface="Cambria Math" panose="02040503050406030204" pitchFamily="18" charset="0"/>
                      </a:rPr>
                      <m:t>𝑎</m:t>
                    </m:r>
                    <m:r>
                      <a:rPr lang="en-GB" i="1">
                        <a:latin typeface="Cambria Math" panose="02040503050406030204" pitchFamily="18" charset="0"/>
                      </a:rPr>
                      <m:t>,</m:t>
                    </m:r>
                    <m:r>
                      <a:rPr lang="en-GB" i="1">
                        <a:latin typeface="Cambria Math" panose="02040503050406030204" pitchFamily="18" charset="0"/>
                      </a:rPr>
                      <m:t>𝑏</m:t>
                    </m:r>
                    <m:r>
                      <a:rPr lang="en-GB" i="1">
                        <a:latin typeface="Cambria Math" panose="02040503050406030204" pitchFamily="18" charset="0"/>
                      </a:rPr>
                      <m:t>,</m:t>
                    </m:r>
                    <m:r>
                      <a:rPr lang="en-GB" i="1">
                        <a:latin typeface="Cambria Math" panose="02040503050406030204" pitchFamily="18" charset="0"/>
                      </a:rPr>
                      <m:t>𝑐</m:t>
                    </m:r>
                  </m:oMath>
                </a14:m>
                <a:r>
                  <a:rPr lang="en-GB"/>
                  <a:t> are integers..</a:t>
                </a:r>
              </a:p>
            </p:txBody>
          </p:sp>
        </mc:Choice>
        <mc:Fallback>
          <p:sp>
            <p:nvSpPr>
              <p:cNvPr id="5" name="TextBox 4"/>
              <p:cNvSpPr txBox="1">
                <a:spLocks noRot="1" noChangeAspect="1" noMove="1" noResize="1" noEditPoints="1" noAdjustHandles="1" noChangeArrowheads="1" noChangeShapeType="1" noTextEdit="1"/>
              </p:cNvSpPr>
              <p:nvPr/>
            </p:nvSpPr>
            <p:spPr>
              <a:xfrm>
                <a:off x="1915468" y="806480"/>
                <a:ext cx="3604468" cy="1754326"/>
              </a:xfrm>
              <a:prstGeom prst="rect">
                <a:avLst/>
              </a:prstGeom>
              <a:blipFill>
                <a:blip r:embed="rId2"/>
                <a:stretch>
                  <a:fillRect/>
                </a:stretch>
              </a:blipFill>
              <a:effectLst>
                <a:outerShdw blurRad="63500" sx="102000" sy="102000" algn="ctr" rotWithShape="0">
                  <a:prstClr val="black">
                    <a:alpha val="40000"/>
                  </a:prstClr>
                </a:outerShdw>
              </a:effectLst>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6" name="TextBox 5"/>
              <p:cNvSpPr txBox="1"/>
              <p:nvPr/>
            </p:nvSpPr>
            <p:spPr>
              <a:xfrm>
                <a:off x="2004244" y="2780556"/>
                <a:ext cx="3240360" cy="1962332"/>
              </a:xfrm>
              <a:prstGeom prst="rect">
                <a:avLst/>
              </a:prstGeom>
              <a:noFill/>
            </p:spPr>
            <p:txBody>
              <a:bodyPr wrap="square" rtlCol="0">
                <a:spAutoFit/>
              </a:bodyPr>
              <a:lstStyle/>
              <a:p>
                <a:pPr/>
                <a14:m>
                  <m:oMathPara xmlns:m="http://schemas.openxmlformats.org/officeDocument/2006/math">
                    <m:oMath>
                      <m:sSub>
                        <m:sSubPr>
                          <m:ctrlPr>
                            <a:rPr lang="en-GB" i="1">
                              <a:latin typeface="Cambria Math" panose="02040503050406030204" pitchFamily="18" charset="0"/>
                            </a:rPr>
                          </m:ctrlPr>
                        </m:sSubPr>
                        <m:e>
                          <m:r>
                            <a:rPr lang="en-GB" i="1">
                              <a:latin typeface="Cambria Math" panose="02040503050406030204" pitchFamily="18" charset="0"/>
                            </a:rPr>
                            <m:t>𝑚</m:t>
                          </m:r>
                        </m:e>
                        <m:sub>
                          <m:r>
                            <a:rPr lang="en-GB" i="1">
                              <a:latin typeface="Cambria Math" panose="02040503050406030204" pitchFamily="18" charset="0"/>
                            </a:rPr>
                            <m:t>𝑟</m:t>
                          </m:r>
                        </m:sub>
                      </m:sSub>
                      <m:r>
                        <a:rPr lang="en-GB" i="1">
                          <a:latin typeface="Cambria Math" panose="02040503050406030204" pitchFamily="18" charset="0"/>
                        </a:rPr>
                        <m:t>=</m:t>
                      </m:r>
                      <m:f>
                        <m:fPr>
                          <m:ctrlPr>
                            <a:rPr lang="en-GB" i="1">
                              <a:latin typeface="Cambria Math" panose="02040503050406030204" pitchFamily="18" charset="0"/>
                            </a:rPr>
                          </m:ctrlPr>
                        </m:fPr>
                        <m:num>
                          <m:r>
                            <a:rPr lang="en-GB" i="1">
                              <a:latin typeface="Cambria Math" panose="02040503050406030204" pitchFamily="18" charset="0"/>
                            </a:rPr>
                            <m:t>4</m:t>
                          </m:r>
                        </m:num>
                        <m:den>
                          <m:r>
                            <a:rPr lang="en-GB" i="1">
                              <a:latin typeface="Cambria Math" panose="02040503050406030204" pitchFamily="18" charset="0"/>
                            </a:rPr>
                            <m:t>3</m:t>
                          </m:r>
                        </m:den>
                      </m:f>
                      <m:r>
                        <a:rPr lang="en-GB" i="1">
                          <a:latin typeface="Cambria Math" panose="02040503050406030204" pitchFamily="18" charset="0"/>
                        </a:rPr>
                        <m:t> ∴</m:t>
                      </m:r>
                      <m:sSub>
                        <m:sSubPr>
                          <m:ctrlPr>
                            <a:rPr lang="en-GB" i="1">
                              <a:latin typeface="Cambria Math" panose="02040503050406030204" pitchFamily="18" charset="0"/>
                            </a:rPr>
                          </m:ctrlPr>
                        </m:sSubPr>
                        <m:e>
                          <m:r>
                            <a:rPr lang="en-GB" i="1">
                              <a:latin typeface="Cambria Math" panose="02040503050406030204" pitchFamily="18" charset="0"/>
                            </a:rPr>
                            <m:t>𝑚</m:t>
                          </m:r>
                        </m:e>
                        <m:sub>
                          <m:r>
                            <a:rPr lang="en-GB" i="1">
                              <a:latin typeface="Cambria Math" panose="02040503050406030204" pitchFamily="18" charset="0"/>
                            </a:rPr>
                            <m:t>𝑡</m:t>
                          </m:r>
                        </m:sub>
                      </m:sSub>
                      <m:r>
                        <a:rPr lang="en-GB" i="1">
                          <a:latin typeface="Cambria Math" panose="02040503050406030204" pitchFamily="18" charset="0"/>
                        </a:rPr>
                        <m:t>=−</m:t>
                      </m:r>
                      <m:f>
                        <m:fPr>
                          <m:ctrlPr>
                            <a:rPr lang="en-GB" i="1">
                              <a:latin typeface="Cambria Math" panose="02040503050406030204" pitchFamily="18" charset="0"/>
                            </a:rPr>
                          </m:ctrlPr>
                        </m:fPr>
                        <m:num>
                          <m:r>
                            <a:rPr lang="en-GB" i="1">
                              <a:latin typeface="Cambria Math" panose="02040503050406030204" pitchFamily="18" charset="0"/>
                            </a:rPr>
                            <m:t>3</m:t>
                          </m:r>
                        </m:num>
                        <m:den>
                          <m:r>
                            <a:rPr lang="en-GB" i="1">
                              <a:latin typeface="Cambria Math" panose="02040503050406030204" pitchFamily="18" charset="0"/>
                            </a:rPr>
                            <m:t>4</m:t>
                          </m:r>
                        </m:den>
                      </m:f>
                    </m:oMath>
                    <m:oMath>
                      <m:r>
                        <a:rPr lang="en-GB" i="1">
                          <a:latin typeface="Cambria Math" panose="02040503050406030204" pitchFamily="18" charset="0"/>
                        </a:rPr>
                        <m:t>𝑦</m:t>
                      </m:r>
                      <m:r>
                        <a:rPr lang="en-GB" i="1">
                          <a:latin typeface="Cambria Math" panose="02040503050406030204" pitchFamily="18" charset="0"/>
                        </a:rPr>
                        <m:t>−9=−</m:t>
                      </m:r>
                      <m:f>
                        <m:fPr>
                          <m:ctrlPr>
                            <a:rPr lang="en-GB" i="1">
                              <a:latin typeface="Cambria Math" panose="02040503050406030204" pitchFamily="18" charset="0"/>
                            </a:rPr>
                          </m:ctrlPr>
                        </m:fPr>
                        <m:num>
                          <m:r>
                            <a:rPr lang="en-GB" i="1">
                              <a:latin typeface="Cambria Math" panose="02040503050406030204" pitchFamily="18" charset="0"/>
                            </a:rPr>
                            <m:t>3</m:t>
                          </m:r>
                        </m:num>
                        <m:den>
                          <m:r>
                            <a:rPr lang="en-GB" i="1">
                              <a:latin typeface="Cambria Math" panose="02040503050406030204" pitchFamily="18" charset="0"/>
                            </a:rPr>
                            <m:t>4</m:t>
                          </m:r>
                        </m:den>
                      </m:f>
                      <m:d>
                        <m:dPr>
                          <m:ctrlPr>
                            <a:rPr lang="en-GB" i="1">
                              <a:latin typeface="Cambria Math" panose="02040503050406030204" pitchFamily="18" charset="0"/>
                            </a:rPr>
                          </m:ctrlPr>
                        </m:dPr>
                        <m:e>
                          <m:r>
                            <a:rPr lang="en-GB" i="1">
                              <a:latin typeface="Cambria Math" panose="02040503050406030204" pitchFamily="18" charset="0"/>
                            </a:rPr>
                            <m:t>𝑥</m:t>
                          </m:r>
                          <m:r>
                            <a:rPr lang="en-GB" i="1">
                              <a:latin typeface="Cambria Math" panose="02040503050406030204" pitchFamily="18" charset="0"/>
                            </a:rPr>
                            <m:t>−6</m:t>
                          </m:r>
                        </m:e>
                      </m:d>
                    </m:oMath>
                    <m:oMath>
                      <m:r>
                        <a:rPr lang="en-GB" i="1">
                          <a:latin typeface="Cambria Math" panose="02040503050406030204" pitchFamily="18" charset="0"/>
                        </a:rPr>
                        <m:t>4</m:t>
                      </m:r>
                      <m:r>
                        <a:rPr lang="en-GB" i="1">
                          <a:latin typeface="Cambria Math" panose="02040503050406030204" pitchFamily="18" charset="0"/>
                        </a:rPr>
                        <m:t>𝑦</m:t>
                      </m:r>
                      <m:r>
                        <a:rPr lang="en-GB" i="1">
                          <a:latin typeface="Cambria Math" panose="02040503050406030204" pitchFamily="18" charset="0"/>
                        </a:rPr>
                        <m:t>−36=−3</m:t>
                      </m:r>
                      <m:d>
                        <m:dPr>
                          <m:ctrlPr>
                            <a:rPr lang="en-GB" i="1">
                              <a:latin typeface="Cambria Math" panose="02040503050406030204" pitchFamily="18" charset="0"/>
                            </a:rPr>
                          </m:ctrlPr>
                        </m:dPr>
                        <m:e>
                          <m:r>
                            <a:rPr lang="en-GB" i="1">
                              <a:latin typeface="Cambria Math" panose="02040503050406030204" pitchFamily="18" charset="0"/>
                            </a:rPr>
                            <m:t>𝑥</m:t>
                          </m:r>
                          <m:r>
                            <a:rPr lang="en-GB" i="1">
                              <a:latin typeface="Cambria Math" panose="02040503050406030204" pitchFamily="18" charset="0"/>
                            </a:rPr>
                            <m:t>−6</m:t>
                          </m:r>
                        </m:e>
                      </m:d>
                    </m:oMath>
                    <m:oMath>
                      <m:r>
                        <a:rPr lang="en-GB" i="1">
                          <a:latin typeface="Cambria Math" panose="02040503050406030204" pitchFamily="18" charset="0"/>
                        </a:rPr>
                        <m:t>4</m:t>
                      </m:r>
                      <m:r>
                        <a:rPr lang="en-GB" i="1">
                          <a:latin typeface="Cambria Math" panose="02040503050406030204" pitchFamily="18" charset="0"/>
                        </a:rPr>
                        <m:t>𝑦</m:t>
                      </m:r>
                      <m:r>
                        <a:rPr lang="en-GB" i="1">
                          <a:latin typeface="Cambria Math" panose="02040503050406030204" pitchFamily="18" charset="0"/>
                        </a:rPr>
                        <m:t>−36=−3</m:t>
                      </m:r>
                      <m:r>
                        <a:rPr lang="en-GB" i="1">
                          <a:latin typeface="Cambria Math" panose="02040503050406030204" pitchFamily="18" charset="0"/>
                        </a:rPr>
                        <m:t>𝑥</m:t>
                      </m:r>
                      <m:r>
                        <a:rPr lang="en-GB" i="1">
                          <a:latin typeface="Cambria Math" panose="02040503050406030204" pitchFamily="18" charset="0"/>
                        </a:rPr>
                        <m:t>+18</m:t>
                      </m:r>
                    </m:oMath>
                    <m:oMath>
                      <m:r>
                        <a:rPr lang="en-GB" i="1">
                          <a:latin typeface="Cambria Math" panose="02040503050406030204" pitchFamily="18" charset="0"/>
                        </a:rPr>
                        <m:t>3</m:t>
                      </m:r>
                      <m:r>
                        <a:rPr lang="en-GB" i="1">
                          <a:latin typeface="Cambria Math" panose="02040503050406030204" pitchFamily="18" charset="0"/>
                        </a:rPr>
                        <m:t>𝑥</m:t>
                      </m:r>
                      <m:r>
                        <a:rPr lang="en-GB" i="1">
                          <a:latin typeface="Cambria Math" panose="02040503050406030204" pitchFamily="18" charset="0"/>
                        </a:rPr>
                        <m:t>+4</m:t>
                      </m:r>
                      <m:r>
                        <a:rPr lang="en-GB" i="1">
                          <a:latin typeface="Cambria Math" panose="02040503050406030204" pitchFamily="18" charset="0"/>
                        </a:rPr>
                        <m:t>𝑦</m:t>
                      </m:r>
                      <m:r>
                        <a:rPr lang="en-GB" i="1">
                          <a:latin typeface="Cambria Math" panose="02040503050406030204" pitchFamily="18" charset="0"/>
                        </a:rPr>
                        <m:t>−54=0</m:t>
                      </m:r>
                    </m:oMath>
                  </m:oMathPara>
                </a14:m>
                <a:endParaRPr lang="en-GB"/>
              </a:p>
            </p:txBody>
          </p:sp>
        </mc:Choice>
        <mc:Fallback>
          <p:sp>
            <p:nvSpPr>
              <p:cNvPr id="6" name="TextBox 5"/>
              <p:cNvSpPr txBox="1">
                <a:spLocks noRot="1" noChangeAspect="1" noMove="1" noResize="1" noEditPoints="1" noAdjustHandles="1" noChangeArrowheads="1" noChangeShapeType="1" noTextEdit="1"/>
              </p:cNvSpPr>
              <p:nvPr/>
            </p:nvSpPr>
            <p:spPr>
              <a:xfrm>
                <a:off x="2004244" y="2780556"/>
                <a:ext cx="3240360" cy="1962332"/>
              </a:xfrm>
              <a:prstGeom prst="rect">
                <a:avLst/>
              </a:prstGeom>
              <a:blipFill>
                <a:blip r:embed="rId3"/>
                <a:stretch>
                  <a:fillRect b="-1282"/>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 name="TextBox 6"/>
              <p:cNvSpPr txBox="1"/>
              <p:nvPr/>
            </p:nvSpPr>
            <p:spPr>
              <a:xfrm>
                <a:off x="5951984" y="788969"/>
                <a:ext cx="4320480" cy="1200329"/>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a:t>A circle passes through the points </a:t>
                </a:r>
                <a14:m>
                  <m:oMath xmlns:m="http://schemas.openxmlformats.org/officeDocument/2006/math">
                    <m:r>
                      <a:rPr lang="en-GB" i="1">
                        <a:latin typeface="Cambria Math" panose="02040503050406030204" pitchFamily="18" charset="0"/>
                      </a:rPr>
                      <m:t>𝐴</m:t>
                    </m:r>
                    <m:r>
                      <a:rPr lang="en-GB" i="1">
                        <a:latin typeface="Cambria Math" panose="02040503050406030204" pitchFamily="18" charset="0"/>
                      </a:rPr>
                      <m:t>(0,0)</m:t>
                    </m:r>
                  </m:oMath>
                </a14:m>
                <a:r>
                  <a:rPr lang="en-GB"/>
                  <a:t> and </a:t>
                </a:r>
                <a14:m>
                  <m:oMath xmlns:m="http://schemas.openxmlformats.org/officeDocument/2006/math">
                    <m:r>
                      <a:rPr lang="en-GB" i="1">
                        <a:latin typeface="Cambria Math" panose="02040503050406030204" pitchFamily="18" charset="0"/>
                      </a:rPr>
                      <m:t>𝐵</m:t>
                    </m:r>
                    <m:d>
                      <m:dPr>
                        <m:ctrlPr>
                          <a:rPr lang="en-GB" i="1">
                            <a:latin typeface="Cambria Math" panose="02040503050406030204" pitchFamily="18" charset="0"/>
                          </a:rPr>
                        </m:ctrlPr>
                      </m:dPr>
                      <m:e>
                        <m:r>
                          <a:rPr lang="en-GB" i="1">
                            <a:latin typeface="Cambria Math" panose="02040503050406030204" pitchFamily="18" charset="0"/>
                          </a:rPr>
                          <m:t>4,2</m:t>
                        </m:r>
                      </m:e>
                    </m:d>
                  </m:oMath>
                </a14:m>
                <a:r>
                  <a:rPr lang="en-GB"/>
                  <a:t>. The centre of the circle has </a:t>
                </a:r>
                <a14:m>
                  <m:oMath xmlns:m="http://schemas.openxmlformats.org/officeDocument/2006/math">
                    <m:r>
                      <a:rPr lang="en-GB" i="1">
                        <a:latin typeface="Cambria Math" panose="02040503050406030204" pitchFamily="18" charset="0"/>
                      </a:rPr>
                      <m:t>𝑥</m:t>
                    </m:r>
                  </m:oMath>
                </a14:m>
                <a:r>
                  <a:rPr lang="en-GB"/>
                  <a:t> value -1. Determine the equation of the circle.</a:t>
                </a:r>
              </a:p>
            </p:txBody>
          </p:sp>
        </mc:Choice>
        <mc:Fallback>
          <p:sp>
            <p:nvSpPr>
              <p:cNvPr id="7" name="TextBox 6"/>
              <p:cNvSpPr txBox="1">
                <a:spLocks noRot="1" noChangeAspect="1" noMove="1" noResize="1" noEditPoints="1" noAdjustHandles="1" noChangeArrowheads="1" noChangeShapeType="1" noTextEdit="1"/>
              </p:cNvSpPr>
              <p:nvPr/>
            </p:nvSpPr>
            <p:spPr>
              <a:xfrm>
                <a:off x="5951984" y="788969"/>
                <a:ext cx="4320480" cy="1200329"/>
              </a:xfrm>
              <a:prstGeom prst="rect">
                <a:avLst/>
              </a:prstGeom>
              <a:blipFill>
                <a:blip r:embed="rId4"/>
                <a:stretch>
                  <a:fillRect b="-1852"/>
                </a:stretch>
              </a:blipFill>
              <a:effectLst>
                <a:outerShdw blurRad="63500" sx="102000" sy="102000" algn="ctr" rotWithShape="0">
                  <a:prstClr val="black">
                    <a:alpha val="40000"/>
                  </a:prstClr>
                </a:outerShdw>
              </a:effectLst>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8" name="TextBox 7"/>
              <p:cNvSpPr txBox="1"/>
              <p:nvPr/>
            </p:nvSpPr>
            <p:spPr>
              <a:xfrm>
                <a:off x="5951984" y="2348880"/>
                <a:ext cx="4320480" cy="3414846"/>
              </a:xfrm>
              <a:prstGeom prst="rect">
                <a:avLst/>
              </a:prstGeom>
              <a:noFill/>
            </p:spPr>
            <p:txBody>
              <a:bodyPr wrap="square" rtlCol="0">
                <a:spAutoFit/>
              </a:bodyPr>
              <a:lstStyle/>
              <a:p>
                <a:pPr/>
                <a14:m>
                  <m:oMathPara xmlns:m="http://schemas.openxmlformats.org/officeDocument/2006/math">
                    <m:oMath>
                      <m:sSub>
                        <m:sSubPr>
                          <m:ctrlPr>
                            <a:rPr lang="en-GB" i="1">
                              <a:latin typeface="Cambria Math" panose="02040503050406030204" pitchFamily="18" charset="0"/>
                            </a:rPr>
                          </m:ctrlPr>
                        </m:sSubPr>
                        <m:e>
                          <m:r>
                            <a:rPr lang="en-GB" i="1">
                              <a:latin typeface="Cambria Math" panose="02040503050406030204" pitchFamily="18" charset="0"/>
                            </a:rPr>
                            <m:t>𝑚</m:t>
                          </m:r>
                        </m:e>
                        <m:sub>
                          <m:r>
                            <a:rPr lang="en-GB" i="1">
                              <a:latin typeface="Cambria Math" panose="02040503050406030204" pitchFamily="18" charset="0"/>
                            </a:rPr>
                            <m:t>𝐴𝐵</m:t>
                          </m:r>
                        </m:sub>
                      </m:sSub>
                      <m:r>
                        <a:rPr lang="en-GB" i="1">
                          <a:latin typeface="Cambria Math" panose="02040503050406030204" pitchFamily="18" charset="0"/>
                        </a:rPr>
                        <m:t>=</m:t>
                      </m:r>
                      <m:f>
                        <m:fPr>
                          <m:ctrlPr>
                            <a:rPr lang="en-GB" i="1">
                              <a:latin typeface="Cambria Math" panose="02040503050406030204" pitchFamily="18" charset="0"/>
                            </a:rPr>
                          </m:ctrlPr>
                        </m:fPr>
                        <m:num>
                          <m:r>
                            <a:rPr lang="en-GB" i="1">
                              <a:latin typeface="Cambria Math" panose="02040503050406030204" pitchFamily="18" charset="0"/>
                            </a:rPr>
                            <m:t>2</m:t>
                          </m:r>
                        </m:num>
                        <m:den>
                          <m:r>
                            <a:rPr lang="en-GB" i="1">
                              <a:latin typeface="Cambria Math" panose="02040503050406030204" pitchFamily="18" charset="0"/>
                            </a:rPr>
                            <m:t>4</m:t>
                          </m:r>
                        </m:den>
                      </m:f>
                      <m:r>
                        <a:rPr lang="en-GB" i="1">
                          <a:latin typeface="Cambria Math" panose="02040503050406030204" pitchFamily="18" charset="0"/>
                        </a:rPr>
                        <m:t>=</m:t>
                      </m:r>
                      <m:f>
                        <m:fPr>
                          <m:ctrlPr>
                            <a:rPr lang="en-GB" i="1">
                              <a:latin typeface="Cambria Math" panose="02040503050406030204" pitchFamily="18" charset="0"/>
                            </a:rPr>
                          </m:ctrlPr>
                        </m:fPr>
                        <m:num>
                          <m:r>
                            <a:rPr lang="en-GB" i="1">
                              <a:latin typeface="Cambria Math" panose="02040503050406030204" pitchFamily="18" charset="0"/>
                            </a:rPr>
                            <m:t>1</m:t>
                          </m:r>
                        </m:num>
                        <m:den>
                          <m:r>
                            <a:rPr lang="en-GB" i="1">
                              <a:latin typeface="Cambria Math" panose="02040503050406030204" pitchFamily="18" charset="0"/>
                            </a:rPr>
                            <m:t>2</m:t>
                          </m:r>
                        </m:den>
                      </m:f>
                      <m:r>
                        <a:rPr lang="en-GB" i="1">
                          <a:latin typeface="Cambria Math" panose="02040503050406030204" pitchFamily="18" charset="0"/>
                        </a:rPr>
                        <m:t>     </m:t>
                      </m:r>
                      <m:sSub>
                        <m:sSubPr>
                          <m:ctrlPr>
                            <a:rPr lang="en-GB" i="1">
                              <a:latin typeface="Cambria Math" panose="02040503050406030204" pitchFamily="18" charset="0"/>
                            </a:rPr>
                          </m:ctrlPr>
                        </m:sSubPr>
                        <m:e>
                          <m:r>
                            <a:rPr lang="en-GB" i="1">
                              <a:latin typeface="Cambria Math" panose="02040503050406030204" pitchFamily="18" charset="0"/>
                            </a:rPr>
                            <m:t>𝑚</m:t>
                          </m:r>
                        </m:e>
                        <m:sub>
                          <m:r>
                            <a:rPr lang="en-GB" i="1">
                              <a:latin typeface="Cambria Math" panose="02040503050406030204" pitchFamily="18" charset="0"/>
                            </a:rPr>
                            <m:t>⊥</m:t>
                          </m:r>
                        </m:sub>
                      </m:sSub>
                      <m:r>
                        <a:rPr lang="en-GB" i="1">
                          <a:latin typeface="Cambria Math" panose="02040503050406030204" pitchFamily="18" charset="0"/>
                        </a:rPr>
                        <m:t>=−2</m:t>
                      </m:r>
                    </m:oMath>
                    <m:oMath>
                      <m:r>
                        <a:rPr lang="en-GB" i="1">
                          <a:latin typeface="Cambria Math" panose="02040503050406030204" pitchFamily="18" charset="0"/>
                        </a:rPr>
                        <m:t>𝑀</m:t>
                      </m:r>
                      <m:d>
                        <m:dPr>
                          <m:ctrlPr>
                            <a:rPr lang="en-GB" i="1">
                              <a:latin typeface="Cambria Math" panose="02040503050406030204" pitchFamily="18" charset="0"/>
                            </a:rPr>
                          </m:ctrlPr>
                        </m:dPr>
                        <m:e>
                          <m:r>
                            <a:rPr lang="en-GB" i="1">
                              <a:latin typeface="Cambria Math" panose="02040503050406030204" pitchFamily="18" charset="0"/>
                            </a:rPr>
                            <m:t>2,1</m:t>
                          </m:r>
                        </m:e>
                      </m:d>
                    </m:oMath>
                  </m:oMathPara>
                </a14:m>
                <a:br>
                  <a:rPr lang="en-GB"/>
                </a:br>
                <a:endParaRPr lang="en-GB"/>
              </a:p>
              <a:p>
                <a:r>
                  <a:rPr lang="en-GB"/>
                  <a:t>Equation of perpendicular bisector of chord:</a:t>
                </a:r>
              </a:p>
              <a:p>
                <a:pPr/>
                <a14:m>
                  <m:oMathPara xmlns:m="http://schemas.openxmlformats.org/officeDocument/2006/math">
                    <m:oMath>
                      <m:r>
                        <a:rPr lang="en-GB" i="1">
                          <a:latin typeface="Cambria Math" panose="02040503050406030204" pitchFamily="18" charset="0"/>
                        </a:rPr>
                        <m:t>𝑦</m:t>
                      </m:r>
                      <m:r>
                        <a:rPr lang="en-GB" i="1">
                          <a:latin typeface="Cambria Math" panose="02040503050406030204" pitchFamily="18" charset="0"/>
                        </a:rPr>
                        <m:t>−1=−2</m:t>
                      </m:r>
                      <m:d>
                        <m:dPr>
                          <m:ctrlPr>
                            <a:rPr lang="en-GB" i="1">
                              <a:latin typeface="Cambria Math" panose="02040503050406030204" pitchFamily="18" charset="0"/>
                            </a:rPr>
                          </m:ctrlPr>
                        </m:dPr>
                        <m:e>
                          <m:r>
                            <a:rPr lang="en-GB" i="1">
                              <a:latin typeface="Cambria Math" panose="02040503050406030204" pitchFamily="18" charset="0"/>
                            </a:rPr>
                            <m:t>𝑥</m:t>
                          </m:r>
                          <m:r>
                            <a:rPr lang="en-GB" i="1">
                              <a:latin typeface="Cambria Math" panose="02040503050406030204" pitchFamily="18" charset="0"/>
                            </a:rPr>
                            <m:t>−2</m:t>
                          </m:r>
                        </m:e>
                      </m:d>
                    </m:oMath>
                  </m:oMathPara>
                </a14:m>
                <a:br>
                  <a:rPr lang="en-GB"/>
                </a:br>
                <a:endParaRPr lang="en-GB"/>
              </a:p>
              <a:p>
                <a:r>
                  <a:rPr lang="en-GB"/>
                  <a:t>When </a:t>
                </a:r>
                <a14:m>
                  <m:oMath xmlns:m="http://schemas.openxmlformats.org/officeDocument/2006/math">
                    <m:r>
                      <a:rPr lang="en-GB" i="1">
                        <a:latin typeface="Cambria Math" panose="02040503050406030204" pitchFamily="18" charset="0"/>
                      </a:rPr>
                      <m:t>𝑥</m:t>
                    </m:r>
                    <m:r>
                      <a:rPr lang="en-GB" i="1">
                        <a:latin typeface="Cambria Math" panose="02040503050406030204" pitchFamily="18" charset="0"/>
                      </a:rPr>
                      <m:t>=−1</m:t>
                    </m:r>
                  </m:oMath>
                </a14:m>
                <a:r>
                  <a:rPr lang="en-GB"/>
                  <a:t>:</a:t>
                </a:r>
              </a:p>
              <a:p>
                <a:pPr/>
                <a14:m>
                  <m:oMathPara xmlns:m="http://schemas.openxmlformats.org/officeDocument/2006/math">
                    <m:oMath>
                      <m:r>
                        <a:rPr lang="en-GB" i="1">
                          <a:latin typeface="Cambria Math" panose="02040503050406030204" pitchFamily="18" charset="0"/>
                        </a:rPr>
                        <m:t>𝑦</m:t>
                      </m:r>
                      <m:r>
                        <a:rPr lang="en-GB" i="1">
                          <a:latin typeface="Cambria Math" panose="02040503050406030204" pitchFamily="18" charset="0"/>
                        </a:rPr>
                        <m:t>−1=−2</m:t>
                      </m:r>
                      <m:d>
                        <m:dPr>
                          <m:ctrlPr>
                            <a:rPr lang="en-GB" i="1">
                              <a:latin typeface="Cambria Math" panose="02040503050406030204" pitchFamily="18" charset="0"/>
                            </a:rPr>
                          </m:ctrlPr>
                        </m:dPr>
                        <m:e>
                          <m:r>
                            <a:rPr lang="en-GB" i="1">
                              <a:latin typeface="Cambria Math" panose="02040503050406030204" pitchFamily="18" charset="0"/>
                            </a:rPr>
                            <m:t>−1−2</m:t>
                          </m:r>
                        </m:e>
                      </m:d>
                    </m:oMath>
                    <m:oMath>
                      <m:r>
                        <a:rPr lang="en-GB" i="1">
                          <a:latin typeface="Cambria Math" panose="02040503050406030204" pitchFamily="18" charset="0"/>
                        </a:rPr>
                        <m:t>𝑦</m:t>
                      </m:r>
                      <m:r>
                        <a:rPr lang="en-GB" i="1">
                          <a:latin typeface="Cambria Math" panose="02040503050406030204" pitchFamily="18" charset="0"/>
                        </a:rPr>
                        <m:t>−1=6</m:t>
                      </m:r>
                    </m:oMath>
                    <m:oMath>
                      <m:r>
                        <a:rPr lang="en-GB" i="1">
                          <a:latin typeface="Cambria Math" panose="02040503050406030204" pitchFamily="18" charset="0"/>
                        </a:rPr>
                        <m:t>𝑦</m:t>
                      </m:r>
                      <m:r>
                        <a:rPr lang="en-GB" i="1">
                          <a:latin typeface="Cambria Math" panose="02040503050406030204" pitchFamily="18" charset="0"/>
                        </a:rPr>
                        <m:t>=7</m:t>
                      </m:r>
                    </m:oMath>
                  </m:oMathPara>
                </a14:m>
                <a:endParaRPr lang="en-GB"/>
              </a:p>
              <a:p>
                <a:r>
                  <a:rPr lang="en-GB"/>
                  <a:t>Centre: </a:t>
                </a:r>
                <a14:m>
                  <m:oMath xmlns:m="http://schemas.openxmlformats.org/officeDocument/2006/math">
                    <m:r>
                      <a:rPr lang="en-GB" i="1">
                        <a:latin typeface="Cambria Math" panose="02040503050406030204" pitchFamily="18" charset="0"/>
                      </a:rPr>
                      <m:t>𝐶</m:t>
                    </m:r>
                    <m:r>
                      <a:rPr lang="en-GB" i="1">
                        <a:latin typeface="Cambria Math" panose="02040503050406030204" pitchFamily="18" charset="0"/>
                      </a:rPr>
                      <m:t>(−1,7)</m:t>
                    </m:r>
                  </m:oMath>
                </a14:m>
                <a:endParaRPr lang="en-GB"/>
              </a:p>
              <a:p>
                <a:r>
                  <a:rPr lang="en-GB"/>
                  <a:t>Radius (using length </a:t>
                </a:r>
                <a14:m>
                  <m:oMath xmlns:m="http://schemas.openxmlformats.org/officeDocument/2006/math">
                    <m:r>
                      <a:rPr lang="en-GB" i="1">
                        <a:latin typeface="Cambria Math" panose="02040503050406030204" pitchFamily="18" charset="0"/>
                      </a:rPr>
                      <m:t>𝐴𝐶</m:t>
                    </m:r>
                  </m:oMath>
                </a14:m>
                <a:r>
                  <a:rPr lang="en-GB"/>
                  <a:t>): </a:t>
                </a:r>
                <a14:m>
                  <m:oMath xmlns:m="http://schemas.openxmlformats.org/officeDocument/2006/math">
                    <m:rad>
                      <m:radPr>
                        <m:degHide m:val="on"/>
                        <m:ctrlPr>
                          <a:rPr lang="en-GB" i="1">
                            <a:latin typeface="Cambria Math" panose="02040503050406030204" pitchFamily="18" charset="0"/>
                          </a:rPr>
                        </m:ctrlPr>
                      </m:radPr>
                      <m:deg/>
                      <m:e>
                        <m:sSup>
                          <m:sSupPr>
                            <m:ctrlPr>
                              <a:rPr lang="en-GB" i="1">
                                <a:latin typeface="Cambria Math" panose="02040503050406030204" pitchFamily="18" charset="0"/>
                              </a:rPr>
                            </m:ctrlPr>
                          </m:sSupPr>
                          <m:e>
                            <m:r>
                              <a:rPr lang="en-GB" i="1">
                                <a:latin typeface="Cambria Math" panose="02040503050406030204" pitchFamily="18" charset="0"/>
                              </a:rPr>
                              <m:t>1</m:t>
                            </m:r>
                          </m:e>
                          <m:sup>
                            <m:r>
                              <a:rPr lang="en-GB" i="1">
                                <a:latin typeface="Cambria Math" panose="02040503050406030204" pitchFamily="18" charset="0"/>
                              </a:rPr>
                              <m:t>2</m:t>
                            </m:r>
                          </m:sup>
                        </m:sSup>
                        <m:r>
                          <a:rPr lang="en-GB" i="1">
                            <a:latin typeface="Cambria Math" panose="02040503050406030204" pitchFamily="18" charset="0"/>
                          </a:rPr>
                          <m:t>+</m:t>
                        </m:r>
                        <m:sSup>
                          <m:sSupPr>
                            <m:ctrlPr>
                              <a:rPr lang="en-GB" i="1">
                                <a:latin typeface="Cambria Math" panose="02040503050406030204" pitchFamily="18" charset="0"/>
                              </a:rPr>
                            </m:ctrlPr>
                          </m:sSupPr>
                          <m:e>
                            <m:r>
                              <a:rPr lang="en-GB" i="1">
                                <a:latin typeface="Cambria Math" panose="02040503050406030204" pitchFamily="18" charset="0"/>
                              </a:rPr>
                              <m:t>7</m:t>
                            </m:r>
                          </m:e>
                          <m:sup>
                            <m:r>
                              <a:rPr lang="en-GB" i="1">
                                <a:latin typeface="Cambria Math" panose="02040503050406030204" pitchFamily="18" charset="0"/>
                              </a:rPr>
                              <m:t>2</m:t>
                            </m:r>
                          </m:sup>
                        </m:sSup>
                      </m:e>
                    </m:rad>
                    <m:r>
                      <a:rPr lang="en-GB" i="1">
                        <a:latin typeface="Cambria Math" panose="02040503050406030204" pitchFamily="18" charset="0"/>
                      </a:rPr>
                      <m:t>=</m:t>
                    </m:r>
                    <m:rad>
                      <m:radPr>
                        <m:degHide m:val="on"/>
                        <m:ctrlPr>
                          <a:rPr lang="en-GB" i="1">
                            <a:latin typeface="Cambria Math" panose="02040503050406030204" pitchFamily="18" charset="0"/>
                          </a:rPr>
                        </m:ctrlPr>
                      </m:radPr>
                      <m:deg/>
                      <m:e>
                        <m:r>
                          <a:rPr lang="en-GB" i="1">
                            <a:latin typeface="Cambria Math" panose="02040503050406030204" pitchFamily="18" charset="0"/>
                          </a:rPr>
                          <m:t>50</m:t>
                        </m:r>
                      </m:e>
                    </m:rad>
                  </m:oMath>
                </a14:m>
                <a:endParaRPr lang="en-GB"/>
              </a:p>
              <a:p>
                <a:pPr/>
                <a14:m>
                  <m:oMathPara xmlns:m="http://schemas.openxmlformats.org/officeDocument/2006/math">
                    <m:oMath>
                      <m:sSup>
                        <m:sSupPr>
                          <m:ctrlPr>
                            <a:rPr lang="en-GB" i="1">
                              <a:latin typeface="Cambria Math" panose="02040503050406030204" pitchFamily="18" charset="0"/>
                            </a:rPr>
                          </m:ctrlPr>
                        </m:sSupPr>
                        <m:e>
                          <m:d>
                            <m:dPr>
                              <m:ctrlPr>
                                <a:rPr lang="en-GB" i="1">
                                  <a:latin typeface="Cambria Math" panose="02040503050406030204" pitchFamily="18" charset="0"/>
                                </a:rPr>
                              </m:ctrlPr>
                            </m:dPr>
                            <m:e>
                              <m:r>
                                <a:rPr lang="en-GB" i="1">
                                  <a:latin typeface="Cambria Math" panose="02040503050406030204" pitchFamily="18" charset="0"/>
                                </a:rPr>
                                <m:t>𝑥</m:t>
                              </m:r>
                              <m:r>
                                <a:rPr lang="en-GB" i="1">
                                  <a:latin typeface="Cambria Math" panose="02040503050406030204" pitchFamily="18" charset="0"/>
                                </a:rPr>
                                <m:t>+1</m:t>
                              </m:r>
                            </m:e>
                          </m:d>
                        </m:e>
                        <m:sup>
                          <m:r>
                            <a:rPr lang="en-GB" i="1">
                              <a:latin typeface="Cambria Math" panose="02040503050406030204" pitchFamily="18" charset="0"/>
                            </a:rPr>
                            <m:t>2</m:t>
                          </m:r>
                        </m:sup>
                      </m:sSup>
                      <m:r>
                        <a:rPr lang="en-GB" i="1">
                          <a:latin typeface="Cambria Math" panose="02040503050406030204" pitchFamily="18" charset="0"/>
                        </a:rPr>
                        <m:t>+</m:t>
                      </m:r>
                      <m:sSup>
                        <m:sSupPr>
                          <m:ctrlPr>
                            <a:rPr lang="en-GB" i="1">
                              <a:latin typeface="Cambria Math" panose="02040503050406030204" pitchFamily="18" charset="0"/>
                            </a:rPr>
                          </m:ctrlPr>
                        </m:sSupPr>
                        <m:e>
                          <m:d>
                            <m:dPr>
                              <m:ctrlPr>
                                <a:rPr lang="en-GB" i="1">
                                  <a:latin typeface="Cambria Math" panose="02040503050406030204" pitchFamily="18" charset="0"/>
                                </a:rPr>
                              </m:ctrlPr>
                            </m:dPr>
                            <m:e>
                              <m:r>
                                <a:rPr lang="en-GB" i="1">
                                  <a:latin typeface="Cambria Math" panose="02040503050406030204" pitchFamily="18" charset="0"/>
                                </a:rPr>
                                <m:t>𝑦</m:t>
                              </m:r>
                              <m:r>
                                <a:rPr lang="en-GB" i="1">
                                  <a:latin typeface="Cambria Math" panose="02040503050406030204" pitchFamily="18" charset="0"/>
                                </a:rPr>
                                <m:t>−7</m:t>
                              </m:r>
                            </m:e>
                          </m:d>
                        </m:e>
                        <m:sup>
                          <m:r>
                            <a:rPr lang="en-GB" i="1">
                              <a:latin typeface="Cambria Math" panose="02040503050406030204" pitchFamily="18" charset="0"/>
                            </a:rPr>
                            <m:t>2</m:t>
                          </m:r>
                        </m:sup>
                      </m:sSup>
                      <m:r>
                        <a:rPr lang="en-GB" i="1">
                          <a:latin typeface="Cambria Math" panose="02040503050406030204" pitchFamily="18" charset="0"/>
                        </a:rPr>
                        <m:t>=50 </m:t>
                      </m:r>
                    </m:oMath>
                  </m:oMathPara>
                </a14:m>
                <a:endParaRPr lang="en-GB"/>
              </a:p>
            </p:txBody>
          </p:sp>
        </mc:Choice>
        <mc:Fallback>
          <p:sp>
            <p:nvSpPr>
              <p:cNvPr id="8" name="TextBox 7"/>
              <p:cNvSpPr txBox="1">
                <a:spLocks noRot="1" noChangeAspect="1" noMove="1" noResize="1" noEditPoints="1" noAdjustHandles="1" noChangeArrowheads="1" noChangeShapeType="1" noTextEdit="1"/>
              </p:cNvSpPr>
              <p:nvPr/>
            </p:nvSpPr>
            <p:spPr>
              <a:xfrm>
                <a:off x="5951984" y="2348880"/>
                <a:ext cx="4320480" cy="3414846"/>
              </a:xfrm>
              <a:prstGeom prst="rect">
                <a:avLst/>
              </a:prstGeom>
              <a:blipFill>
                <a:blip r:embed="rId5"/>
                <a:stretch>
                  <a:fillRect l="-1173" r="-880" b="-1111"/>
                </a:stretch>
              </a:blipFill>
            </p:spPr>
            <p:txBody>
              <a:bodyPr/>
              <a:lstStyle/>
              <a:p>
                <a:r>
                  <a:rPr lang="en-US">
                    <a:noFill/>
                  </a:rPr>
                  <a:t> </a:t>
                </a:r>
              </a:p>
            </p:txBody>
          </p:sp>
        </mc:Fallback>
      </mc:AlternateContent>
      <p:sp>
        <p:nvSpPr>
          <p:cNvPr id="9" name="Rectangle 8"/>
          <p:cNvSpPr/>
          <p:nvPr/>
        </p:nvSpPr>
        <p:spPr>
          <a:xfrm>
            <a:off x="1915469" y="2577278"/>
            <a:ext cx="3604468" cy="2723930"/>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
        <p:nvSpPr>
          <p:cNvPr id="10" name="Rectangle 9"/>
          <p:cNvSpPr/>
          <p:nvPr/>
        </p:nvSpPr>
        <p:spPr>
          <a:xfrm>
            <a:off x="5951983" y="1989297"/>
            <a:ext cx="4320481" cy="4031991"/>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Tree>
    <p:extLst>
      <p:ext uri="{BB962C8B-B14F-4D97-AF65-F5344CB8AC3E}">
        <p14:creationId xmlns:p14="http://schemas.microsoft.com/office/powerpoint/2010/main" val="869845387"/>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9"/>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9"/>
                                        </p:tgtEl>
                                      </p:cBhvr>
                                    </p:animEffect>
                                    <p:set>
                                      <p:cBhvr>
                                        <p:cTn id="7" dur="1" fill="hold">
                                          <p:stCondLst>
                                            <p:cond delay="499"/>
                                          </p:stCondLst>
                                        </p:cTn>
                                        <p:tgtEl>
                                          <p:spTgt spid="9"/>
                                        </p:tgtEl>
                                        <p:attrNameLst>
                                          <p:attrName>style.visibility</p:attrName>
                                        </p:attrNameLst>
                                      </p:cBhvr>
                                      <p:to>
                                        <p:strVal val="hidden"/>
                                      </p:to>
                                    </p:set>
                                  </p:childTnLst>
                                </p:cTn>
                              </p:par>
                            </p:childTnLst>
                          </p:cTn>
                        </p:par>
                      </p:childTnLst>
                    </p:cTn>
                  </p:par>
                </p:childTnLst>
              </p:cTn>
              <p:nextCondLst>
                <p:cond evt="onClick" delay="0">
                  <p:tgtEl>
                    <p:spTgt spid="9"/>
                  </p:tgtEl>
                </p:cond>
              </p:nextCondLst>
            </p:seq>
            <p:seq concurrent="1" nextAc="seek">
              <p:cTn id="8" restart="whenNotActive" fill="hold" evtFilter="cancelBubble" nodeType="interactiveSeq">
                <p:stCondLst>
                  <p:cond evt="onClick" delay="0">
                    <p:tgtEl>
                      <p:spTgt spid="10"/>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10"/>
                                        </p:tgtEl>
                                      </p:cBhvr>
                                    </p:animEffect>
                                    <p:set>
                                      <p:cBhvr>
                                        <p:cTn id="13" dur="1" fill="hold">
                                          <p:stCondLst>
                                            <p:cond delay="499"/>
                                          </p:stCondLst>
                                        </p:cTn>
                                        <p:tgtEl>
                                          <p:spTgt spid="10"/>
                                        </p:tgtEl>
                                        <p:attrNameLst>
                                          <p:attrName>style.visibility</p:attrName>
                                        </p:attrNameLst>
                                      </p:cBhvr>
                                      <p:to>
                                        <p:strVal val="hidden"/>
                                      </p:to>
                                    </p:set>
                                  </p:childTnLst>
                                </p:cTn>
                              </p:par>
                            </p:childTnLst>
                          </p:cTn>
                        </p:par>
                      </p:childTnLst>
                    </p:cTn>
                  </p:par>
                </p:childTnLst>
              </p:cTn>
              <p:nextCondLst>
                <p:cond evt="onClick" delay="0">
                  <p:tgtEl>
                    <p:spTgt spid="10"/>
                  </p:tgtEl>
                </p:cond>
              </p:nextCondLst>
            </p:seq>
          </p:childTnLst>
        </p:cTn>
      </p:par>
    </p:tnLst>
    <p:bldLst>
      <p:bldP spid="9" grpId="0" animBg="1"/>
      <p:bldP spid="10" grpId="0" animBg="1"/>
    </p:bldLst>
  </p:timing>
</p:sld>
</file>

<file path=ppt/c6/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0" y="1"/>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a:t>Exercise 6E - Y1 Page 126-128</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p:grpSp>
        <p:nvGrpSpPr>
          <p:cNvPr id="7" name="Group 6">
            <a:extLst>
              <a:ext uri="{FF2B5EF4-FFF2-40B4-BE49-F238E27FC236}">
                <a16:creationId xmlns:a16="http://schemas.microsoft.com/office/drawing/2014/main" id="{34F7FAF8-1DB1-BD4C-FC62-168B6E2A37A6}"/>
              </a:ext>
            </a:extLst>
          </p:cNvPr>
          <p:cNvGrpSpPr/>
          <p:nvPr/>
        </p:nvGrpSpPr>
        <p:grpSpPr>
          <a:xfrm>
            <a:off x="1631504" y="627204"/>
            <a:ext cx="7920880" cy="929589"/>
            <a:chOff x="107504" y="627203"/>
            <a:chExt cx="7920880" cy="929589"/>
          </a:xfrm>
        </p:grpSpPr>
        <p:pic>
          <p:nvPicPr>
            <p:cNvPr id="5" name="Picture 4">
              <a:extLst>
                <a:ext uri="{FF2B5EF4-FFF2-40B4-BE49-F238E27FC236}">
                  <a16:creationId xmlns:a16="http://schemas.microsoft.com/office/drawing/2014/main" id="{9120F7DB-19A9-764F-ACEB-628A7ECF04C1}"/>
                </a:ext>
              </a:extLst>
            </p:cNvPr>
            <p:cNvPicPr>
              <a:picLocks noChangeAspect="1"/>
            </p:cNvPicPr>
            <p:nvPr/>
          </p:nvPicPr>
          <p:blipFill>
            <a:blip r:embed="rId2"/>
            <a:stretch>
              <a:fillRect/>
            </a:stretch>
          </p:blipFill>
          <p:spPr>
            <a:xfrm>
              <a:off x="107504" y="627203"/>
              <a:ext cx="7772400" cy="835494"/>
            </a:xfrm>
            <a:prstGeom prst="rect">
              <a:avLst/>
            </a:prstGeom>
          </p:spPr>
        </p:pic>
        <p:sp>
          <p:nvSpPr>
            <p:cNvPr id="6" name="Rectangle 5">
              <a:extLst>
                <a:ext uri="{FF2B5EF4-FFF2-40B4-BE49-F238E27FC236}">
                  <a16:creationId xmlns:a16="http://schemas.microsoft.com/office/drawing/2014/main" id="{893B3B3D-1E14-CD46-4D89-CC9B0E393788}"/>
                </a:ext>
              </a:extLst>
            </p:cNvPr>
            <p:cNvSpPr/>
            <p:nvPr/>
          </p:nvSpPr>
          <p:spPr>
            <a:xfrm>
              <a:off x="6948264" y="980728"/>
              <a:ext cx="1080120" cy="57606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8" name="Picture 7">
            <a:extLst>
              <a:ext uri="{FF2B5EF4-FFF2-40B4-BE49-F238E27FC236}">
                <a16:creationId xmlns:a16="http://schemas.microsoft.com/office/drawing/2014/main" id="{935F5852-39AE-87F9-EE2B-ED106BBDC077}"/>
              </a:ext>
            </a:extLst>
          </p:cNvPr>
          <p:cNvPicPr>
            <a:picLocks noChangeAspect="1"/>
          </p:cNvPicPr>
          <p:nvPr/>
        </p:nvPicPr>
        <p:blipFill>
          <a:blip r:embed="rId3"/>
          <a:stretch>
            <a:fillRect/>
          </a:stretch>
        </p:blipFill>
        <p:spPr>
          <a:xfrm>
            <a:off x="1775520" y="1809624"/>
            <a:ext cx="4104456" cy="1619376"/>
          </a:xfrm>
          <a:prstGeom prst="rect">
            <a:avLst/>
          </a:prstGeom>
        </p:spPr>
      </p:pic>
      <p:pic>
        <p:nvPicPr>
          <p:cNvPr id="9" name="Picture 8">
            <a:extLst>
              <a:ext uri="{FF2B5EF4-FFF2-40B4-BE49-F238E27FC236}">
                <a16:creationId xmlns:a16="http://schemas.microsoft.com/office/drawing/2014/main" id="{4D389458-6B9E-2D91-487D-5B08FA858603}"/>
              </a:ext>
            </a:extLst>
          </p:cNvPr>
          <p:cNvPicPr>
            <a:picLocks noChangeAspect="1"/>
          </p:cNvPicPr>
          <p:nvPr/>
        </p:nvPicPr>
        <p:blipFill>
          <a:blip r:embed="rId4"/>
          <a:stretch>
            <a:fillRect/>
          </a:stretch>
        </p:blipFill>
        <p:spPr>
          <a:xfrm>
            <a:off x="1991544" y="3429001"/>
            <a:ext cx="2016224" cy="1231585"/>
          </a:xfrm>
          <a:prstGeom prst="rect">
            <a:avLst/>
          </a:prstGeom>
        </p:spPr>
      </p:pic>
      <p:pic>
        <p:nvPicPr>
          <p:cNvPr id="10" name="Picture 9">
            <a:extLst>
              <a:ext uri="{FF2B5EF4-FFF2-40B4-BE49-F238E27FC236}">
                <a16:creationId xmlns:a16="http://schemas.microsoft.com/office/drawing/2014/main" id="{9CA6C159-C9B0-FCDB-C6F4-45B1812F083F}"/>
              </a:ext>
            </a:extLst>
          </p:cNvPr>
          <p:cNvPicPr>
            <a:picLocks noChangeAspect="1"/>
          </p:cNvPicPr>
          <p:nvPr/>
        </p:nvPicPr>
        <p:blipFill>
          <a:blip r:embed="rId5"/>
          <a:stretch>
            <a:fillRect/>
          </a:stretch>
        </p:blipFill>
        <p:spPr>
          <a:xfrm>
            <a:off x="1991544" y="4736692"/>
            <a:ext cx="2520280" cy="1795699"/>
          </a:xfrm>
          <a:prstGeom prst="rect">
            <a:avLst/>
          </a:prstGeom>
        </p:spPr>
      </p:pic>
      <p:pic>
        <p:nvPicPr>
          <p:cNvPr id="11" name="Picture 10">
            <a:extLst>
              <a:ext uri="{FF2B5EF4-FFF2-40B4-BE49-F238E27FC236}">
                <a16:creationId xmlns:a16="http://schemas.microsoft.com/office/drawing/2014/main" id="{B522C6E2-D09C-2E84-7442-D8849DD6581E}"/>
              </a:ext>
            </a:extLst>
          </p:cNvPr>
          <p:cNvPicPr>
            <a:picLocks noChangeAspect="1"/>
          </p:cNvPicPr>
          <p:nvPr/>
        </p:nvPicPr>
        <p:blipFill>
          <a:blip r:embed="rId6"/>
          <a:stretch>
            <a:fillRect/>
          </a:stretch>
        </p:blipFill>
        <p:spPr>
          <a:xfrm>
            <a:off x="6703116" y="1783550"/>
            <a:ext cx="3316268" cy="3373643"/>
          </a:xfrm>
          <a:prstGeom prst="rect">
            <a:avLst/>
          </a:prstGeom>
        </p:spPr>
      </p:pic>
      <p:sp>
        <p:nvSpPr>
          <p:cNvPr id="13" name="Rectangle 12">
            <a:extLst>
              <a:ext uri="{FF2B5EF4-FFF2-40B4-BE49-F238E27FC236}">
                <a16:creationId xmlns:a16="http://schemas.microsoft.com/office/drawing/2014/main" id="{C379AE1F-6538-15BD-A287-60306554DA3D}"/>
              </a:ext>
            </a:extLst>
          </p:cNvPr>
          <p:cNvSpPr/>
          <p:nvPr/>
        </p:nvSpPr>
        <p:spPr>
          <a:xfrm>
            <a:off x="1750974" y="1781336"/>
            <a:ext cx="4561050" cy="4751054"/>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a:t>
            </a:r>
          </a:p>
        </p:txBody>
      </p:sp>
      <p:sp>
        <p:nvSpPr>
          <p:cNvPr id="14" name="Rectangle 13">
            <a:extLst>
              <a:ext uri="{FF2B5EF4-FFF2-40B4-BE49-F238E27FC236}">
                <a16:creationId xmlns:a16="http://schemas.microsoft.com/office/drawing/2014/main" id="{A7126363-B99C-8BDF-71C3-7258283C3A96}"/>
              </a:ext>
            </a:extLst>
          </p:cNvPr>
          <p:cNvSpPr/>
          <p:nvPr/>
        </p:nvSpPr>
        <p:spPr>
          <a:xfrm>
            <a:off x="6552594" y="1781336"/>
            <a:ext cx="3912978" cy="4751054"/>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b?</a:t>
            </a:r>
          </a:p>
        </p:txBody>
      </p:sp>
    </p:spTree>
    <p:extLst>
      <p:ext uri="{BB962C8B-B14F-4D97-AF65-F5344CB8AC3E}">
        <p14:creationId xmlns:p14="http://schemas.microsoft.com/office/powerpoint/2010/main" val="3930598034"/>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3"/>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3"/>
                                        </p:tgtEl>
                                      </p:cBhvr>
                                    </p:animEffect>
                                    <p:set>
                                      <p:cBhvr>
                                        <p:cTn id="7" dur="1" fill="hold">
                                          <p:stCondLst>
                                            <p:cond delay="499"/>
                                          </p:stCondLst>
                                        </p:cTn>
                                        <p:tgtEl>
                                          <p:spTgt spid="13"/>
                                        </p:tgtEl>
                                        <p:attrNameLst>
                                          <p:attrName>style.visibility</p:attrName>
                                        </p:attrNameLst>
                                      </p:cBhvr>
                                      <p:to>
                                        <p:strVal val="hidden"/>
                                      </p:to>
                                    </p:set>
                                  </p:childTnLst>
                                </p:cTn>
                              </p:par>
                            </p:childTnLst>
                          </p:cTn>
                        </p:par>
                      </p:childTnLst>
                    </p:cTn>
                  </p:par>
                </p:childTnLst>
              </p:cTn>
              <p:nextCondLst>
                <p:cond evt="onClick" delay="0">
                  <p:tgtEl>
                    <p:spTgt spid="13"/>
                  </p:tgtEl>
                </p:cond>
              </p:nextCondLst>
            </p:seq>
            <p:seq concurrent="1" nextAc="seek">
              <p:cTn id="8" restart="whenNotActive" fill="hold" evtFilter="cancelBubble" nodeType="interactiveSeq">
                <p:stCondLst>
                  <p:cond evt="onClick" delay="0">
                    <p:tgtEl>
                      <p:spTgt spid="14"/>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14"/>
                                        </p:tgtEl>
                                      </p:cBhvr>
                                    </p:animEffect>
                                    <p:set>
                                      <p:cBhvr>
                                        <p:cTn id="13" dur="1" fill="hold">
                                          <p:stCondLst>
                                            <p:cond delay="499"/>
                                          </p:stCondLst>
                                        </p:cTn>
                                        <p:tgtEl>
                                          <p:spTgt spid="14"/>
                                        </p:tgtEl>
                                        <p:attrNameLst>
                                          <p:attrName>style.visibility</p:attrName>
                                        </p:attrNameLst>
                                      </p:cBhvr>
                                      <p:to>
                                        <p:strVal val="hidden"/>
                                      </p:to>
                                    </p:set>
                                  </p:childTnLst>
                                </p:cTn>
                              </p:par>
                            </p:childTnLst>
                          </p:cTn>
                        </p:par>
                      </p:childTnLst>
                    </p:cTn>
                  </p:par>
                </p:childTnLst>
              </p:cTn>
              <p:nextCondLst>
                <p:cond evt="onClick" delay="0">
                  <p:tgtEl>
                    <p:spTgt spid="14"/>
                  </p:tgtEl>
                </p:cond>
              </p:nextCondLst>
            </p:seq>
          </p:childTnLst>
        </p:cTn>
      </p:par>
    </p:tnLst>
    <p:bldLst>
      <p:bldP spid="13" grpId="0" animBg="1"/>
      <p:bldP spid="14" grpId="0" animBg="1"/>
    </p:bldLst>
  </p:timing>
</p:sld>
</file>

<file path=ppt/c6/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0" y="1"/>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a:t>Exercise 6E - Y1 Page 126-128</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p:grpSp>
        <p:nvGrpSpPr>
          <p:cNvPr id="23" name="Group 22">
            <a:extLst>
              <a:ext uri="{FF2B5EF4-FFF2-40B4-BE49-F238E27FC236}">
                <a16:creationId xmlns:a16="http://schemas.microsoft.com/office/drawing/2014/main" id="{AFA885EE-013D-C8F9-64D3-1CE42F5DF441}"/>
              </a:ext>
            </a:extLst>
          </p:cNvPr>
          <p:cNvGrpSpPr/>
          <p:nvPr/>
        </p:nvGrpSpPr>
        <p:grpSpPr>
          <a:xfrm>
            <a:off x="1775520" y="620688"/>
            <a:ext cx="7772400" cy="2720026"/>
            <a:chOff x="323528" y="708974"/>
            <a:chExt cx="7772400" cy="2720026"/>
          </a:xfrm>
        </p:grpSpPr>
        <p:pic>
          <p:nvPicPr>
            <p:cNvPr id="21" name="Picture 20">
              <a:extLst>
                <a:ext uri="{FF2B5EF4-FFF2-40B4-BE49-F238E27FC236}">
                  <a16:creationId xmlns:a16="http://schemas.microsoft.com/office/drawing/2014/main" id="{BC77A0E8-8AD6-A302-14BC-B7B618D1ACC5}"/>
                </a:ext>
              </a:extLst>
            </p:cNvPr>
            <p:cNvPicPr>
              <a:picLocks noChangeAspect="1"/>
            </p:cNvPicPr>
            <p:nvPr/>
          </p:nvPicPr>
          <p:blipFill>
            <a:blip r:embed="rId2"/>
            <a:stretch>
              <a:fillRect/>
            </a:stretch>
          </p:blipFill>
          <p:spPr>
            <a:xfrm>
              <a:off x="323528" y="708974"/>
              <a:ext cx="7772400" cy="2664172"/>
            </a:xfrm>
            <a:prstGeom prst="rect">
              <a:avLst/>
            </a:prstGeom>
          </p:spPr>
        </p:pic>
        <p:sp>
          <p:nvSpPr>
            <p:cNvPr id="17" name="Rectangle 16">
              <a:extLst>
                <a:ext uri="{FF2B5EF4-FFF2-40B4-BE49-F238E27FC236}">
                  <a16:creationId xmlns:a16="http://schemas.microsoft.com/office/drawing/2014/main" id="{055D2917-492B-E565-5B44-AEC03C37CC53}"/>
                </a:ext>
              </a:extLst>
            </p:cNvPr>
            <p:cNvSpPr/>
            <p:nvPr/>
          </p:nvSpPr>
          <p:spPr>
            <a:xfrm>
              <a:off x="4350706" y="2276872"/>
              <a:ext cx="792088" cy="79208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Rectangle 18">
              <a:extLst>
                <a:ext uri="{FF2B5EF4-FFF2-40B4-BE49-F238E27FC236}">
                  <a16:creationId xmlns:a16="http://schemas.microsoft.com/office/drawing/2014/main" id="{A60EDDDA-783C-BA96-B225-C1740B8B2EE5}"/>
                </a:ext>
              </a:extLst>
            </p:cNvPr>
            <p:cNvSpPr/>
            <p:nvPr/>
          </p:nvSpPr>
          <p:spPr>
            <a:xfrm>
              <a:off x="7092280" y="3163849"/>
              <a:ext cx="792088" cy="26515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4" name="Picture 23">
            <a:extLst>
              <a:ext uri="{FF2B5EF4-FFF2-40B4-BE49-F238E27FC236}">
                <a16:creationId xmlns:a16="http://schemas.microsoft.com/office/drawing/2014/main" id="{6F6007E1-A740-5BE5-F188-CBFFDCA270F7}"/>
              </a:ext>
            </a:extLst>
          </p:cNvPr>
          <p:cNvPicPr>
            <a:picLocks noChangeAspect="1"/>
          </p:cNvPicPr>
          <p:nvPr/>
        </p:nvPicPr>
        <p:blipFill>
          <a:blip r:embed="rId3"/>
          <a:stretch>
            <a:fillRect/>
          </a:stretch>
        </p:blipFill>
        <p:spPr>
          <a:xfrm>
            <a:off x="2063553" y="3340714"/>
            <a:ext cx="2996115" cy="2553884"/>
          </a:xfrm>
          <a:prstGeom prst="rect">
            <a:avLst/>
          </a:prstGeom>
        </p:spPr>
      </p:pic>
      <p:pic>
        <p:nvPicPr>
          <p:cNvPr id="25" name="Picture 24">
            <a:extLst>
              <a:ext uri="{FF2B5EF4-FFF2-40B4-BE49-F238E27FC236}">
                <a16:creationId xmlns:a16="http://schemas.microsoft.com/office/drawing/2014/main" id="{3BAB14AD-F218-00C1-258C-CEA86BC8ADFB}"/>
              </a:ext>
            </a:extLst>
          </p:cNvPr>
          <p:cNvPicPr>
            <a:picLocks noChangeAspect="1"/>
          </p:cNvPicPr>
          <p:nvPr/>
        </p:nvPicPr>
        <p:blipFill>
          <a:blip r:embed="rId4"/>
          <a:stretch>
            <a:fillRect/>
          </a:stretch>
        </p:blipFill>
        <p:spPr>
          <a:xfrm>
            <a:off x="2063552" y="5961980"/>
            <a:ext cx="6048672" cy="763098"/>
          </a:xfrm>
          <a:prstGeom prst="rect">
            <a:avLst/>
          </a:prstGeom>
        </p:spPr>
      </p:pic>
      <p:pic>
        <p:nvPicPr>
          <p:cNvPr id="26" name="Picture 25">
            <a:extLst>
              <a:ext uri="{FF2B5EF4-FFF2-40B4-BE49-F238E27FC236}">
                <a16:creationId xmlns:a16="http://schemas.microsoft.com/office/drawing/2014/main" id="{724AB0F3-28EA-21D9-5DC3-E862A54FF663}"/>
              </a:ext>
            </a:extLst>
          </p:cNvPr>
          <p:cNvPicPr>
            <a:picLocks noChangeAspect="1"/>
          </p:cNvPicPr>
          <p:nvPr/>
        </p:nvPicPr>
        <p:blipFill>
          <a:blip r:embed="rId5"/>
          <a:stretch>
            <a:fillRect/>
          </a:stretch>
        </p:blipFill>
        <p:spPr>
          <a:xfrm>
            <a:off x="5949778" y="3400368"/>
            <a:ext cx="4460850" cy="2288980"/>
          </a:xfrm>
          <a:prstGeom prst="rect">
            <a:avLst/>
          </a:prstGeom>
        </p:spPr>
      </p:pic>
      <p:sp>
        <p:nvSpPr>
          <p:cNvPr id="34" name="Rectangle 33">
            <a:extLst>
              <a:ext uri="{FF2B5EF4-FFF2-40B4-BE49-F238E27FC236}">
                <a16:creationId xmlns:a16="http://schemas.microsoft.com/office/drawing/2014/main" id="{3F40A8FC-FD9E-6481-9A6A-85F4083A5400}"/>
              </a:ext>
            </a:extLst>
          </p:cNvPr>
          <p:cNvSpPr/>
          <p:nvPr/>
        </p:nvSpPr>
        <p:spPr>
          <a:xfrm>
            <a:off x="2063552" y="3306421"/>
            <a:ext cx="2996116" cy="1922779"/>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a:t>
            </a:r>
          </a:p>
        </p:txBody>
      </p:sp>
      <p:sp>
        <p:nvSpPr>
          <p:cNvPr id="35" name="Rectangle 34">
            <a:extLst>
              <a:ext uri="{FF2B5EF4-FFF2-40B4-BE49-F238E27FC236}">
                <a16:creationId xmlns:a16="http://schemas.microsoft.com/office/drawing/2014/main" id="{36B5DE6E-6A90-8E5D-05F3-D1307FAD1BFA}"/>
              </a:ext>
            </a:extLst>
          </p:cNvPr>
          <p:cNvSpPr/>
          <p:nvPr/>
        </p:nvSpPr>
        <p:spPr>
          <a:xfrm>
            <a:off x="2063552" y="5296581"/>
            <a:ext cx="2996115" cy="632311"/>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b?</a:t>
            </a:r>
          </a:p>
        </p:txBody>
      </p:sp>
      <p:sp>
        <p:nvSpPr>
          <p:cNvPr id="36" name="Rectangle 35">
            <a:extLst>
              <a:ext uri="{FF2B5EF4-FFF2-40B4-BE49-F238E27FC236}">
                <a16:creationId xmlns:a16="http://schemas.microsoft.com/office/drawing/2014/main" id="{7109D5AC-3340-FCF0-F130-8888B9FAB2BC}"/>
              </a:ext>
            </a:extLst>
          </p:cNvPr>
          <p:cNvSpPr/>
          <p:nvPr/>
        </p:nvSpPr>
        <p:spPr>
          <a:xfrm>
            <a:off x="2063550" y="5978368"/>
            <a:ext cx="6192690" cy="763001"/>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c?</a:t>
            </a:r>
          </a:p>
        </p:txBody>
      </p:sp>
      <p:sp>
        <p:nvSpPr>
          <p:cNvPr id="37" name="Rectangle 36">
            <a:extLst>
              <a:ext uri="{FF2B5EF4-FFF2-40B4-BE49-F238E27FC236}">
                <a16:creationId xmlns:a16="http://schemas.microsoft.com/office/drawing/2014/main" id="{F6C4FDF0-99FD-164B-84B1-E21C3563568E}"/>
              </a:ext>
            </a:extLst>
          </p:cNvPr>
          <p:cNvSpPr/>
          <p:nvPr/>
        </p:nvSpPr>
        <p:spPr>
          <a:xfrm>
            <a:off x="5802698" y="3337047"/>
            <a:ext cx="4685790" cy="2458543"/>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d?</a:t>
            </a:r>
          </a:p>
        </p:txBody>
      </p:sp>
    </p:spTree>
    <p:extLst>
      <p:ext uri="{BB962C8B-B14F-4D97-AF65-F5344CB8AC3E}">
        <p14:creationId xmlns:p14="http://schemas.microsoft.com/office/powerpoint/2010/main" val="1262070158"/>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34"/>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34"/>
                                        </p:tgtEl>
                                      </p:cBhvr>
                                    </p:animEffect>
                                    <p:set>
                                      <p:cBhvr>
                                        <p:cTn id="7" dur="1" fill="hold">
                                          <p:stCondLst>
                                            <p:cond delay="499"/>
                                          </p:stCondLst>
                                        </p:cTn>
                                        <p:tgtEl>
                                          <p:spTgt spid="34"/>
                                        </p:tgtEl>
                                        <p:attrNameLst>
                                          <p:attrName>style.visibility</p:attrName>
                                        </p:attrNameLst>
                                      </p:cBhvr>
                                      <p:to>
                                        <p:strVal val="hidden"/>
                                      </p:to>
                                    </p:set>
                                  </p:childTnLst>
                                </p:cTn>
                              </p:par>
                            </p:childTnLst>
                          </p:cTn>
                        </p:par>
                      </p:childTnLst>
                    </p:cTn>
                  </p:par>
                </p:childTnLst>
              </p:cTn>
              <p:nextCondLst>
                <p:cond evt="onClick" delay="0">
                  <p:tgtEl>
                    <p:spTgt spid="34"/>
                  </p:tgtEl>
                </p:cond>
              </p:nextCondLst>
            </p:seq>
            <p:seq concurrent="1" nextAc="seek">
              <p:cTn id="8" restart="whenNotActive" fill="hold" evtFilter="cancelBubble" nodeType="interactiveSeq">
                <p:stCondLst>
                  <p:cond evt="onClick" delay="0">
                    <p:tgtEl>
                      <p:spTgt spid="35"/>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35"/>
                                        </p:tgtEl>
                                      </p:cBhvr>
                                    </p:animEffect>
                                    <p:set>
                                      <p:cBhvr>
                                        <p:cTn id="13" dur="1" fill="hold">
                                          <p:stCondLst>
                                            <p:cond delay="499"/>
                                          </p:stCondLst>
                                        </p:cTn>
                                        <p:tgtEl>
                                          <p:spTgt spid="35"/>
                                        </p:tgtEl>
                                        <p:attrNameLst>
                                          <p:attrName>style.visibility</p:attrName>
                                        </p:attrNameLst>
                                      </p:cBhvr>
                                      <p:to>
                                        <p:strVal val="hidden"/>
                                      </p:to>
                                    </p:set>
                                  </p:childTnLst>
                                </p:cTn>
                              </p:par>
                            </p:childTnLst>
                          </p:cTn>
                        </p:par>
                      </p:childTnLst>
                    </p:cTn>
                  </p:par>
                </p:childTnLst>
              </p:cTn>
              <p:nextCondLst>
                <p:cond evt="onClick" delay="0">
                  <p:tgtEl>
                    <p:spTgt spid="35"/>
                  </p:tgtEl>
                </p:cond>
              </p:nextCondLst>
            </p:seq>
            <p:seq concurrent="1" nextAc="seek">
              <p:cTn id="14" restart="whenNotActive" fill="hold" evtFilter="cancelBubble" nodeType="interactiveSeq">
                <p:stCondLst>
                  <p:cond evt="onClick" delay="0">
                    <p:tgtEl>
                      <p:spTgt spid="36"/>
                    </p:tgtEl>
                  </p:cond>
                </p:stCondLst>
                <p:endSync evt="end" delay="0">
                  <p:rtn val="all"/>
                </p:endSync>
                <p:childTnLst>
                  <p:par>
                    <p:cTn id="15" fill="hold">
                      <p:stCondLst>
                        <p:cond delay="0"/>
                      </p:stCondLst>
                      <p:childTnLst>
                        <p:par>
                          <p:cTn id="16" fill="hold">
                            <p:stCondLst>
                              <p:cond delay="0"/>
                            </p:stCondLst>
                            <p:childTnLst>
                              <p:par>
                                <p:cTn id="17" presetID="10" presetClass="exit" presetSubtype="0" fill="hold" grpId="0" nodeType="clickEffect">
                                  <p:stCondLst>
                                    <p:cond delay="0"/>
                                  </p:stCondLst>
                                  <p:childTnLst>
                                    <p:animEffect transition="out" filter="fade">
                                      <p:cBhvr>
                                        <p:cTn id="18" dur="500"/>
                                        <p:tgtEl>
                                          <p:spTgt spid="36"/>
                                        </p:tgtEl>
                                      </p:cBhvr>
                                    </p:animEffect>
                                    <p:set>
                                      <p:cBhvr>
                                        <p:cTn id="19" dur="1" fill="hold">
                                          <p:stCondLst>
                                            <p:cond delay="499"/>
                                          </p:stCondLst>
                                        </p:cTn>
                                        <p:tgtEl>
                                          <p:spTgt spid="36"/>
                                        </p:tgtEl>
                                        <p:attrNameLst>
                                          <p:attrName>style.visibility</p:attrName>
                                        </p:attrNameLst>
                                      </p:cBhvr>
                                      <p:to>
                                        <p:strVal val="hidden"/>
                                      </p:to>
                                    </p:set>
                                  </p:childTnLst>
                                </p:cTn>
                              </p:par>
                            </p:childTnLst>
                          </p:cTn>
                        </p:par>
                      </p:childTnLst>
                    </p:cTn>
                  </p:par>
                </p:childTnLst>
              </p:cTn>
              <p:nextCondLst>
                <p:cond evt="onClick" delay="0">
                  <p:tgtEl>
                    <p:spTgt spid="36"/>
                  </p:tgtEl>
                </p:cond>
              </p:nextCondLst>
            </p:seq>
            <p:seq concurrent="1" nextAc="seek">
              <p:cTn id="20" restart="whenNotActive" fill="hold" evtFilter="cancelBubble" nodeType="interactiveSeq">
                <p:stCondLst>
                  <p:cond evt="onClick" delay="0">
                    <p:tgtEl>
                      <p:spTgt spid="37"/>
                    </p:tgtEl>
                  </p:cond>
                </p:stCondLst>
                <p:endSync evt="end" delay="0">
                  <p:rtn val="all"/>
                </p:endSync>
                <p:childTnLst>
                  <p:par>
                    <p:cTn id="21" fill="hold">
                      <p:stCondLst>
                        <p:cond delay="0"/>
                      </p:stCondLst>
                      <p:childTnLst>
                        <p:par>
                          <p:cTn id="22" fill="hold">
                            <p:stCondLst>
                              <p:cond delay="0"/>
                            </p:stCondLst>
                            <p:childTnLst>
                              <p:par>
                                <p:cTn id="23" presetID="10" presetClass="exit" presetSubtype="0" fill="hold" grpId="0" nodeType="clickEffect">
                                  <p:stCondLst>
                                    <p:cond delay="0"/>
                                  </p:stCondLst>
                                  <p:childTnLst>
                                    <p:animEffect transition="out" filter="fade">
                                      <p:cBhvr>
                                        <p:cTn id="24" dur="500"/>
                                        <p:tgtEl>
                                          <p:spTgt spid="37"/>
                                        </p:tgtEl>
                                      </p:cBhvr>
                                    </p:animEffect>
                                    <p:set>
                                      <p:cBhvr>
                                        <p:cTn id="25" dur="1" fill="hold">
                                          <p:stCondLst>
                                            <p:cond delay="499"/>
                                          </p:stCondLst>
                                        </p:cTn>
                                        <p:tgtEl>
                                          <p:spTgt spid="37"/>
                                        </p:tgtEl>
                                        <p:attrNameLst>
                                          <p:attrName>style.visibility</p:attrName>
                                        </p:attrNameLst>
                                      </p:cBhvr>
                                      <p:to>
                                        <p:strVal val="hidden"/>
                                      </p:to>
                                    </p:set>
                                  </p:childTnLst>
                                </p:cTn>
                              </p:par>
                            </p:childTnLst>
                          </p:cTn>
                        </p:par>
                      </p:childTnLst>
                    </p:cTn>
                  </p:par>
                </p:childTnLst>
              </p:cTn>
              <p:nextCondLst>
                <p:cond evt="onClick" delay="0">
                  <p:tgtEl>
                    <p:spTgt spid="37"/>
                  </p:tgtEl>
                </p:cond>
              </p:nextCondLst>
            </p:seq>
          </p:childTnLst>
        </p:cTn>
      </p:par>
    </p:tnLst>
    <p:bldLst>
      <p:bldP spid="34" grpId="0" animBg="1"/>
      <p:bldP spid="35" grpId="0" animBg="1"/>
      <p:bldP spid="36" grpId="0" animBg="1"/>
      <p:bldP spid="37" grpId="0" animBg="1"/>
    </p:bldLst>
  </p:timing>
</p:sld>
</file>

<file path=ppt/c6/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0" y="1"/>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a:t>Exercise 6E - Y1 Page 126-128</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p:sp>
        <p:nvSpPr>
          <p:cNvPr id="7" name="TextBox 6"/>
          <p:cNvSpPr txBox="1"/>
          <p:nvPr/>
        </p:nvSpPr>
        <p:spPr>
          <a:xfrm>
            <a:off x="1852408" y="1480840"/>
            <a:ext cx="2448272" cy="369332"/>
          </a:xfrm>
          <a:prstGeom prst="rect">
            <a:avLst/>
          </a:prstGeom>
          <a:noFill/>
        </p:spPr>
        <p:txBody>
          <a:bodyPr wrap="square" rtlCol="0">
            <a:spAutoFit/>
          </a:bodyPr>
          <a:lstStyle/>
          <a:p>
            <a:r>
              <a:rPr lang="en-GB" b="1"/>
              <a:t>Extension:</a:t>
            </a:r>
          </a:p>
        </p:txBody>
      </p:sp>
      <mc:AlternateContent xmlns:mc="http://schemas.openxmlformats.org/markup-compatibility/2006">
        <mc:Choice xmlns:a14="http://schemas.microsoft.com/office/drawing/2010/main" Requires="a14">
          <p:sp>
            <p:nvSpPr>
              <p:cNvPr id="8" name="TextBox 7"/>
              <p:cNvSpPr txBox="1"/>
              <p:nvPr/>
            </p:nvSpPr>
            <p:spPr>
              <a:xfrm>
                <a:off x="1823379" y="1926839"/>
                <a:ext cx="2270348" cy="4350230"/>
              </a:xfrm>
              <a:prstGeom prst="rect">
                <a:avLst/>
              </a:prstGeom>
              <a:noFill/>
            </p:spPr>
            <p:txBody>
              <a:bodyPr wrap="square" rtlCol="0">
                <a:spAutoFit/>
              </a:bodyPr>
              <a:lstStyle/>
              <a:p>
                <a:r>
                  <a:rPr lang="en-GB" sz="1600" i="1"/>
                  <a:t>[MAT 2012 1A] </a:t>
                </a:r>
                <a:r>
                  <a:rPr lang="en-GB" sz="1600"/>
                  <a:t>Which of the following lines is a tangent to the circle with equation </a:t>
                </a:r>
                <a:endParaRPr lang="en-GB" sz="1600" i="1">
                  <a:latin typeface="Cambria Math" panose="02040503050406030204" pitchFamily="18" charset="0"/>
                </a:endParaRPr>
              </a:p>
              <a:p>
                <a14:m>
                  <m:oMath xmlns:m="http://schemas.openxmlformats.org/officeDocument/2006/math">
                    <m:sSup>
                      <m:sSupPr>
                        <m:ctrlPr>
                          <a:rPr lang="en-GB" sz="1600" i="1">
                            <a:latin typeface="Cambria Math" panose="02040503050406030204" pitchFamily="18" charset="0"/>
                          </a:rPr>
                        </m:ctrlPr>
                      </m:sSupPr>
                      <m:e>
                        <m:r>
                          <a:rPr lang="en-GB" sz="1600" i="1">
                            <a:latin typeface="Cambria Math" panose="02040503050406030204" pitchFamily="18" charset="0"/>
                          </a:rPr>
                          <m:t>𝑥</m:t>
                        </m:r>
                      </m:e>
                      <m:sup>
                        <m:r>
                          <a:rPr lang="en-GB" sz="1600" i="1">
                            <a:latin typeface="Cambria Math" panose="02040503050406030204" pitchFamily="18" charset="0"/>
                          </a:rPr>
                          <m:t>2</m:t>
                        </m:r>
                      </m:sup>
                    </m:sSup>
                    <m:r>
                      <a:rPr lang="en-GB" sz="1600" i="1">
                        <a:latin typeface="Cambria Math" panose="02040503050406030204" pitchFamily="18" charset="0"/>
                      </a:rPr>
                      <m:t>+</m:t>
                    </m:r>
                    <m:sSup>
                      <m:sSupPr>
                        <m:ctrlPr>
                          <a:rPr lang="en-GB" sz="1600" i="1">
                            <a:latin typeface="Cambria Math" panose="02040503050406030204" pitchFamily="18" charset="0"/>
                          </a:rPr>
                        </m:ctrlPr>
                      </m:sSupPr>
                      <m:e>
                        <m:r>
                          <a:rPr lang="en-GB" sz="1600" i="1">
                            <a:latin typeface="Cambria Math" panose="02040503050406030204" pitchFamily="18" charset="0"/>
                          </a:rPr>
                          <m:t>𝑦</m:t>
                        </m:r>
                      </m:e>
                      <m:sup>
                        <m:r>
                          <a:rPr lang="en-GB" sz="1600" i="1">
                            <a:latin typeface="Cambria Math" panose="02040503050406030204" pitchFamily="18" charset="0"/>
                          </a:rPr>
                          <m:t>2</m:t>
                        </m:r>
                      </m:sup>
                    </m:sSup>
                    <m:r>
                      <a:rPr lang="en-GB" sz="1600" i="1">
                        <a:latin typeface="Cambria Math" panose="02040503050406030204" pitchFamily="18" charset="0"/>
                      </a:rPr>
                      <m:t>=4</m:t>
                    </m:r>
                  </m:oMath>
                </a14:m>
                <a:r>
                  <a:rPr lang="en-GB" sz="1600"/>
                  <a:t>?</a:t>
                </a:r>
              </a:p>
              <a:p>
                <a:pPr marL="342900" indent="-342900">
                  <a:buAutoNum type="alphaUcParenR"/>
                </a:pPr>
                <a:r>
                  <a:rPr lang="en-GB" sz="1600"/>
                  <a:t> </a:t>
                </a:r>
                <a14:m>
                  <m:oMath xmlns:m="http://schemas.openxmlformats.org/officeDocument/2006/math">
                    <m:r>
                      <a:rPr lang="en-GB" sz="1600" i="1">
                        <a:latin typeface="Cambria Math" panose="02040503050406030204" pitchFamily="18" charset="0"/>
                      </a:rPr>
                      <m:t>𝑥</m:t>
                    </m:r>
                    <m:r>
                      <a:rPr lang="en-GB" sz="1600" i="1">
                        <a:latin typeface="Cambria Math" panose="02040503050406030204" pitchFamily="18" charset="0"/>
                      </a:rPr>
                      <m:t>+</m:t>
                    </m:r>
                    <m:r>
                      <a:rPr lang="en-GB" sz="1600" i="1">
                        <a:latin typeface="Cambria Math" panose="02040503050406030204" pitchFamily="18" charset="0"/>
                      </a:rPr>
                      <m:t>𝑦</m:t>
                    </m:r>
                    <m:r>
                      <a:rPr lang="en-GB" sz="1600" i="1">
                        <a:latin typeface="Cambria Math" panose="02040503050406030204" pitchFamily="18" charset="0"/>
                      </a:rPr>
                      <m:t>=2</m:t>
                    </m:r>
                  </m:oMath>
                </a14:m>
                <a:endParaRPr lang="en-GB" sz="1600"/>
              </a:p>
              <a:p>
                <a:pPr marL="342900" indent="-342900">
                  <a:buAutoNum type="alphaUcParenR"/>
                </a:pPr>
                <a:r>
                  <a:rPr lang="en-GB" sz="1600"/>
                  <a:t> </a:t>
                </a:r>
                <a14:m>
                  <m:oMath xmlns:m="http://schemas.openxmlformats.org/officeDocument/2006/math">
                    <m:r>
                      <a:rPr lang="en-GB" sz="1600" i="1">
                        <a:latin typeface="Cambria Math" panose="02040503050406030204" pitchFamily="18" charset="0"/>
                      </a:rPr>
                      <m:t>𝑦</m:t>
                    </m:r>
                    <m:r>
                      <a:rPr lang="en-GB" sz="1600" i="1">
                        <a:latin typeface="Cambria Math" panose="02040503050406030204" pitchFamily="18" charset="0"/>
                      </a:rPr>
                      <m:t>=</m:t>
                    </m:r>
                    <m:r>
                      <a:rPr lang="en-GB" sz="1600" i="1">
                        <a:latin typeface="Cambria Math" panose="02040503050406030204" pitchFamily="18" charset="0"/>
                      </a:rPr>
                      <m:t>𝑥</m:t>
                    </m:r>
                    <m:r>
                      <a:rPr lang="en-GB" sz="1600" i="1">
                        <a:latin typeface="Cambria Math" panose="02040503050406030204" pitchFamily="18" charset="0"/>
                      </a:rPr>
                      <m:t>−2</m:t>
                    </m:r>
                    <m:rad>
                      <m:radPr>
                        <m:degHide m:val="on"/>
                        <m:ctrlPr>
                          <a:rPr lang="en-GB" sz="1600" i="1">
                            <a:latin typeface="Cambria Math" panose="02040503050406030204" pitchFamily="18" charset="0"/>
                          </a:rPr>
                        </m:ctrlPr>
                      </m:radPr>
                      <m:deg/>
                      <m:e>
                        <m:r>
                          <a:rPr lang="en-GB" sz="1600" i="1">
                            <a:latin typeface="Cambria Math" panose="02040503050406030204" pitchFamily="18" charset="0"/>
                          </a:rPr>
                          <m:t>2</m:t>
                        </m:r>
                      </m:e>
                    </m:rad>
                  </m:oMath>
                </a14:m>
                <a:endParaRPr lang="en-GB" sz="1600"/>
              </a:p>
              <a:p>
                <a:pPr marL="342900" indent="-342900">
                  <a:buAutoNum type="alphaUcParenR"/>
                </a:pPr>
                <a:r>
                  <a:rPr lang="en-GB" sz="1600"/>
                  <a:t> </a:t>
                </a:r>
                <a14:m>
                  <m:oMath xmlns:m="http://schemas.openxmlformats.org/officeDocument/2006/math">
                    <m:r>
                      <a:rPr lang="en-GB" sz="1600" i="1">
                        <a:latin typeface="Cambria Math" panose="02040503050406030204" pitchFamily="18" charset="0"/>
                      </a:rPr>
                      <m:t>𝑥</m:t>
                    </m:r>
                    <m:r>
                      <a:rPr lang="en-GB" sz="1600" i="1">
                        <a:latin typeface="Cambria Math" panose="02040503050406030204" pitchFamily="18" charset="0"/>
                      </a:rPr>
                      <m:t>=</m:t>
                    </m:r>
                    <m:rad>
                      <m:radPr>
                        <m:degHide m:val="on"/>
                        <m:ctrlPr>
                          <a:rPr lang="en-GB" sz="1600" i="1">
                            <a:latin typeface="Cambria Math" panose="02040503050406030204" pitchFamily="18" charset="0"/>
                          </a:rPr>
                        </m:ctrlPr>
                      </m:radPr>
                      <m:deg/>
                      <m:e>
                        <m:r>
                          <a:rPr lang="en-GB" sz="1600" i="1">
                            <a:latin typeface="Cambria Math" panose="02040503050406030204" pitchFamily="18" charset="0"/>
                          </a:rPr>
                          <m:t>2</m:t>
                        </m:r>
                      </m:e>
                    </m:rad>
                  </m:oMath>
                </a14:m>
                <a:endParaRPr lang="en-GB" sz="1600"/>
              </a:p>
              <a:p>
                <a:pPr marL="342900" indent="-342900">
                  <a:buAutoNum type="alphaUcParenR"/>
                </a:pPr>
                <a:r>
                  <a:rPr lang="en-GB" sz="1600"/>
                  <a:t> </a:t>
                </a:r>
                <a14:m>
                  <m:oMath xmlns:m="http://schemas.openxmlformats.org/officeDocument/2006/math">
                    <m:r>
                      <a:rPr lang="en-GB" sz="1600" i="1">
                        <a:latin typeface="Cambria Math" panose="02040503050406030204" pitchFamily="18" charset="0"/>
                      </a:rPr>
                      <m:t>𝑦</m:t>
                    </m:r>
                    <m:r>
                      <a:rPr lang="en-GB" sz="1600" i="1">
                        <a:latin typeface="Cambria Math" panose="02040503050406030204" pitchFamily="18" charset="0"/>
                      </a:rPr>
                      <m:t>=</m:t>
                    </m:r>
                    <m:rad>
                      <m:radPr>
                        <m:degHide m:val="on"/>
                        <m:ctrlPr>
                          <a:rPr lang="en-GB" sz="1600" i="1">
                            <a:latin typeface="Cambria Math" panose="02040503050406030204" pitchFamily="18" charset="0"/>
                          </a:rPr>
                        </m:ctrlPr>
                      </m:radPr>
                      <m:deg/>
                      <m:e>
                        <m:r>
                          <a:rPr lang="en-GB" sz="1600" i="1">
                            <a:latin typeface="Cambria Math" panose="02040503050406030204" pitchFamily="18" charset="0"/>
                          </a:rPr>
                          <m:t>2</m:t>
                        </m:r>
                      </m:e>
                    </m:rad>
                    <m:r>
                      <a:rPr lang="en-GB" sz="1600" i="1">
                        <a:latin typeface="Cambria Math" panose="02040503050406030204" pitchFamily="18" charset="0"/>
                      </a:rPr>
                      <m:t>−</m:t>
                    </m:r>
                    <m:r>
                      <a:rPr lang="en-GB" sz="1600" i="1">
                        <a:latin typeface="Cambria Math" panose="02040503050406030204" pitchFamily="18" charset="0"/>
                      </a:rPr>
                      <m:t>𝑥</m:t>
                    </m:r>
                  </m:oMath>
                </a14:m>
                <a:endParaRPr lang="en-GB" sz="1600"/>
              </a:p>
              <a:p>
                <a:pPr marL="342900" indent="-342900">
                  <a:buAutoNum type="alphaUcParenR"/>
                </a:pPr>
                <a:endParaRPr lang="en-GB" sz="1600"/>
              </a:p>
              <a:p>
                <a:r>
                  <a:rPr lang="en-GB" sz="1600" b="1"/>
                  <a:t>Solution: B. Note that we could avoid using algebra by using a suitable diagram and simple use of Pythagoras to get the </a:t>
                </a:r>
                <a14:m>
                  <m:oMath xmlns:m="http://schemas.openxmlformats.org/officeDocument/2006/math">
                    <m:r>
                      <a:rPr lang="en-GB" sz="1600" b="1" i="1">
                        <a:latin typeface="Cambria Math" panose="02040503050406030204" pitchFamily="18" charset="0"/>
                      </a:rPr>
                      <m:t>𝒚</m:t>
                    </m:r>
                  </m:oMath>
                </a14:m>
                <a:r>
                  <a:rPr lang="en-GB" sz="1600" b="1"/>
                  <a:t>-intercept.</a:t>
                </a:r>
              </a:p>
            </p:txBody>
          </p:sp>
        </mc:Choice>
        <mc:Fallback>
          <p:sp>
            <p:nvSpPr>
              <p:cNvPr id="8" name="TextBox 7"/>
              <p:cNvSpPr txBox="1">
                <a:spLocks noRot="1" noChangeAspect="1" noMove="1" noResize="1" noEditPoints="1" noAdjustHandles="1" noChangeArrowheads="1" noChangeShapeType="1" noTextEdit="1"/>
              </p:cNvSpPr>
              <p:nvPr/>
            </p:nvSpPr>
            <p:spPr>
              <a:xfrm>
                <a:off x="1823379" y="1926839"/>
                <a:ext cx="2270348" cy="4350230"/>
              </a:xfrm>
              <a:prstGeom prst="rect">
                <a:avLst/>
              </a:prstGeom>
              <a:blipFill>
                <a:blip r:embed="rId2"/>
                <a:stretch>
                  <a:fillRect l="-1667" t="-291" r="-2778" b="-872"/>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9" name="TextBox 8"/>
              <p:cNvSpPr txBox="1"/>
              <p:nvPr/>
            </p:nvSpPr>
            <p:spPr>
              <a:xfrm>
                <a:off x="4612297" y="1481308"/>
                <a:ext cx="5904656" cy="2308324"/>
              </a:xfrm>
              <a:prstGeom prst="rect">
                <a:avLst/>
              </a:prstGeom>
              <a:noFill/>
            </p:spPr>
            <p:txBody>
              <a:bodyPr wrap="square" rtlCol="0">
                <a:spAutoFit/>
              </a:bodyPr>
              <a:lstStyle/>
              <a:p>
                <a:r>
                  <a:rPr lang="en-GB" sz="1600" i="1"/>
                  <a:t>[AEA 2006 Q4] </a:t>
                </a:r>
                <a:r>
                  <a:rPr lang="en-GB" sz="1600"/>
                  <a:t>The line with equation </a:t>
                </a:r>
                <a14:m>
                  <m:oMath xmlns:m="http://schemas.openxmlformats.org/officeDocument/2006/math">
                    <m:r>
                      <a:rPr lang="en-GB" sz="1600" i="1">
                        <a:latin typeface="Cambria Math" panose="02040503050406030204" pitchFamily="18" charset="0"/>
                      </a:rPr>
                      <m:t>𝑦</m:t>
                    </m:r>
                    <m:r>
                      <a:rPr lang="en-GB" sz="1600" i="1">
                        <a:latin typeface="Cambria Math" panose="02040503050406030204" pitchFamily="18" charset="0"/>
                      </a:rPr>
                      <m:t>=</m:t>
                    </m:r>
                    <m:r>
                      <a:rPr lang="en-GB" sz="1600" i="1">
                        <a:latin typeface="Cambria Math" panose="02040503050406030204" pitchFamily="18" charset="0"/>
                      </a:rPr>
                      <m:t>𝑚𝑥</m:t>
                    </m:r>
                  </m:oMath>
                </a14:m>
                <a:r>
                  <a:rPr lang="en-GB" sz="1600"/>
                  <a:t> is a tangent to the circle </a:t>
                </a:r>
                <a14:m>
                  <m:oMath xmlns:m="http://schemas.openxmlformats.org/officeDocument/2006/math">
                    <m:sSub>
                      <m:sSubPr>
                        <m:ctrlPr>
                          <a:rPr lang="en-GB" sz="1600" i="1">
                            <a:latin typeface="Cambria Math" panose="02040503050406030204" pitchFamily="18" charset="0"/>
                          </a:rPr>
                        </m:ctrlPr>
                      </m:sSubPr>
                      <m:e>
                        <m:r>
                          <a:rPr lang="en-GB" sz="1600" i="1">
                            <a:latin typeface="Cambria Math" panose="02040503050406030204" pitchFamily="18" charset="0"/>
                          </a:rPr>
                          <m:t>𝐶</m:t>
                        </m:r>
                      </m:e>
                      <m:sub>
                        <m:r>
                          <a:rPr lang="en-GB" sz="1600" i="1">
                            <a:latin typeface="Cambria Math" panose="02040503050406030204" pitchFamily="18" charset="0"/>
                          </a:rPr>
                          <m:t>1</m:t>
                        </m:r>
                      </m:sub>
                    </m:sSub>
                  </m:oMath>
                </a14:m>
                <a:r>
                  <a:rPr lang="en-GB" sz="1600"/>
                  <a:t> with equation </a:t>
                </a:r>
                <a14:m>
                  <m:oMath xmlns:m="http://schemas.openxmlformats.org/officeDocument/2006/math">
                    <m:sSup>
                      <m:sSupPr>
                        <m:ctrlPr>
                          <a:rPr lang="en-GB" sz="1600" i="1">
                            <a:latin typeface="Cambria Math" panose="02040503050406030204" pitchFamily="18" charset="0"/>
                          </a:rPr>
                        </m:ctrlPr>
                      </m:sSupPr>
                      <m:e>
                        <m:d>
                          <m:dPr>
                            <m:ctrlPr>
                              <a:rPr lang="en-GB" sz="1600" i="1">
                                <a:latin typeface="Cambria Math" panose="02040503050406030204" pitchFamily="18" charset="0"/>
                              </a:rPr>
                            </m:ctrlPr>
                          </m:dPr>
                          <m:e>
                            <m:r>
                              <a:rPr lang="en-GB" sz="1600" i="1">
                                <a:latin typeface="Cambria Math" panose="02040503050406030204" pitchFamily="18" charset="0"/>
                              </a:rPr>
                              <m:t>𝑥</m:t>
                            </m:r>
                            <m:r>
                              <a:rPr lang="en-GB" sz="1600" i="1">
                                <a:latin typeface="Cambria Math" panose="02040503050406030204" pitchFamily="18" charset="0"/>
                              </a:rPr>
                              <m:t>+4</m:t>
                            </m:r>
                          </m:e>
                        </m:d>
                      </m:e>
                      <m:sup>
                        <m:r>
                          <a:rPr lang="en-GB" sz="1600" i="1">
                            <a:latin typeface="Cambria Math" panose="02040503050406030204" pitchFamily="18" charset="0"/>
                          </a:rPr>
                          <m:t>2</m:t>
                        </m:r>
                      </m:sup>
                    </m:sSup>
                    <m:r>
                      <a:rPr lang="en-GB" sz="1600" i="1">
                        <a:latin typeface="Cambria Math" panose="02040503050406030204" pitchFamily="18" charset="0"/>
                      </a:rPr>
                      <m:t>+</m:t>
                    </m:r>
                    <m:sSup>
                      <m:sSupPr>
                        <m:ctrlPr>
                          <a:rPr lang="en-GB" sz="1600" i="1">
                            <a:latin typeface="Cambria Math" panose="02040503050406030204" pitchFamily="18" charset="0"/>
                          </a:rPr>
                        </m:ctrlPr>
                      </m:sSupPr>
                      <m:e>
                        <m:d>
                          <m:dPr>
                            <m:ctrlPr>
                              <a:rPr lang="en-GB" sz="1600" i="1">
                                <a:latin typeface="Cambria Math" panose="02040503050406030204" pitchFamily="18" charset="0"/>
                              </a:rPr>
                            </m:ctrlPr>
                          </m:dPr>
                          <m:e>
                            <m:r>
                              <a:rPr lang="en-GB" sz="1600" i="1">
                                <a:latin typeface="Cambria Math" panose="02040503050406030204" pitchFamily="18" charset="0"/>
                              </a:rPr>
                              <m:t>𝑦</m:t>
                            </m:r>
                            <m:r>
                              <a:rPr lang="en-GB" sz="1600" i="1">
                                <a:latin typeface="Cambria Math" panose="02040503050406030204" pitchFamily="18" charset="0"/>
                              </a:rPr>
                              <m:t>−7</m:t>
                            </m:r>
                          </m:e>
                        </m:d>
                      </m:e>
                      <m:sup>
                        <m:r>
                          <a:rPr lang="en-GB" sz="1600" i="1">
                            <a:latin typeface="Cambria Math" panose="02040503050406030204" pitchFamily="18" charset="0"/>
                          </a:rPr>
                          <m:t>2</m:t>
                        </m:r>
                      </m:sup>
                    </m:sSup>
                    <m:r>
                      <a:rPr lang="en-GB" sz="1600" i="1">
                        <a:latin typeface="Cambria Math" panose="02040503050406030204" pitchFamily="18" charset="0"/>
                      </a:rPr>
                      <m:t>=13</m:t>
                    </m:r>
                  </m:oMath>
                </a14:m>
                <a:endParaRPr lang="en-GB" sz="1600"/>
              </a:p>
              <a:p>
                <a:r>
                  <a:rPr lang="en-GB" sz="1600"/>
                  <a:t>(a) Show that </a:t>
                </a:r>
                <a14:m>
                  <m:oMath xmlns:m="http://schemas.openxmlformats.org/officeDocument/2006/math">
                    <m:r>
                      <a:rPr lang="en-GB" sz="1600" i="1">
                        <a:latin typeface="Cambria Math" panose="02040503050406030204" pitchFamily="18" charset="0"/>
                      </a:rPr>
                      <m:t>𝑚</m:t>
                    </m:r>
                  </m:oMath>
                </a14:m>
                <a:r>
                  <a:rPr lang="en-GB" sz="1600"/>
                  <a:t> satisfies the equation </a:t>
                </a:r>
                <a14:m>
                  <m:oMath xmlns:m="http://schemas.openxmlformats.org/officeDocument/2006/math">
                    <m:r>
                      <a:rPr lang="en-GB" sz="1600" i="1">
                        <a:latin typeface="Cambria Math" panose="02040503050406030204" pitchFamily="18" charset="0"/>
                      </a:rPr>
                      <m:t>3</m:t>
                    </m:r>
                    <m:sSup>
                      <m:sSupPr>
                        <m:ctrlPr>
                          <a:rPr lang="en-GB" sz="1600" i="1">
                            <a:latin typeface="Cambria Math" panose="02040503050406030204" pitchFamily="18" charset="0"/>
                          </a:rPr>
                        </m:ctrlPr>
                      </m:sSupPr>
                      <m:e>
                        <m:r>
                          <a:rPr lang="en-GB" sz="1600" i="1">
                            <a:latin typeface="Cambria Math" panose="02040503050406030204" pitchFamily="18" charset="0"/>
                          </a:rPr>
                          <m:t>𝑚</m:t>
                        </m:r>
                      </m:e>
                      <m:sup>
                        <m:r>
                          <a:rPr lang="en-GB" sz="1600" i="1">
                            <a:latin typeface="Cambria Math" panose="02040503050406030204" pitchFamily="18" charset="0"/>
                          </a:rPr>
                          <m:t>2</m:t>
                        </m:r>
                      </m:sup>
                    </m:sSup>
                    <m:r>
                      <a:rPr lang="en-GB" sz="1600" i="1">
                        <a:latin typeface="Cambria Math" panose="02040503050406030204" pitchFamily="18" charset="0"/>
                      </a:rPr>
                      <m:t>+56</m:t>
                    </m:r>
                    <m:r>
                      <a:rPr lang="en-GB" sz="1600" i="1">
                        <a:latin typeface="Cambria Math" panose="02040503050406030204" pitchFamily="18" charset="0"/>
                      </a:rPr>
                      <m:t>𝑚</m:t>
                    </m:r>
                    <m:r>
                      <a:rPr lang="en-GB" sz="1600" i="1">
                        <a:latin typeface="Cambria Math" panose="02040503050406030204" pitchFamily="18" charset="0"/>
                      </a:rPr>
                      <m:t>+36=0</m:t>
                    </m:r>
                  </m:oMath>
                </a14:m>
                <a:endParaRPr lang="en-GB" sz="1600"/>
              </a:p>
              <a:p>
                <a:r>
                  <a:rPr lang="en-GB" sz="1600"/>
                  <a:t>The tangents from the origin </a:t>
                </a:r>
                <a14:m>
                  <m:oMath xmlns:m="http://schemas.openxmlformats.org/officeDocument/2006/math">
                    <m:r>
                      <a:rPr lang="en-GB" sz="1600" i="1">
                        <a:latin typeface="Cambria Math" panose="02040503050406030204" pitchFamily="18" charset="0"/>
                      </a:rPr>
                      <m:t>𝑂</m:t>
                    </m:r>
                  </m:oMath>
                </a14:m>
                <a:r>
                  <a:rPr lang="en-GB" sz="1600"/>
                  <a:t> to </a:t>
                </a:r>
                <a14:m>
                  <m:oMath xmlns:m="http://schemas.openxmlformats.org/officeDocument/2006/math">
                    <m:sSub>
                      <m:sSubPr>
                        <m:ctrlPr>
                          <a:rPr lang="en-GB" sz="1600" i="1">
                            <a:latin typeface="Cambria Math" panose="02040503050406030204" pitchFamily="18" charset="0"/>
                          </a:rPr>
                        </m:ctrlPr>
                      </m:sSubPr>
                      <m:e>
                        <m:r>
                          <a:rPr lang="en-GB" sz="1600" i="1">
                            <a:latin typeface="Cambria Math" panose="02040503050406030204" pitchFamily="18" charset="0"/>
                          </a:rPr>
                          <m:t>𝐶</m:t>
                        </m:r>
                      </m:e>
                      <m:sub>
                        <m:r>
                          <a:rPr lang="en-GB" sz="1600" i="1">
                            <a:latin typeface="Cambria Math" panose="02040503050406030204" pitchFamily="18" charset="0"/>
                          </a:rPr>
                          <m:t>1</m:t>
                        </m:r>
                      </m:sub>
                    </m:sSub>
                  </m:oMath>
                </a14:m>
                <a:r>
                  <a:rPr lang="en-GB" sz="1600"/>
                  <a:t> touch </a:t>
                </a:r>
                <a14:m>
                  <m:oMath xmlns:m="http://schemas.openxmlformats.org/officeDocument/2006/math">
                    <m:sSub>
                      <m:sSubPr>
                        <m:ctrlPr>
                          <a:rPr lang="en-GB" sz="1600" i="1">
                            <a:latin typeface="Cambria Math" panose="02040503050406030204" pitchFamily="18" charset="0"/>
                          </a:rPr>
                        </m:ctrlPr>
                      </m:sSubPr>
                      <m:e>
                        <m:r>
                          <a:rPr lang="en-GB" sz="1600" i="1">
                            <a:latin typeface="Cambria Math" panose="02040503050406030204" pitchFamily="18" charset="0"/>
                          </a:rPr>
                          <m:t>𝐶</m:t>
                        </m:r>
                      </m:e>
                      <m:sub>
                        <m:r>
                          <a:rPr lang="en-GB" sz="1600" i="1">
                            <a:latin typeface="Cambria Math" panose="02040503050406030204" pitchFamily="18" charset="0"/>
                          </a:rPr>
                          <m:t>1</m:t>
                        </m:r>
                      </m:sub>
                    </m:sSub>
                  </m:oMath>
                </a14:m>
                <a:r>
                  <a:rPr lang="en-GB" sz="1600"/>
                  <a:t> at the points </a:t>
                </a:r>
                <a14:m>
                  <m:oMath xmlns:m="http://schemas.openxmlformats.org/officeDocument/2006/math">
                    <m:r>
                      <a:rPr lang="en-GB" sz="1600" i="1">
                        <a:latin typeface="Cambria Math" panose="02040503050406030204" pitchFamily="18" charset="0"/>
                      </a:rPr>
                      <m:t>𝐴</m:t>
                    </m:r>
                  </m:oMath>
                </a14:m>
                <a:r>
                  <a:rPr lang="en-GB" sz="1600"/>
                  <a:t> and </a:t>
                </a:r>
                <a14:m>
                  <m:oMath xmlns:m="http://schemas.openxmlformats.org/officeDocument/2006/math">
                    <m:r>
                      <a:rPr lang="en-GB" sz="1600" i="1">
                        <a:latin typeface="Cambria Math" panose="02040503050406030204" pitchFamily="18" charset="0"/>
                      </a:rPr>
                      <m:t>𝐵</m:t>
                    </m:r>
                  </m:oMath>
                </a14:m>
                <a:r>
                  <a:rPr lang="en-GB" sz="1600"/>
                  <a:t>.</a:t>
                </a:r>
              </a:p>
              <a:p>
                <a:r>
                  <a:rPr lang="en-GB" sz="1600"/>
                  <a:t>(b) Find the coordinates of the points </a:t>
                </a:r>
                <a14:m>
                  <m:oMath xmlns:m="http://schemas.openxmlformats.org/officeDocument/2006/math">
                    <m:r>
                      <a:rPr lang="en-GB" sz="1600" i="1">
                        <a:latin typeface="Cambria Math" panose="02040503050406030204" pitchFamily="18" charset="0"/>
                      </a:rPr>
                      <m:t>𝐴</m:t>
                    </m:r>
                  </m:oMath>
                </a14:m>
                <a:r>
                  <a:rPr lang="en-GB" sz="1600"/>
                  <a:t> and </a:t>
                </a:r>
                <a14:m>
                  <m:oMath xmlns:m="http://schemas.openxmlformats.org/officeDocument/2006/math">
                    <m:r>
                      <a:rPr lang="en-GB" sz="1600" i="1">
                        <a:latin typeface="Cambria Math" panose="02040503050406030204" pitchFamily="18" charset="0"/>
                      </a:rPr>
                      <m:t>𝐵</m:t>
                    </m:r>
                  </m:oMath>
                </a14:m>
                <a:r>
                  <a:rPr lang="en-GB" sz="1600"/>
                  <a:t>.</a:t>
                </a:r>
              </a:p>
              <a:p>
                <a:r>
                  <a:rPr lang="en-GB" sz="1600"/>
                  <a:t>Another circle </a:t>
                </a:r>
                <a14:m>
                  <m:oMath xmlns:m="http://schemas.openxmlformats.org/officeDocument/2006/math">
                    <m:sSub>
                      <m:sSubPr>
                        <m:ctrlPr>
                          <a:rPr lang="en-GB" sz="1600" i="1">
                            <a:latin typeface="Cambria Math" panose="02040503050406030204" pitchFamily="18" charset="0"/>
                          </a:rPr>
                        </m:ctrlPr>
                      </m:sSubPr>
                      <m:e>
                        <m:r>
                          <a:rPr lang="en-GB" sz="1600" i="1">
                            <a:latin typeface="Cambria Math" panose="02040503050406030204" pitchFamily="18" charset="0"/>
                          </a:rPr>
                          <m:t>𝐶</m:t>
                        </m:r>
                      </m:e>
                      <m:sub>
                        <m:r>
                          <a:rPr lang="en-GB" sz="1600" i="1">
                            <a:latin typeface="Cambria Math" panose="02040503050406030204" pitchFamily="18" charset="0"/>
                          </a:rPr>
                          <m:t>2</m:t>
                        </m:r>
                      </m:sub>
                    </m:sSub>
                  </m:oMath>
                </a14:m>
                <a:r>
                  <a:rPr lang="en-GB" sz="1600"/>
                  <a:t> has equation </a:t>
                </a:r>
                <a14:m>
                  <m:oMath xmlns:m="http://schemas.openxmlformats.org/officeDocument/2006/math">
                    <m:sSup>
                      <m:sSupPr>
                        <m:ctrlPr>
                          <a:rPr lang="en-GB" sz="1600" i="1">
                            <a:latin typeface="Cambria Math" panose="02040503050406030204" pitchFamily="18" charset="0"/>
                          </a:rPr>
                        </m:ctrlPr>
                      </m:sSupPr>
                      <m:e>
                        <m:r>
                          <a:rPr lang="en-GB" sz="1600" i="1">
                            <a:latin typeface="Cambria Math" panose="02040503050406030204" pitchFamily="18" charset="0"/>
                          </a:rPr>
                          <m:t>𝑥</m:t>
                        </m:r>
                      </m:e>
                      <m:sup>
                        <m:r>
                          <a:rPr lang="en-GB" sz="1600" i="1">
                            <a:latin typeface="Cambria Math" panose="02040503050406030204" pitchFamily="18" charset="0"/>
                          </a:rPr>
                          <m:t>2</m:t>
                        </m:r>
                      </m:sup>
                    </m:sSup>
                    <m:r>
                      <a:rPr lang="en-GB" sz="1600" i="1">
                        <a:latin typeface="Cambria Math" panose="02040503050406030204" pitchFamily="18" charset="0"/>
                      </a:rPr>
                      <m:t>+</m:t>
                    </m:r>
                    <m:sSup>
                      <m:sSupPr>
                        <m:ctrlPr>
                          <a:rPr lang="en-GB" sz="1600" i="1">
                            <a:latin typeface="Cambria Math" panose="02040503050406030204" pitchFamily="18" charset="0"/>
                          </a:rPr>
                        </m:ctrlPr>
                      </m:sSupPr>
                      <m:e>
                        <m:r>
                          <a:rPr lang="en-GB" sz="1600" i="1">
                            <a:latin typeface="Cambria Math" panose="02040503050406030204" pitchFamily="18" charset="0"/>
                          </a:rPr>
                          <m:t>𝑦</m:t>
                        </m:r>
                      </m:e>
                      <m:sup>
                        <m:r>
                          <a:rPr lang="en-GB" sz="1600" i="1">
                            <a:latin typeface="Cambria Math" panose="02040503050406030204" pitchFamily="18" charset="0"/>
                          </a:rPr>
                          <m:t>2</m:t>
                        </m:r>
                      </m:sup>
                    </m:sSup>
                    <m:r>
                      <a:rPr lang="en-GB" sz="1600" i="1">
                        <a:latin typeface="Cambria Math" panose="02040503050406030204" pitchFamily="18" charset="0"/>
                      </a:rPr>
                      <m:t>=13</m:t>
                    </m:r>
                  </m:oMath>
                </a14:m>
                <a:r>
                  <a:rPr lang="en-GB" sz="1600"/>
                  <a:t>. The tangents from the point </a:t>
                </a:r>
                <a14:m>
                  <m:oMath xmlns:m="http://schemas.openxmlformats.org/officeDocument/2006/math">
                    <m:d>
                      <m:dPr>
                        <m:ctrlPr>
                          <a:rPr lang="en-GB" sz="1600" i="1">
                            <a:latin typeface="Cambria Math" panose="02040503050406030204" pitchFamily="18" charset="0"/>
                          </a:rPr>
                        </m:ctrlPr>
                      </m:dPr>
                      <m:e>
                        <m:r>
                          <a:rPr lang="en-GB" sz="1600" i="1">
                            <a:latin typeface="Cambria Math" panose="02040503050406030204" pitchFamily="18" charset="0"/>
                          </a:rPr>
                          <m:t>4,−7</m:t>
                        </m:r>
                      </m:e>
                    </m:d>
                  </m:oMath>
                </a14:m>
                <a:r>
                  <a:rPr lang="en-GB" sz="1600"/>
                  <a:t> to </a:t>
                </a:r>
                <a14:m>
                  <m:oMath xmlns:m="http://schemas.openxmlformats.org/officeDocument/2006/math">
                    <m:sSub>
                      <m:sSubPr>
                        <m:ctrlPr>
                          <a:rPr lang="en-GB" sz="1600" i="1">
                            <a:latin typeface="Cambria Math" panose="02040503050406030204" pitchFamily="18" charset="0"/>
                          </a:rPr>
                        </m:ctrlPr>
                      </m:sSubPr>
                      <m:e>
                        <m:r>
                          <a:rPr lang="en-GB" sz="1600" i="1">
                            <a:latin typeface="Cambria Math" panose="02040503050406030204" pitchFamily="18" charset="0"/>
                          </a:rPr>
                          <m:t>𝐶</m:t>
                        </m:r>
                      </m:e>
                      <m:sub>
                        <m:r>
                          <a:rPr lang="en-GB" sz="1600" i="1">
                            <a:latin typeface="Cambria Math" panose="02040503050406030204" pitchFamily="18" charset="0"/>
                          </a:rPr>
                          <m:t>2</m:t>
                        </m:r>
                      </m:sub>
                    </m:sSub>
                  </m:oMath>
                </a14:m>
                <a:r>
                  <a:rPr lang="en-GB" sz="1600"/>
                  <a:t> touch it at the points </a:t>
                </a:r>
                <a14:m>
                  <m:oMath xmlns:m="http://schemas.openxmlformats.org/officeDocument/2006/math">
                    <m:r>
                      <a:rPr lang="en-GB" sz="1600" i="1">
                        <a:latin typeface="Cambria Math" panose="02040503050406030204" pitchFamily="18" charset="0"/>
                      </a:rPr>
                      <m:t>𝑃</m:t>
                    </m:r>
                  </m:oMath>
                </a14:m>
                <a:r>
                  <a:rPr lang="en-GB" sz="1600"/>
                  <a:t> and </a:t>
                </a:r>
                <a14:m>
                  <m:oMath xmlns:m="http://schemas.openxmlformats.org/officeDocument/2006/math">
                    <m:r>
                      <a:rPr lang="en-GB" sz="1600" i="1">
                        <a:latin typeface="Cambria Math" panose="02040503050406030204" pitchFamily="18" charset="0"/>
                      </a:rPr>
                      <m:t>𝑄</m:t>
                    </m:r>
                  </m:oMath>
                </a14:m>
                <a:r>
                  <a:rPr lang="en-GB" sz="1600"/>
                  <a:t>.</a:t>
                </a:r>
              </a:p>
              <a:p>
                <a:r>
                  <a:rPr lang="en-GB" sz="1600"/>
                  <a:t>(c) Find the coordinates of either the point </a:t>
                </a:r>
                <a14:m>
                  <m:oMath xmlns:m="http://schemas.openxmlformats.org/officeDocument/2006/math">
                    <m:r>
                      <a:rPr lang="en-GB" sz="1600" i="1">
                        <a:latin typeface="Cambria Math" panose="02040503050406030204" pitchFamily="18" charset="0"/>
                      </a:rPr>
                      <m:t>𝑃</m:t>
                    </m:r>
                  </m:oMath>
                </a14:m>
                <a:r>
                  <a:rPr lang="en-GB" sz="1600"/>
                  <a:t> or the point </a:t>
                </a:r>
                <a14:m>
                  <m:oMath xmlns:m="http://schemas.openxmlformats.org/officeDocument/2006/math">
                    <m:r>
                      <a:rPr lang="en-GB" sz="1600" i="1">
                        <a:latin typeface="Cambria Math" panose="02040503050406030204" pitchFamily="18" charset="0"/>
                      </a:rPr>
                      <m:t>𝑄</m:t>
                    </m:r>
                  </m:oMath>
                </a14:m>
                <a:r>
                  <a:rPr lang="en-GB" sz="1600"/>
                  <a:t>.</a:t>
                </a:r>
              </a:p>
              <a:p>
                <a:r>
                  <a:rPr lang="en-GB" sz="1600" b="1"/>
                  <a:t>Mark scheme on next slide.</a:t>
                </a:r>
              </a:p>
            </p:txBody>
          </p:sp>
        </mc:Choice>
        <mc:Fallback>
          <p:sp>
            <p:nvSpPr>
              <p:cNvPr id="9" name="TextBox 8"/>
              <p:cNvSpPr txBox="1">
                <a:spLocks noRot="1" noChangeAspect="1" noMove="1" noResize="1" noEditPoints="1" noAdjustHandles="1" noChangeArrowheads="1" noChangeShapeType="1" noTextEdit="1"/>
              </p:cNvSpPr>
              <p:nvPr/>
            </p:nvSpPr>
            <p:spPr>
              <a:xfrm>
                <a:off x="4612297" y="1481308"/>
                <a:ext cx="5904656" cy="2308324"/>
              </a:xfrm>
              <a:prstGeom prst="rect">
                <a:avLst/>
              </a:prstGeom>
              <a:blipFill>
                <a:blip r:embed="rId3"/>
                <a:stretch>
                  <a:fillRect l="-644" t="-546" r="-215" b="-2186"/>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0" name="TextBox 9"/>
              <p:cNvSpPr txBox="1"/>
              <p:nvPr/>
            </p:nvSpPr>
            <p:spPr>
              <a:xfrm>
                <a:off x="4626811" y="3830074"/>
                <a:ext cx="5904656" cy="2990370"/>
              </a:xfrm>
              <a:prstGeom prst="rect">
                <a:avLst/>
              </a:prstGeom>
              <a:noFill/>
            </p:spPr>
            <p:txBody>
              <a:bodyPr wrap="square" rtlCol="0">
                <a:spAutoFit/>
              </a:bodyPr>
              <a:lstStyle/>
              <a:p>
                <a:r>
                  <a:rPr lang="en-GB" sz="1600" i="1"/>
                  <a:t>[STEP 2005 Q6] </a:t>
                </a:r>
              </a:p>
              <a:p>
                <a:pPr marL="400050" indent="-400050">
                  <a:buAutoNum type="romanLcParenBoth"/>
                </a:pPr>
                <a:r>
                  <a:rPr lang="en-GB" sz="1600"/>
                  <a:t>The point </a:t>
                </a:r>
                <a14:m>
                  <m:oMath xmlns:m="http://schemas.openxmlformats.org/officeDocument/2006/math">
                    <m:r>
                      <a:rPr lang="en-GB" sz="1600" i="1">
                        <a:latin typeface="Cambria Math" panose="02040503050406030204" pitchFamily="18" charset="0"/>
                      </a:rPr>
                      <m:t>𝐴</m:t>
                    </m:r>
                  </m:oMath>
                </a14:m>
                <a:r>
                  <a:rPr lang="en-GB" sz="1600"/>
                  <a:t> has coordinates </a:t>
                </a:r>
                <a14:m>
                  <m:oMath xmlns:m="http://schemas.openxmlformats.org/officeDocument/2006/math">
                    <m:d>
                      <m:dPr>
                        <m:ctrlPr>
                          <a:rPr lang="en-GB" sz="1600" i="1">
                            <a:latin typeface="Cambria Math" panose="02040503050406030204" pitchFamily="18" charset="0"/>
                          </a:rPr>
                        </m:ctrlPr>
                      </m:dPr>
                      <m:e>
                        <m:r>
                          <a:rPr lang="en-GB" sz="1600" i="1">
                            <a:latin typeface="Cambria Math" panose="02040503050406030204" pitchFamily="18" charset="0"/>
                          </a:rPr>
                          <m:t>5,16</m:t>
                        </m:r>
                      </m:e>
                    </m:d>
                  </m:oMath>
                </a14:m>
                <a:r>
                  <a:rPr lang="en-GB" sz="1600"/>
                  <a:t> and the point </a:t>
                </a:r>
                <a14:m>
                  <m:oMath xmlns:m="http://schemas.openxmlformats.org/officeDocument/2006/math">
                    <m:r>
                      <a:rPr lang="en-GB" sz="1600" i="1">
                        <a:latin typeface="Cambria Math" panose="02040503050406030204" pitchFamily="18" charset="0"/>
                      </a:rPr>
                      <m:t>𝐵</m:t>
                    </m:r>
                  </m:oMath>
                </a14:m>
                <a:r>
                  <a:rPr lang="en-GB" sz="1600"/>
                  <a:t> has coordinates </a:t>
                </a:r>
                <a14:m>
                  <m:oMath xmlns:m="http://schemas.openxmlformats.org/officeDocument/2006/math">
                    <m:d>
                      <m:dPr>
                        <m:ctrlPr>
                          <a:rPr lang="en-GB" sz="1600" i="1">
                            <a:latin typeface="Cambria Math" panose="02040503050406030204" pitchFamily="18" charset="0"/>
                          </a:rPr>
                        </m:ctrlPr>
                      </m:dPr>
                      <m:e>
                        <m:r>
                          <a:rPr lang="en-GB" sz="1600" i="1">
                            <a:latin typeface="Cambria Math" panose="02040503050406030204" pitchFamily="18" charset="0"/>
                          </a:rPr>
                          <m:t>4,−4</m:t>
                        </m:r>
                      </m:e>
                    </m:d>
                  </m:oMath>
                </a14:m>
                <a:r>
                  <a:rPr lang="en-GB" sz="1600"/>
                  <a:t>. The variable </a:t>
                </a:r>
                <a14:m>
                  <m:oMath xmlns:m="http://schemas.openxmlformats.org/officeDocument/2006/math">
                    <m:r>
                      <a:rPr lang="en-GB" sz="1600" i="1">
                        <a:latin typeface="Cambria Math" panose="02040503050406030204" pitchFamily="18" charset="0"/>
                      </a:rPr>
                      <m:t>𝑃</m:t>
                    </m:r>
                  </m:oMath>
                </a14:m>
                <a:r>
                  <a:rPr lang="en-GB" sz="1600"/>
                  <a:t> has coordinates </a:t>
                </a:r>
                <a14:m>
                  <m:oMath xmlns:m="http://schemas.openxmlformats.org/officeDocument/2006/math">
                    <m:d>
                      <m:dPr>
                        <m:ctrlPr>
                          <a:rPr lang="en-GB" sz="1600" i="1">
                            <a:latin typeface="Cambria Math" panose="02040503050406030204" pitchFamily="18" charset="0"/>
                          </a:rPr>
                        </m:ctrlPr>
                      </m:dPr>
                      <m:e>
                        <m:r>
                          <a:rPr lang="en-GB" sz="1600" i="1">
                            <a:latin typeface="Cambria Math" panose="02040503050406030204" pitchFamily="18" charset="0"/>
                          </a:rPr>
                          <m:t>𝑥</m:t>
                        </m:r>
                        <m:r>
                          <a:rPr lang="en-GB" sz="1600" i="1">
                            <a:latin typeface="Cambria Math" panose="02040503050406030204" pitchFamily="18" charset="0"/>
                          </a:rPr>
                          <m:t>,</m:t>
                        </m:r>
                        <m:r>
                          <a:rPr lang="en-GB" sz="1600" i="1">
                            <a:latin typeface="Cambria Math" panose="02040503050406030204" pitchFamily="18" charset="0"/>
                          </a:rPr>
                          <m:t>𝑦</m:t>
                        </m:r>
                      </m:e>
                    </m:d>
                  </m:oMath>
                </a14:m>
                <a:r>
                  <a:rPr lang="en-GB" sz="1600"/>
                  <a:t> and moves on a path such that </a:t>
                </a:r>
                <a14:m>
                  <m:oMath xmlns:m="http://schemas.openxmlformats.org/officeDocument/2006/math">
                    <m:r>
                      <a:rPr lang="en-GB" sz="1600" i="1">
                        <a:latin typeface="Cambria Math" panose="02040503050406030204" pitchFamily="18" charset="0"/>
                      </a:rPr>
                      <m:t>𝐴𝑃</m:t>
                    </m:r>
                    <m:r>
                      <a:rPr lang="en-GB" sz="1600" i="1">
                        <a:latin typeface="Cambria Math" panose="02040503050406030204" pitchFamily="18" charset="0"/>
                      </a:rPr>
                      <m:t>=2</m:t>
                    </m:r>
                    <m:r>
                      <a:rPr lang="en-GB" sz="1600" i="1">
                        <a:latin typeface="Cambria Math" panose="02040503050406030204" pitchFamily="18" charset="0"/>
                      </a:rPr>
                      <m:t>𝐵𝑃</m:t>
                    </m:r>
                  </m:oMath>
                </a14:m>
                <a:r>
                  <a:rPr lang="en-GB" sz="1600"/>
                  <a:t>. Show that the Cartesian equation of the path of </a:t>
                </a:r>
                <a14:m>
                  <m:oMath xmlns:m="http://schemas.openxmlformats.org/officeDocument/2006/math">
                    <m:r>
                      <a:rPr lang="en-GB" sz="1600" i="1">
                        <a:latin typeface="Cambria Math" panose="02040503050406030204" pitchFamily="18" charset="0"/>
                      </a:rPr>
                      <m:t>𝑃</m:t>
                    </m:r>
                  </m:oMath>
                </a14:m>
                <a:r>
                  <a:rPr lang="en-GB" sz="1600"/>
                  <a:t> is </a:t>
                </a:r>
                <a14:m>
                  <m:oMath xmlns:m="http://schemas.openxmlformats.org/officeDocument/2006/math">
                    <m:sSup>
                      <m:sSupPr>
                        <m:ctrlPr>
                          <a:rPr lang="en-GB" sz="1600" i="1">
                            <a:latin typeface="Cambria Math" panose="02040503050406030204" pitchFamily="18" charset="0"/>
                          </a:rPr>
                        </m:ctrlPr>
                      </m:sSupPr>
                      <m:e>
                        <m:d>
                          <m:dPr>
                            <m:ctrlPr>
                              <a:rPr lang="en-GB" sz="1600" i="1">
                                <a:latin typeface="Cambria Math" panose="02040503050406030204" pitchFamily="18" charset="0"/>
                              </a:rPr>
                            </m:ctrlPr>
                          </m:dPr>
                          <m:e>
                            <m:r>
                              <a:rPr lang="en-GB" sz="1600" i="1">
                                <a:latin typeface="Cambria Math" panose="02040503050406030204" pitchFamily="18" charset="0"/>
                              </a:rPr>
                              <m:t>𝑥</m:t>
                            </m:r>
                            <m:r>
                              <a:rPr lang="en-GB" sz="1600" i="1">
                                <a:latin typeface="Cambria Math" panose="02040503050406030204" pitchFamily="18" charset="0"/>
                              </a:rPr>
                              <m:t>+7</m:t>
                            </m:r>
                          </m:e>
                        </m:d>
                      </m:e>
                      <m:sup>
                        <m:r>
                          <a:rPr lang="en-GB" sz="1600" i="1">
                            <a:latin typeface="Cambria Math" panose="02040503050406030204" pitchFamily="18" charset="0"/>
                          </a:rPr>
                          <m:t>2</m:t>
                        </m:r>
                      </m:sup>
                    </m:sSup>
                    <m:r>
                      <a:rPr lang="en-GB" sz="1600" i="1">
                        <a:latin typeface="Cambria Math" panose="02040503050406030204" pitchFamily="18" charset="0"/>
                      </a:rPr>
                      <m:t>+</m:t>
                    </m:r>
                    <m:sSup>
                      <m:sSupPr>
                        <m:ctrlPr>
                          <a:rPr lang="en-GB" sz="1600" i="1">
                            <a:latin typeface="Cambria Math" panose="02040503050406030204" pitchFamily="18" charset="0"/>
                          </a:rPr>
                        </m:ctrlPr>
                      </m:sSupPr>
                      <m:e>
                        <m:r>
                          <a:rPr lang="en-GB" sz="1600" i="1">
                            <a:latin typeface="Cambria Math" panose="02040503050406030204" pitchFamily="18" charset="0"/>
                          </a:rPr>
                          <m:t>𝑦</m:t>
                        </m:r>
                      </m:e>
                      <m:sup>
                        <m:r>
                          <a:rPr lang="en-GB" sz="1600" i="1">
                            <a:latin typeface="Cambria Math" panose="02040503050406030204" pitchFamily="18" charset="0"/>
                          </a:rPr>
                          <m:t>2</m:t>
                        </m:r>
                      </m:sup>
                    </m:sSup>
                    <m:r>
                      <a:rPr lang="en-GB" sz="1600" i="1">
                        <a:latin typeface="Cambria Math" panose="02040503050406030204" pitchFamily="18" charset="0"/>
                      </a:rPr>
                      <m:t>=100</m:t>
                    </m:r>
                  </m:oMath>
                </a14:m>
                <a:r>
                  <a:rPr lang="en-GB" sz="1600"/>
                  <a:t>.</a:t>
                </a:r>
              </a:p>
              <a:p>
                <a:pPr marL="400050" indent="-400050">
                  <a:buAutoNum type="romanLcParenBoth"/>
                </a:pPr>
                <a:r>
                  <a:rPr lang="en-GB" sz="1600"/>
                  <a:t>The point </a:t>
                </a:r>
                <a14:m>
                  <m:oMath xmlns:m="http://schemas.openxmlformats.org/officeDocument/2006/math">
                    <m:r>
                      <a:rPr lang="en-GB" sz="1600" i="1">
                        <a:latin typeface="Cambria Math" panose="02040503050406030204" pitchFamily="18" charset="0"/>
                      </a:rPr>
                      <m:t>𝐶</m:t>
                    </m:r>
                  </m:oMath>
                </a14:m>
                <a:r>
                  <a:rPr lang="en-GB" sz="1600"/>
                  <a:t> has coordinates </a:t>
                </a:r>
                <a14:m>
                  <m:oMath xmlns:m="http://schemas.openxmlformats.org/officeDocument/2006/math">
                    <m:d>
                      <m:dPr>
                        <m:ctrlPr>
                          <a:rPr lang="en-GB" sz="1600" i="1">
                            <a:latin typeface="Cambria Math" panose="02040503050406030204" pitchFamily="18" charset="0"/>
                          </a:rPr>
                        </m:ctrlPr>
                      </m:dPr>
                      <m:e>
                        <m:r>
                          <a:rPr lang="en-GB" sz="1600" i="1">
                            <a:latin typeface="Cambria Math" panose="02040503050406030204" pitchFamily="18" charset="0"/>
                          </a:rPr>
                          <m:t>𝑎</m:t>
                        </m:r>
                        <m:r>
                          <a:rPr lang="en-GB" sz="1600" i="1">
                            <a:latin typeface="Cambria Math" panose="02040503050406030204" pitchFamily="18" charset="0"/>
                          </a:rPr>
                          <m:t>,0</m:t>
                        </m:r>
                      </m:e>
                    </m:d>
                  </m:oMath>
                </a14:m>
                <a:r>
                  <a:rPr lang="en-GB" sz="1600"/>
                  <a:t> and the point </a:t>
                </a:r>
                <a14:m>
                  <m:oMath xmlns:m="http://schemas.openxmlformats.org/officeDocument/2006/math">
                    <m:r>
                      <a:rPr lang="en-GB" sz="1600" i="1">
                        <a:latin typeface="Cambria Math" panose="02040503050406030204" pitchFamily="18" charset="0"/>
                      </a:rPr>
                      <m:t>𝐷</m:t>
                    </m:r>
                  </m:oMath>
                </a14:m>
                <a:r>
                  <a:rPr lang="en-GB" sz="1600"/>
                  <a:t> has coordinates </a:t>
                </a:r>
                <a14:m>
                  <m:oMath xmlns:m="http://schemas.openxmlformats.org/officeDocument/2006/math">
                    <m:d>
                      <m:dPr>
                        <m:ctrlPr>
                          <a:rPr lang="en-GB" sz="1600" i="1">
                            <a:latin typeface="Cambria Math" panose="02040503050406030204" pitchFamily="18" charset="0"/>
                          </a:rPr>
                        </m:ctrlPr>
                      </m:dPr>
                      <m:e>
                        <m:r>
                          <a:rPr lang="en-GB" sz="1600" i="1">
                            <a:latin typeface="Cambria Math" panose="02040503050406030204" pitchFamily="18" charset="0"/>
                          </a:rPr>
                          <m:t>𝑏</m:t>
                        </m:r>
                        <m:r>
                          <a:rPr lang="en-GB" sz="1600" i="1">
                            <a:latin typeface="Cambria Math" panose="02040503050406030204" pitchFamily="18" charset="0"/>
                          </a:rPr>
                          <m:t>,0</m:t>
                        </m:r>
                      </m:e>
                    </m:d>
                  </m:oMath>
                </a14:m>
                <a:r>
                  <a:rPr lang="en-GB" sz="1600"/>
                  <a:t>. The variable point </a:t>
                </a:r>
                <a14:m>
                  <m:oMath xmlns:m="http://schemas.openxmlformats.org/officeDocument/2006/math">
                    <m:r>
                      <a:rPr lang="en-GB" sz="1600" i="1">
                        <a:latin typeface="Cambria Math" panose="02040503050406030204" pitchFamily="18" charset="0"/>
                      </a:rPr>
                      <m:t>𝑄</m:t>
                    </m:r>
                  </m:oMath>
                </a14:m>
                <a:r>
                  <a:rPr lang="en-GB" sz="1600"/>
                  <a:t> moves on a path such that </a:t>
                </a:r>
                <a14:m>
                  <m:oMath xmlns:m="http://schemas.openxmlformats.org/officeDocument/2006/math">
                    <m:r>
                      <a:rPr lang="en-GB" sz="1600" i="1">
                        <a:latin typeface="Cambria Math" panose="02040503050406030204" pitchFamily="18" charset="0"/>
                      </a:rPr>
                      <m:t>𝑄𝐶</m:t>
                    </m:r>
                    <m:r>
                      <a:rPr lang="en-GB" sz="1600" i="1">
                        <a:latin typeface="Cambria Math" panose="02040503050406030204" pitchFamily="18" charset="0"/>
                      </a:rPr>
                      <m:t>=</m:t>
                    </m:r>
                    <m:r>
                      <a:rPr lang="en-GB" sz="1600" i="1">
                        <a:latin typeface="Cambria Math" panose="02040503050406030204" pitchFamily="18" charset="0"/>
                      </a:rPr>
                      <m:t>𝑘</m:t>
                    </m:r>
                    <m:r>
                      <a:rPr lang="en-GB" sz="1600" i="1">
                        <a:latin typeface="Cambria Math" panose="02040503050406030204" pitchFamily="18" charset="0"/>
                      </a:rPr>
                      <m:t>×</m:t>
                    </m:r>
                    <m:r>
                      <a:rPr lang="en-GB" sz="1600" i="1">
                        <a:latin typeface="Cambria Math" panose="02040503050406030204" pitchFamily="18" charset="0"/>
                      </a:rPr>
                      <m:t>𝑄𝐷</m:t>
                    </m:r>
                  </m:oMath>
                </a14:m>
                <a:r>
                  <a:rPr lang="en-GB" sz="1600"/>
                  <a:t>, where </a:t>
                </a:r>
                <a14:m>
                  <m:oMath xmlns:m="http://schemas.openxmlformats.org/officeDocument/2006/math">
                    <m:r>
                      <a:rPr lang="en-GB" sz="1600" i="1">
                        <a:latin typeface="Cambria Math" panose="02040503050406030204" pitchFamily="18" charset="0"/>
                      </a:rPr>
                      <m:t>𝑘</m:t>
                    </m:r>
                    <m:r>
                      <a:rPr lang="en-GB" sz="1600" i="1">
                        <a:latin typeface="Cambria Math" panose="02040503050406030204" pitchFamily="18" charset="0"/>
                      </a:rPr>
                      <m:t>&gt;1</m:t>
                    </m:r>
                  </m:oMath>
                </a14:m>
                <a:r>
                  <a:rPr lang="en-GB" sz="1600"/>
                  <a:t>.</a:t>
                </a:r>
                <a:br>
                  <a:rPr lang="en-GB" sz="1600"/>
                </a:br>
                <a:r>
                  <a:rPr lang="en-GB" sz="1600"/>
                  <a:t>Given that the path of </a:t>
                </a:r>
                <a14:m>
                  <m:oMath xmlns:m="http://schemas.openxmlformats.org/officeDocument/2006/math">
                    <m:r>
                      <a:rPr lang="en-GB" sz="1600" i="1">
                        <a:latin typeface="Cambria Math" panose="02040503050406030204" pitchFamily="18" charset="0"/>
                      </a:rPr>
                      <m:t>𝑄</m:t>
                    </m:r>
                  </m:oMath>
                </a14:m>
                <a:r>
                  <a:rPr lang="en-GB" sz="1600"/>
                  <a:t> is the same as the path of </a:t>
                </a:r>
                <a14:m>
                  <m:oMath xmlns:m="http://schemas.openxmlformats.org/officeDocument/2006/math">
                    <m:r>
                      <a:rPr lang="en-GB" sz="1600" i="1">
                        <a:latin typeface="Cambria Math" panose="02040503050406030204" pitchFamily="18" charset="0"/>
                      </a:rPr>
                      <m:t>𝑃</m:t>
                    </m:r>
                  </m:oMath>
                </a14:m>
                <a:r>
                  <a:rPr lang="en-GB" sz="1600"/>
                  <a:t>, show that</a:t>
                </a:r>
                <a:br>
                  <a:rPr lang="en-GB" sz="1600"/>
                </a:br>
                <a14:m>
                  <m:oMath xmlns:m="http://schemas.openxmlformats.org/officeDocument/2006/math">
                    <m:f>
                      <m:fPr>
                        <m:ctrlPr>
                          <a:rPr lang="en-GB" sz="1400" i="1">
                            <a:latin typeface="Cambria Math" panose="02040503050406030204" pitchFamily="18" charset="0"/>
                          </a:rPr>
                        </m:ctrlPr>
                      </m:fPr>
                      <m:num>
                        <m:r>
                          <a:rPr lang="en-GB" sz="1400" i="1">
                            <a:latin typeface="Cambria Math" panose="02040503050406030204" pitchFamily="18" charset="0"/>
                          </a:rPr>
                          <m:t>𝑎</m:t>
                        </m:r>
                        <m:r>
                          <a:rPr lang="en-GB" sz="1400" i="1">
                            <a:latin typeface="Cambria Math" panose="02040503050406030204" pitchFamily="18" charset="0"/>
                          </a:rPr>
                          <m:t>+7</m:t>
                        </m:r>
                      </m:num>
                      <m:den>
                        <m:r>
                          <a:rPr lang="en-GB" sz="1400" i="1">
                            <a:latin typeface="Cambria Math" panose="02040503050406030204" pitchFamily="18" charset="0"/>
                          </a:rPr>
                          <m:t>𝑏</m:t>
                        </m:r>
                        <m:r>
                          <a:rPr lang="en-GB" sz="1400" i="1">
                            <a:latin typeface="Cambria Math" panose="02040503050406030204" pitchFamily="18" charset="0"/>
                          </a:rPr>
                          <m:t>+7</m:t>
                        </m:r>
                      </m:den>
                    </m:f>
                    <m:r>
                      <a:rPr lang="en-GB" sz="1400" i="1">
                        <a:latin typeface="Cambria Math" panose="02040503050406030204" pitchFamily="18" charset="0"/>
                      </a:rPr>
                      <m:t>=</m:t>
                    </m:r>
                    <m:f>
                      <m:fPr>
                        <m:ctrlPr>
                          <a:rPr lang="en-GB" sz="1400" i="1">
                            <a:latin typeface="Cambria Math" panose="02040503050406030204" pitchFamily="18" charset="0"/>
                          </a:rPr>
                        </m:ctrlPr>
                      </m:fPr>
                      <m:num>
                        <m:sSup>
                          <m:sSupPr>
                            <m:ctrlPr>
                              <a:rPr lang="en-GB" sz="1400" i="1">
                                <a:latin typeface="Cambria Math" panose="02040503050406030204" pitchFamily="18" charset="0"/>
                              </a:rPr>
                            </m:ctrlPr>
                          </m:sSupPr>
                          <m:e>
                            <m:r>
                              <a:rPr lang="en-GB" sz="1400" i="1">
                                <a:latin typeface="Cambria Math" panose="02040503050406030204" pitchFamily="18" charset="0"/>
                              </a:rPr>
                              <m:t>𝑎</m:t>
                            </m:r>
                          </m:e>
                          <m:sup>
                            <m:r>
                              <a:rPr lang="en-GB" sz="1400" i="1">
                                <a:latin typeface="Cambria Math" panose="02040503050406030204" pitchFamily="18" charset="0"/>
                              </a:rPr>
                              <m:t>2</m:t>
                            </m:r>
                          </m:sup>
                        </m:sSup>
                        <m:r>
                          <a:rPr lang="en-GB" sz="1400" i="1">
                            <a:latin typeface="Cambria Math" panose="02040503050406030204" pitchFamily="18" charset="0"/>
                          </a:rPr>
                          <m:t>+51</m:t>
                        </m:r>
                      </m:num>
                      <m:den>
                        <m:sSup>
                          <m:sSupPr>
                            <m:ctrlPr>
                              <a:rPr lang="en-GB" sz="1400" i="1">
                                <a:latin typeface="Cambria Math" panose="02040503050406030204" pitchFamily="18" charset="0"/>
                              </a:rPr>
                            </m:ctrlPr>
                          </m:sSupPr>
                          <m:e>
                            <m:r>
                              <a:rPr lang="en-GB" sz="1400" i="1">
                                <a:latin typeface="Cambria Math" panose="02040503050406030204" pitchFamily="18" charset="0"/>
                              </a:rPr>
                              <m:t>𝑏</m:t>
                            </m:r>
                          </m:e>
                          <m:sup>
                            <m:r>
                              <a:rPr lang="en-GB" sz="1400" i="1">
                                <a:latin typeface="Cambria Math" panose="02040503050406030204" pitchFamily="18" charset="0"/>
                              </a:rPr>
                              <m:t>2</m:t>
                            </m:r>
                          </m:sup>
                        </m:sSup>
                        <m:r>
                          <a:rPr lang="en-GB" sz="1400" i="1">
                            <a:latin typeface="Cambria Math" panose="02040503050406030204" pitchFamily="18" charset="0"/>
                          </a:rPr>
                          <m:t>+51</m:t>
                        </m:r>
                      </m:den>
                    </m:f>
                  </m:oMath>
                </a14:m>
                <a:br>
                  <a:rPr lang="en-GB" sz="1600"/>
                </a:br>
                <a:r>
                  <a:rPr lang="en-GB" sz="1600"/>
                  <a:t>Show further that </a:t>
                </a:r>
                <a14:m>
                  <m:oMath xmlns:m="http://schemas.openxmlformats.org/officeDocument/2006/math">
                    <m:d>
                      <m:dPr>
                        <m:ctrlPr>
                          <a:rPr lang="en-GB" sz="1600" i="1">
                            <a:latin typeface="Cambria Math" panose="02040503050406030204" pitchFamily="18" charset="0"/>
                          </a:rPr>
                        </m:ctrlPr>
                      </m:dPr>
                      <m:e>
                        <m:r>
                          <a:rPr lang="en-GB" sz="1600" i="1">
                            <a:latin typeface="Cambria Math" panose="02040503050406030204" pitchFamily="18" charset="0"/>
                          </a:rPr>
                          <m:t>𝑎</m:t>
                        </m:r>
                        <m:r>
                          <a:rPr lang="en-GB" sz="1600" i="1">
                            <a:latin typeface="Cambria Math" panose="02040503050406030204" pitchFamily="18" charset="0"/>
                          </a:rPr>
                          <m:t>+7</m:t>
                        </m:r>
                      </m:e>
                    </m:d>
                    <m:d>
                      <m:dPr>
                        <m:ctrlPr>
                          <a:rPr lang="en-GB" sz="1600" i="1">
                            <a:latin typeface="Cambria Math" panose="02040503050406030204" pitchFamily="18" charset="0"/>
                          </a:rPr>
                        </m:ctrlPr>
                      </m:dPr>
                      <m:e>
                        <m:r>
                          <a:rPr lang="en-GB" sz="1600" i="1">
                            <a:latin typeface="Cambria Math" panose="02040503050406030204" pitchFamily="18" charset="0"/>
                          </a:rPr>
                          <m:t>𝑏</m:t>
                        </m:r>
                        <m:r>
                          <a:rPr lang="en-GB" sz="1600" i="1">
                            <a:latin typeface="Cambria Math" panose="02040503050406030204" pitchFamily="18" charset="0"/>
                          </a:rPr>
                          <m:t>+7</m:t>
                        </m:r>
                      </m:e>
                    </m:d>
                    <m:r>
                      <a:rPr lang="en-GB" sz="1600" i="1">
                        <a:latin typeface="Cambria Math" panose="02040503050406030204" pitchFamily="18" charset="0"/>
                      </a:rPr>
                      <m:t>=100</m:t>
                    </m:r>
                  </m:oMath>
                </a14:m>
                <a:r>
                  <a:rPr lang="en-GB" sz="1600"/>
                  <a:t>, in the case </a:t>
                </a:r>
                <a14:m>
                  <m:oMath xmlns:m="http://schemas.openxmlformats.org/officeDocument/2006/math">
                    <m:r>
                      <a:rPr lang="en-GB" sz="1600" i="1">
                        <a:latin typeface="Cambria Math" panose="02040503050406030204" pitchFamily="18" charset="0"/>
                      </a:rPr>
                      <m:t>𝑎</m:t>
                    </m:r>
                    <m:r>
                      <a:rPr lang="en-GB" sz="1600" i="1">
                        <a:latin typeface="Cambria Math" panose="02040503050406030204" pitchFamily="18" charset="0"/>
                      </a:rPr>
                      <m:t>≠</m:t>
                    </m:r>
                    <m:r>
                      <a:rPr lang="en-GB" sz="1600" i="1">
                        <a:latin typeface="Cambria Math" panose="02040503050406030204" pitchFamily="18" charset="0"/>
                      </a:rPr>
                      <m:t>𝑏</m:t>
                    </m:r>
                  </m:oMath>
                </a14:m>
                <a:r>
                  <a:rPr lang="en-GB" sz="1600"/>
                  <a:t>.</a:t>
                </a:r>
              </a:p>
            </p:txBody>
          </p:sp>
        </mc:Choice>
        <mc:Fallback>
          <p:sp>
            <p:nvSpPr>
              <p:cNvPr id="10" name="TextBox 9"/>
              <p:cNvSpPr txBox="1">
                <a:spLocks noRot="1" noChangeAspect="1" noMove="1" noResize="1" noEditPoints="1" noAdjustHandles="1" noChangeArrowheads="1" noChangeShapeType="1" noTextEdit="1"/>
              </p:cNvSpPr>
              <p:nvPr/>
            </p:nvSpPr>
            <p:spPr>
              <a:xfrm>
                <a:off x="4626811" y="3830074"/>
                <a:ext cx="5904656" cy="2990370"/>
              </a:xfrm>
              <a:prstGeom prst="rect">
                <a:avLst/>
              </a:prstGeom>
              <a:blipFill>
                <a:blip r:embed="rId4"/>
                <a:stretch>
                  <a:fillRect l="-644" t="-422" b="-1266"/>
                </a:stretch>
              </a:blipFill>
            </p:spPr>
            <p:txBody>
              <a:bodyPr/>
              <a:lstStyle/>
              <a:p>
                <a:r>
                  <a:rPr lang="en-US">
                    <a:noFill/>
                  </a:rPr>
                  <a:t> </a:t>
                </a:r>
              </a:p>
            </p:txBody>
          </p:sp>
        </mc:Fallback>
      </mc:AlternateContent>
      <p:sp>
        <p:nvSpPr>
          <p:cNvPr id="11" name="Rectangle 10"/>
          <p:cNvSpPr/>
          <p:nvPr/>
        </p:nvSpPr>
        <p:spPr>
          <a:xfrm>
            <a:off x="1821619" y="6439099"/>
            <a:ext cx="2805192" cy="369332"/>
          </a:xfrm>
          <a:prstGeom prst="rect">
            <a:avLst/>
          </a:prstGeom>
        </p:spPr>
        <p:txBody>
          <a:bodyPr wrap="none">
            <a:spAutoFit/>
          </a:bodyPr>
          <a:lstStyle/>
          <a:p>
            <a:r>
              <a:rPr lang="en-GB" b="1"/>
              <a:t>Mark scheme on next slide.</a:t>
            </a:r>
          </a:p>
        </p:txBody>
      </p:sp>
      <p:cxnSp>
        <p:nvCxnSpPr>
          <p:cNvPr id="13" name="Straight Arrow Connector 12"/>
          <p:cNvCxnSpPr/>
          <p:nvPr/>
        </p:nvCxnSpPr>
        <p:spPr>
          <a:xfrm flipV="1">
            <a:off x="3935761" y="6224524"/>
            <a:ext cx="691051" cy="22881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4" name="Rectangle 13"/>
          <p:cNvSpPr/>
          <p:nvPr/>
        </p:nvSpPr>
        <p:spPr>
          <a:xfrm>
            <a:off x="1604088" y="1989848"/>
            <a:ext cx="238447" cy="278875"/>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a:t>1</a:t>
            </a:r>
          </a:p>
        </p:txBody>
      </p:sp>
      <p:sp>
        <p:nvSpPr>
          <p:cNvPr id="15" name="Rectangle 14"/>
          <p:cNvSpPr/>
          <p:nvPr/>
        </p:nvSpPr>
        <p:spPr>
          <a:xfrm>
            <a:off x="4388365" y="1541071"/>
            <a:ext cx="238447" cy="278875"/>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a:t>2</a:t>
            </a:r>
          </a:p>
        </p:txBody>
      </p:sp>
      <p:sp>
        <p:nvSpPr>
          <p:cNvPr id="16" name="Rectangle 15"/>
          <p:cNvSpPr/>
          <p:nvPr/>
        </p:nvSpPr>
        <p:spPr>
          <a:xfrm>
            <a:off x="4379964" y="3875758"/>
            <a:ext cx="238447" cy="278875"/>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a:t>3</a:t>
            </a:r>
          </a:p>
        </p:txBody>
      </p:sp>
      <p:sp>
        <p:nvSpPr>
          <p:cNvPr id="17" name="Rectangle 16"/>
          <p:cNvSpPr/>
          <p:nvPr/>
        </p:nvSpPr>
        <p:spPr>
          <a:xfrm>
            <a:off x="1857876" y="4350848"/>
            <a:ext cx="2117225" cy="1859452"/>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
        <p:nvSpPr>
          <p:cNvPr id="19" name="TextBox 18"/>
          <p:cNvSpPr txBox="1"/>
          <p:nvPr/>
        </p:nvSpPr>
        <p:spPr>
          <a:xfrm>
            <a:off x="7938368" y="3573017"/>
            <a:ext cx="2592288" cy="461665"/>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r>
              <a:rPr lang="en-GB" sz="1200"/>
              <a:t>(This is not a tangent/chord question but is worthwhile regardless!)</a:t>
            </a:r>
          </a:p>
        </p:txBody>
      </p:sp>
      <p:cxnSp>
        <p:nvCxnSpPr>
          <p:cNvPr id="20" name="Straight Arrow Connector 19"/>
          <p:cNvCxnSpPr/>
          <p:nvPr/>
        </p:nvCxnSpPr>
        <p:spPr>
          <a:xfrm flipH="1">
            <a:off x="7620001" y="3721100"/>
            <a:ext cx="317501" cy="31750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052391171"/>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7"/>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7"/>
                                        </p:tgtEl>
                                      </p:cBhvr>
                                    </p:animEffect>
                                    <p:set>
                                      <p:cBhvr>
                                        <p:cTn id="7" dur="1" fill="hold">
                                          <p:stCondLst>
                                            <p:cond delay="499"/>
                                          </p:stCondLst>
                                        </p:cTn>
                                        <p:tgtEl>
                                          <p:spTgt spid="17"/>
                                        </p:tgtEl>
                                        <p:attrNameLst>
                                          <p:attrName>style.visibility</p:attrName>
                                        </p:attrNameLst>
                                      </p:cBhvr>
                                      <p:to>
                                        <p:strVal val="hidden"/>
                                      </p:to>
                                    </p:set>
                                  </p:childTnLst>
                                </p:cTn>
                              </p:par>
                            </p:childTnLst>
                          </p:cTn>
                        </p:par>
                      </p:childTnLst>
                    </p:cTn>
                  </p:par>
                </p:childTnLst>
              </p:cTn>
              <p:nextCondLst>
                <p:cond evt="onClick" delay="0">
                  <p:tgtEl>
                    <p:spTgt spid="17"/>
                  </p:tgtEl>
                </p:cond>
              </p:nextCondLst>
            </p:seq>
          </p:childTnLst>
        </p:cTn>
      </p:par>
    </p:tnLst>
    <p:bldLst>
      <p:bldP spid="17" grpId="0" animBg="1"/>
    </p:bldLst>
  </p:timing>
</p:sld>
</file>

<file path=ppt/c6/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0" y="1"/>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a:t>Mark Scheme for Extension Question 2</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p:pic>
        <p:nvPicPr>
          <p:cNvPr id="5" name="Picture 4"/>
          <p:cNvPicPr>
            <a:picLocks noChangeAspect="1"/>
          </p:cNvPicPr>
          <p:nvPr/>
        </p:nvPicPr>
        <p:blipFill>
          <a:blip r:embed="rId2"/>
          <a:stretch>
            <a:fillRect/>
          </a:stretch>
        </p:blipFill>
        <p:spPr>
          <a:xfrm>
            <a:off x="3071665" y="628013"/>
            <a:ext cx="5270153" cy="4414661"/>
          </a:xfrm>
          <a:prstGeom prst="rect">
            <a:avLst/>
          </a:prstGeom>
        </p:spPr>
      </p:pic>
      <p:pic>
        <p:nvPicPr>
          <p:cNvPr id="6" name="Picture 5"/>
          <p:cNvPicPr>
            <a:picLocks noChangeAspect="1"/>
          </p:cNvPicPr>
          <p:nvPr/>
        </p:nvPicPr>
        <p:blipFill>
          <a:blip r:embed="rId3"/>
          <a:stretch>
            <a:fillRect/>
          </a:stretch>
        </p:blipFill>
        <p:spPr>
          <a:xfrm>
            <a:off x="2999656" y="5030089"/>
            <a:ext cx="5212223" cy="1804541"/>
          </a:xfrm>
          <a:prstGeom prst="rect">
            <a:avLst/>
          </a:prstGeom>
        </p:spPr>
      </p:pic>
      <p:sp>
        <p:nvSpPr>
          <p:cNvPr id="7" name="Rectangle 6"/>
          <p:cNvSpPr/>
          <p:nvPr/>
        </p:nvSpPr>
        <p:spPr>
          <a:xfrm>
            <a:off x="3648576" y="705949"/>
            <a:ext cx="4595201" cy="1516257"/>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
        <p:nvSpPr>
          <p:cNvPr id="8" name="Rectangle 7"/>
          <p:cNvSpPr/>
          <p:nvPr/>
        </p:nvSpPr>
        <p:spPr>
          <a:xfrm>
            <a:off x="3648576" y="2222205"/>
            <a:ext cx="4595201" cy="2796362"/>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
        <p:nvSpPr>
          <p:cNvPr id="9" name="Rectangle 8"/>
          <p:cNvSpPr/>
          <p:nvPr/>
        </p:nvSpPr>
        <p:spPr>
          <a:xfrm>
            <a:off x="3665698" y="5018567"/>
            <a:ext cx="4595201" cy="1634599"/>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Tree>
    <p:extLst>
      <p:ext uri="{BB962C8B-B14F-4D97-AF65-F5344CB8AC3E}">
        <p14:creationId xmlns:p14="http://schemas.microsoft.com/office/powerpoint/2010/main" val="2713868780"/>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7"/>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7"/>
                                        </p:tgtEl>
                                      </p:cBhvr>
                                    </p:animEffect>
                                    <p:set>
                                      <p:cBhvr>
                                        <p:cTn id="7" dur="1" fill="hold">
                                          <p:stCondLst>
                                            <p:cond delay="499"/>
                                          </p:stCondLst>
                                        </p:cTn>
                                        <p:tgtEl>
                                          <p:spTgt spid="7"/>
                                        </p:tgtEl>
                                        <p:attrNameLst>
                                          <p:attrName>style.visibility</p:attrName>
                                        </p:attrNameLst>
                                      </p:cBhvr>
                                      <p:to>
                                        <p:strVal val="hidden"/>
                                      </p:to>
                                    </p:set>
                                  </p:childTnLst>
                                </p:cTn>
                              </p:par>
                            </p:childTnLst>
                          </p:cTn>
                        </p:par>
                      </p:childTnLst>
                    </p:cTn>
                  </p:par>
                </p:childTnLst>
              </p:cTn>
              <p:nextCondLst>
                <p:cond evt="onClick" delay="0">
                  <p:tgtEl>
                    <p:spTgt spid="7"/>
                  </p:tgtEl>
                </p:cond>
              </p:nextCondLst>
            </p:seq>
            <p:seq concurrent="1" nextAc="seek">
              <p:cTn id="8" restart="whenNotActive" fill="hold" evtFilter="cancelBubble" nodeType="interactiveSeq">
                <p:stCondLst>
                  <p:cond evt="onClick" delay="0">
                    <p:tgtEl>
                      <p:spTgt spid="8"/>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8"/>
                                        </p:tgtEl>
                                      </p:cBhvr>
                                    </p:animEffect>
                                    <p:set>
                                      <p:cBhvr>
                                        <p:cTn id="13" dur="1" fill="hold">
                                          <p:stCondLst>
                                            <p:cond delay="499"/>
                                          </p:stCondLst>
                                        </p:cTn>
                                        <p:tgtEl>
                                          <p:spTgt spid="8"/>
                                        </p:tgtEl>
                                        <p:attrNameLst>
                                          <p:attrName>style.visibility</p:attrName>
                                        </p:attrNameLst>
                                      </p:cBhvr>
                                      <p:to>
                                        <p:strVal val="hidden"/>
                                      </p:to>
                                    </p:set>
                                  </p:childTnLst>
                                </p:cTn>
                              </p:par>
                            </p:childTnLst>
                          </p:cTn>
                        </p:par>
                      </p:childTnLst>
                    </p:cTn>
                  </p:par>
                </p:childTnLst>
              </p:cTn>
              <p:nextCondLst>
                <p:cond evt="onClick" delay="0">
                  <p:tgtEl>
                    <p:spTgt spid="8"/>
                  </p:tgtEl>
                </p:cond>
              </p:nextCondLst>
            </p:seq>
            <p:seq concurrent="1" nextAc="seek">
              <p:cTn id="14" restart="whenNotActive" fill="hold" evtFilter="cancelBubble" nodeType="interactiveSeq">
                <p:stCondLst>
                  <p:cond evt="onClick" delay="0">
                    <p:tgtEl>
                      <p:spTgt spid="9"/>
                    </p:tgtEl>
                  </p:cond>
                </p:stCondLst>
                <p:endSync evt="end" delay="0">
                  <p:rtn val="all"/>
                </p:endSync>
                <p:childTnLst>
                  <p:par>
                    <p:cTn id="15" fill="hold">
                      <p:stCondLst>
                        <p:cond delay="0"/>
                      </p:stCondLst>
                      <p:childTnLst>
                        <p:par>
                          <p:cTn id="16" fill="hold">
                            <p:stCondLst>
                              <p:cond delay="0"/>
                            </p:stCondLst>
                            <p:childTnLst>
                              <p:par>
                                <p:cTn id="17" presetID="10" presetClass="exit" presetSubtype="0" fill="hold" grpId="0" nodeType="clickEffect">
                                  <p:stCondLst>
                                    <p:cond delay="0"/>
                                  </p:stCondLst>
                                  <p:childTnLst>
                                    <p:animEffect transition="out" filter="fade">
                                      <p:cBhvr>
                                        <p:cTn id="18" dur="500"/>
                                        <p:tgtEl>
                                          <p:spTgt spid="9"/>
                                        </p:tgtEl>
                                      </p:cBhvr>
                                    </p:animEffect>
                                    <p:set>
                                      <p:cBhvr>
                                        <p:cTn id="19" dur="1" fill="hold">
                                          <p:stCondLst>
                                            <p:cond delay="499"/>
                                          </p:stCondLst>
                                        </p:cTn>
                                        <p:tgtEl>
                                          <p:spTgt spid="9"/>
                                        </p:tgtEl>
                                        <p:attrNameLst>
                                          <p:attrName>style.visibility</p:attrName>
                                        </p:attrNameLst>
                                      </p:cBhvr>
                                      <p:to>
                                        <p:strVal val="hidden"/>
                                      </p:to>
                                    </p:set>
                                  </p:childTnLst>
                                </p:cTn>
                              </p:par>
                            </p:childTnLst>
                          </p:cTn>
                        </p:par>
                      </p:childTnLst>
                    </p:cTn>
                  </p:par>
                </p:childTnLst>
              </p:cTn>
              <p:nextCondLst>
                <p:cond evt="onClick" delay="0">
                  <p:tgtEl>
                    <p:spTgt spid="9"/>
                  </p:tgtEl>
                </p:cond>
              </p:nextCondLst>
            </p:seq>
          </p:childTnLst>
        </p:cTn>
      </p:par>
    </p:tnLst>
    <p:bldLst>
      <p:bldP spid="7" grpId="0" animBg="1"/>
      <p:bldP spid="8" grpId="0" animBg="1"/>
      <p:bldP spid="9" grpId="0" animBg="1"/>
    </p:bldLst>
  </p:timing>
</p:sld>
</file>

<file path=ppt/c6/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0" y="1"/>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a:t>Mark Scheme for Extension Question 3</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p:pic>
        <p:nvPicPr>
          <p:cNvPr id="5" name="Picture 4"/>
          <p:cNvPicPr>
            <a:picLocks noChangeAspect="1"/>
          </p:cNvPicPr>
          <p:nvPr/>
        </p:nvPicPr>
        <p:blipFill>
          <a:blip r:embed="rId2"/>
          <a:stretch>
            <a:fillRect/>
          </a:stretch>
        </p:blipFill>
        <p:spPr>
          <a:xfrm>
            <a:off x="2933128" y="692696"/>
            <a:ext cx="6324600" cy="6038850"/>
          </a:xfrm>
          <a:prstGeom prst="rect">
            <a:avLst/>
          </a:prstGeom>
        </p:spPr>
      </p:pic>
      <p:sp>
        <p:nvSpPr>
          <p:cNvPr id="6" name="Rectangle 5"/>
          <p:cNvSpPr/>
          <p:nvPr/>
        </p:nvSpPr>
        <p:spPr>
          <a:xfrm>
            <a:off x="3445376" y="705948"/>
            <a:ext cx="6155825" cy="1846752"/>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
        <p:nvSpPr>
          <p:cNvPr id="7" name="Rectangle 6"/>
          <p:cNvSpPr/>
          <p:nvPr/>
        </p:nvSpPr>
        <p:spPr>
          <a:xfrm>
            <a:off x="3451056" y="2552700"/>
            <a:ext cx="6155825" cy="4192098"/>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Tree>
    <p:extLst>
      <p:ext uri="{BB962C8B-B14F-4D97-AF65-F5344CB8AC3E}">
        <p14:creationId xmlns:p14="http://schemas.microsoft.com/office/powerpoint/2010/main" val="240963998"/>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6"/>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6"/>
                                        </p:tgtEl>
                                      </p:cBhvr>
                                    </p:animEffect>
                                    <p:set>
                                      <p:cBhvr>
                                        <p:cTn id="7" dur="1" fill="hold">
                                          <p:stCondLst>
                                            <p:cond delay="499"/>
                                          </p:stCondLst>
                                        </p:cTn>
                                        <p:tgtEl>
                                          <p:spTgt spid="6"/>
                                        </p:tgtEl>
                                        <p:attrNameLst>
                                          <p:attrName>style.visibility</p:attrName>
                                        </p:attrNameLst>
                                      </p:cBhvr>
                                      <p:to>
                                        <p:strVal val="hidden"/>
                                      </p:to>
                                    </p:set>
                                  </p:childTnLst>
                                </p:cTn>
                              </p:par>
                            </p:childTnLst>
                          </p:cTn>
                        </p:par>
                      </p:childTnLst>
                    </p:cTn>
                  </p:par>
                </p:childTnLst>
              </p:cTn>
              <p:nextCondLst>
                <p:cond evt="onClick" delay="0">
                  <p:tgtEl>
                    <p:spTgt spid="6"/>
                  </p:tgtEl>
                </p:cond>
              </p:nextCondLst>
            </p:seq>
            <p:seq concurrent="1" nextAc="seek">
              <p:cTn id="8" restart="whenNotActive" fill="hold" evtFilter="cancelBubble" nodeType="interactiveSeq">
                <p:stCondLst>
                  <p:cond evt="onClick" delay="0">
                    <p:tgtEl>
                      <p:spTgt spid="7"/>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7"/>
                                        </p:tgtEl>
                                      </p:cBhvr>
                                    </p:animEffect>
                                    <p:set>
                                      <p:cBhvr>
                                        <p:cTn id="13" dur="1" fill="hold">
                                          <p:stCondLst>
                                            <p:cond delay="499"/>
                                          </p:stCondLst>
                                        </p:cTn>
                                        <p:tgtEl>
                                          <p:spTgt spid="7"/>
                                        </p:tgtEl>
                                        <p:attrNameLst>
                                          <p:attrName>style.visibility</p:attrName>
                                        </p:attrNameLst>
                                      </p:cBhvr>
                                      <p:to>
                                        <p:strVal val="hidden"/>
                                      </p:to>
                                    </p:set>
                                  </p:childTnLst>
                                </p:cTn>
                              </p:par>
                            </p:childTnLst>
                          </p:cTn>
                        </p:par>
                      </p:childTnLst>
                    </p:cTn>
                  </p:par>
                </p:childTnLst>
              </p:cTn>
              <p:nextCondLst>
                <p:cond evt="onClick" delay="0">
                  <p:tgtEl>
                    <p:spTgt spid="7"/>
                  </p:tgtEl>
                </p:cond>
              </p:nextCondLst>
            </p:seq>
          </p:childTnLst>
        </p:cTn>
      </p:par>
    </p:tnLst>
    <p:bldLst>
      <p:bldP spid="6" grpId="0" animBg="1"/>
      <p:bldP spid="7" grpId="0" animBg="1"/>
    </p:bldLst>
  </p:timing>
</p:sld>
</file>

<file path=ppt/c6/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0" y="1"/>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a:t>Triangles in Circles</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p:sp>
        <p:nvSpPr>
          <p:cNvPr id="5" name="Oval 4"/>
          <p:cNvSpPr/>
          <p:nvPr/>
        </p:nvSpPr>
        <p:spPr>
          <a:xfrm>
            <a:off x="2567608" y="1916832"/>
            <a:ext cx="2808312" cy="2736304"/>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GB"/>
          </a:p>
        </p:txBody>
      </p:sp>
      <p:sp>
        <p:nvSpPr>
          <p:cNvPr id="6" name="Freeform: Shape 5"/>
          <p:cNvSpPr/>
          <p:nvPr/>
        </p:nvSpPr>
        <p:spPr>
          <a:xfrm>
            <a:off x="2612256" y="2642096"/>
            <a:ext cx="2590800" cy="1981200"/>
          </a:xfrm>
          <a:custGeom>
            <a:avLst/>
            <a:gdLst>
              <a:gd name="connsiteX0" fmla="*/ 0 w 2590800"/>
              <a:gd name="connsiteY0" fmla="*/ 266700 h 1981200"/>
              <a:gd name="connsiteX1" fmla="*/ 1727200 w 2590800"/>
              <a:gd name="connsiteY1" fmla="*/ 1981200 h 1981200"/>
              <a:gd name="connsiteX2" fmla="*/ 2590800 w 2590800"/>
              <a:gd name="connsiteY2" fmla="*/ 0 h 1981200"/>
              <a:gd name="connsiteX3" fmla="*/ 38100 w 2590800"/>
              <a:gd name="connsiteY3" fmla="*/ 304800 h 1981200"/>
            </a:gdLst>
            <a:ahLst/>
            <a:cxnLst>
              <a:cxn ang="0">
                <a:pos x="connsiteX0" y="connsiteY0"/>
              </a:cxn>
              <a:cxn ang="0">
                <a:pos x="connsiteX1" y="connsiteY1"/>
              </a:cxn>
              <a:cxn ang="0">
                <a:pos x="connsiteX2" y="connsiteY2"/>
              </a:cxn>
              <a:cxn ang="0">
                <a:pos x="connsiteX3" y="connsiteY3"/>
              </a:cxn>
            </a:cxnLst>
            <a:rect l="l" t="t" r="r" b="b"/>
            <a:pathLst>
              <a:path w="2590800" h="1981200">
                <a:moveTo>
                  <a:pt x="0" y="266700"/>
                </a:moveTo>
                <a:lnTo>
                  <a:pt x="1727200" y="1981200"/>
                </a:lnTo>
                <a:lnTo>
                  <a:pt x="2590800" y="0"/>
                </a:lnTo>
                <a:lnTo>
                  <a:pt x="38100" y="304800"/>
                </a:ln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TextBox 6"/>
          <p:cNvSpPr txBox="1"/>
          <p:nvPr/>
        </p:nvSpPr>
        <p:spPr>
          <a:xfrm>
            <a:off x="5744468" y="1459261"/>
            <a:ext cx="4320480" cy="4247317"/>
          </a:xfrm>
          <a:prstGeom prst="rect">
            <a:avLst/>
          </a:prstGeom>
          <a:noFill/>
        </p:spPr>
        <p:txBody>
          <a:bodyPr wrap="square" rtlCol="0">
            <a:spAutoFit/>
          </a:bodyPr>
          <a:lstStyle/>
          <a:p>
            <a:r>
              <a:rPr lang="en-GB" sz="2800"/>
              <a:t>We’d say:</a:t>
            </a:r>
          </a:p>
          <a:p>
            <a:endParaRPr lang="en-GB" sz="2000"/>
          </a:p>
          <a:p>
            <a:pPr marL="285750" indent="-285750">
              <a:buFont typeface="Arial" panose="020B0604020202020204" pitchFamily="34" charset="0"/>
              <a:buChar char="•"/>
            </a:pPr>
            <a:r>
              <a:rPr lang="en-GB" sz="2000"/>
              <a:t>The triangle </a:t>
            </a:r>
            <a:r>
              <a:rPr lang="en-GB" sz="2000" b="1" u="sng"/>
              <a:t>inscribes</a:t>
            </a:r>
            <a:r>
              <a:rPr lang="en-GB" sz="2000"/>
              <a:t> the circle.</a:t>
            </a:r>
            <a:br>
              <a:rPr lang="en-GB" sz="2000"/>
            </a:br>
            <a:r>
              <a:rPr lang="en-GB" sz="1600"/>
              <a:t>(A shape inscribes another if it is inside and its boundaries touch but do not intersect the outer shape)</a:t>
            </a:r>
            <a:br>
              <a:rPr lang="en-GB" sz="1600"/>
            </a:br>
            <a:endParaRPr lang="en-GB" sz="1600"/>
          </a:p>
          <a:p>
            <a:pPr marL="285750" indent="-285750">
              <a:buFont typeface="Arial" panose="020B0604020202020204" pitchFamily="34" charset="0"/>
              <a:buChar char="•"/>
            </a:pPr>
            <a:r>
              <a:rPr lang="en-GB" sz="2000"/>
              <a:t>The circle </a:t>
            </a:r>
            <a:r>
              <a:rPr lang="en-GB" sz="2000" b="1" u="sng"/>
              <a:t>circumscribes</a:t>
            </a:r>
            <a:r>
              <a:rPr lang="en-GB" sz="2000"/>
              <a:t> the triangle.</a:t>
            </a:r>
          </a:p>
          <a:p>
            <a:pPr marL="285750" indent="-285750">
              <a:buFont typeface="Arial" panose="020B0604020202020204" pitchFamily="34" charset="0"/>
              <a:buChar char="•"/>
            </a:pPr>
            <a:r>
              <a:rPr lang="en-GB" sz="2000"/>
              <a:t>If the circumscribing shape is a circle, it is known as the </a:t>
            </a:r>
            <a:r>
              <a:rPr lang="en-GB" sz="2000" b="1" u="sng"/>
              <a:t>circumcircle</a:t>
            </a:r>
            <a:r>
              <a:rPr lang="en-GB" sz="2000"/>
              <a:t> of the triangle.</a:t>
            </a:r>
          </a:p>
          <a:p>
            <a:pPr marL="285750" indent="-285750">
              <a:buFont typeface="Arial" panose="020B0604020202020204" pitchFamily="34" charset="0"/>
              <a:buChar char="•"/>
            </a:pPr>
            <a:r>
              <a:rPr lang="en-GB" sz="2000"/>
              <a:t>The centre of a circumcircle is known as the </a:t>
            </a:r>
            <a:r>
              <a:rPr lang="en-GB" sz="2000" b="1" u="sng"/>
              <a:t>circumcentre</a:t>
            </a:r>
            <a:r>
              <a:rPr lang="en-GB" sz="2000"/>
              <a:t>.</a:t>
            </a:r>
          </a:p>
          <a:p>
            <a:pPr marL="285750" indent="-285750">
              <a:buFont typeface="Arial" panose="020B0604020202020204" pitchFamily="34" charset="0"/>
              <a:buChar char="•"/>
            </a:pPr>
            <a:endParaRPr lang="en-GB"/>
          </a:p>
        </p:txBody>
      </p:sp>
    </p:spTree>
    <p:extLst>
      <p:ext uri="{BB962C8B-B14F-4D97-AF65-F5344CB8AC3E}">
        <p14:creationId xmlns:p14="http://schemas.microsoft.com/office/powerpoint/2010/main" val="10144641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2" end="2"/>
                                            </p:txEl>
                                          </p:spTgt>
                                        </p:tgtEl>
                                        <p:attrNameLst>
                                          <p:attrName>style.visibility</p:attrName>
                                        </p:attrNameLst>
                                      </p:cBhvr>
                                      <p:to>
                                        <p:strVal val="visible"/>
                                      </p:to>
                                    </p:set>
                                    <p:animEffect transition="in" filter="fade">
                                      <p:cBhvr>
                                        <p:cTn id="7" dur="500"/>
                                        <p:tgtEl>
                                          <p:spTgt spid="7">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xEl>
                                              <p:pRg st="3" end="3"/>
                                            </p:txEl>
                                          </p:spTgt>
                                        </p:tgtEl>
                                        <p:attrNameLst>
                                          <p:attrName>style.visibility</p:attrName>
                                        </p:attrNameLst>
                                      </p:cBhvr>
                                      <p:to>
                                        <p:strVal val="visible"/>
                                      </p:to>
                                    </p:set>
                                    <p:animEffect transition="in" filter="fade">
                                      <p:cBhvr>
                                        <p:cTn id="12" dur="500"/>
                                        <p:tgtEl>
                                          <p:spTgt spid="7">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
                                            <p:txEl>
                                              <p:pRg st="4" end="4"/>
                                            </p:txEl>
                                          </p:spTgt>
                                        </p:tgtEl>
                                        <p:attrNameLst>
                                          <p:attrName>style.visibility</p:attrName>
                                        </p:attrNameLst>
                                      </p:cBhvr>
                                      <p:to>
                                        <p:strVal val="visible"/>
                                      </p:to>
                                    </p:set>
                                    <p:animEffect transition="in" filter="fade">
                                      <p:cBhvr>
                                        <p:cTn id="17" dur="500"/>
                                        <p:tgtEl>
                                          <p:spTgt spid="7">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
                                            <p:txEl>
                                              <p:pRg st="5" end="5"/>
                                            </p:txEl>
                                          </p:spTgt>
                                        </p:tgtEl>
                                        <p:attrNameLst>
                                          <p:attrName>style.visibility</p:attrName>
                                        </p:attrNameLst>
                                      </p:cBhvr>
                                      <p:to>
                                        <p:strVal val="visible"/>
                                      </p:to>
                                    </p:set>
                                    <p:animEffect transition="in" filter="fade">
                                      <p:cBhvr>
                                        <p:cTn id="22" dur="500"/>
                                        <p:tgtEl>
                                          <p:spTgt spid="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c6/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0" y="1"/>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a:t>Triangles in Circles</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p:sp>
        <p:nvSpPr>
          <p:cNvPr id="5" name="Oval 4"/>
          <p:cNvSpPr/>
          <p:nvPr/>
        </p:nvSpPr>
        <p:spPr>
          <a:xfrm>
            <a:off x="2516808" y="1180232"/>
            <a:ext cx="2592288" cy="252028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GB"/>
          </a:p>
        </p:txBody>
      </p:sp>
      <p:sp>
        <p:nvSpPr>
          <p:cNvPr id="6" name="Oval 5"/>
          <p:cNvSpPr/>
          <p:nvPr/>
        </p:nvSpPr>
        <p:spPr>
          <a:xfrm>
            <a:off x="6240016" y="1180232"/>
            <a:ext cx="2592288" cy="252028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GB"/>
          </a:p>
        </p:txBody>
      </p:sp>
      <p:sp>
        <p:nvSpPr>
          <p:cNvPr id="7" name="Freeform: Shape 6"/>
          <p:cNvSpPr/>
          <p:nvPr/>
        </p:nvSpPr>
        <p:spPr>
          <a:xfrm>
            <a:off x="2523356" y="1219696"/>
            <a:ext cx="2590800" cy="1384300"/>
          </a:xfrm>
          <a:custGeom>
            <a:avLst/>
            <a:gdLst>
              <a:gd name="connsiteX0" fmla="*/ 0 w 2590800"/>
              <a:gd name="connsiteY0" fmla="*/ 266700 h 1981200"/>
              <a:gd name="connsiteX1" fmla="*/ 1727200 w 2590800"/>
              <a:gd name="connsiteY1" fmla="*/ 1981200 h 1981200"/>
              <a:gd name="connsiteX2" fmla="*/ 2590800 w 2590800"/>
              <a:gd name="connsiteY2" fmla="*/ 0 h 1981200"/>
              <a:gd name="connsiteX3" fmla="*/ 38100 w 2590800"/>
              <a:gd name="connsiteY3" fmla="*/ 304800 h 1981200"/>
              <a:gd name="connsiteX0" fmla="*/ 0 w 1727200"/>
              <a:gd name="connsiteY0" fmla="*/ 1689100 h 3403600"/>
              <a:gd name="connsiteX1" fmla="*/ 1727200 w 1727200"/>
              <a:gd name="connsiteY1" fmla="*/ 3403600 h 3403600"/>
              <a:gd name="connsiteX2" fmla="*/ 850900 w 1727200"/>
              <a:gd name="connsiteY2" fmla="*/ 0 h 3403600"/>
              <a:gd name="connsiteX3" fmla="*/ 38100 w 1727200"/>
              <a:gd name="connsiteY3" fmla="*/ 1727200 h 3403600"/>
              <a:gd name="connsiteX0" fmla="*/ 88900 w 1816100"/>
              <a:gd name="connsiteY0" fmla="*/ 1689100 h 3403600"/>
              <a:gd name="connsiteX1" fmla="*/ 1816100 w 1816100"/>
              <a:gd name="connsiteY1" fmla="*/ 3403600 h 3403600"/>
              <a:gd name="connsiteX2" fmla="*/ 939800 w 1816100"/>
              <a:gd name="connsiteY2" fmla="*/ 0 h 3403600"/>
              <a:gd name="connsiteX3" fmla="*/ 0 w 1816100"/>
              <a:gd name="connsiteY3" fmla="*/ 1384300 h 3403600"/>
              <a:gd name="connsiteX0" fmla="*/ 88900 w 2565400"/>
              <a:gd name="connsiteY0" fmla="*/ 1689100 h 1689100"/>
              <a:gd name="connsiteX1" fmla="*/ 2565400 w 2565400"/>
              <a:gd name="connsiteY1" fmla="*/ 927100 h 1689100"/>
              <a:gd name="connsiteX2" fmla="*/ 939800 w 2565400"/>
              <a:gd name="connsiteY2" fmla="*/ 0 h 1689100"/>
              <a:gd name="connsiteX3" fmla="*/ 0 w 2565400"/>
              <a:gd name="connsiteY3" fmla="*/ 1384300 h 1689100"/>
              <a:gd name="connsiteX0" fmla="*/ 0 w 2565400"/>
              <a:gd name="connsiteY0" fmla="*/ 1371600 h 1384300"/>
              <a:gd name="connsiteX1" fmla="*/ 2565400 w 2565400"/>
              <a:gd name="connsiteY1" fmla="*/ 927100 h 1384300"/>
              <a:gd name="connsiteX2" fmla="*/ 939800 w 2565400"/>
              <a:gd name="connsiteY2" fmla="*/ 0 h 1384300"/>
              <a:gd name="connsiteX3" fmla="*/ 0 w 2565400"/>
              <a:gd name="connsiteY3" fmla="*/ 1384300 h 1384300"/>
              <a:gd name="connsiteX0" fmla="*/ 0 w 2590800"/>
              <a:gd name="connsiteY0" fmla="*/ 1371600 h 1384300"/>
              <a:gd name="connsiteX1" fmla="*/ 2590800 w 2590800"/>
              <a:gd name="connsiteY1" fmla="*/ 1104900 h 1384300"/>
              <a:gd name="connsiteX2" fmla="*/ 939800 w 2590800"/>
              <a:gd name="connsiteY2" fmla="*/ 0 h 1384300"/>
              <a:gd name="connsiteX3" fmla="*/ 0 w 2590800"/>
              <a:gd name="connsiteY3" fmla="*/ 1384300 h 1384300"/>
            </a:gdLst>
            <a:ahLst/>
            <a:cxnLst>
              <a:cxn ang="0">
                <a:pos x="connsiteX0" y="connsiteY0"/>
              </a:cxn>
              <a:cxn ang="0">
                <a:pos x="connsiteX1" y="connsiteY1"/>
              </a:cxn>
              <a:cxn ang="0">
                <a:pos x="connsiteX2" y="connsiteY2"/>
              </a:cxn>
              <a:cxn ang="0">
                <a:pos x="connsiteX3" y="connsiteY3"/>
              </a:cxn>
            </a:cxnLst>
            <a:rect l="l" t="t" r="r" b="b"/>
            <a:pathLst>
              <a:path w="2590800" h="1384300">
                <a:moveTo>
                  <a:pt x="0" y="1371600"/>
                </a:moveTo>
                <a:lnTo>
                  <a:pt x="2590800" y="1104900"/>
                </a:lnTo>
                <a:lnTo>
                  <a:pt x="939800" y="0"/>
                </a:lnTo>
                <a:lnTo>
                  <a:pt x="0" y="1384300"/>
                </a:ln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9" name="Straight Connector 8"/>
          <p:cNvCxnSpPr/>
          <p:nvPr/>
        </p:nvCxnSpPr>
        <p:spPr>
          <a:xfrm>
            <a:off x="3325789" y="1446114"/>
            <a:ext cx="203225" cy="130275"/>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flipV="1">
            <a:off x="3524251" y="1366838"/>
            <a:ext cx="142875" cy="214312"/>
          </a:xfrm>
          <a:prstGeom prst="line">
            <a:avLst/>
          </a:prstGeom>
          <a:ln w="1905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5" name="TextBox 14"/>
              <p:cNvSpPr txBox="1"/>
              <p:nvPr/>
            </p:nvSpPr>
            <p:spPr>
              <a:xfrm>
                <a:off x="2191570" y="2430847"/>
                <a:ext cx="399231" cy="369332"/>
              </a:xfrm>
              <a:prstGeom prst="rect">
                <a:avLst/>
              </a:prstGeom>
              <a:noFill/>
            </p:spPr>
            <p:txBody>
              <a:bodyPr wrap="square" rtlCol="0">
                <a:spAutoFit/>
              </a:bodyPr>
              <a:lstStyle/>
              <a:p>
                <a:pPr/>
                <a14:m>
                  <m:oMathPara xmlns:m="http://schemas.openxmlformats.org/officeDocument/2006/math">
                    <m:oMath>
                      <m:r>
                        <a:rPr lang="en-GB" i="1">
                          <a:latin typeface="Cambria Math" panose="02040503050406030204" pitchFamily="18" charset="0"/>
                        </a:rPr>
                        <m:t>𝐴</m:t>
                      </m:r>
                    </m:oMath>
                  </m:oMathPara>
                </a14:m>
                <a:endParaRPr lang="en-GB"/>
              </a:p>
            </p:txBody>
          </p:sp>
        </mc:Choice>
        <mc:Fallback>
          <p:sp>
            <p:nvSpPr>
              <p:cNvPr id="15" name="TextBox 14"/>
              <p:cNvSpPr txBox="1">
                <a:spLocks noRot="1" noChangeAspect="1" noMove="1" noResize="1" noEditPoints="1" noAdjustHandles="1" noChangeArrowheads="1" noChangeShapeType="1" noTextEdit="1"/>
              </p:cNvSpPr>
              <p:nvPr/>
            </p:nvSpPr>
            <p:spPr>
              <a:xfrm>
                <a:off x="2191570" y="2430847"/>
                <a:ext cx="399231" cy="369332"/>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6" name="TextBox 15"/>
              <p:cNvSpPr txBox="1"/>
              <p:nvPr/>
            </p:nvSpPr>
            <p:spPr>
              <a:xfrm>
                <a:off x="3267895" y="870902"/>
                <a:ext cx="399231" cy="369332"/>
              </a:xfrm>
              <a:prstGeom prst="rect">
                <a:avLst/>
              </a:prstGeom>
              <a:noFill/>
            </p:spPr>
            <p:txBody>
              <a:bodyPr wrap="square" rtlCol="0">
                <a:spAutoFit/>
              </a:bodyPr>
              <a:lstStyle/>
              <a:p>
                <a:pPr/>
                <a14:m>
                  <m:oMathPara xmlns:m="http://schemas.openxmlformats.org/officeDocument/2006/math">
                    <m:oMath>
                      <m:r>
                        <a:rPr lang="en-GB" i="1">
                          <a:latin typeface="Cambria Math" panose="02040503050406030204" pitchFamily="18" charset="0"/>
                        </a:rPr>
                        <m:t>𝐵</m:t>
                      </m:r>
                    </m:oMath>
                  </m:oMathPara>
                </a14:m>
                <a:endParaRPr lang="en-GB"/>
              </a:p>
            </p:txBody>
          </p:sp>
        </mc:Choice>
        <mc:Fallback>
          <p:sp>
            <p:nvSpPr>
              <p:cNvPr id="16" name="TextBox 15"/>
              <p:cNvSpPr txBox="1">
                <a:spLocks noRot="1" noChangeAspect="1" noMove="1" noResize="1" noEditPoints="1" noAdjustHandles="1" noChangeArrowheads="1" noChangeShapeType="1" noTextEdit="1"/>
              </p:cNvSpPr>
              <p:nvPr/>
            </p:nvSpPr>
            <p:spPr>
              <a:xfrm>
                <a:off x="3267895" y="870902"/>
                <a:ext cx="399231" cy="369332"/>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7" name="TextBox 16"/>
              <p:cNvSpPr txBox="1"/>
              <p:nvPr/>
            </p:nvSpPr>
            <p:spPr>
              <a:xfrm>
                <a:off x="5035105" y="2147455"/>
                <a:ext cx="399231" cy="369332"/>
              </a:xfrm>
              <a:prstGeom prst="rect">
                <a:avLst/>
              </a:prstGeom>
              <a:noFill/>
            </p:spPr>
            <p:txBody>
              <a:bodyPr wrap="square" rtlCol="0">
                <a:spAutoFit/>
              </a:bodyPr>
              <a:lstStyle/>
              <a:p>
                <a:pPr/>
                <a14:m>
                  <m:oMathPara xmlns:m="http://schemas.openxmlformats.org/officeDocument/2006/math">
                    <m:oMath>
                      <m:r>
                        <a:rPr lang="en-GB" i="1">
                          <a:latin typeface="Cambria Math" panose="02040503050406030204" pitchFamily="18" charset="0"/>
                        </a:rPr>
                        <m:t>𝐶</m:t>
                      </m:r>
                    </m:oMath>
                  </m:oMathPara>
                </a14:m>
                <a:endParaRPr lang="en-GB"/>
              </a:p>
            </p:txBody>
          </p:sp>
        </mc:Choice>
        <mc:Fallback>
          <p:sp>
            <p:nvSpPr>
              <p:cNvPr id="17" name="TextBox 16"/>
              <p:cNvSpPr txBox="1">
                <a:spLocks noRot="1" noChangeAspect="1" noMove="1" noResize="1" noEditPoints="1" noAdjustHandles="1" noChangeArrowheads="1" noChangeShapeType="1" noTextEdit="1"/>
              </p:cNvSpPr>
              <p:nvPr/>
            </p:nvSpPr>
            <p:spPr>
              <a:xfrm>
                <a:off x="5035105" y="2147455"/>
                <a:ext cx="399231" cy="369332"/>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8" name="TextBox 17"/>
              <p:cNvSpPr txBox="1"/>
              <p:nvPr/>
            </p:nvSpPr>
            <p:spPr>
              <a:xfrm>
                <a:off x="2063552" y="3933057"/>
                <a:ext cx="3240360" cy="2585323"/>
              </a:xfrm>
              <a:prstGeom prst="rect">
                <a:avLst/>
              </a:prstGeom>
              <a:noFill/>
            </p:spPr>
            <p:txBody>
              <a:bodyPr wrap="square" rtlCol="0">
                <a:spAutoFit/>
              </a:bodyPr>
              <a:lstStyle/>
              <a:p>
                <a:r>
                  <a:rPr lang="en-GB"/>
                  <a:t>If </a:t>
                </a:r>
                <a14:m>
                  <m:oMath xmlns:m="http://schemas.openxmlformats.org/officeDocument/2006/math">
                    <m:r>
                      <a:rPr lang="en-GB" i="1">
                        <a:latin typeface="Cambria Math" panose="02040503050406030204" pitchFamily="18" charset="0"/>
                      </a:rPr>
                      <m:t>∠</m:t>
                    </m:r>
                    <m:r>
                      <a:rPr lang="en-GB" i="1">
                        <a:latin typeface="Cambria Math" panose="02040503050406030204" pitchFamily="18" charset="0"/>
                      </a:rPr>
                      <m:t>𝐴𝐵𝐶</m:t>
                    </m:r>
                    <m:r>
                      <a:rPr lang="en-GB" i="1">
                        <a:latin typeface="Cambria Math" panose="02040503050406030204" pitchFamily="18" charset="0"/>
                      </a:rPr>
                      <m:t>=90°</m:t>
                    </m:r>
                  </m:oMath>
                </a14:m>
                <a:r>
                  <a:rPr lang="en-GB"/>
                  <a:t> then:</a:t>
                </a:r>
              </a:p>
              <a:p>
                <a:pPr marL="285750" indent="-285750">
                  <a:buFont typeface="Arial" panose="020B0604020202020204" pitchFamily="34" charset="0"/>
                  <a:buChar char="•"/>
                </a:pPr>
                <a14:m>
                  <m:oMath xmlns:m="http://schemas.openxmlformats.org/officeDocument/2006/math">
                    <m:r>
                      <a:rPr lang="en-GB" b="1" i="1">
                        <a:latin typeface="Cambria Math" panose="02040503050406030204" pitchFamily="18" charset="0"/>
                      </a:rPr>
                      <m:t>𝑨𝑪</m:t>
                    </m:r>
                  </m:oMath>
                </a14:m>
                <a:r>
                  <a:rPr lang="en-GB" b="1"/>
                  <a:t> is the diameter of the circumcircle of triangle </a:t>
                </a:r>
                <a14:m>
                  <m:oMath xmlns:m="http://schemas.openxmlformats.org/officeDocument/2006/math">
                    <m:r>
                      <a:rPr lang="en-GB" b="1" i="1">
                        <a:latin typeface="Cambria Math" panose="02040503050406030204" pitchFamily="18" charset="0"/>
                      </a:rPr>
                      <m:t>𝑨𝑩𝑪</m:t>
                    </m:r>
                  </m:oMath>
                </a14:m>
                <a:r>
                  <a:rPr lang="en-GB" b="1"/>
                  <a:t>.</a:t>
                </a:r>
              </a:p>
              <a:p>
                <a:pPr marL="285750" indent="-285750">
                  <a:buFont typeface="Arial" panose="020B0604020202020204" pitchFamily="34" charset="0"/>
                  <a:buChar char="•"/>
                </a:pPr>
                <a:endParaRPr lang="en-GB"/>
              </a:p>
              <a:p>
                <a:r>
                  <a:rPr lang="en-GB"/>
                  <a:t>Similarly if </a:t>
                </a:r>
                <a14:m>
                  <m:oMath xmlns:m="http://schemas.openxmlformats.org/officeDocument/2006/math">
                    <m:r>
                      <a:rPr lang="en-GB" i="1">
                        <a:latin typeface="Cambria Math" panose="02040503050406030204" pitchFamily="18" charset="0"/>
                      </a:rPr>
                      <m:t>𝐴𝐶</m:t>
                    </m:r>
                  </m:oMath>
                </a14:m>
                <a:r>
                  <a:rPr lang="en-GB"/>
                  <a:t> is the diameter of a circle:</a:t>
                </a:r>
              </a:p>
              <a:p>
                <a:pPr marL="285750" indent="-285750">
                  <a:buFont typeface="Arial" panose="020B0604020202020204" pitchFamily="34" charset="0"/>
                  <a:buChar char="•"/>
                </a:pPr>
                <a14:m>
                  <m:oMath xmlns:m="http://schemas.openxmlformats.org/officeDocument/2006/math">
                    <m:r>
                      <a:rPr lang="en-GB" b="1" i="1">
                        <a:latin typeface="Cambria Math" panose="02040503050406030204" pitchFamily="18" charset="0"/>
                      </a:rPr>
                      <m:t>∠</m:t>
                    </m:r>
                    <m:r>
                      <a:rPr lang="en-GB" b="1" i="1">
                        <a:latin typeface="Cambria Math" panose="02040503050406030204" pitchFamily="18" charset="0"/>
                      </a:rPr>
                      <m:t>𝑨𝑩𝑪</m:t>
                    </m:r>
                    <m:r>
                      <a:rPr lang="en-GB" b="1" i="1">
                        <a:latin typeface="Cambria Math" panose="02040503050406030204" pitchFamily="18" charset="0"/>
                      </a:rPr>
                      <m:t>=</m:t>
                    </m:r>
                    <m:r>
                      <a:rPr lang="en-GB" b="1" i="1">
                        <a:latin typeface="Cambria Math" panose="02040503050406030204" pitchFamily="18" charset="0"/>
                      </a:rPr>
                      <m:t>𝟗𝟎</m:t>
                    </m:r>
                    <m:r>
                      <a:rPr lang="en-GB" b="1" i="1">
                        <a:latin typeface="Cambria Math" panose="02040503050406030204" pitchFamily="18" charset="0"/>
                      </a:rPr>
                      <m:t>°</m:t>
                    </m:r>
                  </m:oMath>
                </a14:m>
                <a:r>
                  <a:rPr lang="en-GB" b="1"/>
                  <a:t> therefore </a:t>
                </a:r>
                <a14:m>
                  <m:oMath xmlns:m="http://schemas.openxmlformats.org/officeDocument/2006/math">
                    <m:r>
                      <a:rPr lang="en-GB" b="1" i="1">
                        <a:latin typeface="Cambria Math" panose="02040503050406030204" pitchFamily="18" charset="0"/>
                      </a:rPr>
                      <m:t>𝑨𝑩</m:t>
                    </m:r>
                  </m:oMath>
                </a14:m>
                <a:r>
                  <a:rPr lang="en-GB" b="1"/>
                  <a:t> is perpendicular to </a:t>
                </a:r>
                <a14:m>
                  <m:oMath xmlns:m="http://schemas.openxmlformats.org/officeDocument/2006/math">
                    <m:r>
                      <a:rPr lang="en-GB" b="1" i="1">
                        <a:latin typeface="Cambria Math" panose="02040503050406030204" pitchFamily="18" charset="0"/>
                      </a:rPr>
                      <m:t>𝑩𝑪</m:t>
                    </m:r>
                  </m:oMath>
                </a14:m>
                <a:r>
                  <a:rPr lang="en-GB" b="1"/>
                  <a:t>.</a:t>
                </a:r>
              </a:p>
              <a:p>
                <a:pPr marL="285750" indent="-285750">
                  <a:buFont typeface="Arial" panose="020B0604020202020204" pitchFamily="34" charset="0"/>
                  <a:buChar char="•"/>
                </a:pPr>
                <a14:m>
                  <m:oMath xmlns:m="http://schemas.openxmlformats.org/officeDocument/2006/math">
                    <m:r>
                      <a:rPr lang="en-GB" b="1" i="1">
                        <a:latin typeface="Cambria Math" panose="02040503050406030204" pitchFamily="18" charset="0"/>
                      </a:rPr>
                      <m:t>𝑨</m:t>
                    </m:r>
                    <m:sSup>
                      <m:sSupPr>
                        <m:ctrlPr>
                          <a:rPr lang="en-GB" b="1" i="1">
                            <a:latin typeface="Cambria Math" panose="02040503050406030204" pitchFamily="18" charset="0"/>
                          </a:rPr>
                        </m:ctrlPr>
                      </m:sSupPr>
                      <m:e>
                        <m:r>
                          <a:rPr lang="en-GB" b="1" i="1">
                            <a:latin typeface="Cambria Math" panose="02040503050406030204" pitchFamily="18" charset="0"/>
                          </a:rPr>
                          <m:t>𝑩</m:t>
                        </m:r>
                      </m:e>
                      <m:sup>
                        <m:r>
                          <a:rPr lang="en-GB" b="1" i="1">
                            <a:latin typeface="Cambria Math" panose="02040503050406030204" pitchFamily="18" charset="0"/>
                          </a:rPr>
                          <m:t>𝟐</m:t>
                        </m:r>
                      </m:sup>
                    </m:sSup>
                    <m:r>
                      <a:rPr lang="en-GB" b="1" i="1">
                        <a:latin typeface="Cambria Math" panose="02040503050406030204" pitchFamily="18" charset="0"/>
                      </a:rPr>
                      <m:t>+</m:t>
                    </m:r>
                    <m:r>
                      <a:rPr lang="en-GB" b="1" i="1">
                        <a:latin typeface="Cambria Math" panose="02040503050406030204" pitchFamily="18" charset="0"/>
                      </a:rPr>
                      <m:t>𝑩</m:t>
                    </m:r>
                    <m:sSup>
                      <m:sSupPr>
                        <m:ctrlPr>
                          <a:rPr lang="en-GB" b="1" i="1">
                            <a:latin typeface="Cambria Math" panose="02040503050406030204" pitchFamily="18" charset="0"/>
                          </a:rPr>
                        </m:ctrlPr>
                      </m:sSupPr>
                      <m:e>
                        <m:r>
                          <a:rPr lang="en-GB" b="1" i="1">
                            <a:latin typeface="Cambria Math" panose="02040503050406030204" pitchFamily="18" charset="0"/>
                          </a:rPr>
                          <m:t>𝑪</m:t>
                        </m:r>
                      </m:e>
                      <m:sup>
                        <m:r>
                          <a:rPr lang="en-GB" b="1" i="1">
                            <a:latin typeface="Cambria Math" panose="02040503050406030204" pitchFamily="18" charset="0"/>
                          </a:rPr>
                          <m:t>𝟐</m:t>
                        </m:r>
                      </m:sup>
                    </m:sSup>
                    <m:r>
                      <a:rPr lang="en-GB" b="1" i="1">
                        <a:latin typeface="Cambria Math" panose="02040503050406030204" pitchFamily="18" charset="0"/>
                      </a:rPr>
                      <m:t>=</m:t>
                    </m:r>
                    <m:r>
                      <a:rPr lang="en-GB" b="1" i="1">
                        <a:latin typeface="Cambria Math" panose="02040503050406030204" pitchFamily="18" charset="0"/>
                      </a:rPr>
                      <m:t>𝑨</m:t>
                    </m:r>
                    <m:sSup>
                      <m:sSupPr>
                        <m:ctrlPr>
                          <a:rPr lang="en-GB" b="1" i="1">
                            <a:latin typeface="Cambria Math" panose="02040503050406030204" pitchFamily="18" charset="0"/>
                          </a:rPr>
                        </m:ctrlPr>
                      </m:sSupPr>
                      <m:e>
                        <m:r>
                          <a:rPr lang="en-GB" b="1" i="1">
                            <a:latin typeface="Cambria Math" panose="02040503050406030204" pitchFamily="18" charset="0"/>
                          </a:rPr>
                          <m:t>𝑪</m:t>
                        </m:r>
                      </m:e>
                      <m:sup>
                        <m:r>
                          <a:rPr lang="en-GB" b="1" i="1">
                            <a:latin typeface="Cambria Math" panose="02040503050406030204" pitchFamily="18" charset="0"/>
                          </a:rPr>
                          <m:t>𝟐</m:t>
                        </m:r>
                      </m:sup>
                    </m:sSup>
                  </m:oMath>
                </a14:m>
                <a:endParaRPr lang="en-GB" b="1"/>
              </a:p>
            </p:txBody>
          </p:sp>
        </mc:Choice>
        <mc:Fallback>
          <p:sp>
            <p:nvSpPr>
              <p:cNvPr id="18" name="TextBox 17"/>
              <p:cNvSpPr txBox="1">
                <a:spLocks noRot="1" noChangeAspect="1" noMove="1" noResize="1" noEditPoints="1" noAdjustHandles="1" noChangeArrowheads="1" noChangeShapeType="1" noTextEdit="1"/>
              </p:cNvSpPr>
              <p:nvPr/>
            </p:nvSpPr>
            <p:spPr>
              <a:xfrm>
                <a:off x="2063552" y="3933057"/>
                <a:ext cx="3240360" cy="2585323"/>
              </a:xfrm>
              <a:prstGeom prst="rect">
                <a:avLst/>
              </a:prstGeom>
              <a:blipFill>
                <a:blip r:embed="rId5"/>
                <a:stretch>
                  <a:fillRect l="-1563" t="-976" r="-1563" b="-1951"/>
                </a:stretch>
              </a:blipFill>
            </p:spPr>
            <p:txBody>
              <a:bodyPr/>
              <a:lstStyle/>
              <a:p>
                <a:r>
                  <a:rPr lang="en-US">
                    <a:noFill/>
                  </a:rPr>
                  <a:t> </a:t>
                </a:r>
              </a:p>
            </p:txBody>
          </p:sp>
        </mc:Fallback>
      </mc:AlternateContent>
      <p:sp>
        <p:nvSpPr>
          <p:cNvPr id="19" name="TextBox 18"/>
          <p:cNvSpPr txBox="1"/>
          <p:nvPr/>
        </p:nvSpPr>
        <p:spPr>
          <a:xfrm>
            <a:off x="6023992" y="3913238"/>
            <a:ext cx="3240360" cy="2585323"/>
          </a:xfrm>
          <a:prstGeom prst="rect">
            <a:avLst/>
          </a:prstGeom>
          <a:noFill/>
        </p:spPr>
        <p:txBody>
          <a:bodyPr wrap="square" rtlCol="0">
            <a:spAutoFit/>
          </a:bodyPr>
          <a:lstStyle/>
          <a:p>
            <a:r>
              <a:rPr lang="en-GB"/>
              <a:t>Given three points/a triangle we can find the centre of the circumcircle by:</a:t>
            </a:r>
          </a:p>
          <a:p>
            <a:endParaRPr lang="en-GB" b="1"/>
          </a:p>
          <a:p>
            <a:pPr marL="285750" indent="-285750">
              <a:buFont typeface="Arial" panose="020B0604020202020204" pitchFamily="34" charset="0"/>
              <a:buChar char="•"/>
            </a:pPr>
            <a:r>
              <a:rPr lang="en-GB" b="1"/>
              <a:t>Finding the equation of the perpendicular bisectors of two different sides.</a:t>
            </a:r>
          </a:p>
          <a:p>
            <a:pPr marL="285750" indent="-285750">
              <a:buFont typeface="Arial" panose="020B0604020202020204" pitchFamily="34" charset="0"/>
              <a:buChar char="•"/>
            </a:pPr>
            <a:r>
              <a:rPr lang="en-GB" b="1"/>
              <a:t>Find the point of intersection of the two bisectors.</a:t>
            </a:r>
          </a:p>
        </p:txBody>
      </p:sp>
      <p:sp>
        <p:nvSpPr>
          <p:cNvPr id="22" name="Freeform: Shape 21"/>
          <p:cNvSpPr/>
          <p:nvPr/>
        </p:nvSpPr>
        <p:spPr>
          <a:xfrm>
            <a:off x="6261100" y="1854200"/>
            <a:ext cx="2425700" cy="1860550"/>
          </a:xfrm>
          <a:custGeom>
            <a:avLst/>
            <a:gdLst>
              <a:gd name="connsiteX0" fmla="*/ 0 w 2540000"/>
              <a:gd name="connsiteY0" fmla="*/ 406400 h 1517650"/>
              <a:gd name="connsiteX1" fmla="*/ 812800 w 2540000"/>
              <a:gd name="connsiteY1" fmla="*/ 1517650 h 1517650"/>
              <a:gd name="connsiteX2" fmla="*/ 2540000 w 2540000"/>
              <a:gd name="connsiteY2" fmla="*/ 0 h 1517650"/>
              <a:gd name="connsiteX3" fmla="*/ 0 w 2540000"/>
              <a:gd name="connsiteY3" fmla="*/ 406400 h 1517650"/>
              <a:gd name="connsiteX0" fmla="*/ 0 w 2444750"/>
              <a:gd name="connsiteY0" fmla="*/ 635000 h 1746250"/>
              <a:gd name="connsiteX1" fmla="*/ 812800 w 2444750"/>
              <a:gd name="connsiteY1" fmla="*/ 1746250 h 1746250"/>
              <a:gd name="connsiteX2" fmla="*/ 2444750 w 2444750"/>
              <a:gd name="connsiteY2" fmla="*/ 0 h 1746250"/>
              <a:gd name="connsiteX3" fmla="*/ 0 w 2444750"/>
              <a:gd name="connsiteY3" fmla="*/ 635000 h 1746250"/>
              <a:gd name="connsiteX0" fmla="*/ 0 w 2425700"/>
              <a:gd name="connsiteY0" fmla="*/ 311150 h 1746250"/>
              <a:gd name="connsiteX1" fmla="*/ 793750 w 2425700"/>
              <a:gd name="connsiteY1" fmla="*/ 1746250 h 1746250"/>
              <a:gd name="connsiteX2" fmla="*/ 2425700 w 2425700"/>
              <a:gd name="connsiteY2" fmla="*/ 0 h 1746250"/>
              <a:gd name="connsiteX3" fmla="*/ 0 w 2425700"/>
              <a:gd name="connsiteY3" fmla="*/ 311150 h 1746250"/>
              <a:gd name="connsiteX0" fmla="*/ 0 w 2425700"/>
              <a:gd name="connsiteY0" fmla="*/ 311150 h 1860550"/>
              <a:gd name="connsiteX1" fmla="*/ 1123950 w 2425700"/>
              <a:gd name="connsiteY1" fmla="*/ 1860550 h 1860550"/>
              <a:gd name="connsiteX2" fmla="*/ 2425700 w 2425700"/>
              <a:gd name="connsiteY2" fmla="*/ 0 h 1860550"/>
              <a:gd name="connsiteX3" fmla="*/ 0 w 2425700"/>
              <a:gd name="connsiteY3" fmla="*/ 311150 h 1860550"/>
            </a:gdLst>
            <a:ahLst/>
            <a:cxnLst>
              <a:cxn ang="0">
                <a:pos x="connsiteX0" y="connsiteY0"/>
              </a:cxn>
              <a:cxn ang="0">
                <a:pos x="connsiteX1" y="connsiteY1"/>
              </a:cxn>
              <a:cxn ang="0">
                <a:pos x="connsiteX2" y="connsiteY2"/>
              </a:cxn>
              <a:cxn ang="0">
                <a:pos x="connsiteX3" y="connsiteY3"/>
              </a:cxn>
            </a:cxnLst>
            <a:rect l="l" t="t" r="r" b="b"/>
            <a:pathLst>
              <a:path w="2425700" h="1860550">
                <a:moveTo>
                  <a:pt x="0" y="311150"/>
                </a:moveTo>
                <a:lnTo>
                  <a:pt x="1123950" y="1860550"/>
                </a:lnTo>
                <a:lnTo>
                  <a:pt x="2425700" y="0"/>
                </a:lnTo>
                <a:lnTo>
                  <a:pt x="0" y="311150"/>
                </a:lnTo>
                <a:close/>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24" name="Straight Connector 23"/>
          <p:cNvCxnSpPr/>
          <p:nvPr/>
        </p:nvCxnSpPr>
        <p:spPr>
          <a:xfrm flipH="1" flipV="1">
            <a:off x="5949950" y="1422400"/>
            <a:ext cx="2946400" cy="19558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flipH="1">
            <a:off x="6223000" y="1525270"/>
            <a:ext cx="2705100" cy="1802130"/>
          </a:xfrm>
          <a:prstGeom prst="line">
            <a:avLst/>
          </a:prstGeom>
        </p:spPr>
        <p:style>
          <a:lnRef idx="1">
            <a:schemeClr val="accent1"/>
          </a:lnRef>
          <a:fillRef idx="0">
            <a:schemeClr val="accent1"/>
          </a:fillRef>
          <a:effectRef idx="0">
            <a:schemeClr val="accent1"/>
          </a:effectRef>
          <a:fontRef idx="minor">
            <a:schemeClr val="tx1"/>
          </a:fontRef>
        </p:style>
      </p:cxnSp>
      <p:sp>
        <p:nvSpPr>
          <p:cNvPr id="32" name="Rectangle 31"/>
          <p:cNvSpPr/>
          <p:nvPr/>
        </p:nvSpPr>
        <p:spPr>
          <a:xfrm>
            <a:off x="2149976" y="4287348"/>
            <a:ext cx="3107825" cy="729152"/>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
        <p:nvSpPr>
          <p:cNvPr id="33" name="Rectangle 32"/>
          <p:cNvSpPr/>
          <p:nvPr/>
        </p:nvSpPr>
        <p:spPr>
          <a:xfrm>
            <a:off x="2126895" y="5635943"/>
            <a:ext cx="3107825" cy="879157"/>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
        <p:nvSpPr>
          <p:cNvPr id="34" name="Rectangle 33"/>
          <p:cNvSpPr/>
          <p:nvPr/>
        </p:nvSpPr>
        <p:spPr>
          <a:xfrm>
            <a:off x="6023992" y="5012060"/>
            <a:ext cx="3272408" cy="1477640"/>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Tree>
    <p:extLst>
      <p:ext uri="{BB962C8B-B14F-4D97-AF65-F5344CB8AC3E}">
        <p14:creationId xmlns:p14="http://schemas.microsoft.com/office/powerpoint/2010/main" val="411900437"/>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32"/>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32"/>
                                        </p:tgtEl>
                                      </p:cBhvr>
                                    </p:animEffect>
                                    <p:set>
                                      <p:cBhvr>
                                        <p:cTn id="7" dur="1" fill="hold">
                                          <p:stCondLst>
                                            <p:cond delay="499"/>
                                          </p:stCondLst>
                                        </p:cTn>
                                        <p:tgtEl>
                                          <p:spTgt spid="32"/>
                                        </p:tgtEl>
                                        <p:attrNameLst>
                                          <p:attrName>style.visibility</p:attrName>
                                        </p:attrNameLst>
                                      </p:cBhvr>
                                      <p:to>
                                        <p:strVal val="hidden"/>
                                      </p:to>
                                    </p:set>
                                  </p:childTnLst>
                                </p:cTn>
                              </p:par>
                            </p:childTnLst>
                          </p:cTn>
                        </p:par>
                      </p:childTnLst>
                    </p:cTn>
                  </p:par>
                </p:childTnLst>
              </p:cTn>
              <p:nextCondLst>
                <p:cond evt="onClick" delay="0">
                  <p:tgtEl>
                    <p:spTgt spid="32"/>
                  </p:tgtEl>
                </p:cond>
              </p:nextCondLst>
            </p:seq>
            <p:seq concurrent="1" nextAc="seek">
              <p:cTn id="8" restart="whenNotActive" fill="hold" evtFilter="cancelBubble" nodeType="interactiveSeq">
                <p:stCondLst>
                  <p:cond evt="onClick" delay="0">
                    <p:tgtEl>
                      <p:spTgt spid="33"/>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33"/>
                                        </p:tgtEl>
                                      </p:cBhvr>
                                    </p:animEffect>
                                    <p:set>
                                      <p:cBhvr>
                                        <p:cTn id="13" dur="1" fill="hold">
                                          <p:stCondLst>
                                            <p:cond delay="499"/>
                                          </p:stCondLst>
                                        </p:cTn>
                                        <p:tgtEl>
                                          <p:spTgt spid="33"/>
                                        </p:tgtEl>
                                        <p:attrNameLst>
                                          <p:attrName>style.visibility</p:attrName>
                                        </p:attrNameLst>
                                      </p:cBhvr>
                                      <p:to>
                                        <p:strVal val="hidden"/>
                                      </p:to>
                                    </p:set>
                                  </p:childTnLst>
                                </p:cTn>
                              </p:par>
                            </p:childTnLst>
                          </p:cTn>
                        </p:par>
                      </p:childTnLst>
                    </p:cTn>
                  </p:par>
                </p:childTnLst>
              </p:cTn>
              <p:nextCondLst>
                <p:cond evt="onClick" delay="0">
                  <p:tgtEl>
                    <p:spTgt spid="33"/>
                  </p:tgtEl>
                </p:cond>
              </p:nextCondLst>
            </p:seq>
            <p:seq concurrent="1" nextAc="seek">
              <p:cTn id="14" restart="whenNotActive" fill="hold" evtFilter="cancelBubble" nodeType="interactiveSeq">
                <p:stCondLst>
                  <p:cond evt="onClick" delay="0">
                    <p:tgtEl>
                      <p:spTgt spid="34"/>
                    </p:tgtEl>
                  </p:cond>
                </p:stCondLst>
                <p:endSync evt="end" delay="0">
                  <p:rtn val="all"/>
                </p:endSync>
                <p:childTnLst>
                  <p:par>
                    <p:cTn id="15" fill="hold">
                      <p:stCondLst>
                        <p:cond delay="0"/>
                      </p:stCondLst>
                      <p:childTnLst>
                        <p:par>
                          <p:cTn id="16" fill="hold">
                            <p:stCondLst>
                              <p:cond delay="0"/>
                            </p:stCondLst>
                            <p:childTnLst>
                              <p:par>
                                <p:cTn id="17" presetID="10" presetClass="exit" presetSubtype="0" fill="hold" grpId="0" nodeType="clickEffect">
                                  <p:stCondLst>
                                    <p:cond delay="0"/>
                                  </p:stCondLst>
                                  <p:childTnLst>
                                    <p:animEffect transition="out" filter="fade">
                                      <p:cBhvr>
                                        <p:cTn id="18" dur="500"/>
                                        <p:tgtEl>
                                          <p:spTgt spid="34"/>
                                        </p:tgtEl>
                                      </p:cBhvr>
                                    </p:animEffect>
                                    <p:set>
                                      <p:cBhvr>
                                        <p:cTn id="19" dur="1" fill="hold">
                                          <p:stCondLst>
                                            <p:cond delay="499"/>
                                          </p:stCondLst>
                                        </p:cTn>
                                        <p:tgtEl>
                                          <p:spTgt spid="34"/>
                                        </p:tgtEl>
                                        <p:attrNameLst>
                                          <p:attrName>style.visibility</p:attrName>
                                        </p:attrNameLst>
                                      </p:cBhvr>
                                      <p:to>
                                        <p:strVal val="hidden"/>
                                      </p:to>
                                    </p:set>
                                  </p:childTnLst>
                                </p:cTn>
                              </p:par>
                              <p:par>
                                <p:cTn id="20" presetID="22" presetClass="entr" presetSubtype="4" fill="hold" nodeType="with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wipe(down)">
                                      <p:cBhvr>
                                        <p:cTn id="22" dur="500"/>
                                        <p:tgtEl>
                                          <p:spTgt spid="24"/>
                                        </p:tgtEl>
                                      </p:cBhvr>
                                    </p:animEffect>
                                  </p:childTnLst>
                                </p:cTn>
                              </p:par>
                              <p:par>
                                <p:cTn id="23" presetID="22" presetClass="entr" presetSubtype="4" fill="hold" nodeType="withEffect">
                                  <p:stCondLst>
                                    <p:cond delay="0"/>
                                  </p:stCondLst>
                                  <p:childTnLst>
                                    <p:set>
                                      <p:cBhvr>
                                        <p:cTn id="24" dur="1" fill="hold">
                                          <p:stCondLst>
                                            <p:cond delay="0"/>
                                          </p:stCondLst>
                                        </p:cTn>
                                        <p:tgtEl>
                                          <p:spTgt spid="25"/>
                                        </p:tgtEl>
                                        <p:attrNameLst>
                                          <p:attrName>style.visibility</p:attrName>
                                        </p:attrNameLst>
                                      </p:cBhvr>
                                      <p:to>
                                        <p:strVal val="visible"/>
                                      </p:to>
                                    </p:set>
                                    <p:animEffect transition="in" filter="wipe(down)">
                                      <p:cBhvr>
                                        <p:cTn id="25" dur="500"/>
                                        <p:tgtEl>
                                          <p:spTgt spid="25"/>
                                        </p:tgtEl>
                                      </p:cBhvr>
                                    </p:animEffect>
                                  </p:childTnLst>
                                </p:cTn>
                              </p:par>
                            </p:childTnLst>
                          </p:cTn>
                        </p:par>
                      </p:childTnLst>
                    </p:cTn>
                  </p:par>
                </p:childTnLst>
              </p:cTn>
              <p:nextCondLst>
                <p:cond evt="onClick" delay="0">
                  <p:tgtEl>
                    <p:spTgt spid="34"/>
                  </p:tgtEl>
                </p:cond>
              </p:nextCondLst>
            </p:seq>
          </p:childTnLst>
        </p:cTn>
      </p:par>
    </p:tnLst>
    <p:bldLst>
      <p:bldP spid="32" grpId="0" animBg="1"/>
      <p:bldP spid="33" grpId="0" animBg="1"/>
      <p:bldP spid="34" grpId="0" animBg="1"/>
    </p:bldLst>
  </p:timing>
</p:sld>
</file>

<file path=ppt/c6/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0" y="1"/>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a:t>Example</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mc:AlternateContent xmlns:mc="http://schemas.openxmlformats.org/markup-compatibility/2006">
        <mc:Choice xmlns:a14="http://schemas.microsoft.com/office/drawing/2010/main" Requires="a14">
          <p:sp>
            <p:nvSpPr>
              <p:cNvPr id="5" name="TextBox 4"/>
              <p:cNvSpPr txBox="1"/>
              <p:nvPr/>
            </p:nvSpPr>
            <p:spPr>
              <a:xfrm>
                <a:off x="1919536" y="1058876"/>
                <a:ext cx="6208750" cy="646331"/>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i="1"/>
                  <a:t>[Textbook]</a:t>
                </a:r>
                <a:r>
                  <a:rPr lang="en-GB"/>
                  <a:t> The points </a:t>
                </a:r>
                <a14:m>
                  <m:oMath xmlns:m="http://schemas.openxmlformats.org/officeDocument/2006/math">
                    <m:r>
                      <a:rPr lang="en-GB" i="1">
                        <a:latin typeface="Cambria Math" panose="02040503050406030204" pitchFamily="18" charset="0"/>
                      </a:rPr>
                      <m:t>𝐴</m:t>
                    </m:r>
                    <m:d>
                      <m:dPr>
                        <m:ctrlPr>
                          <a:rPr lang="en-GB" i="1">
                            <a:latin typeface="Cambria Math" panose="02040503050406030204" pitchFamily="18" charset="0"/>
                          </a:rPr>
                        </m:ctrlPr>
                      </m:dPr>
                      <m:e>
                        <m:r>
                          <a:rPr lang="en-GB" i="1">
                            <a:latin typeface="Cambria Math" panose="02040503050406030204" pitchFamily="18" charset="0"/>
                          </a:rPr>
                          <m:t>−8,1</m:t>
                        </m:r>
                      </m:e>
                    </m:d>
                    <m:r>
                      <a:rPr lang="en-GB" i="1">
                        <a:latin typeface="Cambria Math" panose="02040503050406030204" pitchFamily="18" charset="0"/>
                      </a:rPr>
                      <m:t>, </m:t>
                    </m:r>
                    <m:r>
                      <a:rPr lang="en-GB" i="1">
                        <a:latin typeface="Cambria Math" panose="02040503050406030204" pitchFamily="18" charset="0"/>
                      </a:rPr>
                      <m:t>𝐵</m:t>
                    </m:r>
                    <m:d>
                      <m:dPr>
                        <m:ctrlPr>
                          <a:rPr lang="en-GB" i="1">
                            <a:latin typeface="Cambria Math" panose="02040503050406030204" pitchFamily="18" charset="0"/>
                          </a:rPr>
                        </m:ctrlPr>
                      </m:dPr>
                      <m:e>
                        <m:r>
                          <a:rPr lang="en-GB" i="1">
                            <a:latin typeface="Cambria Math" panose="02040503050406030204" pitchFamily="18" charset="0"/>
                          </a:rPr>
                          <m:t>4,5</m:t>
                        </m:r>
                      </m:e>
                    </m:d>
                    <m:r>
                      <a:rPr lang="en-GB" i="1">
                        <a:latin typeface="Cambria Math" panose="02040503050406030204" pitchFamily="18" charset="0"/>
                      </a:rPr>
                      <m:t>,</m:t>
                    </m:r>
                    <m:r>
                      <a:rPr lang="en-GB" i="1">
                        <a:latin typeface="Cambria Math" panose="02040503050406030204" pitchFamily="18" charset="0"/>
                      </a:rPr>
                      <m:t>𝐶</m:t>
                    </m:r>
                    <m:d>
                      <m:dPr>
                        <m:ctrlPr>
                          <a:rPr lang="en-GB" i="1">
                            <a:latin typeface="Cambria Math" panose="02040503050406030204" pitchFamily="18" charset="0"/>
                          </a:rPr>
                        </m:ctrlPr>
                      </m:dPr>
                      <m:e>
                        <m:r>
                          <a:rPr lang="en-GB" i="1">
                            <a:latin typeface="Cambria Math" panose="02040503050406030204" pitchFamily="18" charset="0"/>
                          </a:rPr>
                          <m:t>−4,9</m:t>
                        </m:r>
                      </m:e>
                    </m:d>
                  </m:oMath>
                </a14:m>
                <a:r>
                  <a:rPr lang="en-GB"/>
                  <a:t> lie on a circle.</a:t>
                </a:r>
              </a:p>
              <a:p>
                <a:r>
                  <a:rPr lang="en-GB"/>
                  <a:t>a) Show that </a:t>
                </a:r>
                <a14:m>
                  <m:oMath xmlns:m="http://schemas.openxmlformats.org/officeDocument/2006/math">
                    <m:r>
                      <a:rPr lang="en-GB" i="1">
                        <a:latin typeface="Cambria Math" panose="02040503050406030204" pitchFamily="18" charset="0"/>
                      </a:rPr>
                      <m:t>𝐴𝐵</m:t>
                    </m:r>
                  </m:oMath>
                </a14:m>
                <a:r>
                  <a:rPr lang="en-GB"/>
                  <a:t> is a diameter of the circle.</a:t>
                </a:r>
              </a:p>
            </p:txBody>
          </p:sp>
        </mc:Choice>
        <mc:Fallback>
          <p:sp>
            <p:nvSpPr>
              <p:cNvPr id="5" name="TextBox 4"/>
              <p:cNvSpPr txBox="1">
                <a:spLocks noRot="1" noChangeAspect="1" noMove="1" noResize="1" noEditPoints="1" noAdjustHandles="1" noChangeArrowheads="1" noChangeShapeType="1" noTextEdit="1"/>
              </p:cNvSpPr>
              <p:nvPr/>
            </p:nvSpPr>
            <p:spPr>
              <a:xfrm>
                <a:off x="1919536" y="1058876"/>
                <a:ext cx="6208750" cy="646331"/>
              </a:xfrm>
              <a:prstGeom prst="rect">
                <a:avLst/>
              </a:prstGeom>
              <a:blipFill>
                <a:blip r:embed="rId2"/>
                <a:stretch>
                  <a:fillRect b="-3125"/>
                </a:stretch>
              </a:blipFill>
              <a:effectLst>
                <a:outerShdw blurRad="63500" sx="102000" sy="102000" algn="ctr" rotWithShape="0">
                  <a:prstClr val="black">
                    <a:alpha val="40000"/>
                  </a:prstClr>
                </a:outerShdw>
              </a:effectLst>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6" name="TextBox 5"/>
              <p:cNvSpPr txBox="1"/>
              <p:nvPr/>
            </p:nvSpPr>
            <p:spPr>
              <a:xfrm>
                <a:off x="1863878" y="2086388"/>
                <a:ext cx="3888432" cy="2506648"/>
              </a:xfrm>
              <a:prstGeom prst="rect">
                <a:avLst/>
              </a:prstGeom>
              <a:noFill/>
            </p:spPr>
            <p:txBody>
              <a:bodyPr wrap="square" rtlCol="0">
                <a:spAutoFit/>
              </a:bodyPr>
              <a:lstStyle/>
              <a:p>
                <a:r>
                  <a:rPr lang="en-GB" b="1"/>
                  <a:t>Method 1:</a:t>
                </a:r>
              </a:p>
              <a:p>
                <a:r>
                  <a:rPr lang="en-GB"/>
                  <a:t>Show that </a:t>
                </a:r>
                <a14:m>
                  <m:oMath xmlns:m="http://schemas.openxmlformats.org/officeDocument/2006/math">
                    <m:r>
                      <a:rPr lang="en-GB" i="1">
                        <a:latin typeface="Cambria Math" panose="02040503050406030204" pitchFamily="18" charset="0"/>
                      </a:rPr>
                      <m:t>𝐴</m:t>
                    </m:r>
                    <m:sSup>
                      <m:sSupPr>
                        <m:ctrlPr>
                          <a:rPr lang="en-GB" i="1">
                            <a:latin typeface="Cambria Math" panose="02040503050406030204" pitchFamily="18" charset="0"/>
                          </a:rPr>
                        </m:ctrlPr>
                      </m:sSupPr>
                      <m:e>
                        <m:r>
                          <a:rPr lang="en-GB" i="1">
                            <a:latin typeface="Cambria Math" panose="02040503050406030204" pitchFamily="18" charset="0"/>
                          </a:rPr>
                          <m:t>𝐶</m:t>
                        </m:r>
                      </m:e>
                      <m:sup>
                        <m:r>
                          <a:rPr lang="en-GB" i="1">
                            <a:latin typeface="Cambria Math" panose="02040503050406030204" pitchFamily="18" charset="0"/>
                          </a:rPr>
                          <m:t>2</m:t>
                        </m:r>
                      </m:sup>
                    </m:sSup>
                    <m:r>
                      <a:rPr lang="en-GB" i="1">
                        <a:latin typeface="Cambria Math" panose="02040503050406030204" pitchFamily="18" charset="0"/>
                      </a:rPr>
                      <m:t>+</m:t>
                    </m:r>
                    <m:r>
                      <a:rPr lang="en-GB" i="1">
                        <a:latin typeface="Cambria Math" panose="02040503050406030204" pitchFamily="18" charset="0"/>
                      </a:rPr>
                      <m:t>𝐵</m:t>
                    </m:r>
                    <m:sSup>
                      <m:sSupPr>
                        <m:ctrlPr>
                          <a:rPr lang="en-GB" i="1">
                            <a:latin typeface="Cambria Math" panose="02040503050406030204" pitchFamily="18" charset="0"/>
                          </a:rPr>
                        </m:ctrlPr>
                      </m:sSupPr>
                      <m:e>
                        <m:r>
                          <a:rPr lang="en-GB" i="1">
                            <a:latin typeface="Cambria Math" panose="02040503050406030204" pitchFamily="18" charset="0"/>
                          </a:rPr>
                          <m:t>𝐶</m:t>
                        </m:r>
                      </m:e>
                      <m:sup>
                        <m:r>
                          <a:rPr lang="en-GB" i="1">
                            <a:latin typeface="Cambria Math" panose="02040503050406030204" pitchFamily="18" charset="0"/>
                          </a:rPr>
                          <m:t>2</m:t>
                        </m:r>
                      </m:sup>
                    </m:sSup>
                    <m:r>
                      <a:rPr lang="en-GB" i="1">
                        <a:latin typeface="Cambria Math" panose="02040503050406030204" pitchFamily="18" charset="0"/>
                      </a:rPr>
                      <m:t>=</m:t>
                    </m:r>
                    <m:r>
                      <a:rPr lang="en-GB" i="1">
                        <a:latin typeface="Cambria Math" panose="02040503050406030204" pitchFamily="18" charset="0"/>
                      </a:rPr>
                      <m:t>𝐴</m:t>
                    </m:r>
                    <m:sSup>
                      <m:sSupPr>
                        <m:ctrlPr>
                          <a:rPr lang="en-GB" i="1">
                            <a:latin typeface="Cambria Math" panose="02040503050406030204" pitchFamily="18" charset="0"/>
                          </a:rPr>
                        </m:ctrlPr>
                      </m:sSupPr>
                      <m:e>
                        <m:r>
                          <a:rPr lang="en-GB" i="1">
                            <a:latin typeface="Cambria Math" panose="02040503050406030204" pitchFamily="18" charset="0"/>
                          </a:rPr>
                          <m:t>𝐵</m:t>
                        </m:r>
                      </m:e>
                      <m:sup>
                        <m:r>
                          <a:rPr lang="en-GB" i="1">
                            <a:latin typeface="Cambria Math" panose="02040503050406030204" pitchFamily="18" charset="0"/>
                          </a:rPr>
                          <m:t>2</m:t>
                        </m:r>
                      </m:sup>
                    </m:sSup>
                  </m:oMath>
                </a14:m>
                <a:endParaRPr lang="en-GB"/>
              </a:p>
              <a:p>
                <a:endParaRPr lang="en-GB"/>
              </a:p>
              <a:p>
                <a:pPr/>
                <a14:m>
                  <m:oMathPara xmlns:m="http://schemas.openxmlformats.org/officeDocument/2006/math">
                    <m:oMath>
                      <m:r>
                        <a:rPr lang="en-GB" i="1">
                          <a:latin typeface="Cambria Math" panose="02040503050406030204" pitchFamily="18" charset="0"/>
                        </a:rPr>
                        <m:t>𝐴𝐶</m:t>
                      </m:r>
                      <m:r>
                        <a:rPr lang="en-GB" i="1">
                          <a:latin typeface="Cambria Math" panose="02040503050406030204" pitchFamily="18" charset="0"/>
                        </a:rPr>
                        <m:t>=</m:t>
                      </m:r>
                      <m:rad>
                        <m:radPr>
                          <m:degHide m:val="on"/>
                          <m:ctrlPr>
                            <a:rPr lang="en-GB" i="1">
                              <a:latin typeface="Cambria Math" panose="02040503050406030204" pitchFamily="18" charset="0"/>
                            </a:rPr>
                          </m:ctrlPr>
                        </m:radPr>
                        <m:deg/>
                        <m:e>
                          <m:sSup>
                            <m:sSupPr>
                              <m:ctrlPr>
                                <a:rPr lang="en-GB" i="1">
                                  <a:latin typeface="Cambria Math" panose="02040503050406030204" pitchFamily="18" charset="0"/>
                                </a:rPr>
                              </m:ctrlPr>
                            </m:sSupPr>
                            <m:e>
                              <m:r>
                                <a:rPr lang="en-GB" i="1">
                                  <a:latin typeface="Cambria Math" panose="02040503050406030204" pitchFamily="18" charset="0"/>
                                </a:rPr>
                                <m:t>4</m:t>
                              </m:r>
                            </m:e>
                            <m:sup>
                              <m:r>
                                <a:rPr lang="en-GB" i="1">
                                  <a:latin typeface="Cambria Math" panose="02040503050406030204" pitchFamily="18" charset="0"/>
                                </a:rPr>
                                <m:t>2</m:t>
                              </m:r>
                            </m:sup>
                          </m:sSup>
                          <m:r>
                            <a:rPr lang="en-GB" i="1">
                              <a:latin typeface="Cambria Math" panose="02040503050406030204" pitchFamily="18" charset="0"/>
                            </a:rPr>
                            <m:t>+</m:t>
                          </m:r>
                          <m:sSup>
                            <m:sSupPr>
                              <m:ctrlPr>
                                <a:rPr lang="en-GB" i="1">
                                  <a:latin typeface="Cambria Math" panose="02040503050406030204" pitchFamily="18" charset="0"/>
                                </a:rPr>
                              </m:ctrlPr>
                            </m:sSupPr>
                            <m:e>
                              <m:r>
                                <a:rPr lang="en-GB" i="1">
                                  <a:latin typeface="Cambria Math" panose="02040503050406030204" pitchFamily="18" charset="0"/>
                                </a:rPr>
                                <m:t>8</m:t>
                              </m:r>
                            </m:e>
                            <m:sup>
                              <m:r>
                                <a:rPr lang="en-GB" i="1">
                                  <a:latin typeface="Cambria Math" panose="02040503050406030204" pitchFamily="18" charset="0"/>
                                </a:rPr>
                                <m:t>2</m:t>
                              </m:r>
                            </m:sup>
                          </m:sSup>
                        </m:e>
                      </m:rad>
                      <m:r>
                        <a:rPr lang="en-GB" i="1">
                          <a:latin typeface="Cambria Math" panose="02040503050406030204" pitchFamily="18" charset="0"/>
                        </a:rPr>
                        <m:t>=</m:t>
                      </m:r>
                      <m:rad>
                        <m:radPr>
                          <m:degHide m:val="on"/>
                          <m:ctrlPr>
                            <a:rPr lang="en-GB" i="1">
                              <a:latin typeface="Cambria Math" panose="02040503050406030204" pitchFamily="18" charset="0"/>
                            </a:rPr>
                          </m:ctrlPr>
                        </m:radPr>
                        <m:deg/>
                        <m:e>
                          <m:r>
                            <a:rPr lang="en-GB" i="1">
                              <a:latin typeface="Cambria Math" panose="02040503050406030204" pitchFamily="18" charset="0"/>
                            </a:rPr>
                            <m:t>80</m:t>
                          </m:r>
                        </m:e>
                      </m:rad>
                    </m:oMath>
                    <m:oMath>
                      <m:r>
                        <a:rPr lang="en-GB" i="1">
                          <a:latin typeface="Cambria Math" panose="02040503050406030204" pitchFamily="18" charset="0"/>
                        </a:rPr>
                        <m:t>𝐵𝐶</m:t>
                      </m:r>
                      <m:r>
                        <a:rPr lang="en-GB" i="1">
                          <a:latin typeface="Cambria Math" panose="02040503050406030204" pitchFamily="18" charset="0"/>
                        </a:rPr>
                        <m:t>=</m:t>
                      </m:r>
                      <m:rad>
                        <m:radPr>
                          <m:degHide m:val="on"/>
                          <m:ctrlPr>
                            <a:rPr lang="en-GB" i="1">
                              <a:latin typeface="Cambria Math" panose="02040503050406030204" pitchFamily="18" charset="0"/>
                            </a:rPr>
                          </m:ctrlPr>
                        </m:radPr>
                        <m:deg/>
                        <m:e>
                          <m:sSup>
                            <m:sSupPr>
                              <m:ctrlPr>
                                <a:rPr lang="en-GB" i="1">
                                  <a:latin typeface="Cambria Math" panose="02040503050406030204" pitchFamily="18" charset="0"/>
                                </a:rPr>
                              </m:ctrlPr>
                            </m:sSupPr>
                            <m:e>
                              <m:r>
                                <a:rPr lang="en-GB" i="1">
                                  <a:latin typeface="Cambria Math" panose="02040503050406030204" pitchFamily="18" charset="0"/>
                                </a:rPr>
                                <m:t>8</m:t>
                              </m:r>
                            </m:e>
                            <m:sup>
                              <m:r>
                                <a:rPr lang="en-GB" i="1">
                                  <a:latin typeface="Cambria Math" panose="02040503050406030204" pitchFamily="18" charset="0"/>
                                </a:rPr>
                                <m:t>2</m:t>
                              </m:r>
                            </m:sup>
                          </m:sSup>
                          <m:r>
                            <a:rPr lang="en-GB" i="1">
                              <a:latin typeface="Cambria Math" panose="02040503050406030204" pitchFamily="18" charset="0"/>
                            </a:rPr>
                            <m:t>+</m:t>
                          </m:r>
                          <m:sSup>
                            <m:sSupPr>
                              <m:ctrlPr>
                                <a:rPr lang="en-GB" i="1">
                                  <a:latin typeface="Cambria Math" panose="02040503050406030204" pitchFamily="18" charset="0"/>
                                </a:rPr>
                              </m:ctrlPr>
                            </m:sSupPr>
                            <m:e>
                              <m:r>
                                <a:rPr lang="en-GB" i="1">
                                  <a:latin typeface="Cambria Math" panose="02040503050406030204" pitchFamily="18" charset="0"/>
                                </a:rPr>
                                <m:t>4</m:t>
                              </m:r>
                            </m:e>
                            <m:sup>
                              <m:r>
                                <a:rPr lang="en-GB" i="1">
                                  <a:latin typeface="Cambria Math" panose="02040503050406030204" pitchFamily="18" charset="0"/>
                                </a:rPr>
                                <m:t>2</m:t>
                              </m:r>
                            </m:sup>
                          </m:sSup>
                        </m:e>
                      </m:rad>
                      <m:r>
                        <a:rPr lang="en-GB" i="1">
                          <a:latin typeface="Cambria Math" panose="02040503050406030204" pitchFamily="18" charset="0"/>
                        </a:rPr>
                        <m:t>=</m:t>
                      </m:r>
                      <m:rad>
                        <m:radPr>
                          <m:degHide m:val="on"/>
                          <m:ctrlPr>
                            <a:rPr lang="en-GB" i="1">
                              <a:latin typeface="Cambria Math" panose="02040503050406030204" pitchFamily="18" charset="0"/>
                            </a:rPr>
                          </m:ctrlPr>
                        </m:radPr>
                        <m:deg/>
                        <m:e>
                          <m:r>
                            <a:rPr lang="en-GB" i="1">
                              <a:latin typeface="Cambria Math" panose="02040503050406030204" pitchFamily="18" charset="0"/>
                            </a:rPr>
                            <m:t>80</m:t>
                          </m:r>
                        </m:e>
                      </m:rad>
                    </m:oMath>
                    <m:oMath>
                      <m:r>
                        <a:rPr lang="en-GB" i="1">
                          <a:latin typeface="Cambria Math" panose="02040503050406030204" pitchFamily="18" charset="0"/>
                        </a:rPr>
                        <m:t>𝐴𝐵</m:t>
                      </m:r>
                      <m:r>
                        <a:rPr lang="en-GB" i="1">
                          <a:latin typeface="Cambria Math" panose="02040503050406030204" pitchFamily="18" charset="0"/>
                        </a:rPr>
                        <m:t>=</m:t>
                      </m:r>
                      <m:rad>
                        <m:radPr>
                          <m:degHide m:val="on"/>
                          <m:ctrlPr>
                            <a:rPr lang="en-GB" i="1">
                              <a:latin typeface="Cambria Math" panose="02040503050406030204" pitchFamily="18" charset="0"/>
                            </a:rPr>
                          </m:ctrlPr>
                        </m:radPr>
                        <m:deg/>
                        <m:e>
                          <m:sSup>
                            <m:sSupPr>
                              <m:ctrlPr>
                                <a:rPr lang="en-GB" i="1">
                                  <a:latin typeface="Cambria Math" panose="02040503050406030204" pitchFamily="18" charset="0"/>
                                </a:rPr>
                              </m:ctrlPr>
                            </m:sSupPr>
                            <m:e>
                              <m:r>
                                <a:rPr lang="en-GB" i="1">
                                  <a:latin typeface="Cambria Math" panose="02040503050406030204" pitchFamily="18" charset="0"/>
                                </a:rPr>
                                <m:t>12</m:t>
                              </m:r>
                            </m:e>
                            <m:sup>
                              <m:r>
                                <a:rPr lang="en-GB" i="1">
                                  <a:latin typeface="Cambria Math" panose="02040503050406030204" pitchFamily="18" charset="0"/>
                                </a:rPr>
                                <m:t>2</m:t>
                              </m:r>
                            </m:sup>
                          </m:sSup>
                          <m:r>
                            <a:rPr lang="en-GB" i="1">
                              <a:latin typeface="Cambria Math" panose="02040503050406030204" pitchFamily="18" charset="0"/>
                            </a:rPr>
                            <m:t>+</m:t>
                          </m:r>
                          <m:sSup>
                            <m:sSupPr>
                              <m:ctrlPr>
                                <a:rPr lang="en-GB" i="1">
                                  <a:latin typeface="Cambria Math" panose="02040503050406030204" pitchFamily="18" charset="0"/>
                                </a:rPr>
                              </m:ctrlPr>
                            </m:sSupPr>
                            <m:e>
                              <m:r>
                                <a:rPr lang="en-GB" i="1">
                                  <a:latin typeface="Cambria Math" panose="02040503050406030204" pitchFamily="18" charset="0"/>
                                </a:rPr>
                                <m:t>4</m:t>
                              </m:r>
                            </m:e>
                            <m:sup>
                              <m:r>
                                <a:rPr lang="en-GB" i="1">
                                  <a:latin typeface="Cambria Math" panose="02040503050406030204" pitchFamily="18" charset="0"/>
                                </a:rPr>
                                <m:t>2</m:t>
                              </m:r>
                            </m:sup>
                          </m:sSup>
                        </m:e>
                      </m:rad>
                      <m:r>
                        <a:rPr lang="en-GB" i="1">
                          <a:latin typeface="Cambria Math" panose="02040503050406030204" pitchFamily="18" charset="0"/>
                        </a:rPr>
                        <m:t>=</m:t>
                      </m:r>
                      <m:rad>
                        <m:radPr>
                          <m:degHide m:val="on"/>
                          <m:ctrlPr>
                            <a:rPr lang="en-GB" i="1">
                              <a:latin typeface="Cambria Math" panose="02040503050406030204" pitchFamily="18" charset="0"/>
                            </a:rPr>
                          </m:ctrlPr>
                        </m:radPr>
                        <m:deg/>
                        <m:e>
                          <m:r>
                            <a:rPr lang="en-GB" i="1">
                              <a:latin typeface="Cambria Math" panose="02040503050406030204" pitchFamily="18" charset="0"/>
                            </a:rPr>
                            <m:t>160</m:t>
                          </m:r>
                        </m:e>
                      </m:rad>
                    </m:oMath>
                    <m:oMath>
                      <m:r>
                        <a:rPr lang="en-GB" i="1">
                          <a:latin typeface="Cambria Math" panose="02040503050406030204" pitchFamily="18" charset="0"/>
                        </a:rPr>
                        <m:t>80+80=160</m:t>
                      </m:r>
                    </m:oMath>
                  </m:oMathPara>
                </a14:m>
                <a:endParaRPr lang="en-GB"/>
              </a:p>
              <a:p>
                <a:r>
                  <a:rPr lang="en-GB"/>
                  <a:t>Therefore </a:t>
                </a:r>
                <a14:m>
                  <m:oMath xmlns:m="http://schemas.openxmlformats.org/officeDocument/2006/math">
                    <m:r>
                      <a:rPr lang="en-GB" i="1">
                        <a:latin typeface="Cambria Math" panose="02040503050406030204" pitchFamily="18" charset="0"/>
                      </a:rPr>
                      <m:t>𝐴𝐵</m:t>
                    </m:r>
                  </m:oMath>
                </a14:m>
                <a:r>
                  <a:rPr lang="en-GB"/>
                  <a:t> is the diameter.</a:t>
                </a:r>
              </a:p>
            </p:txBody>
          </p:sp>
        </mc:Choice>
        <mc:Fallback>
          <p:sp>
            <p:nvSpPr>
              <p:cNvPr id="6" name="TextBox 5"/>
              <p:cNvSpPr txBox="1">
                <a:spLocks noRot="1" noChangeAspect="1" noMove="1" noResize="1" noEditPoints="1" noAdjustHandles="1" noChangeArrowheads="1" noChangeShapeType="1" noTextEdit="1"/>
              </p:cNvSpPr>
              <p:nvPr/>
            </p:nvSpPr>
            <p:spPr>
              <a:xfrm>
                <a:off x="1863878" y="2086388"/>
                <a:ext cx="3888432" cy="2506648"/>
              </a:xfrm>
              <a:prstGeom prst="rect">
                <a:avLst/>
              </a:prstGeom>
              <a:blipFill>
                <a:blip r:embed="rId3"/>
                <a:stretch>
                  <a:fillRect l="-1299" t="-1010" b="-3535"/>
                </a:stretch>
              </a:blipFill>
            </p:spPr>
            <p:txBody>
              <a:bodyPr/>
              <a:lstStyle/>
              <a:p>
                <a:r>
                  <a:rPr lang="en-US">
                    <a:noFill/>
                  </a:rPr>
                  <a:t> </a:t>
                </a:r>
              </a:p>
            </p:txBody>
          </p:sp>
        </mc:Fallback>
      </mc:AlternateContent>
      <p:sp>
        <p:nvSpPr>
          <p:cNvPr id="7" name="Oval 6"/>
          <p:cNvSpPr/>
          <p:nvPr/>
        </p:nvSpPr>
        <p:spPr>
          <a:xfrm>
            <a:off x="8685504" y="850622"/>
            <a:ext cx="1584176" cy="1528688"/>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GB"/>
          </a:p>
        </p:txBody>
      </p:sp>
      <p:sp>
        <p:nvSpPr>
          <p:cNvPr id="8" name="Freeform: Shape 7"/>
          <p:cNvSpPr/>
          <p:nvPr/>
        </p:nvSpPr>
        <p:spPr>
          <a:xfrm>
            <a:off x="8700978" y="925033"/>
            <a:ext cx="1552353" cy="893135"/>
          </a:xfrm>
          <a:custGeom>
            <a:avLst/>
            <a:gdLst>
              <a:gd name="connsiteX0" fmla="*/ 0 w 1552353"/>
              <a:gd name="connsiteY0" fmla="*/ 893135 h 893135"/>
              <a:gd name="connsiteX1" fmla="*/ 1552353 w 1552353"/>
              <a:gd name="connsiteY1" fmla="*/ 542261 h 893135"/>
              <a:gd name="connsiteX2" fmla="*/ 457200 w 1552353"/>
              <a:gd name="connsiteY2" fmla="*/ 0 h 893135"/>
              <a:gd name="connsiteX3" fmla="*/ 0 w 1552353"/>
              <a:gd name="connsiteY3" fmla="*/ 893135 h 893135"/>
            </a:gdLst>
            <a:ahLst/>
            <a:cxnLst>
              <a:cxn ang="0">
                <a:pos x="connsiteX0" y="connsiteY0"/>
              </a:cxn>
              <a:cxn ang="0">
                <a:pos x="connsiteX1" y="connsiteY1"/>
              </a:cxn>
              <a:cxn ang="0">
                <a:pos x="connsiteX2" y="connsiteY2"/>
              </a:cxn>
              <a:cxn ang="0">
                <a:pos x="connsiteX3" y="connsiteY3"/>
              </a:cxn>
            </a:cxnLst>
            <a:rect l="l" t="t" r="r" b="b"/>
            <a:pathLst>
              <a:path w="1552353" h="893135">
                <a:moveTo>
                  <a:pt x="0" y="893135"/>
                </a:moveTo>
                <a:lnTo>
                  <a:pt x="1552353" y="542261"/>
                </a:lnTo>
                <a:lnTo>
                  <a:pt x="457200" y="0"/>
                </a:lnTo>
                <a:lnTo>
                  <a:pt x="0" y="893135"/>
                </a:lnTo>
                <a:close/>
              </a:path>
            </a:pathLst>
          </a:custGeom>
        </p:spPr>
        <p:style>
          <a:lnRef idx="2">
            <a:schemeClr val="dk1"/>
          </a:lnRef>
          <a:fillRef idx="1">
            <a:schemeClr val="lt1"/>
          </a:fillRef>
          <a:effectRef idx="0">
            <a:schemeClr val="dk1"/>
          </a:effectRef>
          <a:fontRef idx="minor">
            <a:schemeClr val="dk1"/>
          </a:fontRef>
        </p:style>
        <p:txBody>
          <a:bodyPr rtlCol="0" anchor="ctr"/>
          <a:lstStyle/>
          <a:p>
            <a:pPr algn="ctr"/>
            <a:endParaRPr lang="en-GB"/>
          </a:p>
        </p:txBody>
      </p:sp>
      <mc:AlternateContent xmlns:mc="http://schemas.openxmlformats.org/markup-compatibility/2006">
        <mc:Choice xmlns:a14="http://schemas.microsoft.com/office/drawing/2010/main" Requires="a14">
          <p:sp>
            <p:nvSpPr>
              <p:cNvPr id="9" name="TextBox 8"/>
              <p:cNvSpPr txBox="1"/>
              <p:nvPr/>
            </p:nvSpPr>
            <p:spPr>
              <a:xfrm>
                <a:off x="8047914" y="1759325"/>
                <a:ext cx="576064" cy="276999"/>
              </a:xfrm>
              <a:prstGeom prst="rect">
                <a:avLst/>
              </a:prstGeom>
              <a:noFill/>
            </p:spPr>
            <p:txBody>
              <a:bodyPr wrap="square" rtlCol="0">
                <a:spAutoFit/>
              </a:bodyPr>
              <a:lstStyle/>
              <a:p>
                <a:pPr/>
                <a14:m>
                  <m:oMathPara xmlns:m="http://schemas.openxmlformats.org/officeDocument/2006/math">
                    <m:oMath>
                      <m:r>
                        <a:rPr lang="en-GB" sz="1200" i="1">
                          <a:latin typeface="Cambria Math" panose="02040503050406030204" pitchFamily="18" charset="0"/>
                        </a:rPr>
                        <m:t>𝐴</m:t>
                      </m:r>
                      <m:d>
                        <m:dPr>
                          <m:ctrlPr>
                            <a:rPr lang="en-GB" sz="1200" i="1">
                              <a:latin typeface="Cambria Math" panose="02040503050406030204" pitchFamily="18" charset="0"/>
                            </a:rPr>
                          </m:ctrlPr>
                        </m:dPr>
                        <m:e>
                          <m:r>
                            <a:rPr lang="en-GB" sz="1200" i="1">
                              <a:latin typeface="Cambria Math" panose="02040503050406030204" pitchFamily="18" charset="0"/>
                            </a:rPr>
                            <m:t>−8,1</m:t>
                          </m:r>
                        </m:e>
                      </m:d>
                    </m:oMath>
                  </m:oMathPara>
                </a14:m>
                <a:endParaRPr lang="en-GB"/>
              </a:p>
            </p:txBody>
          </p:sp>
        </mc:Choice>
        <mc:Fallback>
          <p:sp>
            <p:nvSpPr>
              <p:cNvPr id="9" name="TextBox 8"/>
              <p:cNvSpPr txBox="1">
                <a:spLocks noRot="1" noChangeAspect="1" noMove="1" noResize="1" noEditPoints="1" noAdjustHandles="1" noChangeArrowheads="1" noChangeShapeType="1" noTextEdit="1"/>
              </p:cNvSpPr>
              <p:nvPr/>
            </p:nvSpPr>
            <p:spPr>
              <a:xfrm>
                <a:off x="8047914" y="1759325"/>
                <a:ext cx="576064" cy="276999"/>
              </a:xfrm>
              <a:prstGeom prst="rect">
                <a:avLst/>
              </a:prstGeom>
              <a:blipFill>
                <a:blip r:embed="rId4"/>
                <a:stretch>
                  <a:fillRect r="-6383"/>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0" name="TextBox 9"/>
              <p:cNvSpPr txBox="1"/>
              <p:nvPr/>
            </p:nvSpPr>
            <p:spPr>
              <a:xfrm>
                <a:off x="10130793" y="1371065"/>
                <a:ext cx="803021" cy="276999"/>
              </a:xfrm>
              <a:prstGeom prst="rect">
                <a:avLst/>
              </a:prstGeom>
              <a:noFill/>
            </p:spPr>
            <p:txBody>
              <a:bodyPr wrap="square" rtlCol="0">
                <a:spAutoFit/>
              </a:bodyPr>
              <a:lstStyle/>
              <a:p>
                <a:pPr/>
                <a14:m>
                  <m:oMathPara xmlns:m="http://schemas.openxmlformats.org/officeDocument/2006/math">
                    <m:oMath>
                      <m:r>
                        <a:rPr lang="en-GB" sz="1200" i="1">
                          <a:latin typeface="Cambria Math" panose="02040503050406030204" pitchFamily="18" charset="0"/>
                        </a:rPr>
                        <m:t>𝐵</m:t>
                      </m:r>
                      <m:d>
                        <m:dPr>
                          <m:ctrlPr>
                            <a:rPr lang="en-GB" sz="1200" i="1">
                              <a:latin typeface="Cambria Math" panose="02040503050406030204" pitchFamily="18" charset="0"/>
                            </a:rPr>
                          </m:ctrlPr>
                        </m:dPr>
                        <m:e>
                          <m:r>
                            <a:rPr lang="en-GB" sz="1200" i="1">
                              <a:latin typeface="Cambria Math" panose="02040503050406030204" pitchFamily="18" charset="0"/>
                            </a:rPr>
                            <m:t>4,5</m:t>
                          </m:r>
                        </m:e>
                      </m:d>
                    </m:oMath>
                  </m:oMathPara>
                </a14:m>
                <a:endParaRPr lang="en-GB"/>
              </a:p>
            </p:txBody>
          </p:sp>
        </mc:Choice>
        <mc:Fallback>
          <p:sp>
            <p:nvSpPr>
              <p:cNvPr id="10" name="TextBox 9"/>
              <p:cNvSpPr txBox="1">
                <a:spLocks noRot="1" noChangeAspect="1" noMove="1" noResize="1" noEditPoints="1" noAdjustHandles="1" noChangeArrowheads="1" noChangeShapeType="1" noTextEdit="1"/>
              </p:cNvSpPr>
              <p:nvPr/>
            </p:nvSpPr>
            <p:spPr>
              <a:xfrm>
                <a:off x="10130793" y="1371065"/>
                <a:ext cx="803021" cy="276999"/>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1" name="TextBox 10"/>
              <p:cNvSpPr txBox="1"/>
              <p:nvPr/>
            </p:nvSpPr>
            <p:spPr>
              <a:xfrm>
                <a:off x="8610338" y="630286"/>
                <a:ext cx="803021" cy="276999"/>
              </a:xfrm>
              <a:prstGeom prst="rect">
                <a:avLst/>
              </a:prstGeom>
              <a:noFill/>
            </p:spPr>
            <p:txBody>
              <a:bodyPr wrap="square" rtlCol="0">
                <a:spAutoFit/>
              </a:bodyPr>
              <a:lstStyle/>
              <a:p>
                <a:pPr/>
                <a14:m>
                  <m:oMathPara xmlns:m="http://schemas.openxmlformats.org/officeDocument/2006/math">
                    <m:oMath>
                      <m:r>
                        <a:rPr lang="en-GB" sz="1200" i="1">
                          <a:latin typeface="Cambria Math" panose="02040503050406030204" pitchFamily="18" charset="0"/>
                        </a:rPr>
                        <m:t>𝐶</m:t>
                      </m:r>
                      <m:d>
                        <m:dPr>
                          <m:ctrlPr>
                            <a:rPr lang="en-GB" sz="1200" i="1">
                              <a:latin typeface="Cambria Math" panose="02040503050406030204" pitchFamily="18" charset="0"/>
                            </a:rPr>
                          </m:ctrlPr>
                        </m:dPr>
                        <m:e>
                          <m:r>
                            <a:rPr lang="en-GB" sz="1200" i="1">
                              <a:latin typeface="Cambria Math" panose="02040503050406030204" pitchFamily="18" charset="0"/>
                            </a:rPr>
                            <m:t>−4,9</m:t>
                          </m:r>
                        </m:e>
                      </m:d>
                    </m:oMath>
                  </m:oMathPara>
                </a14:m>
                <a:endParaRPr lang="en-GB"/>
              </a:p>
            </p:txBody>
          </p:sp>
        </mc:Choice>
        <mc:Fallback>
          <p:sp>
            <p:nvSpPr>
              <p:cNvPr id="11" name="TextBox 10"/>
              <p:cNvSpPr txBox="1">
                <a:spLocks noRot="1" noChangeAspect="1" noMove="1" noResize="1" noEditPoints="1" noAdjustHandles="1" noChangeArrowheads="1" noChangeShapeType="1" noTextEdit="1"/>
              </p:cNvSpPr>
              <p:nvPr/>
            </p:nvSpPr>
            <p:spPr>
              <a:xfrm>
                <a:off x="8610338" y="630286"/>
                <a:ext cx="803021" cy="276999"/>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2" name="TextBox 11"/>
              <p:cNvSpPr txBox="1"/>
              <p:nvPr/>
            </p:nvSpPr>
            <p:spPr>
              <a:xfrm>
                <a:off x="5752824" y="2099917"/>
                <a:ext cx="3888432" cy="3311932"/>
              </a:xfrm>
              <a:prstGeom prst="rect">
                <a:avLst/>
              </a:prstGeom>
              <a:noFill/>
            </p:spPr>
            <p:txBody>
              <a:bodyPr wrap="square" rtlCol="0">
                <a:spAutoFit/>
              </a:bodyPr>
              <a:lstStyle/>
              <a:p>
                <a:r>
                  <a:rPr lang="en-GB" b="1"/>
                  <a:t>Method 2: (not in textbook!)</a:t>
                </a:r>
              </a:p>
              <a:p>
                <a:r>
                  <a:rPr lang="en-GB"/>
                  <a:t>Show that </a:t>
                </a:r>
                <a14:m>
                  <m:oMath xmlns:m="http://schemas.openxmlformats.org/officeDocument/2006/math">
                    <m:r>
                      <a:rPr lang="en-GB" i="1">
                        <a:latin typeface="Cambria Math" panose="02040503050406030204" pitchFamily="18" charset="0"/>
                      </a:rPr>
                      <m:t>𝐴𝐶</m:t>
                    </m:r>
                  </m:oMath>
                </a14:m>
                <a:r>
                  <a:rPr lang="en-GB"/>
                  <a:t> is perpendicular to </a:t>
                </a:r>
                <a14:m>
                  <m:oMath xmlns:m="http://schemas.openxmlformats.org/officeDocument/2006/math">
                    <m:r>
                      <a:rPr lang="en-GB" i="1">
                        <a:latin typeface="Cambria Math" panose="02040503050406030204" pitchFamily="18" charset="0"/>
                      </a:rPr>
                      <m:t>𝐵𝐶</m:t>
                    </m:r>
                  </m:oMath>
                </a14:m>
                <a:r>
                  <a:rPr lang="en-GB"/>
                  <a:t>.</a:t>
                </a:r>
              </a:p>
              <a:p>
                <a:endParaRPr lang="en-GB"/>
              </a:p>
              <a:p>
                <a:pPr/>
                <a14:m>
                  <m:oMathPara xmlns:m="http://schemas.openxmlformats.org/officeDocument/2006/math">
                    <m:oMath>
                      <m:sSub>
                        <m:sSubPr>
                          <m:ctrlPr>
                            <a:rPr lang="en-GB" i="1">
                              <a:latin typeface="Cambria Math" panose="02040503050406030204" pitchFamily="18" charset="0"/>
                            </a:rPr>
                          </m:ctrlPr>
                        </m:sSubPr>
                        <m:e>
                          <m:r>
                            <a:rPr lang="en-GB" i="1">
                              <a:latin typeface="Cambria Math" panose="02040503050406030204" pitchFamily="18" charset="0"/>
                            </a:rPr>
                            <m:t>𝑚</m:t>
                          </m:r>
                        </m:e>
                        <m:sub>
                          <m:r>
                            <a:rPr lang="en-GB" i="1">
                              <a:latin typeface="Cambria Math" panose="02040503050406030204" pitchFamily="18" charset="0"/>
                            </a:rPr>
                            <m:t>𝐴𝐶</m:t>
                          </m:r>
                        </m:sub>
                      </m:sSub>
                      <m:r>
                        <a:rPr lang="en-GB" i="1">
                          <a:latin typeface="Cambria Math" panose="02040503050406030204" pitchFamily="18" charset="0"/>
                        </a:rPr>
                        <m:t>=</m:t>
                      </m:r>
                      <m:f>
                        <m:fPr>
                          <m:ctrlPr>
                            <a:rPr lang="en-GB" i="1">
                              <a:latin typeface="Cambria Math" panose="02040503050406030204" pitchFamily="18" charset="0"/>
                            </a:rPr>
                          </m:ctrlPr>
                        </m:fPr>
                        <m:num>
                          <m:r>
                            <a:rPr lang="en-GB" i="1">
                              <a:latin typeface="Cambria Math" panose="02040503050406030204" pitchFamily="18" charset="0"/>
                            </a:rPr>
                            <m:t>8</m:t>
                          </m:r>
                        </m:num>
                        <m:den>
                          <m:r>
                            <a:rPr lang="en-GB" i="1">
                              <a:latin typeface="Cambria Math" panose="02040503050406030204" pitchFamily="18" charset="0"/>
                            </a:rPr>
                            <m:t>4</m:t>
                          </m:r>
                        </m:den>
                      </m:f>
                      <m:r>
                        <a:rPr lang="en-GB" i="1">
                          <a:latin typeface="Cambria Math" panose="02040503050406030204" pitchFamily="18" charset="0"/>
                        </a:rPr>
                        <m:t>=2</m:t>
                      </m:r>
                    </m:oMath>
                    <m:oMath>
                      <m:sSub>
                        <m:sSubPr>
                          <m:ctrlPr>
                            <a:rPr lang="en-GB" i="1">
                              <a:latin typeface="Cambria Math" panose="02040503050406030204" pitchFamily="18" charset="0"/>
                            </a:rPr>
                          </m:ctrlPr>
                        </m:sSubPr>
                        <m:e>
                          <m:r>
                            <a:rPr lang="en-GB" i="1">
                              <a:latin typeface="Cambria Math" panose="02040503050406030204" pitchFamily="18" charset="0"/>
                            </a:rPr>
                            <m:t>𝑚</m:t>
                          </m:r>
                        </m:e>
                        <m:sub>
                          <m:r>
                            <a:rPr lang="en-GB" i="1">
                              <a:latin typeface="Cambria Math" panose="02040503050406030204" pitchFamily="18" charset="0"/>
                            </a:rPr>
                            <m:t>𝐶𝐵</m:t>
                          </m:r>
                        </m:sub>
                      </m:sSub>
                      <m:r>
                        <a:rPr lang="en-GB" i="1">
                          <a:latin typeface="Cambria Math" panose="02040503050406030204" pitchFamily="18" charset="0"/>
                        </a:rPr>
                        <m:t>=−</m:t>
                      </m:r>
                      <m:f>
                        <m:fPr>
                          <m:ctrlPr>
                            <a:rPr lang="en-GB" i="1">
                              <a:latin typeface="Cambria Math" panose="02040503050406030204" pitchFamily="18" charset="0"/>
                            </a:rPr>
                          </m:ctrlPr>
                        </m:fPr>
                        <m:num>
                          <m:r>
                            <a:rPr lang="en-GB" i="1">
                              <a:latin typeface="Cambria Math" panose="02040503050406030204" pitchFamily="18" charset="0"/>
                            </a:rPr>
                            <m:t>4</m:t>
                          </m:r>
                        </m:num>
                        <m:den>
                          <m:r>
                            <a:rPr lang="en-GB" i="1">
                              <a:latin typeface="Cambria Math" panose="02040503050406030204" pitchFamily="18" charset="0"/>
                            </a:rPr>
                            <m:t>8</m:t>
                          </m:r>
                        </m:den>
                      </m:f>
                      <m:r>
                        <a:rPr lang="en-GB" i="1">
                          <a:latin typeface="Cambria Math" panose="02040503050406030204" pitchFamily="18" charset="0"/>
                        </a:rPr>
                        <m:t>=−</m:t>
                      </m:r>
                      <m:f>
                        <m:fPr>
                          <m:ctrlPr>
                            <a:rPr lang="en-GB" i="1">
                              <a:latin typeface="Cambria Math" panose="02040503050406030204" pitchFamily="18" charset="0"/>
                            </a:rPr>
                          </m:ctrlPr>
                        </m:fPr>
                        <m:num>
                          <m:r>
                            <a:rPr lang="en-GB" i="1">
                              <a:latin typeface="Cambria Math" panose="02040503050406030204" pitchFamily="18" charset="0"/>
                            </a:rPr>
                            <m:t>1</m:t>
                          </m:r>
                        </m:num>
                        <m:den>
                          <m:r>
                            <a:rPr lang="en-GB" i="1">
                              <a:latin typeface="Cambria Math" panose="02040503050406030204" pitchFamily="18" charset="0"/>
                            </a:rPr>
                            <m:t>2</m:t>
                          </m:r>
                        </m:den>
                      </m:f>
                    </m:oMath>
                    <m:oMath>
                      <m:r>
                        <a:rPr lang="en-GB" i="1">
                          <a:latin typeface="Cambria Math" panose="02040503050406030204" pitchFamily="18" charset="0"/>
                        </a:rPr>
                        <m:t>2×−</m:t>
                      </m:r>
                      <m:f>
                        <m:fPr>
                          <m:ctrlPr>
                            <a:rPr lang="en-GB" i="1">
                              <a:latin typeface="Cambria Math" panose="02040503050406030204" pitchFamily="18" charset="0"/>
                            </a:rPr>
                          </m:ctrlPr>
                        </m:fPr>
                        <m:num>
                          <m:r>
                            <a:rPr lang="en-GB" i="1">
                              <a:latin typeface="Cambria Math" panose="02040503050406030204" pitchFamily="18" charset="0"/>
                            </a:rPr>
                            <m:t>1</m:t>
                          </m:r>
                        </m:num>
                        <m:den>
                          <m:r>
                            <a:rPr lang="en-GB" i="1">
                              <a:latin typeface="Cambria Math" panose="02040503050406030204" pitchFamily="18" charset="0"/>
                            </a:rPr>
                            <m:t>2</m:t>
                          </m:r>
                        </m:den>
                      </m:f>
                      <m:r>
                        <a:rPr lang="en-GB" i="1">
                          <a:latin typeface="Cambria Math" panose="02040503050406030204" pitchFamily="18" charset="0"/>
                        </a:rPr>
                        <m:t>=−1</m:t>
                      </m:r>
                    </m:oMath>
                  </m:oMathPara>
                </a14:m>
                <a:br>
                  <a:rPr lang="en-GB"/>
                </a:br>
                <a14:m>
                  <m:oMath xmlns:m="http://schemas.openxmlformats.org/officeDocument/2006/math">
                    <m:r>
                      <a:rPr lang="en-GB" i="1">
                        <a:latin typeface="Cambria Math" panose="02040503050406030204" pitchFamily="18" charset="0"/>
                      </a:rPr>
                      <m:t>∴</m:t>
                    </m:r>
                  </m:oMath>
                </a14:m>
                <a:r>
                  <a:rPr lang="en-GB"/>
                  <a:t> </a:t>
                </a:r>
                <a14:m>
                  <m:oMath xmlns:m="http://schemas.openxmlformats.org/officeDocument/2006/math">
                    <m:r>
                      <a:rPr lang="en-GB" i="1" dirty="0">
                        <a:latin typeface="Cambria Math" panose="02040503050406030204" pitchFamily="18" charset="0"/>
                      </a:rPr>
                      <m:t>𝐴𝐶</m:t>
                    </m:r>
                  </m:oMath>
                </a14:m>
                <a:r>
                  <a:rPr lang="en-GB"/>
                  <a:t> is perpendicular to </a:t>
                </a:r>
                <a14:m>
                  <m:oMath xmlns:m="http://schemas.openxmlformats.org/officeDocument/2006/math">
                    <m:r>
                      <a:rPr lang="en-GB" i="1">
                        <a:latin typeface="Cambria Math" panose="02040503050406030204" pitchFamily="18" charset="0"/>
                      </a:rPr>
                      <m:t>𝐵𝐶</m:t>
                    </m:r>
                  </m:oMath>
                </a14:m>
                <a:endParaRPr lang="en-GB"/>
              </a:p>
              <a:p>
                <a:r>
                  <a:rPr lang="en-GB"/>
                  <a:t>Therefore </a:t>
                </a:r>
                <a14:m>
                  <m:oMath xmlns:m="http://schemas.openxmlformats.org/officeDocument/2006/math">
                    <m:r>
                      <a:rPr lang="en-GB" i="1">
                        <a:latin typeface="Cambria Math" panose="02040503050406030204" pitchFamily="18" charset="0"/>
                      </a:rPr>
                      <m:t>𝐴𝐵</m:t>
                    </m:r>
                  </m:oMath>
                </a14:m>
                <a:r>
                  <a:rPr lang="en-GB"/>
                  <a:t> is the diameter.</a:t>
                </a:r>
              </a:p>
              <a:p>
                <a:endParaRPr lang="en-GB"/>
              </a:p>
            </p:txBody>
          </p:sp>
        </mc:Choice>
        <mc:Fallback>
          <p:sp>
            <p:nvSpPr>
              <p:cNvPr id="12" name="TextBox 11"/>
              <p:cNvSpPr txBox="1">
                <a:spLocks noRot="1" noChangeAspect="1" noMove="1" noResize="1" noEditPoints="1" noAdjustHandles="1" noChangeArrowheads="1" noChangeShapeType="1" noTextEdit="1"/>
              </p:cNvSpPr>
              <p:nvPr/>
            </p:nvSpPr>
            <p:spPr>
              <a:xfrm>
                <a:off x="5752824" y="2099917"/>
                <a:ext cx="3888432" cy="3311932"/>
              </a:xfrm>
              <a:prstGeom prst="rect">
                <a:avLst/>
              </a:prstGeom>
              <a:blipFill>
                <a:blip r:embed="rId7"/>
                <a:stretch>
                  <a:fillRect l="-1629" t="-763"/>
                </a:stretch>
              </a:blipFill>
            </p:spPr>
            <p:txBody>
              <a:bodyPr/>
              <a:lstStyle/>
              <a:p>
                <a:r>
                  <a:rPr lang="en-US">
                    <a:noFill/>
                  </a:rPr>
                  <a:t> </a:t>
                </a:r>
              </a:p>
            </p:txBody>
          </p:sp>
        </mc:Fallback>
      </mc:AlternateContent>
      <p:sp>
        <p:nvSpPr>
          <p:cNvPr id="13" name="Rectangle 12"/>
          <p:cNvSpPr/>
          <p:nvPr/>
        </p:nvSpPr>
        <p:spPr>
          <a:xfrm>
            <a:off x="1905426" y="2426650"/>
            <a:ext cx="3276174" cy="2762038"/>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
        <p:nvSpPr>
          <p:cNvPr id="14" name="Rectangle 13"/>
          <p:cNvSpPr/>
          <p:nvPr/>
        </p:nvSpPr>
        <p:spPr>
          <a:xfrm>
            <a:off x="5752310" y="2426650"/>
            <a:ext cx="3710174" cy="2762038"/>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
        <p:nvSpPr>
          <p:cNvPr id="15" name="TextBox 14"/>
          <p:cNvSpPr txBox="1"/>
          <p:nvPr/>
        </p:nvSpPr>
        <p:spPr>
          <a:xfrm>
            <a:off x="1908903" y="5491273"/>
            <a:ext cx="6208750" cy="369332"/>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a:t>b) Hence find the equation of the circle.</a:t>
            </a:r>
          </a:p>
        </p:txBody>
      </p:sp>
      <mc:AlternateContent xmlns:mc="http://schemas.openxmlformats.org/markup-compatibility/2006">
        <mc:Choice xmlns:a14="http://schemas.microsoft.com/office/drawing/2010/main" Requires="a14">
          <p:sp>
            <p:nvSpPr>
              <p:cNvPr id="16" name="TextBox 15"/>
              <p:cNvSpPr txBox="1"/>
              <p:nvPr/>
            </p:nvSpPr>
            <p:spPr>
              <a:xfrm>
                <a:off x="2597087" y="5891277"/>
                <a:ext cx="3672408" cy="957250"/>
              </a:xfrm>
              <a:prstGeom prst="rect">
                <a:avLst/>
              </a:prstGeom>
              <a:noFill/>
            </p:spPr>
            <p:txBody>
              <a:bodyPr wrap="square" rtlCol="0">
                <a:spAutoFit/>
              </a:bodyPr>
              <a:lstStyle/>
              <a:p>
                <a:r>
                  <a:rPr lang="en-GB"/>
                  <a:t>Centre is midpoint of </a:t>
                </a:r>
                <a14:m>
                  <m:oMath xmlns:m="http://schemas.openxmlformats.org/officeDocument/2006/math">
                    <m:r>
                      <a:rPr lang="en-GB" i="1">
                        <a:latin typeface="Cambria Math" panose="02040503050406030204" pitchFamily="18" charset="0"/>
                      </a:rPr>
                      <m:t>𝐴𝐵</m:t>
                    </m:r>
                  </m:oMath>
                </a14:m>
                <a:r>
                  <a:rPr lang="en-GB"/>
                  <a:t>: </a:t>
                </a:r>
                <a14:m>
                  <m:oMath xmlns:m="http://schemas.openxmlformats.org/officeDocument/2006/math">
                    <m:r>
                      <a:rPr lang="en-GB" i="1">
                        <a:latin typeface="Cambria Math" panose="02040503050406030204" pitchFamily="18" charset="0"/>
                      </a:rPr>
                      <m:t>𝑀</m:t>
                    </m:r>
                    <m:d>
                      <m:dPr>
                        <m:ctrlPr>
                          <a:rPr lang="en-GB" i="1">
                            <a:latin typeface="Cambria Math" panose="02040503050406030204" pitchFamily="18" charset="0"/>
                          </a:rPr>
                        </m:ctrlPr>
                      </m:dPr>
                      <m:e>
                        <m:r>
                          <a:rPr lang="en-GB" i="1">
                            <a:latin typeface="Cambria Math" panose="02040503050406030204" pitchFamily="18" charset="0"/>
                          </a:rPr>
                          <m:t>−2,3</m:t>
                        </m:r>
                      </m:e>
                    </m:d>
                  </m:oMath>
                </a14:m>
                <a:endParaRPr lang="en-GB"/>
              </a:p>
              <a:p>
                <a:r>
                  <a:rPr lang="en-GB"/>
                  <a:t>Radius: </a:t>
                </a:r>
                <a14:m>
                  <m:oMath xmlns:m="http://schemas.openxmlformats.org/officeDocument/2006/math">
                    <m:r>
                      <a:rPr lang="en-GB" i="1">
                        <a:latin typeface="Cambria Math" panose="02040503050406030204" pitchFamily="18" charset="0"/>
                      </a:rPr>
                      <m:t>𝑟</m:t>
                    </m:r>
                    <m:r>
                      <a:rPr lang="en-GB" i="1">
                        <a:latin typeface="Cambria Math" panose="02040503050406030204" pitchFamily="18" charset="0"/>
                      </a:rPr>
                      <m:t>=</m:t>
                    </m:r>
                    <m:r>
                      <a:rPr lang="en-GB" i="1">
                        <a:latin typeface="Cambria Math" panose="02040503050406030204" pitchFamily="18" charset="0"/>
                      </a:rPr>
                      <m:t>𝐴𝑀</m:t>
                    </m:r>
                    <m:r>
                      <a:rPr lang="en-GB" i="1">
                        <a:latin typeface="Cambria Math" panose="02040503050406030204" pitchFamily="18" charset="0"/>
                      </a:rPr>
                      <m:t>=</m:t>
                    </m:r>
                    <m:rad>
                      <m:radPr>
                        <m:degHide m:val="on"/>
                        <m:ctrlPr>
                          <a:rPr lang="en-GB" i="1">
                            <a:latin typeface="Cambria Math" panose="02040503050406030204" pitchFamily="18" charset="0"/>
                          </a:rPr>
                        </m:ctrlPr>
                      </m:radPr>
                      <m:deg/>
                      <m:e>
                        <m:sSup>
                          <m:sSupPr>
                            <m:ctrlPr>
                              <a:rPr lang="en-GB" i="1">
                                <a:latin typeface="Cambria Math" panose="02040503050406030204" pitchFamily="18" charset="0"/>
                              </a:rPr>
                            </m:ctrlPr>
                          </m:sSupPr>
                          <m:e>
                            <m:r>
                              <a:rPr lang="en-GB" i="1">
                                <a:latin typeface="Cambria Math" panose="02040503050406030204" pitchFamily="18" charset="0"/>
                              </a:rPr>
                              <m:t>6</m:t>
                            </m:r>
                          </m:e>
                          <m:sup>
                            <m:r>
                              <a:rPr lang="en-GB" i="1">
                                <a:latin typeface="Cambria Math" panose="02040503050406030204" pitchFamily="18" charset="0"/>
                              </a:rPr>
                              <m:t>2</m:t>
                            </m:r>
                          </m:sup>
                        </m:sSup>
                        <m:r>
                          <a:rPr lang="en-GB" i="1">
                            <a:latin typeface="Cambria Math" panose="02040503050406030204" pitchFamily="18" charset="0"/>
                          </a:rPr>
                          <m:t>+</m:t>
                        </m:r>
                        <m:sSup>
                          <m:sSupPr>
                            <m:ctrlPr>
                              <a:rPr lang="en-GB" i="1">
                                <a:latin typeface="Cambria Math" panose="02040503050406030204" pitchFamily="18" charset="0"/>
                              </a:rPr>
                            </m:ctrlPr>
                          </m:sSupPr>
                          <m:e>
                            <m:r>
                              <a:rPr lang="en-GB" i="1">
                                <a:latin typeface="Cambria Math" panose="02040503050406030204" pitchFamily="18" charset="0"/>
                              </a:rPr>
                              <m:t>2</m:t>
                            </m:r>
                          </m:e>
                          <m:sup>
                            <m:r>
                              <a:rPr lang="en-GB" i="1">
                                <a:latin typeface="Cambria Math" panose="02040503050406030204" pitchFamily="18" charset="0"/>
                              </a:rPr>
                              <m:t>2</m:t>
                            </m:r>
                          </m:sup>
                        </m:sSup>
                      </m:e>
                    </m:rad>
                    <m:r>
                      <a:rPr lang="en-GB" i="1">
                        <a:latin typeface="Cambria Math" panose="02040503050406030204" pitchFamily="18" charset="0"/>
                      </a:rPr>
                      <m:t>=</m:t>
                    </m:r>
                    <m:rad>
                      <m:radPr>
                        <m:degHide m:val="on"/>
                        <m:ctrlPr>
                          <a:rPr lang="en-GB" i="1">
                            <a:latin typeface="Cambria Math" panose="02040503050406030204" pitchFamily="18" charset="0"/>
                          </a:rPr>
                        </m:ctrlPr>
                      </m:radPr>
                      <m:deg/>
                      <m:e>
                        <m:r>
                          <a:rPr lang="en-GB" i="1">
                            <a:latin typeface="Cambria Math" panose="02040503050406030204" pitchFamily="18" charset="0"/>
                          </a:rPr>
                          <m:t>40</m:t>
                        </m:r>
                      </m:e>
                    </m:rad>
                  </m:oMath>
                </a14:m>
                <a:endParaRPr lang="en-GB"/>
              </a:p>
              <a:p>
                <a:pPr/>
                <a14:m>
                  <m:oMathPara xmlns:m="http://schemas.openxmlformats.org/officeDocument/2006/math">
                    <m:oMath>
                      <m:sSup>
                        <m:sSupPr>
                          <m:ctrlPr>
                            <a:rPr lang="en-GB" i="1">
                              <a:latin typeface="Cambria Math" panose="02040503050406030204" pitchFamily="18" charset="0"/>
                            </a:rPr>
                          </m:ctrlPr>
                        </m:sSupPr>
                        <m:e>
                          <m:d>
                            <m:dPr>
                              <m:ctrlPr>
                                <a:rPr lang="en-GB" i="1">
                                  <a:latin typeface="Cambria Math" panose="02040503050406030204" pitchFamily="18" charset="0"/>
                                </a:rPr>
                              </m:ctrlPr>
                            </m:dPr>
                            <m:e>
                              <m:r>
                                <a:rPr lang="en-GB" i="1">
                                  <a:latin typeface="Cambria Math" panose="02040503050406030204" pitchFamily="18" charset="0"/>
                                </a:rPr>
                                <m:t>𝑥</m:t>
                              </m:r>
                              <m:r>
                                <a:rPr lang="en-GB" i="1">
                                  <a:latin typeface="Cambria Math" panose="02040503050406030204" pitchFamily="18" charset="0"/>
                                </a:rPr>
                                <m:t>+2</m:t>
                              </m:r>
                            </m:e>
                          </m:d>
                        </m:e>
                        <m:sup>
                          <m:r>
                            <a:rPr lang="en-GB" i="1">
                              <a:latin typeface="Cambria Math" panose="02040503050406030204" pitchFamily="18" charset="0"/>
                            </a:rPr>
                            <m:t>2</m:t>
                          </m:r>
                        </m:sup>
                      </m:sSup>
                      <m:r>
                        <a:rPr lang="en-GB" i="1">
                          <a:latin typeface="Cambria Math" panose="02040503050406030204" pitchFamily="18" charset="0"/>
                        </a:rPr>
                        <m:t>+</m:t>
                      </m:r>
                      <m:sSup>
                        <m:sSupPr>
                          <m:ctrlPr>
                            <a:rPr lang="en-GB" i="1">
                              <a:latin typeface="Cambria Math" panose="02040503050406030204" pitchFamily="18" charset="0"/>
                            </a:rPr>
                          </m:ctrlPr>
                        </m:sSupPr>
                        <m:e>
                          <m:d>
                            <m:dPr>
                              <m:ctrlPr>
                                <a:rPr lang="en-GB" i="1">
                                  <a:latin typeface="Cambria Math" panose="02040503050406030204" pitchFamily="18" charset="0"/>
                                </a:rPr>
                              </m:ctrlPr>
                            </m:dPr>
                            <m:e>
                              <m:r>
                                <a:rPr lang="en-GB" i="1">
                                  <a:latin typeface="Cambria Math" panose="02040503050406030204" pitchFamily="18" charset="0"/>
                                </a:rPr>
                                <m:t>𝑦</m:t>
                              </m:r>
                              <m:r>
                                <a:rPr lang="en-GB" i="1">
                                  <a:latin typeface="Cambria Math" panose="02040503050406030204" pitchFamily="18" charset="0"/>
                                </a:rPr>
                                <m:t>−3</m:t>
                              </m:r>
                            </m:e>
                          </m:d>
                        </m:e>
                        <m:sup>
                          <m:r>
                            <a:rPr lang="en-GB" i="1">
                              <a:latin typeface="Cambria Math" panose="02040503050406030204" pitchFamily="18" charset="0"/>
                            </a:rPr>
                            <m:t>2</m:t>
                          </m:r>
                        </m:sup>
                      </m:sSup>
                      <m:r>
                        <a:rPr lang="en-GB" i="1">
                          <a:latin typeface="Cambria Math" panose="02040503050406030204" pitchFamily="18" charset="0"/>
                        </a:rPr>
                        <m:t>=40</m:t>
                      </m:r>
                    </m:oMath>
                  </m:oMathPara>
                </a14:m>
                <a:endParaRPr lang="en-GB"/>
              </a:p>
            </p:txBody>
          </p:sp>
        </mc:Choice>
        <mc:Fallback>
          <p:sp>
            <p:nvSpPr>
              <p:cNvPr id="16" name="TextBox 15"/>
              <p:cNvSpPr txBox="1">
                <a:spLocks noRot="1" noChangeAspect="1" noMove="1" noResize="1" noEditPoints="1" noAdjustHandles="1" noChangeArrowheads="1" noChangeShapeType="1" noTextEdit="1"/>
              </p:cNvSpPr>
              <p:nvPr/>
            </p:nvSpPr>
            <p:spPr>
              <a:xfrm>
                <a:off x="2597087" y="5891277"/>
                <a:ext cx="3672408" cy="957250"/>
              </a:xfrm>
              <a:prstGeom prst="rect">
                <a:avLst/>
              </a:prstGeom>
              <a:blipFill>
                <a:blip r:embed="rId8"/>
                <a:stretch>
                  <a:fillRect l="-1379" t="-2597" b="-2597"/>
                </a:stretch>
              </a:blipFill>
            </p:spPr>
            <p:txBody>
              <a:bodyPr/>
              <a:lstStyle/>
              <a:p>
                <a:r>
                  <a:rPr lang="en-US">
                    <a:noFill/>
                  </a:rPr>
                  <a:t> </a:t>
                </a:r>
              </a:p>
            </p:txBody>
          </p:sp>
        </mc:Fallback>
      </mc:AlternateContent>
      <p:sp>
        <p:nvSpPr>
          <p:cNvPr id="17" name="Rectangle 16"/>
          <p:cNvSpPr/>
          <p:nvPr/>
        </p:nvSpPr>
        <p:spPr>
          <a:xfrm>
            <a:off x="1901280" y="5891277"/>
            <a:ext cx="6216373" cy="902928"/>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Tree>
    <p:extLst>
      <p:ext uri="{BB962C8B-B14F-4D97-AF65-F5344CB8AC3E}">
        <p14:creationId xmlns:p14="http://schemas.microsoft.com/office/powerpoint/2010/main" val="827682125"/>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3"/>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3"/>
                                        </p:tgtEl>
                                      </p:cBhvr>
                                    </p:animEffect>
                                    <p:set>
                                      <p:cBhvr>
                                        <p:cTn id="7" dur="1" fill="hold">
                                          <p:stCondLst>
                                            <p:cond delay="499"/>
                                          </p:stCondLst>
                                        </p:cTn>
                                        <p:tgtEl>
                                          <p:spTgt spid="13"/>
                                        </p:tgtEl>
                                        <p:attrNameLst>
                                          <p:attrName>style.visibility</p:attrName>
                                        </p:attrNameLst>
                                      </p:cBhvr>
                                      <p:to>
                                        <p:strVal val="hidden"/>
                                      </p:to>
                                    </p:set>
                                  </p:childTnLst>
                                </p:cTn>
                              </p:par>
                            </p:childTnLst>
                          </p:cTn>
                        </p:par>
                      </p:childTnLst>
                    </p:cTn>
                  </p:par>
                </p:childTnLst>
              </p:cTn>
              <p:nextCondLst>
                <p:cond evt="onClick" delay="0">
                  <p:tgtEl>
                    <p:spTgt spid="13"/>
                  </p:tgtEl>
                </p:cond>
              </p:nextCondLst>
            </p:seq>
            <p:seq concurrent="1" nextAc="seek">
              <p:cTn id="8" restart="whenNotActive" fill="hold" evtFilter="cancelBubble" nodeType="interactiveSeq">
                <p:stCondLst>
                  <p:cond evt="onClick" delay="0">
                    <p:tgtEl>
                      <p:spTgt spid="14"/>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14"/>
                                        </p:tgtEl>
                                      </p:cBhvr>
                                    </p:animEffect>
                                    <p:set>
                                      <p:cBhvr>
                                        <p:cTn id="13" dur="1" fill="hold">
                                          <p:stCondLst>
                                            <p:cond delay="499"/>
                                          </p:stCondLst>
                                        </p:cTn>
                                        <p:tgtEl>
                                          <p:spTgt spid="14"/>
                                        </p:tgtEl>
                                        <p:attrNameLst>
                                          <p:attrName>style.visibility</p:attrName>
                                        </p:attrNameLst>
                                      </p:cBhvr>
                                      <p:to>
                                        <p:strVal val="hidden"/>
                                      </p:to>
                                    </p:set>
                                  </p:childTnLst>
                                </p:cTn>
                              </p:par>
                            </p:childTnLst>
                          </p:cTn>
                        </p:par>
                      </p:childTnLst>
                    </p:cTn>
                  </p:par>
                </p:childTnLst>
              </p:cTn>
              <p:nextCondLst>
                <p:cond evt="onClick" delay="0">
                  <p:tgtEl>
                    <p:spTgt spid="14"/>
                  </p:tgtEl>
                </p:cond>
              </p:nextCondLst>
            </p:seq>
            <p:seq concurrent="1" nextAc="seek">
              <p:cTn id="14" restart="whenNotActive" fill="hold" evtFilter="cancelBubble" nodeType="interactiveSeq">
                <p:stCondLst>
                  <p:cond evt="onClick" delay="0">
                    <p:tgtEl>
                      <p:spTgt spid="17"/>
                    </p:tgtEl>
                  </p:cond>
                </p:stCondLst>
                <p:endSync evt="end" delay="0">
                  <p:rtn val="all"/>
                </p:endSync>
                <p:childTnLst>
                  <p:par>
                    <p:cTn id="15" fill="hold">
                      <p:stCondLst>
                        <p:cond delay="0"/>
                      </p:stCondLst>
                      <p:childTnLst>
                        <p:par>
                          <p:cTn id="16" fill="hold">
                            <p:stCondLst>
                              <p:cond delay="0"/>
                            </p:stCondLst>
                            <p:childTnLst>
                              <p:par>
                                <p:cTn id="17" presetID="10" presetClass="exit" presetSubtype="0" fill="hold" grpId="0" nodeType="clickEffect">
                                  <p:stCondLst>
                                    <p:cond delay="0"/>
                                  </p:stCondLst>
                                  <p:childTnLst>
                                    <p:animEffect transition="out" filter="fade">
                                      <p:cBhvr>
                                        <p:cTn id="18" dur="500"/>
                                        <p:tgtEl>
                                          <p:spTgt spid="17"/>
                                        </p:tgtEl>
                                      </p:cBhvr>
                                    </p:animEffect>
                                    <p:set>
                                      <p:cBhvr>
                                        <p:cTn id="19" dur="1" fill="hold">
                                          <p:stCondLst>
                                            <p:cond delay="499"/>
                                          </p:stCondLst>
                                        </p:cTn>
                                        <p:tgtEl>
                                          <p:spTgt spid="17"/>
                                        </p:tgtEl>
                                        <p:attrNameLst>
                                          <p:attrName>style.visibility</p:attrName>
                                        </p:attrNameLst>
                                      </p:cBhvr>
                                      <p:to>
                                        <p:strVal val="hidden"/>
                                      </p:to>
                                    </p:set>
                                  </p:childTnLst>
                                </p:cTn>
                              </p:par>
                            </p:childTnLst>
                          </p:cTn>
                        </p:par>
                      </p:childTnLst>
                    </p:cTn>
                  </p:par>
                </p:childTnLst>
              </p:cTn>
              <p:nextCondLst>
                <p:cond evt="onClick" delay="0">
                  <p:tgtEl>
                    <p:spTgt spid="17"/>
                  </p:tgtEl>
                </p:cond>
              </p:nextCondLst>
            </p:seq>
          </p:childTnLst>
        </p:cTn>
      </p:par>
    </p:tnLst>
    <p:bldLst>
      <p:bldP spid="13" grpId="0" animBg="1"/>
      <p:bldP spid="14" grpId="0" animBg="1"/>
      <p:bldP spid="17" grpId="0" animBg="1"/>
    </p:bldLst>
  </p:timing>
</p:sld>
</file>

<file path=ppt/c6/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Box 1"/>
              <p:cNvSpPr txBox="1"/>
              <p:nvPr/>
            </p:nvSpPr>
            <p:spPr>
              <a:xfrm>
                <a:off x="1940801" y="1026979"/>
                <a:ext cx="6208750" cy="646331"/>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a:t>The points </a:t>
                </a:r>
                <a14:m>
                  <m:oMath xmlns:m="http://schemas.openxmlformats.org/officeDocument/2006/math">
                    <m:r>
                      <a:rPr lang="en-GB" i="1">
                        <a:latin typeface="Cambria Math" panose="02040503050406030204" pitchFamily="18" charset="0"/>
                      </a:rPr>
                      <m:t>𝐴</m:t>
                    </m:r>
                    <m:d>
                      <m:dPr>
                        <m:ctrlPr>
                          <a:rPr lang="en-GB" i="1">
                            <a:latin typeface="Cambria Math" panose="02040503050406030204" pitchFamily="18" charset="0"/>
                          </a:rPr>
                        </m:ctrlPr>
                      </m:dPr>
                      <m:e>
                        <m:r>
                          <a:rPr lang="en-GB" i="1">
                            <a:latin typeface="Cambria Math" panose="02040503050406030204" pitchFamily="18" charset="0"/>
                          </a:rPr>
                          <m:t>0,2</m:t>
                        </m:r>
                      </m:e>
                    </m:d>
                    <m:r>
                      <a:rPr lang="en-GB" i="1">
                        <a:latin typeface="Cambria Math" panose="02040503050406030204" pitchFamily="18" charset="0"/>
                      </a:rPr>
                      <m:t>, </m:t>
                    </m:r>
                    <m:r>
                      <a:rPr lang="en-GB" i="1">
                        <a:latin typeface="Cambria Math" panose="02040503050406030204" pitchFamily="18" charset="0"/>
                      </a:rPr>
                      <m:t>𝐵</m:t>
                    </m:r>
                    <m:d>
                      <m:dPr>
                        <m:ctrlPr>
                          <a:rPr lang="en-GB" i="1">
                            <a:latin typeface="Cambria Math" panose="02040503050406030204" pitchFamily="18" charset="0"/>
                          </a:rPr>
                        </m:ctrlPr>
                      </m:dPr>
                      <m:e>
                        <m:r>
                          <a:rPr lang="en-GB" i="1">
                            <a:latin typeface="Cambria Math" panose="02040503050406030204" pitchFamily="18" charset="0"/>
                          </a:rPr>
                          <m:t>2,0</m:t>
                        </m:r>
                      </m:e>
                    </m:d>
                    <m:r>
                      <a:rPr lang="en-GB" i="1">
                        <a:latin typeface="Cambria Math" panose="02040503050406030204" pitchFamily="18" charset="0"/>
                      </a:rPr>
                      <m:t>,</m:t>
                    </m:r>
                    <m:r>
                      <a:rPr lang="en-GB" i="1">
                        <a:latin typeface="Cambria Math" panose="02040503050406030204" pitchFamily="18" charset="0"/>
                      </a:rPr>
                      <m:t>𝐶</m:t>
                    </m:r>
                    <m:d>
                      <m:dPr>
                        <m:ctrlPr>
                          <a:rPr lang="en-GB" i="1">
                            <a:latin typeface="Cambria Math" panose="02040503050406030204" pitchFamily="18" charset="0"/>
                          </a:rPr>
                        </m:ctrlPr>
                      </m:dPr>
                      <m:e>
                        <m:r>
                          <a:rPr lang="en-GB" i="1">
                            <a:latin typeface="Cambria Math" panose="02040503050406030204" pitchFamily="18" charset="0"/>
                          </a:rPr>
                          <m:t>8,18</m:t>
                        </m:r>
                      </m:e>
                    </m:d>
                  </m:oMath>
                </a14:m>
                <a:r>
                  <a:rPr lang="en-GB"/>
                  <a:t> lie on the circumference of a circle. Determine the equation of the circle. </a:t>
                </a:r>
              </a:p>
            </p:txBody>
          </p:sp>
        </mc:Choice>
        <mc:Fallback>
          <p:sp>
            <p:nvSpPr>
              <p:cNvPr id="2" name="TextBox 1"/>
              <p:cNvSpPr txBox="1">
                <a:spLocks noRot="1" noChangeAspect="1" noMove="1" noResize="1" noEditPoints="1" noAdjustHandles="1" noChangeArrowheads="1" noChangeShapeType="1" noTextEdit="1"/>
              </p:cNvSpPr>
              <p:nvPr/>
            </p:nvSpPr>
            <p:spPr>
              <a:xfrm>
                <a:off x="1940801" y="1026979"/>
                <a:ext cx="6208750" cy="646331"/>
              </a:xfrm>
              <a:prstGeom prst="rect">
                <a:avLst/>
              </a:prstGeom>
              <a:blipFill>
                <a:blip r:embed="rId2"/>
                <a:stretch>
                  <a:fillRect b="-1563"/>
                </a:stretch>
              </a:blipFill>
              <a:effectLst>
                <a:outerShdw blurRad="63500" sx="102000" sy="102000" algn="ctr" rotWithShape="0">
                  <a:prstClr val="black">
                    <a:alpha val="40000"/>
                  </a:prstClr>
                </a:outerShdw>
              </a:effectLst>
            </p:spPr>
            <p:txBody>
              <a:bodyPr/>
              <a:lstStyle/>
              <a:p>
                <a:r>
                  <a:rPr lang="en-US">
                    <a:noFill/>
                  </a:rPr>
                  <a:t> </a:t>
                </a:r>
              </a:p>
            </p:txBody>
          </p:sp>
        </mc:Fallback>
      </mc:AlternateContent>
      <p:grpSp>
        <p:nvGrpSpPr>
          <p:cNvPr id="3" name="Group 2"/>
          <p:cNvGrpSpPr/>
          <p:nvPr/>
        </p:nvGrpSpPr>
        <p:grpSpPr>
          <a:xfrm>
            <a:off x="1524000" y="1"/>
            <a:ext cx="9143074" cy="599127"/>
            <a:chOff x="0" y="13335"/>
            <a:chExt cx="9144218" cy="599127"/>
          </a:xfrm>
        </p:grpSpPr>
        <p:sp>
          <p:nvSpPr>
            <p:cNvPr id="4"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a:t>Example</a:t>
              </a:r>
            </a:p>
          </p:txBody>
        </p:sp>
        <p:cxnSp>
          <p:nvCxnSpPr>
            <p:cNvPr id="5" name="Straight Connector 4"/>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p:sp>
        <p:nvSpPr>
          <p:cNvPr id="6" name="Oval 5"/>
          <p:cNvSpPr/>
          <p:nvPr/>
        </p:nvSpPr>
        <p:spPr>
          <a:xfrm>
            <a:off x="8552484" y="1154974"/>
            <a:ext cx="1584176" cy="1528688"/>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GB"/>
          </a:p>
        </p:txBody>
      </p:sp>
      <mc:AlternateContent xmlns:mc="http://schemas.openxmlformats.org/markup-compatibility/2006">
        <mc:Choice xmlns:a14="http://schemas.microsoft.com/office/drawing/2010/main" Requires="a14">
          <p:sp>
            <p:nvSpPr>
              <p:cNvPr id="8" name="TextBox 7"/>
              <p:cNvSpPr txBox="1"/>
              <p:nvPr/>
            </p:nvSpPr>
            <p:spPr>
              <a:xfrm>
                <a:off x="8073940" y="2143199"/>
                <a:ext cx="576064" cy="276999"/>
              </a:xfrm>
              <a:prstGeom prst="rect">
                <a:avLst/>
              </a:prstGeom>
              <a:noFill/>
            </p:spPr>
            <p:txBody>
              <a:bodyPr wrap="square" rtlCol="0">
                <a:spAutoFit/>
              </a:bodyPr>
              <a:lstStyle/>
              <a:p>
                <a:pPr/>
                <a14:m>
                  <m:oMathPara xmlns:m="http://schemas.openxmlformats.org/officeDocument/2006/math">
                    <m:oMath>
                      <m:r>
                        <a:rPr lang="en-GB" sz="1200" i="1">
                          <a:latin typeface="Cambria Math" panose="02040503050406030204" pitchFamily="18" charset="0"/>
                        </a:rPr>
                        <m:t>𝐴</m:t>
                      </m:r>
                      <m:d>
                        <m:dPr>
                          <m:ctrlPr>
                            <a:rPr lang="en-GB" sz="1200" i="1">
                              <a:latin typeface="Cambria Math" panose="02040503050406030204" pitchFamily="18" charset="0"/>
                            </a:rPr>
                          </m:ctrlPr>
                        </m:dPr>
                        <m:e>
                          <m:r>
                            <a:rPr lang="en-GB" sz="1200" i="1">
                              <a:latin typeface="Cambria Math" panose="02040503050406030204" pitchFamily="18" charset="0"/>
                            </a:rPr>
                            <m:t>0,2</m:t>
                          </m:r>
                        </m:e>
                      </m:d>
                    </m:oMath>
                  </m:oMathPara>
                </a14:m>
                <a:endParaRPr lang="en-GB"/>
              </a:p>
            </p:txBody>
          </p:sp>
        </mc:Choice>
        <mc:Fallback>
          <p:sp>
            <p:nvSpPr>
              <p:cNvPr id="8" name="TextBox 7"/>
              <p:cNvSpPr txBox="1">
                <a:spLocks noRot="1" noChangeAspect="1" noMove="1" noResize="1" noEditPoints="1" noAdjustHandles="1" noChangeArrowheads="1" noChangeShapeType="1" noTextEdit="1"/>
              </p:cNvSpPr>
              <p:nvPr/>
            </p:nvSpPr>
            <p:spPr>
              <a:xfrm>
                <a:off x="8073940" y="2143199"/>
                <a:ext cx="576064" cy="276999"/>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9" name="TextBox 8"/>
              <p:cNvSpPr txBox="1"/>
              <p:nvPr/>
            </p:nvSpPr>
            <p:spPr>
              <a:xfrm>
                <a:off x="9103089" y="880810"/>
                <a:ext cx="803021" cy="276999"/>
              </a:xfrm>
              <a:prstGeom prst="rect">
                <a:avLst/>
              </a:prstGeom>
              <a:noFill/>
            </p:spPr>
            <p:txBody>
              <a:bodyPr wrap="square" rtlCol="0">
                <a:spAutoFit/>
              </a:bodyPr>
              <a:lstStyle/>
              <a:p>
                <a:pPr/>
                <a14:m>
                  <m:oMathPara xmlns:m="http://schemas.openxmlformats.org/officeDocument/2006/math">
                    <m:oMath>
                      <m:r>
                        <a:rPr lang="en-GB" sz="1200" i="1">
                          <a:latin typeface="Cambria Math" panose="02040503050406030204" pitchFamily="18" charset="0"/>
                        </a:rPr>
                        <m:t>𝐶</m:t>
                      </m:r>
                      <m:d>
                        <m:dPr>
                          <m:ctrlPr>
                            <a:rPr lang="en-GB" sz="1200" i="1">
                              <a:latin typeface="Cambria Math" panose="02040503050406030204" pitchFamily="18" charset="0"/>
                            </a:rPr>
                          </m:ctrlPr>
                        </m:dPr>
                        <m:e>
                          <m:r>
                            <a:rPr lang="en-GB" sz="1200" i="1">
                              <a:latin typeface="Cambria Math" panose="02040503050406030204" pitchFamily="18" charset="0"/>
                            </a:rPr>
                            <m:t>8,18</m:t>
                          </m:r>
                        </m:e>
                      </m:d>
                    </m:oMath>
                  </m:oMathPara>
                </a14:m>
                <a:endParaRPr lang="en-GB"/>
              </a:p>
            </p:txBody>
          </p:sp>
        </mc:Choice>
        <mc:Fallback>
          <p:sp>
            <p:nvSpPr>
              <p:cNvPr id="9" name="TextBox 8"/>
              <p:cNvSpPr txBox="1">
                <a:spLocks noRot="1" noChangeAspect="1" noMove="1" noResize="1" noEditPoints="1" noAdjustHandles="1" noChangeArrowheads="1" noChangeShapeType="1" noTextEdit="1"/>
              </p:cNvSpPr>
              <p:nvPr/>
            </p:nvSpPr>
            <p:spPr>
              <a:xfrm>
                <a:off x="9103089" y="880810"/>
                <a:ext cx="803021" cy="276999"/>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0" name="TextBox 9"/>
              <p:cNvSpPr txBox="1"/>
              <p:nvPr/>
            </p:nvSpPr>
            <p:spPr>
              <a:xfrm>
                <a:off x="8708754" y="2628110"/>
                <a:ext cx="803021" cy="276999"/>
              </a:xfrm>
              <a:prstGeom prst="rect">
                <a:avLst/>
              </a:prstGeom>
              <a:noFill/>
            </p:spPr>
            <p:txBody>
              <a:bodyPr wrap="square" rtlCol="0">
                <a:spAutoFit/>
              </a:bodyPr>
              <a:lstStyle/>
              <a:p>
                <a:pPr/>
                <a14:m>
                  <m:oMathPara xmlns:m="http://schemas.openxmlformats.org/officeDocument/2006/math">
                    <m:oMath>
                      <m:r>
                        <a:rPr lang="en-GB" sz="1200" i="1">
                          <a:latin typeface="Cambria Math" panose="02040503050406030204" pitchFamily="18" charset="0"/>
                        </a:rPr>
                        <m:t>𝐵</m:t>
                      </m:r>
                      <m:d>
                        <m:dPr>
                          <m:ctrlPr>
                            <a:rPr lang="en-GB" sz="1200" i="1">
                              <a:latin typeface="Cambria Math" panose="02040503050406030204" pitchFamily="18" charset="0"/>
                            </a:rPr>
                          </m:ctrlPr>
                        </m:dPr>
                        <m:e>
                          <m:r>
                            <a:rPr lang="en-GB" sz="1200" i="1">
                              <a:latin typeface="Cambria Math" panose="02040503050406030204" pitchFamily="18" charset="0"/>
                            </a:rPr>
                            <m:t>2,0</m:t>
                          </m:r>
                        </m:e>
                      </m:d>
                    </m:oMath>
                  </m:oMathPara>
                </a14:m>
                <a:endParaRPr lang="en-GB"/>
              </a:p>
            </p:txBody>
          </p:sp>
        </mc:Choice>
        <mc:Fallback>
          <p:sp>
            <p:nvSpPr>
              <p:cNvPr id="10" name="TextBox 9"/>
              <p:cNvSpPr txBox="1">
                <a:spLocks noRot="1" noChangeAspect="1" noMove="1" noResize="1" noEditPoints="1" noAdjustHandles="1" noChangeArrowheads="1" noChangeShapeType="1" noTextEdit="1"/>
              </p:cNvSpPr>
              <p:nvPr/>
            </p:nvSpPr>
            <p:spPr>
              <a:xfrm>
                <a:off x="8708754" y="2628110"/>
                <a:ext cx="803021" cy="276999"/>
              </a:xfrm>
              <a:prstGeom prst="rect">
                <a:avLst/>
              </a:prstGeom>
              <a:blipFill>
                <a:blip r:embed="rId5"/>
                <a:stretch>
                  <a:fillRect/>
                </a:stretch>
              </a:blipFill>
            </p:spPr>
            <p:txBody>
              <a:bodyPr/>
              <a:lstStyle/>
              <a:p>
                <a:r>
                  <a:rPr lang="en-US">
                    <a:noFill/>
                  </a:rPr>
                  <a:t> </a:t>
                </a:r>
              </a:p>
            </p:txBody>
          </p:sp>
        </mc:Fallback>
      </mc:AlternateContent>
      <p:cxnSp>
        <p:nvCxnSpPr>
          <p:cNvPr id="12" name="Straight Arrow Connector 11"/>
          <p:cNvCxnSpPr/>
          <p:nvPr/>
        </p:nvCxnSpPr>
        <p:spPr>
          <a:xfrm flipV="1">
            <a:off x="8631753" y="836712"/>
            <a:ext cx="0" cy="211324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3" name="Straight Arrow Connector 12"/>
          <p:cNvCxnSpPr/>
          <p:nvPr/>
        </p:nvCxnSpPr>
        <p:spPr>
          <a:xfrm flipV="1">
            <a:off x="8403265" y="2594345"/>
            <a:ext cx="1914888" cy="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6" name="Oval 15"/>
          <p:cNvSpPr/>
          <p:nvPr/>
        </p:nvSpPr>
        <p:spPr>
          <a:xfrm>
            <a:off x="8590586" y="2244726"/>
            <a:ext cx="99390" cy="9779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Oval 16"/>
          <p:cNvSpPr/>
          <p:nvPr/>
        </p:nvSpPr>
        <p:spPr>
          <a:xfrm>
            <a:off x="8927875" y="2530319"/>
            <a:ext cx="99390" cy="9779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Oval 17"/>
          <p:cNvSpPr/>
          <p:nvPr/>
        </p:nvSpPr>
        <p:spPr>
          <a:xfrm>
            <a:off x="9295879" y="1110671"/>
            <a:ext cx="99390" cy="9779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20" name="Straight Connector 19"/>
          <p:cNvCxnSpPr/>
          <p:nvPr/>
        </p:nvCxnSpPr>
        <p:spPr>
          <a:xfrm>
            <a:off x="8643939" y="2293144"/>
            <a:ext cx="333375" cy="28575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flipV="1">
            <a:off x="8636000" y="1152525"/>
            <a:ext cx="711200" cy="1146176"/>
          </a:xfrm>
          <a:prstGeom prst="line">
            <a:avLst/>
          </a:prstGeom>
          <a:ln w="28575"/>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29" name="TextBox 28"/>
              <p:cNvSpPr txBox="1"/>
              <p:nvPr/>
            </p:nvSpPr>
            <p:spPr>
              <a:xfrm>
                <a:off x="2794778" y="1776189"/>
                <a:ext cx="4938635" cy="5007846"/>
              </a:xfrm>
              <a:prstGeom prst="rect">
                <a:avLst/>
              </a:prstGeom>
              <a:noFill/>
            </p:spPr>
            <p:txBody>
              <a:bodyPr wrap="square" rtlCol="0">
                <a:spAutoFit/>
              </a:bodyPr>
              <a:lstStyle/>
              <a:p>
                <a:r>
                  <a:rPr lang="en-GB"/>
                  <a:t>Perpendicular bisector of </a:t>
                </a:r>
                <a14:m>
                  <m:oMath xmlns:m="http://schemas.openxmlformats.org/officeDocument/2006/math">
                    <m:r>
                      <a:rPr lang="en-GB" i="1">
                        <a:latin typeface="Cambria Math" panose="02040503050406030204" pitchFamily="18" charset="0"/>
                      </a:rPr>
                      <m:t>𝐴𝐵</m:t>
                    </m:r>
                  </m:oMath>
                </a14:m>
                <a:r>
                  <a:rPr lang="en-GB"/>
                  <a:t>:</a:t>
                </a:r>
              </a:p>
              <a:p>
                <a:r>
                  <a:rPr lang="en-GB"/>
                  <a:t>By inspection, </a:t>
                </a:r>
                <a14:m>
                  <m:oMath xmlns:m="http://schemas.openxmlformats.org/officeDocument/2006/math">
                    <m:r>
                      <a:rPr lang="en-GB" i="1">
                        <a:latin typeface="Cambria Math" panose="02040503050406030204" pitchFamily="18" charset="0"/>
                      </a:rPr>
                      <m:t>𝑦</m:t>
                    </m:r>
                    <m:r>
                      <a:rPr lang="en-GB" i="1">
                        <a:latin typeface="Cambria Math" panose="02040503050406030204" pitchFamily="18" charset="0"/>
                      </a:rPr>
                      <m:t>=</m:t>
                    </m:r>
                    <m:r>
                      <a:rPr lang="en-GB" i="1">
                        <a:latin typeface="Cambria Math" panose="02040503050406030204" pitchFamily="18" charset="0"/>
                      </a:rPr>
                      <m:t>𝑥</m:t>
                    </m:r>
                  </m:oMath>
                </a14:m>
                <a:endParaRPr lang="en-GB"/>
              </a:p>
              <a:p>
                <a:endParaRPr lang="en-GB"/>
              </a:p>
              <a:p>
                <a:r>
                  <a:rPr lang="en-GB"/>
                  <a:t>Perpendicular bisector of </a:t>
                </a:r>
                <a14:m>
                  <m:oMath xmlns:m="http://schemas.openxmlformats.org/officeDocument/2006/math">
                    <m:r>
                      <a:rPr lang="en-GB" i="1">
                        <a:latin typeface="Cambria Math" panose="02040503050406030204" pitchFamily="18" charset="0"/>
                      </a:rPr>
                      <m:t>𝐴𝐶</m:t>
                    </m:r>
                  </m:oMath>
                </a14:m>
                <a:r>
                  <a:rPr lang="en-GB"/>
                  <a:t>:</a:t>
                </a:r>
              </a:p>
              <a:p>
                <a:r>
                  <a:rPr lang="en-GB"/>
                  <a:t>Midpoint: </a:t>
                </a:r>
                <a14:m>
                  <m:oMath xmlns:m="http://schemas.openxmlformats.org/officeDocument/2006/math">
                    <m:d>
                      <m:dPr>
                        <m:ctrlPr>
                          <a:rPr lang="en-GB" i="1">
                            <a:latin typeface="Cambria Math" panose="02040503050406030204" pitchFamily="18" charset="0"/>
                          </a:rPr>
                        </m:ctrlPr>
                      </m:dPr>
                      <m:e>
                        <m:r>
                          <a:rPr lang="en-GB" i="1">
                            <a:latin typeface="Cambria Math" panose="02040503050406030204" pitchFamily="18" charset="0"/>
                          </a:rPr>
                          <m:t>4,10</m:t>
                        </m:r>
                      </m:e>
                    </m:d>
                  </m:oMath>
                </a14:m>
                <a:endParaRPr lang="en-GB"/>
              </a:p>
              <a:p>
                <a:pPr/>
                <a14:m>
                  <m:oMathPara xmlns:m="http://schemas.openxmlformats.org/officeDocument/2006/math">
                    <m:oMath>
                      <m:sSub>
                        <m:sSubPr>
                          <m:ctrlPr>
                            <a:rPr lang="en-GB" i="1">
                              <a:latin typeface="Cambria Math" panose="02040503050406030204" pitchFamily="18" charset="0"/>
                            </a:rPr>
                          </m:ctrlPr>
                        </m:sSubPr>
                        <m:e>
                          <m:r>
                            <a:rPr lang="en-GB" i="1">
                              <a:latin typeface="Cambria Math" panose="02040503050406030204" pitchFamily="18" charset="0"/>
                            </a:rPr>
                            <m:t>𝑚</m:t>
                          </m:r>
                        </m:e>
                        <m:sub>
                          <m:r>
                            <a:rPr lang="en-GB" i="1">
                              <a:latin typeface="Cambria Math" panose="02040503050406030204" pitchFamily="18" charset="0"/>
                            </a:rPr>
                            <m:t>𝐴𝐶</m:t>
                          </m:r>
                        </m:sub>
                      </m:sSub>
                      <m:r>
                        <a:rPr lang="en-GB" i="1">
                          <a:latin typeface="Cambria Math" panose="02040503050406030204" pitchFamily="18" charset="0"/>
                        </a:rPr>
                        <m:t>=</m:t>
                      </m:r>
                      <m:f>
                        <m:fPr>
                          <m:ctrlPr>
                            <a:rPr lang="en-GB" i="1">
                              <a:latin typeface="Cambria Math" panose="02040503050406030204" pitchFamily="18" charset="0"/>
                            </a:rPr>
                          </m:ctrlPr>
                        </m:fPr>
                        <m:num>
                          <m:r>
                            <a:rPr lang="en-GB" i="1">
                              <a:latin typeface="Cambria Math" panose="02040503050406030204" pitchFamily="18" charset="0"/>
                            </a:rPr>
                            <m:t>16</m:t>
                          </m:r>
                        </m:num>
                        <m:den>
                          <m:r>
                            <a:rPr lang="en-GB" i="1">
                              <a:latin typeface="Cambria Math" panose="02040503050406030204" pitchFamily="18" charset="0"/>
                            </a:rPr>
                            <m:t>8</m:t>
                          </m:r>
                        </m:den>
                      </m:f>
                      <m:r>
                        <a:rPr lang="en-GB" i="1">
                          <a:latin typeface="Cambria Math" panose="02040503050406030204" pitchFamily="18" charset="0"/>
                        </a:rPr>
                        <m:t>=2   ∴</m:t>
                      </m:r>
                      <m:sSub>
                        <m:sSubPr>
                          <m:ctrlPr>
                            <a:rPr lang="en-GB" i="1">
                              <a:latin typeface="Cambria Math" panose="02040503050406030204" pitchFamily="18" charset="0"/>
                            </a:rPr>
                          </m:ctrlPr>
                        </m:sSubPr>
                        <m:e>
                          <m:r>
                            <a:rPr lang="en-GB" i="1">
                              <a:latin typeface="Cambria Math" panose="02040503050406030204" pitchFamily="18" charset="0"/>
                            </a:rPr>
                            <m:t>𝑚</m:t>
                          </m:r>
                        </m:e>
                        <m:sub>
                          <m:r>
                            <a:rPr lang="en-GB" i="1">
                              <a:latin typeface="Cambria Math" panose="02040503050406030204" pitchFamily="18" charset="0"/>
                            </a:rPr>
                            <m:t>⊥</m:t>
                          </m:r>
                        </m:sub>
                      </m:sSub>
                      <m:r>
                        <a:rPr lang="en-GB" i="1">
                          <a:latin typeface="Cambria Math" panose="02040503050406030204" pitchFamily="18" charset="0"/>
                        </a:rPr>
                        <m:t>=−</m:t>
                      </m:r>
                      <m:f>
                        <m:fPr>
                          <m:ctrlPr>
                            <a:rPr lang="en-GB" i="1">
                              <a:latin typeface="Cambria Math" panose="02040503050406030204" pitchFamily="18" charset="0"/>
                            </a:rPr>
                          </m:ctrlPr>
                        </m:fPr>
                        <m:num>
                          <m:r>
                            <a:rPr lang="en-GB" i="1">
                              <a:latin typeface="Cambria Math" panose="02040503050406030204" pitchFamily="18" charset="0"/>
                            </a:rPr>
                            <m:t>1</m:t>
                          </m:r>
                        </m:num>
                        <m:den>
                          <m:r>
                            <a:rPr lang="en-GB" i="1">
                              <a:latin typeface="Cambria Math" panose="02040503050406030204" pitchFamily="18" charset="0"/>
                            </a:rPr>
                            <m:t>2</m:t>
                          </m:r>
                        </m:den>
                      </m:f>
                    </m:oMath>
                  </m:oMathPara>
                </a14:m>
                <a:endParaRPr lang="en-GB"/>
              </a:p>
              <a:p>
                <a:pPr/>
                <a14:m>
                  <m:oMathPara xmlns:m="http://schemas.openxmlformats.org/officeDocument/2006/math">
                    <m:oMath>
                      <m:r>
                        <a:rPr lang="en-GB" i="1">
                          <a:latin typeface="Cambria Math" panose="02040503050406030204" pitchFamily="18" charset="0"/>
                        </a:rPr>
                        <m:t>𝑦</m:t>
                      </m:r>
                      <m:r>
                        <a:rPr lang="en-GB" i="1">
                          <a:latin typeface="Cambria Math" panose="02040503050406030204" pitchFamily="18" charset="0"/>
                        </a:rPr>
                        <m:t>−10=−</m:t>
                      </m:r>
                      <m:f>
                        <m:fPr>
                          <m:ctrlPr>
                            <a:rPr lang="en-GB" i="1">
                              <a:latin typeface="Cambria Math" panose="02040503050406030204" pitchFamily="18" charset="0"/>
                            </a:rPr>
                          </m:ctrlPr>
                        </m:fPr>
                        <m:num>
                          <m:r>
                            <a:rPr lang="en-GB" i="1">
                              <a:latin typeface="Cambria Math" panose="02040503050406030204" pitchFamily="18" charset="0"/>
                            </a:rPr>
                            <m:t>1</m:t>
                          </m:r>
                        </m:num>
                        <m:den>
                          <m:r>
                            <a:rPr lang="en-GB" i="1">
                              <a:latin typeface="Cambria Math" panose="02040503050406030204" pitchFamily="18" charset="0"/>
                            </a:rPr>
                            <m:t>2</m:t>
                          </m:r>
                        </m:den>
                      </m:f>
                      <m:d>
                        <m:dPr>
                          <m:ctrlPr>
                            <a:rPr lang="en-GB" i="1">
                              <a:latin typeface="Cambria Math" panose="02040503050406030204" pitchFamily="18" charset="0"/>
                            </a:rPr>
                          </m:ctrlPr>
                        </m:dPr>
                        <m:e>
                          <m:r>
                            <a:rPr lang="en-GB" i="1">
                              <a:latin typeface="Cambria Math" panose="02040503050406030204" pitchFamily="18" charset="0"/>
                            </a:rPr>
                            <m:t>𝑥</m:t>
                          </m:r>
                          <m:r>
                            <a:rPr lang="en-GB" i="1">
                              <a:latin typeface="Cambria Math" panose="02040503050406030204" pitchFamily="18" charset="0"/>
                            </a:rPr>
                            <m:t>−4</m:t>
                          </m:r>
                        </m:e>
                      </m:d>
                    </m:oMath>
                  </m:oMathPara>
                </a14:m>
                <a:endParaRPr lang="en-GB"/>
              </a:p>
              <a:p>
                <a:r>
                  <a:rPr lang="en-GB"/>
                  <a:t>Solving simultaneously with </a:t>
                </a:r>
                <a14:m>
                  <m:oMath xmlns:m="http://schemas.openxmlformats.org/officeDocument/2006/math">
                    <m:r>
                      <a:rPr lang="en-GB" i="1">
                        <a:latin typeface="Cambria Math" panose="02040503050406030204" pitchFamily="18" charset="0"/>
                      </a:rPr>
                      <m:t>𝑦</m:t>
                    </m:r>
                    <m:r>
                      <a:rPr lang="en-GB" i="1">
                        <a:latin typeface="Cambria Math" panose="02040503050406030204" pitchFamily="18" charset="0"/>
                      </a:rPr>
                      <m:t>=</m:t>
                    </m:r>
                    <m:r>
                      <a:rPr lang="en-GB" i="1">
                        <a:latin typeface="Cambria Math" panose="02040503050406030204" pitchFamily="18" charset="0"/>
                      </a:rPr>
                      <m:t>𝑥</m:t>
                    </m:r>
                  </m:oMath>
                </a14:m>
                <a:r>
                  <a:rPr lang="en-GB"/>
                  <a:t>:</a:t>
                </a:r>
              </a:p>
              <a:p>
                <a:pPr/>
                <a14:m>
                  <m:oMathPara xmlns:m="http://schemas.openxmlformats.org/officeDocument/2006/math">
                    <m:oMath>
                      <m:r>
                        <a:rPr lang="en-GB" i="1">
                          <a:latin typeface="Cambria Math" panose="02040503050406030204" pitchFamily="18" charset="0"/>
                        </a:rPr>
                        <m:t>𝑥</m:t>
                      </m:r>
                      <m:r>
                        <a:rPr lang="en-GB" i="1">
                          <a:latin typeface="Cambria Math" panose="02040503050406030204" pitchFamily="18" charset="0"/>
                        </a:rPr>
                        <m:t>−10=−</m:t>
                      </m:r>
                      <m:f>
                        <m:fPr>
                          <m:ctrlPr>
                            <a:rPr lang="en-GB" i="1">
                              <a:latin typeface="Cambria Math" panose="02040503050406030204" pitchFamily="18" charset="0"/>
                            </a:rPr>
                          </m:ctrlPr>
                        </m:fPr>
                        <m:num>
                          <m:r>
                            <a:rPr lang="en-GB" i="1">
                              <a:latin typeface="Cambria Math" panose="02040503050406030204" pitchFamily="18" charset="0"/>
                            </a:rPr>
                            <m:t>1</m:t>
                          </m:r>
                        </m:num>
                        <m:den>
                          <m:r>
                            <a:rPr lang="en-GB" i="1">
                              <a:latin typeface="Cambria Math" panose="02040503050406030204" pitchFamily="18" charset="0"/>
                            </a:rPr>
                            <m:t>2</m:t>
                          </m:r>
                        </m:den>
                      </m:f>
                      <m:d>
                        <m:dPr>
                          <m:ctrlPr>
                            <a:rPr lang="en-GB" i="1">
                              <a:latin typeface="Cambria Math" panose="02040503050406030204" pitchFamily="18" charset="0"/>
                            </a:rPr>
                          </m:ctrlPr>
                        </m:dPr>
                        <m:e>
                          <m:r>
                            <a:rPr lang="en-GB" i="1">
                              <a:latin typeface="Cambria Math" panose="02040503050406030204" pitchFamily="18" charset="0"/>
                            </a:rPr>
                            <m:t>𝑥</m:t>
                          </m:r>
                          <m:r>
                            <a:rPr lang="en-GB" i="1">
                              <a:latin typeface="Cambria Math" panose="02040503050406030204" pitchFamily="18" charset="0"/>
                            </a:rPr>
                            <m:t>−4</m:t>
                          </m:r>
                        </m:e>
                      </m:d>
                    </m:oMath>
                    <m:oMath>
                      <m:r>
                        <a:rPr lang="en-GB" i="1">
                          <a:latin typeface="Cambria Math" panose="02040503050406030204" pitchFamily="18" charset="0"/>
                        </a:rPr>
                        <m:t>2</m:t>
                      </m:r>
                      <m:r>
                        <a:rPr lang="en-GB" i="1">
                          <a:latin typeface="Cambria Math" panose="02040503050406030204" pitchFamily="18" charset="0"/>
                        </a:rPr>
                        <m:t>𝑥</m:t>
                      </m:r>
                      <m:r>
                        <a:rPr lang="en-GB" i="1">
                          <a:latin typeface="Cambria Math" panose="02040503050406030204" pitchFamily="18" charset="0"/>
                        </a:rPr>
                        <m:t>−20=−</m:t>
                      </m:r>
                      <m:r>
                        <a:rPr lang="en-GB" i="1">
                          <a:latin typeface="Cambria Math" panose="02040503050406030204" pitchFamily="18" charset="0"/>
                        </a:rPr>
                        <m:t>𝑥</m:t>
                      </m:r>
                      <m:r>
                        <a:rPr lang="en-GB" i="1">
                          <a:latin typeface="Cambria Math" panose="02040503050406030204" pitchFamily="18" charset="0"/>
                        </a:rPr>
                        <m:t>+4</m:t>
                      </m:r>
                    </m:oMath>
                    <m:oMath>
                      <m:r>
                        <a:rPr lang="en-GB" i="1">
                          <a:latin typeface="Cambria Math" panose="02040503050406030204" pitchFamily="18" charset="0"/>
                        </a:rPr>
                        <m:t>3</m:t>
                      </m:r>
                      <m:r>
                        <a:rPr lang="en-GB" i="1">
                          <a:latin typeface="Cambria Math" panose="02040503050406030204" pitchFamily="18" charset="0"/>
                        </a:rPr>
                        <m:t>𝑥</m:t>
                      </m:r>
                      <m:r>
                        <a:rPr lang="en-GB" i="1">
                          <a:latin typeface="Cambria Math" panose="02040503050406030204" pitchFamily="18" charset="0"/>
                        </a:rPr>
                        <m:t>=24</m:t>
                      </m:r>
                    </m:oMath>
                    <m:oMath>
                      <m:r>
                        <a:rPr lang="en-GB" i="1">
                          <a:latin typeface="Cambria Math" panose="02040503050406030204" pitchFamily="18" charset="0"/>
                        </a:rPr>
                        <m:t>𝑥</m:t>
                      </m:r>
                      <m:r>
                        <a:rPr lang="en-GB" i="1">
                          <a:latin typeface="Cambria Math" panose="02040503050406030204" pitchFamily="18" charset="0"/>
                        </a:rPr>
                        <m:t>=8  ∴</m:t>
                      </m:r>
                      <m:r>
                        <a:rPr lang="en-GB" i="1">
                          <a:latin typeface="Cambria Math" panose="02040503050406030204" pitchFamily="18" charset="0"/>
                        </a:rPr>
                        <m:t>𝑦</m:t>
                      </m:r>
                      <m:r>
                        <a:rPr lang="en-GB" i="1">
                          <a:latin typeface="Cambria Math" panose="02040503050406030204" pitchFamily="18" charset="0"/>
                        </a:rPr>
                        <m:t>=8</m:t>
                      </m:r>
                    </m:oMath>
                  </m:oMathPara>
                </a14:m>
                <a:endParaRPr lang="en-GB"/>
              </a:p>
              <a:p>
                <a:r>
                  <a:rPr lang="en-GB"/>
                  <a:t>Centre is </a:t>
                </a:r>
                <a14:m>
                  <m:oMath xmlns:m="http://schemas.openxmlformats.org/officeDocument/2006/math">
                    <m:r>
                      <a:rPr lang="en-GB" i="1">
                        <a:latin typeface="Cambria Math" panose="02040503050406030204" pitchFamily="18" charset="0"/>
                      </a:rPr>
                      <m:t>(8,8)</m:t>
                    </m:r>
                  </m:oMath>
                </a14:m>
                <a:r>
                  <a:rPr lang="en-GB"/>
                  <a:t>.</a:t>
                </a:r>
              </a:p>
              <a:p>
                <a:r>
                  <a:rPr lang="en-GB"/>
                  <a:t>Using </a:t>
                </a:r>
                <a14:m>
                  <m:oMath xmlns:m="http://schemas.openxmlformats.org/officeDocument/2006/math">
                    <m:r>
                      <a:rPr lang="en-GB" i="1">
                        <a:latin typeface="Cambria Math" panose="02040503050406030204" pitchFamily="18" charset="0"/>
                      </a:rPr>
                      <m:t>𝐴</m:t>
                    </m:r>
                  </m:oMath>
                </a14:m>
                <a:r>
                  <a:rPr lang="en-GB"/>
                  <a:t> and centre of circle: </a:t>
                </a:r>
                <a14:m>
                  <m:oMath xmlns:m="http://schemas.openxmlformats.org/officeDocument/2006/math">
                    <m:r>
                      <a:rPr lang="en-GB" i="1">
                        <a:latin typeface="Cambria Math" panose="02040503050406030204" pitchFamily="18" charset="0"/>
                      </a:rPr>
                      <m:t>𝑟</m:t>
                    </m:r>
                    <m:r>
                      <a:rPr lang="en-GB" i="1">
                        <a:latin typeface="Cambria Math" panose="02040503050406030204" pitchFamily="18" charset="0"/>
                      </a:rPr>
                      <m:t>=</m:t>
                    </m:r>
                    <m:rad>
                      <m:radPr>
                        <m:degHide m:val="on"/>
                        <m:ctrlPr>
                          <a:rPr lang="en-GB" i="1">
                            <a:latin typeface="Cambria Math" panose="02040503050406030204" pitchFamily="18" charset="0"/>
                          </a:rPr>
                        </m:ctrlPr>
                      </m:radPr>
                      <m:deg/>
                      <m:e>
                        <m:sSup>
                          <m:sSupPr>
                            <m:ctrlPr>
                              <a:rPr lang="en-GB" i="1">
                                <a:latin typeface="Cambria Math" panose="02040503050406030204" pitchFamily="18" charset="0"/>
                              </a:rPr>
                            </m:ctrlPr>
                          </m:sSupPr>
                          <m:e>
                            <m:r>
                              <a:rPr lang="en-GB" i="1">
                                <a:latin typeface="Cambria Math" panose="02040503050406030204" pitchFamily="18" charset="0"/>
                              </a:rPr>
                              <m:t>8</m:t>
                            </m:r>
                          </m:e>
                          <m:sup>
                            <m:r>
                              <a:rPr lang="en-GB" i="1">
                                <a:latin typeface="Cambria Math" panose="02040503050406030204" pitchFamily="18" charset="0"/>
                              </a:rPr>
                              <m:t>2</m:t>
                            </m:r>
                          </m:sup>
                        </m:sSup>
                        <m:r>
                          <a:rPr lang="en-GB" i="1">
                            <a:latin typeface="Cambria Math" panose="02040503050406030204" pitchFamily="18" charset="0"/>
                          </a:rPr>
                          <m:t>+</m:t>
                        </m:r>
                        <m:sSup>
                          <m:sSupPr>
                            <m:ctrlPr>
                              <a:rPr lang="en-GB" i="1">
                                <a:latin typeface="Cambria Math" panose="02040503050406030204" pitchFamily="18" charset="0"/>
                              </a:rPr>
                            </m:ctrlPr>
                          </m:sSupPr>
                          <m:e>
                            <m:r>
                              <a:rPr lang="en-GB" i="1">
                                <a:latin typeface="Cambria Math" panose="02040503050406030204" pitchFamily="18" charset="0"/>
                              </a:rPr>
                              <m:t>6</m:t>
                            </m:r>
                          </m:e>
                          <m:sup>
                            <m:r>
                              <a:rPr lang="en-GB" i="1">
                                <a:latin typeface="Cambria Math" panose="02040503050406030204" pitchFamily="18" charset="0"/>
                              </a:rPr>
                              <m:t>2</m:t>
                            </m:r>
                          </m:sup>
                        </m:sSup>
                      </m:e>
                    </m:rad>
                    <m:r>
                      <a:rPr lang="en-GB" i="1">
                        <a:latin typeface="Cambria Math" panose="02040503050406030204" pitchFamily="18" charset="0"/>
                      </a:rPr>
                      <m:t>=10</m:t>
                    </m:r>
                  </m:oMath>
                </a14:m>
                <a:endParaRPr lang="en-GB"/>
              </a:p>
              <a:p>
                <a:r>
                  <a:rPr lang="en-GB"/>
                  <a:t>Equation of circle: </a:t>
                </a:r>
                <a14:m>
                  <m:oMath xmlns:m="http://schemas.openxmlformats.org/officeDocument/2006/math">
                    <m:sSup>
                      <m:sSupPr>
                        <m:ctrlPr>
                          <a:rPr lang="en-GB" i="1">
                            <a:latin typeface="Cambria Math" panose="02040503050406030204" pitchFamily="18" charset="0"/>
                          </a:rPr>
                        </m:ctrlPr>
                      </m:sSupPr>
                      <m:e>
                        <m:d>
                          <m:dPr>
                            <m:ctrlPr>
                              <a:rPr lang="en-GB" i="1">
                                <a:latin typeface="Cambria Math" panose="02040503050406030204" pitchFamily="18" charset="0"/>
                              </a:rPr>
                            </m:ctrlPr>
                          </m:dPr>
                          <m:e>
                            <m:r>
                              <a:rPr lang="en-GB" i="1">
                                <a:latin typeface="Cambria Math" panose="02040503050406030204" pitchFamily="18" charset="0"/>
                              </a:rPr>
                              <m:t>𝑥</m:t>
                            </m:r>
                            <m:r>
                              <a:rPr lang="en-GB" i="1">
                                <a:latin typeface="Cambria Math" panose="02040503050406030204" pitchFamily="18" charset="0"/>
                              </a:rPr>
                              <m:t>−8</m:t>
                            </m:r>
                          </m:e>
                        </m:d>
                      </m:e>
                      <m:sup>
                        <m:r>
                          <a:rPr lang="en-GB" i="1">
                            <a:latin typeface="Cambria Math" panose="02040503050406030204" pitchFamily="18" charset="0"/>
                          </a:rPr>
                          <m:t>2</m:t>
                        </m:r>
                      </m:sup>
                    </m:sSup>
                    <m:r>
                      <a:rPr lang="en-GB" i="1">
                        <a:latin typeface="Cambria Math" panose="02040503050406030204" pitchFamily="18" charset="0"/>
                      </a:rPr>
                      <m:t>+</m:t>
                    </m:r>
                    <m:sSup>
                      <m:sSupPr>
                        <m:ctrlPr>
                          <a:rPr lang="en-GB" i="1">
                            <a:latin typeface="Cambria Math" panose="02040503050406030204" pitchFamily="18" charset="0"/>
                          </a:rPr>
                        </m:ctrlPr>
                      </m:sSupPr>
                      <m:e>
                        <m:d>
                          <m:dPr>
                            <m:ctrlPr>
                              <a:rPr lang="en-GB" i="1">
                                <a:latin typeface="Cambria Math" panose="02040503050406030204" pitchFamily="18" charset="0"/>
                              </a:rPr>
                            </m:ctrlPr>
                          </m:dPr>
                          <m:e>
                            <m:r>
                              <a:rPr lang="en-GB" i="1">
                                <a:latin typeface="Cambria Math" panose="02040503050406030204" pitchFamily="18" charset="0"/>
                              </a:rPr>
                              <m:t>𝑦</m:t>
                            </m:r>
                            <m:r>
                              <a:rPr lang="en-GB" i="1">
                                <a:latin typeface="Cambria Math" panose="02040503050406030204" pitchFamily="18" charset="0"/>
                              </a:rPr>
                              <m:t>−8</m:t>
                            </m:r>
                          </m:e>
                        </m:d>
                      </m:e>
                      <m:sup>
                        <m:r>
                          <a:rPr lang="en-GB" i="1">
                            <a:latin typeface="Cambria Math" panose="02040503050406030204" pitchFamily="18" charset="0"/>
                          </a:rPr>
                          <m:t>2</m:t>
                        </m:r>
                      </m:sup>
                    </m:sSup>
                    <m:r>
                      <a:rPr lang="en-GB" i="1">
                        <a:latin typeface="Cambria Math" panose="02040503050406030204" pitchFamily="18" charset="0"/>
                      </a:rPr>
                      <m:t>=100</m:t>
                    </m:r>
                  </m:oMath>
                </a14:m>
                <a:endParaRPr lang="en-GB"/>
              </a:p>
            </p:txBody>
          </p:sp>
        </mc:Choice>
        <mc:Fallback>
          <p:sp>
            <p:nvSpPr>
              <p:cNvPr id="29" name="TextBox 28"/>
              <p:cNvSpPr txBox="1">
                <a:spLocks noRot="1" noChangeAspect="1" noMove="1" noResize="1" noEditPoints="1" noAdjustHandles="1" noChangeArrowheads="1" noChangeShapeType="1" noTextEdit="1"/>
              </p:cNvSpPr>
              <p:nvPr/>
            </p:nvSpPr>
            <p:spPr>
              <a:xfrm>
                <a:off x="2794778" y="1776189"/>
                <a:ext cx="4938635" cy="5007846"/>
              </a:xfrm>
              <a:prstGeom prst="rect">
                <a:avLst/>
              </a:prstGeom>
              <a:blipFill>
                <a:blip r:embed="rId6"/>
                <a:stretch>
                  <a:fillRect l="-767" t="-505" b="-1010"/>
                </a:stretch>
              </a:blipFill>
            </p:spPr>
            <p:txBody>
              <a:bodyPr/>
              <a:lstStyle/>
              <a:p>
                <a:r>
                  <a:rPr lang="en-US">
                    <a:noFill/>
                  </a:rPr>
                  <a:t> </a:t>
                </a:r>
              </a:p>
            </p:txBody>
          </p:sp>
        </mc:Fallback>
      </mc:AlternateContent>
      <p:sp>
        <p:nvSpPr>
          <p:cNvPr id="30" name="Rectangle 29"/>
          <p:cNvSpPr/>
          <p:nvPr/>
        </p:nvSpPr>
        <p:spPr>
          <a:xfrm>
            <a:off x="2766664" y="1799329"/>
            <a:ext cx="4722201" cy="4909815"/>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Tree>
    <p:extLst>
      <p:ext uri="{BB962C8B-B14F-4D97-AF65-F5344CB8AC3E}">
        <p14:creationId xmlns:p14="http://schemas.microsoft.com/office/powerpoint/2010/main" val="3685014978"/>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30"/>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30"/>
                                        </p:tgtEl>
                                      </p:cBhvr>
                                    </p:animEffect>
                                    <p:set>
                                      <p:cBhvr>
                                        <p:cTn id="7" dur="1" fill="hold">
                                          <p:stCondLst>
                                            <p:cond delay="499"/>
                                          </p:stCondLst>
                                        </p:cTn>
                                        <p:tgtEl>
                                          <p:spTgt spid="30"/>
                                        </p:tgtEl>
                                        <p:attrNameLst>
                                          <p:attrName>style.visibility</p:attrName>
                                        </p:attrNameLst>
                                      </p:cBhvr>
                                      <p:to>
                                        <p:strVal val="hidden"/>
                                      </p:to>
                                    </p:set>
                                  </p:childTnLst>
                                </p:cTn>
                              </p:par>
                            </p:childTnLst>
                          </p:cTn>
                        </p:par>
                      </p:childTnLst>
                    </p:cTn>
                  </p:par>
                </p:childTnLst>
              </p:cTn>
              <p:nextCondLst>
                <p:cond evt="onClick" delay="0">
                  <p:tgtEl>
                    <p:spTgt spid="30"/>
                  </p:tgtEl>
                </p:cond>
              </p:nextCondLst>
            </p:seq>
          </p:childTnLst>
        </p:cTn>
      </p:par>
    </p:tnLst>
    <p:bldLst>
      <p:bldP spid="30" grpId="0" animBg="1"/>
    </p:bldLst>
  </p:timing>
</p:sld>
</file>

<file path=ppt/c6/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0" y="1"/>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a:t>Exercise 6F - Y1 Page 131-132</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p:grpSp>
        <p:nvGrpSpPr>
          <p:cNvPr id="13" name="Group 12">
            <a:extLst>
              <a:ext uri="{FF2B5EF4-FFF2-40B4-BE49-F238E27FC236}">
                <a16:creationId xmlns:a16="http://schemas.microsoft.com/office/drawing/2014/main" id="{41738705-BEA6-7143-4C1B-96F31F79A1BC}"/>
              </a:ext>
            </a:extLst>
          </p:cNvPr>
          <p:cNvGrpSpPr/>
          <p:nvPr/>
        </p:nvGrpSpPr>
        <p:grpSpPr>
          <a:xfrm>
            <a:off x="1631505" y="556682"/>
            <a:ext cx="8496935" cy="2888935"/>
            <a:chOff x="107504" y="556681"/>
            <a:chExt cx="8496935" cy="2888935"/>
          </a:xfrm>
        </p:grpSpPr>
        <p:pic>
          <p:nvPicPr>
            <p:cNvPr id="5" name="Picture 4">
              <a:extLst>
                <a:ext uri="{FF2B5EF4-FFF2-40B4-BE49-F238E27FC236}">
                  <a16:creationId xmlns:a16="http://schemas.microsoft.com/office/drawing/2014/main" id="{87F66EF3-DDA7-8CA8-520F-F2A02DB90E98}"/>
                </a:ext>
              </a:extLst>
            </p:cNvPr>
            <p:cNvPicPr>
              <a:picLocks noChangeAspect="1"/>
            </p:cNvPicPr>
            <p:nvPr/>
          </p:nvPicPr>
          <p:blipFill>
            <a:blip r:embed="rId2"/>
            <a:stretch>
              <a:fillRect/>
            </a:stretch>
          </p:blipFill>
          <p:spPr>
            <a:xfrm>
              <a:off x="107504" y="556681"/>
              <a:ext cx="4320480" cy="1720191"/>
            </a:xfrm>
            <a:prstGeom prst="rect">
              <a:avLst/>
            </a:prstGeom>
          </p:spPr>
        </p:pic>
        <p:sp>
          <p:nvSpPr>
            <p:cNvPr id="6" name="Rectangle 5">
              <a:extLst>
                <a:ext uri="{FF2B5EF4-FFF2-40B4-BE49-F238E27FC236}">
                  <a16:creationId xmlns:a16="http://schemas.microsoft.com/office/drawing/2014/main" id="{D7369A10-9447-6B4E-1580-AC6A649C9AFE}"/>
                </a:ext>
              </a:extLst>
            </p:cNvPr>
            <p:cNvSpPr/>
            <p:nvPr/>
          </p:nvSpPr>
          <p:spPr>
            <a:xfrm>
              <a:off x="3491880" y="1340768"/>
              <a:ext cx="936104" cy="108012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7" name="Picture 6">
              <a:extLst>
                <a:ext uri="{FF2B5EF4-FFF2-40B4-BE49-F238E27FC236}">
                  <a16:creationId xmlns:a16="http://schemas.microsoft.com/office/drawing/2014/main" id="{6EBA5F2C-934E-4E4A-F19D-981F43783566}"/>
                </a:ext>
              </a:extLst>
            </p:cNvPr>
            <p:cNvPicPr>
              <a:picLocks noChangeAspect="1"/>
            </p:cNvPicPr>
            <p:nvPr/>
          </p:nvPicPr>
          <p:blipFill>
            <a:blip r:embed="rId3"/>
            <a:stretch>
              <a:fillRect/>
            </a:stretch>
          </p:blipFill>
          <p:spPr>
            <a:xfrm>
              <a:off x="4966401" y="587744"/>
              <a:ext cx="3638038" cy="2857872"/>
            </a:xfrm>
            <a:prstGeom prst="rect">
              <a:avLst/>
            </a:prstGeom>
          </p:spPr>
        </p:pic>
      </p:grpSp>
      <p:pic>
        <p:nvPicPr>
          <p:cNvPr id="8" name="Picture 7">
            <a:extLst>
              <a:ext uri="{FF2B5EF4-FFF2-40B4-BE49-F238E27FC236}">
                <a16:creationId xmlns:a16="http://schemas.microsoft.com/office/drawing/2014/main" id="{BE5EDBB7-56D6-1530-1B88-D4BB2E86657F}"/>
              </a:ext>
            </a:extLst>
          </p:cNvPr>
          <p:cNvPicPr>
            <a:picLocks noChangeAspect="1"/>
          </p:cNvPicPr>
          <p:nvPr/>
        </p:nvPicPr>
        <p:blipFill>
          <a:blip r:embed="rId4"/>
          <a:stretch>
            <a:fillRect/>
          </a:stretch>
        </p:blipFill>
        <p:spPr>
          <a:xfrm>
            <a:off x="1720259" y="2084373"/>
            <a:ext cx="3764384" cy="4705480"/>
          </a:xfrm>
          <a:prstGeom prst="rect">
            <a:avLst/>
          </a:prstGeom>
        </p:spPr>
      </p:pic>
      <p:pic>
        <p:nvPicPr>
          <p:cNvPr id="10" name="Picture 9">
            <a:extLst>
              <a:ext uri="{FF2B5EF4-FFF2-40B4-BE49-F238E27FC236}">
                <a16:creationId xmlns:a16="http://schemas.microsoft.com/office/drawing/2014/main" id="{5B734156-2FBC-DA16-297F-403BC301BE0F}"/>
              </a:ext>
            </a:extLst>
          </p:cNvPr>
          <p:cNvPicPr>
            <a:picLocks noChangeAspect="1"/>
          </p:cNvPicPr>
          <p:nvPr/>
        </p:nvPicPr>
        <p:blipFill>
          <a:blip r:embed="rId5"/>
          <a:stretch>
            <a:fillRect/>
          </a:stretch>
        </p:blipFill>
        <p:spPr>
          <a:xfrm>
            <a:off x="5272108" y="3573017"/>
            <a:ext cx="5394748" cy="1420299"/>
          </a:xfrm>
          <a:prstGeom prst="rect">
            <a:avLst/>
          </a:prstGeom>
        </p:spPr>
      </p:pic>
      <p:sp>
        <p:nvSpPr>
          <p:cNvPr id="11" name="Rectangle 10">
            <a:extLst>
              <a:ext uri="{FF2B5EF4-FFF2-40B4-BE49-F238E27FC236}">
                <a16:creationId xmlns:a16="http://schemas.microsoft.com/office/drawing/2014/main" id="{8B4A2FE9-FB7D-0E1C-D258-4148ED73C4EC}"/>
              </a:ext>
            </a:extLst>
          </p:cNvPr>
          <p:cNvSpPr/>
          <p:nvPr/>
        </p:nvSpPr>
        <p:spPr>
          <a:xfrm>
            <a:off x="1756876" y="2064597"/>
            <a:ext cx="3515232" cy="4725256"/>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a:t>
            </a:r>
          </a:p>
        </p:txBody>
      </p:sp>
      <p:sp>
        <p:nvSpPr>
          <p:cNvPr id="12" name="Rectangle 11">
            <a:extLst>
              <a:ext uri="{FF2B5EF4-FFF2-40B4-BE49-F238E27FC236}">
                <a16:creationId xmlns:a16="http://schemas.microsoft.com/office/drawing/2014/main" id="{F3C19E29-8C80-4568-E04E-D2DB0D4CEB4A}"/>
              </a:ext>
            </a:extLst>
          </p:cNvPr>
          <p:cNvSpPr/>
          <p:nvPr/>
        </p:nvSpPr>
        <p:spPr>
          <a:xfrm>
            <a:off x="5339547" y="3620464"/>
            <a:ext cx="5327309" cy="1420299"/>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b?</a:t>
            </a:r>
          </a:p>
        </p:txBody>
      </p:sp>
    </p:spTree>
    <p:extLst>
      <p:ext uri="{BB962C8B-B14F-4D97-AF65-F5344CB8AC3E}">
        <p14:creationId xmlns:p14="http://schemas.microsoft.com/office/powerpoint/2010/main" val="215513428"/>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1"/>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1"/>
                                        </p:tgtEl>
                                      </p:cBhvr>
                                    </p:animEffect>
                                    <p:set>
                                      <p:cBhvr>
                                        <p:cTn id="7" dur="1" fill="hold">
                                          <p:stCondLst>
                                            <p:cond delay="499"/>
                                          </p:stCondLst>
                                        </p:cTn>
                                        <p:tgtEl>
                                          <p:spTgt spid="11"/>
                                        </p:tgtEl>
                                        <p:attrNameLst>
                                          <p:attrName>style.visibility</p:attrName>
                                        </p:attrNameLst>
                                      </p:cBhvr>
                                      <p:to>
                                        <p:strVal val="hidden"/>
                                      </p:to>
                                    </p:set>
                                  </p:childTnLst>
                                </p:cTn>
                              </p:par>
                            </p:childTnLst>
                          </p:cTn>
                        </p:par>
                      </p:childTnLst>
                    </p:cTn>
                  </p:par>
                </p:childTnLst>
              </p:cTn>
              <p:nextCondLst>
                <p:cond evt="onClick" delay="0">
                  <p:tgtEl>
                    <p:spTgt spid="11"/>
                  </p:tgtEl>
                </p:cond>
              </p:nextCondLst>
            </p:seq>
            <p:seq concurrent="1" nextAc="seek">
              <p:cTn id="8" restart="whenNotActive" fill="hold" evtFilter="cancelBubble" nodeType="interactiveSeq">
                <p:stCondLst>
                  <p:cond evt="onClick" delay="0">
                    <p:tgtEl>
                      <p:spTgt spid="12"/>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12"/>
                                        </p:tgtEl>
                                      </p:cBhvr>
                                    </p:animEffect>
                                    <p:set>
                                      <p:cBhvr>
                                        <p:cTn id="13" dur="1" fill="hold">
                                          <p:stCondLst>
                                            <p:cond delay="499"/>
                                          </p:stCondLst>
                                        </p:cTn>
                                        <p:tgtEl>
                                          <p:spTgt spid="12"/>
                                        </p:tgtEl>
                                        <p:attrNameLst>
                                          <p:attrName>style.visibility</p:attrName>
                                        </p:attrNameLst>
                                      </p:cBhvr>
                                      <p:to>
                                        <p:strVal val="hidden"/>
                                      </p:to>
                                    </p:set>
                                  </p:childTnLst>
                                </p:cTn>
                              </p:par>
                            </p:childTnLst>
                          </p:cTn>
                        </p:par>
                      </p:childTnLst>
                    </p:cTn>
                  </p:par>
                </p:childTnLst>
              </p:cTn>
              <p:nextCondLst>
                <p:cond evt="onClick" delay="0">
                  <p:tgtEl>
                    <p:spTgt spid="12"/>
                  </p:tgtEl>
                </p:cond>
              </p:nextCondLst>
            </p:seq>
          </p:childTnLst>
        </p:cTn>
      </p:par>
    </p:tnLst>
    <p:bldLst>
      <p:bldP spid="11" grpId="0" animBg="1"/>
      <p:bldP spid="12" grpId="0" animBg="1"/>
    </p:bldLst>
  </p:timing>
</p:sld>
</file>

<file path=ppt/c6/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0" y="1"/>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a:t>Exercise 6F - Y1 Page 131-132</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p:pic>
        <p:nvPicPr>
          <p:cNvPr id="13" name="Picture 12">
            <a:extLst>
              <a:ext uri="{FF2B5EF4-FFF2-40B4-BE49-F238E27FC236}">
                <a16:creationId xmlns:a16="http://schemas.microsoft.com/office/drawing/2014/main" id="{1716646B-3517-4C82-5A6F-A4811A90FA18}"/>
              </a:ext>
            </a:extLst>
          </p:cNvPr>
          <p:cNvPicPr>
            <a:picLocks noChangeAspect="1"/>
          </p:cNvPicPr>
          <p:nvPr/>
        </p:nvPicPr>
        <p:blipFill>
          <a:blip r:embed="rId2"/>
          <a:stretch>
            <a:fillRect/>
          </a:stretch>
        </p:blipFill>
        <p:spPr>
          <a:xfrm>
            <a:off x="1703512" y="627381"/>
            <a:ext cx="6772994" cy="1681296"/>
          </a:xfrm>
          <a:prstGeom prst="rect">
            <a:avLst/>
          </a:prstGeom>
        </p:spPr>
      </p:pic>
      <p:pic>
        <p:nvPicPr>
          <p:cNvPr id="14" name="Picture 13">
            <a:extLst>
              <a:ext uri="{FF2B5EF4-FFF2-40B4-BE49-F238E27FC236}">
                <a16:creationId xmlns:a16="http://schemas.microsoft.com/office/drawing/2014/main" id="{F0D026C1-911D-63C4-F808-DB2083D59FD2}"/>
              </a:ext>
            </a:extLst>
          </p:cNvPr>
          <p:cNvPicPr>
            <a:picLocks noChangeAspect="1"/>
          </p:cNvPicPr>
          <p:nvPr/>
        </p:nvPicPr>
        <p:blipFill>
          <a:blip r:embed="rId3"/>
          <a:stretch>
            <a:fillRect/>
          </a:stretch>
        </p:blipFill>
        <p:spPr>
          <a:xfrm>
            <a:off x="1883532" y="2308677"/>
            <a:ext cx="6412954" cy="4341758"/>
          </a:xfrm>
          <a:prstGeom prst="rect">
            <a:avLst/>
          </a:prstGeom>
        </p:spPr>
      </p:pic>
      <p:sp>
        <p:nvSpPr>
          <p:cNvPr id="15" name="Rectangle 14">
            <a:extLst>
              <a:ext uri="{FF2B5EF4-FFF2-40B4-BE49-F238E27FC236}">
                <a16:creationId xmlns:a16="http://schemas.microsoft.com/office/drawing/2014/main" id="{6DFDECA2-71D7-FE89-F03A-80AC0C9BD1E4}"/>
              </a:ext>
            </a:extLst>
          </p:cNvPr>
          <p:cNvSpPr/>
          <p:nvPr/>
        </p:nvSpPr>
        <p:spPr>
          <a:xfrm>
            <a:off x="1915156" y="3498792"/>
            <a:ext cx="6381331" cy="1082337"/>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b?</a:t>
            </a:r>
          </a:p>
        </p:txBody>
      </p:sp>
      <p:sp>
        <p:nvSpPr>
          <p:cNvPr id="16" name="Rectangle 15">
            <a:extLst>
              <a:ext uri="{FF2B5EF4-FFF2-40B4-BE49-F238E27FC236}">
                <a16:creationId xmlns:a16="http://schemas.microsoft.com/office/drawing/2014/main" id="{53D4D2C3-361F-0FBB-6290-CB5467404FFB}"/>
              </a:ext>
            </a:extLst>
          </p:cNvPr>
          <p:cNvSpPr/>
          <p:nvPr/>
        </p:nvSpPr>
        <p:spPr>
          <a:xfrm>
            <a:off x="1915156" y="4688905"/>
            <a:ext cx="6381331" cy="1961530"/>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c?</a:t>
            </a:r>
          </a:p>
        </p:txBody>
      </p:sp>
      <p:sp>
        <p:nvSpPr>
          <p:cNvPr id="17" name="Rectangle 16">
            <a:extLst>
              <a:ext uri="{FF2B5EF4-FFF2-40B4-BE49-F238E27FC236}">
                <a16:creationId xmlns:a16="http://schemas.microsoft.com/office/drawing/2014/main" id="{E1DC31A9-971F-B91F-6146-B923F0C3A998}"/>
              </a:ext>
            </a:extLst>
          </p:cNvPr>
          <p:cNvSpPr/>
          <p:nvPr/>
        </p:nvSpPr>
        <p:spPr>
          <a:xfrm>
            <a:off x="1915156" y="2360531"/>
            <a:ext cx="6381331" cy="1082337"/>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a:t>
            </a:r>
          </a:p>
        </p:txBody>
      </p:sp>
    </p:spTree>
    <p:extLst>
      <p:ext uri="{BB962C8B-B14F-4D97-AF65-F5344CB8AC3E}">
        <p14:creationId xmlns:p14="http://schemas.microsoft.com/office/powerpoint/2010/main" val="2506986550"/>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5"/>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5"/>
                                        </p:tgtEl>
                                      </p:cBhvr>
                                    </p:animEffect>
                                    <p:set>
                                      <p:cBhvr>
                                        <p:cTn id="7" dur="1" fill="hold">
                                          <p:stCondLst>
                                            <p:cond delay="499"/>
                                          </p:stCondLst>
                                        </p:cTn>
                                        <p:tgtEl>
                                          <p:spTgt spid="15"/>
                                        </p:tgtEl>
                                        <p:attrNameLst>
                                          <p:attrName>style.visibility</p:attrName>
                                        </p:attrNameLst>
                                      </p:cBhvr>
                                      <p:to>
                                        <p:strVal val="hidden"/>
                                      </p:to>
                                    </p:set>
                                  </p:childTnLst>
                                </p:cTn>
                              </p:par>
                            </p:childTnLst>
                          </p:cTn>
                        </p:par>
                      </p:childTnLst>
                    </p:cTn>
                  </p:par>
                </p:childTnLst>
              </p:cTn>
              <p:nextCondLst>
                <p:cond evt="onClick" delay="0">
                  <p:tgtEl>
                    <p:spTgt spid="15"/>
                  </p:tgtEl>
                </p:cond>
              </p:nextCondLst>
            </p:seq>
            <p:seq concurrent="1" nextAc="seek">
              <p:cTn id="8" restart="whenNotActive" fill="hold" evtFilter="cancelBubble" nodeType="interactiveSeq">
                <p:stCondLst>
                  <p:cond evt="onClick" delay="0">
                    <p:tgtEl>
                      <p:spTgt spid="16"/>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16"/>
                                        </p:tgtEl>
                                      </p:cBhvr>
                                    </p:animEffect>
                                    <p:set>
                                      <p:cBhvr>
                                        <p:cTn id="13" dur="1" fill="hold">
                                          <p:stCondLst>
                                            <p:cond delay="499"/>
                                          </p:stCondLst>
                                        </p:cTn>
                                        <p:tgtEl>
                                          <p:spTgt spid="16"/>
                                        </p:tgtEl>
                                        <p:attrNameLst>
                                          <p:attrName>style.visibility</p:attrName>
                                        </p:attrNameLst>
                                      </p:cBhvr>
                                      <p:to>
                                        <p:strVal val="hidden"/>
                                      </p:to>
                                    </p:set>
                                  </p:childTnLst>
                                </p:cTn>
                              </p:par>
                            </p:childTnLst>
                          </p:cTn>
                        </p:par>
                      </p:childTnLst>
                    </p:cTn>
                  </p:par>
                </p:childTnLst>
              </p:cTn>
              <p:nextCondLst>
                <p:cond evt="onClick" delay="0">
                  <p:tgtEl>
                    <p:spTgt spid="16"/>
                  </p:tgtEl>
                </p:cond>
              </p:nextCondLst>
            </p:seq>
            <p:seq concurrent="1" nextAc="seek">
              <p:cTn id="14" restart="whenNotActive" fill="hold" evtFilter="cancelBubble" nodeType="interactiveSeq">
                <p:stCondLst>
                  <p:cond evt="onClick" delay="0">
                    <p:tgtEl>
                      <p:spTgt spid="17"/>
                    </p:tgtEl>
                  </p:cond>
                </p:stCondLst>
                <p:endSync evt="end" delay="0">
                  <p:rtn val="all"/>
                </p:endSync>
                <p:childTnLst>
                  <p:par>
                    <p:cTn id="15" fill="hold">
                      <p:stCondLst>
                        <p:cond delay="0"/>
                      </p:stCondLst>
                      <p:childTnLst>
                        <p:par>
                          <p:cTn id="16" fill="hold">
                            <p:stCondLst>
                              <p:cond delay="0"/>
                            </p:stCondLst>
                            <p:childTnLst>
                              <p:par>
                                <p:cTn id="17" presetID="10" presetClass="exit" presetSubtype="0" fill="hold" grpId="0" nodeType="clickEffect">
                                  <p:stCondLst>
                                    <p:cond delay="0"/>
                                  </p:stCondLst>
                                  <p:childTnLst>
                                    <p:animEffect transition="out" filter="fade">
                                      <p:cBhvr>
                                        <p:cTn id="18" dur="500"/>
                                        <p:tgtEl>
                                          <p:spTgt spid="17"/>
                                        </p:tgtEl>
                                      </p:cBhvr>
                                    </p:animEffect>
                                    <p:set>
                                      <p:cBhvr>
                                        <p:cTn id="19" dur="1" fill="hold">
                                          <p:stCondLst>
                                            <p:cond delay="499"/>
                                          </p:stCondLst>
                                        </p:cTn>
                                        <p:tgtEl>
                                          <p:spTgt spid="17"/>
                                        </p:tgtEl>
                                        <p:attrNameLst>
                                          <p:attrName>style.visibility</p:attrName>
                                        </p:attrNameLst>
                                      </p:cBhvr>
                                      <p:to>
                                        <p:strVal val="hidden"/>
                                      </p:to>
                                    </p:set>
                                  </p:childTnLst>
                                </p:cTn>
                              </p:par>
                            </p:childTnLst>
                          </p:cTn>
                        </p:par>
                      </p:childTnLst>
                    </p:cTn>
                  </p:par>
                </p:childTnLst>
              </p:cTn>
              <p:nextCondLst>
                <p:cond evt="onClick" delay="0">
                  <p:tgtEl>
                    <p:spTgt spid="17"/>
                  </p:tgtEl>
                </p:cond>
              </p:nextCondLst>
            </p:seq>
          </p:childTnLst>
        </p:cTn>
      </p:par>
    </p:tnLst>
    <p:bldLst>
      <p:bldP spid="15" grpId="0" animBg="1"/>
      <p:bldP spid="16" grpId="0" animBg="1"/>
      <p:bldP spid="17" grpId="0" animBg="1"/>
    </p:bldLst>
  </p:timing>
</p:sld>
</file>

<file path=ppt/c6/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0" y="1"/>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a:t>Exercise 6F - Y1 Page 131-132</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p:sp>
        <p:nvSpPr>
          <p:cNvPr id="7" name="TextBox 6"/>
          <p:cNvSpPr txBox="1"/>
          <p:nvPr/>
        </p:nvSpPr>
        <p:spPr>
          <a:xfrm>
            <a:off x="1847528" y="806157"/>
            <a:ext cx="2448272" cy="369332"/>
          </a:xfrm>
          <a:prstGeom prst="rect">
            <a:avLst/>
          </a:prstGeom>
          <a:noFill/>
        </p:spPr>
        <p:txBody>
          <a:bodyPr wrap="square" rtlCol="0">
            <a:spAutoFit/>
          </a:bodyPr>
          <a:lstStyle/>
          <a:p>
            <a:r>
              <a:rPr lang="en-GB" b="1"/>
              <a:t>Extension:</a:t>
            </a:r>
          </a:p>
        </p:txBody>
      </p:sp>
      <mc:AlternateContent xmlns:mc="http://schemas.openxmlformats.org/markup-compatibility/2006">
        <mc:Choice xmlns:a14="http://schemas.microsoft.com/office/drawing/2010/main" Requires="a14">
          <p:sp>
            <p:nvSpPr>
              <p:cNvPr id="8" name="TextBox 7"/>
              <p:cNvSpPr txBox="1"/>
              <p:nvPr/>
            </p:nvSpPr>
            <p:spPr>
              <a:xfrm>
                <a:off x="2094269" y="1252156"/>
                <a:ext cx="7770296" cy="2308324"/>
              </a:xfrm>
              <a:prstGeom prst="rect">
                <a:avLst/>
              </a:prstGeom>
              <a:noFill/>
            </p:spPr>
            <p:txBody>
              <a:bodyPr wrap="square" rtlCol="0">
                <a:spAutoFit/>
              </a:bodyPr>
              <a:lstStyle/>
              <a:p>
                <a:r>
                  <a:rPr lang="en-GB" sz="1600" i="1"/>
                  <a:t>[STEP 2009 Q8 Edited] </a:t>
                </a:r>
                <a:r>
                  <a:rPr lang="en-GB" sz="1600"/>
                  <a:t>If equation of the circle </a:t>
                </a:r>
                <a14:m>
                  <m:oMath xmlns:m="http://schemas.openxmlformats.org/officeDocument/2006/math">
                    <m:r>
                      <a:rPr lang="en-GB" sz="1600" i="1">
                        <a:latin typeface="Cambria Math" panose="02040503050406030204" pitchFamily="18" charset="0"/>
                      </a:rPr>
                      <m:t>𝐶</m:t>
                    </m:r>
                  </m:oMath>
                </a14:m>
                <a:r>
                  <a:rPr lang="en-GB" sz="1600"/>
                  <a:t> is </a:t>
                </a:r>
                <a14:m>
                  <m:oMath xmlns:m="http://schemas.openxmlformats.org/officeDocument/2006/math">
                    <m:sSup>
                      <m:sSupPr>
                        <m:ctrlPr>
                          <a:rPr lang="en-GB" sz="1600" i="1">
                            <a:latin typeface="Cambria Math" panose="02040503050406030204" pitchFamily="18" charset="0"/>
                          </a:rPr>
                        </m:ctrlPr>
                      </m:sSupPr>
                      <m:e>
                        <m:d>
                          <m:dPr>
                            <m:ctrlPr>
                              <a:rPr lang="en-GB" sz="1600" i="1">
                                <a:latin typeface="Cambria Math" panose="02040503050406030204" pitchFamily="18" charset="0"/>
                              </a:rPr>
                            </m:ctrlPr>
                          </m:dPr>
                          <m:e>
                            <m:r>
                              <a:rPr lang="en-GB" sz="1600" i="1">
                                <a:latin typeface="Cambria Math" panose="02040503050406030204" pitchFamily="18" charset="0"/>
                              </a:rPr>
                              <m:t>𝑥</m:t>
                            </m:r>
                            <m:r>
                              <a:rPr lang="en-GB" sz="1600" i="1">
                                <a:latin typeface="Cambria Math" panose="02040503050406030204" pitchFamily="18" charset="0"/>
                              </a:rPr>
                              <m:t>−2</m:t>
                            </m:r>
                            <m:r>
                              <a:rPr lang="en-GB" sz="1600" i="1">
                                <a:latin typeface="Cambria Math" panose="02040503050406030204" pitchFamily="18" charset="0"/>
                              </a:rPr>
                              <m:t>𝑡</m:t>
                            </m:r>
                          </m:e>
                        </m:d>
                      </m:e>
                      <m:sup>
                        <m:r>
                          <a:rPr lang="en-GB" sz="1600" i="1">
                            <a:latin typeface="Cambria Math" panose="02040503050406030204" pitchFamily="18" charset="0"/>
                          </a:rPr>
                          <m:t>2</m:t>
                        </m:r>
                      </m:sup>
                    </m:sSup>
                    <m:r>
                      <a:rPr lang="en-GB" sz="1600" i="1">
                        <a:latin typeface="Cambria Math" panose="02040503050406030204" pitchFamily="18" charset="0"/>
                      </a:rPr>
                      <m:t>+</m:t>
                    </m:r>
                    <m:sSup>
                      <m:sSupPr>
                        <m:ctrlPr>
                          <a:rPr lang="en-GB" sz="1600" i="1">
                            <a:latin typeface="Cambria Math" panose="02040503050406030204" pitchFamily="18" charset="0"/>
                          </a:rPr>
                        </m:ctrlPr>
                      </m:sSupPr>
                      <m:e>
                        <m:d>
                          <m:dPr>
                            <m:ctrlPr>
                              <a:rPr lang="en-GB" sz="1600" i="1">
                                <a:latin typeface="Cambria Math" panose="02040503050406030204" pitchFamily="18" charset="0"/>
                              </a:rPr>
                            </m:ctrlPr>
                          </m:dPr>
                          <m:e>
                            <m:r>
                              <a:rPr lang="en-GB" sz="1600" i="1">
                                <a:latin typeface="Cambria Math" panose="02040503050406030204" pitchFamily="18" charset="0"/>
                              </a:rPr>
                              <m:t>𝑦</m:t>
                            </m:r>
                            <m:r>
                              <a:rPr lang="en-GB" sz="1600" i="1">
                                <a:latin typeface="Cambria Math" panose="02040503050406030204" pitchFamily="18" charset="0"/>
                              </a:rPr>
                              <m:t>−</m:t>
                            </m:r>
                            <m:r>
                              <a:rPr lang="en-GB" sz="1600" i="1">
                                <a:latin typeface="Cambria Math" panose="02040503050406030204" pitchFamily="18" charset="0"/>
                              </a:rPr>
                              <m:t>𝑡</m:t>
                            </m:r>
                          </m:e>
                        </m:d>
                      </m:e>
                      <m:sup>
                        <m:r>
                          <a:rPr lang="en-GB" sz="1600" i="1">
                            <a:latin typeface="Cambria Math" panose="02040503050406030204" pitchFamily="18" charset="0"/>
                          </a:rPr>
                          <m:t>2</m:t>
                        </m:r>
                      </m:sup>
                    </m:sSup>
                    <m:r>
                      <a:rPr lang="en-GB" sz="1600" i="1">
                        <a:latin typeface="Cambria Math" panose="02040503050406030204" pitchFamily="18" charset="0"/>
                      </a:rPr>
                      <m:t>=</m:t>
                    </m:r>
                    <m:sSup>
                      <m:sSupPr>
                        <m:ctrlPr>
                          <a:rPr lang="en-GB" sz="1600" i="1">
                            <a:latin typeface="Cambria Math" panose="02040503050406030204" pitchFamily="18" charset="0"/>
                          </a:rPr>
                        </m:ctrlPr>
                      </m:sSupPr>
                      <m:e>
                        <m:r>
                          <a:rPr lang="en-GB" sz="1600" i="1">
                            <a:latin typeface="Cambria Math" panose="02040503050406030204" pitchFamily="18" charset="0"/>
                          </a:rPr>
                          <m:t>𝑡</m:t>
                        </m:r>
                      </m:e>
                      <m:sup>
                        <m:r>
                          <a:rPr lang="en-GB" sz="1600" i="1">
                            <a:latin typeface="Cambria Math" panose="02040503050406030204" pitchFamily="18" charset="0"/>
                          </a:rPr>
                          <m:t>2</m:t>
                        </m:r>
                      </m:sup>
                    </m:sSup>
                  </m:oMath>
                </a14:m>
                <a:r>
                  <a:rPr lang="en-GB" sz="1600"/>
                  <a:t>, where </a:t>
                </a:r>
                <a14:m>
                  <m:oMath xmlns:m="http://schemas.openxmlformats.org/officeDocument/2006/math">
                    <m:r>
                      <a:rPr lang="en-GB" sz="1600" i="1">
                        <a:latin typeface="Cambria Math" panose="02040503050406030204" pitchFamily="18" charset="0"/>
                      </a:rPr>
                      <m:t>𝑡</m:t>
                    </m:r>
                  </m:oMath>
                </a14:m>
                <a:r>
                  <a:rPr lang="en-GB" sz="1600"/>
                  <a:t> is a positive number, it can be shown that </a:t>
                </a:r>
                <a14:m>
                  <m:oMath xmlns:m="http://schemas.openxmlformats.org/officeDocument/2006/math">
                    <m:r>
                      <a:rPr lang="en-GB" sz="1600" i="1">
                        <a:latin typeface="Cambria Math" panose="02040503050406030204" pitchFamily="18" charset="0"/>
                      </a:rPr>
                      <m:t>𝐶</m:t>
                    </m:r>
                  </m:oMath>
                </a14:m>
                <a:r>
                  <a:rPr lang="en-GB" sz="1600"/>
                  <a:t> touches the line </a:t>
                </a:r>
                <a14:m>
                  <m:oMath xmlns:m="http://schemas.openxmlformats.org/officeDocument/2006/math">
                    <m:r>
                      <a:rPr lang="en-GB" sz="1600" i="1">
                        <a:latin typeface="Cambria Math" panose="02040503050406030204" pitchFamily="18" charset="0"/>
                      </a:rPr>
                      <m:t>𝑦</m:t>
                    </m:r>
                    <m:r>
                      <a:rPr lang="en-GB" sz="1600" i="1">
                        <a:latin typeface="Cambria Math" panose="02040503050406030204" pitchFamily="18" charset="0"/>
                      </a:rPr>
                      <m:t>=0</m:t>
                    </m:r>
                  </m:oMath>
                </a14:m>
                <a:r>
                  <a:rPr lang="en-GB" sz="1600"/>
                  <a:t> as well as the line </a:t>
                </a:r>
                <a14:m>
                  <m:oMath xmlns:m="http://schemas.openxmlformats.org/officeDocument/2006/math">
                    <m:r>
                      <a:rPr lang="en-GB" sz="1600" i="1">
                        <a:latin typeface="Cambria Math" panose="02040503050406030204" pitchFamily="18" charset="0"/>
                      </a:rPr>
                      <m:t>3</m:t>
                    </m:r>
                    <m:r>
                      <a:rPr lang="en-GB" sz="1600" i="1">
                        <a:latin typeface="Cambria Math" panose="02040503050406030204" pitchFamily="18" charset="0"/>
                      </a:rPr>
                      <m:t>𝑦</m:t>
                    </m:r>
                    <m:r>
                      <a:rPr lang="en-GB" sz="1600" i="1">
                        <a:latin typeface="Cambria Math" panose="02040503050406030204" pitchFamily="18" charset="0"/>
                      </a:rPr>
                      <m:t>=4</m:t>
                    </m:r>
                    <m:r>
                      <a:rPr lang="en-GB" sz="1600" i="1">
                        <a:latin typeface="Cambria Math" panose="02040503050406030204" pitchFamily="18" charset="0"/>
                      </a:rPr>
                      <m:t>𝑥</m:t>
                    </m:r>
                  </m:oMath>
                </a14:m>
                <a:r>
                  <a:rPr lang="en-GB" sz="1600"/>
                  <a:t>.</a:t>
                </a:r>
              </a:p>
              <a:p>
                <a:endParaRPr lang="en-GB" sz="1600" b="1"/>
              </a:p>
              <a:p>
                <a:r>
                  <a:rPr lang="en-GB" sz="1600"/>
                  <a:t>Find the equation of the </a:t>
                </a:r>
                <a:r>
                  <a:rPr lang="en-GB" sz="1600" err="1"/>
                  <a:t>incircle</a:t>
                </a:r>
                <a:r>
                  <a:rPr lang="en-GB" sz="1600"/>
                  <a:t> of the triangle formed by the lines </a:t>
                </a:r>
                <a14:m>
                  <m:oMath xmlns:m="http://schemas.openxmlformats.org/officeDocument/2006/math">
                    <m:r>
                      <a:rPr lang="en-GB" sz="1600" i="1">
                        <a:latin typeface="Cambria Math" panose="02040503050406030204" pitchFamily="18" charset="0"/>
                      </a:rPr>
                      <m:t>𝑦</m:t>
                    </m:r>
                    <m:r>
                      <a:rPr lang="en-GB" sz="1600" i="1">
                        <a:latin typeface="Cambria Math" panose="02040503050406030204" pitchFamily="18" charset="0"/>
                      </a:rPr>
                      <m:t>=0</m:t>
                    </m:r>
                  </m:oMath>
                </a14:m>
                <a:r>
                  <a:rPr lang="en-GB" sz="1600"/>
                  <a:t>, </a:t>
                </a:r>
                <a14:m>
                  <m:oMath xmlns:m="http://schemas.openxmlformats.org/officeDocument/2006/math">
                    <m:r>
                      <a:rPr lang="en-GB" sz="1600" i="1">
                        <a:latin typeface="Cambria Math" panose="02040503050406030204" pitchFamily="18" charset="0"/>
                      </a:rPr>
                      <m:t>3</m:t>
                    </m:r>
                    <m:r>
                      <a:rPr lang="en-GB" sz="1600" i="1">
                        <a:latin typeface="Cambria Math" panose="02040503050406030204" pitchFamily="18" charset="0"/>
                      </a:rPr>
                      <m:t>𝑦</m:t>
                    </m:r>
                    <m:r>
                      <a:rPr lang="en-GB" sz="1600" i="1">
                        <a:latin typeface="Cambria Math" panose="02040503050406030204" pitchFamily="18" charset="0"/>
                      </a:rPr>
                      <m:t>=4</m:t>
                    </m:r>
                    <m:r>
                      <a:rPr lang="en-GB" sz="1600" i="1">
                        <a:latin typeface="Cambria Math" panose="02040503050406030204" pitchFamily="18" charset="0"/>
                      </a:rPr>
                      <m:t>𝑥</m:t>
                    </m:r>
                  </m:oMath>
                </a14:m>
                <a:r>
                  <a:rPr lang="en-GB" sz="1600"/>
                  <a:t> and </a:t>
                </a:r>
                <a14:m>
                  <m:oMath xmlns:m="http://schemas.openxmlformats.org/officeDocument/2006/math">
                    <m:r>
                      <a:rPr lang="en-GB" sz="1600" i="1">
                        <a:latin typeface="Cambria Math" panose="02040503050406030204" pitchFamily="18" charset="0"/>
                      </a:rPr>
                      <m:t>4</m:t>
                    </m:r>
                    <m:r>
                      <a:rPr lang="en-GB" sz="1600" i="1">
                        <a:latin typeface="Cambria Math" panose="02040503050406030204" pitchFamily="18" charset="0"/>
                      </a:rPr>
                      <m:t>𝑦</m:t>
                    </m:r>
                    <m:r>
                      <a:rPr lang="en-GB" sz="1600" i="1">
                        <a:latin typeface="Cambria Math" panose="02040503050406030204" pitchFamily="18" charset="0"/>
                      </a:rPr>
                      <m:t>+3</m:t>
                    </m:r>
                    <m:r>
                      <a:rPr lang="en-GB" sz="1600" i="1">
                        <a:latin typeface="Cambria Math" panose="02040503050406030204" pitchFamily="18" charset="0"/>
                      </a:rPr>
                      <m:t>𝑥</m:t>
                    </m:r>
                    <m:r>
                      <a:rPr lang="en-GB" sz="1600" i="1">
                        <a:latin typeface="Cambria Math" panose="02040503050406030204" pitchFamily="18" charset="0"/>
                      </a:rPr>
                      <m:t>=15</m:t>
                    </m:r>
                  </m:oMath>
                </a14:m>
                <a:r>
                  <a:rPr lang="en-GB" sz="1600"/>
                  <a:t>.</a:t>
                </a:r>
              </a:p>
              <a:p>
                <a:r>
                  <a:rPr lang="en-GB" sz="1600" b="1"/>
                  <a:t>Note</a:t>
                </a:r>
                <a:r>
                  <a:rPr lang="en-GB" sz="1600"/>
                  <a:t>: The </a:t>
                </a:r>
                <a:r>
                  <a:rPr lang="en-GB" sz="1600" err="1"/>
                  <a:t>incircle</a:t>
                </a:r>
                <a:r>
                  <a:rPr lang="en-GB" sz="1600"/>
                  <a:t> of a triangle is the circle, lying totally inside the triangle, that touches all three sides.</a:t>
                </a:r>
              </a:p>
              <a:p>
                <a:endParaRPr lang="en-GB" sz="1600"/>
              </a:p>
              <a:p>
                <a:r>
                  <a:rPr lang="en-GB" sz="1600" b="1"/>
                  <a:t>Solution: </a:t>
                </a:r>
                <a14:m>
                  <m:oMath xmlns:m="http://schemas.openxmlformats.org/officeDocument/2006/math">
                    <m:sSup>
                      <m:sSupPr>
                        <m:ctrlPr>
                          <a:rPr lang="en-GB" sz="1600" b="1" i="1">
                            <a:latin typeface="Cambria Math" panose="02040503050406030204" pitchFamily="18" charset="0"/>
                          </a:rPr>
                        </m:ctrlPr>
                      </m:sSupPr>
                      <m:e>
                        <m:d>
                          <m:dPr>
                            <m:ctrlPr>
                              <a:rPr lang="en-GB" sz="1600" b="1" i="1">
                                <a:latin typeface="Cambria Math" panose="02040503050406030204" pitchFamily="18" charset="0"/>
                              </a:rPr>
                            </m:ctrlPr>
                          </m:dPr>
                          <m:e>
                            <m:r>
                              <a:rPr lang="en-GB" sz="1600" b="1" i="1">
                                <a:latin typeface="Cambria Math" panose="02040503050406030204" pitchFamily="18" charset="0"/>
                              </a:rPr>
                              <m:t>𝒙</m:t>
                            </m:r>
                            <m:r>
                              <a:rPr lang="en-GB" sz="1600" b="1" i="1">
                                <a:latin typeface="Cambria Math" panose="02040503050406030204" pitchFamily="18" charset="0"/>
                              </a:rPr>
                              <m:t>−</m:t>
                            </m:r>
                            <m:r>
                              <a:rPr lang="en-GB" sz="1600" b="1" i="1">
                                <a:latin typeface="Cambria Math" panose="02040503050406030204" pitchFamily="18" charset="0"/>
                              </a:rPr>
                              <m:t>𝟐</m:t>
                            </m:r>
                          </m:e>
                        </m:d>
                      </m:e>
                      <m:sup>
                        <m:r>
                          <a:rPr lang="en-GB" sz="1600" b="1" i="1">
                            <a:latin typeface="Cambria Math" panose="02040503050406030204" pitchFamily="18" charset="0"/>
                          </a:rPr>
                          <m:t>𝟐</m:t>
                        </m:r>
                      </m:sup>
                    </m:sSup>
                    <m:r>
                      <a:rPr lang="en-GB" sz="1600" b="1" i="1">
                        <a:latin typeface="Cambria Math" panose="02040503050406030204" pitchFamily="18" charset="0"/>
                      </a:rPr>
                      <m:t>+</m:t>
                    </m:r>
                    <m:sSup>
                      <m:sSupPr>
                        <m:ctrlPr>
                          <a:rPr lang="en-GB" sz="1600" b="1" i="1">
                            <a:latin typeface="Cambria Math" panose="02040503050406030204" pitchFamily="18" charset="0"/>
                          </a:rPr>
                        </m:ctrlPr>
                      </m:sSupPr>
                      <m:e>
                        <m:d>
                          <m:dPr>
                            <m:ctrlPr>
                              <a:rPr lang="en-GB" sz="1600" b="1" i="1">
                                <a:latin typeface="Cambria Math" panose="02040503050406030204" pitchFamily="18" charset="0"/>
                              </a:rPr>
                            </m:ctrlPr>
                          </m:dPr>
                          <m:e>
                            <m:r>
                              <a:rPr lang="en-GB" sz="1600" b="1" i="1">
                                <a:latin typeface="Cambria Math" panose="02040503050406030204" pitchFamily="18" charset="0"/>
                              </a:rPr>
                              <m:t>𝒚</m:t>
                            </m:r>
                            <m:r>
                              <a:rPr lang="en-GB" sz="1600" b="1" i="1">
                                <a:latin typeface="Cambria Math" panose="02040503050406030204" pitchFamily="18" charset="0"/>
                              </a:rPr>
                              <m:t>−</m:t>
                            </m:r>
                            <m:r>
                              <a:rPr lang="en-GB" sz="1600" b="1" i="1">
                                <a:latin typeface="Cambria Math" panose="02040503050406030204" pitchFamily="18" charset="0"/>
                              </a:rPr>
                              <m:t>𝟏</m:t>
                            </m:r>
                          </m:e>
                        </m:d>
                      </m:e>
                      <m:sup>
                        <m:r>
                          <a:rPr lang="en-GB" sz="1600" b="1" i="1">
                            <a:latin typeface="Cambria Math" panose="02040503050406030204" pitchFamily="18" charset="0"/>
                          </a:rPr>
                          <m:t>𝟐</m:t>
                        </m:r>
                      </m:sup>
                    </m:sSup>
                    <m:r>
                      <a:rPr lang="en-GB" sz="1600" b="1" i="1">
                        <a:latin typeface="Cambria Math" panose="02040503050406030204" pitchFamily="18" charset="0"/>
                      </a:rPr>
                      <m:t>=</m:t>
                    </m:r>
                    <m:r>
                      <a:rPr lang="en-GB" sz="1600" b="1" i="1">
                        <a:latin typeface="Cambria Math" panose="02040503050406030204" pitchFamily="18" charset="0"/>
                      </a:rPr>
                      <m:t>𝟏</m:t>
                    </m:r>
                  </m:oMath>
                </a14:m>
                <a:endParaRPr lang="en-GB" sz="1600" b="1"/>
              </a:p>
            </p:txBody>
          </p:sp>
        </mc:Choice>
        <mc:Fallback>
          <p:sp>
            <p:nvSpPr>
              <p:cNvPr id="8" name="TextBox 7"/>
              <p:cNvSpPr txBox="1">
                <a:spLocks noRot="1" noChangeAspect="1" noMove="1" noResize="1" noEditPoints="1" noAdjustHandles="1" noChangeArrowheads="1" noChangeShapeType="1" noTextEdit="1"/>
              </p:cNvSpPr>
              <p:nvPr/>
            </p:nvSpPr>
            <p:spPr>
              <a:xfrm>
                <a:off x="2094269" y="1252156"/>
                <a:ext cx="7770296" cy="2308324"/>
              </a:xfrm>
              <a:prstGeom prst="rect">
                <a:avLst/>
              </a:prstGeom>
              <a:blipFill>
                <a:blip r:embed="rId2"/>
                <a:stretch>
                  <a:fillRect l="-490" t="-546" b="-2732"/>
                </a:stretch>
              </a:blipFill>
            </p:spPr>
            <p:txBody>
              <a:bodyPr/>
              <a:lstStyle/>
              <a:p>
                <a:r>
                  <a:rPr lang="en-US">
                    <a:noFill/>
                  </a:rPr>
                  <a:t> </a:t>
                </a:r>
              </a:p>
            </p:txBody>
          </p:sp>
        </mc:Fallback>
      </mc:AlternateContent>
      <p:sp>
        <p:nvSpPr>
          <p:cNvPr id="14" name="Rectangle 13"/>
          <p:cNvSpPr/>
          <p:nvPr/>
        </p:nvSpPr>
        <p:spPr>
          <a:xfrm>
            <a:off x="1846858" y="1315165"/>
            <a:ext cx="238447" cy="278875"/>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a:t>1</a:t>
            </a:r>
          </a:p>
        </p:txBody>
      </p:sp>
      <p:sp>
        <p:nvSpPr>
          <p:cNvPr id="21" name="Rectangle 20"/>
          <p:cNvSpPr/>
          <p:nvPr/>
        </p:nvSpPr>
        <p:spPr>
          <a:xfrm>
            <a:off x="2152184" y="3148018"/>
            <a:ext cx="3362873" cy="486143"/>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Tree>
    <p:extLst>
      <p:ext uri="{BB962C8B-B14F-4D97-AF65-F5344CB8AC3E}">
        <p14:creationId xmlns:p14="http://schemas.microsoft.com/office/powerpoint/2010/main" val="3869175513"/>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21"/>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21"/>
                                        </p:tgtEl>
                                      </p:cBhvr>
                                    </p:animEffect>
                                    <p:set>
                                      <p:cBhvr>
                                        <p:cTn id="7" dur="1" fill="hold">
                                          <p:stCondLst>
                                            <p:cond delay="499"/>
                                          </p:stCondLst>
                                        </p:cTn>
                                        <p:tgtEl>
                                          <p:spTgt spid="21"/>
                                        </p:tgtEl>
                                        <p:attrNameLst>
                                          <p:attrName>style.visibility</p:attrName>
                                        </p:attrNameLst>
                                      </p:cBhvr>
                                      <p:to>
                                        <p:strVal val="hidden"/>
                                      </p:to>
                                    </p:set>
                                  </p:childTnLst>
                                </p:cTn>
                              </p:par>
                            </p:childTnLst>
                          </p:cTn>
                        </p:par>
                      </p:childTnLst>
                    </p:cTn>
                  </p:par>
                </p:childTnLst>
              </p:cTn>
              <p:nextCondLst>
                <p:cond evt="onClick" delay="0">
                  <p:tgtEl>
                    <p:spTgt spid="21"/>
                  </p:tgtEl>
                </p:cond>
              </p:nextCondLst>
            </p:seq>
          </p:childTnLst>
        </p:cTn>
      </p:par>
    </p:tnLst>
    <p:bldLst>
      <p:bldP spid="21" grpId="0" animBg="1"/>
    </p:bldLst>
  </p:timing>
</p:sld>
</file>

<file path=ppt/c6/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a:solidFill>
            <a:schemeClr val="bg1"/>
          </a:solid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c6/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