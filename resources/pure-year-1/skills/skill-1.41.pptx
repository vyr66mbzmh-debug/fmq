
<file path=[Content_Types].xml><?xml version="1.0" encoding="utf-8"?>
<ns0:Types xmlns:ns0="http://schemas.openxmlformats.org/package/2006/content-types">
  <ns0:Default Extension="bin" ContentType="application/vnd.openxmlformats-officedocument.oleObject"/>
  <ns0:Default Extension="png" ContentType="image/png"/>
  <ns0:Default Extension="rels" ContentType="application/vnd.openxmlformats-package.relationships+xml"/>
  <ns0:Default Extension="xml" ContentType="application/xml"/>
  <ns0:Override PartName="/ppt/c9/ppt/slideMasters/slideMaster1.xml" ContentType="application/vnd.openxmlformats-officedocument.presentationml.slideMaster+xml"/>
  <ns0:Override PartName="/ppt/c9/ppt/slides/slide44.xml" ContentType="application/vnd.openxmlformats-officedocument.presentationml.slide+xml"/>
  <ns0:Override PartName="/ppt/c9/ppt/slides/slide45.xml" ContentType="application/vnd.openxmlformats-officedocument.presentationml.slide+xml"/>
  <ns0:Override PartName="/ppt/c9/ppt/slides/slide46.xml" ContentType="application/vnd.openxmlformats-officedocument.presentationml.slide+xml"/>
  <ns0:Override PartName="/ppt/c9/ppt/slides/slide47.xml" ContentType="application/vnd.openxmlformats-officedocument.presentationml.slide+xml"/>
  <ns0:Override PartName="/ppt/c9/ppt/slides/slide48.xml" ContentType="application/vnd.openxmlformats-officedocument.presentationml.slide+xml"/>
  <ns0:Override PartName="/ppt/c9/ppt/slides/slide49.xml" ContentType="application/vnd.openxmlformats-officedocument.presentationml.slide+xml"/>
  <ns0:Override PartName="/ppt/c9/ppt/slides/slide50.xml" ContentType="application/vnd.openxmlformats-officedocument.presentationml.slide+xml"/>
  <ns0:Override PartName="/ppt/c9/ppt/slides/slide51.xml" ContentType="application/vnd.openxmlformats-officedocument.presentationml.slide+xml"/>
  <ns0:Override PartName="/ppt/c9/ppt/slides/slide52.xml" ContentType="application/vnd.openxmlformats-officedocument.presentationml.slide+xml"/>
  <ns0:Override PartName="/ppt/c9/ppt/slides/slide53.xml" ContentType="application/vnd.openxmlformats-officedocument.presentationml.slide+xml"/>
  <ns0:Override PartName="/ppt/c9/ppt/slides/slide54.xml" ContentType="application/vnd.openxmlformats-officedocument.presentationml.slide+xml"/>
  <ns0:Override PartName="/ppt/c9/ppt/slides/slide55.xml" ContentType="application/vnd.openxmlformats-officedocument.presentationml.slide+xml"/>
  <ns0:Override PartName="/ppt/c9/ppt/notesMasters/notesMaster1.xml" ContentType="application/vnd.openxmlformats-officedocument.presentationml.notesMaster+xml"/>
  <ns0:Override PartName="/ppt/c9/ppt/theme/theme1.xml" ContentType="application/vnd.openxmlformats-officedocument.theme+xml"/>
  <ns0:Override PartName="/ppt/c9/ppt/slideLayouts/slideLayout1.xml" ContentType="application/vnd.openxmlformats-officedocument.presentationml.slideLayout+xml"/>
  <ns0:Override PartName="/ppt/c9/ppt/slideLayouts/slideLayout2.xml" ContentType="application/vnd.openxmlformats-officedocument.presentationml.slideLayout+xml"/>
  <ns0:Override PartName="/ppt/c9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548" r:id="rId13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9/ppt/slides/slide44.xml" /><ns0:Relationship Id="rId2" Type="http://schemas.openxmlformats.org/officeDocument/2006/relationships/slide" Target="c9/ppt/slides/slide45.xml" /><ns0:Relationship Id="rId3" Type="http://schemas.openxmlformats.org/officeDocument/2006/relationships/slide" Target="c9/ppt/slides/slide46.xml" /><ns0:Relationship Id="rId4" Type="http://schemas.openxmlformats.org/officeDocument/2006/relationships/slide" Target="c9/ppt/slides/slide47.xml" /><ns0:Relationship Id="rId5" Type="http://schemas.openxmlformats.org/officeDocument/2006/relationships/slide" Target="c9/ppt/slides/slide48.xml" /><ns0:Relationship Id="rId6" Type="http://schemas.openxmlformats.org/officeDocument/2006/relationships/slide" Target="c9/ppt/slides/slide49.xml" /><ns0:Relationship Id="rId7" Type="http://schemas.openxmlformats.org/officeDocument/2006/relationships/slide" Target="c9/ppt/slides/slide50.xml" /><ns0:Relationship Id="rId8" Type="http://schemas.openxmlformats.org/officeDocument/2006/relationships/slide" Target="c9/ppt/slides/slide51.xml" /><ns0:Relationship Id="rId9" Type="http://schemas.openxmlformats.org/officeDocument/2006/relationships/slide" Target="c9/ppt/slides/slide52.xml" /><ns0:Relationship Id="rId10" Type="http://schemas.openxmlformats.org/officeDocument/2006/relationships/slide" Target="c9/ppt/slides/slide53.xml" /><ns0:Relationship Id="rId11" Type="http://schemas.openxmlformats.org/officeDocument/2006/relationships/slide" Target="c9/ppt/slides/slide54.xml" /><ns0:Relationship Id="rId12" Type="http://schemas.openxmlformats.org/officeDocument/2006/relationships/slide" Target="c9/ppt/slides/slide55.xml" /><ns0:Relationship Id="rId13" Type="http://schemas.openxmlformats.org/officeDocument/2006/relationships/slideMaster" Target="c9/ppt/slideMasters/slideMaster1.xml" /><ns0:Relationship Id="rId14" Type="http://schemas.openxmlformats.org/officeDocument/2006/relationships/notesMaster" Target="c9/ppt/notesMasters/notesMaster1.xml" /></ns0:Relationships>
</file>

<file path=ppt/c9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9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9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9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9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00D4E3A-76D7-C10F-BC00-CA403FA46644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9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4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9229222"/>
      </p:ext>
    </p:extLst>
  </p:cSld>
  <p:clrMapOvr>
    <a:masterClrMapping/>
  </p:clrMapOvr>
</p:sldLayout>
</file>

<file path=ppt/c9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9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07/11/2023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9/ppt/slides/_rels/slide44.xml.rels><?xml version='1.0' encoding='utf-8'?>
<ns0:Relationships xmlns:ns0="http://schemas.openxmlformats.org/package/2006/relationships"><ns0:Relationship Id="rId3" Type="http://schemas.openxmlformats.org/officeDocument/2006/relationships/image" Target="../media/image266.png" /><ns0:Relationship Id="rId2" Type="http://schemas.openxmlformats.org/officeDocument/2006/relationships/image" Target="../media/image263.png" /><ns0:Relationship Id="rId1" Type="http://schemas.openxmlformats.org/officeDocument/2006/relationships/slideLayout" Target="../slideLayouts/slideLayout1.xml" /></ns0:Relationships>
</file>

<file path=ppt/c9/ppt/slides/_rels/slide45.xml.rels><?xml version='1.0' encoding='utf-8'?>
<ns0:Relationships xmlns:ns0="http://schemas.openxmlformats.org/package/2006/relationships"><ns0:Relationship Id="rId2" Type="http://schemas.openxmlformats.org/officeDocument/2006/relationships/image" Target="../media/image263.png" /><ns0:Relationship Id="rId1" Type="http://schemas.openxmlformats.org/officeDocument/2006/relationships/slideLayout" Target="../slideLayouts/slideLayout1.xml" /></ns0:Relationships>
</file>

<file path=ppt/c9/ppt/slides/_rels/slide46.xml.rels><?xml version='1.0' encoding='utf-8'?>
<ns0:Relationships xmlns:ns0="http://schemas.openxmlformats.org/package/2006/relationships"><ns0:Relationship Id="rId3" Type="http://schemas.openxmlformats.org/officeDocument/2006/relationships/image" Target="../media/image268.png" /><ns0:Relationship Id="rId2" Type="http://schemas.openxmlformats.org/officeDocument/2006/relationships/image" Target="../media/image265.png" /><ns0:Relationship Id="rId1" Type="http://schemas.openxmlformats.org/officeDocument/2006/relationships/slideLayout" Target="../slideLayouts/slideLayout1.xml" /></ns0:Relationships>
</file>

<file path=ppt/c9/ppt/slides/_rels/slide47.xml.rels><?xml version='1.0' encoding='utf-8'?>
<ns0:Relationships xmlns:ns0="http://schemas.openxmlformats.org/package/2006/relationships"><ns0:Relationship Id="rId2" Type="http://schemas.openxmlformats.org/officeDocument/2006/relationships/image" Target="../media/image265.png" /><ns0:Relationship Id="rId1" Type="http://schemas.openxmlformats.org/officeDocument/2006/relationships/slideLayout" Target="../slideLayouts/slideLayout1.xml" /></ns0:Relationships>
</file>

<file path=ppt/c9/ppt/slides/_rels/slide48.xml.rels><?xml version='1.0' encoding='utf-8'?>
<ns0:Relationships xmlns:ns0="http://schemas.openxmlformats.org/package/2006/relationships"><ns0:Relationship Id="rId3" Type="http://schemas.openxmlformats.org/officeDocument/2006/relationships/image" Target="../media/image270.png" /><ns0:Relationship Id="rId2" Type="http://schemas.openxmlformats.org/officeDocument/2006/relationships/image" Target="../media/image267.png" /><ns0:Relationship Id="rId1" Type="http://schemas.openxmlformats.org/officeDocument/2006/relationships/slideLayout" Target="../slideLayouts/slideLayout1.xml" /></ns0:Relationships>
</file>

<file path=ppt/c9/ppt/slides/_rels/slide49.xml.rels><?xml version='1.0' encoding='utf-8'?>
<ns0:Relationships xmlns:ns0="http://schemas.openxmlformats.org/package/2006/relationships"><ns0:Relationship Id="rId3" Type="http://schemas.openxmlformats.org/officeDocument/2006/relationships/image" Target="../media/image271.png" /><ns0:Relationship Id="rId2" Type="http://schemas.openxmlformats.org/officeDocument/2006/relationships/image" Target="../media/image26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73.png" /><ns0:Relationship Id="rId4" Type="http://schemas.openxmlformats.org/officeDocument/2006/relationships/image" Target="../media/image272.png" /></ns0:Relationships>
</file>

<file path=ppt/c9/ppt/slides/_rels/slide50.xml.rels><?xml version='1.0' encoding='utf-8'?>
<ns0:Relationships xmlns:ns0="http://schemas.openxmlformats.org/package/2006/relationships"><ns0:Relationship Id="rId8" Type="http://schemas.openxmlformats.org/officeDocument/2006/relationships/image" Target="../media/image280.png" /><ns0:Relationship Id="rId13" Type="http://schemas.openxmlformats.org/officeDocument/2006/relationships/image" Target="../media/image285.png" /><ns0:Relationship Id="rId18" Type="http://schemas.openxmlformats.org/officeDocument/2006/relationships/image" Target="../media/image290.png" /><ns0:Relationship Id="rId3" Type="http://schemas.openxmlformats.org/officeDocument/2006/relationships/image" Target="../media/image275.png" /><ns0:Relationship Id="rId7" Type="http://schemas.openxmlformats.org/officeDocument/2006/relationships/image" Target="../media/image279.png" /><ns0:Relationship Id="rId12" Type="http://schemas.openxmlformats.org/officeDocument/2006/relationships/image" Target="../media/image284.png" /><ns0:Relationship Id="rId17" Type="http://schemas.openxmlformats.org/officeDocument/2006/relationships/image" Target="../media/image289.png" /><ns0:Relationship Id="rId2" Type="http://schemas.openxmlformats.org/officeDocument/2006/relationships/image" Target="../media/image274.png" /><ns0:Relationship Id="rId16" Type="http://schemas.openxmlformats.org/officeDocument/2006/relationships/image" Target="../media/image28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78.png" /><ns0:Relationship Id="rId11" Type="http://schemas.openxmlformats.org/officeDocument/2006/relationships/image" Target="../media/image283.png" /><ns0:Relationship Id="rId5" Type="http://schemas.openxmlformats.org/officeDocument/2006/relationships/image" Target="../media/image277.png" /><ns0:Relationship Id="rId15" Type="http://schemas.openxmlformats.org/officeDocument/2006/relationships/image" Target="../media/image287.png" /><ns0:Relationship Id="rId10" Type="http://schemas.openxmlformats.org/officeDocument/2006/relationships/image" Target="../media/image282.png" /><ns0:Relationship Id="rId4" Type="http://schemas.openxmlformats.org/officeDocument/2006/relationships/image" Target="../media/image276.png" /><ns0:Relationship Id="rId9" Type="http://schemas.openxmlformats.org/officeDocument/2006/relationships/image" Target="../media/image281.png" /><ns0:Relationship Id="rId14" Type="http://schemas.openxmlformats.org/officeDocument/2006/relationships/image" Target="../media/image286.png" /></ns0:Relationships>
</file>

<file path=ppt/c9/ppt/slides/_rels/slide51.xml.rels><?xml version='1.0' encoding='utf-8'?>
<ns0:Relationships xmlns:ns0="http://schemas.openxmlformats.org/package/2006/relationships"><ns0:Relationship Id="rId8" Type="http://schemas.openxmlformats.org/officeDocument/2006/relationships/image" Target="../media/image280.png" /><ns0:Relationship Id="rId13" Type="http://schemas.openxmlformats.org/officeDocument/2006/relationships/image" Target="../media/image296.png" /><ns0:Relationship Id="rId18" Type="http://schemas.openxmlformats.org/officeDocument/2006/relationships/image" Target="../media/image301.png" /><ns0:Relationship Id="rId3" Type="http://schemas.openxmlformats.org/officeDocument/2006/relationships/image" Target="../media/image275.png" /><ns0:Relationship Id="rId7" Type="http://schemas.openxmlformats.org/officeDocument/2006/relationships/image" Target="../media/image279.png" /><ns0:Relationship Id="rId12" Type="http://schemas.openxmlformats.org/officeDocument/2006/relationships/image" Target="../media/image295.png" /><ns0:Relationship Id="rId17" Type="http://schemas.openxmlformats.org/officeDocument/2006/relationships/image" Target="../media/image300.png" /><ns0:Relationship Id="rId2" Type="http://schemas.openxmlformats.org/officeDocument/2006/relationships/image" Target="../media/image291.png" /><ns0:Relationship Id="rId16" Type="http://schemas.openxmlformats.org/officeDocument/2006/relationships/image" Target="../media/image29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78.png" /><ns0:Relationship Id="rId11" Type="http://schemas.openxmlformats.org/officeDocument/2006/relationships/image" Target="../media/image294.png" /><ns0:Relationship Id="rId5" Type="http://schemas.openxmlformats.org/officeDocument/2006/relationships/image" Target="../media/image277.png" /><ns0:Relationship Id="rId15" Type="http://schemas.openxmlformats.org/officeDocument/2006/relationships/image" Target="../media/image298.png" /><ns0:Relationship Id="rId10" Type="http://schemas.openxmlformats.org/officeDocument/2006/relationships/image" Target="../media/image293.png" /><ns0:Relationship Id="rId19" Type="http://schemas.openxmlformats.org/officeDocument/2006/relationships/image" Target="../media/image302.png" /><ns0:Relationship Id="rId4" Type="http://schemas.openxmlformats.org/officeDocument/2006/relationships/image" Target="../media/image276.png" /><ns0:Relationship Id="rId9" Type="http://schemas.openxmlformats.org/officeDocument/2006/relationships/image" Target="../media/image292.png" /><ns0:Relationship Id="rId14" Type="http://schemas.openxmlformats.org/officeDocument/2006/relationships/image" Target="../media/image297.png" /></ns0:Relationships>
</file>

<file path=ppt/c9/ppt/slides/_rels/slide52.xml.rels><?xml version='1.0' encoding='utf-8'?>
<ns0:Relationships xmlns:ns0="http://schemas.openxmlformats.org/package/2006/relationships"><ns0:Relationship Id="rId3" Type="http://schemas.openxmlformats.org/officeDocument/2006/relationships/image" Target="../media/image303.png" /><ns0:Relationship Id="rId2" Type="http://schemas.openxmlformats.org/officeDocument/2006/relationships/image" Target="../media/image269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305.png" /><ns0:Relationship Id="rId4" Type="http://schemas.openxmlformats.org/officeDocument/2006/relationships/image" Target="../media/image304.png" /></ns0:Relationships>
</file>

<file path=ppt/c9/ppt/slides/_rels/slide53.xml.rels><?xml version='1.0' encoding='utf-8'?>
<ns0:Relationships xmlns:ns0="http://schemas.openxmlformats.org/package/2006/relationships"><ns0:Relationship Id="rId3" Type="http://schemas.openxmlformats.org/officeDocument/2006/relationships/image" Target="../media/image307.png" /><ns0:Relationship Id="rId2" Type="http://schemas.openxmlformats.org/officeDocument/2006/relationships/image" Target="../media/image306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308.png" /></ns0:Relationships>
</file>

<file path=ppt/c9/ppt/slides/_rels/slide54.xml.rels><?xml version='1.0' encoding='utf-8'?>
<ns0:Relationships xmlns:ns0="http://schemas.openxmlformats.org/package/2006/relationships"><ns0:Relationship Id="rId2" Type="http://schemas.openxmlformats.org/officeDocument/2006/relationships/image" Target="../media/image309.png" /><ns0:Relationship Id="rId1" Type="http://schemas.openxmlformats.org/officeDocument/2006/relationships/slideLayout" Target="../slideLayouts/slideLayout1.xml" /></ns0:Relationships>
</file>

<file path=ppt/c9/ppt/slides/_rels/slide55.xml.rels><?xml version='1.0' encoding='utf-8'?>
<ns0:Relationships xmlns:ns0="http://schemas.openxmlformats.org/package/2006/relationships"><ns0:Relationship Id="rId2" Type="http://schemas.openxmlformats.org/officeDocument/2006/relationships/image" Target="../media/image310.png" /><ns0:Relationship Id="rId1" Type="http://schemas.openxmlformats.org/officeDocument/2006/relationships/slideLayout" Target="../slideLayouts/slideLayout1.xml" /></ns0:Relationships>
</file>

<file path=ppt/c9/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Sin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it look like?</a:t>
            </a:r>
          </a:p>
        </p:txBody>
      </p:sp>
      <p:pic>
        <p:nvPicPr>
          <p:cNvPr id="15362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1268761"/>
            <a:ext cx="8096250" cy="5000625"/>
          </a:xfrm>
          <a:prstGeom prst="rect">
            <a:avLst/>
          </a:prstGeom>
          <a:noFill/>
        </p:spPr>
      </p:pic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385360" y="1143905"/>
                <a:ext cx="2893888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Key Features: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Repeats every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Range: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−1&lt;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360" y="1143905"/>
                <a:ext cx="2893888" cy="923330"/>
              </a:xfrm>
              <a:prstGeom prst="rect">
                <a:avLst/>
              </a:prstGeom>
              <a:blipFill>
                <a:blip r:embed="rId3"/>
                <a:stretch>
                  <a:fillRect l="-1464" t="-2581" b="-83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71"/>
          <p:cNvSpPr/>
          <p:nvPr/>
        </p:nvSpPr>
        <p:spPr>
          <a:xfrm>
            <a:off x="1524000" y="980728"/>
            <a:ext cx="9142856" cy="57332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772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c9/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Sin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the following graphs look like?</a:t>
            </a:r>
          </a:p>
        </p:txBody>
      </p:sp>
      <p:pic>
        <p:nvPicPr>
          <p:cNvPr id="15362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1268761"/>
            <a:ext cx="8096250" cy="5000625"/>
          </a:xfrm>
          <a:prstGeom prst="rect">
            <a:avLst/>
          </a:prstGeom>
          <a:noFill/>
        </p:spPr>
      </p:pic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9536" y="5157193"/>
            <a:ext cx="756084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Suppose we know that </a:t>
            </a:r>
            <a:r>
              <a:rPr lang="en-GB" b="1" dirty="0"/>
              <a:t>sin(30) = 0.5</a:t>
            </a:r>
            <a:r>
              <a:rPr lang="en-GB" dirty="0"/>
              <a:t>. By thinking about symmetry in the graph, how could we work out: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9536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sin(150) = 0.5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7808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sin(-30) = -0.5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6080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sin(210) = -0.5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1680" y="5949280"/>
            <a:ext cx="798096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79440" y="5949280"/>
            <a:ext cx="854616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8320" y="5949280"/>
            <a:ext cx="818520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8409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c9/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9488" y="1252241"/>
            <a:ext cx="8096250" cy="5000625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Cos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the following graphs look like?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084516" y="1263948"/>
                <a:ext cx="2893888" cy="9233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Key Features: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Repeats every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360°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Range: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−1&lt;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516" y="1263948"/>
                <a:ext cx="2893888" cy="923330"/>
              </a:xfrm>
              <a:prstGeom prst="rect">
                <a:avLst/>
              </a:prstGeom>
              <a:blipFill>
                <a:blip r:embed="rId3"/>
                <a:stretch>
                  <a:fillRect l="-1253" t="-1923" b="-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524000" y="1124744"/>
            <a:ext cx="9142856" cy="57332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5477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c9/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9488" y="1252241"/>
            <a:ext cx="8096250" cy="5000625"/>
          </a:xfrm>
          <a:prstGeom prst="rect">
            <a:avLst/>
          </a:prstGeom>
          <a:noFill/>
        </p:spPr>
      </p:pic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Cos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it look like?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9536" y="5157193"/>
            <a:ext cx="7560840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Suppose we know that </a:t>
            </a:r>
            <a:r>
              <a:rPr lang="en-GB" b="1" dirty="0" err="1"/>
              <a:t>cos</a:t>
            </a:r>
            <a:r>
              <a:rPr lang="en-GB" b="1" dirty="0"/>
              <a:t>(60) = 0.5</a:t>
            </a:r>
            <a:r>
              <a:rPr lang="en-GB" dirty="0"/>
              <a:t>. By thinking about symmetry in the graph, how could we work out: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9536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 err="1"/>
              <a:t>cos</a:t>
            </a:r>
            <a:r>
              <a:rPr lang="en-GB" sz="2400" dirty="0"/>
              <a:t>(120) = -0.5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7808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 err="1"/>
              <a:t>cos</a:t>
            </a:r>
            <a:r>
              <a:rPr lang="en-GB" sz="2400" dirty="0"/>
              <a:t>(-60) = 0.5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6080" y="5949281"/>
            <a:ext cx="2160240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 err="1"/>
              <a:t>cos</a:t>
            </a:r>
            <a:r>
              <a:rPr lang="en-GB" sz="2400" dirty="0"/>
              <a:t>(240) = -0.5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7688" y="5949280"/>
            <a:ext cx="798096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9992" y="5953728"/>
            <a:ext cx="854616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4232" y="5949280"/>
            <a:ext cx="818520" cy="4718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6782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c9/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1208" y="1300521"/>
            <a:ext cx="8096250" cy="5000625"/>
          </a:xfrm>
          <a:prstGeom prst="rect">
            <a:avLst/>
          </a:prstGeom>
          <a:noFill/>
        </p:spPr>
      </p:pic>
      <p:cxnSp>
        <p:nvCxnSpPr>
          <p:cNvPr id="24" name="Straight Connector 23"/>
          <p:cNvCxnSpPr/>
          <p:nvPr/>
        </p:nvCxnSpPr>
        <p:spPr>
          <a:xfrm>
            <a:off x="7002512" y="131028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832304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231904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359696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Tan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it look like?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807200" y="4909592"/>
                <a:ext cx="3630488" cy="175432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Key Features: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Repeats every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𝟏𝟖𝟎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Roots: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0,180°,−180°, …</m:t>
                    </m:r>
                  </m:oMath>
                </a14:m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Range: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 (i.e. no min/max value!)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Asymptotes: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=±90°, ±270°,…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200" y="4909592"/>
                <a:ext cx="3630488" cy="1754326"/>
              </a:xfrm>
              <a:prstGeom prst="rect">
                <a:avLst/>
              </a:prstGeom>
              <a:blipFill>
                <a:blip r:embed="rId3"/>
                <a:stretch>
                  <a:fillRect l="-1169" t="-1027" b="-37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1524000" y="1124744"/>
            <a:ext cx="9144000" cy="57332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431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c9/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Graph Plo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1208" y="1300521"/>
            <a:ext cx="8096250" cy="5000625"/>
          </a:xfrm>
          <a:prstGeom prst="rect">
            <a:avLst/>
          </a:prstGeom>
          <a:noFill/>
        </p:spPr>
      </p:pic>
      <p:cxnSp>
        <p:nvCxnSpPr>
          <p:cNvPr id="24" name="Straight Connector 23"/>
          <p:cNvCxnSpPr/>
          <p:nvPr/>
        </p:nvCxnSpPr>
        <p:spPr>
          <a:xfrm>
            <a:off x="7002512" y="131028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8832304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231904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359696" y="1340768"/>
            <a:ext cx="0" cy="489654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Tan Graph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847528" y="692696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does it look like?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4072" y="37890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90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081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180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4272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270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08368" y="378904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360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71864" y="371703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357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-180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99656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-270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5560" y="371703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-360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19536" y="4992092"/>
                <a:ext cx="7560840" cy="7780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Suppose we know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30°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lang="en-GB" dirty="0"/>
                  <a:t>. By thinking about symmetry in the graph, how could we work out: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4992092"/>
                <a:ext cx="7560840" cy="778098"/>
              </a:xfrm>
              <a:prstGeom prst="rect">
                <a:avLst/>
              </a:prstGeom>
              <a:blipFill>
                <a:blip r:embed="rId3"/>
                <a:stretch>
                  <a:fillRect l="-563" b="-98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39900" y="5847681"/>
                <a:ext cx="2641600" cy="85529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−30°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900" y="5847681"/>
                <a:ext cx="2641600" cy="8552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32908" y="5860381"/>
                <a:ext cx="2566392" cy="855299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150°</m:t>
                              </m:r>
                            </m:e>
                          </m:d>
                        </m:e>
                      </m:func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908" y="5860381"/>
                <a:ext cx="2566392" cy="855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3559832" y="5850369"/>
            <a:ext cx="796268" cy="8044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9814" y="5861807"/>
            <a:ext cx="792187" cy="8310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1716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c9/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Transforming Trigonometric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775520" y="725206"/>
            <a:ext cx="7992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is no new theory here: just use your knowledge of transforming graphs, i.e. whether the transformation occurs ‘inside’ the function (i.e. input modified) or ‘outside’ the function (i.e. output modified).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33042" y="1917268"/>
                <a:ext cx="3543652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042" y="1917268"/>
                <a:ext cx="3543652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203376" y="2789436"/>
            <a:ext cx="0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203376" y="4077072"/>
            <a:ext cx="2884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058296" y="3882256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296" y="3882256"/>
                <a:ext cx="3392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33774" y="2437492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774" y="2437492"/>
                <a:ext cx="339204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76952" y="4061833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952" y="4061833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25974" y="4061832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974" y="4061832"/>
                <a:ext cx="432048" cy="307777"/>
              </a:xfrm>
              <a:prstGeom prst="rect">
                <a:avLst/>
              </a:prstGeom>
              <a:blipFill>
                <a:blip r:embed="rId6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36649" y="406183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649" y="4061831"/>
                <a:ext cx="432048" cy="307777"/>
              </a:xfrm>
              <a:prstGeom prst="rect">
                <a:avLst/>
              </a:prstGeom>
              <a:blipFill>
                <a:blip r:embed="rId7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549821" y="406183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821" y="4061831"/>
                <a:ext cx="432048" cy="307777"/>
              </a:xfrm>
              <a:prstGeom prst="rect">
                <a:avLst/>
              </a:prstGeom>
              <a:blipFill>
                <a:blip r:embed="rId8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/>
          <p:cNvSpPr/>
          <p:nvPr/>
        </p:nvSpPr>
        <p:spPr>
          <a:xfrm>
            <a:off x="2194560" y="3223251"/>
            <a:ext cx="2606040" cy="1714517"/>
          </a:xfrm>
          <a:custGeom>
            <a:avLst/>
            <a:gdLst>
              <a:gd name="connsiteX0" fmla="*/ 0 w 2606040"/>
              <a:gd name="connsiteY0" fmla="*/ 845831 h 1714513"/>
              <a:gd name="connsiteX1" fmla="*/ 647700 w 2606040"/>
              <a:gd name="connsiteY1" fmla="*/ 11 h 1714513"/>
              <a:gd name="connsiteX2" fmla="*/ 1363980 w 2606040"/>
              <a:gd name="connsiteY2" fmla="*/ 861071 h 1714513"/>
              <a:gd name="connsiteX3" fmla="*/ 1981200 w 2606040"/>
              <a:gd name="connsiteY3" fmla="*/ 1714511 h 1714513"/>
              <a:gd name="connsiteX4" fmla="*/ 2606040 w 2606040"/>
              <a:gd name="connsiteY4" fmla="*/ 853451 h 1714513"/>
              <a:gd name="connsiteX0" fmla="*/ 0 w 2606040"/>
              <a:gd name="connsiteY0" fmla="*/ 845831 h 1714516"/>
              <a:gd name="connsiteX1" fmla="*/ 647700 w 2606040"/>
              <a:gd name="connsiteY1" fmla="*/ 11 h 1714516"/>
              <a:gd name="connsiteX2" fmla="*/ 1363980 w 2606040"/>
              <a:gd name="connsiteY2" fmla="*/ 861071 h 1714516"/>
              <a:gd name="connsiteX3" fmla="*/ 1981200 w 2606040"/>
              <a:gd name="connsiteY3" fmla="*/ 1714511 h 1714516"/>
              <a:gd name="connsiteX4" fmla="*/ 2606040 w 2606040"/>
              <a:gd name="connsiteY4" fmla="*/ 853451 h 1714516"/>
              <a:gd name="connsiteX0" fmla="*/ 0 w 2606040"/>
              <a:gd name="connsiteY0" fmla="*/ 845831 h 1714517"/>
              <a:gd name="connsiteX1" fmla="*/ 647700 w 2606040"/>
              <a:gd name="connsiteY1" fmla="*/ 11 h 1714517"/>
              <a:gd name="connsiteX2" fmla="*/ 1363980 w 2606040"/>
              <a:gd name="connsiteY2" fmla="*/ 861071 h 1714517"/>
              <a:gd name="connsiteX3" fmla="*/ 1981200 w 2606040"/>
              <a:gd name="connsiteY3" fmla="*/ 1714511 h 1714517"/>
              <a:gd name="connsiteX4" fmla="*/ 2606040 w 2606040"/>
              <a:gd name="connsiteY4" fmla="*/ 853451 h 1714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6040" h="1714517">
                <a:moveTo>
                  <a:pt x="0" y="845831"/>
                </a:moveTo>
                <a:cubicBezTo>
                  <a:pt x="210185" y="421651"/>
                  <a:pt x="420370" y="-2529"/>
                  <a:pt x="647700" y="11"/>
                </a:cubicBezTo>
                <a:cubicBezTo>
                  <a:pt x="875030" y="2551"/>
                  <a:pt x="1164590" y="186701"/>
                  <a:pt x="1363980" y="861071"/>
                </a:cubicBezTo>
                <a:cubicBezTo>
                  <a:pt x="1563370" y="1535441"/>
                  <a:pt x="1774190" y="1715781"/>
                  <a:pt x="1981200" y="1714511"/>
                </a:cubicBezTo>
                <a:cubicBezTo>
                  <a:pt x="2188210" y="1713241"/>
                  <a:pt x="2397125" y="1283346"/>
                  <a:pt x="2606040" y="85345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835367" y="311342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67" y="3113421"/>
                <a:ext cx="432048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17750" y="463507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750" y="4635071"/>
                <a:ext cx="432048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518780" y="1914986"/>
                <a:ext cx="435622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+45°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8780" y="1914986"/>
                <a:ext cx="4356224" cy="369332"/>
              </a:xfrm>
              <a:prstGeom prst="rect">
                <a:avLst/>
              </a:prstGeom>
              <a:blipFill>
                <a:blip r:embed="rId11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6680880" y="2819733"/>
            <a:ext cx="0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581650" y="4105276"/>
            <a:ext cx="3983742" cy="2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535800" y="3912553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800" y="3912553"/>
                <a:ext cx="33920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511278" y="2467789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278" y="2467789"/>
                <a:ext cx="339204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154456" y="4092130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4456" y="4092130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803478" y="4092129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478" y="4092129"/>
                <a:ext cx="432048" cy="307777"/>
              </a:xfrm>
              <a:prstGeom prst="rect">
                <a:avLst/>
              </a:prstGeom>
              <a:blipFill>
                <a:blip r:embed="rId6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414153" y="409212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153" y="4092128"/>
                <a:ext cx="432048" cy="307777"/>
              </a:xfrm>
              <a:prstGeom prst="rect">
                <a:avLst/>
              </a:prstGeom>
              <a:blipFill>
                <a:blip r:embed="rId7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027325" y="409212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7325" y="4092128"/>
                <a:ext cx="432048" cy="307777"/>
              </a:xfrm>
              <a:prstGeom prst="rect">
                <a:avLst/>
              </a:prstGeom>
              <a:blipFill>
                <a:blip r:embed="rId8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eform: Shape 29"/>
          <p:cNvSpPr/>
          <p:nvPr/>
        </p:nvSpPr>
        <p:spPr>
          <a:xfrm>
            <a:off x="5643146" y="3266208"/>
            <a:ext cx="2606040" cy="1714517"/>
          </a:xfrm>
          <a:custGeom>
            <a:avLst/>
            <a:gdLst>
              <a:gd name="connsiteX0" fmla="*/ 0 w 2606040"/>
              <a:gd name="connsiteY0" fmla="*/ 845831 h 1714513"/>
              <a:gd name="connsiteX1" fmla="*/ 647700 w 2606040"/>
              <a:gd name="connsiteY1" fmla="*/ 11 h 1714513"/>
              <a:gd name="connsiteX2" fmla="*/ 1363980 w 2606040"/>
              <a:gd name="connsiteY2" fmla="*/ 861071 h 1714513"/>
              <a:gd name="connsiteX3" fmla="*/ 1981200 w 2606040"/>
              <a:gd name="connsiteY3" fmla="*/ 1714511 h 1714513"/>
              <a:gd name="connsiteX4" fmla="*/ 2606040 w 2606040"/>
              <a:gd name="connsiteY4" fmla="*/ 853451 h 1714513"/>
              <a:gd name="connsiteX0" fmla="*/ 0 w 2606040"/>
              <a:gd name="connsiteY0" fmla="*/ 845831 h 1714516"/>
              <a:gd name="connsiteX1" fmla="*/ 647700 w 2606040"/>
              <a:gd name="connsiteY1" fmla="*/ 11 h 1714516"/>
              <a:gd name="connsiteX2" fmla="*/ 1363980 w 2606040"/>
              <a:gd name="connsiteY2" fmla="*/ 861071 h 1714516"/>
              <a:gd name="connsiteX3" fmla="*/ 1981200 w 2606040"/>
              <a:gd name="connsiteY3" fmla="*/ 1714511 h 1714516"/>
              <a:gd name="connsiteX4" fmla="*/ 2606040 w 2606040"/>
              <a:gd name="connsiteY4" fmla="*/ 853451 h 1714516"/>
              <a:gd name="connsiteX0" fmla="*/ 0 w 2606040"/>
              <a:gd name="connsiteY0" fmla="*/ 845831 h 1714517"/>
              <a:gd name="connsiteX1" fmla="*/ 647700 w 2606040"/>
              <a:gd name="connsiteY1" fmla="*/ 11 h 1714517"/>
              <a:gd name="connsiteX2" fmla="*/ 1363980 w 2606040"/>
              <a:gd name="connsiteY2" fmla="*/ 861071 h 1714517"/>
              <a:gd name="connsiteX3" fmla="*/ 1981200 w 2606040"/>
              <a:gd name="connsiteY3" fmla="*/ 1714511 h 1714517"/>
              <a:gd name="connsiteX4" fmla="*/ 2606040 w 2606040"/>
              <a:gd name="connsiteY4" fmla="*/ 853451 h 1714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06040" h="1714517">
                <a:moveTo>
                  <a:pt x="0" y="845831"/>
                </a:moveTo>
                <a:cubicBezTo>
                  <a:pt x="210185" y="421651"/>
                  <a:pt x="420370" y="-2529"/>
                  <a:pt x="647700" y="11"/>
                </a:cubicBezTo>
                <a:cubicBezTo>
                  <a:pt x="875030" y="2551"/>
                  <a:pt x="1164590" y="186701"/>
                  <a:pt x="1363980" y="861071"/>
                </a:cubicBezTo>
                <a:cubicBezTo>
                  <a:pt x="1563370" y="1535441"/>
                  <a:pt x="1774190" y="1715781"/>
                  <a:pt x="1981200" y="1714511"/>
                </a:cubicBezTo>
                <a:cubicBezTo>
                  <a:pt x="2188210" y="1713241"/>
                  <a:pt x="2397125" y="1283346"/>
                  <a:pt x="2606040" y="85345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6312871" y="314371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871" y="3143718"/>
                <a:ext cx="432048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295254" y="466536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254" y="4665368"/>
                <a:ext cx="432048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reeform: Shape 32"/>
          <p:cNvSpPr/>
          <p:nvPr/>
        </p:nvSpPr>
        <p:spPr>
          <a:xfrm>
            <a:off x="8244318" y="3266208"/>
            <a:ext cx="1363980" cy="861071"/>
          </a:xfrm>
          <a:custGeom>
            <a:avLst/>
            <a:gdLst>
              <a:gd name="connsiteX0" fmla="*/ 0 w 2606040"/>
              <a:gd name="connsiteY0" fmla="*/ 845831 h 1714513"/>
              <a:gd name="connsiteX1" fmla="*/ 647700 w 2606040"/>
              <a:gd name="connsiteY1" fmla="*/ 11 h 1714513"/>
              <a:gd name="connsiteX2" fmla="*/ 1363980 w 2606040"/>
              <a:gd name="connsiteY2" fmla="*/ 861071 h 1714513"/>
              <a:gd name="connsiteX3" fmla="*/ 1981200 w 2606040"/>
              <a:gd name="connsiteY3" fmla="*/ 1714511 h 1714513"/>
              <a:gd name="connsiteX4" fmla="*/ 2606040 w 2606040"/>
              <a:gd name="connsiteY4" fmla="*/ 853451 h 1714513"/>
              <a:gd name="connsiteX0" fmla="*/ 0 w 2606040"/>
              <a:gd name="connsiteY0" fmla="*/ 845831 h 1714516"/>
              <a:gd name="connsiteX1" fmla="*/ 647700 w 2606040"/>
              <a:gd name="connsiteY1" fmla="*/ 11 h 1714516"/>
              <a:gd name="connsiteX2" fmla="*/ 1363980 w 2606040"/>
              <a:gd name="connsiteY2" fmla="*/ 861071 h 1714516"/>
              <a:gd name="connsiteX3" fmla="*/ 1981200 w 2606040"/>
              <a:gd name="connsiteY3" fmla="*/ 1714511 h 1714516"/>
              <a:gd name="connsiteX4" fmla="*/ 2606040 w 2606040"/>
              <a:gd name="connsiteY4" fmla="*/ 853451 h 1714516"/>
              <a:gd name="connsiteX0" fmla="*/ 0 w 2606040"/>
              <a:gd name="connsiteY0" fmla="*/ 845831 h 1714517"/>
              <a:gd name="connsiteX1" fmla="*/ 647700 w 2606040"/>
              <a:gd name="connsiteY1" fmla="*/ 11 h 1714517"/>
              <a:gd name="connsiteX2" fmla="*/ 1363980 w 2606040"/>
              <a:gd name="connsiteY2" fmla="*/ 861071 h 1714517"/>
              <a:gd name="connsiteX3" fmla="*/ 1981200 w 2606040"/>
              <a:gd name="connsiteY3" fmla="*/ 1714511 h 1714517"/>
              <a:gd name="connsiteX4" fmla="*/ 2606040 w 2606040"/>
              <a:gd name="connsiteY4" fmla="*/ 853451 h 1714517"/>
              <a:gd name="connsiteX0" fmla="*/ 0 w 1981200"/>
              <a:gd name="connsiteY0" fmla="*/ 845831 h 1714517"/>
              <a:gd name="connsiteX1" fmla="*/ 647700 w 1981200"/>
              <a:gd name="connsiteY1" fmla="*/ 11 h 1714517"/>
              <a:gd name="connsiteX2" fmla="*/ 1363980 w 1981200"/>
              <a:gd name="connsiteY2" fmla="*/ 861071 h 1714517"/>
              <a:gd name="connsiteX3" fmla="*/ 1981200 w 1981200"/>
              <a:gd name="connsiteY3" fmla="*/ 1714511 h 1714517"/>
              <a:gd name="connsiteX0" fmla="*/ 0 w 1363980"/>
              <a:gd name="connsiteY0" fmla="*/ 845831 h 861071"/>
              <a:gd name="connsiteX1" fmla="*/ 647700 w 1363980"/>
              <a:gd name="connsiteY1" fmla="*/ 11 h 861071"/>
              <a:gd name="connsiteX2" fmla="*/ 1363980 w 1363980"/>
              <a:gd name="connsiteY2" fmla="*/ 861071 h 86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3980" h="861071">
                <a:moveTo>
                  <a:pt x="0" y="845831"/>
                </a:moveTo>
                <a:cubicBezTo>
                  <a:pt x="210185" y="421651"/>
                  <a:pt x="420370" y="-2529"/>
                  <a:pt x="647700" y="11"/>
                </a:cubicBezTo>
                <a:cubicBezTo>
                  <a:pt x="875030" y="2551"/>
                  <a:pt x="1164590" y="186701"/>
                  <a:pt x="1363980" y="86107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783449" y="4101653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−90°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449" y="4101653"/>
                <a:ext cx="432048" cy="307777"/>
              </a:xfrm>
              <a:prstGeom prst="rect">
                <a:avLst/>
              </a:prstGeom>
              <a:blipFill>
                <a:blip r:embed="rId16"/>
                <a:stretch>
                  <a:fillRect r="-267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Right 37"/>
          <p:cNvSpPr/>
          <p:nvPr/>
        </p:nvSpPr>
        <p:spPr>
          <a:xfrm rot="10800000">
            <a:off x="7154456" y="2837121"/>
            <a:ext cx="432048" cy="3861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500780" y="2875222"/>
                <a:ext cx="6145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45°</m:t>
                      </m:r>
                    </m:oMath>
                  </m:oMathPara>
                </a14:m>
                <a:endParaRPr lang="en-GB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780" y="2875222"/>
                <a:ext cx="614521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Arrow: Up-Down 39"/>
          <p:cNvSpPr/>
          <p:nvPr/>
        </p:nvSpPr>
        <p:spPr>
          <a:xfrm>
            <a:off x="3715649" y="2806825"/>
            <a:ext cx="221001" cy="45938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867476" y="2844598"/>
                <a:ext cx="6145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GB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476" y="2844598"/>
                <a:ext cx="614521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/>
          <p:cNvSpPr/>
          <p:nvPr/>
        </p:nvSpPr>
        <p:spPr>
          <a:xfrm>
            <a:off x="1733290" y="2273538"/>
            <a:ext cx="3543404" cy="3531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18780" y="2273538"/>
            <a:ext cx="4356224" cy="35317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4501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</p:bldLst>
  </p:timing>
</p:sld>
</file>

<file path=ppt/c9/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Transforming Trigonometric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19536" y="990823"/>
                <a:ext cx="374441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990823"/>
                <a:ext cx="3744416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2203376" y="2789436"/>
            <a:ext cx="0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203376" y="4077072"/>
            <a:ext cx="2884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58296" y="3882256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296" y="3882256"/>
                <a:ext cx="3392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33774" y="2437492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774" y="2437492"/>
                <a:ext cx="339204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76952" y="4061833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952" y="4061833"/>
                <a:ext cx="4320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25974" y="4061832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974" y="4061832"/>
                <a:ext cx="432048" cy="307777"/>
              </a:xfrm>
              <a:prstGeom prst="rect">
                <a:avLst/>
              </a:prstGeom>
              <a:blipFill>
                <a:blip r:embed="rId6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36649" y="406183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6649" y="4061831"/>
                <a:ext cx="432048" cy="307777"/>
              </a:xfrm>
              <a:prstGeom prst="rect">
                <a:avLst/>
              </a:prstGeom>
              <a:blipFill>
                <a:blip r:embed="rId7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49821" y="4061831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821" y="4061831"/>
                <a:ext cx="432048" cy="307777"/>
              </a:xfrm>
              <a:prstGeom prst="rect">
                <a:avLst/>
              </a:prstGeom>
              <a:blipFill>
                <a:blip r:embed="rId8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row: Up-Down 16"/>
          <p:cNvSpPr/>
          <p:nvPr/>
        </p:nvSpPr>
        <p:spPr>
          <a:xfrm>
            <a:off x="3855349" y="1905125"/>
            <a:ext cx="221001" cy="45938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007176" y="1942898"/>
                <a:ext cx="8823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×(−1)</m:t>
                      </m:r>
                    </m:oMath>
                  </m:oMathPara>
                </a14:m>
                <a:endParaRPr lang="en-GB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176" y="1942898"/>
                <a:ext cx="882325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2876848" y="2721620"/>
            <a:ext cx="0" cy="249445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151784" y="2708920"/>
            <a:ext cx="0" cy="249445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reeform: Shape 22"/>
          <p:cNvSpPr/>
          <p:nvPr/>
        </p:nvSpPr>
        <p:spPr>
          <a:xfrm>
            <a:off x="2197100" y="4064000"/>
            <a:ext cx="627100" cy="1168400"/>
          </a:xfrm>
          <a:custGeom>
            <a:avLst/>
            <a:gdLst>
              <a:gd name="connsiteX0" fmla="*/ 0 w 627100"/>
              <a:gd name="connsiteY0" fmla="*/ 0 h 1168400"/>
              <a:gd name="connsiteX1" fmla="*/ 393700 w 627100"/>
              <a:gd name="connsiteY1" fmla="*/ 469900 h 1168400"/>
              <a:gd name="connsiteX2" fmla="*/ 596900 w 627100"/>
              <a:gd name="connsiteY2" fmla="*/ 965200 h 1168400"/>
              <a:gd name="connsiteX3" fmla="*/ 622300 w 627100"/>
              <a:gd name="connsiteY3" fmla="*/ 1168400 h 116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7100" h="1168400">
                <a:moveTo>
                  <a:pt x="0" y="0"/>
                </a:moveTo>
                <a:cubicBezTo>
                  <a:pt x="147108" y="154516"/>
                  <a:pt x="294217" y="309033"/>
                  <a:pt x="393700" y="469900"/>
                </a:cubicBezTo>
                <a:cubicBezTo>
                  <a:pt x="493183" y="630767"/>
                  <a:pt x="558800" y="848783"/>
                  <a:pt x="596900" y="965200"/>
                </a:cubicBezTo>
                <a:cubicBezTo>
                  <a:pt x="635000" y="1081617"/>
                  <a:pt x="628650" y="1125008"/>
                  <a:pt x="622300" y="11684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: Shape 23"/>
          <p:cNvSpPr/>
          <p:nvPr/>
        </p:nvSpPr>
        <p:spPr>
          <a:xfrm>
            <a:off x="2959100" y="2641600"/>
            <a:ext cx="1130300" cy="2527300"/>
          </a:xfrm>
          <a:custGeom>
            <a:avLst/>
            <a:gdLst>
              <a:gd name="connsiteX0" fmla="*/ 0 w 1130300"/>
              <a:gd name="connsiteY0" fmla="*/ 0 h 2527300"/>
              <a:gd name="connsiteX1" fmla="*/ 330200 w 1130300"/>
              <a:gd name="connsiteY1" fmla="*/ 939800 h 2527300"/>
              <a:gd name="connsiteX2" fmla="*/ 584200 w 1130300"/>
              <a:gd name="connsiteY2" fmla="*/ 1447800 h 2527300"/>
              <a:gd name="connsiteX3" fmla="*/ 1028700 w 1130300"/>
              <a:gd name="connsiteY3" fmla="*/ 2070100 h 2527300"/>
              <a:gd name="connsiteX4" fmla="*/ 1130300 w 1130300"/>
              <a:gd name="connsiteY4" fmla="*/ 2527300 h 2527300"/>
              <a:gd name="connsiteX0" fmla="*/ 0 w 1130300"/>
              <a:gd name="connsiteY0" fmla="*/ 0 h 2527300"/>
              <a:gd name="connsiteX1" fmla="*/ 266700 w 1130300"/>
              <a:gd name="connsiteY1" fmla="*/ 939800 h 2527300"/>
              <a:gd name="connsiteX2" fmla="*/ 584200 w 1130300"/>
              <a:gd name="connsiteY2" fmla="*/ 1447800 h 2527300"/>
              <a:gd name="connsiteX3" fmla="*/ 1028700 w 1130300"/>
              <a:gd name="connsiteY3" fmla="*/ 2070100 h 2527300"/>
              <a:gd name="connsiteX4" fmla="*/ 1130300 w 1130300"/>
              <a:gd name="connsiteY4" fmla="*/ 2527300 h 25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300" h="2527300">
                <a:moveTo>
                  <a:pt x="0" y="0"/>
                </a:moveTo>
                <a:cubicBezTo>
                  <a:pt x="116416" y="349250"/>
                  <a:pt x="169333" y="698500"/>
                  <a:pt x="266700" y="939800"/>
                </a:cubicBezTo>
                <a:cubicBezTo>
                  <a:pt x="364067" y="1181100"/>
                  <a:pt x="457200" y="1259417"/>
                  <a:pt x="584200" y="1447800"/>
                </a:cubicBezTo>
                <a:cubicBezTo>
                  <a:pt x="711200" y="1636183"/>
                  <a:pt x="937683" y="1890183"/>
                  <a:pt x="1028700" y="2070100"/>
                </a:cubicBezTo>
                <a:cubicBezTo>
                  <a:pt x="1119717" y="2250017"/>
                  <a:pt x="1125008" y="2388658"/>
                  <a:pt x="1130300" y="25273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/>
          <p:cNvSpPr/>
          <p:nvPr/>
        </p:nvSpPr>
        <p:spPr>
          <a:xfrm>
            <a:off x="4229100" y="2679700"/>
            <a:ext cx="546100" cy="1422400"/>
          </a:xfrm>
          <a:custGeom>
            <a:avLst/>
            <a:gdLst>
              <a:gd name="connsiteX0" fmla="*/ 0 w 546100"/>
              <a:gd name="connsiteY0" fmla="*/ 0 h 1422400"/>
              <a:gd name="connsiteX1" fmla="*/ 266700 w 546100"/>
              <a:gd name="connsiteY1" fmla="*/ 990600 h 1422400"/>
              <a:gd name="connsiteX2" fmla="*/ 546100 w 546100"/>
              <a:gd name="connsiteY2" fmla="*/ 1422400 h 142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6100" h="1422400">
                <a:moveTo>
                  <a:pt x="0" y="0"/>
                </a:moveTo>
                <a:cubicBezTo>
                  <a:pt x="87841" y="376766"/>
                  <a:pt x="175683" y="753533"/>
                  <a:pt x="266700" y="990600"/>
                </a:cubicBezTo>
                <a:cubicBezTo>
                  <a:pt x="357717" y="1227667"/>
                  <a:pt x="451908" y="1325033"/>
                  <a:pt x="546100" y="14224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919536" y="1360155"/>
            <a:ext cx="3744416" cy="41570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240016" y="985391"/>
                <a:ext cx="3744416" cy="50687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985391"/>
                <a:ext cx="3744416" cy="5068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6798505" y="2396862"/>
            <a:ext cx="0" cy="2376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798505" y="3684498"/>
            <a:ext cx="2884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653425" y="3489682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425" y="3489682"/>
                <a:ext cx="33920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628903" y="2044918"/>
                <a:ext cx="33920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903" y="2044918"/>
                <a:ext cx="339204" cy="369332"/>
              </a:xfrm>
              <a:prstGeom prst="rect">
                <a:avLst/>
              </a:prstGeom>
              <a:blipFill>
                <a:blip r:embed="rId1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272081" y="3669259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081" y="3669259"/>
                <a:ext cx="432048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21103" y="3669258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180°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1103" y="3669258"/>
                <a:ext cx="432048" cy="307777"/>
              </a:xfrm>
              <a:prstGeom prst="rect">
                <a:avLst/>
              </a:prstGeom>
              <a:blipFill>
                <a:blip r:embed="rId14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531778" y="366925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270°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778" y="3669257"/>
                <a:ext cx="432048" cy="307777"/>
              </a:xfrm>
              <a:prstGeom prst="rect">
                <a:avLst/>
              </a:prstGeom>
              <a:blipFill>
                <a:blip r:embed="rId15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9144950" y="366925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360°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950" y="3669257"/>
                <a:ext cx="432048" cy="307777"/>
              </a:xfrm>
              <a:prstGeom prst="rect">
                <a:avLst/>
              </a:prstGeom>
              <a:blipFill>
                <a:blip r:embed="rId16"/>
                <a:stretch>
                  <a:fillRect r="-183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reeform: Shape 34"/>
          <p:cNvSpPr/>
          <p:nvPr/>
        </p:nvSpPr>
        <p:spPr>
          <a:xfrm>
            <a:off x="6789689" y="2830677"/>
            <a:ext cx="2568289" cy="861071"/>
          </a:xfrm>
          <a:custGeom>
            <a:avLst/>
            <a:gdLst>
              <a:gd name="connsiteX0" fmla="*/ 0 w 2606040"/>
              <a:gd name="connsiteY0" fmla="*/ 845831 h 1714513"/>
              <a:gd name="connsiteX1" fmla="*/ 647700 w 2606040"/>
              <a:gd name="connsiteY1" fmla="*/ 11 h 1714513"/>
              <a:gd name="connsiteX2" fmla="*/ 1363980 w 2606040"/>
              <a:gd name="connsiteY2" fmla="*/ 861071 h 1714513"/>
              <a:gd name="connsiteX3" fmla="*/ 1981200 w 2606040"/>
              <a:gd name="connsiteY3" fmla="*/ 1714511 h 1714513"/>
              <a:gd name="connsiteX4" fmla="*/ 2606040 w 2606040"/>
              <a:gd name="connsiteY4" fmla="*/ 853451 h 1714513"/>
              <a:gd name="connsiteX0" fmla="*/ 0 w 2606040"/>
              <a:gd name="connsiteY0" fmla="*/ 845831 h 1714516"/>
              <a:gd name="connsiteX1" fmla="*/ 647700 w 2606040"/>
              <a:gd name="connsiteY1" fmla="*/ 11 h 1714516"/>
              <a:gd name="connsiteX2" fmla="*/ 1363980 w 2606040"/>
              <a:gd name="connsiteY2" fmla="*/ 861071 h 1714516"/>
              <a:gd name="connsiteX3" fmla="*/ 1981200 w 2606040"/>
              <a:gd name="connsiteY3" fmla="*/ 1714511 h 1714516"/>
              <a:gd name="connsiteX4" fmla="*/ 2606040 w 2606040"/>
              <a:gd name="connsiteY4" fmla="*/ 853451 h 1714516"/>
              <a:gd name="connsiteX0" fmla="*/ 0 w 2606040"/>
              <a:gd name="connsiteY0" fmla="*/ 845831 h 1714517"/>
              <a:gd name="connsiteX1" fmla="*/ 647700 w 2606040"/>
              <a:gd name="connsiteY1" fmla="*/ 11 h 1714517"/>
              <a:gd name="connsiteX2" fmla="*/ 1363980 w 2606040"/>
              <a:gd name="connsiteY2" fmla="*/ 861071 h 1714517"/>
              <a:gd name="connsiteX3" fmla="*/ 1981200 w 2606040"/>
              <a:gd name="connsiteY3" fmla="*/ 1714511 h 1714517"/>
              <a:gd name="connsiteX4" fmla="*/ 2606040 w 2606040"/>
              <a:gd name="connsiteY4" fmla="*/ 853451 h 1714517"/>
              <a:gd name="connsiteX0" fmla="*/ 0 w 2606040"/>
              <a:gd name="connsiteY0" fmla="*/ 845831 h 922707"/>
              <a:gd name="connsiteX1" fmla="*/ 647700 w 2606040"/>
              <a:gd name="connsiteY1" fmla="*/ 11 h 922707"/>
              <a:gd name="connsiteX2" fmla="*/ 1363980 w 2606040"/>
              <a:gd name="connsiteY2" fmla="*/ 861071 h 922707"/>
              <a:gd name="connsiteX3" fmla="*/ 2606040 w 2606040"/>
              <a:gd name="connsiteY3" fmla="*/ 853451 h 922707"/>
              <a:gd name="connsiteX0" fmla="*/ 0 w 1363980"/>
              <a:gd name="connsiteY0" fmla="*/ 845831 h 861071"/>
              <a:gd name="connsiteX1" fmla="*/ 647700 w 1363980"/>
              <a:gd name="connsiteY1" fmla="*/ 11 h 861071"/>
              <a:gd name="connsiteX2" fmla="*/ 1363980 w 1363980"/>
              <a:gd name="connsiteY2" fmla="*/ 861071 h 861071"/>
              <a:gd name="connsiteX0" fmla="*/ 0 w 1363980"/>
              <a:gd name="connsiteY0" fmla="*/ 845831 h 861071"/>
              <a:gd name="connsiteX1" fmla="*/ 647700 w 1363980"/>
              <a:gd name="connsiteY1" fmla="*/ 11 h 861071"/>
              <a:gd name="connsiteX2" fmla="*/ 1363980 w 1363980"/>
              <a:gd name="connsiteY2" fmla="*/ 861071 h 86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3980" h="861071">
                <a:moveTo>
                  <a:pt x="0" y="845831"/>
                </a:moveTo>
                <a:cubicBezTo>
                  <a:pt x="210185" y="421651"/>
                  <a:pt x="420370" y="-2529"/>
                  <a:pt x="647700" y="11"/>
                </a:cubicBezTo>
                <a:cubicBezTo>
                  <a:pt x="875030" y="2551"/>
                  <a:pt x="1017356" y="-43169"/>
                  <a:pt x="1363980" y="86107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430496" y="272084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496" y="2720847"/>
                <a:ext cx="432048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412879" y="4242497"/>
                <a:ext cx="4320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879" y="4242497"/>
                <a:ext cx="432048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row: Up-Down 37"/>
          <p:cNvSpPr/>
          <p:nvPr/>
        </p:nvSpPr>
        <p:spPr>
          <a:xfrm rot="5400000">
            <a:off x="8475878" y="2236451"/>
            <a:ext cx="221001" cy="45938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703905" y="2286924"/>
                <a:ext cx="6145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GB" sz="1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905" y="2286924"/>
                <a:ext cx="614521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6220134" y="1495348"/>
            <a:ext cx="3764298" cy="40218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81842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19" grpId="0" animBg="1"/>
      <p:bldP spid="40" grpId="0" animBg="1"/>
    </p:bldLst>
  </p:timing>
</p:sld>
</file>

<file path=ppt/c9/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9F – Y1 Page 194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E638474-1399-8F23-7B63-D7525BB8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68399"/>
            <a:ext cx="72771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C978DC-5FCF-3B3D-4D0A-4D3116A2B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5" y="2391848"/>
            <a:ext cx="3807057" cy="2074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729059-3E6B-0B2D-E226-4ACDE683E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513" y="4466152"/>
            <a:ext cx="3168037" cy="22346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93502-0FF0-40BE-5B06-ED1CD889F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609" y="2528900"/>
            <a:ext cx="3830266" cy="23402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BE5ED11-F7F4-E9C0-083F-B8E56FF0087D}"/>
              </a:ext>
            </a:extLst>
          </p:cNvPr>
          <p:cNvSpPr/>
          <p:nvPr/>
        </p:nvSpPr>
        <p:spPr>
          <a:xfrm>
            <a:off x="1629802" y="2391848"/>
            <a:ext cx="3890134" cy="21172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1?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E69942-00D7-EC1A-AAD7-3B752C846282}"/>
              </a:ext>
            </a:extLst>
          </p:cNvPr>
          <p:cNvSpPr/>
          <p:nvPr/>
        </p:nvSpPr>
        <p:spPr>
          <a:xfrm>
            <a:off x="1623375" y="4583558"/>
            <a:ext cx="3890134" cy="21172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2?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993155-0770-7E2C-3089-CF9E5F7BCCFE}"/>
              </a:ext>
            </a:extLst>
          </p:cNvPr>
          <p:cNvSpPr/>
          <p:nvPr/>
        </p:nvSpPr>
        <p:spPr>
          <a:xfrm>
            <a:off x="5735960" y="2391848"/>
            <a:ext cx="4248472" cy="430898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3?</a:t>
            </a:r>
          </a:p>
        </p:txBody>
      </p:sp>
    </p:spTree>
    <p:extLst>
      <p:ext uri="{BB962C8B-B14F-4D97-AF65-F5344CB8AC3E}">
        <p14:creationId xmlns:p14="http://schemas.microsoft.com/office/powerpoint/2010/main" val="299319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c9/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9G – Y1 Pages 197-198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634708B-049B-B977-9EA3-3E8AB2C41516}"/>
              </a:ext>
            </a:extLst>
          </p:cNvPr>
          <p:cNvGrpSpPr/>
          <p:nvPr/>
        </p:nvGrpSpPr>
        <p:grpSpPr>
          <a:xfrm>
            <a:off x="1534433" y="586565"/>
            <a:ext cx="7079607" cy="1710905"/>
            <a:chOff x="179512" y="620688"/>
            <a:chExt cx="7772400" cy="18783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38C6DE-E5E9-0DCF-C886-7BE795185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620688"/>
              <a:ext cx="7772400" cy="187833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C9B0E9-130F-4543-644B-29D251411AC7}"/>
                </a:ext>
              </a:extLst>
            </p:cNvPr>
            <p:cNvSpPr/>
            <p:nvPr/>
          </p:nvSpPr>
          <p:spPr>
            <a:xfrm>
              <a:off x="2411760" y="1700808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66054B-8856-5755-C336-42DFC3456A7B}"/>
                </a:ext>
              </a:extLst>
            </p:cNvPr>
            <p:cNvSpPr/>
            <p:nvPr/>
          </p:nvSpPr>
          <p:spPr>
            <a:xfrm>
              <a:off x="7092280" y="2243138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3223147-9AA9-5249-8377-08885644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7" y="2502574"/>
            <a:ext cx="2949887" cy="12033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FCC610-3449-AF87-6ACC-D9EEBB919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37" y="2502574"/>
            <a:ext cx="2076717" cy="6799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0CCAB7-FA01-A5C3-4795-46252C40AF88}"/>
              </a:ext>
            </a:extLst>
          </p:cNvPr>
          <p:cNvSpPr/>
          <p:nvPr/>
        </p:nvSpPr>
        <p:spPr>
          <a:xfrm>
            <a:off x="1886964" y="2382304"/>
            <a:ext cx="3187272" cy="17347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C9485F-2F95-EA53-D57F-CD4F7AA026CE}"/>
              </a:ext>
            </a:extLst>
          </p:cNvPr>
          <p:cNvSpPr/>
          <p:nvPr/>
        </p:nvSpPr>
        <p:spPr>
          <a:xfrm>
            <a:off x="6240016" y="4112951"/>
            <a:ext cx="3187272" cy="17347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099589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c9/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9G – Y1 Pages 197-198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2C99637-426F-547C-620B-946021F85403}"/>
              </a:ext>
            </a:extLst>
          </p:cNvPr>
          <p:cNvGrpSpPr/>
          <p:nvPr/>
        </p:nvGrpSpPr>
        <p:grpSpPr>
          <a:xfrm>
            <a:off x="1703512" y="692697"/>
            <a:ext cx="7772400" cy="1961605"/>
            <a:chOff x="179512" y="692696"/>
            <a:chExt cx="7772400" cy="196160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485E795-EEEF-F425-2C32-5C9995DDB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692696"/>
              <a:ext cx="7772400" cy="196160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FC4B1D3-751E-4BE7-491E-BEFE1A83F159}"/>
                </a:ext>
              </a:extLst>
            </p:cNvPr>
            <p:cNvSpPr/>
            <p:nvPr/>
          </p:nvSpPr>
          <p:spPr>
            <a:xfrm>
              <a:off x="2627784" y="1702311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C44743-68AF-D46C-EA58-C4AE6F299110}"/>
                </a:ext>
              </a:extLst>
            </p:cNvPr>
            <p:cNvSpPr/>
            <p:nvPr/>
          </p:nvSpPr>
          <p:spPr>
            <a:xfrm>
              <a:off x="1979712" y="2438277"/>
              <a:ext cx="792088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95647625"/>
      </p:ext>
    </p:extLst>
  </p:cSld>
  <p:clrMapOvr>
    <a:masterClrMapping/>
  </p:clrMapOvr>
</p:sld>
</file>

<file path=ppt/c9/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9G – Y1 Pages 197-198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0AE188F-96DF-D574-F3A0-99ACE93FC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20689"/>
            <a:ext cx="7772400" cy="129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63469"/>
      </p:ext>
    </p:extLst>
  </p:cSld>
  <p:clrMapOvr>
    <a:masterClrMapping/>
  </p:clrMapOvr>
</p:sld>
</file>

<file path=ppt/c9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9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