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5.xml" ContentType="application/vnd.openxmlformats-officedocument.presentationml.slide+xml"/>
  <ns0:Override PartName="/ppt/c2/ppt/slides/slide6.xml" ContentType="application/vnd.openxmlformats-officedocument.presentationml.slide+xml"/>
  <ns0:Override PartName="/ppt/c2/ppt/slides/slide7.xml" ContentType="application/vnd.openxmlformats-officedocument.presentationml.slide+xml"/>
  <ns0:Override PartName="/ppt/c2/ppt/slides/slide8.xml" ContentType="application/vnd.openxmlformats-officedocument.presentationml.slide+xml"/>
  <ns0:Override PartName="/ppt/c2/ppt/slides/slide9.xml" ContentType="application/vnd.openxmlformats-officedocument.presentationml.slide+xml"/>
  <ns0:Override PartName="/ppt/c2/ppt/slides/slide10.xml" ContentType="application/vnd.openxmlformats-officedocument.presentationml.slide+xml"/>
  <ns0:Override PartName="/ppt/c2/ppt/slides/slide11.xml" ContentType="application/vnd.openxmlformats-officedocument.presentationml.slide+xml"/>
  <ns0:Override PartName="/ppt/c2/ppt/slides/slide12.xml" ContentType="application/vnd.openxmlformats-officedocument.presentationml.slide+xml"/>
  <ns0:Override PartName="/ppt/c2/ppt/slides/slide13.xml" ContentType="application/vnd.openxmlformats-officedocument.presentationml.slide+xml"/>
  <ns0:Override PartName="/ppt/c2/ppt/slides/slide14.xml" ContentType="application/vnd.openxmlformats-officedocument.presentationml.slide+xml"/>
  <ns0:Override PartName="/ppt/c2/ppt/slides/slide15.xml" ContentType="application/vnd.openxmlformats-officedocument.presentationml.slide+xml"/>
  <ns0:Override PartName="/ppt/c2/ppt/slides/slide16.xml" ContentType="application/vnd.openxmlformats-officedocument.presentationml.slide+xml"/>
  <ns0:Override PartName="/ppt/c2/ppt/slides/slide17.xml" ContentType="application/vnd.openxmlformats-officedocument.presentationml.slide+xml"/>
  <ns0:Override PartName="/ppt/c2/ppt/slides/slide18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2.xml" ContentType="application/vnd.openxmlformats-officedocument.presentationml.notesSlide+xml"/>
  <ns0:Override PartName="/ppt/c2/ppt/notesSlides/notesSlide3.xml" ContentType="application/vnd.openxmlformats-officedocument.presentationml.notesSlide+xml"/>
  <ns0:Override PartName="/ppt/c2/ppt/notesSlides/notesSlide4.xml" ContentType="application/vnd.openxmlformats-officedocument.presentationml.notesSlide+xml"/>
  <ns0:Override PartName="/ppt/c2/ppt/notesSlides/notesSlide5.xml" ContentType="application/vnd.openxmlformats-officedocument.presentationml.notesSlide+xml"/>
  <ns0:Override PartName="/ppt/c2/ppt/notesSlides/notesSlide6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15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5.xml" /><ns0:Relationship Id="rId2" Type="http://schemas.openxmlformats.org/officeDocument/2006/relationships/slide" Target="c2/ppt/slides/slide6.xml" /><ns0:Relationship Id="rId3" Type="http://schemas.openxmlformats.org/officeDocument/2006/relationships/slide" Target="c2/ppt/slides/slide7.xml" /><ns0:Relationship Id="rId4" Type="http://schemas.openxmlformats.org/officeDocument/2006/relationships/slide" Target="c2/ppt/slides/slide8.xml" /><ns0:Relationship Id="rId5" Type="http://schemas.openxmlformats.org/officeDocument/2006/relationships/slide" Target="c2/ppt/slides/slide9.xml" /><ns0:Relationship Id="rId6" Type="http://schemas.openxmlformats.org/officeDocument/2006/relationships/slide" Target="c2/ppt/slides/slide10.xml" /><ns0:Relationship Id="rId7" Type="http://schemas.openxmlformats.org/officeDocument/2006/relationships/slide" Target="c2/ppt/slides/slide11.xml" /><ns0:Relationship Id="rId8" Type="http://schemas.openxmlformats.org/officeDocument/2006/relationships/slide" Target="c2/ppt/slides/slide12.xml" /><ns0:Relationship Id="rId9" Type="http://schemas.openxmlformats.org/officeDocument/2006/relationships/slide" Target="c2/ppt/slides/slide13.xml" /><ns0:Relationship Id="rId10" Type="http://schemas.openxmlformats.org/officeDocument/2006/relationships/slide" Target="c2/ppt/slides/slide14.xml" /><ns0:Relationship Id="rId11" Type="http://schemas.openxmlformats.org/officeDocument/2006/relationships/slide" Target="c2/ppt/slides/slide15.xml" /><ns0:Relationship Id="rId12" Type="http://schemas.openxmlformats.org/officeDocument/2006/relationships/slide" Target="c2/ppt/slides/slide16.xml" /><ns0:Relationship Id="rId13" Type="http://schemas.openxmlformats.org/officeDocument/2006/relationships/slide" Target="c2/ppt/slides/slide17.xml" /><ns0:Relationship Id="rId14" Type="http://schemas.openxmlformats.org/officeDocument/2006/relationships/slide" Target="c2/ppt/slides/slide18.xml" /><ns0:Relationship Id="rId15" Type="http://schemas.openxmlformats.org/officeDocument/2006/relationships/slideMaster" Target="c2/ppt/slideMasters/slideMaster1.xml" /><ns0:Relationship Id="rId16" Type="http://schemas.openxmlformats.org/officeDocument/2006/relationships/notesMaster" Target="c2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8.xml" /><ns0:Relationship Id="rId1" Type="http://schemas.openxmlformats.org/officeDocument/2006/relationships/notesMaster" Target="../notesMasters/notesMaster1.xml" /></ns0:Relationships>
</file>

<file path=ppt/c2/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9.xml" /><ns0:Relationship Id="rId1" Type="http://schemas.openxmlformats.org/officeDocument/2006/relationships/notesMaster" Target="../notesMasters/notesMaster1.xml" /></ns0:Relationships>
</file>

<file path=ppt/c2/ppt/notesSlides/_rels/notesSlide4.xml.rels><?xml version='1.0' encoding='utf-8'?>
<ns0:Relationships xmlns:ns0="http://schemas.openxmlformats.org/package/2006/relationships"><ns0:Relationship Id="rId2" Type="http://schemas.openxmlformats.org/officeDocument/2006/relationships/slide" Target="../slides/slide10.xml" /><ns0:Relationship Id="rId1" Type="http://schemas.openxmlformats.org/officeDocument/2006/relationships/notesMaster" Target="../notesMasters/notesMaster1.xml" /></ns0:Relationships>
</file>

<file path=ppt/c2/ppt/notesSlides/_rels/notesSlide5.xml.rels><?xml version='1.0' encoding='utf-8'?>
<ns0:Relationships xmlns:ns0="http://schemas.openxmlformats.org/package/2006/relationships"><ns0:Relationship Id="rId2" Type="http://schemas.openxmlformats.org/officeDocument/2006/relationships/slide" Target="../slides/slide16.xml" /><ns0:Relationship Id="rId1" Type="http://schemas.openxmlformats.org/officeDocument/2006/relationships/notesMaster" Target="../notesMasters/notesMaster1.xml" /></ns0:Relationships>
</file>

<file path=ppt/c2/ppt/notesSlides/_rels/notesSlide6.xml.rels><?xml version='1.0' encoding='utf-8'?>
<ns0:Relationships xmlns:ns0="http://schemas.openxmlformats.org/package/2006/relationships"><ns0:Relationship Id="rId2" Type="http://schemas.openxmlformats.org/officeDocument/2006/relationships/slide" Target="../slides/slide17.xml" /><ns0:Relationship Id="rId1" Type="http://schemas.openxmlformats.org/officeDocument/2006/relationships/notesMaster" Target="../notesMasters/notesMaster1.xml" /></ns0:Relationships>
</file>

<file path=ppt/c2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51720"/>
      </p:ext>
    </p:extLst>
  </p:cSld>
  <p:clrMapOvr>
    <a:masterClrMapping/>
  </p:clrMapOvr>
</p:notes>
</file>

<file path=ppt/c2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07144"/>
      </p:ext>
    </p:extLst>
  </p:cSld>
  <p:clrMapOvr>
    <a:masterClrMapping/>
  </p:clrMapOvr>
</p:notes>
</file>

<file path=ppt/c2/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98530"/>
      </p:ext>
    </p:extLst>
  </p:cSld>
  <p:clrMapOvr>
    <a:masterClrMapping/>
  </p:clrMapOvr>
</p:notes>
</file>

<file path=ppt/c2/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115490"/>
      </p:ext>
    </p:extLst>
  </p:cSld>
  <p:clrMapOvr>
    <a:masterClrMapping/>
  </p:clrMapOvr>
</p:notes>
</file>

<file path=ppt/c2/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480457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2" Type="http://schemas.openxmlformats.org/officeDocument/2006/relationships/image" Target="../media/image13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6.png" /><ns0:Relationship Id="rId4" Type="http://schemas.openxmlformats.org/officeDocument/2006/relationships/image" Target="../media/image15.png" /></ns0:Relationships>
</file>

<file path=ppt/c2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8.png" /><ns0:Relationship Id="rId7" Type="http://schemas.openxmlformats.org/officeDocument/2006/relationships/image" Target="../media/image22.png" /><ns0:Relationship Id="rId2" Type="http://schemas.openxmlformats.org/officeDocument/2006/relationships/image" Target="../media/image17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21.png" /><ns0:Relationship Id="rId5" Type="http://schemas.openxmlformats.org/officeDocument/2006/relationships/image" Target="../media/image20.png" /><ns0:Relationship Id="rId4" Type="http://schemas.openxmlformats.org/officeDocument/2006/relationships/image" Target="../media/image19.png" /></ns0:Relationships>
</file>

<file path=ppt/c2/ppt/slides/_rels/slide7.xml.rels><?xml version='1.0' encoding='utf-8'?>
<ns0:Relationships xmlns:ns0="http://schemas.openxmlformats.org/package/2006/relationships"><ns0:Relationship Id="rId8" Type="http://schemas.openxmlformats.org/officeDocument/2006/relationships/image" Target="../media/image29.png" /><ns0:Relationship Id="rId3" Type="http://schemas.openxmlformats.org/officeDocument/2006/relationships/image" Target="../media/image24.png" /><ns0:Relationship Id="rId7" Type="http://schemas.openxmlformats.org/officeDocument/2006/relationships/image" Target="../media/image28.png" /><ns0:Relationship Id="rId2" Type="http://schemas.openxmlformats.org/officeDocument/2006/relationships/image" Target="../media/image23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27.png" /><ns0:Relationship Id="rId5" Type="http://schemas.openxmlformats.org/officeDocument/2006/relationships/image" Target="../media/image26.png" /><ns0:Relationship Id="rId10" Type="http://schemas.openxmlformats.org/officeDocument/2006/relationships/image" Target="../media/image412.png" /><ns0:Relationship Id="rId4" Type="http://schemas.openxmlformats.org/officeDocument/2006/relationships/image" Target="../media/image25.png" /><ns0:Relationship Id="rId9" Type="http://schemas.openxmlformats.org/officeDocument/2006/relationships/image" Target="../media/image30.png" /></ns0:Relationships>
</file>

<file path=ppt/c2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10.png" /><ns0:Relationship Id="rId3" Type="http://schemas.openxmlformats.org/officeDocument/2006/relationships/image" Target="../media/image5.png" /><ns0:Relationship Id="rId7" Type="http://schemas.openxmlformats.org/officeDocument/2006/relationships/image" Target="../media/image9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8.png" /><ns0:Relationship Id="rId11" Type="http://schemas.openxmlformats.org/officeDocument/2006/relationships/image" Target="../media/image32.png" /><ns0:Relationship Id="rId5" Type="http://schemas.openxmlformats.org/officeDocument/2006/relationships/image" Target="../media/image7.png" /><ns0:Relationship Id="rId10" Type="http://schemas.openxmlformats.org/officeDocument/2006/relationships/image" Target="../media/image31.png" /><ns0:Relationship Id="rId4" Type="http://schemas.openxmlformats.org/officeDocument/2006/relationships/image" Target="../media/image6.png" /><ns0:Relationship Id="rId9" Type="http://schemas.openxmlformats.org/officeDocument/2006/relationships/image" Target="../media/image12.png" /></ns0:Relationships>
</file>

<file path=ppt/c2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38.png" /><ns0:Relationship Id="rId3" Type="http://schemas.openxmlformats.org/officeDocument/2006/relationships/image" Target="../media/image33.png" /><ns0:Relationship Id="rId7" Type="http://schemas.openxmlformats.org/officeDocument/2006/relationships/image" Target="../media/image37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36.png" /><ns0:Relationship Id="rId5" Type="http://schemas.openxmlformats.org/officeDocument/2006/relationships/image" Target="../media/image35.png" /><ns0:Relationship Id="rId4" Type="http://schemas.openxmlformats.org/officeDocument/2006/relationships/image" Target="../media/image34.png" /><ns0:Relationship Id="rId9" Type="http://schemas.openxmlformats.org/officeDocument/2006/relationships/image" Target="../media/image39.png" /></ns0:Relationships>
</file>

<file path=ppt/c2/ppt/slides/_rels/slide10.xml.rels><?xml version='1.0' encoding='utf-8'?>
<ns0:Relationships xmlns:ns0="http://schemas.openxmlformats.org/package/2006/relationships"><ns0:Relationship Id="rId3" Type="http://schemas.openxmlformats.org/officeDocument/2006/relationships/hyperlink" Target="http://www.drfrostmaths.com/resources/resource.php?rid=268" TargetMode="External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2.png" /><ns0:Relationship Id="rId5" Type="http://schemas.openxmlformats.org/officeDocument/2006/relationships/image" Target="../media/image41.png" /><ns0:Relationship Id="rId4" Type="http://schemas.openxmlformats.org/officeDocument/2006/relationships/image" Target="../media/image40.png" /></ns0:Relationships>
</file>

<file path=ppt/c2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350.png" /><ns0:Relationship Id="rId2" Type="http://schemas.openxmlformats.org/officeDocument/2006/relationships/image" Target="../media/image34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370.png" /><ns0:Relationship Id="rId4" Type="http://schemas.openxmlformats.org/officeDocument/2006/relationships/image" Target="../media/image360.png" /></ns0:Relationships>
</file>

<file path=ppt/c2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390.png" /><ns0:Relationship Id="rId7" Type="http://schemas.openxmlformats.org/officeDocument/2006/relationships/image" Target="../media/image43.png" /><ns0:Relationship Id="rId2" Type="http://schemas.openxmlformats.org/officeDocument/2006/relationships/image" Target="../media/image38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20.png" /><ns0:Relationship Id="rId5" Type="http://schemas.openxmlformats.org/officeDocument/2006/relationships/image" Target="../media/image411.png" /><ns0:Relationship Id="rId4" Type="http://schemas.openxmlformats.org/officeDocument/2006/relationships/image" Target="../media/image400.png" /></ns0:Relationships>
</file>

<file path=ppt/c2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45.png" /><ns0:Relationship Id="rId7" Type="http://schemas.openxmlformats.org/officeDocument/2006/relationships/image" Target="../media/image49.png" /><ns0:Relationship Id="rId2" Type="http://schemas.openxmlformats.org/officeDocument/2006/relationships/image" Target="../media/image44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8.png" /><ns0:Relationship Id="rId5" Type="http://schemas.openxmlformats.org/officeDocument/2006/relationships/image" Target="../media/image47.png" /><ns0:Relationship Id="rId4" Type="http://schemas.openxmlformats.org/officeDocument/2006/relationships/image" Target="../media/image46.png" /></ns0:Relationships>
</file>

<file path=ppt/c2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51.png" /><ns0:Relationship Id="rId2" Type="http://schemas.openxmlformats.org/officeDocument/2006/relationships/image" Target="../media/image5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53.png" /><ns0:Relationship Id="rId4" Type="http://schemas.openxmlformats.org/officeDocument/2006/relationships/image" Target="../media/image52.png" /></ns0:Relationships>
</file>

<file path=ppt/c2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55.png" /><ns0:Relationship Id="rId2" Type="http://schemas.openxmlformats.org/officeDocument/2006/relationships/image" Target="../media/image54.png" /><ns0:Relationship Id="rId1" Type="http://schemas.openxmlformats.org/officeDocument/2006/relationships/slideLayout" Target="../slideLayouts/slideLayout3.xml" /><ns0:Relationship Id="rId4" Type="http://schemas.openxmlformats.org/officeDocument/2006/relationships/image" Target="../media/image611.png" /></ns0:Relationships>
</file>

<file path=ppt/c2/ppt/slides/_rels/slide16.xml.rels><?xml version='1.0' encoding='utf-8'?>
<ns0:Relationships xmlns:ns0="http://schemas.openxmlformats.org/package/2006/relationships"><ns0:Relationship Id="rId8" Type="http://schemas.openxmlformats.org/officeDocument/2006/relationships/image" Target="../media/image61.png" /><ns0:Relationship Id="rId13" Type="http://schemas.openxmlformats.org/officeDocument/2006/relationships/image" Target="../media/image66.png" /><ns0:Relationship Id="rId3" Type="http://schemas.openxmlformats.org/officeDocument/2006/relationships/image" Target="../media/image56.png" /><ns0:Relationship Id="rId7" Type="http://schemas.openxmlformats.org/officeDocument/2006/relationships/image" Target="../media/image60.png" /><ns0:Relationship Id="rId12" Type="http://schemas.openxmlformats.org/officeDocument/2006/relationships/image" Target="../media/image65.png" /><ns0:Relationship Id="rId2" Type="http://schemas.openxmlformats.org/officeDocument/2006/relationships/notesSlide" Target="../notesSlides/notesSlide5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59.png" /><ns0:Relationship Id="rId11" Type="http://schemas.openxmlformats.org/officeDocument/2006/relationships/image" Target="../media/image64.png" /><ns0:Relationship Id="rId5" Type="http://schemas.openxmlformats.org/officeDocument/2006/relationships/image" Target="../media/image58.png" /><ns0:Relationship Id="rId10" Type="http://schemas.openxmlformats.org/officeDocument/2006/relationships/image" Target="../media/image63.png" /><ns0:Relationship Id="rId4" Type="http://schemas.openxmlformats.org/officeDocument/2006/relationships/image" Target="../media/image57.png" /><ns0:Relationship Id="rId9" Type="http://schemas.openxmlformats.org/officeDocument/2006/relationships/image" Target="../media/image62.png" /></ns0:Relationships>
</file>

<file path=ppt/c2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71.png" /><ns0:Relationship Id="rId7" Type="http://schemas.openxmlformats.org/officeDocument/2006/relationships/image" Target="../media/image70.png" /><ns0:Relationship Id="rId2" Type="http://schemas.openxmlformats.org/officeDocument/2006/relationships/notesSlide" Target="../notesSlides/notesSlide6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69.png" /><ns0:Relationship Id="rId5" Type="http://schemas.openxmlformats.org/officeDocument/2006/relationships/image" Target="../media/image68.png" /><ns0:Relationship Id="rId4" Type="http://schemas.openxmlformats.org/officeDocument/2006/relationships/image" Target="../media/image67.png" /><ns0:Relationship Id="rId9" Type="http://schemas.openxmlformats.org/officeDocument/2006/relationships/image" Target="../media/image72.png" /></ns0:Relationships>
</file>

<file path=ppt/c2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580.png" /><ns0:Relationship Id="rId2" Type="http://schemas.openxmlformats.org/officeDocument/2006/relationships/image" Target="../media/image570.png" /><ns0:Relationship Id="rId1" Type="http://schemas.openxmlformats.org/officeDocument/2006/relationships/slideLayout" Target="../slideLayouts/slideLayout3.xml" /></ns0:Relationships>
</file>

<file path=ppt/c2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Solving Quadratic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29" y="894206"/>
                <a:ext cx="43204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29" y="894206"/>
                <a:ext cx="432048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15210" y="1602092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three ways of solving a quadratic equation.</a:t>
            </a:r>
          </a:p>
          <a:p>
            <a:r>
              <a:rPr lang="en-GB" dirty="0"/>
              <a:t>One is by </a:t>
            </a:r>
            <a:r>
              <a:rPr lang="en-GB" i="1" dirty="0"/>
              <a:t>completing the square</a:t>
            </a:r>
            <a:r>
              <a:rPr lang="en-GB" dirty="0"/>
              <a:t>, which we’ll do later.</a:t>
            </a:r>
          </a:p>
          <a:p>
            <a:r>
              <a:rPr lang="en-GB" dirty="0"/>
              <a:t>What are the other two ways?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4" y="2780928"/>
            <a:ext cx="492106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By factorisation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38515" y="3394799"/>
                <a:ext cx="27363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=−6,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5" y="3394799"/>
                <a:ext cx="2736304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572767" y="3407725"/>
                <a:ext cx="1815841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in form.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with 0 on one side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767" y="3407725"/>
                <a:ext cx="1815841" cy="830997"/>
              </a:xfrm>
              <a:prstGeom prst="rect">
                <a:avLst/>
              </a:prstGeom>
              <a:blipFill>
                <a:blip r:embed="rId4"/>
                <a:stretch>
                  <a:fillRect l="-993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stCxn id="32" idx="1"/>
          </p:cNvCxnSpPr>
          <p:nvPr/>
        </p:nvCxnSpPr>
        <p:spPr>
          <a:xfrm flipH="1" flipV="1">
            <a:off x="3059832" y="3645024"/>
            <a:ext cx="512935" cy="17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48145" y="4384778"/>
            <a:ext cx="1815841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Factorise. If the product of two things is 0, at least one must be 0.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2844800" y="4209143"/>
            <a:ext cx="503346" cy="59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67544" y="3179108"/>
            <a:ext cx="4921064" cy="2282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2120" y="2780928"/>
            <a:ext cx="31870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Using the quadratic formula.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652120" y="3179108"/>
                <a:ext cx="3024336" cy="3175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25+24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−5±7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179108"/>
                <a:ext cx="3024336" cy="3175741"/>
              </a:xfrm>
              <a:prstGeom prst="rect">
                <a:avLst/>
              </a:prstGeom>
              <a:blipFill>
                <a:blip r:embed="rId5"/>
                <a:stretch>
                  <a:fillRect l="-1613" t="-1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5628726" y="3179107"/>
            <a:ext cx="3210474" cy="3175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</p:bldLst>
  </p:timing>
</p:sld>
</file>

<file path=ppt/c2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Solving Quadratic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687964" y="1236174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the subject only appears once however, it might be easier not to expand out/factorise: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−1=±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blipFill>
                <a:blip r:embed="rId2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If you can’t see why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en-GB" sz="1400" dirty="0"/>
                  <a:t> is required, think about the solutions to: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 as well! </a:t>
                </a:r>
              </a:p>
              <a:p>
                <a:r>
                  <a:rPr lang="en-GB" sz="1400" dirty="0"/>
                  <a:t>So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  <a:blipFill>
                <a:blip r:embed="rId3"/>
                <a:stretch>
                  <a:fillRect l="-195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008444" y="2433308"/>
            <a:ext cx="720080" cy="7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have an expression like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dirty="0"/>
                  <a:t>, we say it is “quadratic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 In trigonometry you will have to solve equations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. We say that the expression is “quadratic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”. </a:t>
                </a:r>
              </a:p>
              <a:p>
                <a:r>
                  <a:rPr lang="en-GB" dirty="0"/>
                  <a:t>Either use a suitable substitution so that you have a ‘normal’ quadratic, or go straight for the factorisation if you’re feeling more confident (recommended!).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blipFill>
                <a:blip r:embed="rId4"/>
                <a:stretch>
                  <a:fillRect l="-713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91932" y="3212970"/>
            <a:ext cx="25202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Quadratics ‘in disguise’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537" y="713684"/>
            <a:ext cx="295232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Solving without 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−6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blipFill>
                <a:blip r:embed="rId5"/>
                <a:stretch>
                  <a:fillRect l="-2822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   →  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blipFill>
                <a:blip r:embed="rId6"/>
                <a:stretch>
                  <a:fillRect l="-1488" t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3" idx="2"/>
          </p:cNvCxnSpPr>
          <p:nvPr/>
        </p:nvCxnSpPr>
        <p:spPr>
          <a:xfrm flipH="1">
            <a:off x="3846286" y="5525399"/>
            <a:ext cx="794659" cy="498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</p:cNvCxnSpPr>
          <p:nvPr/>
        </p:nvCxnSpPr>
        <p:spPr>
          <a:xfrm>
            <a:off x="4640945" y="5525399"/>
            <a:ext cx="1498598" cy="59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1206920">
            <a:off x="4920343" y="5890878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hardcore</a:t>
            </a:r>
          </a:p>
        </p:txBody>
      </p:sp>
      <p:sp>
        <p:nvSpPr>
          <p:cNvPr id="24" name="TextBox 23"/>
          <p:cNvSpPr txBox="1"/>
          <p:nvPr/>
        </p:nvSpPr>
        <p:spPr>
          <a:xfrm rot="19609058">
            <a:off x="3733322" y="5673362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substitution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4229" y="5602514"/>
            <a:ext cx="2536914" cy="1093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409" y="5457371"/>
            <a:ext cx="3554219" cy="13207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7143" y="2307771"/>
            <a:ext cx="2536914" cy="699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61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/>
      <p:bldP spid="21" grpId="0"/>
      <p:bldP spid="24" grpId="0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</p:bldLst>
  </p:timing>
</p:sld>
</file>

<file path=ppt/c2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dirty="0"/>
                  <a:t> using factorisation.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blipFill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blipFill>
                <a:blip r:embed="rId4"/>
                <a:stretch>
                  <a:fillRect b="-4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sz="1600" dirty="0"/>
                  <a:t>The latter gives no solution because the square root of a number can’t give a negative number.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blipFill>
                <a:blip r:embed="rId5"/>
                <a:stretch>
                  <a:fillRect l="-987" b="-2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Squaring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b="1" dirty="0"/>
                  <a:t>However</a:t>
                </a:r>
                <a:r>
                  <a:rPr lang="en-GB" sz="1600" dirty="0"/>
                  <a:t>, squaring both sides of an equation </a:t>
                </a:r>
                <a:r>
                  <a:rPr lang="en-GB" sz="1600" b="1" dirty="0"/>
                  <a:t>can generate false solutions</a:t>
                </a:r>
                <a:r>
                  <a:rPr lang="en-GB" sz="1600" dirty="0"/>
                  <a:t>. e.g.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sz="1600" dirty="0"/>
                  <a:t>, squaring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which falsely creates the extra solution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! We therefore need to check by substituting into the original equation, where we find only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 works.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blipFill>
                <a:blip r:embed="rId9"/>
                <a:stretch>
                  <a:fillRect l="-862" t="-556" b="-1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95355" y="3404656"/>
            <a:ext cx="3609456" cy="33367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0128" y="1282304"/>
            <a:ext cx="3632430" cy="14173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355" y="1540079"/>
            <a:ext cx="3641213" cy="1159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9060" y="3382834"/>
            <a:ext cx="4248209" cy="218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04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3007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557" y="300645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2487" y="2993872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“Use of Technology”:</a:t>
                </a:r>
              </a:p>
              <a:p>
                <a:r>
                  <a:rPr lang="en-GB" sz="1200" dirty="0"/>
                  <a:t>The ‘equation’ mode on your calculator will solve quadratics in the form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When you’re asked for the ‘order’, use 2 (we’ll see why later).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  <a:blipFill>
                <a:blip r:embed="rId10"/>
                <a:stretch>
                  <a:fillRect r="-673" b="-2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2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c2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B53744A-4261-5FEA-C854-3331445A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44847"/>
            <a:ext cx="3296110" cy="3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1D7011-D2D4-1574-15F4-D7496A03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78" y="1001756"/>
            <a:ext cx="1781424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53B65B-45CE-5573-7424-69295DB53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158" y="1001756"/>
            <a:ext cx="2762636" cy="3429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40417-FBA3-14F7-B849-8ABF59927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92" y="2996952"/>
            <a:ext cx="5551892" cy="13796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AE6763-020C-DBA1-F516-F30129072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782" y="4744974"/>
            <a:ext cx="3672408" cy="3594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3D2BB6-0B97-DF71-0EDD-3DEE59DCB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92" y="1462694"/>
            <a:ext cx="2134906" cy="12249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7790690-A004-96F7-3C23-F85B2A2E07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7158" y="1462694"/>
            <a:ext cx="2163880" cy="12772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798A608-F57E-501D-2224-B6BB09AFDF7B}"/>
              </a:ext>
            </a:extLst>
          </p:cNvPr>
          <p:cNvSpPr/>
          <p:nvPr/>
        </p:nvSpPr>
        <p:spPr>
          <a:xfrm>
            <a:off x="355178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 err="1"/>
              <a:t>i</a:t>
            </a:r>
            <a:r>
              <a:rPr lang="en-GB" sz="2800" dirty="0"/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D1A4EB-2ED5-E1CE-CB26-7866E4110BC9}"/>
              </a:ext>
            </a:extLst>
          </p:cNvPr>
          <p:cNvSpPr/>
          <p:nvPr/>
        </p:nvSpPr>
        <p:spPr>
          <a:xfrm>
            <a:off x="3205904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55D7555-E4D4-98E4-804C-E42D1D501F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945" y="3309615"/>
            <a:ext cx="3450289" cy="185665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D869E79-8C16-961C-2205-C899C1FF8DDA}"/>
              </a:ext>
            </a:extLst>
          </p:cNvPr>
          <p:cNvSpPr/>
          <p:nvPr/>
        </p:nvSpPr>
        <p:spPr>
          <a:xfrm>
            <a:off x="5990144" y="3257270"/>
            <a:ext cx="2974344" cy="190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7CF706-1858-1702-596C-B382323A156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28437"/>
          <a:stretch/>
        </p:blipFill>
        <p:spPr>
          <a:xfrm>
            <a:off x="107504" y="5293335"/>
            <a:ext cx="2941564" cy="13050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B06F916-4A21-89B0-2965-080A95988D9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4770" t="72131"/>
          <a:stretch/>
        </p:blipFill>
        <p:spPr>
          <a:xfrm>
            <a:off x="2901250" y="6053775"/>
            <a:ext cx="2448488" cy="49633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93F778D-B92C-A19F-8D2A-EED97102FEE2}"/>
              </a:ext>
            </a:extLst>
          </p:cNvPr>
          <p:cNvSpPr/>
          <p:nvPr/>
        </p:nvSpPr>
        <p:spPr>
          <a:xfrm>
            <a:off x="146781" y="5104461"/>
            <a:ext cx="5367417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61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9" grpId="0" animBg="1"/>
      <p:bldP spid="44" grpId="0" animBg="1"/>
    </p:bldLst>
  </p:timing>
</p:sld>
</file>

<file path=ppt/c2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1280DEF-080A-D8B6-7689-A34749A0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" y="620688"/>
            <a:ext cx="5847544" cy="634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7FC5B9-E0C6-A3AF-E31C-99BF02E43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650440"/>
            <a:ext cx="2753829" cy="336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98B35-851E-4C83-B355-723BC4A12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9417"/>
            <a:ext cx="9144000" cy="659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9BDDB6-0DF3-DAF7-2990-3C3ECA025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08" y="3738127"/>
            <a:ext cx="4136672" cy="3603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B1A046-3DD0-D541-4512-F1B3D88A46E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5144"/>
          <a:stretch/>
        </p:blipFill>
        <p:spPr>
          <a:xfrm>
            <a:off x="539552" y="1432937"/>
            <a:ext cx="3370161" cy="1220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A3BA4B-E36D-8150-8790-F87748B76D1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6796"/>
          <a:stretch/>
        </p:blipFill>
        <p:spPr>
          <a:xfrm>
            <a:off x="4569680" y="1570634"/>
            <a:ext cx="2808312" cy="12066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DC5B072-719D-5D2B-7A52-6B58E20F4FE1}"/>
              </a:ext>
            </a:extLst>
          </p:cNvPr>
          <p:cNvSpPr/>
          <p:nvPr/>
        </p:nvSpPr>
        <p:spPr>
          <a:xfrm>
            <a:off x="260664" y="1342291"/>
            <a:ext cx="7407680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1372D4-776F-14D3-5E26-8C771133D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08" y="4527189"/>
            <a:ext cx="2152950" cy="12765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D07DAF-746D-B72B-825E-FA7194B780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6369" y="4350016"/>
            <a:ext cx="2448267" cy="15718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2B241BE-39BF-F20F-81AC-2133AD83D8BE}"/>
              </a:ext>
            </a:extLst>
          </p:cNvPr>
          <p:cNvSpPr/>
          <p:nvPr/>
        </p:nvSpPr>
        <p:spPr>
          <a:xfrm>
            <a:off x="280120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780ED-4CF3-D3A0-45AB-5012CDDF9691}"/>
              </a:ext>
            </a:extLst>
          </p:cNvPr>
          <p:cNvSpPr/>
          <p:nvPr/>
        </p:nvSpPr>
        <p:spPr>
          <a:xfrm>
            <a:off x="2904953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f?</a:t>
            </a:r>
          </a:p>
        </p:txBody>
      </p:sp>
    </p:spTree>
    <p:extLst>
      <p:ext uri="{BB962C8B-B14F-4D97-AF65-F5344CB8AC3E}">
        <p14:creationId xmlns:p14="http://schemas.microsoft.com/office/powerpoint/2010/main" val="42659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8" grpId="0" animBg="1"/>
    </p:bldLst>
  </p:timing>
</p:sld>
</file>

<file path=ppt/c2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82620" y="1942795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687" y="1249954"/>
            <a:ext cx="6300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Extension: 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sz="1200" dirty="0">
                <a:solidFill>
                  <a:schemeClr val="tx1"/>
                </a:solidFill>
              </a:rPr>
              <a:t>(Full Database: </a:t>
            </a:r>
            <a:r>
              <a:rPr lang="en-GB" sz="1200" dirty="0">
                <a:solidFill>
                  <a:schemeClr val="tx1"/>
                </a:solidFill>
                <a:hlinkClick r:id="rId3"/>
              </a:rPr>
              <a:t>http://www.drfrostmaths.com/resources/resource.php?rid=268</a:t>
            </a:r>
            <a:r>
              <a:rPr lang="en-GB" sz="1200" dirty="0">
                <a:solidFill>
                  <a:schemeClr val="tx1"/>
                </a:solidFill>
              </a:rPr>
              <a:t> ) </a:t>
            </a: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19" name="Picture 1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44824"/>
            <a:ext cx="7632848" cy="193687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−6±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36+8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blipFill>
                <a:blip r:embed="rId5"/>
                <a:stretch>
                  <a:fillRect l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5782185" y="2702146"/>
            <a:ext cx="546043" cy="795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80146" y="2497448"/>
            <a:ext cx="2631626" cy="3308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  <a:r>
              <a:rPr lang="en-GB" sz="2800" dirty="0" err="1"/>
              <a:t>i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(ii)(a)</a:t>
                </a:r>
              </a:p>
              <a:p>
                <a:r>
                  <a:rPr lang="en-GB" dirty="0"/>
                  <a:t>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rad>
                  </m:oMath>
                </a14:m>
                <a:r>
                  <a:rPr lang="en-GB" dirty="0"/>
                  <a:t>,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−2+10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  →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(ii)(b):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=2±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blipFill>
                <a:blip r:embed="rId6"/>
                <a:stretch>
                  <a:fillRect l="-1329" t="-2000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365457" y="4007240"/>
            <a:ext cx="4264599" cy="1276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457" y="5283568"/>
            <a:ext cx="4264599" cy="6237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ii(b)</a:t>
            </a:r>
          </a:p>
        </p:txBody>
      </p:sp>
    </p:spTree>
    <p:extLst>
      <p:ext uri="{BB962C8B-B14F-4D97-AF65-F5344CB8AC3E}">
        <p14:creationId xmlns:p14="http://schemas.microsoft.com/office/powerpoint/2010/main" val="14150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</p:bldLst>
  </p:timing>
</p:sld>
</file>

<file path=ppt/c2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2: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“Completing the square” means putting a quadratic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</a:t>
                </a:r>
                <a:r>
                  <a:rPr lang="en-GB" b="1" dirty="0"/>
                  <a:t>underlying reason we do this is because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only appears once in the expression</a:t>
                </a:r>
                <a:r>
                  <a:rPr lang="en-GB" dirty="0"/>
                  <a:t> (e.g.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dirty="0"/>
                  <a:t> 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dirty="0"/>
                  <a:t>), which makes it algebraically easier to handle. This has a number of consequences: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blipFill>
                <a:blip r:embed="rId2"/>
                <a:stretch>
                  <a:fillRect l="-70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55576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a. Solving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we have a completed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saw at the start of the chapter how we could rearrange to 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the subject. </a:t>
                </a:r>
              </a:p>
              <a:p>
                <a:r>
                  <a:rPr lang="en-GB" dirty="0"/>
                  <a:t>Indeed using the quadratic formula is actually solving the quadratic by completing the square – it’s just someone has done the work for us already!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blipFill>
                <a:blip r:embed="rId3"/>
                <a:stretch>
                  <a:fillRect l="-1587" t="-1064" r="-2822" b="-23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894788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b. Sketching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We’ll see later that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then the minimum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blipFill>
                <a:blip r:embed="rId4"/>
                <a:stretch>
                  <a:fillRect l="-114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894787" y="4503756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c. In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Further Maths, completing the square allows us to ‘integrate’ expressions like: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(you will cover integration later this module)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blipFill>
                <a:blip r:embed="rId5"/>
                <a:stretch>
                  <a:fillRect l="-1119" t="-1845" r="-280" b="-4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42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30" grpId="0"/>
      <p:bldP spid="31" grpId="0" animBg="1"/>
      <p:bldP spid="32" grpId="0"/>
    </p:bldLst>
  </p:timing>
</p:sld>
</file>

<file path=ppt/c2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 Recap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Textbook Note:</a:t>
                </a:r>
              </a:p>
              <a:p>
                <a:r>
                  <a:rPr lang="en-GB" sz="1600" dirty="0"/>
                  <a:t>The textbook uses the formula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similarly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My personal judgement is that it’s </a:t>
                </a:r>
                <a:r>
                  <a:rPr lang="en-GB" sz="1600" u="sng" dirty="0"/>
                  <a:t>not</a:t>
                </a:r>
                <a:r>
                  <a:rPr lang="en-GB" sz="1600" dirty="0"/>
                  <a:t> worth memorising these and you should instead think through the steps. Even the textbook agrees!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Expand: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i="1" dirty="0"/>
              </a:p>
              <a:p>
                <a:r>
                  <a:rPr lang="en-GB" dirty="0"/>
                  <a:t>What do you notice about the relationship between the bold numbers?</a:t>
                </a:r>
              </a:p>
              <a:p>
                <a:r>
                  <a:rPr lang="en-GB" b="1" dirty="0"/>
                  <a:t>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b="1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b="1" dirty="0"/>
                  <a:t> is half the coefficient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in the expansion.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blipFill>
                <a:blip r:embed="rId3"/>
                <a:stretch>
                  <a:fillRect l="-1104" t="-1648" r="-982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if we had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how could we write it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blipFill>
                <a:blip r:embed="rId4"/>
                <a:stretch>
                  <a:fillRect l="-1230" t="-3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+6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+36</m:t>
                    </m:r>
                  </m:oMath>
                </a14:m>
                <a:r>
                  <a:rPr lang="en-GB" sz="1600" dirty="0"/>
                  <a:t>, we want to discard the 36, so ‘throw it away’ by subtracting.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  <a:blipFill>
                <a:blip r:embed="rId5"/>
                <a:stretch>
                  <a:fillRect l="-547" t="-709" r="-547" b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4571428" y="4293096"/>
            <a:ext cx="807818" cy="25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Further 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                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blipFill>
                <a:blip r:embed="rId6"/>
                <a:stretch>
                  <a:fillRect l="-1230" t="-19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Notice that despite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being negative, we still subtract after the bracket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is positive.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  <a:blipFill>
                <a:blip r:embed="rId7"/>
                <a:stretch>
                  <a:fillRect l="-731" t="-694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4397829" y="5704114"/>
            <a:ext cx="1106697" cy="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6375" y="2599062"/>
            <a:ext cx="4924882" cy="724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7784" y="1267382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7784" y="1645213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9990" y="4106656"/>
            <a:ext cx="2122981" cy="508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7261" y="5152570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7261" y="5542152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4934" y="5915809"/>
            <a:ext cx="2251882" cy="818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317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c2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−18+7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Factorise out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You can leave the constant term outside the bracket.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  <a:blipFill>
                <a:blip r:embed="rId4"/>
                <a:stretch>
                  <a:fillRect l="-1193" t="-2581" r="-2187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5076056" y="1772816"/>
            <a:ext cx="722334" cy="19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8390" y="2647351"/>
            <a:ext cx="2808312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Complete the square inside the bracket (you should have two sets of brackets)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833257" y="2307771"/>
            <a:ext cx="965133" cy="754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8390" y="3754845"/>
            <a:ext cx="280831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Expand out outer bracket.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17143" y="2801257"/>
            <a:ext cx="1081247" cy="119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90901" y="150662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0901" y="200074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901" y="2480003"/>
            <a:ext cx="3247731" cy="41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0901" y="2898435"/>
            <a:ext cx="3247731" cy="543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=8−3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521999" y="4848625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1999" y="5251451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1999" y="5654277"/>
            <a:ext cx="3183352" cy="384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1999" y="6035219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1999" y="6399842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It may help to write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first.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  <a:blipFill>
                <a:blip r:embed="rId7"/>
                <a:stretch>
                  <a:fillRect l="-1193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4864100" y="5041900"/>
            <a:ext cx="934291" cy="54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c2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−27+4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=23−5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58599" y="1584724"/>
            <a:ext cx="3138901" cy="1615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99" y="4219776"/>
            <a:ext cx="3138901" cy="2089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0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2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by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−9+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−3=±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295599" y="1799084"/>
            <a:ext cx="3276401" cy="829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First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027" y="2628900"/>
            <a:ext cx="3276401" cy="35889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And the rest…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Reflections</a:t>
                </a:r>
                <a:r>
                  <a:rPr lang="en-GB" dirty="0"/>
                  <a:t>: Previously we factorised out the 3. This is because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dirty="0"/>
                  <a:t> on its own is an </a:t>
                </a:r>
                <a:r>
                  <a:rPr lang="en-GB" b="1" dirty="0"/>
                  <a:t>expression, </a:t>
                </a:r>
                <a:r>
                  <a:rPr lang="en-GB" dirty="0"/>
                  <a:t>so dividing by 3 (instead of factorising) would change the expression.</a:t>
                </a:r>
              </a:p>
              <a:p>
                <a:endParaRPr lang="en-GB" dirty="0"/>
              </a:p>
              <a:p>
                <a:r>
                  <a:rPr lang="en-GB" dirty="0"/>
                  <a:t>However, in an equation, we can divide both sides by 3 without affecting the solutions.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  <a:blipFill>
                <a:blip r:embed="rId4"/>
                <a:stretch>
                  <a:fillRect l="-1282" t="-846" r="-366" b="-21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97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c2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5A328B2-7AFE-18F0-591A-36F08311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99126"/>
            <a:ext cx="6021856" cy="741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AAB0E6-34BB-A98D-653D-ABCF7D63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" y="3212976"/>
            <a:ext cx="5724128" cy="6426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576522-DF42-63F3-E7D7-4514D09F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379578"/>
            <a:ext cx="2179619" cy="646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06579-E014-1C7D-87B5-41F509700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092" y="1276921"/>
            <a:ext cx="2172003" cy="685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14BFE1-AA67-8F3C-F663-348E83F93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865" y="1219763"/>
            <a:ext cx="2267266" cy="800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A6F586-1067-19C0-4194-0AE343EBF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20" y="2250235"/>
            <a:ext cx="2305372" cy="7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19BB11-C2B1-FFC0-2C98-91C88D3E2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0623" y="2350897"/>
            <a:ext cx="2276793" cy="676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329957B-7335-8D91-CF57-3A8F40A1BAFF}"/>
              </a:ext>
            </a:extLst>
          </p:cNvPr>
          <p:cNvSpPr/>
          <p:nvPr/>
        </p:nvSpPr>
        <p:spPr>
          <a:xfrm>
            <a:off x="153935" y="1352099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86F785-CFC0-30C2-AFE8-07669ACA57BA}"/>
              </a:ext>
            </a:extLst>
          </p:cNvPr>
          <p:cNvSpPr/>
          <p:nvPr/>
        </p:nvSpPr>
        <p:spPr>
          <a:xfrm>
            <a:off x="2776092" y="1347645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30B94A-F1F4-A9D4-B17B-0F86D22137A0}"/>
              </a:ext>
            </a:extLst>
          </p:cNvPr>
          <p:cNvSpPr/>
          <p:nvPr/>
        </p:nvSpPr>
        <p:spPr>
          <a:xfrm>
            <a:off x="5508569" y="1339934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9E7FFF-3BC3-9843-A30D-1F93EF3E2DC6}"/>
              </a:ext>
            </a:extLst>
          </p:cNvPr>
          <p:cNvSpPr/>
          <p:nvPr/>
        </p:nvSpPr>
        <p:spPr>
          <a:xfrm>
            <a:off x="153935" y="2236581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1D8F01-A34B-2ED9-9A71-DD8BAD5A526A}"/>
              </a:ext>
            </a:extLst>
          </p:cNvPr>
          <p:cNvSpPr/>
          <p:nvPr/>
        </p:nvSpPr>
        <p:spPr>
          <a:xfrm>
            <a:off x="2776090" y="2243803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22FF26-6368-DA14-8B94-16132529DA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243" y="3930304"/>
            <a:ext cx="2572109" cy="10574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3B1EE0C-EA16-7F8E-4B94-2369030AA3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912" y="3916014"/>
            <a:ext cx="2638793" cy="10860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929B060-7745-64F9-E2F8-1A76D92B75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528" y="5225029"/>
            <a:ext cx="2629267" cy="11145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FC5BEA-4445-3B51-5E5B-A7E7B65556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993" y="5186206"/>
            <a:ext cx="2629267" cy="155285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F2E191F-60D7-80EE-E7E0-2F7DFB21CB02}"/>
              </a:ext>
            </a:extLst>
          </p:cNvPr>
          <p:cNvSpPr/>
          <p:nvPr/>
        </p:nvSpPr>
        <p:spPr>
          <a:xfrm>
            <a:off x="220208" y="3928179"/>
            <a:ext cx="3055648" cy="1114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0222D8-78CE-1A6A-9557-1E59D578F455}"/>
              </a:ext>
            </a:extLst>
          </p:cNvPr>
          <p:cNvSpPr/>
          <p:nvPr/>
        </p:nvSpPr>
        <p:spPr>
          <a:xfrm>
            <a:off x="3767993" y="3923725"/>
            <a:ext cx="3055648" cy="1086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829085-DC5A-F668-179B-5028F2FBB353}"/>
              </a:ext>
            </a:extLst>
          </p:cNvPr>
          <p:cNvSpPr/>
          <p:nvPr/>
        </p:nvSpPr>
        <p:spPr>
          <a:xfrm>
            <a:off x="220208" y="5225029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3EB16B-3535-9D0B-E1CD-9E178D854947}"/>
              </a:ext>
            </a:extLst>
          </p:cNvPr>
          <p:cNvSpPr/>
          <p:nvPr/>
        </p:nvSpPr>
        <p:spPr>
          <a:xfrm>
            <a:off x="3767993" y="5234026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24081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35" grpId="0" animBg="1"/>
      <p:bldP spid="36" grpId="0" animBg="1"/>
      <p:bldP spid="37" grpId="0" animBg="1"/>
      <p:bldP spid="38" grpId="0" animBg="1"/>
    </p:bldLst>
  </p:timing>
</p:sld>
</file>

<file path=ppt/c2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/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+6=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find the values of the constants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blipFill>
                <a:blip r:embed="rId4"/>
                <a:stretch>
                  <a:fillRect l="-70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/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5 Write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2+0.8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−0.0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constants to be   </a:t>
                </a:r>
              </a:p>
              <a:p>
                <a:r>
                  <a:rPr lang="en-GB" dirty="0"/>
                  <a:t>   determined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blipFill>
                <a:blip r:embed="rId5"/>
                <a:stretch>
                  <a:fillRect l="-61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3A267D0-9731-A9D3-F2CF-A92B4718E8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70"/>
          <a:stretch/>
        </p:blipFill>
        <p:spPr>
          <a:xfrm>
            <a:off x="611560" y="967371"/>
            <a:ext cx="2873588" cy="1219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E1EC51-BF71-CC04-B8F7-3CDA2FA9A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33" y="2953801"/>
            <a:ext cx="3972479" cy="15432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A14DA7-ABCF-9D7A-BCDC-07034602A465}"/>
              </a:ext>
            </a:extLst>
          </p:cNvPr>
          <p:cNvSpPr/>
          <p:nvPr/>
        </p:nvSpPr>
        <p:spPr>
          <a:xfrm>
            <a:off x="478903" y="985477"/>
            <a:ext cx="3976240" cy="1156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E1785-24B7-FF64-21EE-725E343ABFE3}"/>
              </a:ext>
            </a:extLst>
          </p:cNvPr>
          <p:cNvSpPr/>
          <p:nvPr/>
        </p:nvSpPr>
        <p:spPr>
          <a:xfrm>
            <a:off x="445556" y="2909452"/>
            <a:ext cx="4009587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F6A8FD-6C6F-61C6-FFA8-10D58978655C}"/>
              </a:ext>
            </a:extLst>
          </p:cNvPr>
          <p:cNvGrpSpPr/>
          <p:nvPr/>
        </p:nvGrpSpPr>
        <p:grpSpPr>
          <a:xfrm>
            <a:off x="195003" y="4984720"/>
            <a:ext cx="5270360" cy="905909"/>
            <a:chOff x="21720" y="3789040"/>
            <a:chExt cx="5270360" cy="90590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CB72799-16F8-1945-2506-E840547A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720" y="3789040"/>
              <a:ext cx="5011413" cy="90590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81CDA8-B126-C31D-90C1-2DD1AE98CE73}"/>
                </a:ext>
              </a:extLst>
            </p:cNvPr>
            <p:cNvSpPr/>
            <p:nvPr/>
          </p:nvSpPr>
          <p:spPr>
            <a:xfrm>
              <a:off x="4067944" y="4365104"/>
              <a:ext cx="1224136" cy="329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C58D9D0-CA4E-236D-C1B5-1DC391178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0112" y="4984720"/>
            <a:ext cx="3162741" cy="144800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5DC270B-7E04-5897-0D67-AB8FDFD86103}"/>
              </a:ext>
            </a:extLst>
          </p:cNvPr>
          <p:cNvSpPr/>
          <p:nvPr/>
        </p:nvSpPr>
        <p:spPr>
          <a:xfrm>
            <a:off x="5292080" y="4850569"/>
            <a:ext cx="3793563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546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3" grpId="0" animBg="1"/>
    </p:bldLst>
  </p:timing>
</p:sld>
</file>

<file path=ppt/c2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Proving the Quadratic Formula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prove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468190" y="1710145"/>
            <a:ext cx="330751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Just use exactly the same method as you usually would!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331499" y="2057400"/>
            <a:ext cx="2821401" cy="375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99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