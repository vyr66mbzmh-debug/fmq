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70.xml" ContentType="application/vnd.openxmlformats-officedocument.presentationml.slide+xml"/>
  <ns0:Override PartName="/ppt/c12/ppt/slides/slide71.xml" ContentType="application/vnd.openxmlformats-officedocument.presentationml.slide+xml"/>
  <ns0:Override PartName="/ppt/c12/ppt/slides/slide72.xml" ContentType="application/vnd.openxmlformats-officedocument.presentationml.slide+xml"/>
  <ns0:Override PartName="/ppt/c12/ppt/slides/slide73.xml" ContentType="application/vnd.openxmlformats-officedocument.presentationml.slide+xml"/>
  <ns0:Override PartName="/ppt/c12/ppt/slides/slide74.xml" ContentType="application/vnd.openxmlformats-officedocument.presentationml.slide+xml"/>
  <ns0:Override PartName="/ppt/c12/ppt/slides/slide75.xml" ContentType="application/vnd.openxmlformats-officedocument.presentationml.slide+xml"/>
  <ns0:Override PartName="/ppt/c12/ppt/slides/slide76.xml" ContentType="application/vnd.openxmlformats-officedocument.presentationml.slide+xml"/>
  <ns0:Override PartName="/ppt/c12/ppt/slides/slide77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9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70.xml" /><ns0:Relationship Id="rId2" Type="http://schemas.openxmlformats.org/officeDocument/2006/relationships/slide" Target="c12/ppt/slides/slide71.xml" /><ns0:Relationship Id="rId3" Type="http://schemas.openxmlformats.org/officeDocument/2006/relationships/slide" Target="c12/ppt/slides/slide72.xml" /><ns0:Relationship Id="rId4" Type="http://schemas.openxmlformats.org/officeDocument/2006/relationships/slide" Target="c12/ppt/slides/slide73.xml" /><ns0:Relationship Id="rId5" Type="http://schemas.openxmlformats.org/officeDocument/2006/relationships/slide" Target="c12/ppt/slides/slide74.xml" /><ns0:Relationship Id="rId6" Type="http://schemas.openxmlformats.org/officeDocument/2006/relationships/slide" Target="c12/ppt/slides/slide75.xml" /><ns0:Relationship Id="rId7" Type="http://schemas.openxmlformats.org/officeDocument/2006/relationships/slide" Target="c12/ppt/slides/slide76.xml" /><ns0:Relationship Id="rId8" Type="http://schemas.openxmlformats.org/officeDocument/2006/relationships/slide" Target="c12/ppt/slides/slide77.xml" /><ns0:Relationship Id="rId9" Type="http://schemas.openxmlformats.org/officeDocument/2006/relationships/slideMaster" Target="c12/ppt/slideMasters/slideMaster1.xml" /><ns0:Relationship Id="rId10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70.xml.rels><?xml version='1.0' encoding='utf-8'?>
<ns0:Relationships xmlns:ns0="http://schemas.openxmlformats.org/package/2006/relationships"><ns0:Relationship Id="rId3" Type="http://schemas.openxmlformats.org/officeDocument/2006/relationships/image" Target="../media/image2430.png" /><ns0:Relationship Id="rId2" Type="http://schemas.openxmlformats.org/officeDocument/2006/relationships/image" Target="../media/image242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45.png" /><ns0:Relationship Id="rId4" Type="http://schemas.openxmlformats.org/officeDocument/2006/relationships/image" Target="../media/image244.png" /></ns0:Relationships>
</file>

<file path=ppt/c12/ppt/slides/_rels/slide71.xml.rels><?xml version='1.0' encoding='utf-8'?>
<ns0:Relationships xmlns:ns0="http://schemas.openxmlformats.org/package/2006/relationships"><ns0:Relationship Id="rId3" Type="http://schemas.openxmlformats.org/officeDocument/2006/relationships/image" Target="../media/image247.png" /><ns0:Relationship Id="rId2" Type="http://schemas.openxmlformats.org/officeDocument/2006/relationships/image" Target="../media/image246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48.png" /></ns0:Relationships>
</file>

<file path=ppt/c12/ppt/slides/_rels/slide72.xml.rels><?xml version='1.0' encoding='utf-8'?>
<ns0:Relationships xmlns:ns0="http://schemas.openxmlformats.org/package/2006/relationships"><ns0:Relationship Id="rId8" Type="http://schemas.openxmlformats.org/officeDocument/2006/relationships/image" Target="../media/image255.png" /><ns0:Relationship Id="rId3" Type="http://schemas.openxmlformats.org/officeDocument/2006/relationships/image" Target="../media/image250.png" /><ns0:Relationship Id="rId7" Type="http://schemas.openxmlformats.org/officeDocument/2006/relationships/image" Target="../media/image254.png" /><ns0:Relationship Id="rId2" Type="http://schemas.openxmlformats.org/officeDocument/2006/relationships/image" Target="../media/image24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3.png" /><ns0:Relationship Id="rId5" Type="http://schemas.openxmlformats.org/officeDocument/2006/relationships/image" Target="../media/image252.png" /><ns0:Relationship Id="rId4" Type="http://schemas.openxmlformats.org/officeDocument/2006/relationships/image" Target="../media/image251.png" /><ns0:Relationship Id="rId9" Type="http://schemas.openxmlformats.org/officeDocument/2006/relationships/image" Target="../media/image256.png" /></ns0:Relationships>
</file>

<file path=ppt/c12/ppt/slides/_rels/slide73.xml.rels><?xml version='1.0' encoding='utf-8'?>
<ns0:Relationships xmlns:ns0="http://schemas.openxmlformats.org/package/2006/relationships"><ns0:Relationship Id="rId3" Type="http://schemas.openxmlformats.org/officeDocument/2006/relationships/image" Target="../media/image258.png" /><ns0:Relationship Id="rId2" Type="http://schemas.openxmlformats.org/officeDocument/2006/relationships/image" Target="../media/image25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60.png" /><ns0:Relationship Id="rId4" Type="http://schemas.openxmlformats.org/officeDocument/2006/relationships/image" Target="../media/image259.png" /></ns0:Relationships>
</file>

<file path=ppt/c12/ppt/slides/_rels/slide74.xml.rels><?xml version='1.0' encoding='utf-8'?>
<ns0:Relationships xmlns:ns0="http://schemas.openxmlformats.org/package/2006/relationships"><ns0:Relationship Id="rId3" Type="http://schemas.openxmlformats.org/officeDocument/2006/relationships/image" Target="../media/image262.png" /><ns0:Relationship Id="rId2" Type="http://schemas.openxmlformats.org/officeDocument/2006/relationships/image" Target="../media/image26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63.png" /></ns0:Relationships>
</file>

<file path=ppt/c12/ppt/slides/_rels/slide75.xml.rels><?xml version='1.0' encoding='utf-8'?>
<ns0:Relationships xmlns:ns0="http://schemas.openxmlformats.org/package/2006/relationships"><ns0:Relationship Id="rId3" Type="http://schemas.openxmlformats.org/officeDocument/2006/relationships/image" Target="../media/image265.png" /><ns0:Relationship Id="rId2" Type="http://schemas.openxmlformats.org/officeDocument/2006/relationships/image" Target="../media/image264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66.png" /></ns0:Relationships>
</file>

<file path=ppt/c12/ppt/slides/_rels/slide76.xml.rels><?xml version='1.0' encoding='utf-8'?>
<ns0:Relationships xmlns:ns0="http://schemas.openxmlformats.org/package/2006/relationships"><ns0:Relationship Id="rId3" Type="http://schemas.openxmlformats.org/officeDocument/2006/relationships/image" Target="../media/image268.png" /><ns0:Relationship Id="rId2" Type="http://schemas.openxmlformats.org/officeDocument/2006/relationships/image" Target="../media/image26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70.png" /><ns0:Relationship Id="rId4" Type="http://schemas.openxmlformats.org/officeDocument/2006/relationships/image" Target="../media/image269.png" /></ns0:Relationships>
</file>

<file path=ppt/c12/ppt/slides/_rels/slide77.xml.rels><?xml version='1.0' encoding='utf-8'?>
<ns0:Relationships xmlns:ns0="http://schemas.openxmlformats.org/package/2006/relationships"><ns0:Relationship Id="rId3" Type="http://schemas.openxmlformats.org/officeDocument/2006/relationships/image" Target="../media/image272.png" /><ns0:Relationship Id="rId2" Type="http://schemas.openxmlformats.org/officeDocument/2006/relationships/image" Target="../media/image27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73.png" /></ns0:Relationships>
</file>

<file path=ppt/c12/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7804" y="2636912"/>
            <a:ext cx="3528392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examples of </a:t>
            </a:r>
            <a:r>
              <a:rPr lang="en-GB" b="1" dirty="0"/>
              <a:t>optimisation problems</a:t>
            </a:r>
            <a:r>
              <a:rPr lang="en-GB" dirty="0"/>
              <a:t>: we’re trying to maximise/minimise some quantity by choosing an appropriate value of a variable that we can control.</a:t>
            </a:r>
          </a:p>
        </p:txBody>
      </p:sp>
      <p:grpSp>
        <p:nvGrpSpPr>
          <p:cNvPr id="6" name="Group 5"/>
          <p:cNvGrpSpPr/>
          <p:nvPr/>
        </p:nvGrpSpPr>
        <p:grpSpPr>
          <a:xfrm rot="19612270">
            <a:off x="197931" y="1582482"/>
            <a:ext cx="1512168" cy="1224136"/>
            <a:chOff x="1619672" y="4581128"/>
            <a:chExt cx="2016224" cy="1512168"/>
          </a:xfrm>
        </p:grpSpPr>
        <p:sp>
          <p:nvSpPr>
            <p:cNvPr id="4" name="Snip Single Corner Rectangle 3"/>
            <p:cNvSpPr/>
            <p:nvPr/>
          </p:nvSpPr>
          <p:spPr>
            <a:xfrm>
              <a:off x="1619672" y="4581128"/>
              <a:ext cx="2016224" cy="1512168"/>
            </a:xfrm>
            <a:prstGeom prst="snip1Rect">
              <a:avLst>
                <a:gd name="adj" fmla="val 335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3131840" y="4581128"/>
              <a:ext cx="504056" cy="50405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907703" y="1003243"/>
            <a:ext cx="2951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have a sheet of A4 paper, which we want to fold into a cuboid. What height should we choose for the cuboid in order to maximise the volume?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1520" y="1916832"/>
            <a:ext cx="684574" cy="100811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59632" y="1772816"/>
            <a:ext cx="468550" cy="6817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5" idx="1"/>
          </p:cNvCxnSpPr>
          <p:nvPr/>
        </p:nvCxnSpPr>
        <p:spPr>
          <a:xfrm flipV="1">
            <a:off x="107504" y="1646226"/>
            <a:ext cx="940094" cy="6306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18814" y="2060848"/>
            <a:ext cx="1244874" cy="85873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29962" y="4878452"/>
            <a:ext cx="1440160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p:sp>
        <p:nvSpPr>
          <p:cNvPr id="19" name="Pie 18"/>
          <p:cNvSpPr/>
          <p:nvPr/>
        </p:nvSpPr>
        <p:spPr>
          <a:xfrm>
            <a:off x="4842030" y="4878452"/>
            <a:ext cx="1656184" cy="1440160"/>
          </a:xfrm>
          <a:prstGeom prst="pie">
            <a:avLst>
              <a:gd name="adj1" fmla="val 16208169"/>
              <a:gd name="adj2" fmla="val 540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50m of fencing, and want to make a bear pen of the following shape, such that the area is maximised. What should we choose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be?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blipFill>
                <a:blip r:embed="rId4"/>
                <a:stretch>
                  <a:fillRect l="-2290" t="-1319" r="-1781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Optimisation Problems/Modelling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>
            <a:off x="1424763" y="2275367"/>
            <a:ext cx="170121" cy="2232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blipFill>
                <a:blip r:embed="rId5"/>
                <a:stretch>
                  <a:fillRect r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573998"/>
      </p:ext>
    </p:extLst>
  </p:cSld>
  <p:clrMapOvr>
    <a:masterClrMapping/>
  </p:clrMapOvr>
</p:sld>
</file>

<file path=ppt/c12/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1537246" y="3549650"/>
            <a:ext cx="288032" cy="656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1628775" y="3571875"/>
            <a:ext cx="114300" cy="7810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‘Rate of change’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Up to now we’ve had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means “the </a:t>
                </a:r>
                <a:r>
                  <a:rPr lang="en-GB" b="1" u="sng" dirty="0"/>
                  <a:t>rate</a:t>
                </a:r>
                <a:r>
                  <a:rPr lang="en-GB" dirty="0"/>
                  <a:t> at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changes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  <a:p>
                <a:endParaRPr lang="en-GB" dirty="0"/>
              </a:p>
              <a:p>
                <a:r>
                  <a:rPr lang="en-GB" dirty="0"/>
                  <a:t>But we can use similar gradient function notation for other </a:t>
                </a:r>
                <a:r>
                  <a:rPr lang="en-GB" b="1" dirty="0"/>
                  <a:t>physical quantities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blipFill>
                <a:blip r:embed="rId2"/>
                <a:stretch>
                  <a:fillRect l="-719"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31640" y="2636912"/>
            <a:ext cx="1728192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1331640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59832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ylinder 10"/>
          <p:cNvSpPr/>
          <p:nvPr/>
        </p:nvSpPr>
        <p:spPr>
          <a:xfrm>
            <a:off x="1322427" y="4238925"/>
            <a:ext cx="1728192" cy="2016224"/>
          </a:xfrm>
          <a:prstGeom prst="can">
            <a:avLst>
              <a:gd name="adj" fmla="val 1397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1260490" y="4542938"/>
            <a:ext cx="1816573" cy="2090006"/>
          </a:xfrm>
          <a:custGeom>
            <a:avLst/>
            <a:gdLst>
              <a:gd name="connsiteX0" fmla="*/ 22860 w 1828800"/>
              <a:gd name="connsiteY0" fmla="*/ 0 h 1356360"/>
              <a:gd name="connsiteX1" fmla="*/ 464820 w 1828800"/>
              <a:gd name="connsiteY1" fmla="*/ 114300 h 1356360"/>
              <a:gd name="connsiteX2" fmla="*/ 807720 w 1828800"/>
              <a:gd name="connsiteY2" fmla="*/ 167640 h 1356360"/>
              <a:gd name="connsiteX3" fmla="*/ 1127760 w 1828800"/>
              <a:gd name="connsiteY3" fmla="*/ 167640 h 1356360"/>
              <a:gd name="connsiteX4" fmla="*/ 1546860 w 1828800"/>
              <a:gd name="connsiteY4" fmla="*/ 83820 h 1356360"/>
              <a:gd name="connsiteX5" fmla="*/ 1821180 w 1828800"/>
              <a:gd name="connsiteY5" fmla="*/ 0 h 1356360"/>
              <a:gd name="connsiteX6" fmla="*/ 1828800 w 1828800"/>
              <a:gd name="connsiteY6" fmla="*/ 1325880 h 1356360"/>
              <a:gd name="connsiteX7" fmla="*/ 0 w 1828800"/>
              <a:gd name="connsiteY7" fmla="*/ 1356360 h 1356360"/>
              <a:gd name="connsiteX8" fmla="*/ 22860 w 1828800"/>
              <a:gd name="connsiteY8" fmla="*/ 0 h 1356360"/>
              <a:gd name="connsiteX0" fmla="*/ 22860 w 1839433"/>
              <a:gd name="connsiteY0" fmla="*/ 0 h 2048894"/>
              <a:gd name="connsiteX1" fmla="*/ 464820 w 1839433"/>
              <a:gd name="connsiteY1" fmla="*/ 114300 h 2048894"/>
              <a:gd name="connsiteX2" fmla="*/ 807720 w 1839433"/>
              <a:gd name="connsiteY2" fmla="*/ 167640 h 2048894"/>
              <a:gd name="connsiteX3" fmla="*/ 1127760 w 1839433"/>
              <a:gd name="connsiteY3" fmla="*/ 167640 h 2048894"/>
              <a:gd name="connsiteX4" fmla="*/ 1546860 w 1839433"/>
              <a:gd name="connsiteY4" fmla="*/ 83820 h 2048894"/>
              <a:gd name="connsiteX5" fmla="*/ 1821180 w 1839433"/>
              <a:gd name="connsiteY5" fmla="*/ 0 h 2048894"/>
              <a:gd name="connsiteX6" fmla="*/ 1839433 w 1839433"/>
              <a:gd name="connsiteY6" fmla="*/ 2048894 h 2048894"/>
              <a:gd name="connsiteX7" fmla="*/ 0 w 1839433"/>
              <a:gd name="connsiteY7" fmla="*/ 1356360 h 2048894"/>
              <a:gd name="connsiteX8" fmla="*/ 22860 w 1839433"/>
              <a:gd name="connsiteY8" fmla="*/ 0 h 2048894"/>
              <a:gd name="connsiteX0" fmla="*/ 0 w 1816573"/>
              <a:gd name="connsiteY0" fmla="*/ 0 h 2090006"/>
              <a:gd name="connsiteX1" fmla="*/ 441960 w 1816573"/>
              <a:gd name="connsiteY1" fmla="*/ 114300 h 2090006"/>
              <a:gd name="connsiteX2" fmla="*/ 784860 w 1816573"/>
              <a:gd name="connsiteY2" fmla="*/ 167640 h 2090006"/>
              <a:gd name="connsiteX3" fmla="*/ 1104900 w 1816573"/>
              <a:gd name="connsiteY3" fmla="*/ 167640 h 2090006"/>
              <a:gd name="connsiteX4" fmla="*/ 1524000 w 1816573"/>
              <a:gd name="connsiteY4" fmla="*/ 83820 h 2090006"/>
              <a:gd name="connsiteX5" fmla="*/ 1798320 w 1816573"/>
              <a:gd name="connsiteY5" fmla="*/ 0 h 2090006"/>
              <a:gd name="connsiteX6" fmla="*/ 1816573 w 1816573"/>
              <a:gd name="connsiteY6" fmla="*/ 2048894 h 2090006"/>
              <a:gd name="connsiteX7" fmla="*/ 19670 w 1816573"/>
              <a:gd name="connsiteY7" fmla="*/ 2090006 h 2090006"/>
              <a:gd name="connsiteX8" fmla="*/ 0 w 1816573"/>
              <a:gd name="connsiteY8" fmla="*/ 0 h 209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16573" h="2090006">
                <a:moveTo>
                  <a:pt x="0" y="0"/>
                </a:moveTo>
                <a:lnTo>
                  <a:pt x="441960" y="114300"/>
                </a:lnTo>
                <a:lnTo>
                  <a:pt x="784860" y="167640"/>
                </a:lnTo>
                <a:lnTo>
                  <a:pt x="1104900" y="167640"/>
                </a:lnTo>
                <a:lnTo>
                  <a:pt x="1524000" y="83820"/>
                </a:lnTo>
                <a:lnTo>
                  <a:pt x="1798320" y="0"/>
                </a:lnTo>
                <a:lnTo>
                  <a:pt x="1816573" y="2048894"/>
                </a:lnTo>
                <a:lnTo>
                  <a:pt x="19670" y="20900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/>
          <p:cNvSpPr/>
          <p:nvPr/>
        </p:nvSpPr>
        <p:spPr>
          <a:xfrm>
            <a:off x="1323975" y="4524375"/>
            <a:ext cx="1739900" cy="165142"/>
          </a:xfrm>
          <a:custGeom>
            <a:avLst/>
            <a:gdLst>
              <a:gd name="connsiteX0" fmla="*/ 0 w 1739900"/>
              <a:gd name="connsiteY0" fmla="*/ 0 h 165142"/>
              <a:gd name="connsiteX1" fmla="*/ 876300 w 1739900"/>
              <a:gd name="connsiteY1" fmla="*/ 165100 h 165142"/>
              <a:gd name="connsiteX2" fmla="*/ 1739900 w 1739900"/>
              <a:gd name="connsiteY2" fmla="*/ 12700 h 16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9900" h="165142">
                <a:moveTo>
                  <a:pt x="0" y="0"/>
                </a:moveTo>
                <a:cubicBezTo>
                  <a:pt x="293158" y="81491"/>
                  <a:pt x="586317" y="162983"/>
                  <a:pt x="876300" y="165100"/>
                </a:cubicBezTo>
                <a:cubicBezTo>
                  <a:pt x="1166283" y="167217"/>
                  <a:pt x="1453091" y="89958"/>
                  <a:pt x="1739900" y="12700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 flipH="1" flipV="1">
            <a:off x="387152" y="3140968"/>
            <a:ext cx="1130498" cy="22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77940" y="3422650"/>
            <a:ext cx="1127010" cy="6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>
            <a:off x="1236514" y="3140968"/>
            <a:ext cx="576064" cy="57606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1809750" y="3422650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517650" y="3430843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xplosion: 8 Points 30"/>
          <p:cNvSpPr/>
          <p:nvPr/>
        </p:nvSpPr>
        <p:spPr>
          <a:xfrm>
            <a:off x="6786363" y="2273300"/>
            <a:ext cx="1944216" cy="1443732"/>
          </a:xfrm>
          <a:prstGeom prst="irregularSeal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Real Life Maths!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096" y="2704604"/>
            <a:ext cx="2930004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 sewage container fills at a rate of 20 cm</a:t>
            </a:r>
            <a:r>
              <a:rPr lang="en-GB" baseline="30000" dirty="0"/>
              <a:t>3</a:t>
            </a:r>
            <a:r>
              <a:rPr lang="en-GB" dirty="0"/>
              <a:t> per second.</a:t>
            </a:r>
          </a:p>
          <a:p>
            <a:endParaRPr lang="en-GB" dirty="0"/>
          </a:p>
          <a:p>
            <a:r>
              <a:rPr lang="en-GB" dirty="0"/>
              <a:t>How could we use appropriate notation to represent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at which the volume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changes with respect to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blipFill>
                <a:blip r:embed="rId4"/>
                <a:stretch>
                  <a:fillRect l="-142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3059832" y="5587941"/>
            <a:ext cx="504056" cy="4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00017 -0.07616 " pathEditMode="relative" rAng="0" ptsTypes="AA">
                                      <p:cBhvr>
                                        <p:cTn id="50" dur="10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6" grpId="0" animBg="1"/>
      <p:bldP spid="11" grpId="0" animBg="1"/>
      <p:bldP spid="11" grpId="1" animBg="1"/>
      <p:bldP spid="10" grpId="0" animBg="1"/>
      <p:bldP spid="20" grpId="0" animBg="1"/>
      <p:bldP spid="31" grpId="0" animBg="1"/>
      <p:bldP spid="32" grpId="0" animBg="1"/>
      <p:bldP spid="33" grpId="0"/>
      <p:bldP spid="34" grpId="0"/>
    </p:bldLst>
  </p:timing>
</p:sld>
</file>

<file path=ppt/c12/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 Optimisation Problem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6789" y="677224"/>
            <a:ext cx="8134196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Optimisation problems in an exam usually follow the following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2 variables involved (you may have to introduce one yourself), typically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expressions for </a:t>
            </a:r>
            <a:r>
              <a:rPr lang="en-GB" sz="1400" b="1" dirty="0"/>
              <a:t>two different physical quantities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One is a </a:t>
            </a:r>
            <a:r>
              <a:rPr lang="en-GB" sz="1400" b="1" u="sng" dirty="0"/>
              <a:t>constraint</a:t>
            </a:r>
            <a:r>
              <a:rPr lang="en-GB" sz="1400" dirty="0"/>
              <a:t>, e.g. “the surface area is 20cm</a:t>
            </a:r>
            <a:r>
              <a:rPr lang="en-GB" sz="1400" baseline="30000" dirty="0"/>
              <a:t>2</a:t>
            </a:r>
            <a:r>
              <a:rPr lang="en-GB" sz="1400" dirty="0"/>
              <a:t>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The </a:t>
            </a:r>
            <a:r>
              <a:rPr lang="en-GB" sz="1400" b="1" u="sng" dirty="0"/>
              <a:t>other we wish to maximise/minimise</a:t>
            </a:r>
            <a:r>
              <a:rPr lang="en-GB" sz="1400" dirty="0"/>
              <a:t>, e.g. “we wish to maximise the volume”.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use the constraint to </a:t>
            </a:r>
            <a:r>
              <a:rPr lang="en-GB" sz="1400" b="1" u="sng" dirty="0"/>
              <a:t>eliminate one of the variables</a:t>
            </a:r>
            <a:r>
              <a:rPr lang="en-GB" sz="1400" dirty="0"/>
              <a:t> in the latter equation, so that it is then </a:t>
            </a:r>
            <a:r>
              <a:rPr lang="en-GB" sz="1400" b="1" u="sng" dirty="0"/>
              <a:t>just in terms of one variable</a:t>
            </a:r>
            <a:r>
              <a:rPr lang="en-GB" sz="1400" dirty="0"/>
              <a:t>, and we can then use differentiation to find the turning point.</a:t>
            </a:r>
            <a:r>
              <a:rPr lang="en-GB" sz="1400" b="1" u="sng" dirty="0"/>
              <a:t> </a:t>
            </a:r>
          </a:p>
        </p:txBody>
      </p:sp>
      <p:sp>
        <p:nvSpPr>
          <p:cNvPr id="6" name="Cube 5"/>
          <p:cNvSpPr/>
          <p:nvPr/>
        </p:nvSpPr>
        <p:spPr>
          <a:xfrm>
            <a:off x="377644" y="2728279"/>
            <a:ext cx="2727063" cy="135462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large tank in the shape of a cuboid is to be made from 54m</a:t>
                </a:r>
                <a:r>
                  <a:rPr lang="en-GB" sz="1600" baseline="30000" dirty="0"/>
                  <a:t>2</a:t>
                </a:r>
                <a:r>
                  <a:rPr lang="en-GB" sz="1600" dirty="0"/>
                  <a:t> of sheet metal. The tank has a horizontal base and no top. The height of the tank is </a:t>
                </a:r>
                <a14:m>
                  <m:oMath xmlns:m="http://schemas.openxmlformats.org/officeDocument/2006/math">
                    <m:r>
                      <a:rPr lang="en-GB" sz="1600" b="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1600" dirty="0"/>
                  <a:t> metres. Two of the opposite vertical faces are squares.</a:t>
                </a:r>
              </a:p>
              <a:p>
                <a:endParaRPr lang="en-GB" sz="600" dirty="0"/>
              </a:p>
              <a:p>
                <a:r>
                  <a:rPr lang="en-GB" sz="1600" dirty="0"/>
                  <a:t>a) Show that the volume, V m</a:t>
                </a:r>
                <a:r>
                  <a:rPr lang="en-GB" sz="1600" baseline="30000" dirty="0"/>
                  <a:t>3</a:t>
                </a:r>
                <a:r>
                  <a:rPr lang="en-GB" sz="1600" dirty="0"/>
                  <a:t>, of the tank is given by </a:t>
                </a:r>
              </a:p>
              <a:p>
                <a:r>
                  <a:rPr lang="en-GB" sz="1600" b="0" dirty="0"/>
                  <a:t>   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𝑉</m:t>
                    </m:r>
                    <m:r>
                      <a:rPr lang="en-GB" sz="1600" b="0" i="1" smtClean="0">
                        <a:latin typeface="Cambria Math"/>
                      </a:rPr>
                      <m:t>=18</m:t>
                    </m:r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744279" y="2728279"/>
            <a:ext cx="1744" cy="31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4259" y="4847381"/>
            <a:ext cx="2213404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We need to introduce a second variable ourselves so that we can find expressions for the surface area and volume.</a:t>
            </a:r>
          </a:p>
        </p:txBody>
      </p:sp>
      <p:cxnSp>
        <p:nvCxnSpPr>
          <p:cNvPr id="15" name="Straight Arrow Connector 14"/>
          <p:cNvCxnSpPr>
            <a:stCxn id="13" idx="0"/>
            <a:endCxn id="9" idx="2"/>
          </p:cNvCxnSpPr>
          <p:nvPr/>
        </p:nvCxnSpPr>
        <p:spPr>
          <a:xfrm flipV="1">
            <a:off x="1350961" y="4464021"/>
            <a:ext cx="308126" cy="383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b) Given that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can vary, use differentiation to find the maximum or minimum value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=54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we want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/>
                  <a:t> just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54−2</m:t>
                              </m:r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blipFill>
                <a:blip r:embed="rId7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2456121" y="4625163"/>
            <a:ext cx="435935" cy="66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5469" y="4304529"/>
            <a:ext cx="2285999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These are the two equations mentioned in the guidance: one for surface area and one volume.</a:t>
            </a:r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4901609" y="4529470"/>
            <a:ext cx="1913860" cy="9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=18−2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   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Once we have the ‘optimal’ value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, we sub it back into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100" dirty="0"/>
                  <a:t> to get the best possible volume.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  <a:blipFill>
                <a:blip r:embed="rId9"/>
                <a:stretch>
                  <a:fillRect b="-1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H="1">
            <a:off x="7102549" y="5977212"/>
            <a:ext cx="389620" cy="83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50043" y="4348716"/>
            <a:ext cx="3493287" cy="16015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609" y="5975498"/>
            <a:ext cx="2413591" cy="8631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0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26" grpId="0" animBg="1"/>
      <p:bldP spid="33" grpId="0" animBg="1"/>
      <p:bldP spid="40" grpId="0" animBg="1"/>
      <p:bldP spid="41" grpId="0" animBg="1"/>
    </p:bldLst>
  </p:timing>
</p:sld>
</file>

<file path=ppt/c12/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4" y="1238493"/>
            <a:ext cx="4593355" cy="38226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59639" y="857977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2011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" y="5324893"/>
            <a:ext cx="5656370" cy="1208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688" y="974698"/>
            <a:ext cx="4966312" cy="1406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30" y="2388946"/>
            <a:ext cx="4950214" cy="49898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127" y="5326911"/>
            <a:ext cx="5343352" cy="12865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7984" y="979660"/>
            <a:ext cx="4716016" cy="1412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3275" y="2397288"/>
            <a:ext cx="4716016" cy="5479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8235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12/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0C642D-3D99-363B-971C-D62A4961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08370"/>
            <a:ext cx="8280920" cy="1600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1CA6D-16E2-EAE2-6FC7-92885FBD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73803"/>
            <a:ext cx="3838054" cy="4350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F7C31-2C3E-3773-EEEF-02721B383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18" y="2708920"/>
            <a:ext cx="3528392" cy="23085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9684CA-7AA4-2114-ECE9-4F9ED3AC865C}"/>
              </a:ext>
            </a:extLst>
          </p:cNvPr>
          <p:cNvSpPr/>
          <p:nvPr/>
        </p:nvSpPr>
        <p:spPr>
          <a:xfrm>
            <a:off x="260980" y="246508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F5A17-4BF8-E364-984F-EEF38336EAFA}"/>
              </a:ext>
            </a:extLst>
          </p:cNvPr>
          <p:cNvSpPr/>
          <p:nvPr/>
        </p:nvSpPr>
        <p:spPr>
          <a:xfrm>
            <a:off x="4591104" y="2465079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621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29062ED-535C-3BB5-F0F4-DB169A3C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" y="636899"/>
            <a:ext cx="7772400" cy="1099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6CFAC-2964-1C33-7B94-DD06FD734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50" y="2060848"/>
            <a:ext cx="4223370" cy="15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B9424-3989-BB04-7B0E-4B4B6C566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84" y="1823341"/>
            <a:ext cx="4439394" cy="31389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26D855-81A3-5090-7CD3-57F093CA8FC6}"/>
              </a:ext>
            </a:extLst>
          </p:cNvPr>
          <p:cNvSpPr/>
          <p:nvPr/>
        </p:nvSpPr>
        <p:spPr>
          <a:xfrm>
            <a:off x="337830" y="1823341"/>
            <a:ext cx="423417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72FA1-570D-B865-8D68-AEAC80306D58}"/>
              </a:ext>
            </a:extLst>
          </p:cNvPr>
          <p:cNvSpPr/>
          <p:nvPr/>
        </p:nvSpPr>
        <p:spPr>
          <a:xfrm>
            <a:off x="4667954" y="182334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3789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F3DDC20-C6E8-8496-32AF-0AE813CB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" y="599126"/>
            <a:ext cx="8855125" cy="1893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4BB7C-F699-2F54-0DCF-C68D5614B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7" y="2564904"/>
            <a:ext cx="2504974" cy="4221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7A2ED-B47F-7EF8-5456-8F40AD3E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2564904"/>
            <a:ext cx="2186806" cy="1064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A02F65-89B9-3C0E-F170-6E30BFEEB4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19"/>
          <a:stretch/>
        </p:blipFill>
        <p:spPr>
          <a:xfrm>
            <a:off x="5845884" y="2996704"/>
            <a:ext cx="2990749" cy="38612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50F823-04C7-95A6-94AC-FADFFFFD7148}"/>
              </a:ext>
            </a:extLst>
          </p:cNvPr>
          <p:cNvSpPr/>
          <p:nvPr/>
        </p:nvSpPr>
        <p:spPr>
          <a:xfrm>
            <a:off x="285107" y="2457030"/>
            <a:ext cx="2846733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67D35-1BBA-D327-6543-A7D058673CBA}"/>
              </a:ext>
            </a:extLst>
          </p:cNvPr>
          <p:cNvSpPr/>
          <p:nvPr/>
        </p:nvSpPr>
        <p:spPr>
          <a:xfrm>
            <a:off x="3298117" y="2455939"/>
            <a:ext cx="5560776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9902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734925-06C3-0C6D-5CF0-03FFA0DE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" y="599127"/>
            <a:ext cx="7772400" cy="2341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7CA77-222F-ABB0-AE4E-BF0EE461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27" y="3212976"/>
            <a:ext cx="3312368" cy="3171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5D6DE-68FE-92BA-35FD-0F5AFB9EE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23" y="3071158"/>
            <a:ext cx="3312368" cy="378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39A1F3-3261-0ECA-227B-322607DA9996}"/>
              </a:ext>
            </a:extLst>
          </p:cNvPr>
          <p:cNvSpPr/>
          <p:nvPr/>
        </p:nvSpPr>
        <p:spPr>
          <a:xfrm>
            <a:off x="463282" y="3071158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2B7FE6-FF37-5AC0-AB00-2096EE1BAF59}"/>
              </a:ext>
            </a:extLst>
          </p:cNvPr>
          <p:cNvSpPr/>
          <p:nvPr/>
        </p:nvSpPr>
        <p:spPr>
          <a:xfrm>
            <a:off x="4749603" y="3089106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8763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