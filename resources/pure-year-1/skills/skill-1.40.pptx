
<file path=[Content_Types].xml><?xml version="1.0" encoding="utf-8"?>
<ns0:Types xmlns:ns0="http://schemas.openxmlformats.org/package/2006/content-types">
  <ns0:Default Extension="png" ContentType="image/png"/>
  <ns0:Default Extension="rels" ContentType="application/vnd.openxmlformats-package.relationships+xml"/>
  <ns0:Default Extension="xml" ContentType="application/xml"/>
  <ns0:Override PartName="/ppt/c10/ppt/slideMasters/slideMaster1.xml" ContentType="application/vnd.openxmlformats-officedocument.presentationml.slideMaster+xml"/>
  <ns0:Override PartName="/ppt/c10/ppt/slides/slide3.xml" ContentType="application/vnd.openxmlformats-officedocument.presentationml.slide+xml"/>
  <ns0:Override PartName="/ppt/c10/ppt/slides/slide4.xml" ContentType="application/vnd.openxmlformats-officedocument.presentationml.slide+xml"/>
  <ns0:Override PartName="/ppt/c10/ppt/slides/slide5.xml" ContentType="application/vnd.openxmlformats-officedocument.presentationml.slide+xml"/>
  <ns0:Override PartName="/ppt/c10/ppt/slides/slide6.xml" ContentType="application/vnd.openxmlformats-officedocument.presentationml.slide+xml"/>
  <ns0:Override PartName="/ppt/c10/ppt/slides/slide7.xml" ContentType="application/vnd.openxmlformats-officedocument.presentationml.slide+xml"/>
  <ns0:Override PartName="/ppt/c10/ppt/slides/slide8.xml" ContentType="application/vnd.openxmlformats-officedocument.presentationml.slide+xml"/>
  <ns0:Override PartName="/ppt/c10/ppt/slides/slide9.xml" ContentType="application/vnd.openxmlformats-officedocument.presentationml.slide+xml"/>
  <ns0:Override PartName="/ppt/c10/ppt/slides/slide10.xml" ContentType="application/vnd.openxmlformats-officedocument.presentationml.slide+xml"/>
  <ns0:Override PartName="/ppt/c10/ppt/slides/slide11.xml" ContentType="application/vnd.openxmlformats-officedocument.presentationml.slide+xml"/>
  <ns0:Override PartName="/ppt/c10/ppt/slides/slide19.xml" ContentType="application/vnd.openxmlformats-officedocument.presentationml.slide+xml"/>
  <ns0:Override PartName="/ppt/c10/ppt/slides/slide20.xml" ContentType="application/vnd.openxmlformats-officedocument.presentationml.slide+xml"/>
  <ns0:Override PartName="/ppt/c10/ppt/slides/slide21.xml" ContentType="application/vnd.openxmlformats-officedocument.presentationml.slide+xml"/>
  <ns0:Override PartName="/ppt/c10/ppt/slides/slide22.xml" ContentType="application/vnd.openxmlformats-officedocument.presentationml.slide+xml"/>
  <ns0:Override PartName="/ppt/c10/ppt/slides/slide23.xml" ContentType="application/vnd.openxmlformats-officedocument.presentationml.slide+xml"/>
  <ns0:Override PartName="/ppt/c10/ppt/slides/slide24.xml" ContentType="application/vnd.openxmlformats-officedocument.presentationml.slide+xml"/>
  <ns0:Override PartName="/ppt/c10/ppt/slides/slide25.xml" ContentType="application/vnd.openxmlformats-officedocument.presentationml.slide+xml"/>
  <ns0:Override PartName="/ppt/c10/ppt/slides/slide26.xml" ContentType="application/vnd.openxmlformats-officedocument.presentationml.slide+xml"/>
  <ns0:Override PartName="/ppt/c10/ppt/slides/slide27.xml" ContentType="application/vnd.openxmlformats-officedocument.presentationml.slide+xml"/>
  <ns0:Override PartName="/ppt/c10/ppt/slides/slide28.xml" ContentType="application/vnd.openxmlformats-officedocument.presentationml.slide+xml"/>
  <ns0:Override PartName="/ppt/c10/ppt/notesMasters/notesMaster1.xml" ContentType="application/vnd.openxmlformats-officedocument.presentationml.notesMaster+xml"/>
  <ns0:Override PartName="/ppt/c10/ppt/theme/theme1.xml" ContentType="application/vnd.openxmlformats-officedocument.theme+xml"/>
  <ns0:Override PartName="/ppt/c10/ppt/slideLayouts/slideLayout1.xml" ContentType="application/vnd.openxmlformats-officedocument.presentationml.slideLayout+xml"/>
  <ns0:Override PartName="/ppt/c10/ppt/slideLayouts/slideLayout2.xml" ContentType="application/vnd.openxmlformats-officedocument.presentationml.slideLayout+xml"/>
  <ns0:Override PartName="/ppt/c10/ppt/theme/theme2.xml" ContentType="application/vnd.openxmlformats-officedocument.theme+xml"/>
  <ns0:Override PartName="/ppt/presentation.xml" ContentType="application/vnd.openxmlformats-officedocument.presentationml.presentation.main+xml"/>
</ns0:Types>
</file>

<file path=_rels/.rels><?xml version='1.0' encoding='utf-8'?>
<ns0:Relationships xmlns:ns0="http://schemas.openxmlformats.org/package/2006/relationships"><ns0:Relationship Id="rId1" Type="http://schemas.openxmlformats.org/officeDocument/2006/relationships/officeDocument" Target="ppt/presentation.xml" /></ns0:Relationships>
</file>

<file path=ppt/presentation.xml><?xml version="1.0" encoding="utf-8"?>
<p:presentation xmlns:p="http://schemas.openxmlformats.org/presentationml/2006/main" xmlns:r="http://schemas.openxmlformats.org/officeDocument/2006/relationships" saveSubsetFonts="1">
  <p:sldMasterIdLst>
    <p:sldMasterId id="2147484648" r:id="rId20"/>
  </p:sldMasterIdLst>
  <p:notesMasterIdLst>
    <p:notesMasterId r:id="rId21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</p:sldIdLst>
  <p:sldSz cx="12192000" cy="6858000"/>
  <p:notesSz cx="6858000" cy="9144000"/>
</p:presentation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" Target="c10/ppt/slides/slide3.xml" /><ns0:Relationship Id="rId2" Type="http://schemas.openxmlformats.org/officeDocument/2006/relationships/slide" Target="c10/ppt/slides/slide4.xml" /><ns0:Relationship Id="rId3" Type="http://schemas.openxmlformats.org/officeDocument/2006/relationships/slide" Target="c10/ppt/slides/slide5.xml" /><ns0:Relationship Id="rId4" Type="http://schemas.openxmlformats.org/officeDocument/2006/relationships/slide" Target="c10/ppt/slides/slide6.xml" /><ns0:Relationship Id="rId5" Type="http://schemas.openxmlformats.org/officeDocument/2006/relationships/slide" Target="c10/ppt/slides/slide7.xml" /><ns0:Relationship Id="rId6" Type="http://schemas.openxmlformats.org/officeDocument/2006/relationships/slide" Target="c10/ppt/slides/slide8.xml" /><ns0:Relationship Id="rId7" Type="http://schemas.openxmlformats.org/officeDocument/2006/relationships/slide" Target="c10/ppt/slides/slide9.xml" /><ns0:Relationship Id="rId8" Type="http://schemas.openxmlformats.org/officeDocument/2006/relationships/slide" Target="c10/ppt/slides/slide10.xml" /><ns0:Relationship Id="rId9" Type="http://schemas.openxmlformats.org/officeDocument/2006/relationships/slide" Target="c10/ppt/slides/slide11.xml" /><ns0:Relationship Id="rId10" Type="http://schemas.openxmlformats.org/officeDocument/2006/relationships/slide" Target="c10/ppt/slides/slide19.xml" /><ns0:Relationship Id="rId11" Type="http://schemas.openxmlformats.org/officeDocument/2006/relationships/slide" Target="c10/ppt/slides/slide20.xml" /><ns0:Relationship Id="rId12" Type="http://schemas.openxmlformats.org/officeDocument/2006/relationships/slide" Target="c10/ppt/slides/slide21.xml" /><ns0:Relationship Id="rId13" Type="http://schemas.openxmlformats.org/officeDocument/2006/relationships/slide" Target="c10/ppt/slides/slide22.xml" /><ns0:Relationship Id="rId14" Type="http://schemas.openxmlformats.org/officeDocument/2006/relationships/slide" Target="c10/ppt/slides/slide23.xml" /><ns0:Relationship Id="rId15" Type="http://schemas.openxmlformats.org/officeDocument/2006/relationships/slide" Target="c10/ppt/slides/slide24.xml" /><ns0:Relationship Id="rId16" Type="http://schemas.openxmlformats.org/officeDocument/2006/relationships/slide" Target="c10/ppt/slides/slide25.xml" /><ns0:Relationship Id="rId17" Type="http://schemas.openxmlformats.org/officeDocument/2006/relationships/slide" Target="c10/ppt/slides/slide26.xml" /><ns0:Relationship Id="rId18" Type="http://schemas.openxmlformats.org/officeDocument/2006/relationships/slide" Target="c10/ppt/slides/slide27.xml" /><ns0:Relationship Id="rId19" Type="http://schemas.openxmlformats.org/officeDocument/2006/relationships/slide" Target="c10/ppt/slides/slide28.xml" /><ns0:Relationship Id="rId20" Type="http://schemas.openxmlformats.org/officeDocument/2006/relationships/slideMaster" Target="c10/ppt/slideMasters/slideMaster1.xml" /><ns0:Relationship Id="rId21" Type="http://schemas.openxmlformats.org/officeDocument/2006/relationships/notesMaster" Target="c10/ppt/notesMasters/notesMaster1.xml" /></ns0:Relationships>
</file>

<file path=ppt/c10/ppt/notesMasters/_rels/notesMaster1.xml.rels><?xml version='1.0' encoding='utf-8'?>
<ns0:Relationships xmlns:ns0="http://schemas.openxmlformats.org/package/2006/relationships"><ns0:Relationship Id="rId1" Type="http://schemas.openxmlformats.org/officeDocument/2006/relationships/theme" Target="../theme/theme2.xml" /></ns0:Relationships>
</file>

<file path=ppt/c10/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E87F4A-DD11-41AF-8B76-F2E5B6202836}" type="datetimeFigureOut">
              <a:rPr lang="en-GB" smtClean="0"/>
              <a:pPr/>
              <a:t>09/11/2024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2F2399-CD51-4C4C-BC34-03B9F40F9CF8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47450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c10/ppt/slideLayouts/_rels/slideLayout1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c10/ppt/slideLayouts/_rels/slideLayout2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c10/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09/11/2024</a:t>
            </a:fld>
            <a:endParaRPr lang="en-GB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F7B1DFBE-C104-6839-D50C-3CCE0EFA464B}"/>
              </a:ext>
            </a:extLst>
          </p:cNvPr>
          <p:cNvSpPr txBox="1">
            <a:spLocks/>
          </p:cNvSpPr>
          <p:nvPr userDrawn="1"/>
        </p:nvSpPr>
        <p:spPr>
          <a:xfrm>
            <a:off x="0" y="0"/>
            <a:ext cx="12192000" cy="599126"/>
          </a:xfrm>
          <a:prstGeom prst="rect">
            <a:avLst/>
          </a:prstGeom>
          <a:solidFill>
            <a:srgbClr val="17375E"/>
          </a:solidFill>
        </p:spPr>
        <p:txBody>
          <a:bodyPr vert="horz" lIns="0" tIns="0" rIns="14400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i="1" kern="1200">
                <a:solidFill>
                  <a:srgbClr val="17375E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48177B05-5D28-4021-9BD2-A7A72850B659}" type="slidenum">
              <a:rPr lang="en-GB" sz="1600" i="0" smtClean="0">
                <a:solidFill>
                  <a:schemeClr val="bg1"/>
                </a:solidFill>
              </a:rPr>
              <a:pPr algn="r"/>
              <a:t>‹#›</a:t>
            </a:fld>
            <a:endParaRPr lang="en-GB" sz="1600" i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336913"/>
      </p:ext>
    </p:extLst>
  </p:cSld>
  <p:clrMapOvr>
    <a:masterClrMapping/>
  </p:clrMapOvr>
</p:sldLayout>
</file>

<file path=ppt/c10/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bg>
      <p:bgPr>
        <a:solidFill>
          <a:srgbClr val="2330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693991"/>
            <a:ext cx="10363200" cy="1470025"/>
          </a:xfrm>
        </p:spPr>
        <p:txBody>
          <a:bodyPr>
            <a:noAutofit/>
          </a:bodyPr>
          <a:lstStyle>
            <a:lvl1pPr>
              <a:defRPr sz="3375" b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36893722"/>
      </p:ext>
    </p:extLst>
  </p:cSld>
  <p:clrMapOvr>
    <a:masterClrMapping/>
  </p:clrMapOvr>
</p:sldLayout>
</file>

<file path=ppt/c10/ppt/slideMasters/_rels/slideMaster1.xml.rels><?xml version='1.0' encoding='utf-8'?>
<ns0:Relationships xmlns:ns0="http://schemas.openxmlformats.org/package/2006/relationships"><ns0:Relationship Id="rId3" Type="http://schemas.openxmlformats.org/officeDocument/2006/relationships/theme" Target="../theme/theme1.xml" /><ns0:Relationship Id="rId2" Type="http://schemas.openxmlformats.org/officeDocument/2006/relationships/slideLayout" Target="../slideLayouts/slideLayout2.xml" /><ns0:Relationship Id="rId1" Type="http://schemas.openxmlformats.org/officeDocument/2006/relationships/slideLayout" Target="../slideLayouts/slideLayout1.xml" /></ns0:Relationships>
</file>

<file path=ppt/c10/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5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5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9AFE4D-3339-4F90-AB07-DAB31D79E32A}" type="datetimeFigureOut">
              <a:rPr lang="en-GB" smtClean="0"/>
              <a:pPr/>
              <a:t>09/11/2024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5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967452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500100" r:id="rId1"/>
    <p:sldLayoutId id="2147500101" r:id="rId2"/>
  </p:sldLayoutIdLst>
  <p:txStyles>
    <p:titleStyle>
      <a:lvl1pPr algn="ctr" defTabSz="914377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891" indent="-342891" algn="l" defTabSz="914377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32" indent="-285744" algn="l" defTabSz="914377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c10/ppt/slides/_rels/slide3.xml.rels><?xml version='1.0' encoding='utf-8'?>
<ns0:Relationships xmlns:ns0="http://schemas.openxmlformats.org/package/2006/relationships"><ns0:Relationship Id="rId8" Type="http://schemas.openxmlformats.org/officeDocument/2006/relationships/image" Target="../media/image13.png" /><ns0:Relationship Id="rId13" Type="http://schemas.openxmlformats.org/officeDocument/2006/relationships/image" Target="../media/image18.png" /><ns0:Relationship Id="rId3" Type="http://schemas.openxmlformats.org/officeDocument/2006/relationships/image" Target="../media/image8.png" /><ns0:Relationship Id="rId7" Type="http://schemas.openxmlformats.org/officeDocument/2006/relationships/image" Target="../media/image12.png" /><ns0:Relationship Id="rId12" Type="http://schemas.openxmlformats.org/officeDocument/2006/relationships/image" Target="../media/image17.png" /><ns0:Relationship Id="rId2" Type="http://schemas.openxmlformats.org/officeDocument/2006/relationships/image" Target="../media/image7.png" /><ns0:Relationship Id="rId1" Type="http://schemas.openxmlformats.org/officeDocument/2006/relationships/slideLayout" Target="../slideLayouts/slideLayout1.xml" /><ns0:Relationship Id="rId6" Type="http://schemas.openxmlformats.org/officeDocument/2006/relationships/image" Target="../media/image11.png" /><ns0:Relationship Id="rId11" Type="http://schemas.openxmlformats.org/officeDocument/2006/relationships/image" Target="../media/image16.png" /><ns0:Relationship Id="rId5" Type="http://schemas.openxmlformats.org/officeDocument/2006/relationships/image" Target="../media/image10.png" /><ns0:Relationship Id="rId10" Type="http://schemas.openxmlformats.org/officeDocument/2006/relationships/image" Target="../media/image15.png" /><ns0:Relationship Id="rId4" Type="http://schemas.openxmlformats.org/officeDocument/2006/relationships/image" Target="../media/image9.png" /><ns0:Relationship Id="rId9" Type="http://schemas.openxmlformats.org/officeDocument/2006/relationships/image" Target="../media/image14.png" /><ns0:Relationship Id="rId14" Type="http://schemas.openxmlformats.org/officeDocument/2006/relationships/image" Target="../media/image19.png" /></ns0:Relationships>
</file>

<file path=ppt/c10/ppt/slides/_rels/slide4.xml.rels><?xml version='1.0' encoding='utf-8'?>
<ns0:Relationships xmlns:ns0="http://schemas.openxmlformats.org/package/2006/relationships"><ns0:Relationship Id="rId8" Type="http://schemas.openxmlformats.org/officeDocument/2006/relationships/image" Target="../media/image26.png" /><ns0:Relationship Id="rId13" Type="http://schemas.openxmlformats.org/officeDocument/2006/relationships/image" Target="../media/image31.png" /><ns0:Relationship Id="rId3" Type="http://schemas.openxmlformats.org/officeDocument/2006/relationships/image" Target="../media/image21.png" /><ns0:Relationship Id="rId7" Type="http://schemas.openxmlformats.org/officeDocument/2006/relationships/image" Target="../media/image25.png" /><ns0:Relationship Id="rId12" Type="http://schemas.openxmlformats.org/officeDocument/2006/relationships/image" Target="../media/image30.png" /><ns0:Relationship Id="rId2" Type="http://schemas.openxmlformats.org/officeDocument/2006/relationships/image" Target="../media/image20.png" /><ns0:Relationship Id="rId16" Type="http://schemas.openxmlformats.org/officeDocument/2006/relationships/image" Target="../media/image34.png" /><ns0:Relationship Id="rId1" Type="http://schemas.openxmlformats.org/officeDocument/2006/relationships/slideLayout" Target="../slideLayouts/slideLayout1.xml" /><ns0:Relationship Id="rId6" Type="http://schemas.openxmlformats.org/officeDocument/2006/relationships/image" Target="../media/image24.png" /><ns0:Relationship Id="rId11" Type="http://schemas.openxmlformats.org/officeDocument/2006/relationships/image" Target="../media/image29.png" /><ns0:Relationship Id="rId5" Type="http://schemas.openxmlformats.org/officeDocument/2006/relationships/image" Target="../media/image23.png" /><ns0:Relationship Id="rId15" Type="http://schemas.openxmlformats.org/officeDocument/2006/relationships/image" Target="../media/image33.png" /><ns0:Relationship Id="rId10" Type="http://schemas.openxmlformats.org/officeDocument/2006/relationships/image" Target="../media/image28.png" /><ns0:Relationship Id="rId4" Type="http://schemas.openxmlformats.org/officeDocument/2006/relationships/image" Target="../media/image22.png" /><ns0:Relationship Id="rId9" Type="http://schemas.openxmlformats.org/officeDocument/2006/relationships/image" Target="../media/image27.png" /><ns0:Relationship Id="rId14" Type="http://schemas.openxmlformats.org/officeDocument/2006/relationships/image" Target="../media/image32.png" /></ns0:Relationships>
</file>

<file path=ppt/c10/ppt/slides/_rels/slide5.xml.rels><?xml version='1.0' encoding='utf-8'?>
<ns0:Relationships xmlns:ns0="http://schemas.openxmlformats.org/package/2006/relationships"><ns0:Relationship Id="rId13" Type="http://schemas.openxmlformats.org/officeDocument/2006/relationships/image" Target="../media/image46.png" /><ns0:Relationship Id="rId18" Type="http://schemas.openxmlformats.org/officeDocument/2006/relationships/image" Target="../media/image51.png" /><ns0:Relationship Id="rId26" Type="http://schemas.openxmlformats.org/officeDocument/2006/relationships/image" Target="../media/image59.png" /><ns0:Relationship Id="rId39" Type="http://schemas.openxmlformats.org/officeDocument/2006/relationships/image" Target="../media/image72.png" /><ns0:Relationship Id="rId21" Type="http://schemas.openxmlformats.org/officeDocument/2006/relationships/image" Target="../media/image54.png" /><ns0:Relationship Id="rId34" Type="http://schemas.openxmlformats.org/officeDocument/2006/relationships/image" Target="../media/image67.png" /><ns0:Relationship Id="rId42" Type="http://schemas.openxmlformats.org/officeDocument/2006/relationships/image" Target="../media/image75.png" /><ns0:Relationship Id="rId7" Type="http://schemas.openxmlformats.org/officeDocument/2006/relationships/image" Target="../media/image40.png" /><ns0:Relationship Id="rId2" Type="http://schemas.openxmlformats.org/officeDocument/2006/relationships/image" Target="../media/image35.png" /><ns0:Relationship Id="rId16" Type="http://schemas.openxmlformats.org/officeDocument/2006/relationships/image" Target="../media/image49.png" /><ns0:Relationship Id="rId29" Type="http://schemas.openxmlformats.org/officeDocument/2006/relationships/image" Target="../media/image62.png" /><ns0:Relationship Id="rId1" Type="http://schemas.openxmlformats.org/officeDocument/2006/relationships/slideLayout" Target="../slideLayouts/slideLayout1.xml" /><ns0:Relationship Id="rId6" Type="http://schemas.openxmlformats.org/officeDocument/2006/relationships/image" Target="../media/image39.png" /><ns0:Relationship Id="rId11" Type="http://schemas.openxmlformats.org/officeDocument/2006/relationships/image" Target="../media/image44.png" /><ns0:Relationship Id="rId24" Type="http://schemas.openxmlformats.org/officeDocument/2006/relationships/image" Target="../media/image57.png" /><ns0:Relationship Id="rId32" Type="http://schemas.openxmlformats.org/officeDocument/2006/relationships/image" Target="../media/image65.png" /><ns0:Relationship Id="rId37" Type="http://schemas.openxmlformats.org/officeDocument/2006/relationships/image" Target="../media/image70.png" /><ns0:Relationship Id="rId40" Type="http://schemas.openxmlformats.org/officeDocument/2006/relationships/image" Target="../media/image73.png" /><ns0:Relationship Id="rId45" Type="http://schemas.openxmlformats.org/officeDocument/2006/relationships/image" Target="../media/image78.png" /><ns0:Relationship Id="rId5" Type="http://schemas.openxmlformats.org/officeDocument/2006/relationships/image" Target="../media/image38.png" /><ns0:Relationship Id="rId15" Type="http://schemas.openxmlformats.org/officeDocument/2006/relationships/image" Target="../media/image48.png" /><ns0:Relationship Id="rId23" Type="http://schemas.openxmlformats.org/officeDocument/2006/relationships/image" Target="../media/image56.png" /><ns0:Relationship Id="rId28" Type="http://schemas.openxmlformats.org/officeDocument/2006/relationships/image" Target="../media/image61.png" /><ns0:Relationship Id="rId36" Type="http://schemas.openxmlformats.org/officeDocument/2006/relationships/image" Target="../media/image69.png" /><ns0:Relationship Id="rId10" Type="http://schemas.openxmlformats.org/officeDocument/2006/relationships/image" Target="../media/image43.png" /><ns0:Relationship Id="rId19" Type="http://schemas.openxmlformats.org/officeDocument/2006/relationships/image" Target="../media/image52.png" /><ns0:Relationship Id="rId31" Type="http://schemas.openxmlformats.org/officeDocument/2006/relationships/image" Target="../media/image64.png" /><ns0:Relationship Id="rId44" Type="http://schemas.openxmlformats.org/officeDocument/2006/relationships/image" Target="../media/image77.png" /><ns0:Relationship Id="rId4" Type="http://schemas.openxmlformats.org/officeDocument/2006/relationships/image" Target="../media/image37.png" /><ns0:Relationship Id="rId9" Type="http://schemas.openxmlformats.org/officeDocument/2006/relationships/image" Target="../media/image42.png" /><ns0:Relationship Id="rId14" Type="http://schemas.openxmlformats.org/officeDocument/2006/relationships/image" Target="../media/image47.png" /><ns0:Relationship Id="rId22" Type="http://schemas.openxmlformats.org/officeDocument/2006/relationships/image" Target="../media/image55.png" /><ns0:Relationship Id="rId27" Type="http://schemas.openxmlformats.org/officeDocument/2006/relationships/image" Target="../media/image60.png" /><ns0:Relationship Id="rId30" Type="http://schemas.openxmlformats.org/officeDocument/2006/relationships/image" Target="../media/image63.png" /><ns0:Relationship Id="rId35" Type="http://schemas.openxmlformats.org/officeDocument/2006/relationships/image" Target="../media/image68.png" /><ns0:Relationship Id="rId43" Type="http://schemas.openxmlformats.org/officeDocument/2006/relationships/image" Target="../media/image76.png" /><ns0:Relationship Id="rId8" Type="http://schemas.openxmlformats.org/officeDocument/2006/relationships/image" Target="../media/image41.png" /><ns0:Relationship Id="rId3" Type="http://schemas.openxmlformats.org/officeDocument/2006/relationships/image" Target="../media/image36.png" /><ns0:Relationship Id="rId12" Type="http://schemas.openxmlformats.org/officeDocument/2006/relationships/image" Target="../media/image45.png" /><ns0:Relationship Id="rId17" Type="http://schemas.openxmlformats.org/officeDocument/2006/relationships/image" Target="../media/image50.png" /><ns0:Relationship Id="rId25" Type="http://schemas.openxmlformats.org/officeDocument/2006/relationships/image" Target="../media/image58.png" /><ns0:Relationship Id="rId33" Type="http://schemas.openxmlformats.org/officeDocument/2006/relationships/image" Target="../media/image66.png" /><ns0:Relationship Id="rId38" Type="http://schemas.openxmlformats.org/officeDocument/2006/relationships/image" Target="../media/image71.png" /><ns0:Relationship Id="rId20" Type="http://schemas.openxmlformats.org/officeDocument/2006/relationships/image" Target="../media/image53.png" /><ns0:Relationship Id="rId41" Type="http://schemas.openxmlformats.org/officeDocument/2006/relationships/image" Target="../media/image74.png" /></ns0:Relationships>
</file>

<file path=ppt/c10/ppt/slides/_rels/slide6.xml.rels><?xml version='1.0' encoding='utf-8'?>
<ns0:Relationships xmlns:ns0="http://schemas.openxmlformats.org/package/2006/relationships"><ns0:Relationship Id="rId8" Type="http://schemas.openxmlformats.org/officeDocument/2006/relationships/image" Target="../media/image85.png" /><ns0:Relationship Id="rId3" Type="http://schemas.openxmlformats.org/officeDocument/2006/relationships/image" Target="../media/image80.png" /><ns0:Relationship Id="rId7" Type="http://schemas.openxmlformats.org/officeDocument/2006/relationships/image" Target="../media/image84.png" /><ns0:Relationship Id="rId2" Type="http://schemas.openxmlformats.org/officeDocument/2006/relationships/image" Target="../media/image79.png" /><ns0:Relationship Id="rId1" Type="http://schemas.openxmlformats.org/officeDocument/2006/relationships/slideLayout" Target="../slideLayouts/slideLayout1.xml" /><ns0:Relationship Id="rId6" Type="http://schemas.openxmlformats.org/officeDocument/2006/relationships/image" Target="../media/image83.png" /><ns0:Relationship Id="rId11" Type="http://schemas.openxmlformats.org/officeDocument/2006/relationships/image" Target="../media/image88.png" /><ns0:Relationship Id="rId5" Type="http://schemas.openxmlformats.org/officeDocument/2006/relationships/image" Target="../media/image82.png" /><ns0:Relationship Id="rId10" Type="http://schemas.openxmlformats.org/officeDocument/2006/relationships/image" Target="../media/image87.png" /><ns0:Relationship Id="rId4" Type="http://schemas.openxmlformats.org/officeDocument/2006/relationships/image" Target="../media/image81.png" /><ns0:Relationship Id="rId9" Type="http://schemas.openxmlformats.org/officeDocument/2006/relationships/image" Target="../media/image86.png" /></ns0:Relationships>
</file>

<file path=ppt/c10/ppt/slides/_rels/slide7.xml.rels><?xml version='1.0' encoding='utf-8'?>
<ns0:Relationships xmlns:ns0="http://schemas.openxmlformats.org/package/2006/relationships"><ns0:Relationship Id="rId8" Type="http://schemas.openxmlformats.org/officeDocument/2006/relationships/image" Target="../media/image95.png" /><ns0:Relationship Id="rId13" Type="http://schemas.openxmlformats.org/officeDocument/2006/relationships/image" Target="../media/image100.png" /><ns0:Relationship Id="rId18" Type="http://schemas.openxmlformats.org/officeDocument/2006/relationships/image" Target="../media/image105.png" /><ns0:Relationship Id="rId3" Type="http://schemas.openxmlformats.org/officeDocument/2006/relationships/image" Target="../media/image90.png" /><ns0:Relationship Id="rId21" Type="http://schemas.openxmlformats.org/officeDocument/2006/relationships/image" Target="../media/image108.png" /><ns0:Relationship Id="rId7" Type="http://schemas.openxmlformats.org/officeDocument/2006/relationships/image" Target="../media/image94.png" /><ns0:Relationship Id="rId12" Type="http://schemas.openxmlformats.org/officeDocument/2006/relationships/image" Target="../media/image99.png" /><ns0:Relationship Id="rId17" Type="http://schemas.openxmlformats.org/officeDocument/2006/relationships/image" Target="../media/image104.png" /><ns0:Relationship Id="rId2" Type="http://schemas.openxmlformats.org/officeDocument/2006/relationships/image" Target="../media/image89.png" /><ns0:Relationship Id="rId16" Type="http://schemas.openxmlformats.org/officeDocument/2006/relationships/image" Target="../media/image103.png" /><ns0:Relationship Id="rId20" Type="http://schemas.openxmlformats.org/officeDocument/2006/relationships/image" Target="../media/image107.png" /><ns0:Relationship Id="rId1" Type="http://schemas.openxmlformats.org/officeDocument/2006/relationships/slideLayout" Target="../slideLayouts/slideLayout1.xml" /><ns0:Relationship Id="rId6" Type="http://schemas.openxmlformats.org/officeDocument/2006/relationships/image" Target="../media/image93.png" /><ns0:Relationship Id="rId11" Type="http://schemas.openxmlformats.org/officeDocument/2006/relationships/image" Target="../media/image98.png" /><ns0:Relationship Id="rId5" Type="http://schemas.openxmlformats.org/officeDocument/2006/relationships/image" Target="../media/image92.png" /><ns0:Relationship Id="rId15" Type="http://schemas.openxmlformats.org/officeDocument/2006/relationships/image" Target="../media/image102.png" /><ns0:Relationship Id="rId10" Type="http://schemas.openxmlformats.org/officeDocument/2006/relationships/image" Target="../media/image97.png" /><ns0:Relationship Id="rId19" Type="http://schemas.openxmlformats.org/officeDocument/2006/relationships/image" Target="../media/image106.png" /><ns0:Relationship Id="rId4" Type="http://schemas.openxmlformats.org/officeDocument/2006/relationships/image" Target="../media/image91.png" /><ns0:Relationship Id="rId9" Type="http://schemas.openxmlformats.org/officeDocument/2006/relationships/image" Target="../media/image96.png" /><ns0:Relationship Id="rId14" Type="http://schemas.openxmlformats.org/officeDocument/2006/relationships/image" Target="../media/image101.png" /></ns0:Relationships>
</file>

<file path=ppt/c10/ppt/slides/_rels/slide8.xml.rels><?xml version='1.0' encoding='utf-8'?>
<ns0:Relationships xmlns:ns0="http://schemas.openxmlformats.org/package/2006/relationships"><ns0:Relationship Id="rId8" Type="http://schemas.openxmlformats.org/officeDocument/2006/relationships/image" Target="../media/image115.png" /><ns0:Relationship Id="rId13" Type="http://schemas.openxmlformats.org/officeDocument/2006/relationships/image" Target="../media/image120.png" /><ns0:Relationship Id="rId18" Type="http://schemas.openxmlformats.org/officeDocument/2006/relationships/image" Target="../media/image125.png" /><ns0:Relationship Id="rId3" Type="http://schemas.openxmlformats.org/officeDocument/2006/relationships/image" Target="../media/image110.png" /><ns0:Relationship Id="rId21" Type="http://schemas.openxmlformats.org/officeDocument/2006/relationships/image" Target="../media/image128.png" /><ns0:Relationship Id="rId7" Type="http://schemas.openxmlformats.org/officeDocument/2006/relationships/image" Target="../media/image114.png" /><ns0:Relationship Id="rId12" Type="http://schemas.openxmlformats.org/officeDocument/2006/relationships/image" Target="../media/image119.png" /><ns0:Relationship Id="rId17" Type="http://schemas.openxmlformats.org/officeDocument/2006/relationships/image" Target="../media/image124.png" /><ns0:Relationship Id="rId2" Type="http://schemas.openxmlformats.org/officeDocument/2006/relationships/image" Target="../media/image109.png" /><ns0:Relationship Id="rId16" Type="http://schemas.openxmlformats.org/officeDocument/2006/relationships/image" Target="../media/image123.png" /><ns0:Relationship Id="rId20" Type="http://schemas.openxmlformats.org/officeDocument/2006/relationships/image" Target="../media/image127.png" /><ns0:Relationship Id="rId1" Type="http://schemas.openxmlformats.org/officeDocument/2006/relationships/slideLayout" Target="../slideLayouts/slideLayout1.xml" /><ns0:Relationship Id="rId6" Type="http://schemas.openxmlformats.org/officeDocument/2006/relationships/image" Target="../media/image113.png" /><ns0:Relationship Id="rId11" Type="http://schemas.openxmlformats.org/officeDocument/2006/relationships/image" Target="../media/image118.png" /><ns0:Relationship Id="rId5" Type="http://schemas.openxmlformats.org/officeDocument/2006/relationships/image" Target="../media/image112.png" /><ns0:Relationship Id="rId15" Type="http://schemas.openxmlformats.org/officeDocument/2006/relationships/image" Target="../media/image122.png" /><ns0:Relationship Id="rId10" Type="http://schemas.openxmlformats.org/officeDocument/2006/relationships/image" Target="../media/image117.png" /><ns0:Relationship Id="rId19" Type="http://schemas.openxmlformats.org/officeDocument/2006/relationships/image" Target="../media/image126.png" /><ns0:Relationship Id="rId4" Type="http://schemas.openxmlformats.org/officeDocument/2006/relationships/image" Target="../media/image111.png" /><ns0:Relationship Id="rId9" Type="http://schemas.openxmlformats.org/officeDocument/2006/relationships/image" Target="../media/image116.png" /><ns0:Relationship Id="rId14" Type="http://schemas.openxmlformats.org/officeDocument/2006/relationships/image" Target="../media/image121.png" /><ns0:Relationship Id="rId22" Type="http://schemas.openxmlformats.org/officeDocument/2006/relationships/image" Target="../media/image129.png" /></ns0:Relationships>
</file>

<file path=ppt/c10/ppt/slides/_rels/slide9.xml.rels><?xml version='1.0' encoding='utf-8'?>
<ns0:Relationships xmlns:ns0="http://schemas.openxmlformats.org/package/2006/relationships"><ns0:Relationship Id="rId3" Type="http://schemas.openxmlformats.org/officeDocument/2006/relationships/image" Target="../media/image131.png" /><ns0:Relationship Id="rId2" Type="http://schemas.openxmlformats.org/officeDocument/2006/relationships/image" Target="../media/image130.png" /><ns0:Relationship Id="rId1" Type="http://schemas.openxmlformats.org/officeDocument/2006/relationships/slideLayout" Target="../slideLayouts/slideLayout1.xml" /></ns0:Relationships>
</file>

<file path=ppt/c10/ppt/slides/_rels/slide10.xml.rels><?xml version='1.0' encoding='utf-8'?>
<ns0:Relationships xmlns:ns0="http://schemas.openxmlformats.org/package/2006/relationships"><ns0:Relationship Id="rId3" Type="http://schemas.openxmlformats.org/officeDocument/2006/relationships/image" Target="../media/image133.png" /><ns0:Relationship Id="rId7" Type="http://schemas.openxmlformats.org/officeDocument/2006/relationships/image" Target="../media/image137.png" /><ns0:Relationship Id="rId2" Type="http://schemas.openxmlformats.org/officeDocument/2006/relationships/image" Target="../media/image132.png" /><ns0:Relationship Id="rId1" Type="http://schemas.openxmlformats.org/officeDocument/2006/relationships/slideLayout" Target="../slideLayouts/slideLayout1.xml" /><ns0:Relationship Id="rId6" Type="http://schemas.openxmlformats.org/officeDocument/2006/relationships/image" Target="../media/image136.png" /><ns0:Relationship Id="rId5" Type="http://schemas.openxmlformats.org/officeDocument/2006/relationships/image" Target="../media/image135.png" /><ns0:Relationship Id="rId4" Type="http://schemas.openxmlformats.org/officeDocument/2006/relationships/image" Target="../media/image134.png" /></ns0:Relationships>
</file>

<file path=ppt/c10/ppt/slides/_rels/slide11.xml.rels><?xml version='1.0' encoding='utf-8'?>
<ns0:Relationships xmlns:ns0="http://schemas.openxmlformats.org/package/2006/relationships"><ns0:Relationship Id="rId8" Type="http://schemas.openxmlformats.org/officeDocument/2006/relationships/image" Target="../media/image144.png" /><ns0:Relationship Id="rId13" Type="http://schemas.openxmlformats.org/officeDocument/2006/relationships/image" Target="../media/image149.png" /><ns0:Relationship Id="rId3" Type="http://schemas.openxmlformats.org/officeDocument/2006/relationships/image" Target="../media/image139.png" /><ns0:Relationship Id="rId7" Type="http://schemas.openxmlformats.org/officeDocument/2006/relationships/image" Target="../media/image143.png" /><ns0:Relationship Id="rId12" Type="http://schemas.openxmlformats.org/officeDocument/2006/relationships/image" Target="../media/image148.png" /><ns0:Relationship Id="rId2" Type="http://schemas.openxmlformats.org/officeDocument/2006/relationships/image" Target="../media/image138.png" /><ns0:Relationship Id="rId1" Type="http://schemas.openxmlformats.org/officeDocument/2006/relationships/slideLayout" Target="../slideLayouts/slideLayout1.xml" /><ns0:Relationship Id="rId6" Type="http://schemas.openxmlformats.org/officeDocument/2006/relationships/image" Target="../media/image142.png" /><ns0:Relationship Id="rId11" Type="http://schemas.openxmlformats.org/officeDocument/2006/relationships/image" Target="../media/image147.png" /><ns0:Relationship Id="rId5" Type="http://schemas.openxmlformats.org/officeDocument/2006/relationships/image" Target="../media/image141.png" /><ns0:Relationship Id="rId10" Type="http://schemas.openxmlformats.org/officeDocument/2006/relationships/image" Target="../media/image146.png" /><ns0:Relationship Id="rId4" Type="http://schemas.openxmlformats.org/officeDocument/2006/relationships/image" Target="../media/image140.png" /><ns0:Relationship Id="rId9" Type="http://schemas.openxmlformats.org/officeDocument/2006/relationships/image" Target="../media/image145.png" /></ns0:Relationships>
</file>

<file path=ppt/c10/ppt/slides/_rels/slide19.xml.rels><?xml version='1.0' encoding='utf-8'?>
<ns0:Relationships xmlns:ns0="http://schemas.openxmlformats.org/package/2006/relationships"><ns0:Relationship Id="rId8" Type="http://schemas.openxmlformats.org/officeDocument/2006/relationships/image" Target="../media/image195.png" /><ns0:Relationship Id="rId3" Type="http://schemas.openxmlformats.org/officeDocument/2006/relationships/image" Target="../media/image190.png" /><ns0:Relationship Id="rId7" Type="http://schemas.openxmlformats.org/officeDocument/2006/relationships/image" Target="../media/image194.png" /><ns0:Relationship Id="rId2" Type="http://schemas.openxmlformats.org/officeDocument/2006/relationships/image" Target="../media/image189.png" /><ns0:Relationship Id="rId1" Type="http://schemas.openxmlformats.org/officeDocument/2006/relationships/slideLayout" Target="../slideLayouts/slideLayout1.xml" /><ns0:Relationship Id="rId6" Type="http://schemas.openxmlformats.org/officeDocument/2006/relationships/image" Target="../media/image193.png" /><ns0:Relationship Id="rId5" Type="http://schemas.openxmlformats.org/officeDocument/2006/relationships/image" Target="../media/image192.png" /><ns0:Relationship Id="rId4" Type="http://schemas.openxmlformats.org/officeDocument/2006/relationships/image" Target="../media/image191.png" /><ns0:Relationship Id="rId9" Type="http://schemas.openxmlformats.org/officeDocument/2006/relationships/image" Target="../media/image196.png" /></ns0:Relationships>
</file>

<file path=ppt/c10/ppt/slides/_rels/slide20.xml.rels><?xml version='1.0' encoding='utf-8'?>
<ns0:Relationships xmlns:ns0="http://schemas.openxmlformats.org/package/2006/relationships"><ns0:Relationship Id="rId3" Type="http://schemas.openxmlformats.org/officeDocument/2006/relationships/image" Target="../media/image198.png" /><ns0:Relationship Id="rId7" Type="http://schemas.openxmlformats.org/officeDocument/2006/relationships/image" Target="../media/image202.png" /><ns0:Relationship Id="rId2" Type="http://schemas.openxmlformats.org/officeDocument/2006/relationships/image" Target="../media/image197.png" /><ns0:Relationship Id="rId1" Type="http://schemas.openxmlformats.org/officeDocument/2006/relationships/slideLayout" Target="../slideLayouts/slideLayout1.xml" /><ns0:Relationship Id="rId6" Type="http://schemas.openxmlformats.org/officeDocument/2006/relationships/image" Target="../media/image201.png" /><ns0:Relationship Id="rId5" Type="http://schemas.openxmlformats.org/officeDocument/2006/relationships/image" Target="../media/image200.png" /><ns0:Relationship Id="rId4" Type="http://schemas.openxmlformats.org/officeDocument/2006/relationships/image" Target="../media/image199.png" /></ns0:Relationships>
</file>

<file path=ppt/c10/ppt/slides/_rels/slide21.xml.rels><?xml version='1.0' encoding='utf-8'?>
<ns0:Relationships xmlns:ns0="http://schemas.openxmlformats.org/package/2006/relationships"><ns0:Relationship Id="rId3" Type="http://schemas.openxmlformats.org/officeDocument/2006/relationships/image" Target="../media/image204.png" /><ns0:Relationship Id="rId2" Type="http://schemas.openxmlformats.org/officeDocument/2006/relationships/image" Target="../media/image203.png" /><ns0:Relationship Id="rId1" Type="http://schemas.openxmlformats.org/officeDocument/2006/relationships/slideLayout" Target="../slideLayouts/slideLayout1.xml" /><ns0:Relationship Id="rId5" Type="http://schemas.openxmlformats.org/officeDocument/2006/relationships/image" Target="../media/image206.png" /><ns0:Relationship Id="rId4" Type="http://schemas.openxmlformats.org/officeDocument/2006/relationships/image" Target="../media/image205.png" /></ns0:Relationships>
</file>

<file path=ppt/c10/ppt/slides/_rels/slide22.xml.rels><?xml version='1.0' encoding='utf-8'?>
<ns0:Relationships xmlns:ns0="http://schemas.openxmlformats.org/package/2006/relationships"><ns0:Relationship Id="rId3" Type="http://schemas.openxmlformats.org/officeDocument/2006/relationships/image" Target="../media/image208.png" /><ns0:Relationship Id="rId7" Type="http://schemas.openxmlformats.org/officeDocument/2006/relationships/image" Target="../media/image212.png" /><ns0:Relationship Id="rId2" Type="http://schemas.openxmlformats.org/officeDocument/2006/relationships/image" Target="../media/image207.png" /><ns0:Relationship Id="rId1" Type="http://schemas.openxmlformats.org/officeDocument/2006/relationships/slideLayout" Target="../slideLayouts/slideLayout1.xml" /><ns0:Relationship Id="rId6" Type="http://schemas.openxmlformats.org/officeDocument/2006/relationships/image" Target="../media/image211.png" /><ns0:Relationship Id="rId5" Type="http://schemas.openxmlformats.org/officeDocument/2006/relationships/image" Target="../media/image210.png" /><ns0:Relationship Id="rId4" Type="http://schemas.openxmlformats.org/officeDocument/2006/relationships/image" Target="../media/image209.png" /></ns0:Relationships>
</file>

<file path=ppt/c10/ppt/slides/_rels/slide23.xml.rels><?xml version='1.0' encoding='utf-8'?>
<ns0:Relationships xmlns:ns0="http://schemas.openxmlformats.org/package/2006/relationships"><ns0:Relationship Id="rId3" Type="http://schemas.openxmlformats.org/officeDocument/2006/relationships/image" Target="../media/image214.png" /><ns0:Relationship Id="rId7" Type="http://schemas.openxmlformats.org/officeDocument/2006/relationships/image" Target="../media/image218.png" /><ns0:Relationship Id="rId2" Type="http://schemas.openxmlformats.org/officeDocument/2006/relationships/image" Target="../media/image213.png" /><ns0:Relationship Id="rId1" Type="http://schemas.openxmlformats.org/officeDocument/2006/relationships/slideLayout" Target="../slideLayouts/slideLayout1.xml" /><ns0:Relationship Id="rId6" Type="http://schemas.openxmlformats.org/officeDocument/2006/relationships/image" Target="../media/image217.png" /><ns0:Relationship Id="rId5" Type="http://schemas.openxmlformats.org/officeDocument/2006/relationships/image" Target="../media/image216.png" /><ns0:Relationship Id="rId4" Type="http://schemas.openxmlformats.org/officeDocument/2006/relationships/image" Target="../media/image215.png" /></ns0:Relationships>
</file>

<file path=ppt/c10/ppt/slides/_rels/slide24.xml.rels><?xml version='1.0' encoding='utf-8'?>
<ns0:Relationships xmlns:ns0="http://schemas.openxmlformats.org/package/2006/relationships"><ns0:Relationship Id="rId8" Type="http://schemas.openxmlformats.org/officeDocument/2006/relationships/image" Target="../media/image225.png" /><ns0:Relationship Id="rId13" Type="http://schemas.openxmlformats.org/officeDocument/2006/relationships/image" Target="../media/image230.png" /><ns0:Relationship Id="rId3" Type="http://schemas.openxmlformats.org/officeDocument/2006/relationships/image" Target="../media/image220.png" /><ns0:Relationship Id="rId7" Type="http://schemas.openxmlformats.org/officeDocument/2006/relationships/image" Target="../media/image224.png" /><ns0:Relationship Id="rId12" Type="http://schemas.openxmlformats.org/officeDocument/2006/relationships/image" Target="../media/image229.png" /><ns0:Relationship Id="rId2" Type="http://schemas.openxmlformats.org/officeDocument/2006/relationships/image" Target="../media/image219.png" /><ns0:Relationship Id="rId1" Type="http://schemas.openxmlformats.org/officeDocument/2006/relationships/slideLayout" Target="../slideLayouts/slideLayout1.xml" /><ns0:Relationship Id="rId6" Type="http://schemas.openxmlformats.org/officeDocument/2006/relationships/image" Target="../media/image223.png" /><ns0:Relationship Id="rId11" Type="http://schemas.openxmlformats.org/officeDocument/2006/relationships/image" Target="../media/image228.png" /><ns0:Relationship Id="rId5" Type="http://schemas.openxmlformats.org/officeDocument/2006/relationships/image" Target="../media/image222.png" /><ns0:Relationship Id="rId10" Type="http://schemas.openxmlformats.org/officeDocument/2006/relationships/image" Target="../media/image227.png" /><ns0:Relationship Id="rId4" Type="http://schemas.openxmlformats.org/officeDocument/2006/relationships/image" Target="../media/image221.png" /><ns0:Relationship Id="rId9" Type="http://schemas.openxmlformats.org/officeDocument/2006/relationships/image" Target="../media/image226.png" /></ns0:Relationships>
</file>

<file path=ppt/c10/ppt/slides/_rels/slide25.xml.rels><?xml version='1.0' encoding='utf-8'?>
<ns0:Relationships xmlns:ns0="http://schemas.openxmlformats.org/package/2006/relationships"><ns0:Relationship Id="rId3" Type="http://schemas.openxmlformats.org/officeDocument/2006/relationships/image" Target="../media/image232.png" /><ns0:Relationship Id="rId7" Type="http://schemas.openxmlformats.org/officeDocument/2006/relationships/image" Target="../media/image236.png" /><ns0:Relationship Id="rId2" Type="http://schemas.openxmlformats.org/officeDocument/2006/relationships/image" Target="../media/image231.png" /><ns0:Relationship Id="rId1" Type="http://schemas.openxmlformats.org/officeDocument/2006/relationships/slideLayout" Target="../slideLayouts/slideLayout1.xml" /><ns0:Relationship Id="rId6" Type="http://schemas.openxmlformats.org/officeDocument/2006/relationships/image" Target="../media/image235.png" /><ns0:Relationship Id="rId5" Type="http://schemas.openxmlformats.org/officeDocument/2006/relationships/image" Target="../media/image234.png" /><ns0:Relationship Id="rId4" Type="http://schemas.openxmlformats.org/officeDocument/2006/relationships/image" Target="../media/image233.png" /></ns0:Relationships>
</file>

<file path=ppt/c10/ppt/slides/_rels/slide26.xml.rels><?xml version='1.0' encoding='utf-8'?>
<ns0:Relationships xmlns:ns0="http://schemas.openxmlformats.org/package/2006/relationships"><ns0:Relationship Id="rId3" Type="http://schemas.openxmlformats.org/officeDocument/2006/relationships/image" Target="../media/image238.png" /><ns0:Relationship Id="rId2" Type="http://schemas.openxmlformats.org/officeDocument/2006/relationships/image" Target="../media/image237.png" /><ns0:Relationship Id="rId1" Type="http://schemas.openxmlformats.org/officeDocument/2006/relationships/slideLayout" Target="../slideLayouts/slideLayout1.xml" /></ns0:Relationships>
</file>

<file path=ppt/c10/ppt/slides/_rels/slide27.xml.rels><?xml version='1.0' encoding='utf-8'?>
<ns0:Relationships xmlns:ns0="http://schemas.openxmlformats.org/package/2006/relationships"><ns0:Relationship Id="rId3" Type="http://schemas.openxmlformats.org/officeDocument/2006/relationships/image" Target="../media/image240.png" /><ns0:Relationship Id="rId7" Type="http://schemas.openxmlformats.org/officeDocument/2006/relationships/image" Target="../media/image244.png" /><ns0:Relationship Id="rId2" Type="http://schemas.openxmlformats.org/officeDocument/2006/relationships/image" Target="../media/image239.png" /><ns0:Relationship Id="rId1" Type="http://schemas.openxmlformats.org/officeDocument/2006/relationships/slideLayout" Target="../slideLayouts/slideLayout1.xml" /><ns0:Relationship Id="rId6" Type="http://schemas.openxmlformats.org/officeDocument/2006/relationships/image" Target="../media/image243.png" /><ns0:Relationship Id="rId5" Type="http://schemas.openxmlformats.org/officeDocument/2006/relationships/image" Target="../media/image242.png" /><ns0:Relationship Id="rId4" Type="http://schemas.openxmlformats.org/officeDocument/2006/relationships/image" Target="../media/image241.png" /></ns0:Relationships>
</file>

<file path=ppt/c10/ppt/slides/_rels/slide28.xml.rels><?xml version='1.0' encoding='utf-8'?>
<ns0:Relationships xmlns:ns0="http://schemas.openxmlformats.org/package/2006/relationships"><ns0:Relationship Id="rId3" Type="http://schemas.openxmlformats.org/officeDocument/2006/relationships/image" Target="../media/image246.png" /><ns0:Relationship Id="rId7" Type="http://schemas.openxmlformats.org/officeDocument/2006/relationships/image" Target="../media/image250.png" /><ns0:Relationship Id="rId2" Type="http://schemas.openxmlformats.org/officeDocument/2006/relationships/image" Target="../media/image245.png" /><ns0:Relationship Id="rId1" Type="http://schemas.openxmlformats.org/officeDocument/2006/relationships/slideLayout" Target="../slideLayouts/slideLayout1.xml" /><ns0:Relationship Id="rId6" Type="http://schemas.openxmlformats.org/officeDocument/2006/relationships/image" Target="../media/image249.png" /><ns0:Relationship Id="rId5" Type="http://schemas.openxmlformats.org/officeDocument/2006/relationships/image" Target="../media/image248.png" /><ns0:Relationship Id="rId4" Type="http://schemas.openxmlformats.org/officeDocument/2006/relationships/image" Target="../media/image247.png" /></ns0:Relationships>
</file>

<file path=ppt/c10/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272000" y="22202"/>
            <a:ext cx="9143075" cy="587744"/>
            <a:chOff x="0" y="13335"/>
            <a:chExt cx="9144218" cy="58774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TextBox 32"/>
                <p:cNvSpPr txBox="1"/>
                <p:nvPr/>
              </p:nvSpPr>
              <p:spPr>
                <a:xfrm>
                  <a:off x="0" y="13335"/>
                  <a:ext cx="9144001" cy="584775"/>
                </a:xfrm>
                <a:prstGeom prst="rect">
                  <a:avLst/>
                </a:prstGeom>
                <a:solidFill>
                  <a:srgbClr val="17375E">
                    <a:alpha val="0"/>
                  </a:srgbClr>
                </a:solidFill>
                <a:ln>
                  <a:noFill/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wrap="square" lIns="324000" rtlCol="0">
                  <a:spAutoFit/>
                </a:bodyPr>
                <a:lstStyle>
                  <a:defPPr>
                    <a:defRPr lang="en-US"/>
                  </a:defPPr>
                  <a:lvl1pPr>
                    <a:defRPr sz="3200">
                      <a:latin typeface="+mj-lt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en-GB" dirty="0"/>
                    <a:t>sin/cos/tan of </a:t>
                  </a:r>
                  <a14:m>
                    <m:oMath xmlns:m="http://schemas.openxmlformats.org/officeDocument/2006/math">
                      <m:r>
                        <a:rPr lang="en-GB">
                          <a:latin typeface="Cambria Math" panose="02040503050406030204" pitchFamily="18" charset="0"/>
                        </a:rPr>
                        <m:t>30°, 45°, 60°</m:t>
                      </m:r>
                    </m:oMath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3" name="TextBox 3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0" y="13335"/>
                  <a:ext cx="9144001" cy="584775"/>
                </a:xfrm>
                <a:prstGeom prst="rect">
                  <a:avLst/>
                </a:prstGeom>
                <a:blipFill>
                  <a:blip r:embed="rId2"/>
                  <a:stretch>
                    <a:fillRect t="-12766" b="-31915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824534" y="801086"/>
                <a:ext cx="8760340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000" dirty="0"/>
                  <a:t>You will frequently encounter angles of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 panose="02040503050406030204" pitchFamily="18" charset="0"/>
                      </a:rPr>
                      <m:t>30°, 60°, 45°</m:t>
                    </m:r>
                  </m:oMath>
                </a14:m>
                <a:r>
                  <a:rPr lang="en-GB" sz="2000" dirty="0"/>
                  <a:t> in geometric problems. Why? </a:t>
                </a:r>
              </a:p>
              <a:p>
                <a:r>
                  <a:rPr lang="en-GB" sz="2000" b="1" dirty="0"/>
                  <a:t>We see these angles in equilateral triangles and half squares.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4534" y="801086"/>
                <a:ext cx="8760340" cy="707886"/>
              </a:xfrm>
              <a:prstGeom prst="rect">
                <a:avLst/>
              </a:prstGeom>
              <a:blipFill>
                <a:blip r:embed="rId3"/>
                <a:stretch>
                  <a:fillRect l="-724" t="-3448" r="-434" b="-1206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/>
          <p:cNvSpPr/>
          <p:nvPr/>
        </p:nvSpPr>
        <p:spPr>
          <a:xfrm>
            <a:off x="1887169" y="1180382"/>
            <a:ext cx="8527904" cy="48029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4534" y="1897314"/>
            <a:ext cx="871587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/>
              <a:t>Although you will always have a calculator, you need to know how to derive these.</a:t>
            </a:r>
          </a:p>
          <a:p>
            <a:r>
              <a:rPr lang="en-GB" sz="2000" b="1" dirty="0"/>
              <a:t>All you need to remember: </a:t>
            </a:r>
          </a:p>
          <a:p>
            <a:r>
              <a:rPr lang="en-GB" sz="2000" b="1" dirty="0">
                <a:latin typeface="Wingdings" panose="05000000000000000000" pitchFamily="2" charset="2"/>
              </a:rPr>
              <a:t>!</a:t>
            </a:r>
            <a:r>
              <a:rPr lang="en-GB" sz="2000" b="1" dirty="0"/>
              <a:t> Draw half a unit square and half an equilateral triangle of side 2.</a:t>
            </a:r>
          </a:p>
        </p:txBody>
      </p:sp>
      <p:grpSp>
        <p:nvGrpSpPr>
          <p:cNvPr id="15" name="Group 14"/>
          <p:cNvGrpSpPr/>
          <p:nvPr/>
        </p:nvGrpSpPr>
        <p:grpSpPr>
          <a:xfrm>
            <a:off x="2203945" y="3356159"/>
            <a:ext cx="1629852" cy="1727243"/>
            <a:chOff x="899592" y="3486025"/>
            <a:chExt cx="2232248" cy="2376960"/>
          </a:xfrm>
        </p:grpSpPr>
        <p:sp>
          <p:nvSpPr>
            <p:cNvPr id="9" name="Right Triangle 8"/>
            <p:cNvSpPr/>
            <p:nvPr/>
          </p:nvSpPr>
          <p:spPr>
            <a:xfrm>
              <a:off x="899592" y="3486025"/>
              <a:ext cx="2232248" cy="2376264"/>
            </a:xfrm>
            <a:prstGeom prst="rtTriangl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899592" y="5574953"/>
              <a:ext cx="288032" cy="28803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1743768" y="3932193"/>
                <a:ext cx="532879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i="1" dirty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43768" y="3932193"/>
                <a:ext cx="532879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2710113" y="5068103"/>
                <a:ext cx="532879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i="1" dirty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10113" y="5068103"/>
                <a:ext cx="532879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2871610" y="3741834"/>
                <a:ext cx="718699" cy="5739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GB" sz="2800" i="1" dirty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28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rad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71610" y="3741834"/>
                <a:ext cx="718699" cy="57394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6" name="Group 15"/>
          <p:cNvGrpSpPr/>
          <p:nvPr/>
        </p:nvGrpSpPr>
        <p:grpSpPr>
          <a:xfrm>
            <a:off x="7104111" y="3490038"/>
            <a:ext cx="1212576" cy="2189891"/>
            <a:chOff x="899588" y="3486025"/>
            <a:chExt cx="2232252" cy="2376960"/>
          </a:xfrm>
        </p:grpSpPr>
        <p:sp>
          <p:nvSpPr>
            <p:cNvPr id="17" name="Right Triangle 16"/>
            <p:cNvSpPr/>
            <p:nvPr/>
          </p:nvSpPr>
          <p:spPr>
            <a:xfrm>
              <a:off x="899592" y="3486025"/>
              <a:ext cx="2232248" cy="2376264"/>
            </a:xfrm>
            <a:prstGeom prst="rtTriangl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899588" y="5652927"/>
              <a:ext cx="332486" cy="210058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cxnSp>
        <p:nvCxnSpPr>
          <p:cNvPr id="20" name="Straight Connector 19"/>
          <p:cNvCxnSpPr>
            <a:stCxn id="17" idx="0"/>
          </p:cNvCxnSpPr>
          <p:nvPr/>
        </p:nvCxnSpPr>
        <p:spPr>
          <a:xfrm flipH="1">
            <a:off x="5879976" y="3490040"/>
            <a:ext cx="1224136" cy="2189249"/>
          </a:xfrm>
          <a:prstGeom prst="line">
            <a:avLst/>
          </a:prstGeom>
          <a:ln>
            <a:prstDash val="sysDot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5897885" y="5684520"/>
            <a:ext cx="1203959" cy="0"/>
          </a:xfrm>
          <a:prstGeom prst="line">
            <a:avLst/>
          </a:prstGeom>
          <a:ln>
            <a:prstDash val="sysDot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7408909" y="5679285"/>
                <a:ext cx="532879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i="1" dirty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08909" y="5679285"/>
                <a:ext cx="532879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7556373" y="4061441"/>
                <a:ext cx="532879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i="1" dirty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6373" y="4061441"/>
                <a:ext cx="532879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/>
              <p:cNvSpPr txBox="1"/>
              <p:nvPr/>
            </p:nvSpPr>
            <p:spPr>
              <a:xfrm>
                <a:off x="6480922" y="4584660"/>
                <a:ext cx="718699" cy="5739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GB" sz="2800" i="1" dirty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2800" i="1" dirty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rad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80922" y="4584660"/>
                <a:ext cx="718699" cy="57394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/>
              <p:cNvSpPr txBox="1"/>
              <p:nvPr/>
            </p:nvSpPr>
            <p:spPr>
              <a:xfrm>
                <a:off x="3687991" y="3357210"/>
                <a:ext cx="2088232" cy="16716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sz="20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200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en-GB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000" i="1">
                                  <a:latin typeface="Cambria Math" panose="02040503050406030204" pitchFamily="18" charset="0"/>
                                </a:rPr>
                                <m:t>45°</m:t>
                              </m:r>
                            </m:e>
                          </m:d>
                        </m:e>
                      </m:func>
                      <m:r>
                        <a:rPr lang="en-GB" sz="20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GB" sz="20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den>
                      </m:f>
                    </m:oMath>
                    <m:oMath xmlns:m="http://schemas.openxmlformats.org/officeDocument/2006/math">
                      <m:func>
                        <m:funcPr>
                          <m:ctrlPr>
                            <a:rPr lang="en-GB" sz="20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200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n-GB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000" i="1">
                                  <a:latin typeface="Cambria Math" panose="02040503050406030204" pitchFamily="18" charset="0"/>
                                </a:rPr>
                                <m:t>45°</m:t>
                              </m:r>
                            </m:e>
                          </m:d>
                        </m:e>
                      </m:func>
                      <m:r>
                        <a:rPr lang="en-GB" sz="20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GB" sz="20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den>
                      </m:f>
                    </m:oMath>
                    <m:oMath xmlns:m="http://schemas.openxmlformats.org/officeDocument/2006/math">
                      <m:func>
                        <m:funcPr>
                          <m:ctrlPr>
                            <a:rPr lang="en-GB" sz="20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2000">
                              <a:latin typeface="Cambria Math" panose="02040503050406030204" pitchFamily="18" charset="0"/>
                            </a:rPr>
                            <m:t>tan</m:t>
                          </m:r>
                        </m:fName>
                        <m:e>
                          <m:d>
                            <m:dPr>
                              <m:ctrlPr>
                                <a:rPr lang="en-GB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000" i="1">
                                  <a:latin typeface="Cambria Math" panose="02040503050406030204" pitchFamily="18" charset="0"/>
                                </a:rPr>
                                <m:t>45°</m:t>
                              </m:r>
                            </m:e>
                          </m:d>
                        </m:e>
                      </m:func>
                      <m:r>
                        <a:rPr lang="en-GB" sz="2000" i="1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27" name="Text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87991" y="3357210"/>
                <a:ext cx="2088232" cy="1671611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Freeform 27"/>
          <p:cNvSpPr/>
          <p:nvPr/>
        </p:nvSpPr>
        <p:spPr>
          <a:xfrm>
            <a:off x="3355463" y="4762504"/>
            <a:ext cx="149739" cy="333375"/>
          </a:xfrm>
          <a:custGeom>
            <a:avLst/>
            <a:gdLst>
              <a:gd name="connsiteX0" fmla="*/ 6863 w 149738"/>
              <a:gd name="connsiteY0" fmla="*/ 333375 h 333375"/>
              <a:gd name="connsiteX1" fmla="*/ 16388 w 149738"/>
              <a:gd name="connsiteY1" fmla="*/ 209550 h 333375"/>
              <a:gd name="connsiteX2" fmla="*/ 149738 w 149738"/>
              <a:gd name="connsiteY2" fmla="*/ 0 h 3333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38" h="333375">
                <a:moveTo>
                  <a:pt x="6863" y="333375"/>
                </a:moveTo>
                <a:cubicBezTo>
                  <a:pt x="-281" y="299243"/>
                  <a:pt x="-7424" y="265112"/>
                  <a:pt x="16388" y="209550"/>
                </a:cubicBezTo>
                <a:cubicBezTo>
                  <a:pt x="40200" y="153988"/>
                  <a:pt x="94969" y="76994"/>
                  <a:pt x="149738" y="0"/>
                </a:cubicBezTo>
              </a:path>
            </a:pathLst>
          </a:custGeom>
          <a:ln w="190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" name="Freeform 28"/>
          <p:cNvSpPr/>
          <p:nvPr/>
        </p:nvSpPr>
        <p:spPr>
          <a:xfrm>
            <a:off x="8001004" y="5391152"/>
            <a:ext cx="161925" cy="285751"/>
          </a:xfrm>
          <a:custGeom>
            <a:avLst/>
            <a:gdLst>
              <a:gd name="connsiteX0" fmla="*/ 0 w 161925"/>
              <a:gd name="connsiteY0" fmla="*/ 285750 h 285750"/>
              <a:gd name="connsiteX1" fmla="*/ 57150 w 161925"/>
              <a:gd name="connsiteY1" fmla="*/ 104775 h 285750"/>
              <a:gd name="connsiteX2" fmla="*/ 161925 w 161925"/>
              <a:gd name="connsiteY2" fmla="*/ 0 h 285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1925" h="285750">
                <a:moveTo>
                  <a:pt x="0" y="285750"/>
                </a:moveTo>
                <a:cubicBezTo>
                  <a:pt x="15081" y="219075"/>
                  <a:pt x="30163" y="152400"/>
                  <a:pt x="57150" y="104775"/>
                </a:cubicBezTo>
                <a:cubicBezTo>
                  <a:pt x="84137" y="57150"/>
                  <a:pt x="123031" y="28575"/>
                  <a:pt x="161925" y="0"/>
                </a:cubicBezTo>
              </a:path>
            </a:pathLst>
          </a:cu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Freeform 29"/>
          <p:cNvSpPr/>
          <p:nvPr/>
        </p:nvSpPr>
        <p:spPr>
          <a:xfrm>
            <a:off x="7115179" y="3895729"/>
            <a:ext cx="219075" cy="52207"/>
          </a:xfrm>
          <a:custGeom>
            <a:avLst/>
            <a:gdLst>
              <a:gd name="connsiteX0" fmla="*/ 0 w 219075"/>
              <a:gd name="connsiteY0" fmla="*/ 47625 h 52207"/>
              <a:gd name="connsiteX1" fmla="*/ 104775 w 219075"/>
              <a:gd name="connsiteY1" fmla="*/ 47625 h 52207"/>
              <a:gd name="connsiteX2" fmla="*/ 219075 w 219075"/>
              <a:gd name="connsiteY2" fmla="*/ 0 h 522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19075" h="52207">
                <a:moveTo>
                  <a:pt x="0" y="47625"/>
                </a:moveTo>
                <a:cubicBezTo>
                  <a:pt x="34131" y="51593"/>
                  <a:pt x="68263" y="55562"/>
                  <a:pt x="104775" y="47625"/>
                </a:cubicBezTo>
                <a:cubicBezTo>
                  <a:pt x="141287" y="39688"/>
                  <a:pt x="180181" y="19844"/>
                  <a:pt x="219075" y="0"/>
                </a:cubicBezTo>
              </a:path>
            </a:pathLst>
          </a:cu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/>
              <p:cNvSpPr txBox="1"/>
              <p:nvPr/>
            </p:nvSpPr>
            <p:spPr>
              <a:xfrm>
                <a:off x="8327749" y="3097641"/>
                <a:ext cx="2088232" cy="3515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sz="20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200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en-GB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000" i="1">
                                  <a:latin typeface="Cambria Math" panose="02040503050406030204" pitchFamily="18" charset="0"/>
                                </a:rPr>
                                <m:t>30°</m:t>
                              </m:r>
                            </m:e>
                          </m:d>
                        </m:e>
                      </m:func>
                      <m:r>
                        <a:rPr lang="en-GB" sz="20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  <m:oMath xmlns:m="http://schemas.openxmlformats.org/officeDocument/2006/math">
                      <m:func>
                        <m:funcPr>
                          <m:ctrlPr>
                            <a:rPr lang="en-GB" sz="20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200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n-GB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000" i="1">
                                  <a:latin typeface="Cambria Math" panose="02040503050406030204" pitchFamily="18" charset="0"/>
                                </a:rPr>
                                <m:t>30°</m:t>
                              </m:r>
                            </m:e>
                          </m:d>
                        </m:e>
                      </m:func>
                      <m:r>
                        <a:rPr lang="en-GB" sz="20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en-GB" sz="20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sz="20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rad>
                        </m:num>
                        <m:den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  <m:oMath xmlns:m="http://schemas.openxmlformats.org/officeDocument/2006/math">
                      <m:func>
                        <m:funcPr>
                          <m:ctrlPr>
                            <a:rPr lang="en-GB" sz="20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2000">
                              <a:latin typeface="Cambria Math" panose="02040503050406030204" pitchFamily="18" charset="0"/>
                            </a:rPr>
                            <m:t>tan</m:t>
                          </m:r>
                        </m:fName>
                        <m:e>
                          <m:d>
                            <m:dPr>
                              <m:ctrlPr>
                                <a:rPr lang="en-GB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000" i="1">
                                  <a:latin typeface="Cambria Math" panose="02040503050406030204" pitchFamily="18" charset="0"/>
                                </a:rPr>
                                <m:t>30°</m:t>
                              </m:r>
                            </m:e>
                          </m:d>
                        </m:e>
                      </m:func>
                      <m:r>
                        <a:rPr lang="en-GB" sz="20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GB" sz="20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sz="20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rad>
                        </m:den>
                      </m:f>
                    </m:oMath>
                    <m:oMath xmlns:m="http://schemas.openxmlformats.org/officeDocument/2006/math">
                      <m:func>
                        <m:funcPr>
                          <m:ctrlPr>
                            <a:rPr lang="en-GB" sz="20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200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en-GB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000" i="1">
                                  <a:latin typeface="Cambria Math" panose="02040503050406030204" pitchFamily="18" charset="0"/>
                                </a:rPr>
                                <m:t>60°</m:t>
                              </m:r>
                            </m:e>
                          </m:d>
                        </m:e>
                      </m:func>
                      <m:r>
                        <a:rPr lang="en-GB" sz="20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en-GB" sz="20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sz="20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rad>
                        </m:num>
                        <m:den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  <m:oMath xmlns:m="http://schemas.openxmlformats.org/officeDocument/2006/math">
                      <m:func>
                        <m:funcPr>
                          <m:ctrlPr>
                            <a:rPr lang="en-GB" sz="20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200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n-GB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000" i="1">
                                  <a:latin typeface="Cambria Math" panose="02040503050406030204" pitchFamily="18" charset="0"/>
                                </a:rPr>
                                <m:t>60°</m:t>
                              </m:r>
                            </m:e>
                          </m:d>
                        </m:e>
                      </m:func>
                      <m:r>
                        <a:rPr lang="en-GB" sz="20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  <m:oMath xmlns:m="http://schemas.openxmlformats.org/officeDocument/2006/math">
                      <m:func>
                        <m:funcPr>
                          <m:ctrlPr>
                            <a:rPr lang="en-GB" sz="20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2000">
                              <a:latin typeface="Cambria Math" panose="02040503050406030204" pitchFamily="18" charset="0"/>
                            </a:rPr>
                            <m:t>tan</m:t>
                          </m:r>
                        </m:fName>
                        <m:e>
                          <m:d>
                            <m:dPr>
                              <m:ctrlPr>
                                <a:rPr lang="en-GB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000" i="1">
                                  <a:latin typeface="Cambria Math" panose="02040503050406030204" pitchFamily="18" charset="0"/>
                                </a:rPr>
                                <m:t>60°</m:t>
                              </m:r>
                            </m:e>
                          </m:d>
                        </m:e>
                      </m:func>
                      <m:r>
                        <a:rPr lang="en-GB" sz="2000" i="1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GB" sz="2000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rad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27749" y="3097641"/>
                <a:ext cx="2088232" cy="3515386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Rectangle 32"/>
          <p:cNvSpPr/>
          <p:nvPr/>
        </p:nvSpPr>
        <p:spPr>
          <a:xfrm>
            <a:off x="1633933" y="3888082"/>
            <a:ext cx="570015" cy="56733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014225" y="3718991"/>
            <a:ext cx="570015" cy="56733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695656" y="5084479"/>
            <a:ext cx="570015" cy="56733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/>
              <p:cNvSpPr txBox="1"/>
              <p:nvPr/>
            </p:nvSpPr>
            <p:spPr>
              <a:xfrm>
                <a:off x="2947868" y="4617304"/>
                <a:ext cx="53287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dirty="0">
                          <a:latin typeface="Cambria Math" panose="02040503050406030204" pitchFamily="18" charset="0"/>
                        </a:rPr>
                        <m:t>45°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6" name="TextBox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47868" y="4617304"/>
                <a:ext cx="532879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/>
              <p:cNvSpPr txBox="1"/>
              <p:nvPr/>
            </p:nvSpPr>
            <p:spPr>
              <a:xfrm>
                <a:off x="7069611" y="4081653"/>
                <a:ext cx="53287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dirty="0">
                          <a:latin typeface="Cambria Math" panose="02040503050406030204" pitchFamily="18" charset="0"/>
                        </a:rPr>
                        <m:t>30°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7" name="TextBox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69611" y="4081653"/>
                <a:ext cx="532879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/>
              <p:cNvSpPr txBox="1"/>
              <p:nvPr/>
            </p:nvSpPr>
            <p:spPr>
              <a:xfrm>
                <a:off x="7580803" y="5221991"/>
                <a:ext cx="53287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dirty="0">
                          <a:latin typeface="Cambria Math" panose="02040503050406030204" pitchFamily="18" charset="0"/>
                        </a:rPr>
                        <m:t>60°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8" name="TextBox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80803" y="5221991"/>
                <a:ext cx="532879" cy="36933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Rectangle 38"/>
          <p:cNvSpPr/>
          <p:nvPr/>
        </p:nvSpPr>
        <p:spPr>
          <a:xfrm>
            <a:off x="5160319" y="3384108"/>
            <a:ext cx="567551" cy="62975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160319" y="4037459"/>
            <a:ext cx="567551" cy="62975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160867" y="4658633"/>
            <a:ext cx="567551" cy="62975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868976" y="4595753"/>
            <a:ext cx="519455" cy="41613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802233" y="3105823"/>
            <a:ext cx="567551" cy="62975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802233" y="3746565"/>
            <a:ext cx="567551" cy="62975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802233" y="4365303"/>
            <a:ext cx="567551" cy="62975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802233" y="5007143"/>
            <a:ext cx="567551" cy="62975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802233" y="5648985"/>
            <a:ext cx="567551" cy="53806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802233" y="6199134"/>
            <a:ext cx="567551" cy="53806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524532" y="4658634"/>
            <a:ext cx="567551" cy="53806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675468" y="3974841"/>
            <a:ext cx="567551" cy="53806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426628" y="5696791"/>
            <a:ext cx="567551" cy="53806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118831" y="4083306"/>
            <a:ext cx="425960" cy="38181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607413" y="5189647"/>
            <a:ext cx="425960" cy="38181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7808216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000"/>
                            </p:stCondLst>
                            <p:childTnLst>
                              <p:par>
                                <p:cTn id="42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seq concurrent="1" nextAc="seek">
              <p:cTn id="86" restart="whenNotActive" fill="hold" evtFilter="cancelBubble" nodeType="interactiveSeq">
                <p:stCondLst>
                  <p:cond evt="onClick" delay="0">
                    <p:tgtEl>
                      <p:spTgt spid="3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7" fill="hold">
                      <p:stCondLst>
                        <p:cond delay="0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3"/>
                  </p:tgtEl>
                </p:cond>
              </p:nextCondLst>
            </p:seq>
            <p:seq concurrent="1" nextAc="seek">
              <p:cTn id="92" restart="whenNotActive" fill="hold" evtFilter="cancelBubble" nodeType="interactiveSeq">
                <p:stCondLst>
                  <p:cond evt="onClick" delay="0">
                    <p:tgtEl>
                      <p:spTgt spid="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3" fill="hold">
                      <p:stCondLst>
                        <p:cond delay="0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4"/>
                  </p:tgtEl>
                </p:cond>
              </p:nextCondLst>
            </p:seq>
            <p:seq concurrent="1" nextAc="seek">
              <p:cTn id="98" restart="whenNotActive" fill="hold" evtFilter="cancelBubble" nodeType="interactiveSeq">
                <p:stCondLst>
                  <p:cond evt="onClick" delay="0">
                    <p:tgtEl>
                      <p:spTgt spid="3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9" fill="hold">
                      <p:stCondLst>
                        <p:cond delay="0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5"/>
                  </p:tgtEl>
                </p:cond>
              </p:nextCondLst>
            </p:seq>
            <p:seq concurrent="1" nextAc="seek">
              <p:cTn id="104" restart="whenNotActive" fill="hold" evtFilter="cancelBubble" nodeType="interactiveSeq">
                <p:stCondLst>
                  <p:cond evt="onClick" delay="0">
                    <p:tgtEl>
                      <p:spTgt spid="3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5" fill="hold">
                      <p:stCondLst>
                        <p:cond delay="0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9"/>
                  </p:tgtEl>
                </p:cond>
              </p:nextCondLst>
            </p:seq>
            <p:seq concurrent="1" nextAc="seek">
              <p:cTn id="110" restart="whenNotActive" fill="hold" evtFilter="cancelBubble" nodeType="interactiveSeq">
                <p:stCondLst>
                  <p:cond evt="onClick" delay="0">
                    <p:tgtEl>
                      <p:spTgt spid="4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1" fill="hold">
                      <p:stCondLst>
                        <p:cond delay="0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0"/>
                  </p:tgtEl>
                </p:cond>
              </p:nextCondLst>
            </p:seq>
            <p:seq concurrent="1" nextAc="seek">
              <p:cTn id="116" restart="whenNotActive" fill="hold" evtFilter="cancelBubble" nodeType="interactiveSeq">
                <p:stCondLst>
                  <p:cond evt="onClick" delay="0">
                    <p:tgtEl>
                      <p:spTgt spid="4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7" fill="hold">
                      <p:stCondLst>
                        <p:cond delay="0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1"/>
                  </p:tgtEl>
                </p:cond>
              </p:nextCondLst>
            </p:seq>
            <p:seq concurrent="1" nextAc="seek">
              <p:cTn id="122" restart="whenNotActive" fill="hold" evtFilter="cancelBubble" nodeType="interactiveSeq">
                <p:stCondLst>
                  <p:cond evt="onClick" delay="0">
                    <p:tgtEl>
                      <p:spTgt spid="4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3" fill="hold">
                      <p:stCondLst>
                        <p:cond delay="0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2"/>
                  </p:tgtEl>
                </p:cond>
              </p:nextCondLst>
            </p:seq>
            <p:seq concurrent="1" nextAc="seek">
              <p:cTn id="128" restart="whenNotActive" fill="hold" evtFilter="cancelBubble" nodeType="interactiveSeq">
                <p:stCondLst>
                  <p:cond evt="onClick" delay="0">
                    <p:tgtEl>
                      <p:spTgt spid="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9" fill="hold">
                      <p:stCondLst>
                        <p:cond delay="0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3"/>
                  </p:tgtEl>
                </p:cond>
              </p:nextCondLst>
            </p:seq>
            <p:seq concurrent="1" nextAc="seek">
              <p:cTn id="134" restart="whenNotActive" fill="hold" evtFilter="cancelBubble" nodeType="interactiveSeq">
                <p:stCondLst>
                  <p:cond evt="onClick" delay="0">
                    <p:tgtEl>
                      <p:spTgt spid="4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5" fill="hold">
                      <p:stCondLst>
                        <p:cond delay="0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4"/>
                  </p:tgtEl>
                </p:cond>
              </p:nextCondLst>
            </p:seq>
            <p:seq concurrent="1" nextAc="seek">
              <p:cTn id="140" restart="whenNotActive" fill="hold" evtFilter="cancelBubble" nodeType="interactiveSeq">
                <p:stCondLst>
                  <p:cond evt="onClick" delay="0">
                    <p:tgtEl>
                      <p:spTgt spid="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1" fill="hold">
                      <p:stCondLst>
                        <p:cond delay="0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5"/>
                  </p:tgtEl>
                </p:cond>
              </p:nextCondLst>
            </p:seq>
            <p:seq concurrent="1" nextAc="seek">
              <p:cTn id="146" restart="whenNotActive" fill="hold" evtFilter="cancelBubble" nodeType="interactiveSeq">
                <p:stCondLst>
                  <p:cond evt="onClick" delay="0">
                    <p:tgtEl>
                      <p:spTgt spid="4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7" fill="hold">
                      <p:stCondLst>
                        <p:cond delay="0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0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6"/>
                  </p:tgtEl>
                </p:cond>
              </p:nextCondLst>
            </p:seq>
            <p:seq concurrent="1" nextAc="seek">
              <p:cTn id="152" restart="whenNotActive" fill="hold" evtFilter="cancelBubble" nodeType="interactiveSeq">
                <p:stCondLst>
                  <p:cond evt="onClick" delay="0">
                    <p:tgtEl>
                      <p:spTgt spid="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3" fill="hold">
                      <p:stCondLst>
                        <p:cond delay="0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6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7"/>
                  </p:tgtEl>
                </p:cond>
              </p:nextCondLst>
            </p:seq>
            <p:seq concurrent="1" nextAc="seek">
              <p:cTn id="158" restart="whenNotActive" fill="hold" evtFilter="cancelBubble" nodeType="interactiveSeq">
                <p:stCondLst>
                  <p:cond evt="onClick" delay="0">
                    <p:tgtEl>
                      <p:spTgt spid="4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9" fill="hold">
                      <p:stCondLst>
                        <p:cond delay="0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8"/>
                  </p:tgtEl>
                </p:cond>
              </p:nextCondLst>
            </p:seq>
            <p:seq concurrent="1" nextAc="seek">
              <p:cTn id="164" restart="whenNotActive" fill="hold" evtFilter="cancelBubble" nodeType="interactiveSeq">
                <p:stCondLst>
                  <p:cond evt="onClick" delay="0">
                    <p:tgtEl>
                      <p:spTgt spid="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5" fill="hold">
                      <p:stCondLst>
                        <p:cond delay="0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9"/>
                  </p:tgtEl>
                </p:cond>
              </p:nextCondLst>
            </p:seq>
            <p:seq concurrent="1" nextAc="seek">
              <p:cTn id="170" restart="whenNotActive" fill="hold" evtFilter="cancelBubble" nodeType="interactiveSeq">
                <p:stCondLst>
                  <p:cond evt="onClick" delay="0">
                    <p:tgtEl>
                      <p:spTgt spid="5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1" fill="hold">
                      <p:stCondLst>
                        <p:cond delay="0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0"/>
                  </p:tgtEl>
                </p:cond>
              </p:nextCondLst>
            </p:seq>
            <p:seq concurrent="1" nextAc="seek">
              <p:cTn id="176" restart="whenNotActive" fill="hold" evtFilter="cancelBubble" nodeType="interactiveSeq">
                <p:stCondLst>
                  <p:cond evt="onClick" delay="0">
                    <p:tgtEl>
                      <p:spTgt spid="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7" fill="hold">
                      <p:stCondLst>
                        <p:cond delay="0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1"/>
                  </p:tgtEl>
                </p:cond>
              </p:nextCondLst>
            </p:seq>
            <p:seq concurrent="1" nextAc="seek">
              <p:cTn id="182" restart="whenNotActive" fill="hold" evtFilter="cancelBubble" nodeType="interactiveSeq">
                <p:stCondLst>
                  <p:cond evt="onClick" delay="0">
                    <p:tgtEl>
                      <p:spTgt spid="5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3" fill="hold">
                      <p:stCondLst>
                        <p:cond delay="0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2"/>
                  </p:tgtEl>
                </p:cond>
              </p:nextCondLst>
            </p:seq>
            <p:seq concurrent="1" nextAc="seek">
              <p:cTn id="188" restart="whenNotActive" fill="hold" evtFilter="cancelBubble" nodeType="interactiveSeq">
                <p:stCondLst>
                  <p:cond evt="onClick" delay="0">
                    <p:tgtEl>
                      <p:spTgt spid="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9" fill="hold">
                      <p:stCondLst>
                        <p:cond delay="0"/>
                      </p:stCondLst>
                      <p:childTnLst>
                        <p:par>
                          <p:cTn id="190" fill="hold">
                            <p:stCondLst>
                              <p:cond delay="0"/>
                            </p:stCondLst>
                            <p:childTnLst>
                              <p:par>
                                <p:cTn id="19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3"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11" grpId="0"/>
      <p:bldP spid="12" grpId="0"/>
      <p:bldP spid="13" grpId="0"/>
      <p:bldP spid="24" grpId="0"/>
      <p:bldP spid="25" grpId="0"/>
      <p:bldP spid="26" grpId="0"/>
      <p:bldP spid="27" grpId="0"/>
      <p:bldP spid="28" grpId="0" animBg="1"/>
      <p:bldP spid="29" grpId="0" animBg="1"/>
      <p:bldP spid="30" grpId="0" animBg="1"/>
      <p:bldP spid="31" grpId="0"/>
      <p:bldP spid="33" grpId="0" animBg="1"/>
      <p:bldP spid="33" grpId="1" animBg="1"/>
      <p:bldP spid="34" grpId="0" animBg="1"/>
      <p:bldP spid="34" grpId="1" animBg="1"/>
      <p:bldP spid="35" grpId="0" animBg="1"/>
      <p:bldP spid="35" grpId="1" animBg="1"/>
      <p:bldP spid="36" grpId="0"/>
      <p:bldP spid="37" grpId="0"/>
      <p:bldP spid="38" grpId="0"/>
      <p:bldP spid="39" grpId="0" animBg="1"/>
      <p:bldP spid="39" grpId="1" animBg="1"/>
      <p:bldP spid="40" grpId="0" animBg="1"/>
      <p:bldP spid="40" grpId="1" animBg="1"/>
      <p:bldP spid="41" grpId="0" animBg="1"/>
      <p:bldP spid="41" grpId="1" animBg="1"/>
      <p:bldP spid="42" grpId="0" animBg="1"/>
      <p:bldP spid="42" grpId="1" animBg="1"/>
      <p:bldP spid="43" grpId="0" animBg="1"/>
      <p:bldP spid="43" grpId="1" animBg="1"/>
      <p:bldP spid="44" grpId="0" animBg="1"/>
      <p:bldP spid="44" grpId="1" animBg="1"/>
      <p:bldP spid="45" grpId="0" animBg="1"/>
      <p:bldP spid="45" grpId="1" animBg="1"/>
      <p:bldP spid="46" grpId="0" animBg="1"/>
      <p:bldP spid="46" grpId="1" animBg="1"/>
      <p:bldP spid="47" grpId="0" animBg="1"/>
      <p:bldP spid="47" grpId="1" animBg="1"/>
      <p:bldP spid="48" grpId="0" animBg="1"/>
      <p:bldP spid="48" grpId="1" animBg="1"/>
      <p:bldP spid="49" grpId="0" animBg="1"/>
      <p:bldP spid="49" grpId="1" animBg="1"/>
      <p:bldP spid="50" grpId="0" animBg="1"/>
      <p:bldP spid="50" grpId="1" animBg="1"/>
      <p:bldP spid="51" grpId="0" animBg="1"/>
      <p:bldP spid="51" grpId="1" animBg="1"/>
      <p:bldP spid="52" grpId="0" animBg="1"/>
      <p:bldP spid="52" grpId="1" animBg="1"/>
      <p:bldP spid="53" grpId="0" animBg="1"/>
      <p:bldP spid="53" grpId="1" animBg="1"/>
    </p:bldLst>
  </p:timing>
</p:sld>
</file>

<file path=ppt/c10/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7"/>
          <p:cNvGrpSpPr/>
          <p:nvPr/>
        </p:nvGrpSpPr>
        <p:grpSpPr>
          <a:xfrm>
            <a:off x="1524002" y="2"/>
            <a:ext cx="9143075" cy="587744"/>
            <a:chOff x="0" y="13335"/>
            <a:chExt cx="9144218" cy="587744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1" cy="584775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The Unit Circle and Trigonometry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832059" y="908720"/>
                <a:ext cx="2743489" cy="1477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For values of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GB" dirty="0"/>
                  <a:t> in the range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0&lt;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&lt;90°</m:t>
                    </m:r>
                  </m:oMath>
                </a14:m>
                <a:r>
                  <a:rPr lang="en-GB" dirty="0"/>
                  <a:t>, you know that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func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i="1" dirty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dirty="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func>
                  </m:oMath>
                </a14:m>
                <a:r>
                  <a:rPr lang="en-GB" dirty="0"/>
                  <a:t> are lengths on a right-angled triangle: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2059" y="908720"/>
                <a:ext cx="2743489" cy="1477328"/>
              </a:xfrm>
              <a:prstGeom prst="rect">
                <a:avLst/>
              </a:prstGeom>
              <a:blipFill>
                <a:blip r:embed="rId2"/>
                <a:stretch>
                  <a:fillRect l="-1843" t="-1709" r="-2765" b="-598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Group 5"/>
          <p:cNvGrpSpPr/>
          <p:nvPr/>
        </p:nvGrpSpPr>
        <p:grpSpPr>
          <a:xfrm flipH="1">
            <a:off x="2351584" y="2715477"/>
            <a:ext cx="1512168" cy="1008112"/>
            <a:chOff x="683568" y="1052736"/>
            <a:chExt cx="2520280" cy="1440160"/>
          </a:xfrm>
        </p:grpSpPr>
        <p:sp>
          <p:nvSpPr>
            <p:cNvPr id="7" name="Right Triangle 6"/>
            <p:cNvSpPr/>
            <p:nvPr/>
          </p:nvSpPr>
          <p:spPr>
            <a:xfrm>
              <a:off x="683568" y="1052736"/>
              <a:ext cx="2520280" cy="1440160"/>
            </a:xfrm>
            <a:prstGeom prst="rtTriangl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" name="Rectangle 7"/>
            <p:cNvSpPr/>
            <p:nvPr/>
          </p:nvSpPr>
          <p:spPr>
            <a:xfrm>
              <a:off x="683568" y="2204864"/>
              <a:ext cx="288032" cy="28803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2815531" y="2842303"/>
                <a:ext cx="46805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5531" y="2842303"/>
                <a:ext cx="468052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2581614" y="3404371"/>
                <a:ext cx="46805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1614" y="3404371"/>
                <a:ext cx="468052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Freeform: Shape 10"/>
          <p:cNvSpPr/>
          <p:nvPr/>
        </p:nvSpPr>
        <p:spPr>
          <a:xfrm>
            <a:off x="2874335" y="3359891"/>
            <a:ext cx="116556" cy="361507"/>
          </a:xfrm>
          <a:custGeom>
            <a:avLst/>
            <a:gdLst>
              <a:gd name="connsiteX0" fmla="*/ 0 w 116556"/>
              <a:gd name="connsiteY0" fmla="*/ 0 h 361507"/>
              <a:gd name="connsiteX1" fmla="*/ 106325 w 116556"/>
              <a:gd name="connsiteY1" fmla="*/ 170121 h 361507"/>
              <a:gd name="connsiteX2" fmla="*/ 106325 w 116556"/>
              <a:gd name="connsiteY2" fmla="*/ 361507 h 3615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6556" h="361507">
                <a:moveTo>
                  <a:pt x="0" y="0"/>
                </a:moveTo>
                <a:cubicBezTo>
                  <a:pt x="44302" y="54935"/>
                  <a:pt x="88604" y="109870"/>
                  <a:pt x="106325" y="170121"/>
                </a:cubicBezTo>
                <a:cubicBezTo>
                  <a:pt x="124046" y="230372"/>
                  <a:pt x="115185" y="295939"/>
                  <a:pt x="106325" y="361507"/>
                </a:cubicBezTo>
              </a:path>
            </a:pathLst>
          </a:cu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3880030" y="3026969"/>
                <a:ext cx="69551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b="1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GB" b="1">
                              <a:latin typeface="Cambria Math" panose="02040503050406030204" pitchFamily="18" charset="0"/>
                            </a:rPr>
                            <m:t>𝐬𝐢𝐧</m:t>
                          </m:r>
                        </m:fName>
                        <m:e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</m:func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80030" y="3026969"/>
                <a:ext cx="695517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2871042" y="3729465"/>
                <a:ext cx="69551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b="1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GB" b="1">
                              <a:latin typeface="Cambria Math" panose="02040503050406030204" pitchFamily="18" charset="0"/>
                            </a:rPr>
                            <m:t>𝐜𝐨𝐬</m:t>
                          </m:r>
                        </m:fName>
                        <m:e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</m:func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71042" y="3729465"/>
                <a:ext cx="695517" cy="369332"/>
              </a:xfrm>
              <a:prstGeom prst="rect">
                <a:avLst/>
              </a:prstGeom>
              <a:blipFill>
                <a:blip r:embed="rId6"/>
                <a:stretch>
                  <a:fillRect r="-181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Connector 14"/>
          <p:cNvCxnSpPr>
            <a:stCxn id="7" idx="4"/>
            <a:endCxn id="7" idx="0"/>
          </p:cNvCxnSpPr>
          <p:nvPr/>
        </p:nvCxnSpPr>
        <p:spPr>
          <a:xfrm flipV="1">
            <a:off x="2351584" y="2715477"/>
            <a:ext cx="1512168" cy="100811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1736654" y="4346819"/>
                <a:ext cx="2924029" cy="18834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And what would be the </a:t>
                </a:r>
                <a:r>
                  <a:rPr lang="en-GB" b="1" dirty="0"/>
                  <a:t>gradient</a:t>
                </a:r>
                <a:r>
                  <a:rPr lang="en-GB" dirty="0"/>
                  <a:t> of the bold line?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1" i="1"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>
                              <a:latin typeface="Cambria Math" panose="02040503050406030204" pitchFamily="18" charset="0"/>
                            </a:rPr>
                            <m:t>𝚫</m:t>
                          </m:r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𝒚</m:t>
                          </m:r>
                        </m:num>
                        <m:den>
                          <m:r>
                            <a:rPr lang="en-GB" b="1">
                              <a:latin typeface="Cambria Math" panose="02040503050406030204" pitchFamily="18" charset="0"/>
                            </a:rPr>
                            <m:t>𝚫</m:t>
                          </m:r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den>
                      </m:f>
                      <m:r>
                        <a:rPr lang="en-GB" b="1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GB" b="1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a:rPr lang="en-GB" b="1">
                                  <a:latin typeface="Cambria Math" panose="02040503050406030204" pitchFamily="18" charset="0"/>
                                </a:rPr>
                                <m:t>𝐬𝐢𝐧</m:t>
                              </m:r>
                            </m:fName>
                            <m:e>
                              <m:r>
                                <a:rPr lang="en-GB" b="1" i="1">
                                  <a:latin typeface="Cambria Math" panose="02040503050406030204" pitchFamily="18" charset="0"/>
                                </a:rPr>
                                <m:t>𝜽</m:t>
                              </m:r>
                            </m:e>
                          </m:func>
                        </m:num>
                        <m:den>
                          <m:func>
                            <m:funcPr>
                              <m:ctrlPr>
                                <a:rPr lang="en-GB" b="1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a:rPr lang="en-GB" b="1">
                                  <a:latin typeface="Cambria Math" panose="02040503050406030204" pitchFamily="18" charset="0"/>
                                </a:rPr>
                                <m:t>𝐜𝐨𝐬</m:t>
                              </m:r>
                            </m:fName>
                            <m:e>
                              <m:r>
                                <a:rPr lang="en-GB" b="1" i="1">
                                  <a:latin typeface="Cambria Math" panose="02040503050406030204" pitchFamily="18" charset="0"/>
                                </a:rPr>
                                <m:t>𝜽</m:t>
                              </m:r>
                            </m:e>
                          </m:func>
                        </m:den>
                      </m:f>
                    </m:oMath>
                  </m:oMathPara>
                </a14:m>
                <a:endParaRPr lang="en-GB" b="1" dirty="0"/>
              </a:p>
              <a:p>
                <a:r>
                  <a:rPr lang="en-GB" b="1" dirty="0"/>
                  <a:t>But also: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b="1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GB" b="1">
                            <a:latin typeface="Cambria Math" panose="02040503050406030204" pitchFamily="18" charset="0"/>
                          </a:rPr>
                          <m:t>𝐭𝐚𝐧</m:t>
                        </m:r>
                      </m:fName>
                      <m:e>
                        <m:r>
                          <a:rPr lang="en-GB" b="1" i="1">
                            <a:latin typeface="Cambria Math" panose="02040503050406030204" pitchFamily="18" charset="0"/>
                          </a:rPr>
                          <m:t>𝜽</m:t>
                        </m:r>
                      </m:e>
                    </m:func>
                    <m:r>
                      <a:rPr lang="en-GB" b="1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1" i="1">
                            <a:latin typeface="Cambria Math" panose="02040503050406030204" pitchFamily="18" charset="0"/>
                          </a:rPr>
                          <m:t>𝒐𝒑𝒑</m:t>
                        </m:r>
                      </m:num>
                      <m:den>
                        <m:r>
                          <a:rPr lang="en-GB" b="1" i="1">
                            <a:latin typeface="Cambria Math" panose="02040503050406030204" pitchFamily="18" charset="0"/>
                          </a:rPr>
                          <m:t>𝒂𝒅𝒋</m:t>
                        </m:r>
                      </m:den>
                    </m:f>
                    <m:r>
                      <a:rPr lang="en-GB" b="1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unc>
                          <m:funcPr>
                            <m:ctrlPr>
                              <a:rPr lang="en-GB" b="1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a:rPr lang="en-GB" b="1">
                                <a:latin typeface="Cambria Math" panose="02040503050406030204" pitchFamily="18" charset="0"/>
                              </a:rPr>
                              <m:t>𝐬𝐢𝐧</m:t>
                            </m:r>
                          </m:fName>
                          <m:e>
                            <m:r>
                              <a:rPr lang="en-GB" b="1" i="1">
                                <a:latin typeface="Cambria Math" panose="02040503050406030204" pitchFamily="18" charset="0"/>
                              </a:rPr>
                              <m:t>𝜽</m:t>
                            </m:r>
                          </m:e>
                        </m:func>
                      </m:num>
                      <m:den>
                        <m:func>
                          <m:funcPr>
                            <m:ctrlPr>
                              <a:rPr lang="en-GB" b="1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a:rPr lang="en-GB" b="1">
                                <a:latin typeface="Cambria Math" panose="02040503050406030204" pitchFamily="18" charset="0"/>
                              </a:rPr>
                              <m:t>𝐜𝐨𝐬</m:t>
                            </m:r>
                          </m:fName>
                          <m:e>
                            <m:r>
                              <a:rPr lang="en-GB" b="1" i="1">
                                <a:latin typeface="Cambria Math" panose="02040503050406030204" pitchFamily="18" charset="0"/>
                              </a:rPr>
                              <m:t>𝜽</m:t>
                            </m:r>
                          </m:e>
                        </m:func>
                      </m:den>
                    </m:f>
                  </m:oMath>
                </a14:m>
                <a:endParaRPr lang="en-GB" b="1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1" i="1">
                          <a:latin typeface="Cambria Math" panose="02040503050406030204" pitchFamily="18" charset="0"/>
                        </a:rPr>
                        <m:t>∴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b="1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GB" b="1">
                              <a:latin typeface="Cambria Math" panose="02040503050406030204" pitchFamily="18" charset="0"/>
                            </a:rPr>
                            <m:t>𝐭𝐚𝐧</m:t>
                          </m:r>
                        </m:fName>
                        <m:e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</m:func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6654" y="4346819"/>
                <a:ext cx="2924029" cy="1883401"/>
              </a:xfrm>
              <a:prstGeom prst="rect">
                <a:avLst/>
              </a:prstGeom>
              <a:blipFill>
                <a:blip r:embed="rId7"/>
                <a:stretch>
                  <a:fillRect l="-1724" t="-134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Straight Connector 17"/>
          <p:cNvCxnSpPr/>
          <p:nvPr/>
        </p:nvCxnSpPr>
        <p:spPr>
          <a:xfrm>
            <a:off x="4943872" y="908720"/>
            <a:ext cx="0" cy="532149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913225" y="2877033"/>
            <a:ext cx="896236" cy="6423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747285" y="4967346"/>
            <a:ext cx="2987751" cy="132713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5447928" y="908723"/>
                <a:ext cx="468052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But how do we get the rest of the graph for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𝑠𝑖𝑛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𝑐𝑜𝑠</m:t>
                    </m:r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𝑡𝑎𝑛</m:t>
                    </m:r>
                  </m:oMath>
                </a14:m>
                <a:r>
                  <a:rPr lang="en-GB" dirty="0"/>
                  <a:t> when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90°≤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≤360°</m:t>
                    </m:r>
                  </m:oMath>
                </a14:m>
                <a:r>
                  <a:rPr lang="en-GB" dirty="0"/>
                  <a:t>?</a:t>
                </a:r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47928" y="908723"/>
                <a:ext cx="4680520" cy="646331"/>
              </a:xfrm>
              <a:prstGeom prst="rect">
                <a:avLst/>
              </a:prstGeom>
              <a:blipFill>
                <a:blip r:embed="rId8"/>
                <a:stretch>
                  <a:fillRect l="-1355" t="-3846" b="-1538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Rectangle 21"/>
          <p:cNvSpPr/>
          <p:nvPr/>
        </p:nvSpPr>
        <p:spPr>
          <a:xfrm>
            <a:off x="2815965" y="3771508"/>
            <a:ext cx="834551" cy="4177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5375920" y="1772820"/>
                <a:ext cx="4464496" cy="3139321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pPr marL="285744" indent="-285744">
                  <a:buFont typeface="Wingdings" panose="05000000000000000000" pitchFamily="2" charset="2"/>
                  <a:buChar char="!"/>
                </a:pPr>
                <a:r>
                  <a:rPr lang="en-GB" dirty="0"/>
                  <a:t>The point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GB" dirty="0"/>
                  <a:t> on a unit circle, such that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𝑂𝑃</m:t>
                    </m:r>
                  </m:oMath>
                </a14:m>
                <a:r>
                  <a:rPr lang="en-GB" dirty="0"/>
                  <a:t> makes an angle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GB" dirty="0"/>
                  <a:t> with the positive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dirty="0"/>
                  <a:t>-axis, has coordinates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GB">
                                <a:latin typeface="Cambria Math" panose="02040503050406030204" pitchFamily="18" charset="0"/>
                              </a:rPr>
                              <m:t>cos</m:t>
                            </m:r>
                          </m:fName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func>
                        <m:r>
                          <a:rPr lang="en-GB" i="1">
                            <a:latin typeface="Cambria Math" panose="02040503050406030204" pitchFamily="18" charset="0"/>
                          </a:rPr>
                          <m:t>,</m:t>
                        </m:r>
                        <m:func>
                          <m:func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GB">
                                <a:latin typeface="Cambria Math" panose="02040503050406030204" pitchFamily="18" charset="0"/>
                              </a:rPr>
                              <m:t>sin</m:t>
                            </m:r>
                          </m:fName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func>
                      </m:e>
                    </m:d>
                  </m:oMath>
                </a14:m>
                <a:r>
                  <a:rPr lang="en-GB" dirty="0"/>
                  <a:t>.</a:t>
                </a:r>
                <a:br>
                  <a:rPr lang="en-GB" dirty="0"/>
                </a:b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𝑂𝑃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dirty="0"/>
                  <a:t>has gradient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>
                            <a:latin typeface="Cambria Math" panose="02040503050406030204" pitchFamily="18" charset="0"/>
                          </a:rPr>
                          <m:t>tan</m:t>
                        </m:r>
                      </m:fName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func>
                  </m:oMath>
                </a14:m>
                <a:r>
                  <a:rPr lang="en-GB" dirty="0"/>
                  <a:t>.</a:t>
                </a:r>
              </a:p>
              <a:p>
                <a:pPr marL="285744" indent="-285744">
                  <a:buFont typeface="Wingdings" panose="05000000000000000000" pitchFamily="2" charset="2"/>
                  <a:buChar char="!"/>
                </a:pPr>
                <a:endParaRPr lang="en-GB" dirty="0"/>
              </a:p>
              <a:p>
                <a:pPr marL="285744" indent="-285744">
                  <a:buFont typeface="Wingdings" panose="05000000000000000000" pitchFamily="2" charset="2"/>
                  <a:buChar char="!"/>
                </a:pPr>
                <a:endParaRPr lang="en-GB" dirty="0"/>
              </a:p>
              <a:p>
                <a:pPr marL="285744" indent="-285744">
                  <a:buFont typeface="Wingdings" panose="05000000000000000000" pitchFamily="2" charset="2"/>
                  <a:buChar char="!"/>
                </a:pPr>
                <a:endParaRPr lang="en-GB" dirty="0"/>
              </a:p>
              <a:p>
                <a:pPr marL="285744" indent="-285744">
                  <a:buFont typeface="Wingdings" panose="05000000000000000000" pitchFamily="2" charset="2"/>
                  <a:buChar char="!"/>
                </a:pPr>
                <a:endParaRPr lang="en-GB" dirty="0"/>
              </a:p>
              <a:p>
                <a:pPr marL="285744" indent="-285744">
                  <a:buFont typeface="Wingdings" panose="05000000000000000000" pitchFamily="2" charset="2"/>
                  <a:buChar char="!"/>
                </a:pPr>
                <a:endParaRPr lang="en-GB" dirty="0"/>
              </a:p>
              <a:p>
                <a:endParaRPr lang="en-GB" dirty="0"/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75920" y="1772820"/>
                <a:ext cx="4464496" cy="3139321"/>
              </a:xfrm>
              <a:prstGeom prst="rect">
                <a:avLst/>
              </a:prstGeom>
              <a:blipFill>
                <a:blip r:embed="rId9"/>
                <a:stretch>
                  <a:fillRect l="-565" t="-4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Straight Arrow Connector 24"/>
          <p:cNvCxnSpPr/>
          <p:nvPr/>
        </p:nvCxnSpPr>
        <p:spPr>
          <a:xfrm flipV="1">
            <a:off x="7535335" y="3139544"/>
            <a:ext cx="0" cy="147375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 flipV="1">
            <a:off x="6889683" y="3943443"/>
            <a:ext cx="1368152" cy="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/>
          <p:nvPr/>
        </p:nvCxnSpPr>
        <p:spPr>
          <a:xfrm flipV="1">
            <a:off x="7535339" y="3422446"/>
            <a:ext cx="593079" cy="52099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/>
              <p:cNvSpPr txBox="1"/>
              <p:nvPr/>
            </p:nvSpPr>
            <p:spPr>
              <a:xfrm>
                <a:off x="8162586" y="3771644"/>
                <a:ext cx="33641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62586" y="3771644"/>
                <a:ext cx="336419" cy="307777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/>
              <p:cNvSpPr txBox="1"/>
              <p:nvPr/>
            </p:nvSpPr>
            <p:spPr>
              <a:xfrm>
                <a:off x="7367127" y="2876774"/>
                <a:ext cx="33641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32" name="TextBox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67127" y="2876774"/>
                <a:ext cx="336419" cy="307777"/>
              </a:xfrm>
              <a:prstGeom prst="rect">
                <a:avLst/>
              </a:prstGeom>
              <a:blipFill>
                <a:blip r:embed="rId11"/>
                <a:stretch>
                  <a:fillRect b="-4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/>
              <p:cNvSpPr txBox="1"/>
              <p:nvPr/>
            </p:nvSpPr>
            <p:spPr>
              <a:xfrm>
                <a:off x="8116868" y="3210499"/>
                <a:ext cx="116314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GB" sz="1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GB" sz="1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 sz="140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r>
                                <a:rPr lang="en-GB" sz="1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func>
                          <m:r>
                            <a:rPr lang="en-GB" sz="1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func>
                            <m:funcPr>
                              <m:ctrlPr>
                                <a:rPr lang="en-GB" sz="1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 sz="140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en-GB" sz="1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func>
                        </m:e>
                      </m:d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33" name="TextBox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16868" y="3210499"/>
                <a:ext cx="1163143" cy="307777"/>
              </a:xfrm>
              <a:prstGeom prst="rect">
                <a:avLst/>
              </a:prstGeom>
              <a:blipFill>
                <a:blip r:embed="rId12"/>
                <a:stretch>
                  <a:fillRect r="-108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Oval 33"/>
          <p:cNvSpPr/>
          <p:nvPr/>
        </p:nvSpPr>
        <p:spPr>
          <a:xfrm>
            <a:off x="8086738" y="3365296"/>
            <a:ext cx="84609" cy="8264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5" name="Freeform: Shape 34"/>
          <p:cNvSpPr/>
          <p:nvPr/>
        </p:nvSpPr>
        <p:spPr>
          <a:xfrm>
            <a:off x="7857021" y="3690829"/>
            <a:ext cx="100627" cy="247651"/>
          </a:xfrm>
          <a:custGeom>
            <a:avLst/>
            <a:gdLst>
              <a:gd name="connsiteX0" fmla="*/ 100013 w 100627"/>
              <a:gd name="connsiteY0" fmla="*/ 247650 h 247650"/>
              <a:gd name="connsiteX1" fmla="*/ 85725 w 100627"/>
              <a:gd name="connsiteY1" fmla="*/ 138113 h 247650"/>
              <a:gd name="connsiteX2" fmla="*/ 0 w 100627"/>
              <a:gd name="connsiteY2" fmla="*/ 0 h 247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0627" h="247650">
                <a:moveTo>
                  <a:pt x="100013" y="247650"/>
                </a:moveTo>
                <a:cubicBezTo>
                  <a:pt x="101203" y="213519"/>
                  <a:pt x="102394" y="179388"/>
                  <a:pt x="85725" y="138113"/>
                </a:cubicBezTo>
                <a:cubicBezTo>
                  <a:pt x="69056" y="96838"/>
                  <a:pt x="34528" y="48419"/>
                  <a:pt x="0" y="0"/>
                </a:cubicBezTo>
              </a:path>
            </a:pathLst>
          </a:custGeom>
          <a:noFill/>
          <a:ln w="9525">
            <a:solidFill>
              <a:schemeClr val="bg1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/>
              <p:cNvSpPr txBox="1"/>
              <p:nvPr/>
            </p:nvSpPr>
            <p:spPr>
              <a:xfrm>
                <a:off x="7643162" y="3692226"/>
                <a:ext cx="33641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36" name="TextBox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43162" y="3692226"/>
                <a:ext cx="336419" cy="307777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/>
              <p:cNvSpPr txBox="1"/>
              <p:nvPr/>
            </p:nvSpPr>
            <p:spPr>
              <a:xfrm>
                <a:off x="7660367" y="3358038"/>
                <a:ext cx="33641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37" name="TextBox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60367" y="3358038"/>
                <a:ext cx="336419" cy="307777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TextBox 37"/>
          <p:cNvSpPr txBox="1"/>
          <p:nvPr/>
        </p:nvSpPr>
        <p:spPr>
          <a:xfrm>
            <a:off x="5392253" y="4966350"/>
            <a:ext cx="43204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Angles are always measured </a:t>
            </a:r>
            <a:r>
              <a:rPr lang="en-GB" sz="1400" b="1" dirty="0"/>
              <a:t>anticlockwise</a:t>
            </a:r>
            <a:r>
              <a:rPr lang="en-GB" sz="1400" dirty="0"/>
              <a:t>.</a:t>
            </a:r>
            <a:br>
              <a:rPr lang="en-GB" sz="1100" dirty="0"/>
            </a:br>
            <a:r>
              <a:rPr lang="en-GB" sz="1100" dirty="0"/>
              <a:t>(Further Mathematicians will encounter the same when they get to Complex Numbers)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/>
              <p:cNvSpPr txBox="1"/>
              <p:nvPr/>
            </p:nvSpPr>
            <p:spPr>
              <a:xfrm>
                <a:off x="5358087" y="5762866"/>
                <a:ext cx="468052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We can consider the coordinate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GB">
                                <a:latin typeface="Cambria Math" panose="02040503050406030204" pitchFamily="18" charset="0"/>
                              </a:rPr>
                              <m:t>cos</m:t>
                            </m:r>
                          </m:fName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func>
                        <m:r>
                          <a:rPr lang="en-GB" i="1">
                            <a:latin typeface="Cambria Math" panose="02040503050406030204" pitchFamily="18" charset="0"/>
                          </a:rPr>
                          <m:t>,</m:t>
                        </m:r>
                        <m:func>
                          <m:func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GB">
                                <a:latin typeface="Cambria Math" panose="02040503050406030204" pitchFamily="18" charset="0"/>
                              </a:rPr>
                              <m:t>sin</m:t>
                            </m:r>
                          </m:fName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func>
                      </m:e>
                    </m:d>
                  </m:oMath>
                </a14:m>
                <a:r>
                  <a:rPr lang="en-GB" dirty="0"/>
                  <a:t> as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GB" dirty="0"/>
                  <a:t> increases from 0 to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360°</m:t>
                    </m:r>
                  </m:oMath>
                </a14:m>
                <a:r>
                  <a:rPr lang="en-GB" dirty="0"/>
                  <a:t>…</a:t>
                </a:r>
              </a:p>
            </p:txBody>
          </p:sp>
        </mc:Choice>
        <mc:Fallback xmlns="">
          <p:sp>
            <p:nvSpPr>
              <p:cNvPr id="39" name="TextBox 3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8087" y="5762866"/>
                <a:ext cx="4680520" cy="646331"/>
              </a:xfrm>
              <a:prstGeom prst="rect">
                <a:avLst/>
              </a:prstGeom>
              <a:blipFill>
                <a:blip r:embed="rId15"/>
                <a:stretch>
                  <a:fillRect l="-811" t="-3846" b="-1538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/>
              <p:cNvSpPr txBox="1"/>
              <p:nvPr/>
            </p:nvSpPr>
            <p:spPr>
              <a:xfrm>
                <a:off x="7194147" y="3903398"/>
                <a:ext cx="505007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𝑂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42" name="Text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94147" y="3903398"/>
                <a:ext cx="505007" cy="307777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178701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  <p:seq concurrent="1" nextAc="seek">
              <p:cTn id="13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65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6" fill="hold">
                      <p:stCondLst>
                        <p:cond delay="0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500"/>
                            </p:stCondLst>
                            <p:childTnLst>
                              <p:par>
                                <p:cTn id="72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</p:childTnLst>
        </p:cTn>
      </p:par>
    </p:tnLst>
    <p:bldLst>
      <p:bldP spid="16" grpId="0"/>
      <p:bldP spid="19" grpId="0" animBg="1"/>
      <p:bldP spid="20" grpId="0" animBg="1"/>
      <p:bldP spid="20" grpId="1" animBg="1"/>
      <p:bldP spid="20" grpId="2" animBg="1"/>
      <p:bldP spid="21" grpId="0"/>
      <p:bldP spid="22" grpId="0" animBg="1"/>
      <p:bldP spid="23" grpId="0" animBg="1"/>
      <p:bldP spid="31" grpId="0"/>
      <p:bldP spid="32" grpId="0"/>
      <p:bldP spid="33" grpId="0"/>
      <p:bldP spid="34" grpId="0" animBg="1"/>
      <p:bldP spid="35" grpId="0" animBg="1"/>
      <p:bldP spid="36" grpId="0"/>
      <p:bldP spid="37" grpId="0"/>
      <p:bldP spid="38" grpId="0"/>
      <p:bldP spid="39" grpId="0"/>
      <p:bldP spid="42" grpId="0"/>
    </p:bldLst>
  </p:timing>
</p:sld>
</file>

<file path=ppt/c10/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7"/>
          <p:cNvGrpSpPr/>
          <p:nvPr/>
        </p:nvGrpSpPr>
        <p:grpSpPr>
          <a:xfrm>
            <a:off x="1524002" y="2"/>
            <a:ext cx="9143075" cy="587744"/>
            <a:chOff x="0" y="13335"/>
            <a:chExt cx="9144218" cy="587744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1" cy="584775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Mini-Exercise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830155" y="1932836"/>
                <a:ext cx="115681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0155" y="1932836"/>
                <a:ext cx="1156817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1718987" y="3179558"/>
                <a:ext cx="158417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0&lt;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&lt;90°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18987" y="3179558"/>
                <a:ext cx="1584176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3340855" y="1525847"/>
                <a:ext cx="115681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0855" y="1525847"/>
                <a:ext cx="1156817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4179362" y="1526639"/>
                <a:ext cx="115681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79362" y="1526639"/>
                <a:ext cx="1156817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5017867" y="1525847"/>
                <a:ext cx="115681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>
                              <a:latin typeface="Cambria Math" panose="02040503050406030204" pitchFamily="18" charset="0"/>
                            </a:rPr>
                            <m:t>tan</m:t>
                          </m:r>
                        </m:fName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17867" y="1525847"/>
                <a:ext cx="1156817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Connector 10"/>
          <p:cNvCxnSpPr/>
          <p:nvPr/>
        </p:nvCxnSpPr>
        <p:spPr>
          <a:xfrm>
            <a:off x="1718990" y="1895179"/>
            <a:ext cx="4620611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flipV="1">
            <a:off x="3340851" y="1525848"/>
            <a:ext cx="0" cy="468052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1705860" y="622763"/>
                <a:ext cx="8895469" cy="5539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500" dirty="0"/>
                  <a:t>Use the unit circle to determine each value in the table, </a:t>
                </a:r>
                <a:r>
                  <a:rPr lang="en-GB" sz="1500" b="1" dirty="0"/>
                  <a:t>using either “0”, “+</a:t>
                </a:r>
                <a:r>
                  <a:rPr lang="en-GB" sz="1500" b="1" dirty="0" err="1"/>
                  <a:t>ve</a:t>
                </a:r>
                <a:r>
                  <a:rPr lang="en-GB" sz="1500" b="1" dirty="0"/>
                  <a:t>”, “-</a:t>
                </a:r>
                <a:r>
                  <a:rPr lang="en-GB" sz="1500" b="1" dirty="0" err="1"/>
                  <a:t>ve</a:t>
                </a:r>
                <a:r>
                  <a:rPr lang="en-GB" sz="1500" b="1" dirty="0"/>
                  <a:t>”, “1”, “-1” or “undefined”</a:t>
                </a:r>
                <a:r>
                  <a:rPr lang="en-GB" sz="1500" dirty="0"/>
                  <a:t>. Recall that the point on the unit circle has coordinate </a:t>
                </a:r>
                <a14:m>
                  <m:oMath xmlns:m="http://schemas.openxmlformats.org/officeDocument/2006/math">
                    <m:r>
                      <a:rPr lang="en-GB" sz="1500" i="1">
                        <a:latin typeface="Cambria Math" panose="02040503050406030204" pitchFamily="18" charset="0"/>
                      </a:rPr>
                      <m:t>(</m:t>
                    </m:r>
                    <m:func>
                      <m:funcPr>
                        <m:ctrlPr>
                          <a:rPr lang="en-GB" sz="15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150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r>
                          <a:rPr lang="en-GB" sz="15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func>
                    <m:r>
                      <a:rPr lang="en-GB" sz="1500" i="1">
                        <a:latin typeface="Cambria Math" panose="02040503050406030204" pitchFamily="18" charset="0"/>
                      </a:rPr>
                      <m:t>,</m:t>
                    </m:r>
                    <m:func>
                      <m:funcPr>
                        <m:ctrlPr>
                          <a:rPr lang="en-GB" sz="15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150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r>
                          <a:rPr lang="en-GB" sz="15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func>
                    <m:r>
                      <a:rPr lang="en-GB" sz="15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sz="1500" dirty="0"/>
                  <a:t> and </a:t>
                </a:r>
                <a14:m>
                  <m:oMath xmlns:m="http://schemas.openxmlformats.org/officeDocument/2006/math">
                    <m:r>
                      <a:rPr lang="en-GB" sz="1500" i="1">
                        <a:latin typeface="Cambria Math" panose="02040503050406030204" pitchFamily="18" charset="0"/>
                      </a:rPr>
                      <m:t>𝑂𝑃</m:t>
                    </m:r>
                  </m:oMath>
                </a14:m>
                <a:r>
                  <a:rPr lang="en-GB" sz="1500" dirty="0"/>
                  <a:t> has gradient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sz="15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1500">
                            <a:latin typeface="Cambria Math" panose="02040503050406030204" pitchFamily="18" charset="0"/>
                          </a:rPr>
                          <m:t>tan</m:t>
                        </m:r>
                      </m:fName>
                      <m:e>
                        <m:r>
                          <a:rPr lang="en-GB" sz="15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func>
                  </m:oMath>
                </a14:m>
                <a:r>
                  <a:rPr lang="en-GB" sz="1500" dirty="0"/>
                  <a:t>.</a:t>
                </a:r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05860" y="622763"/>
                <a:ext cx="8895469" cy="553998"/>
              </a:xfrm>
              <a:prstGeom prst="rect">
                <a:avLst/>
              </a:prstGeom>
              <a:blipFill>
                <a:blip r:embed="rId7"/>
                <a:stretch>
                  <a:fillRect l="-285" b="-1111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Straight Arrow Connector 15"/>
          <p:cNvCxnSpPr/>
          <p:nvPr/>
        </p:nvCxnSpPr>
        <p:spPr>
          <a:xfrm flipV="1">
            <a:off x="2430271" y="3701841"/>
            <a:ext cx="0" cy="65246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>
            <a:off x="2103725" y="4046565"/>
            <a:ext cx="671828" cy="55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 flipV="1">
            <a:off x="2436959" y="3851863"/>
            <a:ext cx="207627" cy="19740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2653839" y="3908416"/>
                <a:ext cx="336419" cy="254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051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 sz="1051" dirty="0"/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3839" y="3908416"/>
                <a:ext cx="336419" cy="25404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2294945" y="3489000"/>
                <a:ext cx="273443" cy="254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051" i="1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GB" sz="1051" dirty="0"/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4945" y="3489000"/>
                <a:ext cx="273443" cy="25404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2554099" y="3645923"/>
                <a:ext cx="338324" cy="254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051" i="1">
                          <a:latin typeface="Cambria Math" panose="02040503050406030204" pitchFamily="18" charset="0"/>
                        </a:rPr>
                        <m:t>𝑃</m:t>
                      </m:r>
                    </m:oMath>
                  </m:oMathPara>
                </a14:m>
                <a:endParaRPr lang="en-GB" sz="1051" dirty="0"/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4099" y="3645923"/>
                <a:ext cx="338324" cy="254044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Oval 21"/>
          <p:cNvSpPr/>
          <p:nvPr/>
        </p:nvSpPr>
        <p:spPr>
          <a:xfrm>
            <a:off x="2620851" y="3814015"/>
            <a:ext cx="49931" cy="4736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3" name="Freeform: Shape 22"/>
          <p:cNvSpPr/>
          <p:nvPr/>
        </p:nvSpPr>
        <p:spPr>
          <a:xfrm>
            <a:off x="2599100" y="3928059"/>
            <a:ext cx="45719" cy="107508"/>
          </a:xfrm>
          <a:custGeom>
            <a:avLst/>
            <a:gdLst>
              <a:gd name="connsiteX0" fmla="*/ 100013 w 100627"/>
              <a:gd name="connsiteY0" fmla="*/ 247650 h 247650"/>
              <a:gd name="connsiteX1" fmla="*/ 85725 w 100627"/>
              <a:gd name="connsiteY1" fmla="*/ 138113 h 247650"/>
              <a:gd name="connsiteX2" fmla="*/ 0 w 100627"/>
              <a:gd name="connsiteY2" fmla="*/ 0 h 247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0627" h="247650">
                <a:moveTo>
                  <a:pt x="100013" y="247650"/>
                </a:moveTo>
                <a:cubicBezTo>
                  <a:pt x="101203" y="213519"/>
                  <a:pt x="102394" y="179388"/>
                  <a:pt x="85725" y="138113"/>
                </a:cubicBezTo>
                <a:cubicBezTo>
                  <a:pt x="69056" y="96838"/>
                  <a:pt x="34528" y="48419"/>
                  <a:pt x="0" y="0"/>
                </a:cubicBezTo>
              </a:path>
            </a:pathLst>
          </a:custGeom>
          <a:noFill/>
          <a:ln w="952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2442565" y="3889609"/>
                <a:ext cx="230149" cy="2154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800" i="1">
                          <a:latin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en-GB" sz="800" dirty="0"/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42565" y="3889609"/>
                <a:ext cx="230149" cy="215444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2355418" y="3713175"/>
                <a:ext cx="336419" cy="2616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100" i="1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GB" sz="1100" dirty="0"/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5418" y="3713175"/>
                <a:ext cx="336419" cy="26161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6" name="Straight Arrow Connector 35"/>
          <p:cNvCxnSpPr/>
          <p:nvPr/>
        </p:nvCxnSpPr>
        <p:spPr>
          <a:xfrm flipV="1">
            <a:off x="2411049" y="2405680"/>
            <a:ext cx="0" cy="65246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/>
          <p:nvPr/>
        </p:nvCxnSpPr>
        <p:spPr>
          <a:xfrm>
            <a:off x="2084503" y="2750404"/>
            <a:ext cx="671828" cy="55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/>
              <p:cNvSpPr txBox="1"/>
              <p:nvPr/>
            </p:nvSpPr>
            <p:spPr>
              <a:xfrm>
                <a:off x="2634617" y="2612255"/>
                <a:ext cx="336419" cy="254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051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 sz="1051" dirty="0"/>
              </a:p>
            </p:txBody>
          </p:sp>
        </mc:Choice>
        <mc:Fallback xmlns="">
          <p:sp>
            <p:nvSpPr>
              <p:cNvPr id="39" name="TextBox 3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4617" y="2612255"/>
                <a:ext cx="336419" cy="254044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/>
              <p:cNvSpPr txBox="1"/>
              <p:nvPr/>
            </p:nvSpPr>
            <p:spPr>
              <a:xfrm>
                <a:off x="2275723" y="2192839"/>
                <a:ext cx="273443" cy="254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051" i="1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GB" sz="1051" dirty="0"/>
              </a:p>
            </p:txBody>
          </p:sp>
        </mc:Choice>
        <mc:Fallback xmlns="">
          <p:sp>
            <p:nvSpPr>
              <p:cNvPr id="40" name="TextBox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5723" y="2192839"/>
                <a:ext cx="273443" cy="254044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/>
              <p:cNvSpPr txBox="1"/>
              <p:nvPr/>
            </p:nvSpPr>
            <p:spPr>
              <a:xfrm>
                <a:off x="2463403" y="2508283"/>
                <a:ext cx="338324" cy="254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051" i="1">
                          <a:latin typeface="Cambria Math" panose="02040503050406030204" pitchFamily="18" charset="0"/>
                        </a:rPr>
                        <m:t>𝑃</m:t>
                      </m:r>
                    </m:oMath>
                  </m:oMathPara>
                </a14:m>
                <a:endParaRPr lang="en-GB" sz="1051" dirty="0"/>
              </a:p>
            </p:txBody>
          </p:sp>
        </mc:Choice>
        <mc:Fallback xmlns="">
          <p:sp>
            <p:nvSpPr>
              <p:cNvPr id="41" name="TextBox 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3403" y="2508283"/>
                <a:ext cx="338324" cy="254044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Oval 41"/>
          <p:cNvSpPr/>
          <p:nvPr/>
        </p:nvSpPr>
        <p:spPr>
          <a:xfrm>
            <a:off x="2599247" y="2727403"/>
            <a:ext cx="49931" cy="4736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cxnSp>
        <p:nvCxnSpPr>
          <p:cNvPr id="46" name="Straight Connector 45"/>
          <p:cNvCxnSpPr/>
          <p:nvPr/>
        </p:nvCxnSpPr>
        <p:spPr>
          <a:xfrm flipV="1">
            <a:off x="2406336" y="2752837"/>
            <a:ext cx="223343" cy="272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/>
          <p:cNvCxnSpPr/>
          <p:nvPr/>
        </p:nvCxnSpPr>
        <p:spPr>
          <a:xfrm>
            <a:off x="1740670" y="3117901"/>
            <a:ext cx="4620611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/>
              <p:cNvSpPr txBox="1"/>
              <p:nvPr/>
            </p:nvSpPr>
            <p:spPr>
              <a:xfrm>
                <a:off x="1679148" y="4388641"/>
                <a:ext cx="158417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=90°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50" name="TextBox 4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9148" y="4388641"/>
                <a:ext cx="1584176" cy="36933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1" name="Straight Arrow Connector 50"/>
          <p:cNvCxnSpPr/>
          <p:nvPr/>
        </p:nvCxnSpPr>
        <p:spPr>
          <a:xfrm flipV="1">
            <a:off x="2390433" y="4910925"/>
            <a:ext cx="0" cy="65246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/>
          <p:cNvCxnSpPr/>
          <p:nvPr/>
        </p:nvCxnSpPr>
        <p:spPr>
          <a:xfrm>
            <a:off x="2063887" y="5255649"/>
            <a:ext cx="671828" cy="55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/>
          <p:cNvCxnSpPr/>
          <p:nvPr/>
        </p:nvCxnSpPr>
        <p:spPr>
          <a:xfrm flipH="1" flipV="1">
            <a:off x="2389174" y="5045981"/>
            <a:ext cx="2381" cy="21193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/>
              <p:cNvSpPr txBox="1"/>
              <p:nvPr/>
            </p:nvSpPr>
            <p:spPr>
              <a:xfrm>
                <a:off x="2614001" y="5117500"/>
                <a:ext cx="336419" cy="254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051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 sz="1051" dirty="0"/>
              </a:p>
            </p:txBody>
          </p:sp>
        </mc:Choice>
        <mc:Fallback xmlns="">
          <p:sp>
            <p:nvSpPr>
              <p:cNvPr id="54" name="TextBox 5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4001" y="5117500"/>
                <a:ext cx="336419" cy="25404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/>
              <p:cNvSpPr txBox="1"/>
              <p:nvPr/>
            </p:nvSpPr>
            <p:spPr>
              <a:xfrm>
                <a:off x="2255107" y="4698084"/>
                <a:ext cx="273443" cy="254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051" i="1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GB" sz="1051" dirty="0"/>
              </a:p>
            </p:txBody>
          </p:sp>
        </mc:Choice>
        <mc:Fallback xmlns="">
          <p:sp>
            <p:nvSpPr>
              <p:cNvPr id="55" name="TextBox 5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55107" y="4698084"/>
                <a:ext cx="273443" cy="254044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7" name="Oval 56"/>
          <p:cNvSpPr/>
          <p:nvPr/>
        </p:nvSpPr>
        <p:spPr>
          <a:xfrm>
            <a:off x="2361938" y="5008811"/>
            <a:ext cx="49931" cy="4736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/>
              <p:cNvSpPr txBox="1"/>
              <p:nvPr/>
            </p:nvSpPr>
            <p:spPr>
              <a:xfrm>
                <a:off x="2441732" y="5022949"/>
                <a:ext cx="230149" cy="2154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800" i="1">
                          <a:latin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en-GB" sz="800" dirty="0"/>
              </a:p>
            </p:txBody>
          </p:sp>
        </mc:Choice>
        <mc:Fallback xmlns="">
          <p:sp>
            <p:nvSpPr>
              <p:cNvPr id="59" name="TextBox 5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41732" y="5022949"/>
                <a:ext cx="230149" cy="215444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1" name="Straight Connector 60"/>
          <p:cNvCxnSpPr/>
          <p:nvPr/>
        </p:nvCxnSpPr>
        <p:spPr>
          <a:xfrm>
            <a:off x="1679567" y="4412047"/>
            <a:ext cx="4620611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4" name="Freeform: Shape 63"/>
          <p:cNvSpPr/>
          <p:nvPr/>
        </p:nvSpPr>
        <p:spPr>
          <a:xfrm>
            <a:off x="2412983" y="5105516"/>
            <a:ext cx="121444" cy="147637"/>
          </a:xfrm>
          <a:custGeom>
            <a:avLst/>
            <a:gdLst>
              <a:gd name="connsiteX0" fmla="*/ 121444 w 121444"/>
              <a:gd name="connsiteY0" fmla="*/ 147637 h 147637"/>
              <a:gd name="connsiteX1" fmla="*/ 85725 w 121444"/>
              <a:gd name="connsiteY1" fmla="*/ 45243 h 147637"/>
              <a:gd name="connsiteX2" fmla="*/ 0 w 121444"/>
              <a:gd name="connsiteY2" fmla="*/ 0 h 147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21444" h="147637">
                <a:moveTo>
                  <a:pt x="121444" y="147637"/>
                </a:moveTo>
                <a:cubicBezTo>
                  <a:pt x="113705" y="108743"/>
                  <a:pt x="105966" y="69849"/>
                  <a:pt x="85725" y="45243"/>
                </a:cubicBezTo>
                <a:cubicBezTo>
                  <a:pt x="65484" y="20637"/>
                  <a:pt x="32742" y="10318"/>
                  <a:pt x="0" y="0"/>
                </a:cubicBezTo>
              </a:path>
            </a:pathLst>
          </a:custGeom>
          <a:ln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extBox 64"/>
              <p:cNvSpPr txBox="1"/>
              <p:nvPr/>
            </p:nvSpPr>
            <p:spPr>
              <a:xfrm>
                <a:off x="2132913" y="4920802"/>
                <a:ext cx="338324" cy="254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051" i="1">
                          <a:latin typeface="Cambria Math" panose="02040503050406030204" pitchFamily="18" charset="0"/>
                        </a:rPr>
                        <m:t>𝑃</m:t>
                      </m:r>
                    </m:oMath>
                  </m:oMathPara>
                </a14:m>
                <a:endParaRPr lang="en-GB" sz="1051" dirty="0"/>
              </a:p>
            </p:txBody>
          </p:sp>
        </mc:Choice>
        <mc:Fallback xmlns="">
          <p:sp>
            <p:nvSpPr>
              <p:cNvPr id="65" name="TextBox 6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2913" y="4920802"/>
                <a:ext cx="338324" cy="254044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" name="TextBox 66"/>
              <p:cNvSpPr txBox="1"/>
              <p:nvPr/>
            </p:nvSpPr>
            <p:spPr>
              <a:xfrm>
                <a:off x="1571629" y="5672775"/>
                <a:ext cx="174775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90°&lt;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&lt;180°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67" name="TextBox 6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1629" y="5672775"/>
                <a:ext cx="1747751" cy="369332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8" name="Straight Arrow Connector 67"/>
          <p:cNvCxnSpPr/>
          <p:nvPr/>
        </p:nvCxnSpPr>
        <p:spPr>
          <a:xfrm flipV="1">
            <a:off x="2414735" y="6125209"/>
            <a:ext cx="0" cy="65246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/>
          <p:cNvCxnSpPr/>
          <p:nvPr/>
        </p:nvCxnSpPr>
        <p:spPr>
          <a:xfrm>
            <a:off x="2088189" y="6469933"/>
            <a:ext cx="671828" cy="55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/>
          <p:cNvCxnSpPr/>
          <p:nvPr/>
        </p:nvCxnSpPr>
        <p:spPr>
          <a:xfrm flipH="1" flipV="1">
            <a:off x="2152651" y="6293644"/>
            <a:ext cx="268771" cy="17898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Box 70"/>
              <p:cNvSpPr txBox="1"/>
              <p:nvPr/>
            </p:nvSpPr>
            <p:spPr>
              <a:xfrm>
                <a:off x="2643230" y="6330900"/>
                <a:ext cx="336419" cy="254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051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 sz="1051" dirty="0"/>
              </a:p>
            </p:txBody>
          </p:sp>
        </mc:Choice>
        <mc:Fallback xmlns="">
          <p:sp>
            <p:nvSpPr>
              <p:cNvPr id="71" name="TextBox 7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3230" y="6330900"/>
                <a:ext cx="336419" cy="254044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TextBox 71"/>
              <p:cNvSpPr txBox="1"/>
              <p:nvPr/>
            </p:nvSpPr>
            <p:spPr>
              <a:xfrm>
                <a:off x="2285759" y="5931419"/>
                <a:ext cx="273443" cy="254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051" i="1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GB" sz="1051" dirty="0"/>
              </a:p>
            </p:txBody>
          </p:sp>
        </mc:Choice>
        <mc:Fallback xmlns="">
          <p:sp>
            <p:nvSpPr>
              <p:cNvPr id="72" name="TextBox 7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5759" y="5931419"/>
                <a:ext cx="273443" cy="254044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TextBox 72"/>
              <p:cNvSpPr txBox="1"/>
              <p:nvPr/>
            </p:nvSpPr>
            <p:spPr>
              <a:xfrm>
                <a:off x="1940869" y="6069291"/>
                <a:ext cx="338324" cy="254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051" i="1">
                          <a:latin typeface="Cambria Math" panose="02040503050406030204" pitchFamily="18" charset="0"/>
                        </a:rPr>
                        <m:t>𝑃</m:t>
                      </m:r>
                    </m:oMath>
                  </m:oMathPara>
                </a14:m>
                <a:endParaRPr lang="en-GB" sz="1051" dirty="0"/>
              </a:p>
            </p:txBody>
          </p:sp>
        </mc:Choice>
        <mc:Fallback xmlns="">
          <p:sp>
            <p:nvSpPr>
              <p:cNvPr id="73" name="TextBox 7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40869" y="6069291"/>
                <a:ext cx="338324" cy="254044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4" name="Oval 73"/>
          <p:cNvSpPr/>
          <p:nvPr/>
        </p:nvSpPr>
        <p:spPr>
          <a:xfrm>
            <a:off x="2131446" y="6268339"/>
            <a:ext cx="49931" cy="4736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6" name="TextBox 75"/>
              <p:cNvSpPr txBox="1"/>
              <p:nvPr/>
            </p:nvSpPr>
            <p:spPr>
              <a:xfrm>
                <a:off x="2374318" y="6164888"/>
                <a:ext cx="230149" cy="2154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800" i="1">
                          <a:latin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en-GB" sz="800" dirty="0"/>
              </a:p>
            </p:txBody>
          </p:sp>
        </mc:Choice>
        <mc:Fallback xmlns="">
          <p:sp>
            <p:nvSpPr>
              <p:cNvPr id="76" name="TextBox 7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74318" y="6164888"/>
                <a:ext cx="230149" cy="215444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8" name="Straight Connector 77"/>
          <p:cNvCxnSpPr/>
          <p:nvPr/>
        </p:nvCxnSpPr>
        <p:spPr>
          <a:xfrm>
            <a:off x="1737834" y="5630169"/>
            <a:ext cx="4620611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1" name="Freeform: Shape 80"/>
          <p:cNvSpPr/>
          <p:nvPr/>
        </p:nvSpPr>
        <p:spPr>
          <a:xfrm>
            <a:off x="2290767" y="6328831"/>
            <a:ext cx="288131" cy="138649"/>
          </a:xfrm>
          <a:custGeom>
            <a:avLst/>
            <a:gdLst>
              <a:gd name="connsiteX0" fmla="*/ 288131 w 288131"/>
              <a:gd name="connsiteY0" fmla="*/ 138649 h 138649"/>
              <a:gd name="connsiteX1" fmla="*/ 164306 w 288131"/>
              <a:gd name="connsiteY1" fmla="*/ 7680 h 138649"/>
              <a:gd name="connsiteX2" fmla="*/ 0 w 288131"/>
              <a:gd name="connsiteY2" fmla="*/ 26730 h 1386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8131" h="138649">
                <a:moveTo>
                  <a:pt x="288131" y="138649"/>
                </a:moveTo>
                <a:cubicBezTo>
                  <a:pt x="250229" y="82491"/>
                  <a:pt x="212328" y="26333"/>
                  <a:pt x="164306" y="7680"/>
                </a:cubicBezTo>
                <a:cubicBezTo>
                  <a:pt x="116284" y="-10973"/>
                  <a:pt x="58142" y="7878"/>
                  <a:pt x="0" y="26730"/>
                </a:cubicBezTo>
              </a:path>
            </a:pathLst>
          </a:custGeom>
          <a:ln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2" name="TextBox 81"/>
          <p:cNvSpPr txBox="1"/>
          <p:nvPr/>
        </p:nvSpPr>
        <p:spPr>
          <a:xfrm>
            <a:off x="3719740" y="2302168"/>
            <a:ext cx="4596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3" name="TextBox 82"/>
              <p:cNvSpPr txBox="1"/>
              <p:nvPr/>
            </p:nvSpPr>
            <p:spPr>
              <a:xfrm>
                <a:off x="4305089" y="1293911"/>
                <a:ext cx="668868" cy="276999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sz="12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200" dirty="0"/>
                  <a:t>-value</a:t>
                </a:r>
              </a:p>
            </p:txBody>
          </p:sp>
        </mc:Choice>
        <mc:Fallback xmlns="">
          <p:sp>
            <p:nvSpPr>
              <p:cNvPr id="83" name="TextBox 8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5089" y="1293911"/>
                <a:ext cx="668868" cy="276999"/>
              </a:xfrm>
              <a:prstGeom prst="rect">
                <a:avLst/>
              </a:prstGeom>
              <a:blipFill>
                <a:blip r:embed="rId25"/>
                <a:stretch>
                  <a:fillRect b="-8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4" name="TextBox 83"/>
              <p:cNvSpPr txBox="1"/>
              <p:nvPr/>
            </p:nvSpPr>
            <p:spPr>
              <a:xfrm>
                <a:off x="5186922" y="1281145"/>
                <a:ext cx="668868" cy="276999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sz="1200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sz="1200" dirty="0"/>
                  <a:t>-value</a:t>
                </a:r>
              </a:p>
            </p:txBody>
          </p:sp>
        </mc:Choice>
        <mc:Fallback xmlns="">
          <p:sp>
            <p:nvSpPr>
              <p:cNvPr id="84" name="TextBox 8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86922" y="1281145"/>
                <a:ext cx="668868" cy="276999"/>
              </a:xfrm>
              <a:prstGeom prst="rect">
                <a:avLst/>
              </a:prstGeom>
              <a:blipFill>
                <a:blip r:embed="rId26"/>
                <a:stretch>
                  <a:fillRect b="-8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5" name="TextBox 84"/>
              <p:cNvSpPr txBox="1"/>
              <p:nvPr/>
            </p:nvSpPr>
            <p:spPr>
              <a:xfrm>
                <a:off x="6061135" y="1324288"/>
                <a:ext cx="1176596" cy="276999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sz="1200" dirty="0"/>
                  <a:t>Gradient of </a:t>
                </a:r>
                <a14:m>
                  <m:oMath xmlns:m="http://schemas.openxmlformats.org/officeDocument/2006/math">
                    <m:r>
                      <a:rPr lang="en-GB" sz="1200" i="1">
                        <a:latin typeface="Cambria Math" panose="02040503050406030204" pitchFamily="18" charset="0"/>
                      </a:rPr>
                      <m:t>𝑂𝑃</m:t>
                    </m:r>
                  </m:oMath>
                </a14:m>
                <a:r>
                  <a:rPr lang="en-GB" sz="1200" dirty="0"/>
                  <a:t>.</a:t>
                </a:r>
              </a:p>
            </p:txBody>
          </p:sp>
        </mc:Choice>
        <mc:Fallback xmlns="">
          <p:sp>
            <p:nvSpPr>
              <p:cNvPr id="85" name="TextBox 8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61135" y="1324288"/>
                <a:ext cx="1176596" cy="276999"/>
              </a:xfrm>
              <a:prstGeom prst="rect">
                <a:avLst/>
              </a:prstGeom>
              <a:blipFill>
                <a:blip r:embed="rId27"/>
                <a:stretch>
                  <a:fillRect b="-8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6" name="TextBox 85"/>
          <p:cNvSpPr txBox="1"/>
          <p:nvPr/>
        </p:nvSpPr>
        <p:spPr>
          <a:xfrm>
            <a:off x="4571232" y="2295047"/>
            <a:ext cx="4596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407298" y="2302168"/>
            <a:ext cx="4596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0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600451" y="3577258"/>
            <a:ext cx="5749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+</a:t>
            </a:r>
            <a:r>
              <a:rPr lang="en-GB" dirty="0" err="1"/>
              <a:t>ve</a:t>
            </a:r>
            <a:endParaRPr lang="en-GB" dirty="0"/>
          </a:p>
        </p:txBody>
      </p:sp>
      <p:sp>
        <p:nvSpPr>
          <p:cNvPr id="89" name="TextBox 88"/>
          <p:cNvSpPr txBox="1"/>
          <p:nvPr/>
        </p:nvSpPr>
        <p:spPr>
          <a:xfrm>
            <a:off x="4429128" y="3579662"/>
            <a:ext cx="6072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+</a:t>
            </a:r>
            <a:r>
              <a:rPr lang="en-GB" dirty="0" err="1"/>
              <a:t>ve</a:t>
            </a:r>
            <a:endParaRPr lang="en-GB" dirty="0"/>
          </a:p>
        </p:txBody>
      </p:sp>
      <p:sp>
        <p:nvSpPr>
          <p:cNvPr id="90" name="TextBox 89"/>
          <p:cNvSpPr txBox="1"/>
          <p:nvPr/>
        </p:nvSpPr>
        <p:spPr>
          <a:xfrm>
            <a:off x="5305429" y="3586782"/>
            <a:ext cx="5479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+</a:t>
            </a:r>
            <a:r>
              <a:rPr lang="en-GB" dirty="0" err="1"/>
              <a:t>ve</a:t>
            </a:r>
            <a:endParaRPr lang="en-GB" dirty="0"/>
          </a:p>
        </p:txBody>
      </p:sp>
      <p:sp>
        <p:nvSpPr>
          <p:cNvPr id="91" name="TextBox 90"/>
          <p:cNvSpPr txBox="1"/>
          <p:nvPr/>
        </p:nvSpPr>
        <p:spPr>
          <a:xfrm>
            <a:off x="3635130" y="4861313"/>
            <a:ext cx="4596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0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4486622" y="4854193"/>
            <a:ext cx="4596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1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5094089" y="4823219"/>
            <a:ext cx="13543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Undefined</a:t>
            </a:r>
          </a:p>
          <a:p>
            <a:r>
              <a:rPr lang="en-GB" sz="900" dirty="0"/>
              <a:t>(vertical lines don’t have a well-defined gradient)</a:t>
            </a:r>
          </a:p>
        </p:txBody>
      </p:sp>
      <p:cxnSp>
        <p:nvCxnSpPr>
          <p:cNvPr id="95" name="Straight Arrow Connector 94"/>
          <p:cNvCxnSpPr/>
          <p:nvPr/>
        </p:nvCxnSpPr>
        <p:spPr>
          <a:xfrm flipH="1">
            <a:off x="4173883" y="1532706"/>
            <a:ext cx="133327" cy="1799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6" name="Straight Arrow Connector 95"/>
          <p:cNvCxnSpPr/>
          <p:nvPr/>
        </p:nvCxnSpPr>
        <p:spPr>
          <a:xfrm flipH="1">
            <a:off x="5046196" y="1457640"/>
            <a:ext cx="133327" cy="1799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7" name="Straight Arrow Connector 96"/>
          <p:cNvCxnSpPr/>
          <p:nvPr/>
        </p:nvCxnSpPr>
        <p:spPr>
          <a:xfrm flipH="1">
            <a:off x="5913084" y="1450733"/>
            <a:ext cx="133327" cy="1799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8" name="TextBox 97"/>
          <p:cNvSpPr txBox="1"/>
          <p:nvPr/>
        </p:nvSpPr>
        <p:spPr>
          <a:xfrm>
            <a:off x="3631200" y="5928254"/>
            <a:ext cx="5749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-</a:t>
            </a:r>
            <a:r>
              <a:rPr lang="en-GB" dirty="0" err="1"/>
              <a:t>ve</a:t>
            </a:r>
            <a:endParaRPr lang="en-GB" dirty="0"/>
          </a:p>
        </p:txBody>
      </p:sp>
      <p:sp>
        <p:nvSpPr>
          <p:cNvPr id="99" name="TextBox 98"/>
          <p:cNvSpPr txBox="1"/>
          <p:nvPr/>
        </p:nvSpPr>
        <p:spPr>
          <a:xfrm>
            <a:off x="4459877" y="5930658"/>
            <a:ext cx="6072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+</a:t>
            </a:r>
            <a:r>
              <a:rPr lang="en-GB" dirty="0" err="1"/>
              <a:t>ve</a:t>
            </a:r>
            <a:endParaRPr lang="en-GB" dirty="0"/>
          </a:p>
        </p:txBody>
      </p:sp>
      <p:sp>
        <p:nvSpPr>
          <p:cNvPr id="100" name="TextBox 99"/>
          <p:cNvSpPr txBox="1"/>
          <p:nvPr/>
        </p:nvSpPr>
        <p:spPr>
          <a:xfrm>
            <a:off x="5336178" y="5937778"/>
            <a:ext cx="5479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-</a:t>
            </a:r>
            <a:r>
              <a:rPr lang="en-GB" dirty="0" err="1"/>
              <a:t>ve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1" name="TextBox 100"/>
              <p:cNvSpPr txBox="1"/>
              <p:nvPr/>
            </p:nvSpPr>
            <p:spPr>
              <a:xfrm>
                <a:off x="6623102" y="1932838"/>
                <a:ext cx="1156817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i="1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=180°</m:t>
                      </m:r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101" name="TextBox 10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3102" y="1932838"/>
                <a:ext cx="1156817" cy="338554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2" name="TextBox 101"/>
              <p:cNvSpPr txBox="1"/>
              <p:nvPr/>
            </p:nvSpPr>
            <p:spPr>
              <a:xfrm>
                <a:off x="6336919" y="3168926"/>
                <a:ext cx="1896227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i="1">
                          <a:latin typeface="Cambria Math" panose="02040503050406030204" pitchFamily="18" charset="0"/>
                        </a:rPr>
                        <m:t>180°&lt;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&lt;270°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02" name="TextBox 10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36919" y="3168926"/>
                <a:ext cx="1896227" cy="338554"/>
              </a:xfrm>
              <a:prstGeom prst="rect">
                <a:avLst/>
              </a:prstGeom>
              <a:blipFill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3" name="TextBox 102"/>
              <p:cNvSpPr txBox="1"/>
              <p:nvPr/>
            </p:nvSpPr>
            <p:spPr>
              <a:xfrm>
                <a:off x="8075744" y="1525847"/>
                <a:ext cx="115681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03" name="TextBox 10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75744" y="1525847"/>
                <a:ext cx="1156817" cy="369332"/>
              </a:xfrm>
              <a:prstGeom prst="rect">
                <a:avLst/>
              </a:prstGeom>
              <a:blipFill>
                <a:blip r:embed="rId3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4" name="TextBox 103"/>
              <p:cNvSpPr txBox="1"/>
              <p:nvPr/>
            </p:nvSpPr>
            <p:spPr>
              <a:xfrm>
                <a:off x="8829191" y="1516005"/>
                <a:ext cx="115681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04" name="TextBox 10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29191" y="1516005"/>
                <a:ext cx="1156817" cy="369332"/>
              </a:xfrm>
              <a:prstGeom prst="rect">
                <a:avLst/>
              </a:prstGeom>
              <a:blipFill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5" name="TextBox 104"/>
              <p:cNvSpPr txBox="1"/>
              <p:nvPr/>
            </p:nvSpPr>
            <p:spPr>
              <a:xfrm>
                <a:off x="9646431" y="1515215"/>
                <a:ext cx="115681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>
                              <a:latin typeface="Cambria Math" panose="02040503050406030204" pitchFamily="18" charset="0"/>
                            </a:rPr>
                            <m:t>tan</m:t>
                          </m:r>
                        </m:fName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05" name="TextBox 10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46431" y="1515215"/>
                <a:ext cx="1156817" cy="369332"/>
              </a:xfrm>
              <a:prstGeom prst="rect">
                <a:avLst/>
              </a:prstGeom>
              <a:blipFill>
                <a:blip r:embed="rId3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6" name="Straight Connector 105"/>
          <p:cNvCxnSpPr/>
          <p:nvPr/>
        </p:nvCxnSpPr>
        <p:spPr>
          <a:xfrm>
            <a:off x="6453878" y="1895179"/>
            <a:ext cx="4212981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7" name="Straight Connector 106"/>
          <p:cNvCxnSpPr/>
          <p:nvPr/>
        </p:nvCxnSpPr>
        <p:spPr>
          <a:xfrm flipV="1">
            <a:off x="8075740" y="1525848"/>
            <a:ext cx="0" cy="468052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8" name="Straight Arrow Connector 107"/>
          <p:cNvCxnSpPr/>
          <p:nvPr/>
        </p:nvCxnSpPr>
        <p:spPr>
          <a:xfrm flipV="1">
            <a:off x="7165160" y="3701841"/>
            <a:ext cx="0" cy="65246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Arrow Connector 108"/>
          <p:cNvCxnSpPr/>
          <p:nvPr/>
        </p:nvCxnSpPr>
        <p:spPr>
          <a:xfrm>
            <a:off x="6838614" y="4046565"/>
            <a:ext cx="671828" cy="55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/>
          <p:cNvCxnSpPr/>
          <p:nvPr/>
        </p:nvCxnSpPr>
        <p:spPr>
          <a:xfrm flipH="1">
            <a:off x="6986592" y="4049263"/>
            <a:ext cx="185257" cy="25127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1" name="TextBox 110"/>
              <p:cNvSpPr txBox="1"/>
              <p:nvPr/>
            </p:nvSpPr>
            <p:spPr>
              <a:xfrm>
                <a:off x="7388727" y="3908416"/>
                <a:ext cx="336419" cy="254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051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 sz="1051" dirty="0"/>
              </a:p>
            </p:txBody>
          </p:sp>
        </mc:Choice>
        <mc:Fallback xmlns="">
          <p:sp>
            <p:nvSpPr>
              <p:cNvPr id="111" name="TextBox 1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88727" y="3908416"/>
                <a:ext cx="336419" cy="254044"/>
              </a:xfrm>
              <a:prstGeom prst="rect">
                <a:avLst/>
              </a:prstGeom>
              <a:blipFill>
                <a:blip r:embed="rId3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2" name="TextBox 111"/>
              <p:cNvSpPr txBox="1"/>
              <p:nvPr/>
            </p:nvSpPr>
            <p:spPr>
              <a:xfrm>
                <a:off x="7029834" y="3489000"/>
                <a:ext cx="273443" cy="254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051" i="1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GB" sz="1051" dirty="0"/>
              </a:p>
            </p:txBody>
          </p:sp>
        </mc:Choice>
        <mc:Fallback xmlns="">
          <p:sp>
            <p:nvSpPr>
              <p:cNvPr id="112" name="TextBox 1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29834" y="3489000"/>
                <a:ext cx="273443" cy="254044"/>
              </a:xfrm>
              <a:prstGeom prst="rect">
                <a:avLst/>
              </a:prstGeom>
              <a:blipFill>
                <a:blip r:embed="rId3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3" name="TextBox 112"/>
              <p:cNvSpPr txBox="1"/>
              <p:nvPr/>
            </p:nvSpPr>
            <p:spPr>
              <a:xfrm>
                <a:off x="6731775" y="4157892"/>
                <a:ext cx="338324" cy="254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051" i="1">
                          <a:latin typeface="Cambria Math" panose="02040503050406030204" pitchFamily="18" charset="0"/>
                        </a:rPr>
                        <m:t>𝑃</m:t>
                      </m:r>
                    </m:oMath>
                  </m:oMathPara>
                </a14:m>
                <a:endParaRPr lang="en-GB" sz="1051" dirty="0"/>
              </a:p>
            </p:txBody>
          </p:sp>
        </mc:Choice>
        <mc:Fallback xmlns="">
          <p:sp>
            <p:nvSpPr>
              <p:cNvPr id="113" name="TextBox 1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31775" y="4157892"/>
                <a:ext cx="338324" cy="254044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4" name="Oval 113"/>
          <p:cNvSpPr/>
          <p:nvPr/>
        </p:nvSpPr>
        <p:spPr>
          <a:xfrm>
            <a:off x="6965215" y="4264071"/>
            <a:ext cx="49931" cy="4736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6" name="TextBox 115"/>
              <p:cNvSpPr txBox="1"/>
              <p:nvPr/>
            </p:nvSpPr>
            <p:spPr>
              <a:xfrm>
                <a:off x="6965522" y="3777691"/>
                <a:ext cx="230149" cy="2154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800" i="1">
                          <a:latin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en-GB" sz="800" dirty="0"/>
              </a:p>
            </p:txBody>
          </p:sp>
        </mc:Choice>
        <mc:Fallback xmlns="">
          <p:sp>
            <p:nvSpPr>
              <p:cNvPr id="116" name="TextBox 1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65522" y="3777691"/>
                <a:ext cx="230149" cy="215444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8" name="Straight Arrow Connector 117"/>
          <p:cNvCxnSpPr/>
          <p:nvPr/>
        </p:nvCxnSpPr>
        <p:spPr>
          <a:xfrm flipV="1">
            <a:off x="7145939" y="2405680"/>
            <a:ext cx="0" cy="65246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Arrow Connector 118"/>
          <p:cNvCxnSpPr/>
          <p:nvPr/>
        </p:nvCxnSpPr>
        <p:spPr>
          <a:xfrm>
            <a:off x="6819391" y="2750404"/>
            <a:ext cx="671828" cy="55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0" name="TextBox 119"/>
              <p:cNvSpPr txBox="1"/>
              <p:nvPr/>
            </p:nvSpPr>
            <p:spPr>
              <a:xfrm>
                <a:off x="7369506" y="2612255"/>
                <a:ext cx="336419" cy="254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051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 sz="1051" dirty="0"/>
              </a:p>
            </p:txBody>
          </p:sp>
        </mc:Choice>
        <mc:Fallback xmlns="">
          <p:sp>
            <p:nvSpPr>
              <p:cNvPr id="120" name="TextBox 1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69506" y="2612255"/>
                <a:ext cx="336419" cy="254044"/>
              </a:xfrm>
              <a:prstGeom prst="rect">
                <a:avLst/>
              </a:prstGeom>
              <a:blipFill>
                <a:blip r:embed="rId3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1" name="TextBox 120"/>
              <p:cNvSpPr txBox="1"/>
              <p:nvPr/>
            </p:nvSpPr>
            <p:spPr>
              <a:xfrm>
                <a:off x="7010611" y="2192839"/>
                <a:ext cx="273443" cy="254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051" i="1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GB" sz="1051" dirty="0"/>
              </a:p>
            </p:txBody>
          </p:sp>
        </mc:Choice>
        <mc:Fallback xmlns="">
          <p:sp>
            <p:nvSpPr>
              <p:cNvPr id="121" name="TextBox 1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10611" y="2192839"/>
                <a:ext cx="273443" cy="254044"/>
              </a:xfrm>
              <a:prstGeom prst="rect">
                <a:avLst/>
              </a:prstGeom>
              <a:blipFill>
                <a:blip r:embed="rId3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2" name="TextBox 121"/>
              <p:cNvSpPr txBox="1"/>
              <p:nvPr/>
            </p:nvSpPr>
            <p:spPr>
              <a:xfrm>
                <a:off x="6688706" y="2527332"/>
                <a:ext cx="338324" cy="254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051" i="1">
                          <a:latin typeface="Cambria Math" panose="02040503050406030204" pitchFamily="18" charset="0"/>
                        </a:rPr>
                        <m:t>𝑃</m:t>
                      </m:r>
                    </m:oMath>
                  </m:oMathPara>
                </a14:m>
                <a:endParaRPr lang="en-GB" sz="1051" dirty="0"/>
              </a:p>
            </p:txBody>
          </p:sp>
        </mc:Choice>
        <mc:Fallback xmlns="">
          <p:sp>
            <p:nvSpPr>
              <p:cNvPr id="122" name="TextBox 1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88706" y="2527332"/>
                <a:ext cx="338324" cy="254044"/>
              </a:xfrm>
              <a:prstGeom prst="rect">
                <a:avLst/>
              </a:prstGeom>
              <a:blipFill>
                <a:blip r:embed="rId37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3" name="Oval 122"/>
          <p:cNvSpPr/>
          <p:nvPr/>
        </p:nvSpPr>
        <p:spPr>
          <a:xfrm>
            <a:off x="6886462" y="2727403"/>
            <a:ext cx="49931" cy="4736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cxnSp>
        <p:nvCxnSpPr>
          <p:cNvPr id="124" name="Straight Connector 123"/>
          <p:cNvCxnSpPr/>
          <p:nvPr/>
        </p:nvCxnSpPr>
        <p:spPr>
          <a:xfrm flipH="1">
            <a:off x="6900863" y="2755561"/>
            <a:ext cx="240360" cy="193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Straight Connector 124"/>
          <p:cNvCxnSpPr/>
          <p:nvPr/>
        </p:nvCxnSpPr>
        <p:spPr>
          <a:xfrm>
            <a:off x="6475558" y="3117901"/>
            <a:ext cx="4191301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6" name="TextBox 125"/>
              <p:cNvSpPr txBox="1"/>
              <p:nvPr/>
            </p:nvSpPr>
            <p:spPr>
              <a:xfrm>
                <a:off x="6424669" y="4399275"/>
                <a:ext cx="158417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i="1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=270°</m:t>
                      </m:r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126" name="TextBox 1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4669" y="4399275"/>
                <a:ext cx="1584176" cy="338554"/>
              </a:xfrm>
              <a:prstGeom prst="rect">
                <a:avLst/>
              </a:prstGeom>
              <a:blipFill>
                <a:blip r:embed="rId3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7" name="Straight Arrow Connector 126"/>
          <p:cNvCxnSpPr/>
          <p:nvPr/>
        </p:nvCxnSpPr>
        <p:spPr>
          <a:xfrm flipV="1">
            <a:off x="7125323" y="4910925"/>
            <a:ext cx="0" cy="65246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Straight Arrow Connector 127"/>
          <p:cNvCxnSpPr/>
          <p:nvPr/>
        </p:nvCxnSpPr>
        <p:spPr>
          <a:xfrm>
            <a:off x="6798775" y="5255649"/>
            <a:ext cx="671828" cy="55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Straight Connector 128"/>
          <p:cNvCxnSpPr/>
          <p:nvPr/>
        </p:nvCxnSpPr>
        <p:spPr>
          <a:xfrm flipH="1">
            <a:off x="7122321" y="5257912"/>
            <a:ext cx="4123" cy="24277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0" name="TextBox 129"/>
              <p:cNvSpPr txBox="1"/>
              <p:nvPr/>
            </p:nvSpPr>
            <p:spPr>
              <a:xfrm>
                <a:off x="7348890" y="5117500"/>
                <a:ext cx="336419" cy="254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051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 sz="1051" dirty="0"/>
              </a:p>
            </p:txBody>
          </p:sp>
        </mc:Choice>
        <mc:Fallback xmlns="">
          <p:sp>
            <p:nvSpPr>
              <p:cNvPr id="130" name="TextBox 1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48890" y="5117500"/>
                <a:ext cx="336419" cy="254044"/>
              </a:xfrm>
              <a:prstGeom prst="rect">
                <a:avLst/>
              </a:prstGeom>
              <a:blipFill>
                <a:blip r:embed="rId3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1" name="TextBox 130"/>
              <p:cNvSpPr txBox="1"/>
              <p:nvPr/>
            </p:nvSpPr>
            <p:spPr>
              <a:xfrm>
                <a:off x="6989995" y="4698084"/>
                <a:ext cx="273443" cy="254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051" i="1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GB" sz="1051" dirty="0"/>
              </a:p>
            </p:txBody>
          </p:sp>
        </mc:Choice>
        <mc:Fallback xmlns="">
          <p:sp>
            <p:nvSpPr>
              <p:cNvPr id="131" name="TextBox 1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9995" y="4698084"/>
                <a:ext cx="273443" cy="254044"/>
              </a:xfrm>
              <a:prstGeom prst="rect">
                <a:avLst/>
              </a:prstGeom>
              <a:blipFill>
                <a:blip r:embed="rId39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2" name="Oval 131"/>
          <p:cNvSpPr/>
          <p:nvPr/>
        </p:nvSpPr>
        <p:spPr>
          <a:xfrm>
            <a:off x="7099209" y="5485060"/>
            <a:ext cx="49931" cy="4736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3" name="TextBox 132"/>
              <p:cNvSpPr txBox="1"/>
              <p:nvPr/>
            </p:nvSpPr>
            <p:spPr>
              <a:xfrm>
                <a:off x="6859713" y="4993500"/>
                <a:ext cx="230149" cy="2154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800" i="1">
                          <a:latin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en-GB" sz="800" dirty="0"/>
              </a:p>
            </p:txBody>
          </p:sp>
        </mc:Choice>
        <mc:Fallback xmlns="">
          <p:sp>
            <p:nvSpPr>
              <p:cNvPr id="133" name="TextBox 1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9713" y="4993500"/>
                <a:ext cx="230149" cy="215444"/>
              </a:xfrm>
              <a:prstGeom prst="rect">
                <a:avLst/>
              </a:prstGeom>
              <a:blipFill>
                <a:blip r:embed="rId40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4" name="Straight Connector 133"/>
          <p:cNvCxnSpPr/>
          <p:nvPr/>
        </p:nvCxnSpPr>
        <p:spPr>
          <a:xfrm>
            <a:off x="6414453" y="4412047"/>
            <a:ext cx="425240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6" name="TextBox 135"/>
              <p:cNvSpPr txBox="1"/>
              <p:nvPr/>
            </p:nvSpPr>
            <p:spPr>
              <a:xfrm>
                <a:off x="6860658" y="5366095"/>
                <a:ext cx="338324" cy="254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051" i="1">
                          <a:latin typeface="Cambria Math" panose="02040503050406030204" pitchFamily="18" charset="0"/>
                        </a:rPr>
                        <m:t>𝑃</m:t>
                      </m:r>
                    </m:oMath>
                  </m:oMathPara>
                </a14:m>
                <a:endParaRPr lang="en-GB" sz="1051" dirty="0"/>
              </a:p>
            </p:txBody>
          </p:sp>
        </mc:Choice>
        <mc:Fallback xmlns="">
          <p:sp>
            <p:nvSpPr>
              <p:cNvPr id="136" name="TextBox 1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60658" y="5366095"/>
                <a:ext cx="338324" cy="254044"/>
              </a:xfrm>
              <a:prstGeom prst="rect">
                <a:avLst/>
              </a:prstGeom>
              <a:blipFill>
                <a:blip r:embed="rId41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7" name="TextBox 136"/>
              <p:cNvSpPr txBox="1"/>
              <p:nvPr/>
            </p:nvSpPr>
            <p:spPr>
              <a:xfrm>
                <a:off x="6391580" y="5662144"/>
                <a:ext cx="1747751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i="1">
                          <a:latin typeface="Cambria Math" panose="02040503050406030204" pitchFamily="18" charset="0"/>
                        </a:rPr>
                        <m:t>270°&lt;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&lt;360°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37" name="TextBox 1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91580" y="5662144"/>
                <a:ext cx="1747751" cy="338554"/>
              </a:xfrm>
              <a:prstGeom prst="rect">
                <a:avLst/>
              </a:prstGeom>
              <a:blipFill>
                <a:blip r:embed="rId4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8" name="Straight Arrow Connector 137"/>
          <p:cNvCxnSpPr/>
          <p:nvPr/>
        </p:nvCxnSpPr>
        <p:spPr>
          <a:xfrm flipV="1">
            <a:off x="7149624" y="6125209"/>
            <a:ext cx="0" cy="65246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Straight Arrow Connector 138"/>
          <p:cNvCxnSpPr/>
          <p:nvPr/>
        </p:nvCxnSpPr>
        <p:spPr>
          <a:xfrm>
            <a:off x="6823078" y="6469933"/>
            <a:ext cx="671828" cy="55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Connector 139"/>
          <p:cNvCxnSpPr/>
          <p:nvPr/>
        </p:nvCxnSpPr>
        <p:spPr>
          <a:xfrm>
            <a:off x="7156313" y="6472631"/>
            <a:ext cx="192229" cy="26631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1" name="TextBox 140"/>
              <p:cNvSpPr txBox="1"/>
              <p:nvPr/>
            </p:nvSpPr>
            <p:spPr>
              <a:xfrm>
                <a:off x="7378119" y="6330900"/>
                <a:ext cx="336419" cy="254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051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 sz="1051" dirty="0"/>
              </a:p>
            </p:txBody>
          </p:sp>
        </mc:Choice>
        <mc:Fallback xmlns="">
          <p:sp>
            <p:nvSpPr>
              <p:cNvPr id="141" name="TextBox 1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78119" y="6330900"/>
                <a:ext cx="336419" cy="254044"/>
              </a:xfrm>
              <a:prstGeom prst="rect">
                <a:avLst/>
              </a:prstGeom>
              <a:blipFill>
                <a:blip r:embed="rId4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2" name="TextBox 141"/>
              <p:cNvSpPr txBox="1"/>
              <p:nvPr/>
            </p:nvSpPr>
            <p:spPr>
              <a:xfrm>
                <a:off x="7020647" y="5931419"/>
                <a:ext cx="273443" cy="254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051" i="1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GB" sz="1051" dirty="0"/>
              </a:p>
            </p:txBody>
          </p:sp>
        </mc:Choice>
        <mc:Fallback xmlns="">
          <p:sp>
            <p:nvSpPr>
              <p:cNvPr id="142" name="TextBox 1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20647" y="5931419"/>
                <a:ext cx="273443" cy="254044"/>
              </a:xfrm>
              <a:prstGeom prst="rect">
                <a:avLst/>
              </a:prstGeom>
              <a:blipFill>
                <a:blip r:embed="rId4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3" name="TextBox 142"/>
              <p:cNvSpPr txBox="1"/>
              <p:nvPr/>
            </p:nvSpPr>
            <p:spPr>
              <a:xfrm>
                <a:off x="6675758" y="6069291"/>
                <a:ext cx="338324" cy="254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051" i="1">
                          <a:latin typeface="Cambria Math" panose="02040503050406030204" pitchFamily="18" charset="0"/>
                        </a:rPr>
                        <m:t>𝑃</m:t>
                      </m:r>
                    </m:oMath>
                  </m:oMathPara>
                </a14:m>
                <a:endParaRPr lang="en-GB" sz="1051" dirty="0"/>
              </a:p>
            </p:txBody>
          </p:sp>
        </mc:Choice>
        <mc:Fallback xmlns="">
          <p:sp>
            <p:nvSpPr>
              <p:cNvPr id="143" name="TextBox 14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75758" y="6069291"/>
                <a:ext cx="338324" cy="254044"/>
              </a:xfrm>
              <a:prstGeom prst="rect">
                <a:avLst/>
              </a:prstGeom>
              <a:blipFill>
                <a:blip r:embed="rId37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4" name="Oval 143"/>
          <p:cNvSpPr/>
          <p:nvPr/>
        </p:nvSpPr>
        <p:spPr>
          <a:xfrm>
            <a:off x="7337822" y="6701727"/>
            <a:ext cx="49931" cy="4736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5" name="TextBox 144"/>
              <p:cNvSpPr txBox="1"/>
              <p:nvPr/>
            </p:nvSpPr>
            <p:spPr>
              <a:xfrm>
                <a:off x="6873465" y="6217276"/>
                <a:ext cx="230149" cy="2154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800" i="1">
                          <a:latin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en-GB" sz="800" dirty="0"/>
              </a:p>
            </p:txBody>
          </p:sp>
        </mc:Choice>
        <mc:Fallback xmlns="">
          <p:sp>
            <p:nvSpPr>
              <p:cNvPr id="145" name="TextBox 1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3465" y="6217276"/>
                <a:ext cx="230149" cy="215444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6" name="Straight Connector 145"/>
          <p:cNvCxnSpPr/>
          <p:nvPr/>
        </p:nvCxnSpPr>
        <p:spPr>
          <a:xfrm flipV="1">
            <a:off x="6472723" y="5627708"/>
            <a:ext cx="4194137" cy="246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8" name="TextBox 147"/>
          <p:cNvSpPr txBox="1"/>
          <p:nvPr/>
        </p:nvSpPr>
        <p:spPr>
          <a:xfrm>
            <a:off x="8454629" y="2302169"/>
            <a:ext cx="4596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-1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9306121" y="2295047"/>
            <a:ext cx="4596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0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10142188" y="2302168"/>
            <a:ext cx="4596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0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8335340" y="3577258"/>
            <a:ext cx="5749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-</a:t>
            </a:r>
            <a:r>
              <a:rPr lang="en-GB" dirty="0" err="1"/>
              <a:t>ve</a:t>
            </a:r>
            <a:endParaRPr lang="en-GB" dirty="0"/>
          </a:p>
        </p:txBody>
      </p:sp>
      <p:sp>
        <p:nvSpPr>
          <p:cNvPr id="152" name="TextBox 151"/>
          <p:cNvSpPr txBox="1"/>
          <p:nvPr/>
        </p:nvSpPr>
        <p:spPr>
          <a:xfrm>
            <a:off x="9164017" y="3579662"/>
            <a:ext cx="6072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-</a:t>
            </a:r>
            <a:r>
              <a:rPr lang="en-GB" dirty="0" err="1"/>
              <a:t>ve</a:t>
            </a:r>
            <a:endParaRPr lang="en-GB" dirty="0"/>
          </a:p>
        </p:txBody>
      </p:sp>
      <p:sp>
        <p:nvSpPr>
          <p:cNvPr id="153" name="TextBox 152"/>
          <p:cNvSpPr txBox="1"/>
          <p:nvPr/>
        </p:nvSpPr>
        <p:spPr>
          <a:xfrm>
            <a:off x="10040318" y="3586782"/>
            <a:ext cx="5479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+</a:t>
            </a:r>
            <a:r>
              <a:rPr lang="en-GB" dirty="0" err="1"/>
              <a:t>ve</a:t>
            </a:r>
            <a:endParaRPr lang="en-GB" dirty="0"/>
          </a:p>
        </p:txBody>
      </p:sp>
      <p:sp>
        <p:nvSpPr>
          <p:cNvPr id="154" name="TextBox 153"/>
          <p:cNvSpPr txBox="1"/>
          <p:nvPr/>
        </p:nvSpPr>
        <p:spPr>
          <a:xfrm>
            <a:off x="8370020" y="4861313"/>
            <a:ext cx="4596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0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9221512" y="4854194"/>
            <a:ext cx="4596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-1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9573797" y="4855113"/>
            <a:ext cx="13543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Undefined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66089" y="5928254"/>
            <a:ext cx="5749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+</a:t>
            </a:r>
            <a:r>
              <a:rPr lang="en-GB" dirty="0" err="1"/>
              <a:t>ve</a:t>
            </a:r>
            <a:endParaRPr lang="en-GB" dirty="0"/>
          </a:p>
        </p:txBody>
      </p:sp>
      <p:sp>
        <p:nvSpPr>
          <p:cNvPr id="158" name="TextBox 157"/>
          <p:cNvSpPr txBox="1"/>
          <p:nvPr/>
        </p:nvSpPr>
        <p:spPr>
          <a:xfrm>
            <a:off x="9194767" y="5930658"/>
            <a:ext cx="6072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-</a:t>
            </a:r>
            <a:r>
              <a:rPr lang="en-GB" dirty="0" err="1"/>
              <a:t>ve</a:t>
            </a:r>
            <a:endParaRPr lang="en-GB" dirty="0"/>
          </a:p>
        </p:txBody>
      </p:sp>
      <p:sp>
        <p:nvSpPr>
          <p:cNvPr id="159" name="TextBox 158"/>
          <p:cNvSpPr txBox="1"/>
          <p:nvPr/>
        </p:nvSpPr>
        <p:spPr>
          <a:xfrm>
            <a:off x="10071067" y="5937778"/>
            <a:ext cx="5479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-</a:t>
            </a:r>
            <a:r>
              <a:rPr lang="en-GB" dirty="0" err="1"/>
              <a:t>ve</a:t>
            </a:r>
            <a:endParaRPr lang="en-GB" dirty="0"/>
          </a:p>
        </p:txBody>
      </p:sp>
      <p:cxnSp>
        <p:nvCxnSpPr>
          <p:cNvPr id="160" name="Straight Connector 159"/>
          <p:cNvCxnSpPr/>
          <p:nvPr/>
        </p:nvCxnSpPr>
        <p:spPr>
          <a:xfrm flipV="1">
            <a:off x="1632247" y="1897476"/>
            <a:ext cx="0" cy="468052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1" name="Straight Connector 160"/>
          <p:cNvCxnSpPr/>
          <p:nvPr/>
        </p:nvCxnSpPr>
        <p:spPr>
          <a:xfrm flipV="1">
            <a:off x="6448424" y="1895179"/>
            <a:ext cx="0" cy="468052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3" name="Freeform: Shape 162"/>
          <p:cNvSpPr/>
          <p:nvPr/>
        </p:nvSpPr>
        <p:spPr>
          <a:xfrm>
            <a:off x="6996117" y="2619379"/>
            <a:ext cx="300037" cy="123825"/>
          </a:xfrm>
          <a:custGeom>
            <a:avLst/>
            <a:gdLst>
              <a:gd name="connsiteX0" fmla="*/ 300037 w 300037"/>
              <a:gd name="connsiteY0" fmla="*/ 152506 h 152506"/>
              <a:gd name="connsiteX1" fmla="*/ 142875 w 300037"/>
              <a:gd name="connsiteY1" fmla="*/ 106 h 152506"/>
              <a:gd name="connsiteX2" fmla="*/ 0 w 300037"/>
              <a:gd name="connsiteY2" fmla="*/ 133456 h 152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00037" h="152506">
                <a:moveTo>
                  <a:pt x="300037" y="152506"/>
                </a:moveTo>
                <a:cubicBezTo>
                  <a:pt x="246459" y="77893"/>
                  <a:pt x="192881" y="3281"/>
                  <a:pt x="142875" y="106"/>
                </a:cubicBezTo>
                <a:cubicBezTo>
                  <a:pt x="92869" y="-3069"/>
                  <a:pt x="46434" y="65193"/>
                  <a:pt x="0" y="133456"/>
                </a:cubicBezTo>
              </a:path>
            </a:pathLst>
          </a:custGeom>
          <a:ln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4" name="TextBox 163"/>
              <p:cNvSpPr txBox="1"/>
              <p:nvPr/>
            </p:nvSpPr>
            <p:spPr>
              <a:xfrm>
                <a:off x="7096104" y="2475223"/>
                <a:ext cx="230149" cy="2154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800" i="1">
                          <a:latin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en-GB" sz="800" dirty="0"/>
              </a:p>
            </p:txBody>
          </p:sp>
        </mc:Choice>
        <mc:Fallback xmlns="">
          <p:sp>
            <p:nvSpPr>
              <p:cNvPr id="164" name="TextBox 16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6104" y="2475223"/>
                <a:ext cx="230149" cy="215444"/>
              </a:xfrm>
              <a:prstGeom prst="rect">
                <a:avLst/>
              </a:prstGeom>
              <a:blipFill>
                <a:blip r:embed="rId4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6" name="Freeform: Shape 165"/>
          <p:cNvSpPr/>
          <p:nvPr/>
        </p:nvSpPr>
        <p:spPr>
          <a:xfrm>
            <a:off x="7024912" y="3893346"/>
            <a:ext cx="295055" cy="259556"/>
          </a:xfrm>
          <a:custGeom>
            <a:avLst/>
            <a:gdLst>
              <a:gd name="connsiteX0" fmla="*/ 298332 w 298332"/>
              <a:gd name="connsiteY0" fmla="*/ 150019 h 250031"/>
              <a:gd name="connsiteX1" fmla="*/ 148313 w 298332"/>
              <a:gd name="connsiteY1" fmla="*/ 0 h 250031"/>
              <a:gd name="connsiteX2" fmla="*/ 5438 w 298332"/>
              <a:gd name="connsiteY2" fmla="*/ 150019 h 250031"/>
              <a:gd name="connsiteX3" fmla="*/ 43538 w 298332"/>
              <a:gd name="connsiteY3" fmla="*/ 250031 h 250031"/>
              <a:gd name="connsiteX0" fmla="*/ 299840 w 299840"/>
              <a:gd name="connsiteY0" fmla="*/ 150019 h 273844"/>
              <a:gd name="connsiteX1" fmla="*/ 149821 w 299840"/>
              <a:gd name="connsiteY1" fmla="*/ 0 h 273844"/>
              <a:gd name="connsiteX2" fmla="*/ 6946 w 299840"/>
              <a:gd name="connsiteY2" fmla="*/ 150019 h 273844"/>
              <a:gd name="connsiteX3" fmla="*/ 37902 w 299840"/>
              <a:gd name="connsiteY3" fmla="*/ 273844 h 273844"/>
              <a:gd name="connsiteX0" fmla="*/ 296498 w 296498"/>
              <a:gd name="connsiteY0" fmla="*/ 150019 h 252413"/>
              <a:gd name="connsiteX1" fmla="*/ 146479 w 296498"/>
              <a:gd name="connsiteY1" fmla="*/ 0 h 252413"/>
              <a:gd name="connsiteX2" fmla="*/ 3604 w 296498"/>
              <a:gd name="connsiteY2" fmla="*/ 150019 h 252413"/>
              <a:gd name="connsiteX3" fmla="*/ 53610 w 296498"/>
              <a:gd name="connsiteY3" fmla="*/ 252413 h 252413"/>
              <a:gd name="connsiteX0" fmla="*/ 295252 w 295252"/>
              <a:gd name="connsiteY0" fmla="*/ 150019 h 252413"/>
              <a:gd name="connsiteX1" fmla="*/ 145233 w 295252"/>
              <a:gd name="connsiteY1" fmla="*/ 0 h 252413"/>
              <a:gd name="connsiteX2" fmla="*/ 2358 w 295252"/>
              <a:gd name="connsiteY2" fmla="*/ 150019 h 252413"/>
              <a:gd name="connsiteX3" fmla="*/ 64270 w 295252"/>
              <a:gd name="connsiteY3" fmla="*/ 252413 h 252413"/>
              <a:gd name="connsiteX0" fmla="*/ 295054 w 295054"/>
              <a:gd name="connsiteY0" fmla="*/ 150019 h 259556"/>
              <a:gd name="connsiteX1" fmla="*/ 145035 w 295054"/>
              <a:gd name="connsiteY1" fmla="*/ 0 h 259556"/>
              <a:gd name="connsiteX2" fmla="*/ 2160 w 295054"/>
              <a:gd name="connsiteY2" fmla="*/ 150019 h 259556"/>
              <a:gd name="connsiteX3" fmla="*/ 66453 w 295054"/>
              <a:gd name="connsiteY3" fmla="*/ 259556 h 259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5054" h="259556">
                <a:moveTo>
                  <a:pt x="295054" y="150019"/>
                </a:moveTo>
                <a:cubicBezTo>
                  <a:pt x="244452" y="75009"/>
                  <a:pt x="193851" y="0"/>
                  <a:pt x="145035" y="0"/>
                </a:cubicBezTo>
                <a:cubicBezTo>
                  <a:pt x="96219" y="0"/>
                  <a:pt x="15257" y="106760"/>
                  <a:pt x="2160" y="150019"/>
                </a:cubicBezTo>
                <a:cubicBezTo>
                  <a:pt x="-10937" y="193278"/>
                  <a:pt x="38672" y="230386"/>
                  <a:pt x="66453" y="259556"/>
                </a:cubicBezTo>
              </a:path>
            </a:pathLst>
          </a:custGeom>
          <a:ln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8" name="Freeform: Shape 167"/>
          <p:cNvSpPr/>
          <p:nvPr/>
        </p:nvSpPr>
        <p:spPr>
          <a:xfrm>
            <a:off x="6924976" y="5086349"/>
            <a:ext cx="368797" cy="315327"/>
          </a:xfrm>
          <a:custGeom>
            <a:avLst/>
            <a:gdLst>
              <a:gd name="connsiteX0" fmla="*/ 362011 w 362011"/>
              <a:gd name="connsiteY0" fmla="*/ 169073 h 332951"/>
              <a:gd name="connsiteX1" fmla="*/ 197705 w 362011"/>
              <a:gd name="connsiteY1" fmla="*/ 4 h 332951"/>
              <a:gd name="connsiteX2" fmla="*/ 2442 w 362011"/>
              <a:gd name="connsiteY2" fmla="*/ 164310 h 332951"/>
              <a:gd name="connsiteX3" fmla="*/ 92930 w 362011"/>
              <a:gd name="connsiteY3" fmla="*/ 311948 h 332951"/>
              <a:gd name="connsiteX4" fmla="*/ 164367 w 362011"/>
              <a:gd name="connsiteY4" fmla="*/ 328617 h 332951"/>
              <a:gd name="connsiteX0" fmla="*/ 368476 w 368476"/>
              <a:gd name="connsiteY0" fmla="*/ 169073 h 331536"/>
              <a:gd name="connsiteX1" fmla="*/ 204170 w 368476"/>
              <a:gd name="connsiteY1" fmla="*/ 4 h 331536"/>
              <a:gd name="connsiteX2" fmla="*/ 8907 w 368476"/>
              <a:gd name="connsiteY2" fmla="*/ 164310 h 331536"/>
              <a:gd name="connsiteX3" fmla="*/ 47007 w 368476"/>
              <a:gd name="connsiteY3" fmla="*/ 307185 h 331536"/>
              <a:gd name="connsiteX4" fmla="*/ 170832 w 368476"/>
              <a:gd name="connsiteY4" fmla="*/ 328617 h 331536"/>
              <a:gd name="connsiteX0" fmla="*/ 369874 w 369874"/>
              <a:gd name="connsiteY0" fmla="*/ 169073 h 331085"/>
              <a:gd name="connsiteX1" fmla="*/ 205568 w 369874"/>
              <a:gd name="connsiteY1" fmla="*/ 4 h 331085"/>
              <a:gd name="connsiteX2" fmla="*/ 10305 w 369874"/>
              <a:gd name="connsiteY2" fmla="*/ 164310 h 331085"/>
              <a:gd name="connsiteX3" fmla="*/ 48405 w 369874"/>
              <a:gd name="connsiteY3" fmla="*/ 307185 h 331085"/>
              <a:gd name="connsiteX4" fmla="*/ 172230 w 369874"/>
              <a:gd name="connsiteY4" fmla="*/ 328617 h 331085"/>
              <a:gd name="connsiteX0" fmla="*/ 368635 w 368635"/>
              <a:gd name="connsiteY0" fmla="*/ 169073 h 319063"/>
              <a:gd name="connsiteX1" fmla="*/ 204329 w 368635"/>
              <a:gd name="connsiteY1" fmla="*/ 4 h 319063"/>
              <a:gd name="connsiteX2" fmla="*/ 9066 w 368635"/>
              <a:gd name="connsiteY2" fmla="*/ 164310 h 319063"/>
              <a:gd name="connsiteX3" fmla="*/ 47166 w 368635"/>
              <a:gd name="connsiteY3" fmla="*/ 307185 h 319063"/>
              <a:gd name="connsiteX4" fmla="*/ 178135 w 368635"/>
              <a:gd name="connsiteY4" fmla="*/ 307186 h 319063"/>
              <a:gd name="connsiteX0" fmla="*/ 368797 w 368797"/>
              <a:gd name="connsiteY0" fmla="*/ 169073 h 315327"/>
              <a:gd name="connsiteX1" fmla="*/ 204491 w 368797"/>
              <a:gd name="connsiteY1" fmla="*/ 4 h 315327"/>
              <a:gd name="connsiteX2" fmla="*/ 9228 w 368797"/>
              <a:gd name="connsiteY2" fmla="*/ 164310 h 315327"/>
              <a:gd name="connsiteX3" fmla="*/ 47328 w 368797"/>
              <a:gd name="connsiteY3" fmla="*/ 307185 h 315327"/>
              <a:gd name="connsiteX4" fmla="*/ 185441 w 368797"/>
              <a:gd name="connsiteY4" fmla="*/ 295280 h 315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68797" h="315327">
                <a:moveTo>
                  <a:pt x="368797" y="169073"/>
                </a:moveTo>
                <a:cubicBezTo>
                  <a:pt x="316608" y="84935"/>
                  <a:pt x="264419" y="798"/>
                  <a:pt x="204491" y="4"/>
                </a:cubicBezTo>
                <a:cubicBezTo>
                  <a:pt x="144563" y="-790"/>
                  <a:pt x="35422" y="113113"/>
                  <a:pt x="9228" y="164310"/>
                </a:cubicBezTo>
                <a:cubicBezTo>
                  <a:pt x="-16966" y="215507"/>
                  <a:pt x="17959" y="285357"/>
                  <a:pt x="47328" y="307185"/>
                </a:cubicBezTo>
                <a:cubicBezTo>
                  <a:pt x="76697" y="329013"/>
                  <a:pt x="163216" y="300638"/>
                  <a:pt x="185441" y="295280"/>
                </a:cubicBezTo>
              </a:path>
            </a:pathLst>
          </a:custGeom>
          <a:ln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1" name="Freeform: Shape 170"/>
          <p:cNvSpPr/>
          <p:nvPr/>
        </p:nvSpPr>
        <p:spPr>
          <a:xfrm>
            <a:off x="6996110" y="6312667"/>
            <a:ext cx="304804" cy="307243"/>
          </a:xfrm>
          <a:custGeom>
            <a:avLst/>
            <a:gdLst>
              <a:gd name="connsiteX0" fmla="*/ 304804 w 304804"/>
              <a:gd name="connsiteY0" fmla="*/ 152428 h 307242"/>
              <a:gd name="connsiteX1" fmla="*/ 261941 w 304804"/>
              <a:gd name="connsiteY1" fmla="*/ 40509 h 307242"/>
              <a:gd name="connsiteX2" fmla="*/ 154785 w 304804"/>
              <a:gd name="connsiteY2" fmla="*/ 28 h 307242"/>
              <a:gd name="connsiteX3" fmla="*/ 50010 w 304804"/>
              <a:gd name="connsiteY3" fmla="*/ 45272 h 307242"/>
              <a:gd name="connsiteX4" fmla="*/ 4 w 304804"/>
              <a:gd name="connsiteY4" fmla="*/ 157190 h 307242"/>
              <a:gd name="connsiteX5" fmla="*/ 52391 w 304804"/>
              <a:gd name="connsiteY5" fmla="*/ 276253 h 307242"/>
              <a:gd name="connsiteX6" fmla="*/ 145260 w 304804"/>
              <a:gd name="connsiteY6" fmla="*/ 307209 h 307242"/>
              <a:gd name="connsiteX7" fmla="*/ 226222 w 304804"/>
              <a:gd name="connsiteY7" fmla="*/ 281015 h 3072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04804" h="307242">
                <a:moveTo>
                  <a:pt x="304804" y="152428"/>
                </a:moveTo>
                <a:cubicBezTo>
                  <a:pt x="295874" y="109168"/>
                  <a:pt x="286944" y="65909"/>
                  <a:pt x="261941" y="40509"/>
                </a:cubicBezTo>
                <a:cubicBezTo>
                  <a:pt x="236938" y="15109"/>
                  <a:pt x="190107" y="-766"/>
                  <a:pt x="154785" y="28"/>
                </a:cubicBezTo>
                <a:cubicBezTo>
                  <a:pt x="119463" y="822"/>
                  <a:pt x="75807" y="19078"/>
                  <a:pt x="50010" y="45272"/>
                </a:cubicBezTo>
                <a:cubicBezTo>
                  <a:pt x="24213" y="71466"/>
                  <a:pt x="-393" y="118693"/>
                  <a:pt x="4" y="157190"/>
                </a:cubicBezTo>
                <a:cubicBezTo>
                  <a:pt x="401" y="195687"/>
                  <a:pt x="28182" y="251250"/>
                  <a:pt x="52391" y="276253"/>
                </a:cubicBezTo>
                <a:cubicBezTo>
                  <a:pt x="76600" y="301256"/>
                  <a:pt x="116288" y="306415"/>
                  <a:pt x="145260" y="307209"/>
                </a:cubicBezTo>
                <a:cubicBezTo>
                  <a:pt x="174232" y="308003"/>
                  <a:pt x="200227" y="294509"/>
                  <a:pt x="226222" y="281015"/>
                </a:cubicBezTo>
              </a:path>
            </a:pathLst>
          </a:custGeom>
          <a:ln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6" name="Rectangle 175"/>
          <p:cNvSpPr/>
          <p:nvPr/>
        </p:nvSpPr>
        <p:spPr>
          <a:xfrm>
            <a:off x="3348025" y="3120769"/>
            <a:ext cx="3011475" cy="129873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177" name="Rectangle 176"/>
          <p:cNvSpPr/>
          <p:nvPr/>
        </p:nvSpPr>
        <p:spPr>
          <a:xfrm>
            <a:off x="3348509" y="4419498"/>
            <a:ext cx="3011475" cy="120322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178" name="Rectangle 177"/>
          <p:cNvSpPr/>
          <p:nvPr/>
        </p:nvSpPr>
        <p:spPr>
          <a:xfrm>
            <a:off x="3348025" y="5630165"/>
            <a:ext cx="3011475" cy="115511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179" name="Rectangle 178"/>
          <p:cNvSpPr/>
          <p:nvPr/>
        </p:nvSpPr>
        <p:spPr>
          <a:xfrm>
            <a:off x="8078983" y="3120763"/>
            <a:ext cx="2557120" cy="129873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180" name="Rectangle 179"/>
          <p:cNvSpPr/>
          <p:nvPr/>
        </p:nvSpPr>
        <p:spPr>
          <a:xfrm>
            <a:off x="8073624" y="4421929"/>
            <a:ext cx="2557120" cy="120322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181" name="Rectangle 180"/>
          <p:cNvSpPr/>
          <p:nvPr/>
        </p:nvSpPr>
        <p:spPr>
          <a:xfrm>
            <a:off x="8078983" y="5630158"/>
            <a:ext cx="2557120" cy="115512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182" name="Rectangle 181"/>
          <p:cNvSpPr/>
          <p:nvPr/>
        </p:nvSpPr>
        <p:spPr>
          <a:xfrm>
            <a:off x="8078983" y="1902622"/>
            <a:ext cx="2557120" cy="121814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184" name="Rectangle 183"/>
          <p:cNvSpPr/>
          <p:nvPr/>
        </p:nvSpPr>
        <p:spPr>
          <a:xfrm>
            <a:off x="1638740" y="4740808"/>
            <a:ext cx="1703895" cy="90477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185" name="Rectangle 184"/>
          <p:cNvSpPr/>
          <p:nvPr/>
        </p:nvSpPr>
        <p:spPr>
          <a:xfrm>
            <a:off x="1638740" y="5983161"/>
            <a:ext cx="1703895" cy="80041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186" name="Rectangle 185"/>
          <p:cNvSpPr/>
          <p:nvPr/>
        </p:nvSpPr>
        <p:spPr>
          <a:xfrm>
            <a:off x="6456653" y="3571292"/>
            <a:ext cx="1623885" cy="84887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187" name="Rectangle 186"/>
          <p:cNvSpPr/>
          <p:nvPr/>
        </p:nvSpPr>
        <p:spPr>
          <a:xfrm>
            <a:off x="6446877" y="4740808"/>
            <a:ext cx="1637221" cy="90477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188" name="Rectangle 187"/>
          <p:cNvSpPr/>
          <p:nvPr/>
        </p:nvSpPr>
        <p:spPr>
          <a:xfrm>
            <a:off x="6446877" y="5983161"/>
            <a:ext cx="1637221" cy="80041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189" name="Rectangle 188"/>
          <p:cNvSpPr/>
          <p:nvPr/>
        </p:nvSpPr>
        <p:spPr>
          <a:xfrm>
            <a:off x="6453879" y="2262124"/>
            <a:ext cx="1630219" cy="84887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42408150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7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6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7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7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17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8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17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9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18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0"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18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1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18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2"/>
                  </p:tgtEl>
                </p:cond>
              </p:nextCondLst>
            </p:seq>
            <p:seq concurrent="1" nextAc="seek">
              <p:cTn id="44" restart="whenNotActive" fill="hold" evtFilter="cancelBubble" nodeType="interactiveSeq">
                <p:stCondLst>
                  <p:cond evt="onClick" delay="0">
                    <p:tgtEl>
                      <p:spTgt spid="18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" fill="hold">
                      <p:stCondLst>
                        <p:cond delay="0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50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4"/>
                  </p:tgtEl>
                </p:cond>
              </p:nextCondLst>
            </p:seq>
            <p:seq concurrent="1" nextAc="seek">
              <p:cTn id="50" restart="whenNotActive" fill="hold" evtFilter="cancelBubble" nodeType="interactiveSeq">
                <p:stCondLst>
                  <p:cond evt="onClick" delay="0">
                    <p:tgtEl>
                      <p:spTgt spid="18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" dur="50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5"/>
                  </p:tgtEl>
                </p:cond>
              </p:nextCondLst>
            </p:seq>
            <p:seq concurrent="1" nextAc="seek">
              <p:cTn id="56" restart="whenNotActive" fill="hold" evtFilter="cancelBubble" nodeType="interactiveSeq">
                <p:stCondLst>
                  <p:cond evt="onClick" delay="0">
                    <p:tgtEl>
                      <p:spTgt spid="18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" fill="hold">
                      <p:stCondLst>
                        <p:cond delay="0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0" dur="5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6"/>
                  </p:tgtEl>
                </p:cond>
              </p:nextCondLst>
            </p:seq>
            <p:seq concurrent="1" nextAc="seek">
              <p:cTn id="62" restart="whenNotActive" fill="hold" evtFilter="cancelBubble" nodeType="interactiveSeq">
                <p:stCondLst>
                  <p:cond evt="onClick" delay="0">
                    <p:tgtEl>
                      <p:spTgt spid="18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" fill="hold">
                      <p:stCondLst>
                        <p:cond delay="0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6" dur="5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7"/>
                  </p:tgtEl>
                </p:cond>
              </p:nextCondLst>
            </p:seq>
            <p:seq concurrent="1" nextAc="seek">
              <p:cTn id="68" restart="whenNotActive" fill="hold" evtFilter="cancelBubble" nodeType="interactiveSeq">
                <p:stCondLst>
                  <p:cond evt="onClick" delay="0">
                    <p:tgtEl>
                      <p:spTgt spid="18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9" fill="hold">
                      <p:stCondLst>
                        <p:cond delay="0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2" dur="5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8"/>
                  </p:tgtEl>
                </p:cond>
              </p:nextCondLst>
            </p:seq>
            <p:seq concurrent="1" nextAc="seek">
              <p:cTn id="74" restart="whenNotActive" fill="hold" evtFilter="cancelBubble" nodeType="interactiveSeq">
                <p:stCondLst>
                  <p:cond evt="onClick" delay="0">
                    <p:tgtEl>
                      <p:spTgt spid="18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5" fill="hold">
                      <p:stCondLst>
                        <p:cond delay="0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8" dur="50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9"/>
                  </p:tgtEl>
                </p:cond>
              </p:nextCondLst>
            </p:seq>
          </p:childTnLst>
        </p:cTn>
      </p:par>
    </p:tnLst>
    <p:bldLst>
      <p:bldP spid="176" grpId="0" animBg="1"/>
      <p:bldP spid="177" grpId="0" animBg="1"/>
      <p:bldP spid="178" grpId="0" animBg="1"/>
      <p:bldP spid="179" grpId="0" animBg="1"/>
      <p:bldP spid="180" grpId="0" animBg="1"/>
      <p:bldP spid="181" grpId="0" animBg="1"/>
      <p:bldP spid="182" grpId="0" animBg="1"/>
      <p:bldP spid="184" grpId="0" animBg="1"/>
      <p:bldP spid="185" grpId="0" animBg="1"/>
      <p:bldP spid="186" grpId="0" animBg="1"/>
      <p:bldP spid="187" grpId="0" animBg="1"/>
      <p:bldP spid="188" grpId="0" animBg="1"/>
      <p:bldP spid="189" grpId="0" animBg="1"/>
    </p:bldLst>
  </p:timing>
</p:sld>
</file>

<file path=ppt/c10/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7"/>
          <p:cNvGrpSpPr/>
          <p:nvPr/>
        </p:nvGrpSpPr>
        <p:grpSpPr>
          <a:xfrm>
            <a:off x="1524002" y="2"/>
            <a:ext cx="9143075" cy="587744"/>
            <a:chOff x="0" y="13335"/>
            <a:chExt cx="9144218" cy="587744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1" cy="584775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The Unit Circle and Trigonometry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752131" y="803043"/>
                <a:ext cx="8724484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The unit circles explains the behaviour of these trigonometric graphs beyond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90°</m:t>
                    </m:r>
                  </m:oMath>
                </a14:m>
                <a:r>
                  <a:rPr lang="en-GB" dirty="0"/>
                  <a:t>. </a:t>
                </a:r>
              </a:p>
              <a:p>
                <a:r>
                  <a:rPr lang="en-GB" dirty="0"/>
                  <a:t>However, the easiest way to remember whether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d>
                          <m:d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func>
                    <m:r>
                      <a:rPr lang="en-GB" i="1">
                        <a:latin typeface="Cambria Math" panose="02040503050406030204" pitchFamily="18" charset="0"/>
                      </a:rPr>
                      <m:t>,</m:t>
                    </m:r>
                    <m:func>
                      <m:func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d>
                          <m:d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func>
                    <m:r>
                      <a:rPr lang="en-GB" i="1">
                        <a:latin typeface="Cambria Math" panose="02040503050406030204" pitchFamily="18" charset="0"/>
                      </a:rPr>
                      <m:t>,</m:t>
                    </m:r>
                    <m:func>
                      <m:func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>
                            <a:latin typeface="Cambria Math" panose="02040503050406030204" pitchFamily="18" charset="0"/>
                          </a:rPr>
                          <m:t>tan</m:t>
                        </m:r>
                      </m:fName>
                      <m:e>
                        <m:d>
                          <m:d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func>
                  </m:oMath>
                </a14:m>
                <a:r>
                  <a:rPr lang="en-GB" dirty="0"/>
                  <a:t> are positive or negative is to just do a </a:t>
                </a:r>
                <a:r>
                  <a:rPr lang="en-GB" b="1" dirty="0"/>
                  <a:t>very quick sketch (preferably mentally!) </a:t>
                </a:r>
                <a:r>
                  <a:rPr lang="en-GB" dirty="0"/>
                  <a:t>of the corresponding graph.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2131" y="803043"/>
                <a:ext cx="8724484" cy="923330"/>
              </a:xfrm>
              <a:prstGeom prst="rect">
                <a:avLst/>
              </a:prstGeom>
              <a:blipFill>
                <a:blip r:embed="rId2"/>
                <a:stretch>
                  <a:fillRect l="-581" t="-4110" r="-145" b="-1095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Arrow Connector 6"/>
          <p:cNvCxnSpPr/>
          <p:nvPr/>
        </p:nvCxnSpPr>
        <p:spPr>
          <a:xfrm flipV="1">
            <a:off x="2758232" y="2692797"/>
            <a:ext cx="0" cy="27363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 flipV="1">
            <a:off x="2758232" y="4149084"/>
            <a:ext cx="3841824" cy="179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3413795" y="4139555"/>
                <a:ext cx="43204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90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13795" y="4139555"/>
                <a:ext cx="432048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4231631" y="4149080"/>
                <a:ext cx="43204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180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31631" y="4149080"/>
                <a:ext cx="432048" cy="369332"/>
              </a:xfrm>
              <a:prstGeom prst="rect">
                <a:avLst/>
              </a:prstGeom>
              <a:blipFill>
                <a:blip r:embed="rId4"/>
                <a:stretch>
                  <a:fillRect r="-2571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5127811" y="4139555"/>
                <a:ext cx="43204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270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27811" y="4139555"/>
                <a:ext cx="432048" cy="369332"/>
              </a:xfrm>
              <a:prstGeom prst="rect">
                <a:avLst/>
              </a:prstGeom>
              <a:blipFill>
                <a:blip r:embed="rId5"/>
                <a:stretch>
                  <a:fillRect r="-2857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5942223" y="4139555"/>
                <a:ext cx="43204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360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2223" y="4139555"/>
                <a:ext cx="432048" cy="369332"/>
              </a:xfrm>
              <a:prstGeom prst="rect">
                <a:avLst/>
              </a:prstGeom>
              <a:blipFill>
                <a:blip r:embed="rId6"/>
                <a:stretch>
                  <a:fillRect r="-2571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6527367" y="3940671"/>
                <a:ext cx="43204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27367" y="3940671"/>
                <a:ext cx="432048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2529632" y="2329567"/>
                <a:ext cx="43204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29632" y="2329567"/>
                <a:ext cx="432048" cy="369332"/>
              </a:xfrm>
              <a:prstGeom prst="rect">
                <a:avLst/>
              </a:prstGeom>
              <a:blipFill>
                <a:blip r:embed="rId8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Freeform: Shape 18"/>
          <p:cNvSpPr/>
          <p:nvPr/>
        </p:nvSpPr>
        <p:spPr>
          <a:xfrm>
            <a:off x="2755780" y="3013327"/>
            <a:ext cx="3476625" cy="2362209"/>
          </a:xfrm>
          <a:custGeom>
            <a:avLst/>
            <a:gdLst>
              <a:gd name="connsiteX0" fmla="*/ 0 w 3476625"/>
              <a:gd name="connsiteY0" fmla="*/ 1152525 h 2362209"/>
              <a:gd name="connsiteX1" fmla="*/ 885825 w 3476625"/>
              <a:gd name="connsiteY1" fmla="*/ 0 h 2362209"/>
              <a:gd name="connsiteX2" fmla="*/ 1752600 w 3476625"/>
              <a:gd name="connsiteY2" fmla="*/ 1152525 h 2362209"/>
              <a:gd name="connsiteX3" fmla="*/ 2657475 w 3476625"/>
              <a:gd name="connsiteY3" fmla="*/ 2362200 h 2362209"/>
              <a:gd name="connsiteX4" fmla="*/ 3476625 w 3476625"/>
              <a:gd name="connsiteY4" fmla="*/ 1133475 h 23622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76625" h="2362209">
                <a:moveTo>
                  <a:pt x="0" y="1152525"/>
                </a:moveTo>
                <a:cubicBezTo>
                  <a:pt x="296862" y="576262"/>
                  <a:pt x="593725" y="0"/>
                  <a:pt x="885825" y="0"/>
                </a:cubicBezTo>
                <a:cubicBezTo>
                  <a:pt x="1177925" y="0"/>
                  <a:pt x="1752600" y="1152525"/>
                  <a:pt x="1752600" y="1152525"/>
                </a:cubicBezTo>
                <a:cubicBezTo>
                  <a:pt x="2047875" y="1546225"/>
                  <a:pt x="2370138" y="2365375"/>
                  <a:pt x="2657475" y="2362200"/>
                </a:cubicBezTo>
                <a:cubicBezTo>
                  <a:pt x="2944812" y="2359025"/>
                  <a:pt x="3210718" y="1746250"/>
                  <a:pt x="3476625" y="1133475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2998543" y="2312783"/>
                <a:ext cx="1894681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b="1" dirty="0"/>
                  <a:t>positive</a:t>
                </a:r>
              </a:p>
              <a:p>
                <a:pPr algn="ctr"/>
                <a:r>
                  <a:rPr lang="en-GB" sz="1400" dirty="0"/>
                  <a:t>for </a:t>
                </a:r>
                <a14:m>
                  <m:oMath xmlns:m="http://schemas.openxmlformats.org/officeDocument/2006/math">
                    <m:r>
                      <a:rPr lang="en-GB" sz="1400" i="1">
                        <a:latin typeface="Cambria Math" panose="02040503050406030204" pitchFamily="18" charset="0"/>
                      </a:rPr>
                      <m:t>0&lt;</m:t>
                    </m:r>
                    <m:r>
                      <a:rPr lang="en-GB" sz="1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400" i="1">
                        <a:latin typeface="Cambria Math" panose="02040503050406030204" pitchFamily="18" charset="0"/>
                      </a:rPr>
                      <m:t>&lt;180°</m:t>
                    </m:r>
                  </m:oMath>
                </a14:m>
                <a:endParaRPr lang="en-GB" sz="1400" dirty="0"/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98543" y="2312783"/>
                <a:ext cx="1894681" cy="584775"/>
              </a:xfrm>
              <a:prstGeom prst="rect">
                <a:avLst/>
              </a:prstGeom>
              <a:blipFill>
                <a:blip r:embed="rId9"/>
                <a:stretch>
                  <a:fillRect t="-2083" b="-1041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4396499" y="5429105"/>
                <a:ext cx="1894681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b="1" dirty="0"/>
                  <a:t>negative</a:t>
                </a:r>
              </a:p>
              <a:p>
                <a:pPr algn="ctr"/>
                <a:r>
                  <a:rPr lang="en-GB" sz="1400" dirty="0"/>
                  <a:t>for </a:t>
                </a:r>
                <a14:m>
                  <m:oMath xmlns:m="http://schemas.openxmlformats.org/officeDocument/2006/math">
                    <m:r>
                      <a:rPr lang="en-GB" sz="1400" i="1">
                        <a:latin typeface="Cambria Math" panose="02040503050406030204" pitchFamily="18" charset="0"/>
                      </a:rPr>
                      <m:t>180°&lt;</m:t>
                    </m:r>
                    <m:r>
                      <a:rPr lang="en-GB" sz="1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400" i="1">
                        <a:latin typeface="Cambria Math" panose="02040503050406030204" pitchFamily="18" charset="0"/>
                      </a:rPr>
                      <m:t>&lt;360°</m:t>
                    </m:r>
                  </m:oMath>
                </a14:m>
                <a:endParaRPr lang="en-GB" sz="1400" dirty="0"/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96499" y="5429105"/>
                <a:ext cx="1894681" cy="584775"/>
              </a:xfrm>
              <a:prstGeom prst="rect">
                <a:avLst/>
              </a:prstGeom>
              <a:blipFill>
                <a:blip r:embed="rId10"/>
                <a:stretch>
                  <a:fillRect t="-4255" b="-1276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4550321" y="3121917"/>
                <a:ext cx="192286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GB" sz="280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sty m:val="p"/>
                            </m:rPr>
                            <a:rPr lang="en-GB" sz="280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en-GB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50321" y="3121917"/>
                <a:ext cx="1922860" cy="523220"/>
              </a:xfrm>
              <a:prstGeom prst="rect">
                <a:avLst/>
              </a:prstGeom>
              <a:blipFill>
                <a:blip r:embed="rId11"/>
                <a:stretch>
                  <a:fillRect b="-930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Box 23"/>
          <p:cNvSpPr txBox="1"/>
          <p:nvPr/>
        </p:nvSpPr>
        <p:spPr>
          <a:xfrm>
            <a:off x="7320140" y="4725147"/>
            <a:ext cx="3048367" cy="1323439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sz="1600" b="1" dirty="0"/>
              <a:t>Note:</a:t>
            </a:r>
            <a:r>
              <a:rPr lang="en-GB" sz="1600" dirty="0"/>
              <a:t> The textbook uses something called ‘</a:t>
            </a:r>
            <a:r>
              <a:rPr lang="en-GB" sz="1600" i="1" dirty="0"/>
              <a:t>CAST diagrams</a:t>
            </a:r>
            <a:r>
              <a:rPr lang="en-GB" sz="1600" dirty="0"/>
              <a:t>’, which is an acronym for which quadrants the </a:t>
            </a:r>
            <a:r>
              <a:rPr lang="en-GB" sz="1600" b="1" dirty="0">
                <a:solidFill>
                  <a:srgbClr val="FFFF00"/>
                </a:solidFill>
              </a:rPr>
              <a:t>C</a:t>
            </a:r>
            <a:r>
              <a:rPr lang="en-GB" sz="1600" dirty="0"/>
              <a:t>osine, </a:t>
            </a:r>
            <a:r>
              <a:rPr lang="en-GB" sz="1600" b="1" dirty="0">
                <a:solidFill>
                  <a:srgbClr val="FFFF00"/>
                </a:solidFill>
              </a:rPr>
              <a:t>A</a:t>
            </a:r>
            <a:r>
              <a:rPr lang="en-GB" sz="1600" dirty="0"/>
              <a:t>ll, </a:t>
            </a:r>
            <a:r>
              <a:rPr lang="en-GB" sz="1600" b="1" dirty="0">
                <a:solidFill>
                  <a:srgbClr val="FFFF00"/>
                </a:solidFill>
              </a:rPr>
              <a:t>S</a:t>
            </a:r>
            <a:r>
              <a:rPr lang="en-GB" sz="1600" dirty="0"/>
              <a:t>ine and </a:t>
            </a:r>
            <a:r>
              <a:rPr lang="en-GB" sz="1600" b="1" dirty="0">
                <a:solidFill>
                  <a:srgbClr val="FFFF00"/>
                </a:solidFill>
              </a:rPr>
              <a:t>T</a:t>
            </a:r>
            <a:r>
              <a:rPr lang="en-GB" sz="1600" dirty="0"/>
              <a:t>angent are positive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19F9963-E0D0-9D50-4BB1-08C845977792}"/>
              </a:ext>
            </a:extLst>
          </p:cNvPr>
          <p:cNvSpPr/>
          <p:nvPr/>
        </p:nvSpPr>
        <p:spPr>
          <a:xfrm>
            <a:off x="7608169" y="2420889"/>
            <a:ext cx="1519783" cy="151978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6D31DE7-819E-C0B6-81CC-7632A7763942}"/>
              </a:ext>
            </a:extLst>
          </p:cNvPr>
          <p:cNvCxnSpPr>
            <a:cxnSpLocks/>
          </p:cNvCxnSpPr>
          <p:nvPr/>
        </p:nvCxnSpPr>
        <p:spPr>
          <a:xfrm flipV="1">
            <a:off x="8387048" y="2204865"/>
            <a:ext cx="0" cy="21970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C3AD894-258D-E352-82B6-D340B383155D}"/>
              </a:ext>
            </a:extLst>
          </p:cNvPr>
          <p:cNvCxnSpPr>
            <a:cxnSpLocks/>
          </p:cNvCxnSpPr>
          <p:nvPr/>
        </p:nvCxnSpPr>
        <p:spPr>
          <a:xfrm>
            <a:off x="7248128" y="3134394"/>
            <a:ext cx="230425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928F046E-44A4-D276-F9CF-6D7B2F356EEF}"/>
              </a:ext>
            </a:extLst>
          </p:cNvPr>
          <p:cNvSpPr txBox="1"/>
          <p:nvPr/>
        </p:nvSpPr>
        <p:spPr>
          <a:xfrm>
            <a:off x="9079244" y="3588834"/>
            <a:ext cx="5196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FF0000"/>
                </a:solidFill>
                <a:highlight>
                  <a:srgbClr val="FFFF00"/>
                </a:highlight>
              </a:rPr>
              <a:t>C</a:t>
            </a:r>
            <a:r>
              <a:rPr lang="en-GB" dirty="0"/>
              <a:t>os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696491C-4046-D9BB-B5CD-F7D01A35716B}"/>
              </a:ext>
            </a:extLst>
          </p:cNvPr>
          <p:cNvSpPr txBox="1"/>
          <p:nvPr/>
        </p:nvSpPr>
        <p:spPr>
          <a:xfrm>
            <a:off x="9008424" y="2255720"/>
            <a:ext cx="13516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FF0000"/>
                </a:solidFill>
                <a:highlight>
                  <a:srgbClr val="FFFF00"/>
                </a:highlight>
              </a:rPr>
              <a:t>A</a:t>
            </a:r>
            <a:r>
              <a:rPr lang="en-GB" dirty="0"/>
              <a:t>ll functions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6D210B2-CB95-0AA5-9BAB-923B84EC2C13}"/>
              </a:ext>
            </a:extLst>
          </p:cNvPr>
          <p:cNvSpPr txBox="1"/>
          <p:nvPr/>
        </p:nvSpPr>
        <p:spPr>
          <a:xfrm>
            <a:off x="7248128" y="2255213"/>
            <a:ext cx="4651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FF0000"/>
                </a:solidFill>
                <a:highlight>
                  <a:srgbClr val="FFFF00"/>
                </a:highlight>
              </a:rPr>
              <a:t>S</a:t>
            </a:r>
            <a:r>
              <a:rPr lang="en-GB" dirty="0"/>
              <a:t>in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45CB3FE-9DBB-4E0E-FC10-865AE672B532}"/>
              </a:ext>
            </a:extLst>
          </p:cNvPr>
          <p:cNvSpPr txBox="1"/>
          <p:nvPr/>
        </p:nvSpPr>
        <p:spPr>
          <a:xfrm>
            <a:off x="7319455" y="3606329"/>
            <a:ext cx="5112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FF0000"/>
                </a:solidFill>
                <a:highlight>
                  <a:srgbClr val="FFFF00"/>
                </a:highlight>
              </a:rPr>
              <a:t>T</a:t>
            </a:r>
            <a:r>
              <a:rPr lang="en-GB" dirty="0"/>
              <a:t>an</a:t>
            </a:r>
          </a:p>
        </p:txBody>
      </p:sp>
    </p:spTree>
    <p:extLst>
      <p:ext uri="{BB962C8B-B14F-4D97-AF65-F5344CB8AC3E}">
        <p14:creationId xmlns:p14="http://schemas.microsoft.com/office/powerpoint/2010/main" val="3084147178"/>
      </p:ext>
    </p:extLst>
  </p:cSld>
  <p:clrMapOvr>
    <a:masterClrMapping/>
  </p:clrMapOvr>
</p:sld>
</file>

<file path=ppt/c10/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7"/>
          <p:cNvGrpSpPr/>
          <p:nvPr/>
        </p:nvGrpSpPr>
        <p:grpSpPr>
          <a:xfrm>
            <a:off x="1524002" y="2"/>
            <a:ext cx="9143075" cy="587744"/>
            <a:chOff x="0" y="13335"/>
            <a:chExt cx="9144218" cy="587744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1" cy="584775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A Few Trigonometric Angle Laws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sp>
        <p:nvSpPr>
          <p:cNvPr id="5" name="TextBox 4"/>
          <p:cNvSpPr txBox="1"/>
          <p:nvPr/>
        </p:nvSpPr>
        <p:spPr>
          <a:xfrm>
            <a:off x="1757627" y="674804"/>
            <a:ext cx="86443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The following are all easily derivable using a quick sketch of a trigonometric graph, and are merely a </a:t>
            </a:r>
            <a:r>
              <a:rPr lang="en-GB" u="sng" dirty="0"/>
              <a:t>convenience</a:t>
            </a:r>
            <a:r>
              <a:rPr lang="en-GB" dirty="0"/>
              <a:t> so you don’t always have to draw out a graph every time.</a:t>
            </a:r>
          </a:p>
          <a:p>
            <a:r>
              <a:rPr lang="en-GB" dirty="0"/>
              <a:t>You are highly encouraged to </a:t>
            </a:r>
            <a:r>
              <a:rPr lang="en-GB" b="1" dirty="0"/>
              <a:t>memorise these </a:t>
            </a:r>
            <a:r>
              <a:rPr lang="en-GB" dirty="0"/>
              <a:t>so that you can do exam questions faster.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2215267" y="2092750"/>
                <a:ext cx="345638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240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en-GB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func>
                      <m:r>
                        <a:rPr lang="en-GB" sz="2400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240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en-GB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180°−</m:t>
                              </m:r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15267" y="2092750"/>
                <a:ext cx="3456384" cy="46166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6"/>
          <p:cNvSpPr/>
          <p:nvPr/>
        </p:nvSpPr>
        <p:spPr>
          <a:xfrm>
            <a:off x="1948061" y="2177807"/>
            <a:ext cx="288032" cy="288032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</a:t>
            </a:r>
          </a:p>
        </p:txBody>
      </p:sp>
      <p:cxnSp>
        <p:nvCxnSpPr>
          <p:cNvPr id="8" name="Straight Arrow Connector 7"/>
          <p:cNvCxnSpPr/>
          <p:nvPr/>
        </p:nvCxnSpPr>
        <p:spPr>
          <a:xfrm flipH="1" flipV="1">
            <a:off x="6454259" y="1870227"/>
            <a:ext cx="6871" cy="9555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 flipV="1">
            <a:off x="6467311" y="2597155"/>
            <a:ext cx="1270169" cy="29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Freeform: Shape 12"/>
          <p:cNvSpPr/>
          <p:nvPr/>
        </p:nvSpPr>
        <p:spPr>
          <a:xfrm>
            <a:off x="6451604" y="2016130"/>
            <a:ext cx="996951" cy="581025"/>
          </a:xfrm>
          <a:custGeom>
            <a:avLst/>
            <a:gdLst>
              <a:gd name="connsiteX0" fmla="*/ 0 w 1057275"/>
              <a:gd name="connsiteY0" fmla="*/ 581025 h 581025"/>
              <a:gd name="connsiteX1" fmla="*/ 571500 w 1057275"/>
              <a:gd name="connsiteY1" fmla="*/ 0 h 581025"/>
              <a:gd name="connsiteX2" fmla="*/ 1057275 w 1057275"/>
              <a:gd name="connsiteY2" fmla="*/ 581025 h 5810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57275" h="581025">
                <a:moveTo>
                  <a:pt x="0" y="581025"/>
                </a:moveTo>
                <a:cubicBezTo>
                  <a:pt x="197644" y="290512"/>
                  <a:pt x="395288" y="0"/>
                  <a:pt x="571500" y="0"/>
                </a:cubicBezTo>
                <a:cubicBezTo>
                  <a:pt x="747712" y="0"/>
                  <a:pt x="902493" y="290512"/>
                  <a:pt x="1057275" y="581025"/>
                </a:cubicBezTo>
              </a:path>
            </a:pathLst>
          </a:cu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7247486" y="2586112"/>
                <a:ext cx="499517" cy="2540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051" i="1">
                          <a:latin typeface="Cambria Math" panose="02040503050406030204" pitchFamily="18" charset="0"/>
                        </a:rPr>
                        <m:t>180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47486" y="2586112"/>
                <a:ext cx="499517" cy="25404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7084706" y="1834819"/>
                <a:ext cx="872899" cy="2540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051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sz="1051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sz="1051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1051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en-GB" sz="105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1051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84706" y="1834819"/>
                <a:ext cx="872899" cy="25404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6468684" y="2579812"/>
                <a:ext cx="499517" cy="2540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051" i="1">
                          <a:latin typeface="Cambria Math" panose="02040503050406030204" pitchFamily="18" charset="0"/>
                        </a:rPr>
                        <m:t>30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8684" y="2579812"/>
                <a:ext cx="499517" cy="25404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6992966" y="2579812"/>
                <a:ext cx="499517" cy="2540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051" i="1">
                          <a:latin typeface="Cambria Math" panose="02040503050406030204" pitchFamily="18" charset="0"/>
                        </a:rPr>
                        <m:t>150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2966" y="2579812"/>
                <a:ext cx="499517" cy="25404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Straight Connector 21"/>
          <p:cNvCxnSpPr/>
          <p:nvPr/>
        </p:nvCxnSpPr>
        <p:spPr>
          <a:xfrm flipH="1">
            <a:off x="6699251" y="2249490"/>
            <a:ext cx="139" cy="35401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 flipH="1">
            <a:off x="7257010" y="2249490"/>
            <a:ext cx="139" cy="35401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 flipH="1">
            <a:off x="6451603" y="2254251"/>
            <a:ext cx="80645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8096254" y="2069688"/>
            <a:ext cx="24098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We saw this in the previous chapter when covering the ‘ambiguous case’ when using the sine rule.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/>
              <p:cNvSpPr txBox="1"/>
              <p:nvPr/>
            </p:nvSpPr>
            <p:spPr>
              <a:xfrm>
                <a:off x="2215267" y="3232574"/>
                <a:ext cx="345638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240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n-GB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func>
                      <m:r>
                        <a:rPr lang="en-GB" sz="2400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240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n-GB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360°−</m:t>
                              </m:r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9" name="Text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15267" y="3232574"/>
                <a:ext cx="3456384" cy="46166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Rectangle 29"/>
          <p:cNvSpPr/>
          <p:nvPr/>
        </p:nvSpPr>
        <p:spPr>
          <a:xfrm>
            <a:off x="1948061" y="3317631"/>
            <a:ext cx="288032" cy="288032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2</a:t>
            </a:r>
          </a:p>
        </p:txBody>
      </p:sp>
      <p:cxnSp>
        <p:nvCxnSpPr>
          <p:cNvPr id="31" name="Straight Arrow Connector 30"/>
          <p:cNvCxnSpPr/>
          <p:nvPr/>
        </p:nvCxnSpPr>
        <p:spPr>
          <a:xfrm flipH="1" flipV="1">
            <a:off x="6466957" y="2989992"/>
            <a:ext cx="6871" cy="9555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/>
          <p:nvPr/>
        </p:nvCxnSpPr>
        <p:spPr>
          <a:xfrm flipV="1">
            <a:off x="6464767" y="3521079"/>
            <a:ext cx="2301411" cy="6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/>
              <p:cNvSpPr txBox="1"/>
              <p:nvPr/>
            </p:nvSpPr>
            <p:spPr>
              <a:xfrm>
                <a:off x="7977418" y="3487756"/>
                <a:ext cx="499517" cy="2540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051" i="1">
                          <a:latin typeface="Cambria Math" panose="02040503050406030204" pitchFamily="18" charset="0"/>
                        </a:rPr>
                        <m:t>330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4" name="TextBox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77418" y="3487756"/>
                <a:ext cx="499517" cy="25404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/>
              <p:cNvSpPr txBox="1"/>
              <p:nvPr/>
            </p:nvSpPr>
            <p:spPr>
              <a:xfrm>
                <a:off x="7516505" y="2911723"/>
                <a:ext cx="872899" cy="2540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051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sz="1051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sz="1051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1051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n-GB" sz="105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1051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16505" y="2911723"/>
                <a:ext cx="872899" cy="25404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/>
              <p:cNvSpPr txBox="1"/>
              <p:nvPr/>
            </p:nvSpPr>
            <p:spPr>
              <a:xfrm>
                <a:off x="6405184" y="3470978"/>
                <a:ext cx="499517" cy="2540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051" i="1">
                          <a:latin typeface="Cambria Math" panose="02040503050406030204" pitchFamily="18" charset="0"/>
                        </a:rPr>
                        <m:t>30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6" name="TextBox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5184" y="3470978"/>
                <a:ext cx="499517" cy="25404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/>
              <p:cNvSpPr txBox="1"/>
              <p:nvPr/>
            </p:nvSpPr>
            <p:spPr>
              <a:xfrm>
                <a:off x="8239153" y="3488440"/>
                <a:ext cx="499517" cy="2540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051" i="1">
                          <a:latin typeface="Cambria Math" panose="02040503050406030204" pitchFamily="18" charset="0"/>
                        </a:rPr>
                        <m:t>360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7" name="TextBox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39153" y="3488440"/>
                <a:ext cx="499517" cy="254044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8" name="Straight Connector 37"/>
          <p:cNvCxnSpPr/>
          <p:nvPr/>
        </p:nvCxnSpPr>
        <p:spPr>
          <a:xfrm>
            <a:off x="6642103" y="3154367"/>
            <a:ext cx="3175" cy="36411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/>
          <p:cNvCxnSpPr/>
          <p:nvPr/>
        </p:nvCxnSpPr>
        <p:spPr>
          <a:xfrm flipH="1">
            <a:off x="8246023" y="3125790"/>
            <a:ext cx="1043" cy="39269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/>
          <p:cNvCxnSpPr/>
          <p:nvPr/>
        </p:nvCxnSpPr>
        <p:spPr>
          <a:xfrm flipH="1">
            <a:off x="6478591" y="3154368"/>
            <a:ext cx="1949451" cy="1010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Freeform: Shape 43"/>
          <p:cNvSpPr/>
          <p:nvPr/>
        </p:nvSpPr>
        <p:spPr>
          <a:xfrm>
            <a:off x="6466844" y="3106320"/>
            <a:ext cx="2008823" cy="828143"/>
          </a:xfrm>
          <a:custGeom>
            <a:avLst/>
            <a:gdLst>
              <a:gd name="connsiteX0" fmla="*/ 0 w 1645920"/>
              <a:gd name="connsiteY0" fmla="*/ 30480 h 845820"/>
              <a:gd name="connsiteX1" fmla="*/ 472440 w 1645920"/>
              <a:gd name="connsiteY1" fmla="*/ 434340 h 845820"/>
              <a:gd name="connsiteX2" fmla="*/ 922020 w 1645920"/>
              <a:gd name="connsiteY2" fmla="*/ 845820 h 845820"/>
              <a:gd name="connsiteX3" fmla="*/ 1318260 w 1645920"/>
              <a:gd name="connsiteY3" fmla="*/ 434340 h 845820"/>
              <a:gd name="connsiteX4" fmla="*/ 1645920 w 1645920"/>
              <a:gd name="connsiteY4" fmla="*/ 0 h 845820"/>
              <a:gd name="connsiteX0" fmla="*/ 0 w 1645920"/>
              <a:gd name="connsiteY0" fmla="*/ 38632 h 853972"/>
              <a:gd name="connsiteX1" fmla="*/ 472440 w 1645920"/>
              <a:gd name="connsiteY1" fmla="*/ 442492 h 853972"/>
              <a:gd name="connsiteX2" fmla="*/ 922020 w 1645920"/>
              <a:gd name="connsiteY2" fmla="*/ 853972 h 853972"/>
              <a:gd name="connsiteX3" fmla="*/ 1318260 w 1645920"/>
              <a:gd name="connsiteY3" fmla="*/ 442492 h 853972"/>
              <a:gd name="connsiteX4" fmla="*/ 1645920 w 1645920"/>
              <a:gd name="connsiteY4" fmla="*/ 8152 h 853972"/>
              <a:gd name="connsiteX0" fmla="*/ 0 w 1645920"/>
              <a:gd name="connsiteY0" fmla="*/ 38217 h 853557"/>
              <a:gd name="connsiteX1" fmla="*/ 472440 w 1645920"/>
              <a:gd name="connsiteY1" fmla="*/ 442077 h 853557"/>
              <a:gd name="connsiteX2" fmla="*/ 922020 w 1645920"/>
              <a:gd name="connsiteY2" fmla="*/ 853557 h 853557"/>
              <a:gd name="connsiteX3" fmla="*/ 1318260 w 1645920"/>
              <a:gd name="connsiteY3" fmla="*/ 442077 h 853557"/>
              <a:gd name="connsiteX4" fmla="*/ 1645920 w 1645920"/>
              <a:gd name="connsiteY4" fmla="*/ 7737 h 853557"/>
              <a:gd name="connsiteX0" fmla="*/ 0 w 1645920"/>
              <a:gd name="connsiteY0" fmla="*/ 38217 h 853557"/>
              <a:gd name="connsiteX1" fmla="*/ 472440 w 1645920"/>
              <a:gd name="connsiteY1" fmla="*/ 442077 h 853557"/>
              <a:gd name="connsiteX2" fmla="*/ 922020 w 1645920"/>
              <a:gd name="connsiteY2" fmla="*/ 853557 h 853557"/>
              <a:gd name="connsiteX3" fmla="*/ 1318260 w 1645920"/>
              <a:gd name="connsiteY3" fmla="*/ 442077 h 853557"/>
              <a:gd name="connsiteX4" fmla="*/ 1645920 w 1645920"/>
              <a:gd name="connsiteY4" fmla="*/ 7737 h 853557"/>
              <a:gd name="connsiteX0" fmla="*/ 0 w 1645920"/>
              <a:gd name="connsiteY0" fmla="*/ 38217 h 853557"/>
              <a:gd name="connsiteX1" fmla="*/ 472440 w 1645920"/>
              <a:gd name="connsiteY1" fmla="*/ 442077 h 853557"/>
              <a:gd name="connsiteX2" fmla="*/ 922020 w 1645920"/>
              <a:gd name="connsiteY2" fmla="*/ 853557 h 853557"/>
              <a:gd name="connsiteX3" fmla="*/ 1318260 w 1645920"/>
              <a:gd name="connsiteY3" fmla="*/ 442077 h 853557"/>
              <a:gd name="connsiteX4" fmla="*/ 1645920 w 1645920"/>
              <a:gd name="connsiteY4" fmla="*/ 7737 h 853557"/>
              <a:gd name="connsiteX0" fmla="*/ 0 w 1645920"/>
              <a:gd name="connsiteY0" fmla="*/ 38217 h 853557"/>
              <a:gd name="connsiteX1" fmla="*/ 472440 w 1645920"/>
              <a:gd name="connsiteY1" fmla="*/ 442077 h 853557"/>
              <a:gd name="connsiteX2" fmla="*/ 922020 w 1645920"/>
              <a:gd name="connsiteY2" fmla="*/ 853557 h 853557"/>
              <a:gd name="connsiteX3" fmla="*/ 1286593 w 1645920"/>
              <a:gd name="connsiteY3" fmla="*/ 442077 h 853557"/>
              <a:gd name="connsiteX4" fmla="*/ 1645920 w 1645920"/>
              <a:gd name="connsiteY4" fmla="*/ 7737 h 853557"/>
              <a:gd name="connsiteX0" fmla="*/ 0 w 1622169"/>
              <a:gd name="connsiteY0" fmla="*/ 15233 h 830573"/>
              <a:gd name="connsiteX1" fmla="*/ 472440 w 1622169"/>
              <a:gd name="connsiteY1" fmla="*/ 419093 h 830573"/>
              <a:gd name="connsiteX2" fmla="*/ 922020 w 1622169"/>
              <a:gd name="connsiteY2" fmla="*/ 830573 h 830573"/>
              <a:gd name="connsiteX3" fmla="*/ 1286593 w 1622169"/>
              <a:gd name="connsiteY3" fmla="*/ 419093 h 830573"/>
              <a:gd name="connsiteX4" fmla="*/ 1622169 w 1622169"/>
              <a:gd name="connsiteY4" fmla="*/ 8566 h 830573"/>
              <a:gd name="connsiteX0" fmla="*/ 0 w 1622169"/>
              <a:gd name="connsiteY0" fmla="*/ 6667 h 822007"/>
              <a:gd name="connsiteX1" fmla="*/ 472440 w 1622169"/>
              <a:gd name="connsiteY1" fmla="*/ 410527 h 822007"/>
              <a:gd name="connsiteX2" fmla="*/ 922020 w 1622169"/>
              <a:gd name="connsiteY2" fmla="*/ 822007 h 822007"/>
              <a:gd name="connsiteX3" fmla="*/ 1286593 w 1622169"/>
              <a:gd name="connsiteY3" fmla="*/ 410527 h 822007"/>
              <a:gd name="connsiteX4" fmla="*/ 1622169 w 1622169"/>
              <a:gd name="connsiteY4" fmla="*/ 0 h 822007"/>
              <a:gd name="connsiteX0" fmla="*/ 0 w 1622169"/>
              <a:gd name="connsiteY0" fmla="*/ 6667 h 822007"/>
              <a:gd name="connsiteX1" fmla="*/ 472440 w 1622169"/>
              <a:gd name="connsiteY1" fmla="*/ 410527 h 822007"/>
              <a:gd name="connsiteX2" fmla="*/ 922020 w 1622169"/>
              <a:gd name="connsiteY2" fmla="*/ 822007 h 822007"/>
              <a:gd name="connsiteX3" fmla="*/ 1286593 w 1622169"/>
              <a:gd name="connsiteY3" fmla="*/ 410527 h 822007"/>
              <a:gd name="connsiteX4" fmla="*/ 1622169 w 1622169"/>
              <a:gd name="connsiteY4" fmla="*/ 0 h 822007"/>
              <a:gd name="connsiteX0" fmla="*/ 0 w 1669670"/>
              <a:gd name="connsiteY0" fmla="*/ 11430 h 826770"/>
              <a:gd name="connsiteX1" fmla="*/ 472440 w 1669670"/>
              <a:gd name="connsiteY1" fmla="*/ 415290 h 826770"/>
              <a:gd name="connsiteX2" fmla="*/ 922020 w 1669670"/>
              <a:gd name="connsiteY2" fmla="*/ 826770 h 826770"/>
              <a:gd name="connsiteX3" fmla="*/ 1286593 w 1669670"/>
              <a:gd name="connsiteY3" fmla="*/ 415290 h 826770"/>
              <a:gd name="connsiteX4" fmla="*/ 1669670 w 1669670"/>
              <a:gd name="connsiteY4" fmla="*/ 0 h 826770"/>
              <a:gd name="connsiteX0" fmla="*/ 0 w 1669670"/>
              <a:gd name="connsiteY0" fmla="*/ 12763 h 828103"/>
              <a:gd name="connsiteX1" fmla="*/ 472440 w 1669670"/>
              <a:gd name="connsiteY1" fmla="*/ 416623 h 828103"/>
              <a:gd name="connsiteX2" fmla="*/ 922020 w 1669670"/>
              <a:gd name="connsiteY2" fmla="*/ 828103 h 828103"/>
              <a:gd name="connsiteX3" fmla="*/ 1286593 w 1669670"/>
              <a:gd name="connsiteY3" fmla="*/ 416623 h 828103"/>
              <a:gd name="connsiteX4" fmla="*/ 1669670 w 1669670"/>
              <a:gd name="connsiteY4" fmla="*/ 1333 h 828103"/>
              <a:gd name="connsiteX0" fmla="*/ 0 w 1669670"/>
              <a:gd name="connsiteY0" fmla="*/ 12803 h 828143"/>
              <a:gd name="connsiteX1" fmla="*/ 472440 w 1669670"/>
              <a:gd name="connsiteY1" fmla="*/ 416663 h 828143"/>
              <a:gd name="connsiteX2" fmla="*/ 922020 w 1669670"/>
              <a:gd name="connsiteY2" fmla="*/ 828143 h 828143"/>
              <a:gd name="connsiteX3" fmla="*/ 1286593 w 1669670"/>
              <a:gd name="connsiteY3" fmla="*/ 416663 h 828143"/>
              <a:gd name="connsiteX4" fmla="*/ 1669670 w 1669670"/>
              <a:gd name="connsiteY4" fmla="*/ 1373 h 828143"/>
              <a:gd name="connsiteX0" fmla="*/ 0 w 1669670"/>
              <a:gd name="connsiteY0" fmla="*/ 12803 h 828143"/>
              <a:gd name="connsiteX1" fmla="*/ 472440 w 1669670"/>
              <a:gd name="connsiteY1" fmla="*/ 416663 h 828143"/>
              <a:gd name="connsiteX2" fmla="*/ 922020 w 1669670"/>
              <a:gd name="connsiteY2" fmla="*/ 828143 h 828143"/>
              <a:gd name="connsiteX3" fmla="*/ 1286593 w 1669670"/>
              <a:gd name="connsiteY3" fmla="*/ 416663 h 828143"/>
              <a:gd name="connsiteX4" fmla="*/ 1669670 w 1669670"/>
              <a:gd name="connsiteY4" fmla="*/ 1373 h 828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69670" h="828143">
                <a:moveTo>
                  <a:pt x="0" y="12803"/>
                </a:moveTo>
                <a:cubicBezTo>
                  <a:pt x="235585" y="-13232"/>
                  <a:pt x="364490" y="204573"/>
                  <a:pt x="472440" y="416663"/>
                </a:cubicBezTo>
                <a:cubicBezTo>
                  <a:pt x="580390" y="628753"/>
                  <a:pt x="786328" y="828143"/>
                  <a:pt x="922020" y="828143"/>
                </a:cubicBezTo>
                <a:cubicBezTo>
                  <a:pt x="1057712" y="828143"/>
                  <a:pt x="1213445" y="573508"/>
                  <a:pt x="1286593" y="416663"/>
                </a:cubicBezTo>
                <a:cubicBezTo>
                  <a:pt x="1347866" y="269343"/>
                  <a:pt x="1310846" y="-22439"/>
                  <a:pt x="1669670" y="1373"/>
                </a:cubicBezTo>
              </a:path>
            </a:pathLst>
          </a:cu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/>
              <p:cNvSpPr txBox="1"/>
              <p:nvPr/>
            </p:nvSpPr>
            <p:spPr>
              <a:xfrm>
                <a:off x="2663613" y="2490471"/>
                <a:ext cx="284818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600" dirty="0"/>
                  <a:t>e.g.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160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d>
                          <m:dPr>
                            <m:ctrlPr>
                              <a:rPr lang="en-GB" sz="1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1600" i="1">
                                <a:latin typeface="Cambria Math" panose="02040503050406030204" pitchFamily="18" charset="0"/>
                              </a:rPr>
                              <m:t>150°</m:t>
                            </m:r>
                          </m:e>
                        </m:d>
                      </m:e>
                    </m:func>
                    <m:r>
                      <a:rPr lang="en-GB" sz="1600" i="1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160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d>
                          <m:dPr>
                            <m:ctrlPr>
                              <a:rPr lang="en-GB" sz="1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1600" i="1">
                                <a:latin typeface="Cambria Math" panose="02040503050406030204" pitchFamily="18" charset="0"/>
                              </a:rPr>
                              <m:t>30°</m:t>
                            </m:r>
                          </m:e>
                        </m:d>
                      </m:e>
                    </m:func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50" name="TextBox 4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3613" y="2490471"/>
                <a:ext cx="2848188" cy="338554"/>
              </a:xfrm>
              <a:prstGeom prst="rect">
                <a:avLst/>
              </a:prstGeom>
              <a:blipFill>
                <a:blip r:embed="rId11"/>
                <a:stretch>
                  <a:fillRect l="-889" t="-7407" b="-2222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/>
              <p:cNvSpPr txBox="1"/>
              <p:nvPr/>
            </p:nvSpPr>
            <p:spPr>
              <a:xfrm>
                <a:off x="2674463" y="3655223"/>
                <a:ext cx="2888139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600" dirty="0"/>
                  <a:t>e.g.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160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d>
                          <m:dPr>
                            <m:ctrlPr>
                              <a:rPr lang="en-GB" sz="1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1600" i="1">
                                <a:latin typeface="Cambria Math" panose="02040503050406030204" pitchFamily="18" charset="0"/>
                              </a:rPr>
                              <m:t>330°</m:t>
                            </m:r>
                          </m:e>
                        </m:d>
                      </m:e>
                    </m:func>
                    <m:r>
                      <a:rPr lang="en-GB" sz="1600" i="1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160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d>
                          <m:dPr>
                            <m:ctrlPr>
                              <a:rPr lang="en-GB" sz="1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1600" i="1">
                                <a:latin typeface="Cambria Math" panose="02040503050406030204" pitchFamily="18" charset="0"/>
                              </a:rPr>
                              <m:t>30°</m:t>
                            </m:r>
                          </m:e>
                        </m:d>
                      </m:e>
                    </m:func>
                  </m:oMath>
                </a14:m>
                <a:endParaRPr lang="en-GB" sz="1600" dirty="0"/>
              </a:p>
            </p:txBody>
          </p:sp>
        </mc:Choice>
        <mc:Fallback xmlns="">
          <p:sp>
            <p:nvSpPr>
              <p:cNvPr id="51" name="TextBox 5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74463" y="3655223"/>
                <a:ext cx="2888139" cy="338554"/>
              </a:xfrm>
              <a:prstGeom prst="rect">
                <a:avLst/>
              </a:prstGeom>
              <a:blipFill>
                <a:blip r:embed="rId12"/>
                <a:stretch>
                  <a:fillRect l="-1310" t="-7407" b="-2222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/>
              <p:cNvSpPr txBox="1"/>
              <p:nvPr/>
            </p:nvSpPr>
            <p:spPr>
              <a:xfrm>
                <a:off x="2341332" y="4183051"/>
                <a:ext cx="4152007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sz="2400" i="1">
                        <a:latin typeface="Cambria Math" panose="02040503050406030204" pitchFamily="18" charset="0"/>
                      </a:rPr>
                      <m:t>𝑠𝑖𝑛</m:t>
                    </m:r>
                  </m:oMath>
                </a14:m>
                <a:r>
                  <a:rPr lang="en-GB" sz="2400" dirty="0"/>
                  <a:t> and </a:t>
                </a:r>
                <a14:m>
                  <m:oMath xmlns:m="http://schemas.openxmlformats.org/officeDocument/2006/math">
                    <m:r>
                      <a:rPr lang="en-GB" sz="2400" i="1">
                        <a:latin typeface="Cambria Math" panose="02040503050406030204" pitchFamily="18" charset="0"/>
                      </a:rPr>
                      <m:t>𝑐𝑜𝑠</m:t>
                    </m:r>
                  </m:oMath>
                </a14:m>
                <a:r>
                  <a:rPr lang="en-GB" sz="2400" dirty="0"/>
                  <a:t> repeat every </a:t>
                </a:r>
                <a14:m>
                  <m:oMath xmlns:m="http://schemas.openxmlformats.org/officeDocument/2006/math">
                    <m:r>
                      <a:rPr lang="en-GB" sz="2400" i="1">
                        <a:latin typeface="Cambria Math" panose="02040503050406030204" pitchFamily="18" charset="0"/>
                      </a:rPr>
                      <m:t>360°</m:t>
                    </m:r>
                  </m:oMath>
                </a14:m>
                <a:endParaRPr lang="en-GB" sz="2400" dirty="0"/>
              </a:p>
              <a:p>
                <a:r>
                  <a:rPr lang="en-GB" sz="2400" dirty="0"/>
                  <a:t>but </a:t>
                </a:r>
                <a14:m>
                  <m:oMath xmlns:m="http://schemas.openxmlformats.org/officeDocument/2006/math">
                    <m:r>
                      <a:rPr lang="en-GB" sz="2400" i="1">
                        <a:latin typeface="Cambria Math" panose="02040503050406030204" pitchFamily="18" charset="0"/>
                      </a:rPr>
                      <m:t>𝑡𝑎𝑛</m:t>
                    </m:r>
                  </m:oMath>
                </a14:m>
                <a:r>
                  <a:rPr lang="en-GB" sz="2400" dirty="0"/>
                  <a:t> every </a:t>
                </a:r>
                <a14:m>
                  <m:oMath xmlns:m="http://schemas.openxmlformats.org/officeDocument/2006/math">
                    <m:r>
                      <a:rPr lang="en-GB" sz="2400" i="1">
                        <a:latin typeface="Cambria Math" panose="02040503050406030204" pitchFamily="18" charset="0"/>
                      </a:rPr>
                      <m:t>180°</m:t>
                    </m:r>
                  </m:oMath>
                </a14:m>
                <a:endParaRPr lang="en-GB" sz="2400" dirty="0"/>
              </a:p>
            </p:txBody>
          </p:sp>
        </mc:Choice>
        <mc:Fallback xmlns="">
          <p:sp>
            <p:nvSpPr>
              <p:cNvPr id="52" name="TextBox 5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41332" y="4183051"/>
                <a:ext cx="4152007" cy="830997"/>
              </a:xfrm>
              <a:prstGeom prst="rect">
                <a:avLst/>
              </a:prstGeom>
              <a:blipFill>
                <a:blip r:embed="rId13"/>
                <a:stretch>
                  <a:fillRect l="-2439" t="-4478" b="-1343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3" name="Rectangle 52"/>
          <p:cNvSpPr/>
          <p:nvPr/>
        </p:nvSpPr>
        <p:spPr>
          <a:xfrm>
            <a:off x="1952576" y="4343155"/>
            <a:ext cx="288032" cy="288032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/>
              <p:cNvSpPr txBox="1"/>
              <p:nvPr/>
            </p:nvSpPr>
            <p:spPr>
              <a:xfrm>
                <a:off x="2682733" y="4956878"/>
                <a:ext cx="2888139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600" dirty="0"/>
                  <a:t>e.g.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160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d>
                          <m:dPr>
                            <m:ctrlPr>
                              <a:rPr lang="en-GB" sz="1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1600" i="1">
                                <a:latin typeface="Cambria Math" panose="02040503050406030204" pitchFamily="18" charset="0"/>
                              </a:rPr>
                              <m:t>390°</m:t>
                            </m:r>
                          </m:e>
                        </m:d>
                      </m:e>
                    </m:func>
                    <m:r>
                      <a:rPr lang="en-GB" sz="1600" i="1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160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d>
                          <m:dPr>
                            <m:ctrlPr>
                              <a:rPr lang="en-GB" sz="1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1600" i="1">
                                <a:latin typeface="Cambria Math" panose="02040503050406030204" pitchFamily="18" charset="0"/>
                              </a:rPr>
                              <m:t>30°</m:t>
                            </m:r>
                          </m:e>
                        </m:d>
                      </m:e>
                    </m:func>
                  </m:oMath>
                </a14:m>
                <a:endParaRPr lang="en-GB" sz="1600" dirty="0"/>
              </a:p>
            </p:txBody>
          </p:sp>
        </mc:Choice>
        <mc:Fallback xmlns="">
          <p:sp>
            <p:nvSpPr>
              <p:cNvPr id="54" name="TextBox 5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2733" y="4956878"/>
                <a:ext cx="2888139" cy="338554"/>
              </a:xfrm>
              <a:prstGeom prst="rect">
                <a:avLst/>
              </a:prstGeom>
              <a:blipFill>
                <a:blip r:embed="rId14"/>
                <a:stretch>
                  <a:fillRect l="-1316" t="-7143" b="-1785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5" name="Straight Arrow Connector 54"/>
          <p:cNvCxnSpPr/>
          <p:nvPr/>
        </p:nvCxnSpPr>
        <p:spPr>
          <a:xfrm flipH="1" flipV="1">
            <a:off x="6580053" y="4213729"/>
            <a:ext cx="6871" cy="9555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6" name="Straight Arrow Connector 55"/>
          <p:cNvCxnSpPr/>
          <p:nvPr/>
        </p:nvCxnSpPr>
        <p:spPr>
          <a:xfrm flipV="1">
            <a:off x="6577866" y="4724400"/>
            <a:ext cx="3080489" cy="210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/>
              <p:cNvSpPr txBox="1"/>
              <p:nvPr/>
            </p:nvSpPr>
            <p:spPr>
              <a:xfrm>
                <a:off x="7058101" y="4192609"/>
                <a:ext cx="872899" cy="2540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051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sz="1051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sz="1051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1051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en-GB" sz="105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1051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58" name="TextBox 5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58101" y="4192609"/>
                <a:ext cx="872899" cy="254044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/>
              <p:cNvSpPr txBox="1"/>
              <p:nvPr/>
            </p:nvSpPr>
            <p:spPr>
              <a:xfrm>
                <a:off x="6556380" y="4720115"/>
                <a:ext cx="499517" cy="2540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051" i="1">
                          <a:latin typeface="Cambria Math" panose="02040503050406030204" pitchFamily="18" charset="0"/>
                        </a:rPr>
                        <m:t>30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59" name="TextBox 5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6380" y="4720115"/>
                <a:ext cx="499517" cy="254044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/>
              <p:cNvSpPr txBox="1"/>
              <p:nvPr/>
            </p:nvSpPr>
            <p:spPr>
              <a:xfrm>
                <a:off x="7771224" y="4693127"/>
                <a:ext cx="499517" cy="2540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051" i="1">
                          <a:latin typeface="Cambria Math" panose="02040503050406030204" pitchFamily="18" charset="0"/>
                        </a:rPr>
                        <m:t>360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60" name="TextBox 5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71224" y="4693127"/>
                <a:ext cx="499517" cy="254044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5" name="Freeform: Shape 64"/>
          <p:cNvSpPr/>
          <p:nvPr/>
        </p:nvSpPr>
        <p:spPr>
          <a:xfrm>
            <a:off x="6591180" y="4349999"/>
            <a:ext cx="1463799" cy="796676"/>
          </a:xfrm>
          <a:custGeom>
            <a:avLst/>
            <a:gdLst>
              <a:gd name="connsiteX0" fmla="*/ 0 w 3476625"/>
              <a:gd name="connsiteY0" fmla="*/ 1152525 h 2362209"/>
              <a:gd name="connsiteX1" fmla="*/ 885825 w 3476625"/>
              <a:gd name="connsiteY1" fmla="*/ 0 h 2362209"/>
              <a:gd name="connsiteX2" fmla="*/ 1752600 w 3476625"/>
              <a:gd name="connsiteY2" fmla="*/ 1152525 h 2362209"/>
              <a:gd name="connsiteX3" fmla="*/ 2657475 w 3476625"/>
              <a:gd name="connsiteY3" fmla="*/ 2362200 h 2362209"/>
              <a:gd name="connsiteX4" fmla="*/ 3476625 w 3476625"/>
              <a:gd name="connsiteY4" fmla="*/ 1133475 h 23622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76625" h="2362209">
                <a:moveTo>
                  <a:pt x="0" y="1152525"/>
                </a:moveTo>
                <a:cubicBezTo>
                  <a:pt x="296862" y="576262"/>
                  <a:pt x="593725" y="0"/>
                  <a:pt x="885825" y="0"/>
                </a:cubicBezTo>
                <a:cubicBezTo>
                  <a:pt x="1177925" y="0"/>
                  <a:pt x="1752600" y="1152525"/>
                  <a:pt x="1752600" y="1152525"/>
                </a:cubicBezTo>
                <a:cubicBezTo>
                  <a:pt x="2047875" y="1546225"/>
                  <a:pt x="2370138" y="2365375"/>
                  <a:pt x="2657475" y="2362200"/>
                </a:cubicBezTo>
                <a:cubicBezTo>
                  <a:pt x="2944812" y="2359025"/>
                  <a:pt x="3210718" y="1746250"/>
                  <a:pt x="3476625" y="1133475"/>
                </a:cubicBezTo>
              </a:path>
            </a:pathLst>
          </a:cu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6" name="Freeform: Shape 65"/>
          <p:cNvSpPr/>
          <p:nvPr/>
        </p:nvSpPr>
        <p:spPr>
          <a:xfrm>
            <a:off x="8055981" y="4349999"/>
            <a:ext cx="1463799" cy="796676"/>
          </a:xfrm>
          <a:custGeom>
            <a:avLst/>
            <a:gdLst>
              <a:gd name="connsiteX0" fmla="*/ 0 w 3476625"/>
              <a:gd name="connsiteY0" fmla="*/ 1152525 h 2362209"/>
              <a:gd name="connsiteX1" fmla="*/ 885825 w 3476625"/>
              <a:gd name="connsiteY1" fmla="*/ 0 h 2362209"/>
              <a:gd name="connsiteX2" fmla="*/ 1752600 w 3476625"/>
              <a:gd name="connsiteY2" fmla="*/ 1152525 h 2362209"/>
              <a:gd name="connsiteX3" fmla="*/ 2657475 w 3476625"/>
              <a:gd name="connsiteY3" fmla="*/ 2362200 h 2362209"/>
              <a:gd name="connsiteX4" fmla="*/ 3476625 w 3476625"/>
              <a:gd name="connsiteY4" fmla="*/ 1133475 h 23622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76625" h="2362209">
                <a:moveTo>
                  <a:pt x="0" y="1152525"/>
                </a:moveTo>
                <a:cubicBezTo>
                  <a:pt x="296862" y="576262"/>
                  <a:pt x="593725" y="0"/>
                  <a:pt x="885825" y="0"/>
                </a:cubicBezTo>
                <a:cubicBezTo>
                  <a:pt x="1177925" y="0"/>
                  <a:pt x="1752600" y="1152525"/>
                  <a:pt x="1752600" y="1152525"/>
                </a:cubicBezTo>
                <a:cubicBezTo>
                  <a:pt x="2047875" y="1546225"/>
                  <a:pt x="2370138" y="2365375"/>
                  <a:pt x="2657475" y="2362200"/>
                </a:cubicBezTo>
                <a:cubicBezTo>
                  <a:pt x="2944812" y="2359025"/>
                  <a:pt x="3210718" y="1746250"/>
                  <a:pt x="3476625" y="1133475"/>
                </a:cubicBezTo>
              </a:path>
            </a:pathLst>
          </a:cu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/>
              <p:cNvSpPr txBox="1"/>
              <p:nvPr/>
            </p:nvSpPr>
            <p:spPr>
              <a:xfrm>
                <a:off x="8027494" y="4696694"/>
                <a:ext cx="499517" cy="2540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051" i="1">
                          <a:latin typeface="Cambria Math" panose="02040503050406030204" pitchFamily="18" charset="0"/>
                        </a:rPr>
                        <m:t>390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68" name="TextBox 6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27494" y="4696694"/>
                <a:ext cx="499517" cy="254044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0" name="Straight Connector 69"/>
          <p:cNvCxnSpPr/>
          <p:nvPr/>
        </p:nvCxnSpPr>
        <p:spPr>
          <a:xfrm>
            <a:off x="6796614" y="4447932"/>
            <a:ext cx="4241" cy="29075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/>
          <p:cNvCxnSpPr/>
          <p:nvPr/>
        </p:nvCxnSpPr>
        <p:spPr>
          <a:xfrm>
            <a:off x="8263054" y="4453120"/>
            <a:ext cx="4241" cy="29075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Box 74"/>
              <p:cNvSpPr txBox="1"/>
              <p:nvPr/>
            </p:nvSpPr>
            <p:spPr>
              <a:xfrm>
                <a:off x="9203182" y="4706228"/>
                <a:ext cx="499517" cy="2540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051" i="1">
                          <a:latin typeface="Cambria Math" panose="02040503050406030204" pitchFamily="18" charset="0"/>
                        </a:rPr>
                        <m:t>720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75" name="TextBox 7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03182" y="4706228"/>
                <a:ext cx="499517" cy="254044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" name="TextBox 75"/>
              <p:cNvSpPr txBox="1"/>
              <p:nvPr/>
            </p:nvSpPr>
            <p:spPr>
              <a:xfrm>
                <a:off x="2339508" y="5587406"/>
                <a:ext cx="415200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func>
                      <m:func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240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d>
                          <m:dPr>
                            <m:ctrlPr>
                              <a:rPr lang="en-GB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func>
                    <m:r>
                      <a:rPr lang="en-GB" sz="2400" i="1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240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d>
                          <m:dPr>
                            <m:ctrlPr>
                              <a:rPr lang="en-GB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2400" i="1">
                                <a:latin typeface="Cambria Math" panose="02040503050406030204" pitchFamily="18" charset="0"/>
                              </a:rPr>
                              <m:t>90°−</m:t>
                            </m:r>
                            <m:r>
                              <a:rPr lang="en-GB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func>
                  </m:oMath>
                </a14:m>
                <a:r>
                  <a:rPr lang="en-GB" sz="2400" dirty="0"/>
                  <a:t> </a:t>
                </a:r>
              </a:p>
            </p:txBody>
          </p:sp>
        </mc:Choice>
        <mc:Fallback xmlns="">
          <p:sp>
            <p:nvSpPr>
              <p:cNvPr id="76" name="TextBox 7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9508" y="5587406"/>
                <a:ext cx="4152007" cy="461665"/>
              </a:xfrm>
              <a:prstGeom prst="rect">
                <a:avLst/>
              </a:prstGeom>
              <a:blipFill>
                <a:blip r:embed="rId20"/>
                <a:stretch>
                  <a:fillRect l="-30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7" name="Rectangle 76"/>
          <p:cNvSpPr/>
          <p:nvPr/>
        </p:nvSpPr>
        <p:spPr>
          <a:xfrm>
            <a:off x="1948061" y="5674219"/>
            <a:ext cx="288032" cy="288032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4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317803" y="5523429"/>
            <a:ext cx="373368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Remember from the previous chapter that “cosine” by definition is the sine of the “complementary” angle.</a:t>
            </a:r>
          </a:p>
          <a:p>
            <a:r>
              <a:rPr lang="en-GB" sz="1200" dirty="0"/>
              <a:t>This was/is never covered in the textbook but caught everyone by surprise when it came up in a C3 exam.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0" name="TextBox 79"/>
              <p:cNvSpPr txBox="1"/>
              <p:nvPr/>
            </p:nvSpPr>
            <p:spPr>
              <a:xfrm>
                <a:off x="2640655" y="6031667"/>
                <a:ext cx="2888139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600" dirty="0"/>
                  <a:t>e.g.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160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d>
                          <m:dPr>
                            <m:ctrlPr>
                              <a:rPr lang="en-GB" sz="1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1600" i="1">
                                <a:latin typeface="Cambria Math" panose="02040503050406030204" pitchFamily="18" charset="0"/>
                              </a:rPr>
                              <m:t>50°</m:t>
                            </m:r>
                          </m:e>
                        </m:d>
                      </m:e>
                    </m:func>
                    <m:r>
                      <a:rPr lang="en-GB" sz="1600" i="1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160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d>
                          <m:dPr>
                            <m:ctrlPr>
                              <a:rPr lang="en-GB" sz="1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1600" i="1">
                                <a:latin typeface="Cambria Math" panose="02040503050406030204" pitchFamily="18" charset="0"/>
                              </a:rPr>
                              <m:t>40°</m:t>
                            </m:r>
                          </m:e>
                        </m:d>
                      </m:e>
                    </m:func>
                  </m:oMath>
                </a14:m>
                <a:endParaRPr lang="en-GB" sz="1600" dirty="0"/>
              </a:p>
            </p:txBody>
          </p:sp>
        </mc:Choice>
        <mc:Fallback xmlns="">
          <p:sp>
            <p:nvSpPr>
              <p:cNvPr id="80" name="TextBox 7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0655" y="6031667"/>
                <a:ext cx="2888139" cy="338554"/>
              </a:xfrm>
              <a:prstGeom prst="rect">
                <a:avLst/>
              </a:prstGeom>
              <a:blipFill>
                <a:blip r:embed="rId21"/>
                <a:stretch>
                  <a:fillRect l="-873" t="-3571" b="-2142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672295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00"/>
                            </p:stCondLst>
                            <p:childTnLst>
                              <p:par>
                                <p:cTn id="6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500"/>
                            </p:stCondLst>
                            <p:childTnLst>
                              <p:par>
                                <p:cTn id="10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6" fill="hold">
                            <p:stCondLst>
                              <p:cond delay="500"/>
                            </p:stCondLst>
                            <p:childTnLst>
                              <p:par>
                                <p:cTn id="14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 animBg="1"/>
      <p:bldP spid="13" grpId="0" animBg="1"/>
      <p:bldP spid="15" grpId="0"/>
      <p:bldP spid="16" grpId="0"/>
      <p:bldP spid="17" grpId="0"/>
      <p:bldP spid="18" grpId="0"/>
      <p:bldP spid="28" grpId="0"/>
      <p:bldP spid="29" grpId="0"/>
      <p:bldP spid="30" grpId="0" animBg="1"/>
      <p:bldP spid="34" grpId="0"/>
      <p:bldP spid="35" grpId="0"/>
      <p:bldP spid="36" grpId="0"/>
      <p:bldP spid="37" grpId="0"/>
      <p:bldP spid="44" grpId="0" animBg="1"/>
      <p:bldP spid="50" grpId="0"/>
      <p:bldP spid="51" grpId="0"/>
      <p:bldP spid="52" grpId="0"/>
      <p:bldP spid="53" grpId="0" animBg="1"/>
      <p:bldP spid="54" grpId="0"/>
      <p:bldP spid="58" grpId="0"/>
      <p:bldP spid="59" grpId="0"/>
      <p:bldP spid="60" grpId="0"/>
      <p:bldP spid="65" grpId="0" animBg="1"/>
      <p:bldP spid="66" grpId="0" animBg="1"/>
      <p:bldP spid="68" grpId="0"/>
      <p:bldP spid="75" grpId="0"/>
      <p:bldP spid="76" grpId="0"/>
      <p:bldP spid="77" grpId="0" animBg="1"/>
      <p:bldP spid="79" grpId="0"/>
      <p:bldP spid="80" grpId="0"/>
    </p:bldLst>
  </p:timing>
</p:sld>
</file>

<file path=ppt/c10/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7"/>
          <p:cNvGrpSpPr/>
          <p:nvPr/>
        </p:nvGrpSpPr>
        <p:grpSpPr>
          <a:xfrm>
            <a:off x="1524002" y="2"/>
            <a:ext cx="9143075" cy="587744"/>
            <a:chOff x="0" y="13335"/>
            <a:chExt cx="9144218" cy="587744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1" cy="584775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Examples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sp>
        <p:nvSpPr>
          <p:cNvPr id="5" name="TextBox 4"/>
          <p:cNvSpPr txBox="1"/>
          <p:nvPr/>
        </p:nvSpPr>
        <p:spPr>
          <a:xfrm>
            <a:off x="1919536" y="836712"/>
            <a:ext cx="7560840" cy="369332"/>
          </a:xfrm>
          <a:prstGeom prst="rect">
            <a:avLst/>
          </a:prstGeom>
          <a:solidFill>
            <a:schemeClr val="bg1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dirty="0"/>
              <a:t>Without a calculator, work out the value of each below.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7788922" y="1658779"/>
                <a:ext cx="2677060" cy="2062103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sz="1600" dirty="0"/>
                  <a:t>Use the ‘laws’ where you can, but otherwise just draw out a quick sketch of the graph.</a:t>
                </a:r>
              </a:p>
              <a:p>
                <a:endParaRPr lang="en-GB" sz="1600" dirty="0"/>
              </a:p>
              <a:p>
                <a:pPr marL="285744" indent="-285744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func>
                      <m:func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160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d>
                          <m:dPr>
                            <m:ctrlPr>
                              <a:rPr lang="en-GB" sz="1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16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func>
                    <m:r>
                      <a:rPr lang="en-GB" sz="1600" i="1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160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d>
                          <m:dPr>
                            <m:ctrlPr>
                              <a:rPr lang="en-GB" sz="1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1600" i="1">
                                <a:latin typeface="Cambria Math" panose="02040503050406030204" pitchFamily="18" charset="0"/>
                              </a:rPr>
                              <m:t>180−</m:t>
                            </m:r>
                            <m:r>
                              <a:rPr lang="en-GB" sz="16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func>
                  </m:oMath>
                </a14:m>
                <a:endParaRPr lang="en-GB" sz="1600" dirty="0"/>
              </a:p>
              <a:p>
                <a:pPr marL="285744" indent="-285744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func>
                      <m:func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160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d>
                          <m:dPr>
                            <m:ctrlPr>
                              <a:rPr lang="en-GB" sz="1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16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func>
                    <m:r>
                      <a:rPr lang="en-GB" sz="1600" i="1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160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d>
                          <m:dPr>
                            <m:ctrlPr>
                              <a:rPr lang="en-GB" sz="1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1600" i="1">
                                <a:latin typeface="Cambria Math" panose="02040503050406030204" pitchFamily="18" charset="0"/>
                              </a:rPr>
                              <m:t>360−</m:t>
                            </m:r>
                            <m:r>
                              <a:rPr lang="en-GB" sz="16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func>
                  </m:oMath>
                </a14:m>
                <a:endParaRPr lang="en-GB" sz="1600" dirty="0"/>
              </a:p>
              <a:p>
                <a:pPr marL="285744" indent="-285744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𝑠𝑖𝑛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𝑐𝑜𝑠</m:t>
                    </m:r>
                  </m:oMath>
                </a14:m>
                <a:r>
                  <a:rPr lang="en-GB" sz="1600" dirty="0"/>
                  <a:t> repeat every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360°</m:t>
                    </m:r>
                  </m:oMath>
                </a14:m>
                <a:r>
                  <a:rPr lang="en-GB" sz="1600" dirty="0"/>
                  <a:t> but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𝑡𝑎𝑛</m:t>
                    </m:r>
                  </m:oMath>
                </a14:m>
                <a:r>
                  <a:rPr lang="en-GB" sz="1600" dirty="0"/>
                  <a:t> every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180°</m:t>
                    </m:r>
                  </m:oMath>
                </a14:m>
                <a:endParaRPr lang="en-GB" sz="16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88922" y="1658779"/>
                <a:ext cx="2677060" cy="2062103"/>
              </a:xfrm>
              <a:prstGeom prst="rect">
                <a:avLst/>
              </a:prstGeom>
              <a:blipFill>
                <a:blip r:embed="rId2"/>
                <a:stretch>
                  <a:fillRect l="-935" r="-935" b="-242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1901169" y="1849955"/>
                <a:ext cx="3522087" cy="36506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>
                              <a:latin typeface="Cambria Math" panose="02040503050406030204" pitchFamily="18" charset="0"/>
                            </a:rPr>
                            <m:t>tan</m:t>
                          </m:r>
                        </m:fName>
                        <m:e>
                          <m:d>
                            <m:d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225°</m:t>
                              </m:r>
                            </m:e>
                          </m:d>
                        </m:e>
                      </m:func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b="1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GB" b="1">
                              <a:latin typeface="Cambria Math" panose="02040503050406030204" pitchFamily="18" charset="0"/>
                            </a:rPr>
                            <m:t>𝐭𝐚𝐧</m:t>
                          </m:r>
                        </m:fName>
                        <m:e>
                          <m:d>
                            <m:dPr>
                              <m:ctrlPr>
                                <a:rPr lang="en-GB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b="1" i="1">
                                  <a:latin typeface="Cambria Math" panose="02040503050406030204" pitchFamily="18" charset="0"/>
                                </a:rPr>
                                <m:t>𝟒𝟓</m:t>
                              </m:r>
                              <m:r>
                                <a:rPr lang="en-GB" b="1" i="1">
                                  <a:latin typeface="Cambria Math" panose="02040503050406030204" pitchFamily="18" charset="0"/>
                                </a:rPr>
                                <m:t>°</m:t>
                              </m:r>
                            </m:e>
                          </m:d>
                        </m:e>
                      </m:func>
                      <m:r>
                        <a:rPr lang="en-GB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GB" b="1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>
                              <a:latin typeface="Cambria Math" panose="02040503050406030204" pitchFamily="18" charset="0"/>
                            </a:rPr>
                            <m:t>tan</m:t>
                          </m:r>
                        </m:fName>
                        <m:e>
                          <m:d>
                            <m:d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210°</m:t>
                              </m:r>
                            </m:e>
                          </m:d>
                        </m:e>
                      </m:func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b="1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GB" b="1">
                              <a:latin typeface="Cambria Math" panose="02040503050406030204" pitchFamily="18" charset="0"/>
                            </a:rPr>
                            <m:t>𝐭𝐚𝐧</m:t>
                          </m:r>
                        </m:fName>
                        <m:e>
                          <m:d>
                            <m:dPr>
                              <m:ctrlPr>
                                <a:rPr lang="en-GB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b="1" i="1">
                                  <a:latin typeface="Cambria Math" panose="02040503050406030204" pitchFamily="18" charset="0"/>
                                </a:rPr>
                                <m:t>𝟑𝟎</m:t>
                              </m:r>
                              <m:r>
                                <a:rPr lang="en-GB" b="1" i="1">
                                  <a:latin typeface="Cambria Math" panose="02040503050406030204" pitchFamily="18" charset="0"/>
                                </a:rPr>
                                <m:t>°</m:t>
                              </m:r>
                            </m:e>
                          </m:d>
                        </m:e>
                      </m:func>
                      <m:r>
                        <a:rPr lang="en-GB" b="1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GB" b="1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b="1" i="1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e>
                          </m:rad>
                        </m:den>
                      </m:f>
                    </m:oMath>
                    <m:oMath xmlns:m="http://schemas.openxmlformats.org/officeDocument/2006/math">
                      <m:func>
                        <m:func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150°</m:t>
                              </m:r>
                            </m:e>
                          </m:d>
                        </m:e>
                      </m:func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b="1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GB" b="1">
                              <a:latin typeface="Cambria Math" panose="02040503050406030204" pitchFamily="18" charset="0"/>
                            </a:rPr>
                            <m:t>𝐬𝐢𝐧</m:t>
                          </m:r>
                        </m:fName>
                        <m:e>
                          <m:d>
                            <m:dPr>
                              <m:ctrlPr>
                                <a:rPr lang="en-GB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b="1" i="1">
                                  <a:latin typeface="Cambria Math" panose="02040503050406030204" pitchFamily="18" charset="0"/>
                                </a:rPr>
                                <m:t>𝟑𝟎</m:t>
                              </m:r>
                              <m:r>
                                <a:rPr lang="en-GB" b="1" i="1">
                                  <a:latin typeface="Cambria Math" panose="02040503050406030204" pitchFamily="18" charset="0"/>
                                </a:rPr>
                                <m:t>°</m:t>
                              </m:r>
                            </m:e>
                          </m:d>
                        </m:e>
                      </m:func>
                      <m:r>
                        <a:rPr lang="en-GB" b="1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</m:oMath>
                    <m:oMath xmlns:m="http://schemas.openxmlformats.org/officeDocument/2006/math">
                      <m:func>
                        <m:func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300°</m:t>
                              </m:r>
                            </m:e>
                          </m:d>
                        </m:e>
                      </m:func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b="1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GB" b="1">
                              <a:latin typeface="Cambria Math" panose="02040503050406030204" pitchFamily="18" charset="0"/>
                            </a:rPr>
                            <m:t>𝐜𝐨𝐬</m:t>
                          </m:r>
                        </m:fName>
                        <m:e>
                          <m:d>
                            <m:dPr>
                              <m:ctrlPr>
                                <a:rPr lang="en-GB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b="1" i="1">
                                  <a:latin typeface="Cambria Math" panose="02040503050406030204" pitchFamily="18" charset="0"/>
                                </a:rPr>
                                <m:t>𝟔𝟎</m:t>
                              </m:r>
                              <m:r>
                                <a:rPr lang="en-GB" b="1" i="1">
                                  <a:latin typeface="Cambria Math" panose="02040503050406030204" pitchFamily="18" charset="0"/>
                                </a:rPr>
                                <m:t>°</m:t>
                              </m:r>
                            </m:e>
                          </m:d>
                        </m:e>
                      </m:func>
                      <m:r>
                        <a:rPr lang="en-GB" b="1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</m:oMath>
                    <m:oMath xmlns:m="http://schemas.openxmlformats.org/officeDocument/2006/math">
                      <m:func>
                        <m:func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−45°</m:t>
                              </m:r>
                            </m:e>
                          </m:d>
                        </m:e>
                      </m:func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−</m:t>
                      </m:r>
                      <m:func>
                        <m:funcPr>
                          <m:ctrlPr>
                            <a:rPr lang="en-GB" b="1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GB" b="1">
                              <a:latin typeface="Cambria Math" panose="02040503050406030204" pitchFamily="18" charset="0"/>
                            </a:rPr>
                            <m:t>𝐬𝐢𝐧</m:t>
                          </m:r>
                        </m:fName>
                        <m:e>
                          <m:d>
                            <m:dPr>
                              <m:ctrlPr>
                                <a:rPr lang="en-GB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b="1" i="1">
                                  <a:latin typeface="Cambria Math" panose="02040503050406030204" pitchFamily="18" charset="0"/>
                                </a:rPr>
                                <m:t>𝟒𝟓</m:t>
                              </m:r>
                              <m:r>
                                <a:rPr lang="en-GB" b="1" i="1">
                                  <a:latin typeface="Cambria Math" panose="02040503050406030204" pitchFamily="18" charset="0"/>
                                </a:rPr>
                                <m:t>°</m:t>
                              </m:r>
                            </m:e>
                          </m:d>
                        </m:e>
                      </m:func>
                      <m:r>
                        <a:rPr lang="en-GB" b="1" i="1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GB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GB" b="1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b="1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en-GB" b="1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750°</m:t>
                              </m:r>
                            </m:e>
                          </m:d>
                        </m:e>
                      </m:func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b="1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GB" b="1">
                              <a:latin typeface="Cambria Math" panose="02040503050406030204" pitchFamily="18" charset="0"/>
                            </a:rPr>
                            <m:t>𝐜𝐨𝐬</m:t>
                          </m:r>
                        </m:fName>
                        <m:e>
                          <m:d>
                            <m:dPr>
                              <m:ctrlPr>
                                <a:rPr lang="en-GB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b="1" i="1">
                                  <a:latin typeface="Cambria Math" panose="02040503050406030204" pitchFamily="18" charset="0"/>
                                </a:rPr>
                                <m:t>𝟑𝟎</m:t>
                              </m:r>
                              <m:r>
                                <a:rPr lang="en-GB" b="1" i="1">
                                  <a:latin typeface="Cambria Math" panose="02040503050406030204" pitchFamily="18" charset="0"/>
                                </a:rPr>
                                <m:t>°</m:t>
                              </m:r>
                            </m:e>
                          </m:d>
                        </m:e>
                      </m:func>
                      <m:r>
                        <a:rPr lang="en-GB" b="1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en-GB" b="1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b="1" i="1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e>
                          </m:rad>
                        </m:num>
                        <m:den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</m:oMath>
                  </m:oMathPara>
                </a14:m>
                <a:endParaRPr lang="en-GB" b="1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120°</m:t>
                              </m:r>
                            </m:e>
                          </m:d>
                        </m:e>
                      </m:func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−</m:t>
                      </m:r>
                      <m:func>
                        <m:funcPr>
                          <m:ctrlPr>
                            <a:rPr lang="en-GB" b="1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GB" b="1">
                              <a:latin typeface="Cambria Math" panose="02040503050406030204" pitchFamily="18" charset="0"/>
                            </a:rPr>
                            <m:t>𝐜𝐨𝐬</m:t>
                          </m:r>
                        </m:fName>
                        <m:e>
                          <m:d>
                            <m:dPr>
                              <m:ctrlPr>
                                <a:rPr lang="en-GB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b="1" i="1">
                                  <a:latin typeface="Cambria Math" panose="02040503050406030204" pitchFamily="18" charset="0"/>
                                </a:rPr>
                                <m:t>𝟔𝟎</m:t>
                              </m:r>
                              <m:r>
                                <a:rPr lang="en-GB" b="1" i="1">
                                  <a:latin typeface="Cambria Math" panose="02040503050406030204" pitchFamily="18" charset="0"/>
                                </a:rPr>
                                <m:t>°</m:t>
                              </m:r>
                            </m:e>
                          </m:d>
                        </m:e>
                      </m:func>
                      <m:r>
                        <a:rPr lang="en-GB" b="1" i="1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GB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1169" y="1849955"/>
                <a:ext cx="3522087" cy="365061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4717692" y="1372968"/>
                <a:ext cx="172819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sz="1200" i="1">
                        <a:latin typeface="Cambria Math" panose="02040503050406030204" pitchFamily="18" charset="0"/>
                      </a:rPr>
                      <m:t>𝑡𝑎𝑛</m:t>
                    </m:r>
                  </m:oMath>
                </a14:m>
                <a:r>
                  <a:rPr lang="en-GB" sz="1200" dirty="0"/>
                  <a:t> repeats every </a:t>
                </a:r>
                <a14:m>
                  <m:oMath xmlns:m="http://schemas.openxmlformats.org/officeDocument/2006/math">
                    <m:r>
                      <a:rPr lang="en-GB" sz="1200" i="1">
                        <a:latin typeface="Cambria Math" panose="02040503050406030204" pitchFamily="18" charset="0"/>
                      </a:rPr>
                      <m:t>180°</m:t>
                    </m:r>
                  </m:oMath>
                </a14:m>
                <a:r>
                  <a:rPr lang="en-GB" sz="1200" dirty="0"/>
                  <a:t> so can subtract </a:t>
                </a:r>
                <a14:m>
                  <m:oMath xmlns:m="http://schemas.openxmlformats.org/officeDocument/2006/math">
                    <m:r>
                      <a:rPr lang="en-GB" sz="1200" i="1">
                        <a:latin typeface="Cambria Math" panose="02040503050406030204" pitchFamily="18" charset="0"/>
                      </a:rPr>
                      <m:t>180°</m:t>
                    </m:r>
                  </m:oMath>
                </a14:m>
                <a:endParaRPr lang="en-GB" sz="1200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7692" y="1372968"/>
                <a:ext cx="1728192" cy="461665"/>
              </a:xfrm>
              <a:prstGeom prst="rect">
                <a:avLst/>
              </a:prstGeom>
              <a:blipFill>
                <a:blip r:embed="rId4"/>
                <a:stretch>
                  <a:fillRect b="-810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Arrow Connector 9"/>
          <p:cNvCxnSpPr>
            <a:cxnSpLocks/>
          </p:cNvCxnSpPr>
          <p:nvPr/>
        </p:nvCxnSpPr>
        <p:spPr>
          <a:xfrm flipH="1">
            <a:off x="4329062" y="1701102"/>
            <a:ext cx="481399" cy="1064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5663952" y="2495491"/>
                <a:ext cx="172819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200" dirty="0"/>
                  <a:t>For </a:t>
                </a:r>
                <a14:m>
                  <m:oMath xmlns:m="http://schemas.openxmlformats.org/officeDocument/2006/math">
                    <m:r>
                      <a:rPr lang="en-GB" sz="1200" i="1">
                        <a:latin typeface="Cambria Math" panose="02040503050406030204" pitchFamily="18" charset="0"/>
                      </a:rPr>
                      <m:t>𝑠𝑖𝑛</m:t>
                    </m:r>
                  </m:oMath>
                </a14:m>
                <a:r>
                  <a:rPr lang="en-GB" sz="1200" dirty="0"/>
                  <a:t> we can subtract from </a:t>
                </a:r>
                <a14:m>
                  <m:oMath xmlns:m="http://schemas.openxmlformats.org/officeDocument/2006/math">
                    <m:r>
                      <a:rPr lang="en-GB" sz="1200" i="1">
                        <a:latin typeface="Cambria Math" panose="02040503050406030204" pitchFamily="18" charset="0"/>
                      </a:rPr>
                      <m:t>180°</m:t>
                    </m:r>
                  </m:oMath>
                </a14:m>
                <a:r>
                  <a:rPr lang="en-GB" sz="1200" dirty="0"/>
                  <a:t>.</a:t>
                </a: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63952" y="2495491"/>
                <a:ext cx="1728192" cy="461665"/>
              </a:xfrm>
              <a:prstGeom prst="rect">
                <a:avLst/>
              </a:prstGeom>
              <a:blipFill>
                <a:blip r:embed="rId5"/>
                <a:stretch>
                  <a:fillRect b="-1081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Arrow Connector 11"/>
          <p:cNvCxnSpPr/>
          <p:nvPr/>
        </p:nvCxnSpPr>
        <p:spPr>
          <a:xfrm flipH="1">
            <a:off x="4958316" y="2722646"/>
            <a:ext cx="623472" cy="1906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5684645" y="3259217"/>
                <a:ext cx="172819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200" dirty="0"/>
                  <a:t>For </a:t>
                </a:r>
                <a14:m>
                  <m:oMath xmlns:m="http://schemas.openxmlformats.org/officeDocument/2006/math">
                    <m:r>
                      <a:rPr lang="en-GB" sz="1200" i="1">
                        <a:latin typeface="Cambria Math" panose="02040503050406030204" pitchFamily="18" charset="0"/>
                      </a:rPr>
                      <m:t>𝑐𝑜𝑠</m:t>
                    </m:r>
                  </m:oMath>
                </a14:m>
                <a:r>
                  <a:rPr lang="en-GB" sz="1200" dirty="0"/>
                  <a:t> we can subtract from </a:t>
                </a:r>
                <a14:m>
                  <m:oMath xmlns:m="http://schemas.openxmlformats.org/officeDocument/2006/math">
                    <m:r>
                      <a:rPr lang="en-GB" sz="1200" i="1">
                        <a:latin typeface="Cambria Math" panose="02040503050406030204" pitchFamily="18" charset="0"/>
                      </a:rPr>
                      <m:t>360°</m:t>
                    </m:r>
                  </m:oMath>
                </a14:m>
                <a:r>
                  <a:rPr lang="en-GB" sz="1200" dirty="0"/>
                  <a:t>.</a:t>
                </a:r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4645" y="3259217"/>
                <a:ext cx="1728192" cy="461665"/>
              </a:xfrm>
              <a:prstGeom prst="rect">
                <a:avLst/>
              </a:prstGeom>
              <a:blipFill>
                <a:blip r:embed="rId6"/>
                <a:stretch>
                  <a:fillRect b="-1081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Arrow Connector 14"/>
          <p:cNvCxnSpPr>
            <a:cxnSpLocks/>
          </p:cNvCxnSpPr>
          <p:nvPr/>
        </p:nvCxnSpPr>
        <p:spPr>
          <a:xfrm flipH="1" flipV="1">
            <a:off x="4958317" y="3496669"/>
            <a:ext cx="669853" cy="865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879977" y="3903126"/>
            <a:ext cx="303365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We have to resort to a sketch for this one.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/>
              <p:cNvSpPr txBox="1"/>
              <p:nvPr/>
            </p:nvSpPr>
            <p:spPr>
              <a:xfrm>
                <a:off x="7992114" y="4142494"/>
                <a:ext cx="2561589" cy="1708160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sz="1050" b="1" dirty="0"/>
                  <a:t>NOTE: in </a:t>
                </a:r>
                <a:r>
                  <a:rPr lang="en-GB" sz="1050" dirty="0"/>
                  <a:t>general,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sz="105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105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d>
                          <m:dPr>
                            <m:ctrlPr>
                              <a:rPr lang="en-GB" sz="105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105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GB" sz="105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func>
                    <m:r>
                      <a:rPr lang="en-GB" sz="1050" i="1">
                        <a:latin typeface="Cambria Math" panose="02040503050406030204" pitchFamily="18" charset="0"/>
                      </a:rPr>
                      <m:t>=−</m:t>
                    </m:r>
                    <m:func>
                      <m:funcPr>
                        <m:ctrlPr>
                          <a:rPr lang="en-GB" sz="105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105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d>
                          <m:dPr>
                            <m:ctrlPr>
                              <a:rPr lang="en-GB" sz="105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105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func>
                  </m:oMath>
                </a14:m>
                <a:r>
                  <a:rPr lang="en-GB" sz="1050" dirty="0"/>
                  <a:t>.</a:t>
                </a:r>
              </a:p>
              <a:p>
                <a:r>
                  <a:rPr lang="en-GB" sz="1050" dirty="0"/>
                  <a:t>Even more generally, a function </a:t>
                </a:r>
                <a14:m>
                  <m:oMath xmlns:m="http://schemas.openxmlformats.org/officeDocument/2006/math">
                    <m:r>
                      <a:rPr lang="en-GB" sz="1050" i="1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GB" sz="1050" dirty="0"/>
                  <a:t> is known as an ‘</a:t>
                </a:r>
                <a:r>
                  <a:rPr lang="en-GB" sz="1050" b="1" u="sng" dirty="0">
                    <a:solidFill>
                      <a:srgbClr val="FFFF00"/>
                    </a:solidFill>
                  </a:rPr>
                  <a:t>odd function</a:t>
                </a:r>
                <a:r>
                  <a:rPr lang="en-GB" sz="1050" dirty="0"/>
                  <a:t>’ if </a:t>
                </a:r>
                <a14:m>
                  <m:oMath xmlns:m="http://schemas.openxmlformats.org/officeDocument/2006/math">
                    <m:r>
                      <a:rPr lang="en-GB" sz="105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sz="105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05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GB" sz="105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GB" sz="1050" i="1"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GB" sz="1050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GB" sz="105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sz="105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05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sz="1050" dirty="0"/>
                  <a:t>. </a:t>
                </a:r>
              </a:p>
              <a:p>
                <a14:m>
                  <m:oMath xmlns:m="http://schemas.openxmlformats.org/officeDocument/2006/math">
                    <m:r>
                      <a:rPr lang="en-GB" sz="1050" i="1" dirty="0">
                        <a:latin typeface="Cambria Math" panose="02040503050406030204" pitchFamily="18" charset="0"/>
                      </a:rPr>
                      <m:t>𝑡𝑎𝑛</m:t>
                    </m:r>
                  </m:oMath>
                </a14:m>
                <a:r>
                  <a:rPr lang="en-GB" sz="1050" dirty="0"/>
                  <a:t> is similarly ‘odd’ as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sz="105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1050">
                            <a:latin typeface="Cambria Math" panose="02040503050406030204" pitchFamily="18" charset="0"/>
                          </a:rPr>
                          <m:t>tan</m:t>
                        </m:r>
                      </m:fName>
                      <m:e>
                        <m:d>
                          <m:dPr>
                            <m:ctrlPr>
                              <a:rPr lang="en-GB" sz="105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105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GB" sz="105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func>
                    <m:r>
                      <a:rPr lang="en-GB" sz="1050" i="1">
                        <a:latin typeface="Cambria Math" panose="02040503050406030204" pitchFamily="18" charset="0"/>
                      </a:rPr>
                      <m:t>=−</m:t>
                    </m:r>
                    <m:func>
                      <m:funcPr>
                        <m:ctrlPr>
                          <a:rPr lang="en-GB" sz="105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1050">
                            <a:latin typeface="Cambria Math" panose="02040503050406030204" pitchFamily="18" charset="0"/>
                          </a:rPr>
                          <m:t>tan</m:t>
                        </m:r>
                      </m:fName>
                      <m:e>
                        <m:d>
                          <m:dPr>
                            <m:ctrlPr>
                              <a:rPr lang="en-GB" sz="105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105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func>
                  </m:oMath>
                </a14:m>
                <a:r>
                  <a:rPr lang="en-GB" sz="1050" dirty="0"/>
                  <a:t>.</a:t>
                </a:r>
              </a:p>
              <a:p>
                <a:endParaRPr lang="en-GB" sz="1050" dirty="0"/>
              </a:p>
              <a:p>
                <a:r>
                  <a:rPr lang="en-GB" sz="1050" dirty="0"/>
                  <a:t>A function is </a:t>
                </a:r>
                <a:r>
                  <a:rPr lang="en-GB" sz="1050" b="1" u="sng" dirty="0">
                    <a:solidFill>
                      <a:srgbClr val="FFFF00"/>
                    </a:solidFill>
                  </a:rPr>
                  <a:t>even</a:t>
                </a:r>
                <a:r>
                  <a:rPr lang="en-GB" sz="1050" dirty="0"/>
                  <a:t> if </a:t>
                </a:r>
                <a14:m>
                  <m:oMath xmlns:m="http://schemas.openxmlformats.org/officeDocument/2006/math">
                    <m:r>
                      <a:rPr lang="en-GB" sz="105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sz="105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05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GB" sz="105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GB" sz="105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050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GB" sz="105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sz="105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05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sz="1050" dirty="0"/>
                  <a:t>. Examples are </a:t>
                </a:r>
                <a14:m>
                  <m:oMath xmlns:m="http://schemas.openxmlformats.org/officeDocument/2006/math">
                    <m:r>
                      <a:rPr lang="en-GB" sz="105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sz="105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05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GB" sz="1050" i="1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GB" sz="1050">
                        <a:latin typeface="Cambria Math" panose="02040503050406030204" pitchFamily="18" charset="0"/>
                      </a:rPr>
                      <m:t>cos</m:t>
                    </m:r>
                    <m:r>
                      <a:rPr lang="en-GB" sz="1050" i="1">
                        <a:latin typeface="Cambria Math" panose="02040503050406030204" pitchFamily="18" charset="0"/>
                      </a:rPr>
                      <m:t>⁡(</m:t>
                    </m:r>
                    <m:r>
                      <a:rPr lang="en-GB" sz="105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05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sz="1050" dirty="0"/>
                  <a:t> and </a:t>
                </a:r>
                <a14:m>
                  <m:oMath xmlns:m="http://schemas.openxmlformats.org/officeDocument/2006/math">
                    <m:r>
                      <a:rPr lang="en-GB" sz="105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sz="105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05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GB" sz="105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GB" sz="105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05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sz="105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GB" sz="1050" dirty="0"/>
                  <a:t> as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sz="105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105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d>
                          <m:dPr>
                            <m:ctrlPr>
                              <a:rPr lang="en-GB" sz="105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105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GB" sz="105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func>
                    <m:r>
                      <a:rPr lang="en-GB" sz="1050" i="1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GB" sz="1050">
                        <a:latin typeface="Cambria Math" panose="02040503050406030204" pitchFamily="18" charset="0"/>
                      </a:rPr>
                      <m:t>cos</m:t>
                    </m:r>
                    <m:r>
                      <a:rPr lang="en-GB" sz="1050" i="1">
                        <a:latin typeface="Cambria Math" panose="02040503050406030204" pitchFamily="18" charset="0"/>
                      </a:rPr>
                      <m:t>⁡(</m:t>
                    </m:r>
                    <m:r>
                      <a:rPr lang="en-GB" sz="105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05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sz="1050" dirty="0"/>
                  <a:t>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05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GB" sz="105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105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GB" sz="105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  <m:sup>
                        <m:r>
                          <a:rPr lang="en-GB" sz="105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sz="105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GB" sz="105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GB" sz="105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105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  <m:sup>
                        <m:r>
                          <a:rPr lang="en-GB" sz="105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GB" sz="1050" dirty="0"/>
                  <a:t>. Not in the exam</a:t>
                </a:r>
              </a:p>
            </p:txBody>
          </p:sp>
        </mc:Choice>
        <mc:Fallback xmlns=""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92114" y="4142494"/>
                <a:ext cx="2561589" cy="1708160"/>
              </a:xfrm>
              <a:prstGeom prst="rect">
                <a:avLst/>
              </a:prstGeom>
              <a:blipFill>
                <a:blip r:embed="rId7"/>
                <a:stretch>
                  <a:fillRect b="-73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1" name="Group 40"/>
          <p:cNvGrpSpPr/>
          <p:nvPr/>
        </p:nvGrpSpPr>
        <p:grpSpPr>
          <a:xfrm>
            <a:off x="5945709" y="4133247"/>
            <a:ext cx="2074963" cy="1069287"/>
            <a:chOff x="4421705" y="4133244"/>
            <a:chExt cx="2074962" cy="1069287"/>
          </a:xfrm>
        </p:grpSpPr>
        <p:cxnSp>
          <p:nvCxnSpPr>
            <p:cNvPr id="18" name="Straight Arrow Connector 17"/>
            <p:cNvCxnSpPr/>
            <p:nvPr/>
          </p:nvCxnSpPr>
          <p:spPr>
            <a:xfrm flipH="1" flipV="1">
              <a:off x="5235252" y="4201987"/>
              <a:ext cx="6871" cy="95552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Straight Arrow Connector 18"/>
            <p:cNvCxnSpPr/>
            <p:nvPr/>
          </p:nvCxnSpPr>
          <p:spPr>
            <a:xfrm flipV="1">
              <a:off x="4421705" y="4717423"/>
              <a:ext cx="1743075" cy="476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/>
                <p:cNvSpPr txBox="1"/>
                <p:nvPr/>
              </p:nvSpPr>
              <p:spPr>
                <a:xfrm>
                  <a:off x="5623769" y="4133244"/>
                  <a:ext cx="872898" cy="25404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1051" i="1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GB" sz="1051" i="1">
                            <a:latin typeface="Cambria Math" panose="02040503050406030204" pitchFamily="18" charset="0"/>
                          </a:rPr>
                          <m:t>=</m:t>
                        </m:r>
                        <m:func>
                          <m:funcPr>
                            <m:ctrlPr>
                              <a:rPr lang="en-GB" sz="1051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GB" sz="1051">
                                <a:latin typeface="Cambria Math" panose="02040503050406030204" pitchFamily="18" charset="0"/>
                              </a:rPr>
                              <m:t>sin</m:t>
                            </m:r>
                          </m:fName>
                          <m:e>
                            <m:d>
                              <m:dPr>
                                <m:ctrlPr>
                                  <a:rPr lang="en-GB" sz="1051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GB" sz="1051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e>
                        </m:func>
                      </m:oMath>
                    </m:oMathPara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20" name="TextBox 1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23769" y="4133244"/>
                  <a:ext cx="872898" cy="254044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/>
                <p:cNvSpPr txBox="1"/>
                <p:nvPr/>
              </p:nvSpPr>
              <p:spPr>
                <a:xfrm>
                  <a:off x="4726212" y="4671863"/>
                  <a:ext cx="499517" cy="25404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1051" i="1">
                            <a:latin typeface="Cambria Math" panose="02040503050406030204" pitchFamily="18" charset="0"/>
                          </a:rPr>
                          <m:t>−45</m:t>
                        </m:r>
                      </m:oMath>
                    </m:oMathPara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22" name="TextBox 2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26212" y="4671863"/>
                  <a:ext cx="499517" cy="254044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3" name="Freeform: Shape 22"/>
            <p:cNvSpPr/>
            <p:nvPr/>
          </p:nvSpPr>
          <p:spPr>
            <a:xfrm>
              <a:off x="4507920" y="4711009"/>
              <a:ext cx="725884" cy="414401"/>
            </a:xfrm>
            <a:custGeom>
              <a:avLst/>
              <a:gdLst>
                <a:gd name="connsiteX0" fmla="*/ 0 w 3476625"/>
                <a:gd name="connsiteY0" fmla="*/ 1152525 h 2362209"/>
                <a:gd name="connsiteX1" fmla="*/ 885825 w 3476625"/>
                <a:gd name="connsiteY1" fmla="*/ 0 h 2362209"/>
                <a:gd name="connsiteX2" fmla="*/ 1752600 w 3476625"/>
                <a:gd name="connsiteY2" fmla="*/ 1152525 h 2362209"/>
                <a:gd name="connsiteX3" fmla="*/ 2657475 w 3476625"/>
                <a:gd name="connsiteY3" fmla="*/ 2362200 h 2362209"/>
                <a:gd name="connsiteX4" fmla="*/ 3476625 w 3476625"/>
                <a:gd name="connsiteY4" fmla="*/ 1133475 h 2362209"/>
                <a:gd name="connsiteX0" fmla="*/ 0 w 2590800"/>
                <a:gd name="connsiteY0" fmla="*/ 0 h 2362209"/>
                <a:gd name="connsiteX1" fmla="*/ 866775 w 2590800"/>
                <a:gd name="connsiteY1" fmla="*/ 1152525 h 2362209"/>
                <a:gd name="connsiteX2" fmla="*/ 1771650 w 2590800"/>
                <a:gd name="connsiteY2" fmla="*/ 2362200 h 2362209"/>
                <a:gd name="connsiteX3" fmla="*/ 2590800 w 2590800"/>
                <a:gd name="connsiteY3" fmla="*/ 1133475 h 2362209"/>
                <a:gd name="connsiteX0" fmla="*/ 0 w 1724025"/>
                <a:gd name="connsiteY0" fmla="*/ 19049 h 1228733"/>
                <a:gd name="connsiteX1" fmla="*/ 904875 w 1724025"/>
                <a:gd name="connsiteY1" fmla="*/ 1228724 h 1228733"/>
                <a:gd name="connsiteX2" fmla="*/ 1724025 w 1724025"/>
                <a:gd name="connsiteY2" fmla="*/ -1 h 1228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724025" h="1228733">
                  <a:moveTo>
                    <a:pt x="0" y="19049"/>
                  </a:moveTo>
                  <a:cubicBezTo>
                    <a:pt x="295275" y="412749"/>
                    <a:pt x="617538" y="1231899"/>
                    <a:pt x="904875" y="1228724"/>
                  </a:cubicBezTo>
                  <a:cubicBezTo>
                    <a:pt x="1192212" y="1225549"/>
                    <a:pt x="1458118" y="612774"/>
                    <a:pt x="1724025" y="-1"/>
                  </a:cubicBezTo>
                </a:path>
              </a:pathLst>
            </a:cu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4" name="Freeform: Shape 23"/>
            <p:cNvSpPr/>
            <p:nvPr/>
          </p:nvSpPr>
          <p:spPr>
            <a:xfrm>
              <a:off x="5234804" y="4328733"/>
              <a:ext cx="737915" cy="388699"/>
            </a:xfrm>
            <a:custGeom>
              <a:avLst/>
              <a:gdLst>
                <a:gd name="connsiteX0" fmla="*/ 0 w 3476625"/>
                <a:gd name="connsiteY0" fmla="*/ 1152525 h 2362209"/>
                <a:gd name="connsiteX1" fmla="*/ 885825 w 3476625"/>
                <a:gd name="connsiteY1" fmla="*/ 0 h 2362209"/>
                <a:gd name="connsiteX2" fmla="*/ 1752600 w 3476625"/>
                <a:gd name="connsiteY2" fmla="*/ 1152525 h 2362209"/>
                <a:gd name="connsiteX3" fmla="*/ 2657475 w 3476625"/>
                <a:gd name="connsiteY3" fmla="*/ 2362200 h 2362209"/>
                <a:gd name="connsiteX4" fmla="*/ 3476625 w 3476625"/>
                <a:gd name="connsiteY4" fmla="*/ 1133475 h 2362209"/>
                <a:gd name="connsiteX0" fmla="*/ 0 w 2657475"/>
                <a:gd name="connsiteY0" fmla="*/ 1152525 h 2362209"/>
                <a:gd name="connsiteX1" fmla="*/ 885825 w 2657475"/>
                <a:gd name="connsiteY1" fmla="*/ 0 h 2362209"/>
                <a:gd name="connsiteX2" fmla="*/ 1752600 w 2657475"/>
                <a:gd name="connsiteY2" fmla="*/ 1152525 h 2362209"/>
                <a:gd name="connsiteX3" fmla="*/ 2657475 w 2657475"/>
                <a:gd name="connsiteY3" fmla="*/ 2362200 h 2362209"/>
                <a:gd name="connsiteX0" fmla="*/ 0 w 1752600"/>
                <a:gd name="connsiteY0" fmla="*/ 1152525 h 1152524"/>
                <a:gd name="connsiteX1" fmla="*/ 885825 w 1752600"/>
                <a:gd name="connsiteY1" fmla="*/ 0 h 1152524"/>
                <a:gd name="connsiteX2" fmla="*/ 1752600 w 1752600"/>
                <a:gd name="connsiteY2" fmla="*/ 1152525 h 11525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752600" h="1152524">
                  <a:moveTo>
                    <a:pt x="0" y="1152525"/>
                  </a:moveTo>
                  <a:cubicBezTo>
                    <a:pt x="296862" y="576262"/>
                    <a:pt x="593725" y="0"/>
                    <a:pt x="885825" y="0"/>
                  </a:cubicBezTo>
                  <a:cubicBezTo>
                    <a:pt x="1177925" y="0"/>
                    <a:pt x="1752600" y="1152525"/>
                    <a:pt x="1752600" y="1152525"/>
                  </a:cubicBezTo>
                </a:path>
              </a:pathLst>
            </a:cu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/>
                <p:cNvSpPr txBox="1"/>
                <p:nvPr/>
              </p:nvSpPr>
              <p:spPr>
                <a:xfrm>
                  <a:off x="5206318" y="4675428"/>
                  <a:ext cx="499517" cy="25404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1051" i="1">
                            <a:latin typeface="Cambria Math" panose="02040503050406030204" pitchFamily="18" charset="0"/>
                          </a:rPr>
                          <m:t>45</m:t>
                        </m:r>
                      </m:oMath>
                    </m:oMathPara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25" name="TextBox 2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06318" y="4675428"/>
                  <a:ext cx="499517" cy="254044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6" name="Straight Connector 25"/>
            <p:cNvCxnSpPr/>
            <p:nvPr/>
          </p:nvCxnSpPr>
          <p:spPr>
            <a:xfrm>
              <a:off x="5046999" y="4726703"/>
              <a:ext cx="4241" cy="29075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/>
          </p:nvCxnSpPr>
          <p:spPr>
            <a:xfrm>
              <a:off x="5441877" y="4431852"/>
              <a:ext cx="4241" cy="29075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TextBox 27"/>
                <p:cNvSpPr txBox="1"/>
                <p:nvPr/>
              </p:nvSpPr>
              <p:spPr>
                <a:xfrm>
                  <a:off x="6084827" y="4585903"/>
                  <a:ext cx="298076" cy="25404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1051" i="1"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28" name="TextBox 2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84827" y="4585903"/>
                  <a:ext cx="298076" cy="254044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2" name="Straight Connector 31"/>
            <p:cNvCxnSpPr/>
            <p:nvPr/>
          </p:nvCxnSpPr>
          <p:spPr>
            <a:xfrm flipH="1">
              <a:off x="5231330" y="4436435"/>
              <a:ext cx="204787" cy="476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TextBox 35"/>
                <p:cNvSpPr txBox="1"/>
                <p:nvPr/>
              </p:nvSpPr>
              <p:spPr>
                <a:xfrm>
                  <a:off x="4909318" y="4303340"/>
                  <a:ext cx="499517" cy="31489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GB" sz="7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GB" sz="7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GB" sz="700"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GB" sz="7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den>
                        </m:f>
                      </m:oMath>
                    </m:oMathPara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36" name="TextBox 3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09318" y="4303340"/>
                  <a:ext cx="499517" cy="314894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TextBox 36"/>
                <p:cNvSpPr txBox="1"/>
                <p:nvPr/>
              </p:nvSpPr>
              <p:spPr>
                <a:xfrm>
                  <a:off x="4889712" y="4887637"/>
                  <a:ext cx="499517" cy="31489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700" i="1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GB" sz="7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GB" sz="7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GB" sz="700"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GB" sz="7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den>
                        </m:f>
                      </m:oMath>
                    </m:oMathPara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37" name="TextBox 3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89712" y="4887637"/>
                  <a:ext cx="499517" cy="314894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8" name="Straight Connector 37"/>
            <p:cNvCxnSpPr/>
            <p:nvPr/>
          </p:nvCxnSpPr>
          <p:spPr>
            <a:xfrm>
              <a:off x="5057498" y="5012698"/>
              <a:ext cx="17859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2" name="Straight Arrow Connector 41"/>
          <p:cNvCxnSpPr/>
          <p:nvPr/>
        </p:nvCxnSpPr>
        <p:spPr>
          <a:xfrm flipH="1" flipV="1">
            <a:off x="5270056" y="4007031"/>
            <a:ext cx="570767" cy="865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/>
          <p:nvPr/>
        </p:nvCxnSpPr>
        <p:spPr>
          <a:xfrm flipH="1" flipV="1">
            <a:off x="5209824" y="5344364"/>
            <a:ext cx="365185" cy="4184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5557150" y="5462494"/>
            <a:ext cx="207846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Again, let’s just use a graph.</a:t>
            </a:r>
          </a:p>
        </p:txBody>
      </p:sp>
      <p:cxnSp>
        <p:nvCxnSpPr>
          <p:cNvPr id="48" name="Straight Arrow Connector 47"/>
          <p:cNvCxnSpPr/>
          <p:nvPr/>
        </p:nvCxnSpPr>
        <p:spPr>
          <a:xfrm flipH="1" flipV="1">
            <a:off x="6025720" y="5777584"/>
            <a:ext cx="6871" cy="9555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/>
          <p:nvPr/>
        </p:nvCxnSpPr>
        <p:spPr>
          <a:xfrm flipV="1">
            <a:off x="5840823" y="6283494"/>
            <a:ext cx="1743075" cy="47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/>
              <p:cNvSpPr txBox="1"/>
              <p:nvPr/>
            </p:nvSpPr>
            <p:spPr>
              <a:xfrm>
                <a:off x="7042883" y="5699313"/>
                <a:ext cx="872899" cy="2540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051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sz="1051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sz="1051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1051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n-GB" sz="105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1051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50" name="TextBox 4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42883" y="5699313"/>
                <a:ext cx="872899" cy="254044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/>
              <p:cNvSpPr txBox="1"/>
              <p:nvPr/>
            </p:nvSpPr>
            <p:spPr>
              <a:xfrm>
                <a:off x="6235817" y="6228407"/>
                <a:ext cx="293575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900" i="1">
                          <a:latin typeface="Cambria Math" panose="02040503050406030204" pitchFamily="18" charset="0"/>
                        </a:rPr>
                        <m:t>90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51" name="TextBox 5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35817" y="6228407"/>
                <a:ext cx="293575" cy="23083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5" name="Straight Connector 54"/>
          <p:cNvCxnSpPr/>
          <p:nvPr/>
        </p:nvCxnSpPr>
        <p:spPr>
          <a:xfrm>
            <a:off x="6539934" y="6288013"/>
            <a:ext cx="1363" cy="23423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/>
              <p:cNvSpPr txBox="1"/>
              <p:nvPr/>
            </p:nvSpPr>
            <p:spPr>
              <a:xfrm>
                <a:off x="7503942" y="6151972"/>
                <a:ext cx="298076" cy="2540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051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57" name="TextBox 5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3942" y="6151972"/>
                <a:ext cx="298076" cy="254044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8" name="Straight Connector 57"/>
          <p:cNvCxnSpPr/>
          <p:nvPr/>
        </p:nvCxnSpPr>
        <p:spPr>
          <a:xfrm flipH="1">
            <a:off x="6029326" y="6031083"/>
            <a:ext cx="256788" cy="300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/>
              <p:cNvSpPr txBox="1"/>
              <p:nvPr/>
            </p:nvSpPr>
            <p:spPr>
              <a:xfrm>
                <a:off x="5729644" y="5886174"/>
                <a:ext cx="499517" cy="2940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7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7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7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59" name="TextBox 5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29644" y="5886174"/>
                <a:ext cx="499517" cy="294055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1" name="Straight Connector 60"/>
          <p:cNvCxnSpPr/>
          <p:nvPr/>
        </p:nvCxnSpPr>
        <p:spPr>
          <a:xfrm flipV="1">
            <a:off x="6276587" y="6031707"/>
            <a:ext cx="388" cy="25178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Freeform: Shape 61"/>
          <p:cNvSpPr/>
          <p:nvPr/>
        </p:nvSpPr>
        <p:spPr>
          <a:xfrm>
            <a:off x="6029328" y="5908659"/>
            <a:ext cx="1123951" cy="796963"/>
          </a:xfrm>
          <a:custGeom>
            <a:avLst/>
            <a:gdLst>
              <a:gd name="connsiteX0" fmla="*/ 0 w 1123950"/>
              <a:gd name="connsiteY0" fmla="*/ 0 h 796943"/>
              <a:gd name="connsiteX1" fmla="*/ 365125 w 1123950"/>
              <a:gd name="connsiteY1" fmla="*/ 384175 h 796943"/>
              <a:gd name="connsiteX2" fmla="*/ 752475 w 1123950"/>
              <a:gd name="connsiteY2" fmla="*/ 796925 h 796943"/>
              <a:gd name="connsiteX3" fmla="*/ 1123950 w 1123950"/>
              <a:gd name="connsiteY3" fmla="*/ 368300 h 796943"/>
              <a:gd name="connsiteX0" fmla="*/ 0 w 1123950"/>
              <a:gd name="connsiteY0" fmla="*/ 12 h 796955"/>
              <a:gd name="connsiteX1" fmla="*/ 365125 w 1123950"/>
              <a:gd name="connsiteY1" fmla="*/ 384187 h 796955"/>
              <a:gd name="connsiteX2" fmla="*/ 752475 w 1123950"/>
              <a:gd name="connsiteY2" fmla="*/ 796937 h 796955"/>
              <a:gd name="connsiteX3" fmla="*/ 1123950 w 1123950"/>
              <a:gd name="connsiteY3" fmla="*/ 368312 h 796955"/>
              <a:gd name="connsiteX0" fmla="*/ 0 w 1123950"/>
              <a:gd name="connsiteY0" fmla="*/ 17 h 796962"/>
              <a:gd name="connsiteX1" fmla="*/ 365125 w 1123950"/>
              <a:gd name="connsiteY1" fmla="*/ 384192 h 796962"/>
              <a:gd name="connsiteX2" fmla="*/ 752475 w 1123950"/>
              <a:gd name="connsiteY2" fmla="*/ 796942 h 796962"/>
              <a:gd name="connsiteX3" fmla="*/ 1123950 w 1123950"/>
              <a:gd name="connsiteY3" fmla="*/ 368317 h 796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23950" h="796962">
                <a:moveTo>
                  <a:pt x="0" y="17"/>
                </a:moveTo>
                <a:cubicBezTo>
                  <a:pt x="280458" y="-2100"/>
                  <a:pt x="268817" y="186284"/>
                  <a:pt x="365125" y="384192"/>
                </a:cubicBezTo>
                <a:cubicBezTo>
                  <a:pt x="445058" y="548450"/>
                  <a:pt x="626004" y="799588"/>
                  <a:pt x="752475" y="796942"/>
                </a:cubicBezTo>
                <a:cubicBezTo>
                  <a:pt x="878946" y="794296"/>
                  <a:pt x="1001448" y="581306"/>
                  <a:pt x="1123950" y="368317"/>
                </a:cubicBezTo>
              </a:path>
            </a:pathLst>
          </a:cu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/>
              <p:cNvSpPr txBox="1"/>
              <p:nvPr/>
            </p:nvSpPr>
            <p:spPr>
              <a:xfrm>
                <a:off x="6581780" y="6231771"/>
                <a:ext cx="293575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900" i="1">
                          <a:latin typeface="Cambria Math" panose="02040503050406030204" pitchFamily="18" charset="0"/>
                        </a:rPr>
                        <m:t>180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64" name="TextBox 6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81780" y="6231771"/>
                <a:ext cx="293575" cy="230832"/>
              </a:xfrm>
              <a:prstGeom prst="rect">
                <a:avLst/>
              </a:prstGeom>
              <a:blipFill>
                <a:blip r:embed="rId18"/>
                <a:stretch>
                  <a:fillRect r="-833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extBox 64"/>
              <p:cNvSpPr txBox="1"/>
              <p:nvPr/>
            </p:nvSpPr>
            <p:spPr>
              <a:xfrm>
                <a:off x="6358040" y="6136499"/>
                <a:ext cx="293575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800" i="1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120</m:t>
                      </m:r>
                    </m:oMath>
                  </m:oMathPara>
                </a14:m>
                <a:endParaRPr lang="en-GB" sz="1200" dirty="0">
                  <a:solidFill>
                    <a:schemeClr val="tx2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65" name="TextBox 6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8040" y="6136499"/>
                <a:ext cx="293575" cy="215444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/>
              <p:cNvSpPr txBox="1"/>
              <p:nvPr/>
            </p:nvSpPr>
            <p:spPr>
              <a:xfrm>
                <a:off x="6115052" y="6227661"/>
                <a:ext cx="293575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800" i="1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60</m:t>
                      </m:r>
                    </m:oMath>
                  </m:oMathPara>
                </a14:m>
                <a:endParaRPr lang="en-GB" sz="1200" dirty="0">
                  <a:solidFill>
                    <a:schemeClr val="tx2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68" name="TextBox 6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5052" y="6227661"/>
                <a:ext cx="293575" cy="215444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TextBox 71"/>
              <p:cNvSpPr txBox="1"/>
              <p:nvPr/>
            </p:nvSpPr>
            <p:spPr>
              <a:xfrm>
                <a:off x="7887849" y="5970713"/>
                <a:ext cx="2078468" cy="9008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051" dirty="0"/>
                  <a:t>The graph is rotationally symmetric about </a:t>
                </a:r>
                <a14:m>
                  <m:oMath xmlns:m="http://schemas.openxmlformats.org/officeDocument/2006/math">
                    <m:r>
                      <a:rPr lang="en-GB" sz="1051" i="1">
                        <a:latin typeface="Cambria Math" panose="02040503050406030204" pitchFamily="18" charset="0"/>
                      </a:rPr>
                      <m:t>90°</m:t>
                    </m:r>
                  </m:oMath>
                </a14:m>
                <a:r>
                  <a:rPr lang="en-GB" sz="1051" dirty="0"/>
                  <a:t>. Since </a:t>
                </a:r>
                <a14:m>
                  <m:oMath xmlns:m="http://schemas.openxmlformats.org/officeDocument/2006/math">
                    <m:r>
                      <a:rPr lang="en-GB" sz="1051" i="1">
                        <a:latin typeface="Cambria Math" panose="02040503050406030204" pitchFamily="18" charset="0"/>
                      </a:rPr>
                      <m:t>120°</m:t>
                    </m:r>
                  </m:oMath>
                </a14:m>
                <a:r>
                  <a:rPr lang="en-GB" sz="1051" dirty="0"/>
                  <a:t> is </a:t>
                </a:r>
                <a14:m>
                  <m:oMath xmlns:m="http://schemas.openxmlformats.org/officeDocument/2006/math">
                    <m:r>
                      <a:rPr lang="en-GB" sz="1051" i="1">
                        <a:latin typeface="Cambria Math" panose="02040503050406030204" pitchFamily="18" charset="0"/>
                      </a:rPr>
                      <m:t>30°</m:t>
                    </m:r>
                  </m:oMath>
                </a14:m>
                <a:r>
                  <a:rPr lang="en-GB" sz="1051" dirty="0"/>
                  <a:t> above </a:t>
                </a:r>
                <a14:m>
                  <m:oMath xmlns:m="http://schemas.openxmlformats.org/officeDocument/2006/math">
                    <m:r>
                      <a:rPr lang="en-GB" sz="1051" i="1">
                        <a:latin typeface="Cambria Math" panose="02040503050406030204" pitchFamily="18" charset="0"/>
                      </a:rPr>
                      <m:t>90°</m:t>
                    </m:r>
                  </m:oMath>
                </a14:m>
                <a:r>
                  <a:rPr lang="en-GB" sz="1051" dirty="0"/>
                  <a:t>, we get the same </a:t>
                </a:r>
                <a14:m>
                  <m:oMath xmlns:m="http://schemas.openxmlformats.org/officeDocument/2006/math">
                    <m:r>
                      <a:rPr lang="en-GB" sz="1051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sz="1051" dirty="0"/>
                  <a:t> value for </a:t>
                </a:r>
                <a14:m>
                  <m:oMath xmlns:m="http://schemas.openxmlformats.org/officeDocument/2006/math">
                    <m:r>
                      <a:rPr lang="en-GB" sz="1051" i="1">
                        <a:latin typeface="Cambria Math" panose="02040503050406030204" pitchFamily="18" charset="0"/>
                      </a:rPr>
                      <m:t>90°−30°=60°</m:t>
                    </m:r>
                  </m:oMath>
                </a14:m>
                <a:r>
                  <a:rPr lang="en-GB" sz="1051" dirty="0"/>
                  <a:t>, except negative.</a:t>
                </a:r>
              </a:p>
            </p:txBody>
          </p:sp>
        </mc:Choice>
        <mc:Fallback xmlns="">
          <p:sp>
            <p:nvSpPr>
              <p:cNvPr id="72" name="TextBox 7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87849" y="5970713"/>
                <a:ext cx="2078468" cy="900888"/>
              </a:xfrm>
              <a:prstGeom prst="rect">
                <a:avLst/>
              </a:prstGeom>
              <a:blipFill>
                <a:blip r:embed="rId21"/>
                <a:stretch>
                  <a:fillRect b="-41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TextBox 72"/>
              <p:cNvSpPr txBox="1"/>
              <p:nvPr/>
            </p:nvSpPr>
            <p:spPr>
              <a:xfrm>
                <a:off x="4869573" y="4397640"/>
                <a:ext cx="101040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200" dirty="0"/>
                  <a:t>cos repeats every </a:t>
                </a:r>
                <a14:m>
                  <m:oMath xmlns:m="http://schemas.openxmlformats.org/officeDocument/2006/math">
                    <m:r>
                      <a:rPr lang="en-GB" sz="1200" i="1">
                        <a:latin typeface="Cambria Math" panose="02040503050406030204" pitchFamily="18" charset="0"/>
                      </a:rPr>
                      <m:t>360°</m:t>
                    </m:r>
                  </m:oMath>
                </a14:m>
                <a:r>
                  <a:rPr lang="en-GB" sz="1200" dirty="0"/>
                  <a:t>.</a:t>
                </a:r>
              </a:p>
            </p:txBody>
          </p:sp>
        </mc:Choice>
        <mc:Fallback xmlns="">
          <p:sp>
            <p:nvSpPr>
              <p:cNvPr id="73" name="TextBox 7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69573" y="4397640"/>
                <a:ext cx="1010407" cy="461665"/>
              </a:xfrm>
              <a:prstGeom prst="rect">
                <a:avLst/>
              </a:prstGeom>
              <a:blipFill>
                <a:blip r:embed="rId22"/>
                <a:stretch>
                  <a:fillRect b="-810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4" name="Straight Arrow Connector 73"/>
          <p:cNvCxnSpPr>
            <a:cxnSpLocks/>
          </p:cNvCxnSpPr>
          <p:nvPr/>
        </p:nvCxnSpPr>
        <p:spPr>
          <a:xfrm flipH="1">
            <a:off x="3199748" y="4628469"/>
            <a:ext cx="193431" cy="197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6" name="Rectangle 75"/>
          <p:cNvSpPr/>
          <p:nvPr/>
        </p:nvSpPr>
        <p:spPr>
          <a:xfrm>
            <a:off x="3199748" y="1838070"/>
            <a:ext cx="1877745" cy="32343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77" name="Rectangle 76"/>
          <p:cNvSpPr/>
          <p:nvPr/>
        </p:nvSpPr>
        <p:spPr>
          <a:xfrm>
            <a:off x="3199748" y="2161505"/>
            <a:ext cx="1846277" cy="57217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78" name="Rectangle 77"/>
          <p:cNvSpPr/>
          <p:nvPr/>
        </p:nvSpPr>
        <p:spPr>
          <a:xfrm>
            <a:off x="3199747" y="2733675"/>
            <a:ext cx="1660750" cy="52387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199747" y="3252226"/>
            <a:ext cx="1660750" cy="52387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80" name="Rectangle 79"/>
          <p:cNvSpPr/>
          <p:nvPr/>
        </p:nvSpPr>
        <p:spPr>
          <a:xfrm>
            <a:off x="3199747" y="3776104"/>
            <a:ext cx="2070308" cy="57765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81" name="Rectangle 80"/>
          <p:cNvSpPr/>
          <p:nvPr/>
        </p:nvSpPr>
        <p:spPr>
          <a:xfrm>
            <a:off x="3199747" y="4347716"/>
            <a:ext cx="1660750" cy="56718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199748" y="4925259"/>
            <a:ext cx="1849613" cy="56718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83" name="Freeform: Shape 82"/>
          <p:cNvSpPr/>
          <p:nvPr/>
        </p:nvSpPr>
        <p:spPr>
          <a:xfrm>
            <a:off x="6272218" y="6024567"/>
            <a:ext cx="261937" cy="490537"/>
          </a:xfrm>
          <a:custGeom>
            <a:avLst/>
            <a:gdLst>
              <a:gd name="connsiteX0" fmla="*/ 0 w 261937"/>
              <a:gd name="connsiteY0" fmla="*/ 0 h 490537"/>
              <a:gd name="connsiteX1" fmla="*/ 66675 w 261937"/>
              <a:gd name="connsiteY1" fmla="*/ 133350 h 490537"/>
              <a:gd name="connsiteX2" fmla="*/ 114300 w 261937"/>
              <a:gd name="connsiteY2" fmla="*/ 266700 h 490537"/>
              <a:gd name="connsiteX3" fmla="*/ 176212 w 261937"/>
              <a:gd name="connsiteY3" fmla="*/ 385762 h 490537"/>
              <a:gd name="connsiteX4" fmla="*/ 261937 w 261937"/>
              <a:gd name="connsiteY4" fmla="*/ 490537 h 4905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61937" h="490537">
                <a:moveTo>
                  <a:pt x="0" y="0"/>
                </a:moveTo>
                <a:cubicBezTo>
                  <a:pt x="23812" y="44450"/>
                  <a:pt x="47625" y="88900"/>
                  <a:pt x="66675" y="133350"/>
                </a:cubicBezTo>
                <a:cubicBezTo>
                  <a:pt x="85725" y="177800"/>
                  <a:pt x="96044" y="224631"/>
                  <a:pt x="114300" y="266700"/>
                </a:cubicBezTo>
                <a:cubicBezTo>
                  <a:pt x="132556" y="308769"/>
                  <a:pt x="151606" y="348456"/>
                  <a:pt x="176212" y="385762"/>
                </a:cubicBezTo>
                <a:cubicBezTo>
                  <a:pt x="200818" y="423068"/>
                  <a:pt x="231377" y="456802"/>
                  <a:pt x="261937" y="490537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139139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7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6"/>
                  </p:tgtEl>
                </p:cond>
              </p:nextCondLst>
            </p:seq>
            <p:seq concurrent="1" nextAc="seek">
              <p:cTn id="15" restart="whenNotActive" fill="hold" evtFilter="cancelBubble" nodeType="interactiveSeq">
                <p:stCondLst>
                  <p:cond evt="onClick" delay="0">
                    <p:tgtEl>
                      <p:spTgt spid="7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" fill="hold">
                      <p:stCondLst>
                        <p:cond delay="0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7"/>
                  </p:tgtEl>
                </p:cond>
              </p:nextCondLst>
            </p:seq>
            <p:seq concurrent="1" nextAc="seek">
              <p:cTn id="21" restart="whenNotActive" fill="hold" evtFilter="cancelBubble" nodeType="interactiveSeq">
                <p:stCondLst>
                  <p:cond evt="onClick" delay="0">
                    <p:tgtEl>
                      <p:spTgt spid="7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2" fill="hold">
                      <p:stCondLst>
                        <p:cond delay="0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8"/>
                  </p:tgtEl>
                </p:cond>
              </p:nextCondLst>
            </p:seq>
            <p:seq concurrent="1" nextAc="seek">
              <p:cTn id="34" restart="whenNotActive" fill="hold" evtFilter="cancelBubble" nodeType="interactiveSeq">
                <p:stCondLst>
                  <p:cond evt="onClick" delay="0">
                    <p:tgtEl>
                      <p:spTgt spid="7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5" fill="hold">
                      <p:stCondLst>
                        <p:cond delay="0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9"/>
                  </p:tgtEl>
                </p:cond>
              </p:nextCondLst>
            </p:seq>
            <p:seq concurrent="1" nextAc="seek">
              <p:cTn id="47" restart="whenNotActive" fill="hold" evtFilter="cancelBubble" nodeType="interactiveSeq">
                <p:stCondLst>
                  <p:cond evt="onClick" delay="0">
                    <p:tgtEl>
                      <p:spTgt spid="8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8" fill="hold">
                      <p:stCondLst>
                        <p:cond delay="0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1000"/>
                            </p:stCondLst>
                            <p:childTnLst>
                              <p:par>
                                <p:cTn id="6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0"/>
                  </p:tgtEl>
                </p:cond>
              </p:nextCondLst>
            </p:seq>
            <p:seq concurrent="1" nextAc="seek">
              <p:cTn id="67" restart="whenNotActive" fill="hold" evtFilter="cancelBubble" nodeType="interactiveSeq">
                <p:stCondLst>
                  <p:cond evt="onClick" delay="0">
                    <p:tgtEl>
                      <p:spTgt spid="8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8" fill="hold">
                      <p:stCondLst>
                        <p:cond delay="0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1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500"/>
                            </p:stCondLst>
                            <p:childTnLst>
                              <p:par>
                                <p:cTn id="7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1"/>
                  </p:tgtEl>
                </p:cond>
              </p:nextCondLst>
            </p:seq>
            <p:seq concurrent="1" nextAc="seek">
              <p:cTn id="80" restart="whenNotActive" fill="hold" evtFilter="cancelBubble" nodeType="interactiveSeq">
                <p:stCondLst>
                  <p:cond evt="onClick" delay="0">
                    <p:tgtEl>
                      <p:spTgt spid="8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1" fill="hold">
                      <p:stCondLst>
                        <p:cond delay="0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4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500"/>
                            </p:stCondLst>
                            <p:childTnLst>
                              <p:par>
                                <p:cTn id="8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2"/>
                  </p:tgtEl>
                </p:cond>
              </p:nextCondLst>
            </p:seq>
          </p:childTnLst>
        </p:cTn>
      </p:par>
    </p:tnLst>
    <p:bldLst>
      <p:bldP spid="8" grpId="0"/>
      <p:bldP spid="11" grpId="0"/>
      <p:bldP spid="14" grpId="0"/>
      <p:bldP spid="17" grpId="0"/>
      <p:bldP spid="31" grpId="0" animBg="1"/>
      <p:bldP spid="46" grpId="0"/>
      <p:bldP spid="50" grpId="0"/>
      <p:bldP spid="51" grpId="0"/>
      <p:bldP spid="57" grpId="0"/>
      <p:bldP spid="59" grpId="0"/>
      <p:bldP spid="62" grpId="0" animBg="1"/>
      <p:bldP spid="64" grpId="0"/>
      <p:bldP spid="65" grpId="0"/>
      <p:bldP spid="68" grpId="0"/>
      <p:bldP spid="72" grpId="0"/>
      <p:bldP spid="73" grpId="0"/>
      <p:bldP spid="76" grpId="0" animBg="1"/>
      <p:bldP spid="77" grpId="0" animBg="1"/>
      <p:bldP spid="78" grpId="0" animBg="1"/>
      <p:bldP spid="79" grpId="0" animBg="1"/>
      <p:bldP spid="80" grpId="0" animBg="1"/>
      <p:bldP spid="81" grpId="0" animBg="1"/>
      <p:bldP spid="82" grpId="0" animBg="1"/>
      <p:bldP spid="83" grpId="0" animBg="1"/>
    </p:bldLst>
  </p:timing>
</p:sld>
</file>

<file path=ppt/c10/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7"/>
          <p:cNvGrpSpPr/>
          <p:nvPr/>
        </p:nvGrpSpPr>
        <p:grpSpPr>
          <a:xfrm>
            <a:off x="1524002" y="2"/>
            <a:ext cx="9143075" cy="587744"/>
            <a:chOff x="0" y="13335"/>
            <a:chExt cx="9144218" cy="587744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1" cy="584775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Test Your Understanding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sp>
        <p:nvSpPr>
          <p:cNvPr id="5" name="TextBox 4"/>
          <p:cNvSpPr txBox="1"/>
          <p:nvPr/>
        </p:nvSpPr>
        <p:spPr>
          <a:xfrm>
            <a:off x="1919536" y="836712"/>
            <a:ext cx="7560840" cy="369332"/>
          </a:xfrm>
          <a:prstGeom prst="rect">
            <a:avLst/>
          </a:prstGeom>
          <a:solidFill>
            <a:schemeClr val="bg1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dirty="0"/>
              <a:t>Without a calculator, work out the value of each below.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2273308" y="1499079"/>
                <a:ext cx="5183663" cy="35444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240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n-GB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315°</m:t>
                              </m:r>
                            </m:e>
                          </m:d>
                        </m:e>
                      </m:func>
                      <m:r>
                        <a:rPr lang="en-GB" sz="2400" i="1">
                          <a:latin typeface="Cambria Math" panose="02040503050406030204" pitchFamily="18" charset="0"/>
                        </a:rPr>
                        <m:t>   = </m:t>
                      </m:r>
                      <m:func>
                        <m:funcPr>
                          <m:ctrlPr>
                            <a:rPr lang="en-GB" sz="2400" b="1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GB" sz="2400" b="1">
                              <a:latin typeface="Cambria Math" panose="02040503050406030204" pitchFamily="18" charset="0"/>
                            </a:rPr>
                            <m:t>𝐜𝐨𝐬</m:t>
                          </m:r>
                        </m:fName>
                        <m:e>
                          <m:d>
                            <m:dPr>
                              <m:ctrlPr>
                                <a:rPr lang="en-GB" sz="24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400" b="1" i="1">
                                  <a:latin typeface="Cambria Math" panose="02040503050406030204" pitchFamily="18" charset="0"/>
                                </a:rPr>
                                <m:t>𝟒𝟓</m:t>
                              </m:r>
                              <m:r>
                                <a:rPr lang="en-GB" sz="2400" b="1" i="1">
                                  <a:latin typeface="Cambria Math" panose="02040503050406030204" pitchFamily="18" charset="0"/>
                                </a:rPr>
                                <m:t>°</m:t>
                              </m:r>
                            </m:e>
                          </m:d>
                        </m:e>
                      </m:func>
                      <m:r>
                        <a:rPr lang="en-GB" sz="2400" b="1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4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GB" sz="2400" b="1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sz="2400" b="1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en-GB" sz="2400" b="1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240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en-GB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420°</m:t>
                              </m:r>
                            </m:e>
                          </m:d>
                        </m:e>
                      </m:func>
                      <m:r>
                        <a:rPr lang="en-GB" sz="2400" i="1">
                          <a:latin typeface="Cambria Math" panose="02040503050406030204" pitchFamily="18" charset="0"/>
                        </a:rPr>
                        <m:t>    =</m:t>
                      </m:r>
                      <m:func>
                        <m:funcPr>
                          <m:ctrlPr>
                            <a:rPr lang="en-GB" sz="2400" b="1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GB" sz="2400" b="1">
                              <a:latin typeface="Cambria Math" panose="02040503050406030204" pitchFamily="18" charset="0"/>
                            </a:rPr>
                            <m:t>𝐬𝐢𝐧</m:t>
                          </m:r>
                        </m:fName>
                        <m:e>
                          <m:d>
                            <m:dPr>
                              <m:ctrlPr>
                                <a:rPr lang="en-GB" sz="24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400" b="1" i="1">
                                  <a:latin typeface="Cambria Math" panose="02040503050406030204" pitchFamily="18" charset="0"/>
                                </a:rPr>
                                <m:t>𝟔𝟎</m:t>
                              </m:r>
                              <m:r>
                                <a:rPr lang="en-GB" sz="2400" b="1" i="1">
                                  <a:latin typeface="Cambria Math" panose="02040503050406030204" pitchFamily="18" charset="0"/>
                                </a:rPr>
                                <m:t>°</m:t>
                              </m:r>
                            </m:e>
                          </m:d>
                        </m:e>
                      </m:func>
                      <m:r>
                        <a:rPr lang="en-GB" sz="2400" b="1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4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en-GB" sz="2400" b="1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sz="2400" b="1" i="1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e>
                          </m:rad>
                        </m:num>
                        <m:den>
                          <m:r>
                            <a:rPr lang="en-GB" sz="2400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</m:oMath>
                    <m:oMath xmlns:m="http://schemas.openxmlformats.org/officeDocument/2006/math">
                      <m:func>
                        <m:func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2400">
                              <a:latin typeface="Cambria Math" panose="02040503050406030204" pitchFamily="18" charset="0"/>
                            </a:rPr>
                            <m:t>tan</m:t>
                          </m:r>
                        </m:fName>
                        <m:e>
                          <m:d>
                            <m:dPr>
                              <m:ctrlPr>
                                <a:rPr lang="en-GB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−120°</m:t>
                              </m:r>
                            </m:e>
                          </m:d>
                        </m:e>
                      </m:func>
                      <m:r>
                        <a:rPr lang="en-GB" sz="2400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sz="2400" b="1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GB" sz="2400" b="1">
                              <a:latin typeface="Cambria Math" panose="02040503050406030204" pitchFamily="18" charset="0"/>
                            </a:rPr>
                            <m:t>𝐭𝐚𝐧</m:t>
                          </m:r>
                        </m:fName>
                        <m:e>
                          <m:d>
                            <m:dPr>
                              <m:ctrlPr>
                                <a:rPr lang="en-GB" sz="24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400" b="1" i="1">
                                  <a:latin typeface="Cambria Math" panose="02040503050406030204" pitchFamily="18" charset="0"/>
                                </a:rPr>
                                <m:t>𝟔𝟎</m:t>
                              </m:r>
                              <m:r>
                                <a:rPr lang="en-GB" sz="2400" b="1" i="1">
                                  <a:latin typeface="Cambria Math" panose="02040503050406030204" pitchFamily="18" charset="0"/>
                                </a:rPr>
                                <m:t>°</m:t>
                              </m:r>
                            </m:e>
                          </m:d>
                        </m:e>
                      </m:func>
                      <m:r>
                        <a:rPr lang="en-GB" sz="2400" b="1" i="1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GB" sz="2400" b="1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2400" b="1" i="1">
                              <a:latin typeface="Cambria Math" panose="02040503050406030204" pitchFamily="18" charset="0"/>
                            </a:rPr>
                            <m:t>𝟑</m:t>
                          </m:r>
                        </m:e>
                      </m:rad>
                    </m:oMath>
                  </m:oMathPara>
                </a14:m>
                <a:endParaRPr lang="en-GB" sz="2400" dirty="0"/>
              </a:p>
              <a:p>
                <a:pPr/>
                <a:br>
                  <a:rPr lang="en-GB" sz="2400" dirty="0"/>
                </a:b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2400">
                              <a:latin typeface="Cambria Math" panose="02040503050406030204" pitchFamily="18" charset="0"/>
                            </a:rPr>
                            <m:t>tan</m:t>
                          </m:r>
                        </m:fName>
                        <m:e>
                          <m:d>
                            <m:dPr>
                              <m:ctrlPr>
                                <a:rPr lang="en-GB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−45°</m:t>
                              </m:r>
                            </m:e>
                          </m:d>
                        </m:e>
                      </m:func>
                      <m:r>
                        <a:rPr lang="en-GB" sz="2400" i="1">
                          <a:latin typeface="Cambria Math" panose="02040503050406030204" pitchFamily="18" charset="0"/>
                        </a:rPr>
                        <m:t>  =</m:t>
                      </m:r>
                      <m:func>
                        <m:funcPr>
                          <m:ctrlPr>
                            <a:rPr lang="en-GB" sz="2400" b="1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GB" sz="2400" b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sz="2400" b="1" i="1">
                              <a:latin typeface="Cambria Math" panose="02040503050406030204" pitchFamily="18" charset="0"/>
                            </a:rPr>
                            <m:t>𝒕𝒂𝒏</m:t>
                          </m:r>
                        </m:fName>
                        <m:e>
                          <m:d>
                            <m:dPr>
                              <m:ctrlPr>
                                <a:rPr lang="en-GB" sz="24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400" b="1" i="1">
                                  <a:latin typeface="Cambria Math" panose="02040503050406030204" pitchFamily="18" charset="0"/>
                                </a:rPr>
                                <m:t>𝟒𝟓</m:t>
                              </m:r>
                              <m:r>
                                <a:rPr lang="en-GB" sz="2400" b="1" i="1">
                                  <a:latin typeface="Cambria Math" panose="02040503050406030204" pitchFamily="18" charset="0"/>
                                </a:rPr>
                                <m:t>°</m:t>
                              </m:r>
                            </m:e>
                          </m:d>
                        </m:e>
                      </m:func>
                      <m:r>
                        <a:rPr lang="en-GB" sz="2400" b="1" i="1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GB" sz="2400" b="1" i="1">
                          <a:latin typeface="Cambria Math" panose="02040503050406030204" pitchFamily="18" charset="0"/>
                        </a:rPr>
                        <m:t>𝟏</m:t>
                      </m:r>
                    </m:oMath>
                    <m:oMath xmlns:m="http://schemas.openxmlformats.org/officeDocument/2006/math">
                      <m:func>
                        <m:func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240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en-GB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135°</m:t>
                              </m:r>
                            </m:e>
                          </m:d>
                        </m:e>
                      </m:func>
                      <m:r>
                        <a:rPr lang="en-GB" sz="2400" i="1">
                          <a:latin typeface="Cambria Math" panose="02040503050406030204" pitchFamily="18" charset="0"/>
                        </a:rPr>
                        <m:t>    =</m:t>
                      </m:r>
                      <m:func>
                        <m:funcPr>
                          <m:ctrlPr>
                            <a:rPr lang="en-GB" sz="2400" b="1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GB" sz="2400" b="1">
                              <a:latin typeface="Cambria Math" panose="02040503050406030204" pitchFamily="18" charset="0"/>
                            </a:rPr>
                            <m:t>𝐬𝐢𝐧</m:t>
                          </m:r>
                        </m:fName>
                        <m:e>
                          <m:d>
                            <m:dPr>
                              <m:ctrlPr>
                                <a:rPr lang="en-GB" sz="24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400" b="1" i="1">
                                  <a:latin typeface="Cambria Math" panose="02040503050406030204" pitchFamily="18" charset="0"/>
                                </a:rPr>
                                <m:t>𝟒𝟓</m:t>
                              </m:r>
                              <m:r>
                                <a:rPr lang="en-GB" sz="2400" b="1" i="1">
                                  <a:latin typeface="Cambria Math" panose="02040503050406030204" pitchFamily="18" charset="0"/>
                                </a:rPr>
                                <m:t>°</m:t>
                              </m:r>
                            </m:e>
                          </m:d>
                        </m:e>
                      </m:func>
                      <m:r>
                        <a:rPr lang="en-GB" sz="2400" b="1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4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GB" sz="2400" b="1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sz="2400" b="1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en-GB" sz="2400" b="1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3308" y="1499079"/>
                <a:ext cx="5183663" cy="3544432"/>
              </a:xfrm>
              <a:prstGeom prst="rect">
                <a:avLst/>
              </a:prstGeom>
              <a:blipFill>
                <a:blip r:embed="rId2"/>
                <a:stretch>
                  <a:fillRect l="-244" b="-35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6"/>
          <p:cNvSpPr/>
          <p:nvPr/>
        </p:nvSpPr>
        <p:spPr>
          <a:xfrm>
            <a:off x="4253271" y="1483912"/>
            <a:ext cx="2339238" cy="84133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8" name="Rectangle 7"/>
          <p:cNvSpPr/>
          <p:nvPr/>
        </p:nvSpPr>
        <p:spPr>
          <a:xfrm>
            <a:off x="4259633" y="2325249"/>
            <a:ext cx="2332876" cy="76971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3271" y="3102570"/>
            <a:ext cx="2339238" cy="54245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57541" y="3610395"/>
            <a:ext cx="2339238" cy="58946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53271" y="4216484"/>
            <a:ext cx="2339238" cy="84133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7680177" y="1517962"/>
                <a:ext cx="2677060" cy="1077218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pPr marL="285744" indent="-285744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func>
                      <m:func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160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d>
                          <m:dPr>
                            <m:ctrlPr>
                              <a:rPr lang="en-GB" sz="1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16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func>
                    <m:r>
                      <a:rPr lang="en-GB" sz="1600" i="1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160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d>
                          <m:dPr>
                            <m:ctrlPr>
                              <a:rPr lang="en-GB" sz="1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1600" i="1">
                                <a:latin typeface="Cambria Math" panose="02040503050406030204" pitchFamily="18" charset="0"/>
                              </a:rPr>
                              <m:t>180−</m:t>
                            </m:r>
                            <m:r>
                              <a:rPr lang="en-GB" sz="16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func>
                  </m:oMath>
                </a14:m>
                <a:endParaRPr lang="en-GB" sz="1600" dirty="0"/>
              </a:p>
              <a:p>
                <a:pPr marL="285744" indent="-285744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func>
                      <m:func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160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d>
                          <m:dPr>
                            <m:ctrlPr>
                              <a:rPr lang="en-GB" sz="1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16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func>
                    <m:r>
                      <a:rPr lang="en-GB" sz="1600" i="1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160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d>
                          <m:dPr>
                            <m:ctrlPr>
                              <a:rPr lang="en-GB" sz="1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1600" i="1">
                                <a:latin typeface="Cambria Math" panose="02040503050406030204" pitchFamily="18" charset="0"/>
                              </a:rPr>
                              <m:t>360−</m:t>
                            </m:r>
                            <m:r>
                              <a:rPr lang="en-GB" sz="16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func>
                  </m:oMath>
                </a14:m>
                <a:endParaRPr lang="en-GB" sz="1600" dirty="0"/>
              </a:p>
              <a:p>
                <a:pPr marL="285744" indent="-285744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𝑠𝑖𝑛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𝑐𝑜𝑠</m:t>
                    </m:r>
                  </m:oMath>
                </a14:m>
                <a:r>
                  <a:rPr lang="en-GB" sz="1600" dirty="0"/>
                  <a:t> repeat every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360°</m:t>
                    </m:r>
                  </m:oMath>
                </a14:m>
                <a:r>
                  <a:rPr lang="en-GB" sz="1600" dirty="0"/>
                  <a:t> but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𝑡𝑎𝑛</m:t>
                    </m:r>
                  </m:oMath>
                </a14:m>
                <a:r>
                  <a:rPr lang="en-GB" sz="1600" dirty="0"/>
                  <a:t> every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180°</m:t>
                    </m:r>
                  </m:oMath>
                </a14:m>
                <a:endParaRPr lang="en-GB" sz="1600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80177" y="1517962"/>
                <a:ext cx="2677060" cy="1077218"/>
              </a:xfrm>
              <a:prstGeom prst="rect">
                <a:avLst/>
              </a:prstGeom>
              <a:blipFill>
                <a:blip r:embed="rId3"/>
                <a:stretch>
                  <a:fillRect l="-467" b="-454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590762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</p:bldLst>
  </p:timing>
</p:sld>
</file>

<file path=ppt/c10/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2" y="2"/>
            <a:ext cx="9143075" cy="1077218"/>
            <a:chOff x="0" y="13335"/>
            <a:chExt cx="9144218" cy="1077218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1" cy="1077218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Exercise 10B – Y1 Page 209</a:t>
              </a:r>
            </a:p>
            <a:p>
              <a:endParaRPr lang="en-GB" dirty="0"/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728E443E-A6D9-14B6-1054-66D5AC1AE7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3512" y="627047"/>
            <a:ext cx="7772400" cy="143971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277C096-D0F8-CAE0-6CB0-667C4E7997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6146" y="2242626"/>
            <a:ext cx="2232248" cy="4608203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B3D74A44-36B2-3D71-5330-F4803844ABE2}"/>
              </a:ext>
            </a:extLst>
          </p:cNvPr>
          <p:cNvGrpSpPr/>
          <p:nvPr/>
        </p:nvGrpSpPr>
        <p:grpSpPr>
          <a:xfrm>
            <a:off x="3935760" y="2238525"/>
            <a:ext cx="2152228" cy="4524800"/>
            <a:chOff x="2590665" y="2082944"/>
            <a:chExt cx="2152228" cy="4524800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2BDEE4EE-9FDC-5EEB-3EC2-4DB459B12DD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590665" y="2082944"/>
              <a:ext cx="2152228" cy="3362280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79D526AC-E9A2-B85C-9E9F-46BAD818B5F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618514" y="5568242"/>
              <a:ext cx="2050910" cy="1039502"/>
            </a:xfrm>
            <a:prstGeom prst="rect">
              <a:avLst/>
            </a:prstGeom>
          </p:spPr>
        </p:pic>
      </p:grpSp>
      <p:pic>
        <p:nvPicPr>
          <p:cNvPr id="12" name="Picture 11">
            <a:extLst>
              <a:ext uri="{FF2B5EF4-FFF2-40B4-BE49-F238E27FC236}">
                <a16:creationId xmlns:a16="http://schemas.microsoft.com/office/drawing/2014/main" id="{998C27D5-0040-337D-7970-13F0AACF95C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17498" y="2306439"/>
            <a:ext cx="2330695" cy="424847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8FB444E-E32C-7AE6-1C9E-84547C61CB33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5355" r="9819"/>
          <a:stretch/>
        </p:blipFill>
        <p:spPr>
          <a:xfrm>
            <a:off x="8479924" y="2223558"/>
            <a:ext cx="2127909" cy="3367804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68700230-C86A-2201-4EAA-99A7BF6F2014}"/>
              </a:ext>
            </a:extLst>
          </p:cNvPr>
          <p:cNvSpPr/>
          <p:nvPr/>
        </p:nvSpPr>
        <p:spPr>
          <a:xfrm>
            <a:off x="1732980" y="2263821"/>
            <a:ext cx="2149330" cy="10801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a?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7D9E618-7D76-75F2-30FD-A4CF96D6F191}"/>
              </a:ext>
            </a:extLst>
          </p:cNvPr>
          <p:cNvSpPr/>
          <p:nvPr/>
        </p:nvSpPr>
        <p:spPr>
          <a:xfrm>
            <a:off x="1732980" y="3381234"/>
            <a:ext cx="2149330" cy="123666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b?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5D4FCB9-5A2C-744F-023D-F7A84B6E1B81}"/>
              </a:ext>
            </a:extLst>
          </p:cNvPr>
          <p:cNvSpPr/>
          <p:nvPr/>
        </p:nvSpPr>
        <p:spPr>
          <a:xfrm>
            <a:off x="1732980" y="4655188"/>
            <a:ext cx="2149330" cy="112052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c?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5B6107B-8894-3756-A8BD-1FF1B598015A}"/>
              </a:ext>
            </a:extLst>
          </p:cNvPr>
          <p:cNvSpPr/>
          <p:nvPr/>
        </p:nvSpPr>
        <p:spPr>
          <a:xfrm>
            <a:off x="1732980" y="5813007"/>
            <a:ext cx="2149330" cy="99730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d?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DB98455-A1BF-8C3F-8538-7EE9239F65E6}"/>
              </a:ext>
            </a:extLst>
          </p:cNvPr>
          <p:cNvSpPr/>
          <p:nvPr/>
        </p:nvSpPr>
        <p:spPr>
          <a:xfrm>
            <a:off x="3960400" y="2262876"/>
            <a:ext cx="2149330" cy="107137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e?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8966CED-4B37-C105-B9DB-B4EBDF90831E}"/>
              </a:ext>
            </a:extLst>
          </p:cNvPr>
          <p:cNvSpPr/>
          <p:nvPr/>
        </p:nvSpPr>
        <p:spPr>
          <a:xfrm>
            <a:off x="3960400" y="3380289"/>
            <a:ext cx="2149330" cy="120572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f?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70FB2AD-D3EF-B2E3-FC5D-790080B97BDB}"/>
              </a:ext>
            </a:extLst>
          </p:cNvPr>
          <p:cNvSpPr/>
          <p:nvPr/>
        </p:nvSpPr>
        <p:spPr>
          <a:xfrm>
            <a:off x="3960400" y="4654242"/>
            <a:ext cx="2149330" cy="101479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g?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DA4F3B6-47B9-D899-27E9-A2FB167AC89B}"/>
              </a:ext>
            </a:extLst>
          </p:cNvPr>
          <p:cNvSpPr/>
          <p:nvPr/>
        </p:nvSpPr>
        <p:spPr>
          <a:xfrm>
            <a:off x="3961973" y="5715077"/>
            <a:ext cx="2149330" cy="109429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h?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722D449-E87C-6252-D08C-B32AAFB98E62}"/>
              </a:ext>
            </a:extLst>
          </p:cNvPr>
          <p:cNvSpPr/>
          <p:nvPr/>
        </p:nvSpPr>
        <p:spPr>
          <a:xfrm>
            <a:off x="6187820" y="2266884"/>
            <a:ext cx="2149330" cy="111741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i?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0C65DF5-5F41-90AD-E876-39EE3859D36E}"/>
              </a:ext>
            </a:extLst>
          </p:cNvPr>
          <p:cNvSpPr/>
          <p:nvPr/>
        </p:nvSpPr>
        <p:spPr>
          <a:xfrm>
            <a:off x="6187820" y="3428999"/>
            <a:ext cx="2149330" cy="119195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j?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37A7B1D-0016-D68D-699C-EF2EF03F5E1B}"/>
              </a:ext>
            </a:extLst>
          </p:cNvPr>
          <p:cNvSpPr/>
          <p:nvPr/>
        </p:nvSpPr>
        <p:spPr>
          <a:xfrm>
            <a:off x="6187820" y="4665660"/>
            <a:ext cx="2149330" cy="91844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k?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51C9247-D14F-53D7-A0C2-E628A8FD1DAE}"/>
              </a:ext>
            </a:extLst>
          </p:cNvPr>
          <p:cNvSpPr/>
          <p:nvPr/>
        </p:nvSpPr>
        <p:spPr>
          <a:xfrm>
            <a:off x="6190966" y="5620930"/>
            <a:ext cx="2149330" cy="119244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l?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ED3EED0-9120-9EB1-B009-E04709332F26}"/>
              </a:ext>
            </a:extLst>
          </p:cNvPr>
          <p:cNvSpPr/>
          <p:nvPr/>
        </p:nvSpPr>
        <p:spPr>
          <a:xfrm>
            <a:off x="8415239" y="2270080"/>
            <a:ext cx="2149330" cy="111020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m?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48EFF6F-5CA7-D979-5804-DBF0D9C1A223}"/>
              </a:ext>
            </a:extLst>
          </p:cNvPr>
          <p:cNvSpPr/>
          <p:nvPr/>
        </p:nvSpPr>
        <p:spPr>
          <a:xfrm>
            <a:off x="8415239" y="3429000"/>
            <a:ext cx="2149330" cy="103861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n?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FB6D59B-356E-6718-B8E4-CB9D70F1ACCA}"/>
              </a:ext>
            </a:extLst>
          </p:cNvPr>
          <p:cNvSpPr/>
          <p:nvPr/>
        </p:nvSpPr>
        <p:spPr>
          <a:xfrm>
            <a:off x="8415239" y="4527216"/>
            <a:ext cx="2149330" cy="108333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o?</a:t>
            </a:r>
          </a:p>
        </p:txBody>
      </p:sp>
    </p:spTree>
    <p:extLst>
      <p:ext uri="{BB962C8B-B14F-4D97-AF65-F5344CB8AC3E}">
        <p14:creationId xmlns:p14="http://schemas.microsoft.com/office/powerpoint/2010/main" val="8512332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  <p:seq concurrent="1" nextAc="seek">
              <p:cTn id="44" restart="whenNotActive" fill="hold" evtFilter="cancelBubble" nodeType="interactiveSeq">
                <p:stCondLst>
                  <p:cond evt="onClick" delay="0">
                    <p:tgtEl>
                      <p:spTgt spid="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" fill="hold">
                      <p:stCondLst>
                        <p:cond delay="0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"/>
                  </p:tgtEl>
                </p:cond>
              </p:nextCondLst>
            </p:seq>
            <p:seq concurrent="1" nextAc="seek">
              <p:cTn id="50" restart="whenNotActive" fill="hold" evtFilter="cancelBubble" nodeType="interactiveSeq">
                <p:stCondLst>
                  <p:cond evt="onClick" delay="0">
                    <p:tgtEl>
                      <p:spTgt spid="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"/>
                  </p:tgtEl>
                </p:cond>
              </p:nextCondLst>
            </p:seq>
            <p:seq concurrent="1" nextAc="seek">
              <p:cTn id="56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" fill="hold">
                      <p:stCondLst>
                        <p:cond delay="0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62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" fill="hold">
                      <p:stCondLst>
                        <p:cond delay="0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  <p:seq concurrent="1" nextAc="seek">
              <p:cTn id="68" restart="whenNotActive" fill="hold" evtFilter="cancelBubble" nodeType="interactiveSeq">
                <p:stCondLst>
                  <p:cond evt="onClick" delay="0">
                    <p:tgtEl>
                      <p:spTgt spid="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9" fill="hold">
                      <p:stCondLst>
                        <p:cond delay="0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7"/>
                  </p:tgtEl>
                </p:cond>
              </p:nextCondLst>
            </p:seq>
            <p:seq concurrent="1" nextAc="seek">
              <p:cTn id="74" restart="whenNotActive" fill="hold" evtFilter="cancelBubble" nodeType="interactiveSeq">
                <p:stCondLst>
                  <p:cond evt="onClick" delay="0">
                    <p:tgtEl>
                      <p:spTgt spid="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5" fill="hold">
                      <p:stCondLst>
                        <p:cond delay="0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"/>
                  </p:tgtEl>
                </p:cond>
              </p:nextCondLst>
            </p:seq>
            <p:seq concurrent="1" nextAc="seek">
              <p:cTn id="80" restart="whenNotActive" fill="hold" evtFilter="cancelBubble" nodeType="interactiveSeq">
                <p:stCondLst>
                  <p:cond evt="onClick" delay="0">
                    <p:tgtEl>
                      <p:spTgt spid="2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1" fill="hold">
                      <p:stCondLst>
                        <p:cond delay="0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9"/>
                  </p:tgtEl>
                </p:cond>
              </p:nextCondLst>
            </p:seq>
            <p:seq concurrent="1" nextAc="seek">
              <p:cTn id="86" restart="whenNotActive" fill="hold" evtFilter="cancelBubble" nodeType="interactiveSeq">
                <p:stCondLst>
                  <p:cond evt="onClick" delay="0">
                    <p:tgtEl>
                      <p:spTgt spid="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7" fill="hold">
                      <p:stCondLst>
                        <p:cond delay="0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0"/>
                  </p:tgtEl>
                </p:cond>
              </p:nextCondLst>
            </p:seq>
          </p:childTnLst>
        </p:cTn>
      </p:par>
    </p:tnLst>
    <p:bldLst>
      <p:bldP spid="15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c10/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2" y="2"/>
            <a:ext cx="9143075" cy="1077218"/>
            <a:chOff x="0" y="13335"/>
            <a:chExt cx="9144218" cy="1077218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1" cy="1077218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Exercise 10A/B – Y1 Page 207, 209</a:t>
              </a:r>
            </a:p>
            <a:p>
              <a:endParaRPr lang="en-GB" dirty="0"/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0846FCA5-D03E-3EC2-AB8B-CF8D22391E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1505" y="631323"/>
            <a:ext cx="4999789" cy="2067283"/>
          </a:xfrm>
          <a:prstGeom prst="rect">
            <a:avLst/>
          </a:prstGeom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BBD57056-09B9-3914-F363-4FF5405B8699}"/>
              </a:ext>
            </a:extLst>
          </p:cNvPr>
          <p:cNvGrpSpPr/>
          <p:nvPr/>
        </p:nvGrpSpPr>
        <p:grpSpPr>
          <a:xfrm>
            <a:off x="1631505" y="2996952"/>
            <a:ext cx="5298701" cy="2902184"/>
            <a:chOff x="132891" y="2831072"/>
            <a:chExt cx="4134700" cy="2264642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6BBFC3CC-AD72-AD2D-3646-C6753008DE7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88703" y="3792031"/>
              <a:ext cx="1622863" cy="734729"/>
            </a:xfrm>
            <a:prstGeom prst="rect">
              <a:avLst/>
            </a:prstGeom>
          </p:spPr>
        </p:pic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0F7AF58A-94A0-9D8A-F5B5-191F295F773E}"/>
                </a:ext>
              </a:extLst>
            </p:cNvPr>
            <p:cNvGrpSpPr/>
            <p:nvPr/>
          </p:nvGrpSpPr>
          <p:grpSpPr>
            <a:xfrm>
              <a:off x="132891" y="2865172"/>
              <a:ext cx="1874259" cy="936104"/>
              <a:chOff x="0" y="2780929"/>
              <a:chExt cx="2607398" cy="1302272"/>
            </a:xfrm>
          </p:grpSpPr>
          <p:pic>
            <p:nvPicPr>
              <p:cNvPr id="6" name="Picture 5">
                <a:extLst>
                  <a:ext uri="{FF2B5EF4-FFF2-40B4-BE49-F238E27FC236}">
                    <a16:creationId xmlns:a16="http://schemas.microsoft.com/office/drawing/2014/main" id="{C2509898-2AB7-E4D0-718E-A6C4C87108C1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/>
              <a:srcRect b="54404"/>
              <a:stretch/>
            </p:blipFill>
            <p:spPr>
              <a:xfrm>
                <a:off x="0" y="2780929"/>
                <a:ext cx="1625531" cy="1017816"/>
              </a:xfrm>
              <a:prstGeom prst="rect">
                <a:avLst/>
              </a:prstGeom>
            </p:spPr>
          </p:pic>
          <p:pic>
            <p:nvPicPr>
              <p:cNvPr id="7" name="Picture 6">
                <a:extLst>
                  <a:ext uri="{FF2B5EF4-FFF2-40B4-BE49-F238E27FC236}">
                    <a16:creationId xmlns:a16="http://schemas.microsoft.com/office/drawing/2014/main" id="{5431F6D5-C0AD-1E47-FD32-8139BBB4BB8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103342" y="3353623"/>
                <a:ext cx="504056" cy="317774"/>
              </a:xfrm>
              <a:prstGeom prst="rect">
                <a:avLst/>
              </a:prstGeom>
            </p:spPr>
          </p:pic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50B04BC2-D247-EDD4-60B8-4D766388C85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566013" y="3270401"/>
                <a:ext cx="660400" cy="812800"/>
              </a:xfrm>
              <a:prstGeom prst="rect">
                <a:avLst/>
              </a:prstGeom>
            </p:spPr>
          </p:pic>
        </p:grp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2B74B362-48CB-2491-4480-EBCB893A0A7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205528" y="2831072"/>
              <a:ext cx="2062063" cy="804708"/>
            </a:xfrm>
            <a:prstGeom prst="rect">
              <a:avLst/>
            </a:prstGeom>
          </p:spPr>
        </p:pic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73F967B7-80A5-F7B4-78D8-334321070825}"/>
                </a:ext>
              </a:extLst>
            </p:cNvPr>
            <p:cNvGrpSpPr/>
            <p:nvPr/>
          </p:nvGrpSpPr>
          <p:grpSpPr>
            <a:xfrm>
              <a:off x="2405337" y="3635780"/>
              <a:ext cx="909716" cy="575816"/>
              <a:chOff x="534596" y="5393819"/>
              <a:chExt cx="1063029" cy="672858"/>
            </a:xfrm>
          </p:grpSpPr>
          <p:pic>
            <p:nvPicPr>
              <p:cNvPr id="12" name="Picture 11">
                <a:extLst>
                  <a:ext uri="{FF2B5EF4-FFF2-40B4-BE49-F238E27FC236}">
                    <a16:creationId xmlns:a16="http://schemas.microsoft.com/office/drawing/2014/main" id="{9013AD07-55E7-5588-F60C-5CEF1208709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34596" y="5393819"/>
                <a:ext cx="1063029" cy="243814"/>
              </a:xfrm>
              <a:prstGeom prst="rect">
                <a:avLst/>
              </a:prstGeom>
            </p:spPr>
          </p:pic>
          <p:pic>
            <p:nvPicPr>
              <p:cNvPr id="14" name="Picture 13">
                <a:extLst>
                  <a:ext uri="{FF2B5EF4-FFF2-40B4-BE49-F238E27FC236}">
                    <a16:creationId xmlns:a16="http://schemas.microsoft.com/office/drawing/2014/main" id="{AE3F2A59-D189-4C94-215E-E425C4354BB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29165" y="5602620"/>
                <a:ext cx="869052" cy="464057"/>
              </a:xfrm>
              <a:prstGeom prst="rect">
                <a:avLst/>
              </a:prstGeom>
            </p:spPr>
          </p:pic>
        </p:grpSp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A7948B32-3A52-06E8-D32B-DE01C458F3A9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2239377" y="4241261"/>
              <a:ext cx="1676641" cy="575816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C33A6034-ED72-D9DF-BB0A-67EC3EA65ABA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3245368" y="4604813"/>
              <a:ext cx="326008" cy="220055"/>
            </a:xfrm>
            <a:prstGeom prst="rect">
              <a:avLst/>
            </a:prstGeom>
          </p:spPr>
        </p:pic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B8912865-71AB-F65A-D0B2-F2981AD68A25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2405337" y="4859251"/>
              <a:ext cx="1111374" cy="236463"/>
            </a:xfrm>
            <a:prstGeom prst="rect">
              <a:avLst/>
            </a:prstGeom>
          </p:spPr>
        </p:pic>
      </p:grpSp>
      <p:pic>
        <p:nvPicPr>
          <p:cNvPr id="19" name="Picture 18">
            <a:extLst>
              <a:ext uri="{FF2B5EF4-FFF2-40B4-BE49-F238E27FC236}">
                <a16:creationId xmlns:a16="http://schemas.microsoft.com/office/drawing/2014/main" id="{6A023C5E-7F90-8C2D-0FE5-B943B0BA0184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074904" y="2780928"/>
            <a:ext cx="3327400" cy="3340100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A0C4F8DA-A35A-095F-16E0-78AB0D4BA824}"/>
              </a:ext>
            </a:extLst>
          </p:cNvPr>
          <p:cNvSpPr/>
          <p:nvPr/>
        </p:nvSpPr>
        <p:spPr>
          <a:xfrm>
            <a:off x="1643526" y="2922094"/>
            <a:ext cx="5388578" cy="309919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a?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16DAC5C-56C8-D60B-7BFC-73A42C94C839}"/>
              </a:ext>
            </a:extLst>
          </p:cNvPr>
          <p:cNvSpPr/>
          <p:nvPr/>
        </p:nvSpPr>
        <p:spPr>
          <a:xfrm>
            <a:off x="7184430" y="2922094"/>
            <a:ext cx="3301306" cy="50690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b?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15D47E9-5487-1B3C-EC88-ED7528F68826}"/>
              </a:ext>
            </a:extLst>
          </p:cNvPr>
          <p:cNvSpPr/>
          <p:nvPr/>
        </p:nvSpPr>
        <p:spPr>
          <a:xfrm>
            <a:off x="7184430" y="3491547"/>
            <a:ext cx="3301306" cy="252974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b?</a:t>
            </a:r>
          </a:p>
        </p:txBody>
      </p:sp>
    </p:spTree>
    <p:extLst>
      <p:ext uri="{BB962C8B-B14F-4D97-AF65-F5344CB8AC3E}">
        <p14:creationId xmlns:p14="http://schemas.microsoft.com/office/powerpoint/2010/main" val="37511758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"/>
                  </p:tgtEl>
                </p:cond>
              </p:nextCondLst>
            </p:seq>
          </p:childTnLst>
        </p:cTn>
      </p:par>
    </p:tnLst>
    <p:bldLst>
      <p:bldP spid="21" grpId="0" animBg="1"/>
      <p:bldP spid="23" grpId="0" animBg="1"/>
      <p:bldP spid="24" grpId="0" animBg="1"/>
    </p:bldLst>
  </p:timing>
</p:sld>
</file>

<file path=ppt/c10/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2" y="2"/>
            <a:ext cx="9143075" cy="587744"/>
            <a:chOff x="0" y="13335"/>
            <a:chExt cx="9144218" cy="587744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1" cy="584775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Solving Trigonometric Equations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7669543" y="901276"/>
                <a:ext cx="2677060" cy="1323439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sz="1600" b="1" dirty="0">
                    <a:latin typeface="+mj-lt"/>
                  </a:rPr>
                  <a:t>Reminder of ‘trig laws’:</a:t>
                </a:r>
              </a:p>
              <a:p>
                <a:pPr marL="285744" indent="-285744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func>
                      <m:func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160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d>
                          <m:dPr>
                            <m:ctrlPr>
                              <a:rPr lang="en-GB" sz="1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16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func>
                    <m:r>
                      <a:rPr lang="en-GB" sz="1600" i="1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160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d>
                          <m:dPr>
                            <m:ctrlPr>
                              <a:rPr lang="en-GB" sz="1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1600" i="1">
                                <a:latin typeface="Cambria Math" panose="02040503050406030204" pitchFamily="18" charset="0"/>
                              </a:rPr>
                              <m:t>180−</m:t>
                            </m:r>
                            <m:r>
                              <a:rPr lang="en-GB" sz="16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func>
                  </m:oMath>
                </a14:m>
                <a:endParaRPr lang="en-GB" sz="1600" dirty="0"/>
              </a:p>
              <a:p>
                <a:pPr marL="285744" indent="-285744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func>
                      <m:func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160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d>
                          <m:dPr>
                            <m:ctrlPr>
                              <a:rPr lang="en-GB" sz="1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16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func>
                    <m:r>
                      <a:rPr lang="en-GB" sz="1600" i="1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160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d>
                          <m:dPr>
                            <m:ctrlPr>
                              <a:rPr lang="en-GB" sz="1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1600" i="1">
                                <a:latin typeface="Cambria Math" panose="02040503050406030204" pitchFamily="18" charset="0"/>
                              </a:rPr>
                              <m:t>360−</m:t>
                            </m:r>
                            <m:r>
                              <a:rPr lang="en-GB" sz="16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func>
                  </m:oMath>
                </a14:m>
                <a:endParaRPr lang="en-GB" sz="1600" dirty="0"/>
              </a:p>
              <a:p>
                <a:pPr marL="285744" indent="-285744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𝑠𝑖𝑛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𝑐𝑜𝑠</m:t>
                    </m:r>
                  </m:oMath>
                </a14:m>
                <a:r>
                  <a:rPr lang="en-GB" sz="1600" dirty="0"/>
                  <a:t> repeat every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360°</m:t>
                    </m:r>
                  </m:oMath>
                </a14:m>
                <a:r>
                  <a:rPr lang="en-GB" sz="1600" dirty="0"/>
                  <a:t> but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𝑡𝑎𝑛</m:t>
                    </m:r>
                  </m:oMath>
                </a14:m>
                <a:r>
                  <a:rPr lang="en-GB" sz="1600" dirty="0"/>
                  <a:t> every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180°</m:t>
                    </m:r>
                  </m:oMath>
                </a14:m>
                <a:endParaRPr lang="en-GB" sz="16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69543" y="901276"/>
                <a:ext cx="2677060" cy="1323439"/>
              </a:xfrm>
              <a:prstGeom prst="rect">
                <a:avLst/>
              </a:prstGeom>
              <a:blipFill>
                <a:blip r:embed="rId2"/>
                <a:stretch>
                  <a:fillRect l="-467" t="-935" b="-373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/>
          <p:cNvSpPr txBox="1"/>
          <p:nvPr/>
        </p:nvSpPr>
        <p:spPr>
          <a:xfrm>
            <a:off x="1847528" y="848115"/>
            <a:ext cx="511256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Remember those trigonometric angle laws (on the right) earlier this chapter? They’re about to become very useful!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1991548" y="2492899"/>
                <a:ext cx="5197629" cy="526939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2000" dirty="0"/>
                  <a:t>Solve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200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func>
                    <m:r>
                      <a:rPr lang="en-GB" sz="20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GB" sz="2000" dirty="0"/>
                  <a:t> in the interval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 panose="02040503050406030204" pitchFamily="18" charset="0"/>
                      </a:rPr>
                      <m:t>0≤</m:t>
                    </m:r>
                    <m:r>
                      <a:rPr lang="en-GB" sz="2000" i="1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GB" sz="2000" i="1">
                        <a:latin typeface="Cambria Math" panose="02040503050406030204" pitchFamily="18" charset="0"/>
                      </a:rPr>
                      <m:t>≤360°</m:t>
                    </m:r>
                  </m:oMath>
                </a14:m>
                <a:r>
                  <a:rPr lang="en-GB" sz="2000" dirty="0"/>
                  <a:t>.</a:t>
                </a: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1548" y="2492899"/>
                <a:ext cx="5197629" cy="52693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205561" y="3154974"/>
                <a:ext cx="3672408" cy="8956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GB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e>
                            <m:sup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fName>
                        <m:e>
                          <m:d>
                            <m:d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e>
                      </m:func>
                      <m:r>
                        <a:rPr lang="en-GB" i="1">
                          <a:latin typeface="Cambria Math" panose="02040503050406030204" pitchFamily="18" charset="0"/>
                        </a:rPr>
                        <m:t>=30°</m:t>
                      </m:r>
                    </m:oMath>
                  </m:oMathPara>
                </a14:m>
                <a:br>
                  <a:rPr lang="en-GB" dirty="0"/>
                </a:br>
                <a:r>
                  <a:rPr lang="en-GB" dirty="0"/>
                  <a:t>or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=180°−30°=150°</m:t>
                    </m:r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5561" y="3154974"/>
                <a:ext cx="3672408" cy="895630"/>
              </a:xfrm>
              <a:prstGeom prst="rect">
                <a:avLst/>
              </a:prstGeom>
              <a:blipFill>
                <a:blip r:embed="rId4"/>
                <a:stretch>
                  <a:fillRect l="-1379" b="-1126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7527947" y="3138037"/>
                <a:ext cx="2677060" cy="1169551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sz="1400" b="1" dirty="0">
                    <a:latin typeface="+mj-lt"/>
                  </a:rPr>
                  <a:t>Calculator Note:</a:t>
                </a:r>
              </a:p>
              <a:p>
                <a:r>
                  <a:rPr lang="en-GB" sz="1400" dirty="0">
                    <a:latin typeface="+mj-lt"/>
                  </a:rPr>
                  <a:t>When you do </a:t>
                </a:r>
                <a14:m>
                  <m:oMath xmlns:m="http://schemas.openxmlformats.org/officeDocument/2006/math">
                    <m:r>
                      <a:rPr lang="en-GB" sz="1400" i="1">
                        <a:latin typeface="Cambria Math" panose="02040503050406030204" pitchFamily="18" charset="0"/>
                      </a:rPr>
                      <m:t>𝑠𝑖</m:t>
                    </m:r>
                    <m:sSup>
                      <m:sSupPr>
                        <m:ctrlPr>
                          <a:rPr lang="en-GB" sz="1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GB" sz="1400" dirty="0">
                    <a:latin typeface="+mj-lt"/>
                  </a:rPr>
                  <a:t>, </a:t>
                </a:r>
                <a14:m>
                  <m:oMath xmlns:m="http://schemas.openxmlformats.org/officeDocument/2006/math">
                    <m:r>
                      <a:rPr lang="en-GB" sz="1400" i="1" dirty="0">
                        <a:latin typeface="Cambria Math" panose="02040503050406030204" pitchFamily="18" charset="0"/>
                      </a:rPr>
                      <m:t>𝑐𝑜</m:t>
                    </m:r>
                    <m:sSup>
                      <m:sSupPr>
                        <m:ctrlPr>
                          <a:rPr lang="en-GB" sz="14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400" i="1" dirty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GB" sz="1400" i="1" dirty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GB" sz="1400" dirty="0">
                    <a:latin typeface="+mj-lt"/>
                  </a:rPr>
                  <a:t> and </a:t>
                </a:r>
                <a14:m>
                  <m:oMath xmlns:m="http://schemas.openxmlformats.org/officeDocument/2006/math">
                    <m:r>
                      <a:rPr lang="en-GB" sz="1400" i="1">
                        <a:latin typeface="Cambria Math" panose="02040503050406030204" pitchFamily="18" charset="0"/>
                      </a:rPr>
                      <m:t>𝑡𝑎</m:t>
                    </m:r>
                    <m:sSup>
                      <m:sSupPr>
                        <m:ctrlPr>
                          <a:rPr lang="en-GB" sz="1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GB" sz="1400" dirty="0">
                    <a:latin typeface="+mj-lt"/>
                  </a:rPr>
                  <a:t> on a calculator, it gives you only one value, known as the </a:t>
                </a:r>
                <a:r>
                  <a:rPr lang="en-GB" sz="1400" b="1" dirty="0">
                    <a:latin typeface="+mj-lt"/>
                  </a:rPr>
                  <a:t>principal value</a:t>
                </a:r>
                <a:r>
                  <a:rPr lang="en-GB" sz="1400" dirty="0">
                    <a:latin typeface="+mj-lt"/>
                  </a:rPr>
                  <a:t>.</a:t>
                </a: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27947" y="3138037"/>
                <a:ext cx="2677060" cy="1169551"/>
              </a:xfrm>
              <a:prstGeom prst="rect">
                <a:avLst/>
              </a:prstGeom>
              <a:blipFill>
                <a:blip r:embed="rId5"/>
                <a:stretch>
                  <a:fillRect b="-315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1991547" y="4562284"/>
                <a:ext cx="5997051" cy="400110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2000" dirty="0"/>
                  <a:t>Solve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 panose="02040503050406030204" pitchFamily="18" charset="0"/>
                      </a:rPr>
                      <m:t>5</m:t>
                    </m:r>
                    <m:func>
                      <m:func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2000">
                            <a:latin typeface="Cambria Math" panose="02040503050406030204" pitchFamily="18" charset="0"/>
                          </a:rPr>
                          <m:t>tan</m:t>
                        </m:r>
                      </m:fName>
                      <m:e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func>
                    <m:r>
                      <a:rPr lang="en-GB" sz="2000" i="1">
                        <a:latin typeface="Cambria Math" panose="02040503050406030204" pitchFamily="18" charset="0"/>
                      </a:rPr>
                      <m:t>=10</m:t>
                    </m:r>
                  </m:oMath>
                </a14:m>
                <a:r>
                  <a:rPr lang="en-GB" sz="2000" dirty="0"/>
                  <a:t> in the interval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 panose="02040503050406030204" pitchFamily="18" charset="0"/>
                      </a:rPr>
                      <m:t>−180°≤</m:t>
                    </m:r>
                    <m:r>
                      <a:rPr lang="en-GB" sz="2000" i="1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GB" sz="2000" i="1">
                        <a:latin typeface="Cambria Math" panose="02040503050406030204" pitchFamily="18" charset="0"/>
                      </a:rPr>
                      <m:t>&lt;180°</m:t>
                    </m:r>
                  </m:oMath>
                </a14:m>
                <a:endParaRPr lang="en-GB" sz="2000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1547" y="4562284"/>
                <a:ext cx="5997051" cy="400110"/>
              </a:xfrm>
              <a:prstGeom prst="rect">
                <a:avLst/>
              </a:prstGeom>
              <a:blipFill>
                <a:blip r:embed="rId6"/>
                <a:stretch>
                  <a:fillRect b="-4545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7512327" y="5155178"/>
                <a:ext cx="2794169" cy="738664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sz="1400" b="1" dirty="0">
                    <a:latin typeface="+mj-lt"/>
                  </a:rPr>
                  <a:t>Tip: </a:t>
                </a:r>
                <a:r>
                  <a:rPr lang="en-GB" sz="1400" dirty="0">
                    <a:latin typeface="+mj-lt"/>
                  </a:rPr>
                  <a:t>Look out for the solution range required. </a:t>
                </a:r>
                <a14:m>
                  <m:oMath xmlns:m="http://schemas.openxmlformats.org/officeDocument/2006/math">
                    <m:r>
                      <a:rPr lang="en-GB" sz="1400" i="1">
                        <a:latin typeface="Cambria Math" panose="02040503050406030204" pitchFamily="18" charset="0"/>
                      </a:rPr>
                      <m:t>−180≤</m:t>
                    </m:r>
                    <m:r>
                      <a:rPr lang="en-GB" sz="1400" i="1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GB" sz="1400" i="1">
                        <a:latin typeface="Cambria Math" panose="02040503050406030204" pitchFamily="18" charset="0"/>
                      </a:rPr>
                      <m:t>&lt;180°</m:t>
                    </m:r>
                  </m:oMath>
                </a14:m>
                <a:r>
                  <a:rPr lang="en-GB" sz="1400" dirty="0">
                    <a:latin typeface="+mj-lt"/>
                  </a:rPr>
                  <a:t> is a particularly common one.</a:t>
                </a: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12327" y="5155178"/>
                <a:ext cx="2794169" cy="738664"/>
              </a:xfrm>
              <a:prstGeom prst="rect">
                <a:avLst/>
              </a:prstGeom>
              <a:blipFill>
                <a:blip r:embed="rId7"/>
                <a:stretch>
                  <a:fillRect l="-448" b="-655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3178066" y="5150734"/>
                <a:ext cx="4076885" cy="11667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>
                              <a:latin typeface="Cambria Math" panose="02040503050406030204" pitchFamily="18" charset="0"/>
                            </a:rPr>
                            <m:t>tan</m:t>
                          </m:r>
                        </m:fName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10</m:t>
                          </m:r>
                        </m:num>
                        <m:den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GB" i="1">
                          <a:latin typeface="Cambria Math" panose="02040503050406030204" pitchFamily="18" charset="0"/>
                        </a:rPr>
                        <m:t>=2</m:t>
                      </m:r>
                    </m:oMath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GB">
                                  <a:latin typeface="Cambria Math" panose="02040503050406030204" pitchFamily="18" charset="0"/>
                                </a:rPr>
                                <m:t>tan</m:t>
                              </m:r>
                            </m:e>
                            <m:sup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fName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(2</m:t>
                          </m:r>
                        </m:e>
                      </m:func>
                      <m:r>
                        <a:rPr lang="en-GB" i="1">
                          <a:latin typeface="Cambria Math" panose="02040503050406030204" pitchFamily="18" charset="0"/>
                        </a:rPr>
                        <m:t>)=63.4°  (1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𝑑𝑝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dirty="0"/>
              </a:p>
              <a:p>
                <a:r>
                  <a:rPr lang="en-GB" dirty="0"/>
                  <a:t>or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=63.4°−180°=−116.6° </m:t>
                    </m:r>
                    <m:d>
                      <m:d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𝑑𝑝</m:t>
                        </m:r>
                      </m:e>
                    </m:d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8066" y="5150734"/>
                <a:ext cx="4076885" cy="1166794"/>
              </a:xfrm>
              <a:prstGeom prst="rect">
                <a:avLst/>
              </a:prstGeom>
              <a:blipFill>
                <a:blip r:embed="rId8"/>
                <a:stretch>
                  <a:fillRect l="-1242" b="-752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7566667" y="6062352"/>
                <a:ext cx="2601604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sz="1400" i="1">
                        <a:latin typeface="Cambria Math" panose="02040503050406030204" pitchFamily="18" charset="0"/>
                      </a:rPr>
                      <m:t>𝑡𝑎𝑛</m:t>
                    </m:r>
                  </m:oMath>
                </a14:m>
                <a:r>
                  <a:rPr lang="en-GB" sz="1400" dirty="0"/>
                  <a:t> repeats every </a:t>
                </a:r>
                <a14:m>
                  <m:oMath xmlns:m="http://schemas.openxmlformats.org/officeDocument/2006/math">
                    <m:r>
                      <a:rPr lang="en-GB" sz="1400" i="1">
                        <a:latin typeface="Cambria Math" panose="02040503050406030204" pitchFamily="18" charset="0"/>
                      </a:rPr>
                      <m:t>180°</m:t>
                    </m:r>
                  </m:oMath>
                </a14:m>
                <a:r>
                  <a:rPr lang="en-GB" sz="1400" dirty="0"/>
                  <a:t>, so can add/subtract </a:t>
                </a:r>
                <a14:m>
                  <m:oMath xmlns:m="http://schemas.openxmlformats.org/officeDocument/2006/math">
                    <m:r>
                      <a:rPr lang="en-GB" sz="1400" i="1">
                        <a:latin typeface="Cambria Math" panose="02040503050406030204" pitchFamily="18" charset="0"/>
                      </a:rPr>
                      <m:t>180°</m:t>
                    </m:r>
                  </m:oMath>
                </a14:m>
                <a:r>
                  <a:rPr lang="en-GB" sz="1400" dirty="0"/>
                  <a:t> as we please.</a:t>
                </a:r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66667" y="6062352"/>
                <a:ext cx="2601604" cy="523220"/>
              </a:xfrm>
              <a:prstGeom prst="rect">
                <a:avLst/>
              </a:prstGeom>
              <a:blipFill>
                <a:blip r:embed="rId9"/>
                <a:stretch>
                  <a:fillRect l="-485" t="-2381" b="-1190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Arrow Connector 14"/>
          <p:cNvCxnSpPr>
            <a:stCxn id="13" idx="1"/>
          </p:cNvCxnSpPr>
          <p:nvPr/>
        </p:nvCxnSpPr>
        <p:spPr>
          <a:xfrm flipH="1" flipV="1">
            <a:off x="7137994" y="6134991"/>
            <a:ext cx="428675" cy="1889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3093954" y="3136284"/>
            <a:ext cx="3927083" cy="106894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093954" y="5199663"/>
            <a:ext cx="3927083" cy="106894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0894596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  <p:seq concurrent="1" nextAc="seek">
              <p:cTn id="12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"/>
                  </p:tgtEl>
                </p:cond>
              </p:nextCondLst>
            </p:seq>
          </p:childTnLst>
        </p:cTn>
      </p:par>
    </p:tnLst>
    <p:bldLst>
      <p:bldP spid="9" grpId="0" animBg="1"/>
      <p:bldP spid="11" grpId="0" animBg="1"/>
      <p:bldP spid="13" grpId="0"/>
      <p:bldP spid="17" grpId="0" animBg="1"/>
      <p:bldP spid="18" grpId="0" animBg="1"/>
    </p:bldLst>
  </p:timing>
</p:sld>
</file>

<file path=ppt/c10/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2" y="2"/>
            <a:ext cx="9143075" cy="587744"/>
            <a:chOff x="0" y="13335"/>
            <a:chExt cx="9144218" cy="587744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1" cy="584775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Slightly Harder Ones…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938385" y="1248890"/>
                <a:ext cx="5197629" cy="526939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2000" dirty="0"/>
                  <a:t>Solve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200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func>
                    <m:r>
                      <a:rPr lang="en-GB" sz="2000" i="1"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GB" sz="2000" dirty="0"/>
                  <a:t> in the interval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 panose="02040503050406030204" pitchFamily="18" charset="0"/>
                      </a:rPr>
                      <m:t>0≤</m:t>
                    </m:r>
                    <m:r>
                      <a:rPr lang="en-GB" sz="2000" i="1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GB" sz="2000" i="1">
                        <a:latin typeface="Cambria Math" panose="02040503050406030204" pitchFamily="18" charset="0"/>
                      </a:rPr>
                      <m:t>≤360°</m:t>
                    </m:r>
                  </m:oMath>
                </a14:m>
                <a:r>
                  <a:rPr lang="en-GB" sz="2000" dirty="0"/>
                  <a:t>.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8385" y="1248890"/>
                <a:ext cx="5197629" cy="52693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2855640" y="1929750"/>
                <a:ext cx="3672408" cy="11726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GB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e>
                            <m:sup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fName>
                        <m:e>
                          <m:d>
                            <m:d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e>
                      </m:func>
                      <m:r>
                        <a:rPr lang="en-GB" i="1">
                          <a:latin typeface="Cambria Math" panose="02040503050406030204" pitchFamily="18" charset="0"/>
                        </a:rPr>
                        <m:t>=−30°</m:t>
                      </m:r>
                    </m:oMath>
                  </m:oMathPara>
                </a14:m>
                <a:br>
                  <a:rPr lang="en-GB" dirty="0"/>
                </a:br>
                <a:r>
                  <a:rPr lang="en-GB" dirty="0"/>
                  <a:t>or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=180°−</m:t>
                    </m:r>
                    <m:d>
                      <m:d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−30°</m:t>
                        </m:r>
                      </m:e>
                    </m:d>
                    <m:r>
                      <a:rPr lang="en-GB" i="1">
                        <a:latin typeface="Cambria Math" panose="02040503050406030204" pitchFamily="18" charset="0"/>
                      </a:rPr>
                      <m:t>=210°</m:t>
                    </m:r>
                  </m:oMath>
                </a14:m>
                <a:endParaRPr lang="en-GB" dirty="0"/>
              </a:p>
              <a:p>
                <a:r>
                  <a:rPr lang="en-GB" dirty="0"/>
                  <a:t>or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=−30°+360°=330°</m:t>
                    </m:r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5640" y="1929750"/>
                <a:ext cx="3672408" cy="1172629"/>
              </a:xfrm>
              <a:prstGeom prst="rect">
                <a:avLst/>
              </a:prstGeom>
              <a:blipFill>
                <a:blip r:embed="rId3"/>
                <a:stretch>
                  <a:fillRect l="-1375" b="-860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6634375" y="1918030"/>
                <a:ext cx="3600400" cy="7386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400" dirty="0"/>
                  <a:t>This is not in range. In general you should have 2 solutions per </a:t>
                </a:r>
                <a14:m>
                  <m:oMath xmlns:m="http://schemas.openxmlformats.org/officeDocument/2006/math">
                    <m:r>
                      <a:rPr lang="en-GB" sz="1400" i="1">
                        <a:latin typeface="Cambria Math" panose="02040503050406030204" pitchFamily="18" charset="0"/>
                      </a:rPr>
                      <m:t>360°</m:t>
                    </m:r>
                  </m:oMath>
                </a14:m>
                <a:r>
                  <a:rPr lang="en-GB" sz="1400" dirty="0"/>
                  <a:t> (except when at a peak or trough of the trig graph)</a:t>
                </a: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34375" y="1918030"/>
                <a:ext cx="3600400" cy="738664"/>
              </a:xfrm>
              <a:prstGeom prst="rect">
                <a:avLst/>
              </a:prstGeom>
              <a:blipFill>
                <a:blip r:embed="rId4"/>
                <a:stretch>
                  <a:fillRect l="-704" t="-1695" r="-704" b="-847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6613109" y="2750936"/>
                <a:ext cx="36004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400" dirty="0"/>
                  <a:t>Note that we’ve had to use a second law, i.e. that </a:t>
                </a:r>
                <a14:m>
                  <m:oMath xmlns:m="http://schemas.openxmlformats.org/officeDocument/2006/math">
                    <m:r>
                      <a:rPr lang="en-GB" sz="1400" i="1">
                        <a:latin typeface="Cambria Math" panose="02040503050406030204" pitchFamily="18" charset="0"/>
                      </a:rPr>
                      <m:t>𝑠𝑖𝑛</m:t>
                    </m:r>
                  </m:oMath>
                </a14:m>
                <a:r>
                  <a:rPr lang="en-GB" sz="1400" dirty="0"/>
                  <a:t> repeats every </a:t>
                </a:r>
                <a14:m>
                  <m:oMath xmlns:m="http://schemas.openxmlformats.org/officeDocument/2006/math">
                    <m:r>
                      <a:rPr lang="en-GB" sz="1400" i="1">
                        <a:latin typeface="Cambria Math" panose="02040503050406030204" pitchFamily="18" charset="0"/>
                      </a:rPr>
                      <m:t>360°</m:t>
                    </m:r>
                  </m:oMath>
                </a14:m>
                <a:r>
                  <a:rPr lang="en-GB" sz="1400" dirty="0"/>
                  <a:t>.</a:t>
                </a: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13109" y="2750936"/>
                <a:ext cx="3600400" cy="523220"/>
              </a:xfrm>
              <a:prstGeom prst="rect">
                <a:avLst/>
              </a:prstGeom>
              <a:blipFill>
                <a:blip r:embed="rId5"/>
                <a:stretch>
                  <a:fillRect l="-351" t="-2381" b="-1428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Arrow Connector 9"/>
          <p:cNvCxnSpPr>
            <a:stCxn id="7" idx="1"/>
          </p:cNvCxnSpPr>
          <p:nvPr/>
        </p:nvCxnSpPr>
        <p:spPr>
          <a:xfrm flipH="1">
            <a:off x="5660067" y="2287364"/>
            <a:ext cx="974308" cy="305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 flipH="1" flipV="1">
            <a:off x="6021575" y="2966487"/>
            <a:ext cx="603123" cy="108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2838773" y="1871006"/>
            <a:ext cx="7340133" cy="144635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1938386" y="3686691"/>
                <a:ext cx="6120241" cy="429092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2000" dirty="0"/>
                  <a:t>Solve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200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func>
                    <m:r>
                      <a:rPr lang="en-GB" sz="2000" i="1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func>
                      <m:func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200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func>
                  </m:oMath>
                </a14:m>
                <a:r>
                  <a:rPr lang="en-GB" sz="2000" dirty="0"/>
                  <a:t> in the interval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 panose="02040503050406030204" pitchFamily="18" charset="0"/>
                      </a:rPr>
                      <m:t>0≤</m:t>
                    </m:r>
                    <m:r>
                      <a:rPr lang="en-GB" sz="2000" i="1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GB" sz="2000" i="1">
                        <a:latin typeface="Cambria Math" panose="02040503050406030204" pitchFamily="18" charset="0"/>
                      </a:rPr>
                      <m:t>≤360°</m:t>
                    </m:r>
                  </m:oMath>
                </a14:m>
                <a:r>
                  <a:rPr lang="en-GB" sz="2000" dirty="0"/>
                  <a:t>.</a:t>
                </a:r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8386" y="3686691"/>
                <a:ext cx="6120241" cy="429092"/>
              </a:xfrm>
              <a:prstGeom prst="rect">
                <a:avLst/>
              </a:prstGeom>
              <a:blipFill>
                <a:blip r:embed="rId6"/>
                <a:stretch>
                  <a:fillRect b="-6522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3136979" y="4308332"/>
                <a:ext cx="3672408" cy="19723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func>
                        </m:num>
                        <m:den>
                          <m:func>
                            <m:func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func>
                        </m:den>
                      </m:f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rad>
                    </m:oMath>
                  </m:oMathPara>
                </a14:m>
                <a:endParaRPr lang="en-GB" dirty="0"/>
              </a:p>
              <a:p>
                <a:pPr/>
                <a:br>
                  <a:rPr lang="en-GB" sz="1051" dirty="0"/>
                </a:b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>
                              <a:latin typeface="Cambria Math" panose="02040503050406030204" pitchFamily="18" charset="0"/>
                            </a:rPr>
                            <m:t>tan</m:t>
                          </m:r>
                        </m:fName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rad>
                    </m:oMath>
                  </m:oMathPara>
                </a14:m>
                <a:endParaRPr lang="en-GB" dirty="0"/>
              </a:p>
              <a:p>
                <a:endParaRPr lang="en-GB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GB">
                                  <a:latin typeface="Cambria Math" panose="02040503050406030204" pitchFamily="18" charset="0"/>
                                </a:rPr>
                                <m:t>tan</m:t>
                              </m:r>
                            </m:e>
                            <m:sup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fName>
                        <m:e>
                          <m:d>
                            <m:d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ad>
                                <m:radPr>
                                  <m:degHide m:val="on"/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e>
                              </m:rad>
                            </m:e>
                          </m:d>
                        </m:e>
                      </m:func>
                      <m:r>
                        <a:rPr lang="en-GB" i="1">
                          <a:latin typeface="Cambria Math" panose="02040503050406030204" pitchFamily="18" charset="0"/>
                        </a:rPr>
                        <m:t>=60° </m:t>
                      </m:r>
                    </m:oMath>
                  </m:oMathPara>
                </a14:m>
                <a:endParaRPr lang="en-GB" dirty="0"/>
              </a:p>
              <a:p>
                <a:r>
                  <a:rPr lang="en-GB" dirty="0"/>
                  <a:t>or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=60°+180°=240°</m:t>
                    </m:r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6979" y="4308332"/>
                <a:ext cx="3672408" cy="1972335"/>
              </a:xfrm>
              <a:prstGeom prst="rect">
                <a:avLst/>
              </a:prstGeom>
              <a:blipFill>
                <a:blip r:embed="rId7"/>
                <a:stretch>
                  <a:fillRect l="-1724" b="-448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/>
          <p:cNvSpPr txBox="1"/>
          <p:nvPr/>
        </p:nvSpPr>
        <p:spPr>
          <a:xfrm>
            <a:off x="7370809" y="4741524"/>
            <a:ext cx="3046820" cy="95410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sz="1400" b="1" dirty="0">
                <a:latin typeface="+mj-lt"/>
              </a:rPr>
              <a:t>Hint:</a:t>
            </a:r>
            <a:r>
              <a:rPr lang="en-GB" sz="1400" dirty="0">
                <a:latin typeface="+mj-lt"/>
              </a:rPr>
              <a:t> The problem here is that we have two different trig functions. Is there anything we can divide both sides by so we only have one trig function?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838773" y="4308327"/>
            <a:ext cx="3866831" cy="21142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8631974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"/>
                  </p:tgtEl>
                </p:cond>
              </p:nextCondLst>
            </p:seq>
          </p:childTnLst>
        </p:cTn>
      </p:par>
    </p:tnLst>
    <p:bldLst>
      <p:bldP spid="13" grpId="0" animBg="1"/>
      <p:bldP spid="18" grpId="0" animBg="1"/>
    </p:bldLst>
  </p:timing>
</p:sld>
</file>

<file path=ppt/c10/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2" y="2"/>
            <a:ext cx="9143075" cy="587744"/>
            <a:chOff x="0" y="13335"/>
            <a:chExt cx="9144218" cy="587744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1" cy="584775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Test Your Understanding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981925" y="1020288"/>
                <a:ext cx="5626244" cy="429092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2000" dirty="0"/>
                  <a:t>Solve </a:t>
                </a:r>
                <a14:m>
                  <m:oMath xmlns:m="http://schemas.openxmlformats.org/officeDocument/2006/math">
                    <m:r>
                      <a:rPr lang="en-GB" sz="2000">
                        <a:latin typeface="Cambria Math" panose="02040503050406030204" pitchFamily="18" charset="0"/>
                      </a:rPr>
                      <m:t>2</m:t>
                    </m:r>
                    <m:func>
                      <m:func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200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func>
                    <m:r>
                      <a:rPr lang="en-GB" sz="2000" i="1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lang="en-GB" sz="2000" dirty="0"/>
                  <a:t> in the interval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 panose="02040503050406030204" pitchFamily="18" charset="0"/>
                      </a:rPr>
                      <m:t>0≤</m:t>
                    </m:r>
                    <m:r>
                      <a:rPr lang="en-GB" sz="2000" i="1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GB" sz="2000" i="1">
                        <a:latin typeface="Cambria Math" panose="02040503050406030204" pitchFamily="18" charset="0"/>
                      </a:rPr>
                      <m:t>≤360°</m:t>
                    </m:r>
                  </m:oMath>
                </a14:m>
                <a:r>
                  <a:rPr lang="en-GB" sz="2000" dirty="0"/>
                  <a:t>.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1925" y="1020288"/>
                <a:ext cx="5626244" cy="429092"/>
              </a:xfrm>
              <a:prstGeom prst="rect">
                <a:avLst/>
              </a:prstGeom>
              <a:blipFill>
                <a:blip r:embed="rId2"/>
                <a:stretch>
                  <a:fillRect b="-4255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3111015" y="1606965"/>
                <a:ext cx="3672408" cy="16051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𝜃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ad>
                                <m:radPr>
                                  <m:degHide m:val="on"/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e>
                              </m:rad>
                            </m:num>
                            <m:den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func>
                    </m:oMath>
                  </m:oMathPara>
                </a14:m>
                <a:endParaRPr lang="en-GB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GB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e>
                            <m:sup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fName>
                        <m:e>
                          <m:d>
                            <m:d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ad>
                                    <m:radPr>
                                      <m:degHide m:val="on"/>
                                      <m:ctrlP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e>
                                  </m:rad>
                                </m:num>
                                <m:den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e>
                      </m:func>
                      <m:r>
                        <a:rPr lang="en-GB" i="1">
                          <a:latin typeface="Cambria Math" panose="02040503050406030204" pitchFamily="18" charset="0"/>
                        </a:rPr>
                        <m:t>=30°</m:t>
                      </m:r>
                    </m:oMath>
                  </m:oMathPara>
                </a14:m>
                <a:endParaRPr lang="en-GB" dirty="0"/>
              </a:p>
              <a:p>
                <a:r>
                  <a:rPr lang="en-GB" dirty="0"/>
                  <a:t>or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=360°−30°=330°</m:t>
                    </m:r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1015" y="1606965"/>
                <a:ext cx="3672408" cy="1605183"/>
              </a:xfrm>
              <a:prstGeom prst="rect">
                <a:avLst/>
              </a:prstGeom>
              <a:blipFill>
                <a:blip r:embed="rId3"/>
                <a:stretch>
                  <a:fillRect l="-1375" b="-551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1919537" y="3717033"/>
                <a:ext cx="6266523" cy="429092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2000" dirty="0"/>
                  <a:t>Solve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func>
                      <m:func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200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func>
                    <m:r>
                      <a:rPr lang="en-GB" sz="2000" i="1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200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func>
                  </m:oMath>
                </a14:m>
                <a:r>
                  <a:rPr lang="en-GB" sz="2000" dirty="0"/>
                  <a:t> in the interval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 panose="02040503050406030204" pitchFamily="18" charset="0"/>
                      </a:rPr>
                      <m:t>−180°≤</m:t>
                    </m:r>
                    <m:r>
                      <a:rPr lang="en-GB" sz="2000" i="1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GB" sz="2000" i="1">
                        <a:latin typeface="Cambria Math" panose="02040503050406030204" pitchFamily="18" charset="0"/>
                      </a:rPr>
                      <m:t>≤180°</m:t>
                    </m:r>
                  </m:oMath>
                </a14:m>
                <a:r>
                  <a:rPr lang="en-GB" sz="2000" dirty="0"/>
                  <a:t>.</a:t>
                </a: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9537" y="3717033"/>
                <a:ext cx="6266523" cy="429092"/>
              </a:xfrm>
              <a:prstGeom prst="rect">
                <a:avLst/>
              </a:prstGeom>
              <a:blipFill>
                <a:blip r:embed="rId4"/>
                <a:stretch>
                  <a:fillRect b="-4348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088431" y="4293097"/>
                <a:ext cx="3672408" cy="15138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>
                              <a:latin typeface="Cambria Math" panose="02040503050406030204" pitchFamily="18" charset="0"/>
                            </a:rPr>
                            <m:t>tan</m:t>
                          </m:r>
                        </m:fName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𝜃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e>
                              </m:rad>
                            </m:den>
                          </m:f>
                        </m:e>
                      </m:func>
                    </m:oMath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GB">
                                  <a:latin typeface="Cambria Math" panose="02040503050406030204" pitchFamily="18" charset="0"/>
                                </a:rPr>
                                <m:t>tan</m:t>
                              </m:r>
                            </m:e>
                            <m:sup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fName>
                        <m:e>
                          <m:d>
                            <m:d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ad>
                                    <m:radPr>
                                      <m:degHide m:val="on"/>
                                      <m:ctrlP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e>
                                  </m:rad>
                                </m:den>
                              </m:f>
                            </m:e>
                          </m:d>
                        </m:e>
                      </m:func>
                      <m:r>
                        <a:rPr lang="en-GB" i="1">
                          <a:latin typeface="Cambria Math" panose="02040503050406030204" pitchFamily="18" charset="0"/>
                        </a:rPr>
                        <m:t>=30°</m:t>
                      </m:r>
                    </m:oMath>
                  </m:oMathPara>
                </a14:m>
                <a:endParaRPr lang="en-GB" dirty="0"/>
              </a:p>
              <a:p>
                <a:r>
                  <a:rPr lang="en-GB" dirty="0"/>
                  <a:t>or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=30°−180°=−150°</m:t>
                    </m:r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88431" y="4293097"/>
                <a:ext cx="3672408" cy="1513876"/>
              </a:xfrm>
              <a:prstGeom prst="rect">
                <a:avLst/>
              </a:prstGeom>
              <a:blipFill>
                <a:blip r:embed="rId5"/>
                <a:stretch>
                  <a:fillRect l="-1379" b="-495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8"/>
          <p:cNvSpPr/>
          <p:nvPr/>
        </p:nvSpPr>
        <p:spPr>
          <a:xfrm>
            <a:off x="3002059" y="1544436"/>
            <a:ext cx="4988059" cy="187368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02059" y="4313250"/>
            <a:ext cx="4988059" cy="187368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1825471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</p:bldLst>
  </p:timing>
</p:sld>
</file>

<file path=ppt/c10/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2" y="2"/>
            <a:ext cx="9143075" cy="587744"/>
            <a:chOff x="0" y="13335"/>
            <a:chExt cx="9144218" cy="587744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1" cy="584775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Exercise 10D – Y1 215-216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601BBB4C-19BA-75C7-BA1A-91A25BE8E2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1505" y="600602"/>
            <a:ext cx="6807005" cy="2324342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420412AB-64F3-CE8A-EE20-725B128A11A3}"/>
              </a:ext>
            </a:extLst>
          </p:cNvPr>
          <p:cNvSpPr/>
          <p:nvPr/>
        </p:nvSpPr>
        <p:spPr>
          <a:xfrm>
            <a:off x="7680176" y="1988840"/>
            <a:ext cx="720080" cy="108012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15DEE7E-0676-4625-DD54-12D68361F7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7528" y="2972405"/>
            <a:ext cx="2289893" cy="45659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3F1EF13-0E76-BDBA-72FA-FE52231947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9816" y="2972404"/>
            <a:ext cx="2304256" cy="42719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08A977C-79D3-52A1-8A1B-E65B7D5B720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67913" y="2924945"/>
            <a:ext cx="1944607" cy="690941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9E628B78-E4BA-D3D3-41DA-A5471D789EAA}"/>
              </a:ext>
            </a:extLst>
          </p:cNvPr>
          <p:cNvSpPr/>
          <p:nvPr/>
        </p:nvSpPr>
        <p:spPr>
          <a:xfrm>
            <a:off x="1855680" y="2972446"/>
            <a:ext cx="2304256" cy="64344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a?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B9922F7-4A09-299E-6350-8C569E313717}"/>
              </a:ext>
            </a:extLst>
          </p:cNvPr>
          <p:cNvSpPr/>
          <p:nvPr/>
        </p:nvSpPr>
        <p:spPr>
          <a:xfrm>
            <a:off x="4401563" y="2972446"/>
            <a:ext cx="2304256" cy="64344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b?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5EC68FA-6F88-1788-1463-CE585E8A0BD8}"/>
              </a:ext>
            </a:extLst>
          </p:cNvPr>
          <p:cNvSpPr/>
          <p:nvPr/>
        </p:nvSpPr>
        <p:spPr>
          <a:xfrm>
            <a:off x="7008215" y="2981839"/>
            <a:ext cx="2304256" cy="64344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c?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847D3CF-2B4B-C308-9AB2-A9D9ECAA2973}"/>
                  </a:ext>
                </a:extLst>
              </p:cNvPr>
              <p:cNvSpPr txBox="1"/>
              <p:nvPr/>
            </p:nvSpPr>
            <p:spPr>
              <a:xfrm>
                <a:off x="1603437" y="4093442"/>
                <a:ext cx="8143768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1600" b="1" dirty="0"/>
                  <a:t>9</a:t>
                </a:r>
                <a:r>
                  <a:rPr lang="en-GB" sz="1600" dirty="0"/>
                  <a:t>  Find all the values of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GB" sz="1600" dirty="0"/>
                  <a:t>, to 1 decimal place, in the interval </a:t>
                </a:r>
                <a14:m>
                  <m:oMath xmlns:m="http://schemas.openxmlformats.org/officeDocument/2006/math">
                    <m:r>
                      <a:rPr lang="en-GB" sz="16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  <m:r>
                      <a:rPr lang="en-GB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GB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  <m:r>
                      <a:rPr lang="en-GB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&lt;360°</m:t>
                    </m:r>
                  </m:oMath>
                </a14:m>
                <a:r>
                  <a:rPr lang="en-GB" sz="1600" dirty="0"/>
                  <a:t> for which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𝑡𝑎𝑛</m:t>
                        </m:r>
                      </m:e>
                      <m:sup>
                        <m:r>
                          <a:rPr lang="en-GB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  <m:r>
                      <a:rPr lang="en-GB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=9</m:t>
                    </m:r>
                  </m:oMath>
                </a14:m>
                <a:endParaRPr lang="en-GB" sz="16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847D3CF-2B4B-C308-9AB2-A9D9ECAA29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3437" y="4093442"/>
                <a:ext cx="8143768" cy="338554"/>
              </a:xfrm>
              <a:prstGeom prst="rect">
                <a:avLst/>
              </a:prstGeom>
              <a:blipFill>
                <a:blip r:embed="rId6"/>
                <a:stretch>
                  <a:fillRect l="-467" t="-3704" b="-2222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6" name="Picture 15">
            <a:extLst>
              <a:ext uri="{FF2B5EF4-FFF2-40B4-BE49-F238E27FC236}">
                <a16:creationId xmlns:a16="http://schemas.microsoft.com/office/drawing/2014/main" id="{6B050308-6B95-A160-62B3-506E6F92B14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25919" y="4542972"/>
            <a:ext cx="3749402" cy="1999681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4C06B097-D0EB-5D1C-5F7A-8D5E46DDCF41}"/>
              </a:ext>
            </a:extLst>
          </p:cNvPr>
          <p:cNvSpPr/>
          <p:nvPr/>
        </p:nvSpPr>
        <p:spPr>
          <a:xfrm>
            <a:off x="1840345" y="4462664"/>
            <a:ext cx="4865474" cy="207998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8496007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7" grpId="0" animBg="1"/>
    </p:bldLst>
  </p:timing>
</p:sld>
</file>

<file path=ppt/c10/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2" y="2"/>
            <a:ext cx="9143075" cy="587744"/>
            <a:chOff x="0" y="13335"/>
            <a:chExt cx="9144218" cy="587744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1" cy="584775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Exercise 10D – Y1 215-216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AFF65558-A982-2E54-94BD-9F84D5B236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1505" y="692697"/>
            <a:ext cx="5501341" cy="77714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E772D67-76BA-8382-E0CE-BF7112DB84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3512" y="4045538"/>
            <a:ext cx="6336704" cy="80668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6265DE8-8862-18D6-D252-93AF6F4E37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91544" y="1636475"/>
            <a:ext cx="2339872" cy="106212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A27BE2C-6962-5FD1-0A84-01EFACC0EA6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47929" y="1511862"/>
            <a:ext cx="2722371" cy="1989146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CBFA3BBE-01F7-E2BD-68EA-85AAF0503DD9}"/>
              </a:ext>
            </a:extLst>
          </p:cNvPr>
          <p:cNvSpPr/>
          <p:nvPr/>
        </p:nvSpPr>
        <p:spPr>
          <a:xfrm>
            <a:off x="1991544" y="1596639"/>
            <a:ext cx="3168352" cy="198914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a?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C4263A8-7938-B331-90AA-C58BAD086F55}"/>
              </a:ext>
            </a:extLst>
          </p:cNvPr>
          <p:cNvSpPr/>
          <p:nvPr/>
        </p:nvSpPr>
        <p:spPr>
          <a:xfrm>
            <a:off x="5375920" y="1596640"/>
            <a:ext cx="3744415" cy="198914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b?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D85CAFB-7EB8-72C8-4A2F-FBDDDFEB8E7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91544" y="5078812"/>
            <a:ext cx="2592288" cy="104050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A40B9B4-EBA7-CBBD-D8D3-968FF735C8D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82297" y="5051332"/>
            <a:ext cx="3338039" cy="1003692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0F3C7641-45C2-C5BE-B659-AB021BCFE33B}"/>
              </a:ext>
            </a:extLst>
          </p:cNvPr>
          <p:cNvSpPr/>
          <p:nvPr/>
        </p:nvSpPr>
        <p:spPr>
          <a:xfrm>
            <a:off x="1991544" y="4958109"/>
            <a:ext cx="3168352" cy="135121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a?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60DC300-B294-3670-5E80-0ED2207885F6}"/>
              </a:ext>
            </a:extLst>
          </p:cNvPr>
          <p:cNvSpPr/>
          <p:nvPr/>
        </p:nvSpPr>
        <p:spPr>
          <a:xfrm>
            <a:off x="5375920" y="4958110"/>
            <a:ext cx="3744415" cy="135121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b?</a:t>
            </a:r>
          </a:p>
        </p:txBody>
      </p:sp>
    </p:spTree>
    <p:extLst>
      <p:ext uri="{BB962C8B-B14F-4D97-AF65-F5344CB8AC3E}">
        <p14:creationId xmlns:p14="http://schemas.microsoft.com/office/powerpoint/2010/main" val="331190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"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7" grpId="0" animBg="1"/>
      <p:bldP spid="18" grpId="0" animBg="1"/>
    </p:bldLst>
  </p:timing>
</p:sld>
</file>

<file path=ppt/c10/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2050207" y="4028127"/>
                <a:ext cx="4568311" cy="2800767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sz="1600" dirty="0"/>
                  <a:t>In general you tend to get a </a:t>
                </a:r>
                <a:r>
                  <a:rPr lang="en-GB" sz="1600" u="sng" dirty="0"/>
                  <a:t>pair</a:t>
                </a:r>
                <a:r>
                  <a:rPr lang="en-GB" sz="1600" dirty="0"/>
                  <a:t> of values per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360°</m:t>
                    </m:r>
                  </m:oMath>
                </a14:m>
                <a:r>
                  <a:rPr lang="en-GB" sz="1600" dirty="0"/>
                  <a:t> (for any of sin/cos/tan), except for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160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𝜃</m:t>
                        </m:r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=±1</m:t>
                        </m:r>
                      </m:e>
                    </m:func>
                  </m:oMath>
                </a14:m>
                <a:r>
                  <a:rPr lang="en-GB" sz="1600" dirty="0"/>
                  <a:t> or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160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func>
                    <m:r>
                      <a:rPr lang="en-GB" sz="1600" i="1">
                        <a:latin typeface="Cambria Math" panose="02040503050406030204" pitchFamily="18" charset="0"/>
                      </a:rPr>
                      <m:t>=±1</m:t>
                    </m:r>
                  </m:oMath>
                </a14:m>
                <a:r>
                  <a:rPr lang="en-GB" sz="1600" dirty="0"/>
                  <a:t>:</a:t>
                </a:r>
              </a:p>
              <a:p>
                <a:endParaRPr lang="en-GB" sz="1600" dirty="0"/>
              </a:p>
              <a:p>
                <a:endParaRPr lang="en-GB" sz="1600" dirty="0"/>
              </a:p>
              <a:p>
                <a:endParaRPr lang="en-GB" sz="1600" dirty="0"/>
              </a:p>
              <a:p>
                <a:endParaRPr lang="en-GB" sz="1600" dirty="0"/>
              </a:p>
              <a:p>
                <a:endParaRPr lang="en-GB" sz="1600" dirty="0"/>
              </a:p>
              <a:p>
                <a:r>
                  <a:rPr lang="en-GB" sz="1600" dirty="0"/>
                  <a:t>Thus once getting your first pair of values (e.g. using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160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d>
                          <m:dPr>
                            <m:ctrlPr>
                              <a:rPr lang="en-GB" sz="1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1600" i="1">
                                <a:latin typeface="Cambria Math" panose="02040503050406030204" pitchFamily="18" charset="0"/>
                              </a:rPr>
                              <m:t>180−</m:t>
                            </m:r>
                            <m:r>
                              <a:rPr lang="en-GB" sz="160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</m:e>
                    </m:func>
                  </m:oMath>
                </a14:m>
                <a:r>
                  <a:rPr lang="en-GB" sz="1600" dirty="0"/>
                  <a:t> 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sz="1600">
                        <a:latin typeface="Cambria Math" panose="02040503050406030204" pitchFamily="18" charset="0"/>
                      </a:rPr>
                      <m:t>cos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⁡(360−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sz="1600" dirty="0"/>
                  <a:t> to get the second value), keep adding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360°</m:t>
                    </m:r>
                  </m:oMath>
                </a14:m>
                <a:r>
                  <a:rPr lang="en-GB" sz="1600" dirty="0"/>
                  <a:t> to generate new pairs.</a:t>
                </a:r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0207" y="4028127"/>
                <a:ext cx="4568311" cy="2800767"/>
              </a:xfrm>
              <a:prstGeom prst="rect">
                <a:avLst/>
              </a:prstGeom>
              <a:blipFill>
                <a:blip r:embed="rId2"/>
                <a:stretch>
                  <a:fillRect l="-551" t="-448" b="-134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Group 1"/>
          <p:cNvGrpSpPr/>
          <p:nvPr/>
        </p:nvGrpSpPr>
        <p:grpSpPr>
          <a:xfrm>
            <a:off x="1524002" y="2"/>
            <a:ext cx="9143075" cy="587744"/>
            <a:chOff x="0" y="13335"/>
            <a:chExt cx="9144218" cy="587744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1" cy="584775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Harder Equations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800159" y="757445"/>
                <a:ext cx="612068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Harder questions replace the angle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GB" dirty="0"/>
                  <a:t> with a linear expression.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0159" y="757445"/>
                <a:ext cx="6120680" cy="369332"/>
              </a:xfrm>
              <a:prstGeom prst="rect">
                <a:avLst/>
              </a:prstGeom>
              <a:blipFill>
                <a:blip r:embed="rId3"/>
                <a:stretch>
                  <a:fillRect l="-828" t="-6667" b="-266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1919536" y="1285098"/>
                <a:ext cx="7272808" cy="526939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2000" dirty="0"/>
                  <a:t>Solve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200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=−</m:t>
                        </m:r>
                        <m:f>
                          <m:fPr>
                            <m:ctrlPr>
                              <a:rPr lang="en-GB" sz="2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GB" sz="20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GB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func>
                  </m:oMath>
                </a14:m>
                <a:r>
                  <a:rPr lang="en-GB" sz="2000" dirty="0"/>
                  <a:t> in the interval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 panose="02040503050406030204" pitchFamily="18" charset="0"/>
                      </a:rPr>
                      <m:t>0≤</m:t>
                    </m:r>
                    <m:r>
                      <a:rPr lang="en-GB" sz="20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2000" i="1">
                        <a:latin typeface="Cambria Math" panose="02040503050406030204" pitchFamily="18" charset="0"/>
                      </a:rPr>
                      <m:t>≤360°</m:t>
                    </m:r>
                  </m:oMath>
                </a14:m>
                <a:r>
                  <a:rPr lang="en-GB" sz="2000" dirty="0"/>
                  <a:t>.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9536" y="1285098"/>
                <a:ext cx="7272808" cy="52693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7392144" y="2056766"/>
                <a:ext cx="2808312" cy="830997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sz="1600" b="1" dirty="0"/>
                  <a:t>STEP 1</a:t>
                </a:r>
                <a:r>
                  <a:rPr lang="en-GB" sz="1600" dirty="0"/>
                  <a:t>: Adjust the range of values for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GB" sz="1600" dirty="0"/>
                  <a:t> to match the expression inside the cos. </a:t>
                </a: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92144" y="2056766"/>
                <a:ext cx="2808312" cy="830997"/>
              </a:xfrm>
              <a:prstGeom prst="rect">
                <a:avLst/>
              </a:prstGeom>
              <a:blipFill>
                <a:blip r:embed="rId5"/>
                <a:stretch>
                  <a:fillRect l="-893" b="-579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1976075" y="2142659"/>
                <a:ext cx="4736617" cy="16003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i="1">
                          <a:latin typeface="Cambria Math" panose="02040503050406030204" pitchFamily="18" charset="0"/>
                        </a:rPr>
                        <m:t>0≤3</m:t>
                      </m:r>
                      <m:r>
                        <a:rPr lang="en-GB" sz="20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000" i="1">
                          <a:latin typeface="Cambria Math" panose="02040503050406030204" pitchFamily="18" charset="0"/>
                        </a:rPr>
                        <m:t>&lt;1080°</m:t>
                      </m:r>
                    </m:oMath>
                    <m:oMath xmlns:m="http://schemas.openxmlformats.org/officeDocument/2006/math">
                      <m:r>
                        <a:rPr lang="en-GB" sz="2000" i="1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sz="20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000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sz="20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GB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GB" sz="2000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e>
                            <m:sup>
                              <m:r>
                                <a:rPr lang="en-GB" sz="20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fName>
                        <m:e>
                          <m:d>
                            <m:dPr>
                              <m:ctrlPr>
                                <a:rPr lang="en-GB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0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GB" sz="20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sz="20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GB" sz="20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e>
                      </m:func>
                      <m:r>
                        <a:rPr lang="en-GB" sz="2000" i="1">
                          <a:latin typeface="Cambria Math" panose="02040503050406030204" pitchFamily="18" charset="0"/>
                        </a:rPr>
                        <m:t>=120°</m:t>
                      </m:r>
                    </m:oMath>
                    <m:oMath xmlns:m="http://schemas.openxmlformats.org/officeDocument/2006/math">
                      <m:r>
                        <a:rPr lang="en-GB" sz="2000" i="1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sz="20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000" i="1">
                          <a:latin typeface="Cambria Math" panose="02040503050406030204" pitchFamily="18" charset="0"/>
                        </a:rPr>
                        <m:t>=120°,240°,480°,600°,840°,960°</m:t>
                      </m:r>
                    </m:oMath>
                    <m:oMath xmlns:m="http://schemas.openxmlformats.org/officeDocument/2006/math">
                      <m:r>
                        <a:rPr lang="en-GB" sz="20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000" i="1">
                          <a:latin typeface="Cambria Math" panose="02040503050406030204" pitchFamily="18" charset="0"/>
                        </a:rPr>
                        <m:t>=40°,80°,160°,200°,280°,320°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6075" y="2142659"/>
                <a:ext cx="4736617" cy="16003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/>
          <p:cNvSpPr txBox="1"/>
          <p:nvPr/>
        </p:nvSpPr>
        <p:spPr>
          <a:xfrm>
            <a:off x="7392144" y="3137973"/>
            <a:ext cx="2808312" cy="1323439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sz="1600" b="1" dirty="0"/>
              <a:t>STEP 2</a:t>
            </a:r>
            <a:r>
              <a:rPr lang="en-GB" sz="1600" dirty="0"/>
              <a:t>: Immediately after applying an inverse trig function (and BEFORE dividing by 3!), find all solutions up to the end of the interval.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92144" y="4704324"/>
            <a:ext cx="2808312" cy="584775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sz="1600" b="1" dirty="0"/>
              <a:t>STEP 3</a:t>
            </a:r>
            <a:r>
              <a:rPr lang="en-GB" sz="1600" dirty="0"/>
              <a:t>: </a:t>
            </a:r>
            <a:r>
              <a:rPr lang="en-GB" sz="1600" u="sng" dirty="0"/>
              <a:t>Then</a:t>
            </a:r>
            <a:r>
              <a:rPr lang="en-GB" sz="1600" dirty="0"/>
              <a:t> do final manipulation to each value.</a:t>
            </a:r>
          </a:p>
        </p:txBody>
      </p:sp>
      <p:cxnSp>
        <p:nvCxnSpPr>
          <p:cNvPr id="12" name="Straight Arrow Connector 11"/>
          <p:cNvCxnSpPr>
            <a:stCxn id="7" idx="1"/>
          </p:cNvCxnSpPr>
          <p:nvPr/>
        </p:nvCxnSpPr>
        <p:spPr>
          <a:xfrm flipH="1" flipV="1">
            <a:off x="6616999" y="2349797"/>
            <a:ext cx="775147" cy="1224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 flipH="1" flipV="1">
            <a:off x="6659527" y="3359892"/>
            <a:ext cx="732619" cy="209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 flipH="1" flipV="1">
            <a:off x="6617000" y="3678865"/>
            <a:ext cx="828311" cy="12543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1991966" y="1948475"/>
            <a:ext cx="4539973" cy="187368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cxnSp>
        <p:nvCxnSpPr>
          <p:cNvPr id="20" name="Straight Arrow Connector 19"/>
          <p:cNvCxnSpPr/>
          <p:nvPr/>
        </p:nvCxnSpPr>
        <p:spPr>
          <a:xfrm flipH="1" flipV="1">
            <a:off x="3053920" y="5015584"/>
            <a:ext cx="6871" cy="955527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>
          <a:xfrm flipV="1">
            <a:off x="2869023" y="5521494"/>
            <a:ext cx="1743075" cy="4763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4045683" y="4908739"/>
                <a:ext cx="872899" cy="2540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051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sz="1051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sz="1051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1051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n-GB" sz="105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1051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45683" y="4908739"/>
                <a:ext cx="872899" cy="25404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3264017" y="5466407"/>
                <a:ext cx="293575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9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90</m:t>
                      </m:r>
                    </m:oMath>
                  </m:oMathPara>
                </a14:m>
                <a:endParaRPr lang="en-GB" sz="1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4017" y="5466407"/>
                <a:ext cx="293575" cy="2308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4532142" y="5389972"/>
                <a:ext cx="298076" cy="2540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051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32142" y="5389972"/>
                <a:ext cx="298076" cy="25404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" name="Straight Connector 25"/>
          <p:cNvCxnSpPr/>
          <p:nvPr/>
        </p:nvCxnSpPr>
        <p:spPr>
          <a:xfrm flipH="1" flipV="1">
            <a:off x="3057529" y="5272090"/>
            <a:ext cx="1558925" cy="4763"/>
          </a:xfrm>
          <a:prstGeom prst="line">
            <a:avLst/>
          </a:prstGeom>
          <a:ln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Freeform: Shape 28"/>
          <p:cNvSpPr/>
          <p:nvPr/>
        </p:nvSpPr>
        <p:spPr>
          <a:xfrm>
            <a:off x="3057528" y="5116578"/>
            <a:ext cx="1489711" cy="827053"/>
          </a:xfrm>
          <a:custGeom>
            <a:avLst/>
            <a:gdLst>
              <a:gd name="connsiteX0" fmla="*/ 0 w 1123950"/>
              <a:gd name="connsiteY0" fmla="*/ 0 h 796943"/>
              <a:gd name="connsiteX1" fmla="*/ 365125 w 1123950"/>
              <a:gd name="connsiteY1" fmla="*/ 384175 h 796943"/>
              <a:gd name="connsiteX2" fmla="*/ 752475 w 1123950"/>
              <a:gd name="connsiteY2" fmla="*/ 796925 h 796943"/>
              <a:gd name="connsiteX3" fmla="*/ 1123950 w 1123950"/>
              <a:gd name="connsiteY3" fmla="*/ 368300 h 796943"/>
              <a:gd name="connsiteX0" fmla="*/ 0 w 1123950"/>
              <a:gd name="connsiteY0" fmla="*/ 12 h 796955"/>
              <a:gd name="connsiteX1" fmla="*/ 365125 w 1123950"/>
              <a:gd name="connsiteY1" fmla="*/ 384187 h 796955"/>
              <a:gd name="connsiteX2" fmla="*/ 752475 w 1123950"/>
              <a:gd name="connsiteY2" fmla="*/ 796937 h 796955"/>
              <a:gd name="connsiteX3" fmla="*/ 1123950 w 1123950"/>
              <a:gd name="connsiteY3" fmla="*/ 368312 h 796955"/>
              <a:gd name="connsiteX0" fmla="*/ 0 w 1123950"/>
              <a:gd name="connsiteY0" fmla="*/ 17 h 796962"/>
              <a:gd name="connsiteX1" fmla="*/ 365125 w 1123950"/>
              <a:gd name="connsiteY1" fmla="*/ 384192 h 796962"/>
              <a:gd name="connsiteX2" fmla="*/ 752475 w 1123950"/>
              <a:gd name="connsiteY2" fmla="*/ 796942 h 796962"/>
              <a:gd name="connsiteX3" fmla="*/ 1123950 w 1123950"/>
              <a:gd name="connsiteY3" fmla="*/ 368317 h 796962"/>
              <a:gd name="connsiteX0" fmla="*/ 0 w 1123950"/>
              <a:gd name="connsiteY0" fmla="*/ 17 h 797765"/>
              <a:gd name="connsiteX1" fmla="*/ 365125 w 1123950"/>
              <a:gd name="connsiteY1" fmla="*/ 384192 h 797765"/>
              <a:gd name="connsiteX2" fmla="*/ 752475 w 1123950"/>
              <a:gd name="connsiteY2" fmla="*/ 796942 h 797765"/>
              <a:gd name="connsiteX3" fmla="*/ 1052195 w 1123950"/>
              <a:gd name="connsiteY3" fmla="*/ 487062 h 797765"/>
              <a:gd name="connsiteX4" fmla="*/ 1123950 w 1123950"/>
              <a:gd name="connsiteY4" fmla="*/ 368317 h 797765"/>
              <a:gd name="connsiteX0" fmla="*/ 0 w 1482090"/>
              <a:gd name="connsiteY0" fmla="*/ 20320 h 818068"/>
              <a:gd name="connsiteX1" fmla="*/ 365125 w 1482090"/>
              <a:gd name="connsiteY1" fmla="*/ 404495 h 818068"/>
              <a:gd name="connsiteX2" fmla="*/ 752475 w 1482090"/>
              <a:gd name="connsiteY2" fmla="*/ 817245 h 818068"/>
              <a:gd name="connsiteX3" fmla="*/ 1052195 w 1482090"/>
              <a:gd name="connsiteY3" fmla="*/ 507365 h 818068"/>
              <a:gd name="connsiteX4" fmla="*/ 1482090 w 1482090"/>
              <a:gd name="connsiteY4" fmla="*/ 0 h 818068"/>
              <a:gd name="connsiteX0" fmla="*/ 0 w 1482090"/>
              <a:gd name="connsiteY0" fmla="*/ 20320 h 817274"/>
              <a:gd name="connsiteX1" fmla="*/ 365125 w 1482090"/>
              <a:gd name="connsiteY1" fmla="*/ 404495 h 817274"/>
              <a:gd name="connsiteX2" fmla="*/ 752475 w 1482090"/>
              <a:gd name="connsiteY2" fmla="*/ 817245 h 817274"/>
              <a:gd name="connsiteX3" fmla="*/ 1097915 w 1482090"/>
              <a:gd name="connsiteY3" fmla="*/ 385445 h 817274"/>
              <a:gd name="connsiteX4" fmla="*/ 1482090 w 1482090"/>
              <a:gd name="connsiteY4" fmla="*/ 0 h 817274"/>
              <a:gd name="connsiteX0" fmla="*/ 0 w 1283970"/>
              <a:gd name="connsiteY0" fmla="*/ 18 h 796972"/>
              <a:gd name="connsiteX1" fmla="*/ 365125 w 1283970"/>
              <a:gd name="connsiteY1" fmla="*/ 384193 h 796972"/>
              <a:gd name="connsiteX2" fmla="*/ 752475 w 1283970"/>
              <a:gd name="connsiteY2" fmla="*/ 796943 h 796972"/>
              <a:gd name="connsiteX3" fmla="*/ 1097915 w 1283970"/>
              <a:gd name="connsiteY3" fmla="*/ 365143 h 796972"/>
              <a:gd name="connsiteX4" fmla="*/ 1283970 w 1283970"/>
              <a:gd name="connsiteY4" fmla="*/ 33038 h 796972"/>
              <a:gd name="connsiteX0" fmla="*/ 0 w 1489710"/>
              <a:gd name="connsiteY0" fmla="*/ 27940 h 824894"/>
              <a:gd name="connsiteX1" fmla="*/ 365125 w 1489710"/>
              <a:gd name="connsiteY1" fmla="*/ 412115 h 824894"/>
              <a:gd name="connsiteX2" fmla="*/ 752475 w 1489710"/>
              <a:gd name="connsiteY2" fmla="*/ 824865 h 824894"/>
              <a:gd name="connsiteX3" fmla="*/ 1097915 w 1489710"/>
              <a:gd name="connsiteY3" fmla="*/ 393065 h 824894"/>
              <a:gd name="connsiteX4" fmla="*/ 1489710 w 1489710"/>
              <a:gd name="connsiteY4" fmla="*/ 0 h 824894"/>
              <a:gd name="connsiteX0" fmla="*/ 0 w 1489710"/>
              <a:gd name="connsiteY0" fmla="*/ 29866 h 826820"/>
              <a:gd name="connsiteX1" fmla="*/ 365125 w 1489710"/>
              <a:gd name="connsiteY1" fmla="*/ 414041 h 826820"/>
              <a:gd name="connsiteX2" fmla="*/ 752475 w 1489710"/>
              <a:gd name="connsiteY2" fmla="*/ 826791 h 826820"/>
              <a:gd name="connsiteX3" fmla="*/ 1097915 w 1489710"/>
              <a:gd name="connsiteY3" fmla="*/ 394991 h 826820"/>
              <a:gd name="connsiteX4" fmla="*/ 1489710 w 1489710"/>
              <a:gd name="connsiteY4" fmla="*/ 1926 h 826820"/>
              <a:gd name="connsiteX0" fmla="*/ 0 w 1489710"/>
              <a:gd name="connsiteY0" fmla="*/ 30099 h 827053"/>
              <a:gd name="connsiteX1" fmla="*/ 365125 w 1489710"/>
              <a:gd name="connsiteY1" fmla="*/ 414274 h 827053"/>
              <a:gd name="connsiteX2" fmla="*/ 752475 w 1489710"/>
              <a:gd name="connsiteY2" fmla="*/ 827024 h 827053"/>
              <a:gd name="connsiteX3" fmla="*/ 1097915 w 1489710"/>
              <a:gd name="connsiteY3" fmla="*/ 395224 h 827053"/>
              <a:gd name="connsiteX4" fmla="*/ 1489710 w 1489710"/>
              <a:gd name="connsiteY4" fmla="*/ 2159 h 827053"/>
              <a:gd name="connsiteX0" fmla="*/ 0 w 1489710"/>
              <a:gd name="connsiteY0" fmla="*/ 30099 h 827053"/>
              <a:gd name="connsiteX1" fmla="*/ 365125 w 1489710"/>
              <a:gd name="connsiteY1" fmla="*/ 414274 h 827053"/>
              <a:gd name="connsiteX2" fmla="*/ 752475 w 1489710"/>
              <a:gd name="connsiteY2" fmla="*/ 827024 h 827053"/>
              <a:gd name="connsiteX3" fmla="*/ 1097915 w 1489710"/>
              <a:gd name="connsiteY3" fmla="*/ 395224 h 827053"/>
              <a:gd name="connsiteX4" fmla="*/ 1489710 w 1489710"/>
              <a:gd name="connsiteY4" fmla="*/ 2159 h 8270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89710" h="827053">
                <a:moveTo>
                  <a:pt x="0" y="30099"/>
                </a:moveTo>
                <a:cubicBezTo>
                  <a:pt x="280458" y="27982"/>
                  <a:pt x="268817" y="216366"/>
                  <a:pt x="365125" y="414274"/>
                </a:cubicBezTo>
                <a:cubicBezTo>
                  <a:pt x="445058" y="578532"/>
                  <a:pt x="630343" y="830199"/>
                  <a:pt x="752475" y="827024"/>
                </a:cubicBezTo>
                <a:cubicBezTo>
                  <a:pt x="874607" y="823849"/>
                  <a:pt x="1039177" y="526987"/>
                  <a:pt x="1097915" y="395224"/>
                </a:cubicBezTo>
                <a:cubicBezTo>
                  <a:pt x="1131253" y="282511"/>
                  <a:pt x="1242801" y="-28850"/>
                  <a:pt x="1489710" y="2159"/>
                </a:cubicBezTo>
              </a:path>
            </a:pathLst>
          </a:custGeom>
          <a:ln>
            <a:solidFill>
              <a:schemeClr val="bg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/>
              <p:cNvSpPr txBox="1"/>
              <p:nvPr/>
            </p:nvSpPr>
            <p:spPr>
              <a:xfrm>
                <a:off x="3609980" y="5469771"/>
                <a:ext cx="293575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9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180</m:t>
                      </m:r>
                    </m:oMath>
                  </m:oMathPara>
                </a14:m>
                <a:endParaRPr lang="en-GB" sz="1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9980" y="5469771"/>
                <a:ext cx="293575" cy="230832"/>
              </a:xfrm>
              <a:prstGeom prst="rect">
                <a:avLst/>
              </a:prstGeom>
              <a:blipFill>
                <a:blip r:embed="rId10"/>
                <a:stretch>
                  <a:fillRect r="-833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5" name="Straight Connector 34"/>
          <p:cNvCxnSpPr/>
          <p:nvPr/>
        </p:nvCxnSpPr>
        <p:spPr>
          <a:xfrm flipH="1">
            <a:off x="3282951" y="5226052"/>
            <a:ext cx="63500" cy="8255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/>
          <p:cNvCxnSpPr/>
          <p:nvPr/>
        </p:nvCxnSpPr>
        <p:spPr>
          <a:xfrm>
            <a:off x="3273430" y="5235575"/>
            <a:ext cx="73025" cy="635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 flipH="1">
            <a:off x="4224810" y="5225515"/>
            <a:ext cx="63500" cy="8255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/>
          <p:cNvCxnSpPr/>
          <p:nvPr/>
        </p:nvCxnSpPr>
        <p:spPr>
          <a:xfrm>
            <a:off x="4215288" y="5235038"/>
            <a:ext cx="73025" cy="635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/>
              <p:cNvSpPr txBox="1"/>
              <p:nvPr/>
            </p:nvSpPr>
            <p:spPr>
              <a:xfrm>
                <a:off x="3966512" y="5463575"/>
                <a:ext cx="293575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9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270</m:t>
                      </m:r>
                    </m:oMath>
                  </m:oMathPara>
                </a14:m>
                <a:endParaRPr lang="en-GB" sz="1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3" name="TextBox 4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66512" y="5463575"/>
                <a:ext cx="293575" cy="230832"/>
              </a:xfrm>
              <a:prstGeom prst="rect">
                <a:avLst/>
              </a:prstGeom>
              <a:blipFill>
                <a:blip r:embed="rId11"/>
                <a:stretch>
                  <a:fillRect r="-833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/>
              <p:cNvSpPr txBox="1"/>
              <p:nvPr/>
            </p:nvSpPr>
            <p:spPr>
              <a:xfrm>
                <a:off x="4290903" y="5466164"/>
                <a:ext cx="293575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9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360</m:t>
                      </m:r>
                    </m:oMath>
                  </m:oMathPara>
                </a14:m>
                <a:endParaRPr lang="en-GB" sz="1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4" name="TextBox 4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0903" y="5466164"/>
                <a:ext cx="293575" cy="230832"/>
              </a:xfrm>
              <a:prstGeom prst="rect">
                <a:avLst/>
              </a:prstGeom>
              <a:blipFill>
                <a:blip r:embed="rId12"/>
                <a:stretch>
                  <a:fillRect r="-125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/>
              <p:cNvSpPr txBox="1"/>
              <p:nvPr/>
            </p:nvSpPr>
            <p:spPr>
              <a:xfrm>
                <a:off x="2898906" y="4812006"/>
                <a:ext cx="298076" cy="2540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051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GB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5" name="TextBox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98906" y="4812006"/>
                <a:ext cx="298076" cy="254044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189310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</p:childTnLst>
        </p:cTn>
      </p:par>
    </p:tnLst>
    <p:bldLst>
      <p:bldP spid="19" grpId="0" animBg="1"/>
      <p:bldP spid="17" grpId="0" animBg="1"/>
      <p:bldP spid="22" grpId="0"/>
      <p:bldP spid="23" grpId="0"/>
      <p:bldP spid="25" grpId="0"/>
      <p:bldP spid="29" grpId="0" animBg="1"/>
      <p:bldP spid="30" grpId="0"/>
      <p:bldP spid="43" grpId="0"/>
      <p:bldP spid="44" grpId="0"/>
      <p:bldP spid="45" grpId="0"/>
    </p:bldLst>
  </p:timing>
</p:sld>
</file>

<file path=ppt/c10/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2" y="2"/>
            <a:ext cx="9143075" cy="587744"/>
            <a:chOff x="0" y="13335"/>
            <a:chExt cx="9144218" cy="587744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1" cy="584775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Further Examples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919540" y="834458"/>
                <a:ext cx="8207785" cy="545662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2000" dirty="0"/>
                  <a:t>Solve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200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(2</m:t>
                        </m:r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+30°)=</m:t>
                        </m:r>
                        <m:f>
                          <m:fPr>
                            <m:ctrlPr>
                              <a:rPr lang="en-GB" sz="2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GB" sz="20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GB" sz="2000"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GB" sz="20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den>
                        </m:f>
                      </m:e>
                    </m:func>
                  </m:oMath>
                </a14:m>
                <a:r>
                  <a:rPr lang="en-GB" sz="2000" dirty="0"/>
                  <a:t> in the interval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 panose="02040503050406030204" pitchFamily="18" charset="0"/>
                      </a:rPr>
                      <m:t>0≤</m:t>
                    </m:r>
                    <m:r>
                      <a:rPr lang="en-GB" sz="20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2000" i="1">
                        <a:latin typeface="Cambria Math" panose="02040503050406030204" pitchFamily="18" charset="0"/>
                      </a:rPr>
                      <m:t>≤360°</m:t>
                    </m:r>
                  </m:oMath>
                </a14:m>
                <a:r>
                  <a:rPr lang="en-GB" sz="2000" dirty="0"/>
                  <a:t>.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9540" y="834458"/>
                <a:ext cx="8207785" cy="54566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2118793" y="1558660"/>
                <a:ext cx="5040560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i="1">
                          <a:latin typeface="Cambria Math" panose="02040503050406030204" pitchFamily="18" charset="0"/>
                        </a:rPr>
                        <m:t>30°≤2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+30°≤750°</m:t>
                      </m:r>
                    </m:oMath>
                    <m:oMath xmlns:m="http://schemas.openxmlformats.org/officeDocument/2006/math">
                      <m:r>
                        <a:rPr lang="en-GB" sz="2400" i="1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+30°=45°, 135°, 405°,495°</m:t>
                      </m:r>
                    </m:oMath>
                    <m:oMath xmlns:m="http://schemas.openxmlformats.org/officeDocument/2006/math">
                      <m:r>
                        <a:rPr lang="en-GB" sz="2400" i="1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=15°,105°,375°,465°</m:t>
                      </m:r>
                    </m:oMath>
                    <m:oMath xmlns:m="http://schemas.openxmlformats.org/officeDocument/2006/math">
                      <m:r>
                        <a:rPr lang="en-GB" sz="24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=7.5°,52.5°,187.5°,232.5°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8793" y="1558660"/>
                <a:ext cx="5040560" cy="156966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7174995" y="1547530"/>
                <a:ext cx="2952328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To get from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dirty="0"/>
                  <a:t> to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2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+30°</m:t>
                    </m:r>
                  </m:oMath>
                </a14:m>
                <a:r>
                  <a:rPr lang="en-GB" dirty="0"/>
                  <a:t> we double and add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30°</m:t>
                    </m:r>
                  </m:oMath>
                </a14:m>
                <a:r>
                  <a:rPr lang="en-GB" dirty="0"/>
                  <a:t>. So do the same to the upper and lower bound!</a:t>
                </a: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74995" y="1547530"/>
                <a:ext cx="2952328" cy="1200329"/>
              </a:xfrm>
              <a:prstGeom prst="rect">
                <a:avLst/>
              </a:prstGeom>
              <a:blipFill>
                <a:blip r:embed="rId4"/>
                <a:stretch>
                  <a:fillRect l="-1282" t="-2083" r="-2564" b="-729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Arrow Connector 8"/>
          <p:cNvCxnSpPr/>
          <p:nvPr/>
        </p:nvCxnSpPr>
        <p:spPr>
          <a:xfrm flipH="1">
            <a:off x="6744073" y="1695032"/>
            <a:ext cx="41528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1919540" y="1380121"/>
            <a:ext cx="8207785" cy="245237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1895876" y="4011031"/>
                <a:ext cx="8207785" cy="400110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2000" dirty="0"/>
                  <a:t>Solve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200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func>
                    <m:r>
                      <a:rPr lang="en-GB" sz="2000" i="1">
                        <a:latin typeface="Cambria Math" panose="02040503050406030204" pitchFamily="18" charset="0"/>
                      </a:rPr>
                      <m:t>=2</m:t>
                    </m:r>
                    <m:func>
                      <m:func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200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func>
                  </m:oMath>
                </a14:m>
                <a:r>
                  <a:rPr lang="en-GB" sz="2000" dirty="0"/>
                  <a:t> in the interval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 panose="02040503050406030204" pitchFamily="18" charset="0"/>
                      </a:rPr>
                      <m:t>0≤</m:t>
                    </m:r>
                    <m:r>
                      <a:rPr lang="en-GB" sz="20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2000" i="1">
                        <a:latin typeface="Cambria Math" panose="02040503050406030204" pitchFamily="18" charset="0"/>
                      </a:rPr>
                      <m:t>&lt;300°</m:t>
                    </m:r>
                  </m:oMath>
                </a14:m>
                <a:endParaRPr lang="en-GB" sz="2000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5876" y="4011031"/>
                <a:ext cx="8207785" cy="400110"/>
              </a:xfrm>
              <a:prstGeom prst="rect">
                <a:avLst/>
              </a:prstGeom>
              <a:blipFill>
                <a:blip r:embed="rId5"/>
                <a:stretch>
                  <a:fillRect b="-4545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2279576" y="4725148"/>
                <a:ext cx="367240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>
                              <a:latin typeface="Cambria Math" panose="02040503050406030204" pitchFamily="18" charset="0"/>
                            </a:rPr>
                            <m:t>tan</m:t>
                          </m:r>
                        </m:fName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  <m:r>
                        <a:rPr lang="en-GB" i="1">
                          <a:latin typeface="Cambria Math" panose="02040503050406030204" pitchFamily="18" charset="0"/>
                        </a:rPr>
                        <m:t>=2</m:t>
                      </m:r>
                    </m:oMath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GB">
                                  <a:latin typeface="Cambria Math" panose="02040503050406030204" pitchFamily="18" charset="0"/>
                                </a:rPr>
                                <m:t>tan</m:t>
                              </m:r>
                            </m:e>
                            <m:sup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fName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func>
                      <m:r>
                        <a:rPr lang="en-GB" i="1">
                          <a:latin typeface="Cambria Math" panose="02040503050406030204" pitchFamily="18" charset="0"/>
                        </a:rPr>
                        <m:t>=63.43°, 243.43°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9576" y="4725148"/>
                <a:ext cx="3672408" cy="64633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6312025" y="4725145"/>
                <a:ext cx="3378076" cy="1477328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b="1" dirty="0"/>
                  <a:t>By dividing both sides by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b="1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GB" b="1">
                            <a:latin typeface="Cambria Math" panose="02040503050406030204" pitchFamily="18" charset="0"/>
                          </a:rPr>
                          <m:t>𝐜𝐨𝐬</m:t>
                        </m:r>
                      </m:fName>
                      <m:e>
                        <m:r>
                          <a:rPr lang="en-GB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func>
                  </m:oMath>
                </a14:m>
                <a:r>
                  <a:rPr lang="en-GB" dirty="0"/>
                  <a:t>, the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func>
                  </m:oMath>
                </a14:m>
                <a:r>
                  <a:rPr lang="en-GB" dirty="0"/>
                  <a:t> becomes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>
                            <a:latin typeface="Cambria Math" panose="02040503050406030204" pitchFamily="18" charset="0"/>
                          </a:rPr>
                          <m:t>tan</m:t>
                        </m:r>
                      </m:fName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func>
                  </m:oMath>
                </a14:m>
                <a:r>
                  <a:rPr lang="en-GB" dirty="0"/>
                  <a:t> and the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func>
                  </m:oMath>
                </a14:m>
                <a:r>
                  <a:rPr lang="en-GB" dirty="0"/>
                  <a:t> disappears, leaving a trig equation helpfully only in terms of one trig function.</a:t>
                </a: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12025" y="4725145"/>
                <a:ext cx="3378076" cy="1477328"/>
              </a:xfrm>
              <a:prstGeom prst="rect">
                <a:avLst/>
              </a:prstGeom>
              <a:blipFill>
                <a:blip r:embed="rId7"/>
                <a:stretch>
                  <a:fillRect l="-1111" t="-840" b="-420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Arrow Connector 13"/>
          <p:cNvCxnSpPr/>
          <p:nvPr/>
        </p:nvCxnSpPr>
        <p:spPr>
          <a:xfrm flipH="1" flipV="1">
            <a:off x="5807968" y="4941169"/>
            <a:ext cx="516632" cy="499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1848095" y="4405632"/>
            <a:ext cx="8248409" cy="210947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4362348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</p:childTnLst>
        </p:cTn>
      </p:par>
    </p:tnLst>
    <p:bldLst>
      <p:bldP spid="10" grpId="0" animBg="1"/>
      <p:bldP spid="16" grpId="0" animBg="1"/>
    </p:bldLst>
  </p:timing>
</p:sld>
</file>

<file path=ppt/c10/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2" y="2"/>
            <a:ext cx="9143075" cy="587744"/>
            <a:chOff x="0" y="13335"/>
            <a:chExt cx="9144218" cy="587744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1" cy="584775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Test Your Understanding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sp>
        <p:nvSpPr>
          <p:cNvPr id="6" name="TextBox 5"/>
          <p:cNvSpPr txBox="1"/>
          <p:nvPr/>
        </p:nvSpPr>
        <p:spPr>
          <a:xfrm>
            <a:off x="1847532" y="817539"/>
            <a:ext cx="2557895" cy="369332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dirty="0"/>
              <a:t>Edexcel C2 Jan 2013 Q4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7531" y="1212063"/>
            <a:ext cx="7233859" cy="1424851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6475" y="2708923"/>
            <a:ext cx="4815420" cy="4142297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3113525" y="4147944"/>
            <a:ext cx="1092716" cy="302136"/>
          </a:xfrm>
          <a:prstGeom prst="rect">
            <a:avLst/>
          </a:prstGeom>
          <a:solidFill>
            <a:srgbClr val="FFFF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Rectangle 10"/>
          <p:cNvSpPr/>
          <p:nvPr/>
        </p:nvSpPr>
        <p:spPr>
          <a:xfrm>
            <a:off x="3091455" y="4780069"/>
            <a:ext cx="1013825" cy="182459"/>
          </a:xfrm>
          <a:prstGeom prst="rect">
            <a:avLst/>
          </a:prstGeom>
          <a:solidFill>
            <a:srgbClr val="FFFF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Rectangle 11"/>
          <p:cNvSpPr/>
          <p:nvPr/>
        </p:nvSpPr>
        <p:spPr>
          <a:xfrm>
            <a:off x="3091454" y="5120739"/>
            <a:ext cx="1013825" cy="182459"/>
          </a:xfrm>
          <a:prstGeom prst="rect">
            <a:avLst/>
          </a:prstGeom>
          <a:solidFill>
            <a:srgbClr val="FFFF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Rectangle 12"/>
          <p:cNvSpPr/>
          <p:nvPr/>
        </p:nvSpPr>
        <p:spPr>
          <a:xfrm>
            <a:off x="1847531" y="2643216"/>
            <a:ext cx="7233859" cy="4208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0013345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c10/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2" y="2"/>
            <a:ext cx="9143075" cy="587744"/>
            <a:chOff x="0" y="13335"/>
            <a:chExt cx="9144218" cy="587744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1" cy="584775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Exercise 10E – Y1 p219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C76A3B22-9C52-D2EF-5C2B-765697D466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3698" y="613935"/>
            <a:ext cx="4528327" cy="87513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139CBD3-ACB4-BDED-62E4-0A58165595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6582" y="1489073"/>
            <a:ext cx="2894388" cy="164896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2D57249-A07F-753F-9E30-1B79EB9D66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91944" y="1525077"/>
            <a:ext cx="2528456" cy="157695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129638C-F4A3-D27A-395D-730ED7746E3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83697" y="3346254"/>
            <a:ext cx="5896146" cy="117738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3E4E62D-E98B-8DEB-060E-010123DBC5E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63552" y="4512886"/>
            <a:ext cx="2625668" cy="218345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106E3DD-2C5B-63C4-164E-562FAB38730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91944" y="4614107"/>
            <a:ext cx="3147814" cy="176433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B21C5CEF-51B7-D73F-332A-0CD25701C913}"/>
              </a:ext>
            </a:extLst>
          </p:cNvPr>
          <p:cNvSpPr/>
          <p:nvPr/>
        </p:nvSpPr>
        <p:spPr>
          <a:xfrm>
            <a:off x="1919536" y="1543650"/>
            <a:ext cx="3528392" cy="169877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a?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E1F4F08-AE27-695F-F9DA-5CD96C0B54A0}"/>
              </a:ext>
            </a:extLst>
          </p:cNvPr>
          <p:cNvSpPr/>
          <p:nvPr/>
        </p:nvSpPr>
        <p:spPr>
          <a:xfrm>
            <a:off x="5591944" y="1551016"/>
            <a:ext cx="3528392" cy="169877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b?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4D1FBA0-4D64-B85F-A842-3249E9A7CC06}"/>
              </a:ext>
            </a:extLst>
          </p:cNvPr>
          <p:cNvSpPr/>
          <p:nvPr/>
        </p:nvSpPr>
        <p:spPr>
          <a:xfrm>
            <a:off x="1919536" y="4567462"/>
            <a:ext cx="3528392" cy="212887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a?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F701BE5-DE19-ECCC-CC12-6DF10EC3BCEE}"/>
              </a:ext>
            </a:extLst>
          </p:cNvPr>
          <p:cNvSpPr/>
          <p:nvPr/>
        </p:nvSpPr>
        <p:spPr>
          <a:xfrm>
            <a:off x="5607518" y="4567462"/>
            <a:ext cx="3528392" cy="212887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b?</a:t>
            </a:r>
          </a:p>
        </p:txBody>
      </p:sp>
    </p:spTree>
    <p:extLst>
      <p:ext uri="{BB962C8B-B14F-4D97-AF65-F5344CB8AC3E}">
        <p14:creationId xmlns:p14="http://schemas.microsoft.com/office/powerpoint/2010/main" val="42799158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</p:bldLst>
  </p:timing>
</p:sld>
</file>

<file path=ppt/c10/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2" y="2"/>
            <a:ext cx="9143075" cy="587744"/>
            <a:chOff x="0" y="13335"/>
            <a:chExt cx="9144218" cy="587744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1" cy="584775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Exercise 10E – Y1 p219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9DB5E2E9-4D90-E2FE-EF77-9C922AEF92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6037" y="692697"/>
            <a:ext cx="7772400" cy="65144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0D1ABFC-D3AC-193E-A467-5D5ED2C665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1504" y="3341879"/>
            <a:ext cx="7772400" cy="111194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C1F4498-246B-270E-80D7-D127F991B7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19536" y="1556792"/>
            <a:ext cx="1586332" cy="133184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40C97C6-4B36-6A22-E2F0-64C7384EF96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76536" y="1338568"/>
            <a:ext cx="3387672" cy="200888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251D503-2C62-2110-A610-146E47A8C88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91544" y="4495096"/>
            <a:ext cx="2526510" cy="217935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131AE67-DDE7-2660-801A-DAEBB966255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18578" y="4547416"/>
            <a:ext cx="3444308" cy="758296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4317B793-8C08-DF10-ABD2-13DCA908C4CB}"/>
              </a:ext>
            </a:extLst>
          </p:cNvPr>
          <p:cNvSpPr/>
          <p:nvPr/>
        </p:nvSpPr>
        <p:spPr>
          <a:xfrm>
            <a:off x="1904128" y="1385409"/>
            <a:ext cx="3528392" cy="19151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a?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4C5EB5C-CC22-CBA3-1341-E7AE69BE4E64}"/>
              </a:ext>
            </a:extLst>
          </p:cNvPr>
          <p:cNvSpPr/>
          <p:nvPr/>
        </p:nvSpPr>
        <p:spPr>
          <a:xfrm>
            <a:off x="5576536" y="1392775"/>
            <a:ext cx="3528392" cy="19151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b?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FA00639-E7BE-C9BC-707B-EB061ED1EF98}"/>
              </a:ext>
            </a:extLst>
          </p:cNvPr>
          <p:cNvSpPr/>
          <p:nvPr/>
        </p:nvSpPr>
        <p:spPr>
          <a:xfrm>
            <a:off x="1893701" y="4547417"/>
            <a:ext cx="3528392" cy="216830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a?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FE54C96-60D7-027B-DE02-A977CDCA8D1B}"/>
              </a:ext>
            </a:extLst>
          </p:cNvPr>
          <p:cNvSpPr/>
          <p:nvPr/>
        </p:nvSpPr>
        <p:spPr>
          <a:xfrm>
            <a:off x="5566109" y="4554783"/>
            <a:ext cx="3528392" cy="216830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b?</a:t>
            </a:r>
          </a:p>
        </p:txBody>
      </p:sp>
    </p:spTree>
    <p:extLst>
      <p:ext uri="{BB962C8B-B14F-4D97-AF65-F5344CB8AC3E}">
        <p14:creationId xmlns:p14="http://schemas.microsoft.com/office/powerpoint/2010/main" val="23207258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</p:bldLst>
  </p:timing>
</p:sld>
</file>

<file path=ppt/c10/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>
          <a:solidFill>
            <a:schemeClr val="bg1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c10/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