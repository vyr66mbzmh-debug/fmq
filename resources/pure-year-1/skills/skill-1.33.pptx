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ppt/c12/ppt/slideMasters/slideMaster1.xml" ContentType="application/vnd.openxmlformats-officedocument.presentationml.slideMaster+xml"/>
  <ns0:Override PartName="/ppt/c12/ppt/slides/slide64.xml" ContentType="application/vnd.openxmlformats-officedocument.presentationml.slide+xml"/>
  <ns0:Override PartName="/ppt/c12/ppt/slides/slide65.xml" ContentType="application/vnd.openxmlformats-officedocument.presentationml.slide+xml"/>
  <ns0:Override PartName="/ppt/c12/ppt/slides/slide66.xml" ContentType="application/vnd.openxmlformats-officedocument.presentationml.slide+xml"/>
  <ns0:Override PartName="/ppt/c12/ppt/slides/slide67.xml" ContentType="application/vnd.openxmlformats-officedocument.presentationml.slide+xml"/>
  <ns0:Override PartName="/ppt/c12/ppt/slides/slide68.xml" ContentType="application/vnd.openxmlformats-officedocument.presentationml.slide+xml"/>
  <ns0:Override PartName="/ppt/c12/ppt/slides/slide69.xml" ContentType="application/vnd.openxmlformats-officedocument.presentationml.slide+xml"/>
  <ns0:Override PartName="/ppt/c12/ppt/notesMasters/notesMaster1.xml" ContentType="application/vnd.openxmlformats-officedocument.presentationml.notesMaster+xml"/>
  <ns0:Override PartName="/ppt/c12/ppt/theme/theme1.xml" ContentType="application/vnd.openxmlformats-officedocument.theme+xml"/>
  <ns0:Override PartName="/ppt/c12/ppt/slideLayouts/slideLayout1.xml" ContentType="application/vnd.openxmlformats-officedocument.presentationml.slideLayout+xml"/>
  <ns0:Override PartName="/ppt/c12/ppt/slideLayouts/slideLayout2.xml" ContentType="application/vnd.openxmlformats-officedocument.presentationml.slideLayout+xml"/>
  <ns0:Override PartName="/ppt/c12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4848" r:id="rId7"/>
  </p:sldMasterIdLst>
  <p:notesMasterIdLst>
    <p:notesMasterId r:id="rId8"/>
  </p:notesMasterIdLst>
  <p:sldIdLst>
    <p:sldId id="256" r:id="rId1"/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12/ppt/slides/slide64.xml" /><ns0:Relationship Id="rId2" Type="http://schemas.openxmlformats.org/officeDocument/2006/relationships/slide" Target="c12/ppt/slides/slide65.xml" /><ns0:Relationship Id="rId3" Type="http://schemas.openxmlformats.org/officeDocument/2006/relationships/slide" Target="c12/ppt/slides/slide66.xml" /><ns0:Relationship Id="rId4" Type="http://schemas.openxmlformats.org/officeDocument/2006/relationships/slide" Target="c12/ppt/slides/slide67.xml" /><ns0:Relationship Id="rId5" Type="http://schemas.openxmlformats.org/officeDocument/2006/relationships/slide" Target="c12/ppt/slides/slide68.xml" /><ns0:Relationship Id="rId6" Type="http://schemas.openxmlformats.org/officeDocument/2006/relationships/slide" Target="c12/ppt/slides/slide69.xml" /><ns0:Relationship Id="rId7" Type="http://schemas.openxmlformats.org/officeDocument/2006/relationships/slideMaster" Target="c12/ppt/slideMasters/slideMaster1.xml" /><ns0:Relationship Id="rId8" Type="http://schemas.openxmlformats.org/officeDocument/2006/relationships/notesMaster" Target="c12/ppt/notesMasters/notesMaster1.xml" /></ns0:Relationships>
</file>

<file path=ppt/c12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12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30/12/2023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12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2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2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30/12/2023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1839891"/>
      </p:ext>
    </p:extLst>
  </p:cSld>
  <p:clrMapOvr>
    <a:masterClrMapping/>
  </p:clrMapOvr>
</p:sldLayout>
</file>

<file path=ppt/c12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17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8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ECDDC1-0B0A-6E37-1995-A8CC6B0F35AF}"/>
              </a:ext>
            </a:extLst>
          </p:cNvPr>
          <p:cNvSpPr/>
          <p:nvPr userDrawn="1"/>
        </p:nvSpPr>
        <p:spPr>
          <a:xfrm>
            <a:off x="8458200" y="116632"/>
            <a:ext cx="648072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130973"/>
      </p:ext>
    </p:extLst>
  </p:cSld>
  <p:clrMapOvr>
    <a:masterClrMapping/>
  </p:clrMapOvr>
</p:sldLayout>
</file>

<file path=ppt/c12/ppt/slideMasters/_rels/slideMaster1.xml.rels><?xml version='1.0' encoding='utf-8'?>
<ns0:Relationships xmlns:ns0="http://schemas.openxmlformats.org/package/2006/relationships"><ns0:Relationship Id="rId3" Type="http://schemas.openxmlformats.org/officeDocument/2006/relationships/theme" Target="../theme/theme1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/ns0:Relationships>
</file>

<file path=ppt/c12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30/12/2023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6BE1C5E-5248-9158-42CE-6786A1D85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9126"/>
            <a:ext cx="8229600" cy="818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46619E1-8E5E-BED0-8159-D618D0F5B26B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144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968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12/ppt/slides/_rels/slide64.xml.rels><?xml version='1.0' encoding='utf-8'?>
<ns0:Relationships xmlns:ns0="http://schemas.openxmlformats.org/package/2006/relationships"><ns0:Relationship Id="rId8" Type="http://schemas.openxmlformats.org/officeDocument/2006/relationships/image" Target="../media/image226.png" /><ns0:Relationship Id="rId3" Type="http://schemas.openxmlformats.org/officeDocument/2006/relationships/image" Target="../media/image221.png" /><ns0:Relationship Id="rId7" Type="http://schemas.openxmlformats.org/officeDocument/2006/relationships/image" Target="../media/image225.png" /><ns0:Relationship Id="rId2" Type="http://schemas.openxmlformats.org/officeDocument/2006/relationships/image" Target="../media/image220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24.png" /><ns0:Relationship Id="rId11" Type="http://schemas.openxmlformats.org/officeDocument/2006/relationships/image" Target="../media/image229.png" /><ns0:Relationship Id="rId5" Type="http://schemas.openxmlformats.org/officeDocument/2006/relationships/image" Target="../media/image223.png" /><ns0:Relationship Id="rId10" Type="http://schemas.openxmlformats.org/officeDocument/2006/relationships/image" Target="../media/image228.png" /><ns0:Relationship Id="rId4" Type="http://schemas.openxmlformats.org/officeDocument/2006/relationships/image" Target="../media/image222.png" /><ns0:Relationship Id="rId9" Type="http://schemas.openxmlformats.org/officeDocument/2006/relationships/image" Target="../media/image227.png" /></ns0:Relationships>
</file>

<file path=ppt/c12/ppt/slides/_rels/slide65.xml.rels><?xml version='1.0' encoding='utf-8'?>
<ns0:Relationships xmlns:ns0="http://schemas.openxmlformats.org/package/2006/relationships"><ns0:Relationship Id="rId3" Type="http://schemas.openxmlformats.org/officeDocument/2006/relationships/image" Target="../media/image231.png" /><ns0:Relationship Id="rId7" Type="http://schemas.openxmlformats.org/officeDocument/2006/relationships/image" Target="../media/image235.png" /><ns0:Relationship Id="rId2" Type="http://schemas.openxmlformats.org/officeDocument/2006/relationships/image" Target="../media/image230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34.png" /><ns0:Relationship Id="rId5" Type="http://schemas.openxmlformats.org/officeDocument/2006/relationships/image" Target="../media/image233.png" /><ns0:Relationship Id="rId4" Type="http://schemas.openxmlformats.org/officeDocument/2006/relationships/image" Target="../media/image232.png" /></ns0:Relationships>
</file>

<file path=ppt/c12/ppt/slides/_rels/slide66.xml.rels><?xml version='1.0' encoding='utf-8'?>
<ns0:Relationships xmlns:ns0="http://schemas.openxmlformats.org/package/2006/relationships"><ns0:Relationship Id="rId3" Type="http://schemas.openxmlformats.org/officeDocument/2006/relationships/image" Target="../media/image236.png" /><ns0:Relationship Id="rId2" Type="http://schemas.openxmlformats.org/officeDocument/2006/relationships/image" Target="../media/image230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238.png" /><ns0:Relationship Id="rId4" Type="http://schemas.openxmlformats.org/officeDocument/2006/relationships/image" Target="../media/image237.png" /></ns0:Relationships>
</file>

<file path=ppt/c12/ppt/slides/_rels/slide67.xml.rels><?xml version='1.0' encoding='utf-8'?>
<ns0:Relationships xmlns:ns0="http://schemas.openxmlformats.org/package/2006/relationships"><ns0:Relationship Id="rId3" Type="http://schemas.openxmlformats.org/officeDocument/2006/relationships/hyperlink" Target="https://activeteach-prod.resource.pearson-intl.com/r00/r0066/r006621/r00662132/current/alevelsb_p1_ex12j.pdf" TargetMode="External" /><ns0:Relationship Id="rId2" Type="http://schemas.openxmlformats.org/officeDocument/2006/relationships/image" Target="../media/image239.png" /><ns0:Relationship Id="rId1" Type="http://schemas.openxmlformats.org/officeDocument/2006/relationships/slideLayout" Target="../slideLayouts/slideLayout1.xml" /></ns0:Relationships>
</file>

<file path=ppt/c12/ppt/slides/_rels/slide68.xml.rels><?xml version='1.0' encoding='utf-8'?>
<ns0:Relationships xmlns:ns0="http://schemas.openxmlformats.org/package/2006/relationships"><ns0:Relationship Id="rId3" Type="http://schemas.openxmlformats.org/officeDocument/2006/relationships/image" Target="../media/image241.png" /><ns0:Relationship Id="rId2" Type="http://schemas.openxmlformats.org/officeDocument/2006/relationships/image" Target="../media/image240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243.png" /><ns0:Relationship Id="rId4" Type="http://schemas.openxmlformats.org/officeDocument/2006/relationships/image" Target="../media/image242.png" /></ns0:Relationships>
</file>

<file path=ppt/c12/ppt/slides/_rels/slide69.xml.rels><?xml version='1.0' encoding='utf-8'?>
<ns0:Relationships xmlns:ns0="http://schemas.openxmlformats.org/package/2006/relationships"><ns0:Relationship Id="rId3" Type="http://schemas.openxmlformats.org/officeDocument/2006/relationships/image" Target="../media/image2421.png" /><ns0:Relationship Id="rId2" Type="http://schemas.openxmlformats.org/officeDocument/2006/relationships/image" Target="../media/image2410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2431.png" /></ns0:Relationships>
</file>

<file path=ppt/c12/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Sketching Gradient Functions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36228" y="735112"/>
                <a:ext cx="2749872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new A Level specification specifically mentions being able to 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If you know the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explicitly (e.g. because you differentiated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), you can use your knowledge of sketching straight line/quadratic/cubic graphs.</a:t>
                </a:r>
              </a:p>
              <a:p>
                <a:r>
                  <a:rPr lang="en-GB" dirty="0"/>
                  <a:t>But in other cases </a:t>
                </a:r>
                <a:r>
                  <a:rPr lang="en-GB" b="1" dirty="0"/>
                  <a:t>you won’t be given the function explicitly</a:t>
                </a:r>
                <a:r>
                  <a:rPr lang="en-GB" dirty="0"/>
                  <a:t>, but </a:t>
                </a:r>
                <a:r>
                  <a:rPr lang="en-GB" b="1" dirty="0"/>
                  <a:t>just the sketch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28" y="735112"/>
                <a:ext cx="2749872" cy="4801314"/>
              </a:xfrm>
              <a:prstGeom prst="rect">
                <a:avLst/>
              </a:prstGeom>
              <a:blipFill>
                <a:blip r:embed="rId2"/>
                <a:stretch>
                  <a:fillRect l="-1774" t="-762" r="-1996" b="-11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 flipV="1">
            <a:off x="4837584" y="1184920"/>
            <a:ext cx="0" cy="3312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562648" y="3844900"/>
            <a:ext cx="46085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Freeform: Shape 10"/>
          <p:cNvSpPr/>
          <p:nvPr/>
        </p:nvSpPr>
        <p:spPr>
          <a:xfrm>
            <a:off x="4356100" y="1549400"/>
            <a:ext cx="3594100" cy="2844838"/>
          </a:xfrm>
          <a:custGeom>
            <a:avLst/>
            <a:gdLst>
              <a:gd name="connsiteX0" fmla="*/ 0 w 3594100"/>
              <a:gd name="connsiteY0" fmla="*/ 0 h 2844838"/>
              <a:gd name="connsiteX1" fmla="*/ 2019300 w 3594100"/>
              <a:gd name="connsiteY1" fmla="*/ 2844800 h 2844838"/>
              <a:gd name="connsiteX2" fmla="*/ 3594100 w 3594100"/>
              <a:gd name="connsiteY2" fmla="*/ 50800 h 284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94100" h="2844838">
                <a:moveTo>
                  <a:pt x="0" y="0"/>
                </a:moveTo>
                <a:cubicBezTo>
                  <a:pt x="710141" y="1418166"/>
                  <a:pt x="1420283" y="2836333"/>
                  <a:pt x="2019300" y="2844800"/>
                </a:cubicBezTo>
                <a:cubicBezTo>
                  <a:pt x="2618317" y="2853267"/>
                  <a:pt x="3106208" y="1452033"/>
                  <a:pt x="3594100" y="508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ight Brace 11"/>
          <p:cNvSpPr/>
          <p:nvPr/>
        </p:nvSpPr>
        <p:spPr>
          <a:xfrm rot="5400000">
            <a:off x="4770465" y="3725836"/>
            <a:ext cx="434919" cy="2330450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120360" y="3666232"/>
                <a:ext cx="4332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360" y="3666232"/>
                <a:ext cx="43328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642420" y="764057"/>
                <a:ext cx="4332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420" y="764057"/>
                <a:ext cx="433288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856508" y="5176367"/>
                <a:ext cx="1625600" cy="729133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Click to 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6508" y="5176367"/>
                <a:ext cx="1625600" cy="729133"/>
              </a:xfrm>
              <a:prstGeom prst="rect">
                <a:avLst/>
              </a:prstGeom>
              <a:blipFill>
                <a:blip r:embed="rId5"/>
                <a:stretch>
                  <a:fillRect r="-7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605760" y="5176367"/>
                <a:ext cx="1625600" cy="729133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Click to 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760" y="5176367"/>
                <a:ext cx="1625600" cy="729133"/>
              </a:xfrm>
              <a:prstGeom prst="rect">
                <a:avLst/>
              </a:prstGeom>
              <a:blipFill>
                <a:blip r:embed="rId6"/>
                <a:stretch>
                  <a:fillRect r="-7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377708" y="5176366"/>
                <a:ext cx="1625600" cy="729133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Click to 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708" y="5176366"/>
                <a:ext cx="1625600" cy="729133"/>
              </a:xfrm>
              <a:prstGeom prst="rect">
                <a:avLst/>
              </a:prstGeom>
              <a:blipFill>
                <a:blip r:embed="rId7"/>
                <a:stretch>
                  <a:fillRect r="-7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Brace 17"/>
          <p:cNvSpPr/>
          <p:nvPr/>
        </p:nvSpPr>
        <p:spPr>
          <a:xfrm rot="5400000">
            <a:off x="6222339" y="4699859"/>
            <a:ext cx="407920" cy="406202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ight Brace 18"/>
          <p:cNvSpPr/>
          <p:nvPr/>
        </p:nvSpPr>
        <p:spPr>
          <a:xfrm rot="5400000">
            <a:off x="7563777" y="3818798"/>
            <a:ext cx="420618" cy="2155628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 rot="17340802">
                <a:off x="6973664" y="1501676"/>
                <a:ext cx="13887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340802">
                <a:off x="6973664" y="1501676"/>
                <a:ext cx="138874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/>
          <p:nvPr/>
        </p:nvCxnSpPr>
        <p:spPr>
          <a:xfrm flipH="1">
            <a:off x="4013200" y="3844900"/>
            <a:ext cx="2405360" cy="7144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6413854" y="3121503"/>
            <a:ext cx="2405360" cy="7144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284158" y="3753459"/>
            <a:ext cx="198867" cy="182182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/>
          <p:cNvSpPr txBox="1"/>
          <p:nvPr/>
        </p:nvSpPr>
        <p:spPr>
          <a:xfrm>
            <a:off x="5393208" y="1993900"/>
            <a:ext cx="1579092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The gradient at the turning point is 0.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5901552" y="2472730"/>
            <a:ext cx="410348" cy="1108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 rot="20637901">
                <a:off x="3841800" y="3942804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637901">
                <a:off x="3841800" y="3942804"/>
                <a:ext cx="151216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>
            <a:off x="4318000" y="2108200"/>
            <a:ext cx="974562" cy="1896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183408" y="1181100"/>
                <a:ext cx="1350492" cy="95410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The gradient of 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400" dirty="0"/>
                  <a:t> is negative, but increasing.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408" y="1181100"/>
                <a:ext cx="1350492" cy="954107"/>
              </a:xfrm>
              <a:prstGeom prst="rect">
                <a:avLst/>
              </a:prstGeom>
              <a:blipFill>
                <a:blip r:embed="rId10"/>
                <a:stretch>
                  <a:fillRect l="-442" r="-1327" b="-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7826572" y="2119242"/>
                <a:ext cx="1252812" cy="95410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The gradient of 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400" dirty="0"/>
                  <a:t> is positive, and increasing.</a:t>
                </a: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6572" y="2119242"/>
                <a:ext cx="1252812" cy="954107"/>
              </a:xfrm>
              <a:prstGeom prst="rect">
                <a:avLst/>
              </a:prstGeom>
              <a:blipFill>
                <a:blip r:embed="rId11"/>
                <a:stretch>
                  <a:fillRect l="-478" r="-3349" b="-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/>
          <p:cNvCxnSpPr/>
          <p:nvPr/>
        </p:nvCxnSpPr>
        <p:spPr>
          <a:xfrm flipH="1">
            <a:off x="7632700" y="2727233"/>
            <a:ext cx="199858" cy="650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375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8" grpId="0"/>
      <p:bldP spid="31" grpId="0" animBg="1"/>
      <p:bldP spid="33" grpId="0" animBg="1"/>
    </p:bldLst>
  </p:timing>
</p:sld>
</file>

<file path=ppt/c12/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A Harder One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5" name="Straight Arrow Connector 4"/>
          <p:cNvCxnSpPr/>
          <p:nvPr/>
        </p:nvCxnSpPr>
        <p:spPr>
          <a:xfrm flipV="1">
            <a:off x="2267744" y="1484784"/>
            <a:ext cx="0" cy="3312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992808" y="4144764"/>
            <a:ext cx="62434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199337" y="3931523"/>
                <a:ext cx="4332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9337" y="3931523"/>
                <a:ext cx="43328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72580" y="1063921"/>
                <a:ext cx="4332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580" y="1063921"/>
                <a:ext cx="433288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: Shape 9"/>
          <p:cNvSpPr/>
          <p:nvPr/>
        </p:nvSpPr>
        <p:spPr>
          <a:xfrm>
            <a:off x="1435100" y="1714502"/>
            <a:ext cx="5918199" cy="1999000"/>
          </a:xfrm>
          <a:custGeom>
            <a:avLst/>
            <a:gdLst>
              <a:gd name="connsiteX0" fmla="*/ 0 w 5219700"/>
              <a:gd name="connsiteY0" fmla="*/ 43453 h 3040653"/>
              <a:gd name="connsiteX1" fmla="*/ 1308100 w 5219700"/>
              <a:gd name="connsiteY1" fmla="*/ 1732553 h 3040653"/>
              <a:gd name="connsiteX2" fmla="*/ 2514600 w 5219700"/>
              <a:gd name="connsiteY2" fmla="*/ 907053 h 3040653"/>
              <a:gd name="connsiteX3" fmla="*/ 3302000 w 5219700"/>
              <a:gd name="connsiteY3" fmla="*/ 81553 h 3040653"/>
              <a:gd name="connsiteX4" fmla="*/ 5219700 w 5219700"/>
              <a:gd name="connsiteY4" fmla="*/ 3040653 h 3040653"/>
              <a:gd name="connsiteX0" fmla="*/ 0 w 5219700"/>
              <a:gd name="connsiteY0" fmla="*/ 28459 h 3025659"/>
              <a:gd name="connsiteX1" fmla="*/ 1308100 w 5219700"/>
              <a:gd name="connsiteY1" fmla="*/ 1717559 h 3025659"/>
              <a:gd name="connsiteX2" fmla="*/ 2514600 w 5219700"/>
              <a:gd name="connsiteY2" fmla="*/ 892059 h 3025659"/>
              <a:gd name="connsiteX3" fmla="*/ 3302000 w 5219700"/>
              <a:gd name="connsiteY3" fmla="*/ 66559 h 3025659"/>
              <a:gd name="connsiteX4" fmla="*/ 5219700 w 5219700"/>
              <a:gd name="connsiteY4" fmla="*/ 3025659 h 3025659"/>
              <a:gd name="connsiteX0" fmla="*/ 0 w 5219700"/>
              <a:gd name="connsiteY0" fmla="*/ 0 h 2997200"/>
              <a:gd name="connsiteX1" fmla="*/ 1308100 w 5219700"/>
              <a:gd name="connsiteY1" fmla="*/ 1689100 h 2997200"/>
              <a:gd name="connsiteX2" fmla="*/ 2514600 w 5219700"/>
              <a:gd name="connsiteY2" fmla="*/ 863600 h 2997200"/>
              <a:gd name="connsiteX3" fmla="*/ 3302000 w 5219700"/>
              <a:gd name="connsiteY3" fmla="*/ 38100 h 2997200"/>
              <a:gd name="connsiteX4" fmla="*/ 5219700 w 5219700"/>
              <a:gd name="connsiteY4" fmla="*/ 2997200 h 2997200"/>
              <a:gd name="connsiteX0" fmla="*/ 0 w 5219700"/>
              <a:gd name="connsiteY0" fmla="*/ 0 h 2997200"/>
              <a:gd name="connsiteX1" fmla="*/ 1308100 w 5219700"/>
              <a:gd name="connsiteY1" fmla="*/ 1689100 h 2997200"/>
              <a:gd name="connsiteX2" fmla="*/ 2514600 w 5219700"/>
              <a:gd name="connsiteY2" fmla="*/ 863600 h 2997200"/>
              <a:gd name="connsiteX3" fmla="*/ 3979729 w 5219700"/>
              <a:gd name="connsiteY3" fmla="*/ 25400 h 2997200"/>
              <a:gd name="connsiteX4" fmla="*/ 5219700 w 5219700"/>
              <a:gd name="connsiteY4" fmla="*/ 2997200 h 2997200"/>
              <a:gd name="connsiteX0" fmla="*/ 0 w 5219700"/>
              <a:gd name="connsiteY0" fmla="*/ 0 h 2997200"/>
              <a:gd name="connsiteX1" fmla="*/ 1308100 w 5219700"/>
              <a:gd name="connsiteY1" fmla="*/ 1689100 h 2997200"/>
              <a:gd name="connsiteX2" fmla="*/ 2514600 w 5219700"/>
              <a:gd name="connsiteY2" fmla="*/ 863600 h 2997200"/>
              <a:gd name="connsiteX3" fmla="*/ 3979729 w 5219700"/>
              <a:gd name="connsiteY3" fmla="*/ 25400 h 2997200"/>
              <a:gd name="connsiteX4" fmla="*/ 5219700 w 5219700"/>
              <a:gd name="connsiteY4" fmla="*/ 2997200 h 2997200"/>
              <a:gd name="connsiteX0" fmla="*/ 0 w 5228617"/>
              <a:gd name="connsiteY0" fmla="*/ 0 h 1930400"/>
              <a:gd name="connsiteX1" fmla="*/ 1308100 w 5228617"/>
              <a:gd name="connsiteY1" fmla="*/ 1689100 h 1930400"/>
              <a:gd name="connsiteX2" fmla="*/ 2514600 w 5228617"/>
              <a:gd name="connsiteY2" fmla="*/ 863600 h 1930400"/>
              <a:gd name="connsiteX3" fmla="*/ 3979729 w 5228617"/>
              <a:gd name="connsiteY3" fmla="*/ 25400 h 1930400"/>
              <a:gd name="connsiteX4" fmla="*/ 5228617 w 5228617"/>
              <a:gd name="connsiteY4" fmla="*/ 1930400 h 1930400"/>
              <a:gd name="connsiteX0" fmla="*/ 0 w 5228617"/>
              <a:gd name="connsiteY0" fmla="*/ 0 h 1930400"/>
              <a:gd name="connsiteX1" fmla="*/ 1308100 w 5228617"/>
              <a:gd name="connsiteY1" fmla="*/ 1689100 h 1930400"/>
              <a:gd name="connsiteX2" fmla="*/ 2514600 w 5228617"/>
              <a:gd name="connsiteY2" fmla="*/ 863600 h 1930400"/>
              <a:gd name="connsiteX3" fmla="*/ 3979729 w 5228617"/>
              <a:gd name="connsiteY3" fmla="*/ 25400 h 1930400"/>
              <a:gd name="connsiteX4" fmla="*/ 5228617 w 5228617"/>
              <a:gd name="connsiteY4" fmla="*/ 1930400 h 1930400"/>
              <a:gd name="connsiteX0" fmla="*/ 0 w 5540729"/>
              <a:gd name="connsiteY0" fmla="*/ 0 h 1997075"/>
              <a:gd name="connsiteX1" fmla="*/ 1308100 w 5540729"/>
              <a:gd name="connsiteY1" fmla="*/ 1689100 h 1997075"/>
              <a:gd name="connsiteX2" fmla="*/ 2514600 w 5540729"/>
              <a:gd name="connsiteY2" fmla="*/ 863600 h 1997075"/>
              <a:gd name="connsiteX3" fmla="*/ 3979729 w 5540729"/>
              <a:gd name="connsiteY3" fmla="*/ 25400 h 1997075"/>
              <a:gd name="connsiteX4" fmla="*/ 5540729 w 5540729"/>
              <a:gd name="connsiteY4" fmla="*/ 1997075 h 1997075"/>
              <a:gd name="connsiteX0" fmla="*/ 0 w 5540729"/>
              <a:gd name="connsiteY0" fmla="*/ 0 h 1999000"/>
              <a:gd name="connsiteX1" fmla="*/ 1308100 w 5540729"/>
              <a:gd name="connsiteY1" fmla="*/ 1689100 h 1999000"/>
              <a:gd name="connsiteX2" fmla="*/ 2514600 w 5540729"/>
              <a:gd name="connsiteY2" fmla="*/ 863600 h 1999000"/>
              <a:gd name="connsiteX3" fmla="*/ 3979729 w 5540729"/>
              <a:gd name="connsiteY3" fmla="*/ 25400 h 1999000"/>
              <a:gd name="connsiteX4" fmla="*/ 5540729 w 5540729"/>
              <a:gd name="connsiteY4" fmla="*/ 1997075 h 1999000"/>
              <a:gd name="connsiteX0" fmla="*/ 0 w 5540729"/>
              <a:gd name="connsiteY0" fmla="*/ 1602 h 2000602"/>
              <a:gd name="connsiteX1" fmla="*/ 1308100 w 5540729"/>
              <a:gd name="connsiteY1" fmla="*/ 1690702 h 2000602"/>
              <a:gd name="connsiteX2" fmla="*/ 1902397 w 5540729"/>
              <a:gd name="connsiteY2" fmla="*/ 1039825 h 2000602"/>
              <a:gd name="connsiteX3" fmla="*/ 2514600 w 5540729"/>
              <a:gd name="connsiteY3" fmla="*/ 865202 h 2000602"/>
              <a:gd name="connsiteX4" fmla="*/ 3979729 w 5540729"/>
              <a:gd name="connsiteY4" fmla="*/ 27002 h 2000602"/>
              <a:gd name="connsiteX5" fmla="*/ 5540729 w 5540729"/>
              <a:gd name="connsiteY5" fmla="*/ 1998677 h 2000602"/>
              <a:gd name="connsiteX0" fmla="*/ 0 w 5540729"/>
              <a:gd name="connsiteY0" fmla="*/ 2499 h 2001499"/>
              <a:gd name="connsiteX1" fmla="*/ 1308100 w 5540729"/>
              <a:gd name="connsiteY1" fmla="*/ 1691599 h 2001499"/>
              <a:gd name="connsiteX2" fmla="*/ 1906857 w 5540729"/>
              <a:gd name="connsiteY2" fmla="*/ 1240747 h 2001499"/>
              <a:gd name="connsiteX3" fmla="*/ 2514600 w 5540729"/>
              <a:gd name="connsiteY3" fmla="*/ 866099 h 2001499"/>
              <a:gd name="connsiteX4" fmla="*/ 3979729 w 5540729"/>
              <a:gd name="connsiteY4" fmla="*/ 27899 h 2001499"/>
              <a:gd name="connsiteX5" fmla="*/ 5540729 w 5540729"/>
              <a:gd name="connsiteY5" fmla="*/ 1999574 h 2001499"/>
              <a:gd name="connsiteX0" fmla="*/ 0 w 5540729"/>
              <a:gd name="connsiteY0" fmla="*/ 2499 h 2001499"/>
              <a:gd name="connsiteX1" fmla="*/ 1308100 w 5540729"/>
              <a:gd name="connsiteY1" fmla="*/ 1691599 h 2001499"/>
              <a:gd name="connsiteX2" fmla="*/ 1906857 w 5540729"/>
              <a:gd name="connsiteY2" fmla="*/ 1240747 h 2001499"/>
              <a:gd name="connsiteX3" fmla="*/ 2514600 w 5540729"/>
              <a:gd name="connsiteY3" fmla="*/ 866099 h 2001499"/>
              <a:gd name="connsiteX4" fmla="*/ 3979729 w 5540729"/>
              <a:gd name="connsiteY4" fmla="*/ 27899 h 2001499"/>
              <a:gd name="connsiteX5" fmla="*/ 5540729 w 5540729"/>
              <a:gd name="connsiteY5" fmla="*/ 1999574 h 2001499"/>
              <a:gd name="connsiteX0" fmla="*/ 0 w 5540729"/>
              <a:gd name="connsiteY0" fmla="*/ 2499 h 2001499"/>
              <a:gd name="connsiteX1" fmla="*/ 1308100 w 5540729"/>
              <a:gd name="connsiteY1" fmla="*/ 1691599 h 2001499"/>
              <a:gd name="connsiteX2" fmla="*/ 1906857 w 5540729"/>
              <a:gd name="connsiteY2" fmla="*/ 1240747 h 2001499"/>
              <a:gd name="connsiteX3" fmla="*/ 2514600 w 5540729"/>
              <a:gd name="connsiteY3" fmla="*/ 866099 h 2001499"/>
              <a:gd name="connsiteX4" fmla="*/ 3979729 w 5540729"/>
              <a:gd name="connsiteY4" fmla="*/ 27899 h 2001499"/>
              <a:gd name="connsiteX5" fmla="*/ 5540729 w 5540729"/>
              <a:gd name="connsiteY5" fmla="*/ 1999574 h 2001499"/>
              <a:gd name="connsiteX0" fmla="*/ 0 w 5540729"/>
              <a:gd name="connsiteY0" fmla="*/ 0 h 1999000"/>
              <a:gd name="connsiteX1" fmla="*/ 1308100 w 5540729"/>
              <a:gd name="connsiteY1" fmla="*/ 1689100 h 1999000"/>
              <a:gd name="connsiteX2" fmla="*/ 1906857 w 5540729"/>
              <a:gd name="connsiteY2" fmla="*/ 1238248 h 1999000"/>
              <a:gd name="connsiteX3" fmla="*/ 2514600 w 5540729"/>
              <a:gd name="connsiteY3" fmla="*/ 863600 h 1999000"/>
              <a:gd name="connsiteX4" fmla="*/ 3979729 w 5540729"/>
              <a:gd name="connsiteY4" fmla="*/ 25400 h 1999000"/>
              <a:gd name="connsiteX5" fmla="*/ 5540729 w 5540729"/>
              <a:gd name="connsiteY5" fmla="*/ 1997075 h 199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0729" h="1999000">
                <a:moveTo>
                  <a:pt x="0" y="0"/>
                </a:moveTo>
                <a:cubicBezTo>
                  <a:pt x="444500" y="772583"/>
                  <a:pt x="990291" y="1482725"/>
                  <a:pt x="1308100" y="1689100"/>
                </a:cubicBezTo>
                <a:cubicBezTo>
                  <a:pt x="1625909" y="1895475"/>
                  <a:pt x="1826159" y="1475844"/>
                  <a:pt x="1906857" y="1238248"/>
                </a:cubicBezTo>
                <a:cubicBezTo>
                  <a:pt x="1996472" y="953027"/>
                  <a:pt x="2048735" y="880004"/>
                  <a:pt x="2514600" y="863600"/>
                </a:cubicBezTo>
                <a:cubicBezTo>
                  <a:pt x="2980465" y="847196"/>
                  <a:pt x="3475374" y="-163513"/>
                  <a:pt x="3979729" y="25400"/>
                </a:cubicBezTo>
                <a:cubicBezTo>
                  <a:pt x="4484084" y="214313"/>
                  <a:pt x="4450605" y="2066925"/>
                  <a:pt x="5540729" y="19970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ight Brace 10"/>
          <p:cNvSpPr/>
          <p:nvPr/>
        </p:nvSpPr>
        <p:spPr>
          <a:xfrm rot="5400000">
            <a:off x="1687540" y="4129063"/>
            <a:ext cx="282519" cy="1778000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1507008" y="5290667"/>
            <a:ext cx="601192" cy="69103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13" name="Right Brace 12"/>
          <p:cNvSpPr/>
          <p:nvPr/>
        </p:nvSpPr>
        <p:spPr>
          <a:xfrm rot="5400000">
            <a:off x="2817554" y="4865378"/>
            <a:ext cx="269821" cy="318071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ight Brace 13"/>
          <p:cNvSpPr/>
          <p:nvPr/>
        </p:nvSpPr>
        <p:spPr>
          <a:xfrm rot="5400000">
            <a:off x="3398434" y="4633459"/>
            <a:ext cx="295224" cy="731107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ight Brace 14"/>
          <p:cNvSpPr/>
          <p:nvPr/>
        </p:nvSpPr>
        <p:spPr>
          <a:xfrm rot="5400000">
            <a:off x="4058588" y="4747513"/>
            <a:ext cx="320621" cy="503002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ight Brace 15"/>
          <p:cNvSpPr/>
          <p:nvPr/>
        </p:nvSpPr>
        <p:spPr>
          <a:xfrm rot="5400000">
            <a:off x="4835786" y="4559511"/>
            <a:ext cx="333321" cy="866306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ight Brace 16"/>
          <p:cNvSpPr/>
          <p:nvPr/>
        </p:nvSpPr>
        <p:spPr>
          <a:xfrm rot="5400000">
            <a:off x="5498345" y="4844247"/>
            <a:ext cx="326974" cy="277787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ight Brace 17"/>
          <p:cNvSpPr/>
          <p:nvPr/>
        </p:nvSpPr>
        <p:spPr>
          <a:xfrm rot="5400000">
            <a:off x="6334957" y="4433083"/>
            <a:ext cx="333322" cy="1144563"/>
          </a:xfrm>
          <a:prstGeom prst="rightBrac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2753468" y="5284885"/>
            <a:ext cx="409998" cy="69103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81833" y="5285886"/>
            <a:ext cx="574229" cy="69103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1581" y="5284884"/>
            <a:ext cx="458020" cy="69103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93949" y="5284884"/>
            <a:ext cx="692426" cy="69103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67350" y="5273627"/>
            <a:ext cx="428625" cy="69103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394" y="5273627"/>
            <a:ext cx="713606" cy="69103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939799" y="3789040"/>
            <a:ext cx="6440513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2717800" y="1340768"/>
            <a:ext cx="0" cy="3384376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3111500" y="1340768"/>
            <a:ext cx="0" cy="3384376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3911600" y="1340768"/>
            <a:ext cx="0" cy="3384376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4397376" y="1340768"/>
            <a:ext cx="0" cy="3384376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5422901" y="1340768"/>
            <a:ext cx="0" cy="3384376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5842000" y="1340768"/>
            <a:ext cx="0" cy="3384376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992808" y="4144764"/>
            <a:ext cx="1923008" cy="706636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6" name="Freeform: Shape 35"/>
          <p:cNvSpPr/>
          <p:nvPr/>
        </p:nvSpPr>
        <p:spPr>
          <a:xfrm>
            <a:off x="2914650" y="3631698"/>
            <a:ext cx="1123950" cy="521201"/>
          </a:xfrm>
          <a:custGeom>
            <a:avLst/>
            <a:gdLst>
              <a:gd name="connsiteX0" fmla="*/ 0 w 1123950"/>
              <a:gd name="connsiteY0" fmla="*/ 381918 h 381918"/>
              <a:gd name="connsiteX1" fmla="*/ 581025 w 1123950"/>
              <a:gd name="connsiteY1" fmla="*/ 918 h 381918"/>
              <a:gd name="connsiteX2" fmla="*/ 1123950 w 1123950"/>
              <a:gd name="connsiteY2" fmla="*/ 296193 h 381918"/>
              <a:gd name="connsiteX0" fmla="*/ 0 w 1123950"/>
              <a:gd name="connsiteY0" fmla="*/ 381918 h 381918"/>
              <a:gd name="connsiteX1" fmla="*/ 581025 w 1123950"/>
              <a:gd name="connsiteY1" fmla="*/ 918 h 381918"/>
              <a:gd name="connsiteX2" fmla="*/ 1123950 w 1123950"/>
              <a:gd name="connsiteY2" fmla="*/ 296193 h 381918"/>
              <a:gd name="connsiteX0" fmla="*/ 0 w 1123950"/>
              <a:gd name="connsiteY0" fmla="*/ 521201 h 521201"/>
              <a:gd name="connsiteX1" fmla="*/ 581025 w 1123950"/>
              <a:gd name="connsiteY1" fmla="*/ 501 h 521201"/>
              <a:gd name="connsiteX2" fmla="*/ 1123950 w 1123950"/>
              <a:gd name="connsiteY2" fmla="*/ 435476 h 52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3950" h="521201">
                <a:moveTo>
                  <a:pt x="0" y="521201"/>
                </a:moveTo>
                <a:cubicBezTo>
                  <a:pt x="206375" y="461669"/>
                  <a:pt x="393700" y="14788"/>
                  <a:pt x="581025" y="501"/>
                </a:cubicBezTo>
                <a:cubicBezTo>
                  <a:pt x="768350" y="-13786"/>
                  <a:pt x="946150" y="280695"/>
                  <a:pt x="1123950" y="435476"/>
                </a:cubicBezTo>
              </a:path>
            </a:pathLst>
          </a:cu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Freeform: Shape 36"/>
          <p:cNvSpPr/>
          <p:nvPr/>
        </p:nvSpPr>
        <p:spPr>
          <a:xfrm>
            <a:off x="4019550" y="4019550"/>
            <a:ext cx="428625" cy="123958"/>
          </a:xfrm>
          <a:custGeom>
            <a:avLst/>
            <a:gdLst>
              <a:gd name="connsiteX0" fmla="*/ 0 w 428625"/>
              <a:gd name="connsiteY0" fmla="*/ 19050 h 123958"/>
              <a:gd name="connsiteX1" fmla="*/ 180975 w 428625"/>
              <a:gd name="connsiteY1" fmla="*/ 123825 h 123958"/>
              <a:gd name="connsiteX2" fmla="*/ 428625 w 428625"/>
              <a:gd name="connsiteY2" fmla="*/ 0 h 12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8625" h="123958">
                <a:moveTo>
                  <a:pt x="0" y="19050"/>
                </a:moveTo>
                <a:cubicBezTo>
                  <a:pt x="54769" y="73025"/>
                  <a:pt x="109538" y="127000"/>
                  <a:pt x="180975" y="123825"/>
                </a:cubicBezTo>
                <a:cubicBezTo>
                  <a:pt x="252412" y="120650"/>
                  <a:pt x="340518" y="60325"/>
                  <a:pt x="428625" y="0"/>
                </a:cubicBezTo>
              </a:path>
            </a:pathLst>
          </a:cu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Freeform: Shape 37"/>
          <p:cNvSpPr/>
          <p:nvPr/>
        </p:nvSpPr>
        <p:spPr>
          <a:xfrm>
            <a:off x="4429125" y="3809537"/>
            <a:ext cx="1247775" cy="333838"/>
          </a:xfrm>
          <a:custGeom>
            <a:avLst/>
            <a:gdLst>
              <a:gd name="connsiteX0" fmla="*/ 0 w 1104900"/>
              <a:gd name="connsiteY0" fmla="*/ 390965 h 457640"/>
              <a:gd name="connsiteX1" fmla="*/ 619125 w 1104900"/>
              <a:gd name="connsiteY1" fmla="*/ 440 h 457640"/>
              <a:gd name="connsiteX2" fmla="*/ 1104900 w 1104900"/>
              <a:gd name="connsiteY2" fmla="*/ 457640 h 457640"/>
              <a:gd name="connsiteX0" fmla="*/ 0 w 1247775"/>
              <a:gd name="connsiteY0" fmla="*/ 391930 h 515755"/>
              <a:gd name="connsiteX1" fmla="*/ 619125 w 1247775"/>
              <a:gd name="connsiteY1" fmla="*/ 1405 h 515755"/>
              <a:gd name="connsiteX2" fmla="*/ 1247775 w 1247775"/>
              <a:gd name="connsiteY2" fmla="*/ 515755 h 515755"/>
              <a:gd name="connsiteX0" fmla="*/ 0 w 1247775"/>
              <a:gd name="connsiteY0" fmla="*/ 212224 h 336049"/>
              <a:gd name="connsiteX1" fmla="*/ 606425 w 1247775"/>
              <a:gd name="connsiteY1" fmla="*/ 5849 h 336049"/>
              <a:gd name="connsiteX2" fmla="*/ 1247775 w 1247775"/>
              <a:gd name="connsiteY2" fmla="*/ 336049 h 336049"/>
              <a:gd name="connsiteX0" fmla="*/ 0 w 1247775"/>
              <a:gd name="connsiteY0" fmla="*/ 212224 h 336049"/>
              <a:gd name="connsiteX1" fmla="*/ 606425 w 1247775"/>
              <a:gd name="connsiteY1" fmla="*/ 5849 h 336049"/>
              <a:gd name="connsiteX2" fmla="*/ 1247775 w 1247775"/>
              <a:gd name="connsiteY2" fmla="*/ 336049 h 336049"/>
              <a:gd name="connsiteX0" fmla="*/ 0 w 1247775"/>
              <a:gd name="connsiteY0" fmla="*/ 210013 h 333838"/>
              <a:gd name="connsiteX1" fmla="*/ 606425 w 1247775"/>
              <a:gd name="connsiteY1" fmla="*/ 3638 h 333838"/>
              <a:gd name="connsiteX2" fmla="*/ 1247775 w 1247775"/>
              <a:gd name="connsiteY2" fmla="*/ 333838 h 3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47775" h="333838">
                <a:moveTo>
                  <a:pt x="0" y="210013"/>
                </a:moveTo>
                <a:cubicBezTo>
                  <a:pt x="217487" y="9194"/>
                  <a:pt x="265113" y="-10650"/>
                  <a:pt x="606425" y="3638"/>
                </a:cubicBezTo>
                <a:cubicBezTo>
                  <a:pt x="935038" y="-20174"/>
                  <a:pt x="1096962" y="110794"/>
                  <a:pt x="1247775" y="333838"/>
                </a:cubicBezTo>
              </a:path>
            </a:pathLst>
          </a:cu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Freeform: Shape 38"/>
          <p:cNvSpPr/>
          <p:nvPr/>
        </p:nvSpPr>
        <p:spPr>
          <a:xfrm>
            <a:off x="5686425" y="4152900"/>
            <a:ext cx="1495425" cy="496099"/>
          </a:xfrm>
          <a:custGeom>
            <a:avLst/>
            <a:gdLst>
              <a:gd name="connsiteX0" fmla="*/ 0 w 1495425"/>
              <a:gd name="connsiteY0" fmla="*/ 0 h 496099"/>
              <a:gd name="connsiteX1" fmla="*/ 523875 w 1495425"/>
              <a:gd name="connsiteY1" fmla="*/ 495300 h 496099"/>
              <a:gd name="connsiteX2" fmla="*/ 1228725 w 1495425"/>
              <a:gd name="connsiteY2" fmla="*/ 114300 h 496099"/>
              <a:gd name="connsiteX3" fmla="*/ 1495425 w 1495425"/>
              <a:gd name="connsiteY3" fmla="*/ 57150 h 496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5425" h="496099">
                <a:moveTo>
                  <a:pt x="0" y="0"/>
                </a:moveTo>
                <a:cubicBezTo>
                  <a:pt x="159544" y="238125"/>
                  <a:pt x="319088" y="476250"/>
                  <a:pt x="523875" y="495300"/>
                </a:cubicBezTo>
                <a:cubicBezTo>
                  <a:pt x="728662" y="514350"/>
                  <a:pt x="1066800" y="187325"/>
                  <a:pt x="1228725" y="114300"/>
                </a:cubicBezTo>
                <a:cubicBezTo>
                  <a:pt x="1390650" y="41275"/>
                  <a:pt x="1443037" y="49212"/>
                  <a:pt x="1495425" y="57150"/>
                </a:cubicBezTo>
              </a:path>
            </a:pathLst>
          </a:cu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6777643" y="3241496"/>
                <a:ext cx="13887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7643" y="3241496"/>
                <a:ext cx="1388740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6689289" y="4315821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9289" y="4315821"/>
                <a:ext cx="1512168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/>
          <p:cNvSpPr txBox="1"/>
          <p:nvPr/>
        </p:nvSpPr>
        <p:spPr>
          <a:xfrm>
            <a:off x="357362" y="935000"/>
            <a:ext cx="1024870" cy="64633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negative, but increasing.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84799" y="780470"/>
            <a:ext cx="2231609" cy="18158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Tip</a:t>
            </a:r>
            <a:r>
              <a:rPr lang="en-GB" sz="1400" dirty="0"/>
              <a:t>: Mentally describe the gradient of each section of the curve, starting your mental sentence with “The gradient is…” and using terms like “positive”, “but increasing”, “but not changing”, etc.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95689" y="2382773"/>
            <a:ext cx="768017" cy="461665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0.</a:t>
            </a:r>
            <a:endParaRPr lang="en-GB" sz="1400" dirty="0"/>
          </a:p>
        </p:txBody>
      </p:sp>
      <p:sp>
        <p:nvSpPr>
          <p:cNvPr id="46" name="Oval 45"/>
          <p:cNvSpPr/>
          <p:nvPr/>
        </p:nvSpPr>
        <p:spPr>
          <a:xfrm>
            <a:off x="2845830" y="4059644"/>
            <a:ext cx="162076" cy="14943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 46"/>
          <p:cNvSpPr/>
          <p:nvPr/>
        </p:nvSpPr>
        <p:spPr>
          <a:xfrm>
            <a:off x="5589746" y="4069481"/>
            <a:ext cx="162076" cy="14943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/>
          <p:cNvSpPr txBox="1"/>
          <p:nvPr/>
        </p:nvSpPr>
        <p:spPr>
          <a:xfrm>
            <a:off x="2869698" y="1265803"/>
            <a:ext cx="1234470" cy="830997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positive: initially increases but then decreases.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6310" y="2793450"/>
            <a:ext cx="1234470" cy="64633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0, but positive before and after.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33523" y="880376"/>
            <a:ext cx="1234470" cy="830997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positive: initially increases but then decreases.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568" y="2408186"/>
            <a:ext cx="1076850" cy="276999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0.</a:t>
            </a:r>
            <a:endParaRPr lang="en-GB" sz="1400" dirty="0"/>
          </a:p>
        </p:txBody>
      </p:sp>
      <p:sp>
        <p:nvSpPr>
          <p:cNvPr id="52" name="TextBox 51"/>
          <p:cNvSpPr txBox="1"/>
          <p:nvPr/>
        </p:nvSpPr>
        <p:spPr>
          <a:xfrm>
            <a:off x="6391631" y="2664666"/>
            <a:ext cx="2369597" cy="430887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dirty="0"/>
              <a:t>Gradient is negative. Initially decreases but then tends towards 0.</a:t>
            </a: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262875" y="6069611"/>
                <a:ext cx="3775726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Tip</a:t>
                </a:r>
                <a:r>
                  <a:rPr lang="en-GB" sz="1200" dirty="0"/>
                  <a:t>: The gradient is momentarily not changing so the gradient of the gradient is 0. We get a </a:t>
                </a:r>
                <a:r>
                  <a:rPr lang="en-GB" sz="1200" b="1" dirty="0"/>
                  <a:t>turning point </a:t>
                </a:r>
                <a:r>
                  <a:rPr lang="en-GB" sz="1200" dirty="0"/>
                  <a:t>in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200" dirty="0"/>
                  <a:t> whenever the </a:t>
                </a:r>
                <a:r>
                  <a:rPr lang="en-GB" sz="1200" b="1" dirty="0"/>
                  <a:t>curve has a point of inflection</a:t>
                </a:r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75" y="6069611"/>
                <a:ext cx="3775726" cy="646331"/>
              </a:xfrm>
              <a:prstGeom prst="rect">
                <a:avLst/>
              </a:prstGeom>
              <a:blipFill>
                <a:blip r:embed="rId6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/>
          <p:cNvCxnSpPr/>
          <p:nvPr/>
        </p:nvCxnSpPr>
        <p:spPr>
          <a:xfrm flipV="1">
            <a:off x="2108200" y="3880884"/>
            <a:ext cx="1336749" cy="2212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V="1">
            <a:off x="2913321" y="3125972"/>
            <a:ext cx="531628" cy="1648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4742803" y="6105690"/>
                <a:ext cx="3943997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Again, on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200" dirty="0"/>
                  <a:t> this is a point of inflection so the gradient function has a turning point. It is also a stationary point, 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200" dirty="0"/>
                  <a:t>. i.e. The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200" dirty="0"/>
                  <a:t> curve touches the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-axis.</a:t>
                </a: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803" y="6105690"/>
                <a:ext cx="3943997" cy="646331"/>
              </a:xfrm>
              <a:prstGeom prst="rect">
                <a:avLst/>
              </a:prstGeom>
              <a:blipFill>
                <a:blip r:embed="rId7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/>
          <p:cNvCxnSpPr/>
          <p:nvPr/>
        </p:nvCxnSpPr>
        <p:spPr>
          <a:xfrm flipH="1" flipV="1">
            <a:off x="4199860" y="4231758"/>
            <a:ext cx="650094" cy="1892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497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  <p:bldP spid="42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</p:bldLst>
  </p:timing>
</p:sld>
</file>

<file path=ppt/c12/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5" name="Straight Arrow Connector 4"/>
          <p:cNvCxnSpPr/>
          <p:nvPr/>
        </p:nvCxnSpPr>
        <p:spPr>
          <a:xfrm flipV="1">
            <a:off x="2267744" y="1484784"/>
            <a:ext cx="0" cy="3312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992808" y="4144764"/>
            <a:ext cx="62434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199337" y="3931523"/>
                <a:ext cx="4332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9337" y="3931523"/>
                <a:ext cx="43328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51100" y="1104070"/>
                <a:ext cx="4332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100" y="1104070"/>
                <a:ext cx="433288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 flipH="1">
            <a:off x="929166" y="3161719"/>
            <a:ext cx="6440513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: Shape 10"/>
          <p:cNvSpPr/>
          <p:nvPr/>
        </p:nvSpPr>
        <p:spPr>
          <a:xfrm>
            <a:off x="1403498" y="1573619"/>
            <a:ext cx="5922335" cy="2435624"/>
          </a:xfrm>
          <a:custGeom>
            <a:avLst/>
            <a:gdLst>
              <a:gd name="connsiteX0" fmla="*/ 0 w 5922335"/>
              <a:gd name="connsiteY0" fmla="*/ 0 h 2469373"/>
              <a:gd name="connsiteX1" fmla="*/ 2381693 w 5922335"/>
              <a:gd name="connsiteY1" fmla="*/ 2392325 h 2469373"/>
              <a:gd name="connsiteX2" fmla="*/ 5922335 w 5922335"/>
              <a:gd name="connsiteY2" fmla="*/ 1648046 h 2469373"/>
              <a:gd name="connsiteX0" fmla="*/ 0 w 5922335"/>
              <a:gd name="connsiteY0" fmla="*/ 0 h 2435624"/>
              <a:gd name="connsiteX1" fmla="*/ 2381693 w 5922335"/>
              <a:gd name="connsiteY1" fmla="*/ 2392325 h 2435624"/>
              <a:gd name="connsiteX2" fmla="*/ 5922335 w 5922335"/>
              <a:gd name="connsiteY2" fmla="*/ 1648046 h 2435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22335" h="2435624">
                <a:moveTo>
                  <a:pt x="0" y="0"/>
                </a:moveTo>
                <a:cubicBezTo>
                  <a:pt x="697318" y="1058825"/>
                  <a:pt x="1394637" y="2117651"/>
                  <a:pt x="2381693" y="2392325"/>
                </a:cubicBezTo>
                <a:cubicBezTo>
                  <a:pt x="3368749" y="2666999"/>
                  <a:pt x="3614184" y="1540834"/>
                  <a:pt x="5922335" y="164804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/>
          <p:cNvSpPr/>
          <p:nvPr/>
        </p:nvSpPr>
        <p:spPr>
          <a:xfrm>
            <a:off x="1456660" y="3867536"/>
            <a:ext cx="5679204" cy="1384948"/>
          </a:xfrm>
          <a:custGeom>
            <a:avLst/>
            <a:gdLst>
              <a:gd name="connsiteX0" fmla="*/ 0 w 5709684"/>
              <a:gd name="connsiteY0" fmla="*/ 1499846 h 1499846"/>
              <a:gd name="connsiteX1" fmla="*/ 2626242 w 5709684"/>
              <a:gd name="connsiteY1" fmla="*/ 394060 h 1499846"/>
              <a:gd name="connsiteX2" fmla="*/ 3668233 w 5709684"/>
              <a:gd name="connsiteY2" fmla="*/ 655 h 1499846"/>
              <a:gd name="connsiteX3" fmla="*/ 5709684 w 5709684"/>
              <a:gd name="connsiteY3" fmla="*/ 319632 h 1499846"/>
              <a:gd name="connsiteX0" fmla="*/ 0 w 5709684"/>
              <a:gd name="connsiteY0" fmla="*/ 1499490 h 1499490"/>
              <a:gd name="connsiteX1" fmla="*/ 2626242 w 5709684"/>
              <a:gd name="connsiteY1" fmla="*/ 393704 h 1499490"/>
              <a:gd name="connsiteX2" fmla="*/ 3668233 w 5709684"/>
              <a:gd name="connsiteY2" fmla="*/ 299 h 1499490"/>
              <a:gd name="connsiteX3" fmla="*/ 5709684 w 5709684"/>
              <a:gd name="connsiteY3" fmla="*/ 319276 h 1499490"/>
              <a:gd name="connsiteX0" fmla="*/ 0 w 5709684"/>
              <a:gd name="connsiteY0" fmla="*/ 1385316 h 1385316"/>
              <a:gd name="connsiteX1" fmla="*/ 2626242 w 5709684"/>
              <a:gd name="connsiteY1" fmla="*/ 279530 h 1385316"/>
              <a:gd name="connsiteX2" fmla="*/ 3637753 w 5709684"/>
              <a:gd name="connsiteY2" fmla="*/ 425 h 1385316"/>
              <a:gd name="connsiteX3" fmla="*/ 5709684 w 5709684"/>
              <a:gd name="connsiteY3" fmla="*/ 205102 h 1385316"/>
              <a:gd name="connsiteX0" fmla="*/ 0 w 5679204"/>
              <a:gd name="connsiteY0" fmla="*/ 1384948 h 1384948"/>
              <a:gd name="connsiteX1" fmla="*/ 2626242 w 5679204"/>
              <a:gd name="connsiteY1" fmla="*/ 279162 h 1384948"/>
              <a:gd name="connsiteX2" fmla="*/ 3637753 w 5679204"/>
              <a:gd name="connsiteY2" fmla="*/ 57 h 1384948"/>
              <a:gd name="connsiteX3" fmla="*/ 5679204 w 5679204"/>
              <a:gd name="connsiteY3" fmla="*/ 250454 h 1384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79204" h="1384948">
                <a:moveTo>
                  <a:pt x="0" y="1384948"/>
                </a:moveTo>
                <a:cubicBezTo>
                  <a:pt x="875414" y="1016353"/>
                  <a:pt x="2019950" y="509977"/>
                  <a:pt x="2626242" y="279162"/>
                </a:cubicBezTo>
                <a:cubicBezTo>
                  <a:pt x="3232534" y="48347"/>
                  <a:pt x="3128926" y="4842"/>
                  <a:pt x="3637753" y="57"/>
                </a:cubicBezTo>
                <a:cubicBezTo>
                  <a:pt x="4146580" y="-4728"/>
                  <a:pt x="4777208" y="297414"/>
                  <a:pt x="5679204" y="250454"/>
                </a:cubicBezTo>
              </a:path>
            </a:pathLst>
          </a:cu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3972212" y="4806419"/>
            <a:ext cx="1031835" cy="69103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Solution 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490564" y="2741766"/>
                <a:ext cx="13887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0564" y="2741766"/>
                <a:ext cx="1388740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380945" y="3677867"/>
                <a:ext cx="15121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945" y="3677867"/>
                <a:ext cx="1512168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2324385" y="2030153"/>
            <a:ext cx="1024870" cy="64633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negative, but increasing.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8590" y="3535216"/>
            <a:ext cx="1024870" cy="276999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9665" y="2378719"/>
            <a:ext cx="1465080" cy="64633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positive; initially increases but then decreases.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1206" y="4361853"/>
            <a:ext cx="1657519" cy="461665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Gradient is positive, but tending towards 0.</a:t>
            </a:r>
          </a:p>
        </p:txBody>
      </p:sp>
    </p:spTree>
    <p:extLst>
      <p:ext uri="{BB962C8B-B14F-4D97-AF65-F5344CB8AC3E}">
        <p14:creationId xmlns:p14="http://schemas.microsoft.com/office/powerpoint/2010/main" val="264024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  <p:bldP spid="18" grpId="0" animBg="1"/>
      <p:bldP spid="19" grpId="0" animBg="1"/>
    </p:bldLst>
  </p:timing>
</p:sld>
</file>

<file path=ppt/c12/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12J – Pearson Pure Y1 page 278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7093506-2925-7A66-EA33-E4FC08CB8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5" y="764704"/>
            <a:ext cx="8607339" cy="43204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13DBE5-7093-4454-CD9C-D8DBC876619E}"/>
              </a:ext>
            </a:extLst>
          </p:cNvPr>
          <p:cNvSpPr txBox="1"/>
          <p:nvPr/>
        </p:nvSpPr>
        <p:spPr>
          <a:xfrm>
            <a:off x="683568" y="5589240"/>
            <a:ext cx="1532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Solutions </a:t>
            </a:r>
            <a:r>
              <a:rPr lang="en-US" dirty="0">
                <a:hlinkClick r:id="rId3"/>
              </a:rPr>
              <a:t>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446750"/>
      </p:ext>
    </p:extLst>
  </p:cSld>
  <p:clrMapOvr>
    <a:masterClrMapping/>
  </p:clrMapOvr>
</p:sld>
</file>

<file path=ppt/c12/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12J – Pearson Pure Y1 page 278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EB09781-2D4D-98BA-0FD4-DA5A6B1C6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692696"/>
            <a:ext cx="5688632" cy="15180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41B391-30D6-9C21-278D-B00D93E8B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2304345"/>
            <a:ext cx="2915197" cy="41709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183BE7-4D17-EDAC-9F32-1BFB0F5F9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183" y="2210776"/>
            <a:ext cx="3839305" cy="46370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46EA76-12C7-3263-89AD-4B5C5C9D74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3808" y="5445224"/>
            <a:ext cx="1955676" cy="128662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2ED7849-EF50-FF54-AA21-6A59ACCC2BBA}"/>
              </a:ext>
            </a:extLst>
          </p:cNvPr>
          <p:cNvSpPr/>
          <p:nvPr/>
        </p:nvSpPr>
        <p:spPr>
          <a:xfrm>
            <a:off x="179512" y="2240796"/>
            <a:ext cx="4680520" cy="44424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DCBD93-8E36-0C2D-E097-9689C37747E4}"/>
              </a:ext>
            </a:extLst>
          </p:cNvPr>
          <p:cNvSpPr/>
          <p:nvPr/>
        </p:nvSpPr>
        <p:spPr>
          <a:xfrm>
            <a:off x="5004048" y="2265081"/>
            <a:ext cx="3960440" cy="44424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4095601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c12/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Extension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67544" y="1556792"/>
                <a:ext cx="3946050" cy="4216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[MAT 2015 1B]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is a real number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is a positive whole number,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n-GB" dirty="0"/>
                  <a:t>.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are plotted on the same axes, the number of intersections between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 will: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always be odd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always be even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depend 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but not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depend 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but not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UcParenR"/>
                </a:pPr>
                <a:r>
                  <a:rPr lang="en-GB" dirty="0"/>
                  <a:t>depend on both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342900" indent="-342900">
                  <a:buAutoNum type="alphaUcParenR"/>
                </a:pPr>
                <a:endParaRPr lang="en-GB" sz="160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556792"/>
                <a:ext cx="3946050" cy="4216539"/>
              </a:xfrm>
              <a:prstGeom prst="rect">
                <a:avLst/>
              </a:prstGeom>
              <a:blipFill>
                <a:blip r:embed="rId2"/>
                <a:stretch>
                  <a:fillRect l="-1282" t="-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114198" y="1649322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226518" y="1140290"/>
                <a:ext cx="3096344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(Official solution)</a:t>
                </a:r>
              </a:p>
              <a:p>
                <a:r>
                  <a:rPr lang="en-GB" b="1" dirty="0"/>
                  <a:t>If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1" dirty="0"/>
                  <a:t> is an even function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b="1" dirty="0"/>
                  <a:t> will be an odd function, and vice versa.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1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GB" b="1" dirty="0"/>
                  <a:t> will cross the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-axis 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GB" b="1" dirty="0"/>
                  <a:t> and will have one further intersection when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b="1" dirty="0"/>
                  <a:t> and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 are greater than 0.</a:t>
                </a:r>
              </a:p>
              <a:p>
                <a:endParaRPr lang="en-GB" b="1" dirty="0"/>
              </a:p>
              <a:p>
                <a:r>
                  <a:rPr lang="en-GB" b="1" dirty="0"/>
                  <a:t>The answer is (b).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6518" y="1140290"/>
                <a:ext cx="3096344" cy="2862322"/>
              </a:xfrm>
              <a:prstGeom prst="rect">
                <a:avLst/>
              </a:prstGeom>
              <a:blipFill>
                <a:blip r:embed="rId3"/>
                <a:stretch>
                  <a:fillRect l="-1633" t="-881" r="-816" b="-2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328118" y="4137411"/>
                <a:ext cx="3251076" cy="92333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Recall that:</a:t>
                </a:r>
              </a:p>
              <a:p>
                <a:r>
                  <a:rPr lang="en-GB" b="1" dirty="0"/>
                  <a:t>Odd function</a:t>
                </a:r>
                <a:r>
                  <a:rPr lang="en-GB" dirty="0"/>
                  <a:t>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GB" b="0" dirty="0"/>
              </a:p>
              <a:p>
                <a:r>
                  <a:rPr lang="en-GB" b="1" dirty="0"/>
                  <a:t>Even function</a:t>
                </a:r>
                <a:r>
                  <a:rPr lang="en-GB" dirty="0"/>
                  <a:t>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118" y="4137411"/>
                <a:ext cx="3251076" cy="923330"/>
              </a:xfrm>
              <a:prstGeom prst="rect">
                <a:avLst/>
              </a:prstGeom>
              <a:blipFill>
                <a:blip r:embed="rId4"/>
                <a:stretch>
                  <a:fillRect l="-1158" t="-1316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5198139" y="1067267"/>
            <a:ext cx="3616327" cy="44424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7103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c12/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c12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