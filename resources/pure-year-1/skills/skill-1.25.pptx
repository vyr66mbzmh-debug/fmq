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c14/ppt/slideMasters/slideMaster1.xml" ContentType="application/vnd.openxmlformats-officedocument.presentationml.slideMaster+xml"/>
  <ns0:Override PartName="/ppt/c14/ppt/slides/slide11.xml" ContentType="application/vnd.openxmlformats-officedocument.presentationml.slide+xml"/>
  <ns0:Override PartName="/ppt/c14/ppt/slides/slide12.xml" ContentType="application/vnd.openxmlformats-officedocument.presentationml.slide+xml"/>
  <ns0:Override PartName="/ppt/c14/ppt/slides/slide13.xml" ContentType="application/vnd.openxmlformats-officedocument.presentationml.slide+xml"/>
  <ns0:Override PartName="/ppt/c14/ppt/slides/slide14.xml" ContentType="application/vnd.openxmlformats-officedocument.presentationml.slide+xml"/>
  <ns0:Override PartName="/ppt/c14/ppt/slides/slide15.xml" ContentType="application/vnd.openxmlformats-officedocument.presentationml.slide+xml"/>
  <ns0:Override PartName="/ppt/c14/ppt/slides/slide27.xml" ContentType="application/vnd.openxmlformats-officedocument.presentationml.slide+xml"/>
  <ns0:Override PartName="/ppt/c14/ppt/slides/slide41.xml" ContentType="application/vnd.openxmlformats-officedocument.presentationml.slide+xml"/>
  <ns0:Override PartName="/ppt/c14/ppt/notesMasters/notesMaster1.xml" ContentType="application/vnd.openxmlformats-officedocument.presentationml.notesMaster+xml"/>
  <ns0:Override PartName="/ppt/c14/ppt/theme/theme1.xml" ContentType="application/vnd.openxmlformats-officedocument.theme+xml"/>
  <ns0:Override PartName="/ppt/c14/ppt/slideLayouts/slideLayout1.xml" ContentType="application/vnd.openxmlformats-officedocument.presentationml.slideLayout+xml"/>
  <ns0:Override PartName="/ppt/c14/ppt/slideLayouts/slideLayout2.xml" ContentType="application/vnd.openxmlformats-officedocument.presentationml.slideLayout+xml"/>
  <ns0:Override PartName="/ppt/c14/ppt/slideLayouts/slideLayout3.xml" ContentType="application/vnd.openxmlformats-officedocument.presentationml.slideLayout+xml"/>
  <ns0:Override PartName="/ppt/c14/ppt/slideLayouts/slideLayout4.xml" ContentType="application/vnd.openxmlformats-officedocument.presentationml.slideLayout+xml"/>
  <ns0:Override PartName="/ppt/c14/ppt/theme/theme2.xml" ContentType="application/vnd.openxmlformats-officedocument.theme+xml"/>
  <ns0:Override PartName="/ppt/c14/ppt/notesSlides/notesSlide3.xml" ContentType="application/vnd.openxmlformats-officedocument.presentationml.notesSlid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5048" r:id="rId8"/>
  </p:sldMasterIdLst>
  <p:notesMasterIdLst>
    <p:notesMasterId r:id="rId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14/ppt/slides/slide11.xml" /><ns0:Relationship Id="rId2" Type="http://schemas.openxmlformats.org/officeDocument/2006/relationships/slide" Target="c14/ppt/slides/slide12.xml" /><ns0:Relationship Id="rId3" Type="http://schemas.openxmlformats.org/officeDocument/2006/relationships/slide" Target="c14/ppt/slides/slide13.xml" /><ns0:Relationship Id="rId4" Type="http://schemas.openxmlformats.org/officeDocument/2006/relationships/slide" Target="c14/ppt/slides/slide14.xml" /><ns0:Relationship Id="rId5" Type="http://schemas.openxmlformats.org/officeDocument/2006/relationships/slide" Target="c14/ppt/slides/slide15.xml" /><ns0:Relationship Id="rId6" Type="http://schemas.openxmlformats.org/officeDocument/2006/relationships/slide" Target="c14/ppt/slides/slide27.xml" /><ns0:Relationship Id="rId7" Type="http://schemas.openxmlformats.org/officeDocument/2006/relationships/slide" Target="c14/ppt/slides/slide41.xml" /><ns0:Relationship Id="rId8" Type="http://schemas.openxmlformats.org/officeDocument/2006/relationships/slideMaster" Target="c14/ppt/slideMasters/slideMaster1.xml" /><ns0:Relationship Id="rId9" Type="http://schemas.openxmlformats.org/officeDocument/2006/relationships/notesMaster" Target="c14/ppt/notesMasters/notesMaster1.xml" /></ns0:Relationships>
</file>

<file path=ppt/c14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14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14/ppt/notesSlides/_rels/notesSlide3.xml.rels><?xml version='1.0' encoding='utf-8'?>
<ns0:Relationships xmlns:ns0="http://schemas.openxmlformats.org/package/2006/relationships"><ns0:Relationship Id="rId2" Type="http://schemas.openxmlformats.org/officeDocument/2006/relationships/slide" Target="../slides/slide27.xml" /><ns0:Relationship Id="rId1" Type="http://schemas.openxmlformats.org/officeDocument/2006/relationships/notesMaster" Target="../notesMasters/notesMaster1.xml" /></ns0:Relationships>
</file>

<file path=ppt/c14/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Get</a:t>
            </a:r>
            <a:r>
              <a:rPr lang="en-GB" baseline="0" dirty="0"/>
              <a:t> students to sketch axes and tables in their books.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4E427-E3BD-40A8-8ACE-F54AF5B80FBB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479350"/>
      </p:ext>
    </p:extLst>
  </p:cSld>
  <p:clrMapOvr>
    <a:masterClrMapping/>
  </p:clrMapOvr>
</p:notes>
</file>

<file path=ppt/c14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c14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279ADCCA-A642-7AF0-604D-088AFF5293C6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14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16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3477167"/>
      </p:ext>
    </p:extLst>
  </p:cSld>
  <p:clrMapOvr>
    <a:masterClrMapping/>
  </p:clrMapOvr>
</p:sldLayout>
</file>

<file path=ppt/c14/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7C849CC-5CAD-914B-8E6F-94D18F427EA9}"/>
              </a:ext>
            </a:extLst>
          </p:cNvPr>
          <p:cNvSpPr txBox="1">
            <a:spLocks/>
          </p:cNvSpPr>
          <p:nvPr userDrawn="1"/>
        </p:nvSpPr>
        <p:spPr>
          <a:xfrm>
            <a:off x="-1" y="0"/>
            <a:ext cx="12178921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746621"/>
      </p:ext>
    </p:extLst>
  </p:cSld>
  <p:clrMapOvr>
    <a:masterClrMapping/>
  </p:clrMapOvr>
</p:sldLayout>
</file>

<file path=ppt/c14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5" Type="http://schemas.openxmlformats.org/officeDocument/2006/relationships/theme" Target="../theme/theme1.xml" /><ns0:Relationship Id="rId4" Type="http://schemas.openxmlformats.org/officeDocument/2006/relationships/slideLayout" Target="../slideLayouts/slideLayout4.xml" /></ns0:Relationships>
</file>

<file path=ppt/c14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  <p:sldLayoutId id="2147500102" r:id="rId3"/>
    <p:sldLayoutId id="2147500103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14/ppt/slides/_rels/slide11.xml.rels><?xml version='1.0' encoding='utf-8'?>
<ns0:Relationships xmlns:ns0="http://schemas.openxmlformats.org/package/2006/relationships"><ns0:Relationship Id="rId8" Type="http://schemas.openxmlformats.org/officeDocument/2006/relationships/image" Target="../media/image71.png" /><ns0:Relationship Id="rId13" Type="http://schemas.openxmlformats.org/officeDocument/2006/relationships/image" Target="../media/image75.png" /><ns0:Relationship Id="rId18" Type="http://schemas.openxmlformats.org/officeDocument/2006/relationships/image" Target="../media/image15.png" /><ns0:Relationship Id="rId3" Type="http://schemas.openxmlformats.org/officeDocument/2006/relationships/image" Target="../media/image24.png" /><ns0:Relationship Id="rId21" Type="http://schemas.openxmlformats.org/officeDocument/2006/relationships/image" Target="../media/image82.png" /><ns0:Relationship Id="rId7" Type="http://schemas.openxmlformats.org/officeDocument/2006/relationships/image" Target="../media/image70.png" /><ns0:Relationship Id="rId12" Type="http://schemas.openxmlformats.org/officeDocument/2006/relationships/image" Target="../media/image29.png" /><ns0:Relationship Id="rId17" Type="http://schemas.openxmlformats.org/officeDocument/2006/relationships/image" Target="../media/image79.png" /><ns0:Relationship Id="rId25" Type="http://schemas.openxmlformats.org/officeDocument/2006/relationships/image" Target="../media/image86.png" /><ns0:Relationship Id="rId2" Type="http://schemas.openxmlformats.org/officeDocument/2006/relationships/image" Target="../media/image67.png" /><ns0:Relationship Id="rId16" Type="http://schemas.openxmlformats.org/officeDocument/2006/relationships/image" Target="../media/image78.png" /><ns0:Relationship Id="rId20" Type="http://schemas.openxmlformats.org/officeDocument/2006/relationships/image" Target="../media/image81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69.png" /><ns0:Relationship Id="rId11" Type="http://schemas.openxmlformats.org/officeDocument/2006/relationships/image" Target="../media/image74.png" /><ns0:Relationship Id="rId24" Type="http://schemas.openxmlformats.org/officeDocument/2006/relationships/image" Target="../media/image85.png" /><ns0:Relationship Id="rId5" Type="http://schemas.openxmlformats.org/officeDocument/2006/relationships/image" Target="../media/image68.png" /><ns0:Relationship Id="rId15" Type="http://schemas.openxmlformats.org/officeDocument/2006/relationships/image" Target="../media/image77.png" /><ns0:Relationship Id="rId23" Type="http://schemas.openxmlformats.org/officeDocument/2006/relationships/image" Target="../media/image84.png" /><ns0:Relationship Id="rId10" Type="http://schemas.openxmlformats.org/officeDocument/2006/relationships/image" Target="../media/image73.png" /><ns0:Relationship Id="rId19" Type="http://schemas.openxmlformats.org/officeDocument/2006/relationships/image" Target="../media/image80.png" /><ns0:Relationship Id="rId4" Type="http://schemas.openxmlformats.org/officeDocument/2006/relationships/image" Target="../media/image16.png" /><ns0:Relationship Id="rId9" Type="http://schemas.openxmlformats.org/officeDocument/2006/relationships/image" Target="../media/image72.png" /><ns0:Relationship Id="rId14" Type="http://schemas.openxmlformats.org/officeDocument/2006/relationships/image" Target="../media/image76.png" /><ns0:Relationship Id="rId22" Type="http://schemas.openxmlformats.org/officeDocument/2006/relationships/image" Target="../media/image83.png" /></ns0:Relationships>
</file>

<file path=ppt/c14/ppt/slides/_rels/slide12.xml.rels><?xml version='1.0' encoding='utf-8'?>
<ns0:Relationships xmlns:ns0="http://schemas.openxmlformats.org/package/2006/relationships"><ns0:Relationship Id="rId3" Type="http://schemas.openxmlformats.org/officeDocument/2006/relationships/image" Target="../media/image15.png" /><ns0:Relationship Id="rId7" Type="http://schemas.openxmlformats.org/officeDocument/2006/relationships/image" Target="../media/image90.png" /><ns0:Relationship Id="rId2" Type="http://schemas.openxmlformats.org/officeDocument/2006/relationships/image" Target="../media/image87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89.png" /><ns0:Relationship Id="rId5" Type="http://schemas.openxmlformats.org/officeDocument/2006/relationships/image" Target="../media/image88.png" /><ns0:Relationship Id="rId4" Type="http://schemas.openxmlformats.org/officeDocument/2006/relationships/image" Target="../media/image16.png" /></ns0:Relationships>
</file>

<file path=ppt/c14/ppt/slides/_rels/slide13.xml.rels><?xml version='1.0' encoding='utf-8'?>
<ns0:Relationships xmlns:ns0="http://schemas.openxmlformats.org/package/2006/relationships"><ns0:Relationship Id="rId3" Type="http://schemas.openxmlformats.org/officeDocument/2006/relationships/image" Target="../media/image92.png" /><ns0:Relationship Id="rId2" Type="http://schemas.openxmlformats.org/officeDocument/2006/relationships/image" Target="../media/image91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95.png" /><ns0:Relationship Id="rId5" Type="http://schemas.openxmlformats.org/officeDocument/2006/relationships/image" Target="../media/image94.png" /><ns0:Relationship Id="rId4" Type="http://schemas.openxmlformats.org/officeDocument/2006/relationships/image" Target="../media/image93.png" /></ns0:Relationships>
</file>

<file path=ppt/c14/ppt/slides/_rels/slide14.xml.rels><?xml version='1.0' encoding='utf-8'?>
<ns0:Relationships xmlns:ns0="http://schemas.openxmlformats.org/package/2006/relationships"><ns0:Relationship Id="rId8" Type="http://schemas.openxmlformats.org/officeDocument/2006/relationships/image" Target="../media/image102.png" /><ns0:Relationship Id="rId3" Type="http://schemas.openxmlformats.org/officeDocument/2006/relationships/image" Target="../media/image97.png" /><ns0:Relationship Id="rId7" Type="http://schemas.openxmlformats.org/officeDocument/2006/relationships/image" Target="../media/image101.png" /><ns0:Relationship Id="rId2" Type="http://schemas.openxmlformats.org/officeDocument/2006/relationships/image" Target="../media/image96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00.png" /><ns0:Relationship Id="rId5" Type="http://schemas.openxmlformats.org/officeDocument/2006/relationships/image" Target="../media/image99.png" /><ns0:Relationship Id="rId4" Type="http://schemas.openxmlformats.org/officeDocument/2006/relationships/image" Target="../media/image98.png" /></ns0:Relationships>
</file>

<file path=ppt/c14/ppt/slides/_rels/slide15.xml.rels><?xml version='1.0' encoding='utf-8'?>
<ns0:Relationships xmlns:ns0="http://schemas.openxmlformats.org/package/2006/relationships"><ns0:Relationship Id="rId8" Type="http://schemas.openxmlformats.org/officeDocument/2006/relationships/image" Target="../media/image109.png" /><ns0:Relationship Id="rId3" Type="http://schemas.openxmlformats.org/officeDocument/2006/relationships/image" Target="../media/image104.png" /><ns0:Relationship Id="rId7" Type="http://schemas.openxmlformats.org/officeDocument/2006/relationships/image" Target="../media/image108.png" /><ns0:Relationship Id="rId2" Type="http://schemas.openxmlformats.org/officeDocument/2006/relationships/image" Target="../media/image103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07.png" /><ns0:Relationship Id="rId5" Type="http://schemas.openxmlformats.org/officeDocument/2006/relationships/image" Target="../media/image106.png" /><ns0:Relationship Id="rId4" Type="http://schemas.openxmlformats.org/officeDocument/2006/relationships/image" Target="../media/image105.png" /></ns0:Relationships>
</file>

<file path=ppt/c14/ppt/slides/_rels/slide27.xml.rels><?xml version='1.0' encoding='utf-8'?>
<ns0:Relationships xmlns:ns0="http://schemas.openxmlformats.org/package/2006/relationships"><ns0:Relationship Id="rId3" Type="http://schemas.openxmlformats.org/officeDocument/2006/relationships/image" Target="../media/image201.png" /><ns0:Relationship Id="rId2" Type="http://schemas.openxmlformats.org/officeDocument/2006/relationships/notesSlide" Target="../notesSlides/notesSlide3.xml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670.png" /><ns0:Relationship Id="rId5" Type="http://schemas.openxmlformats.org/officeDocument/2006/relationships/image" Target="../media/image1660.png" /><ns0:Relationship Id="rId4" Type="http://schemas.openxmlformats.org/officeDocument/2006/relationships/image" Target="../media/image202.png" /></ns0:Relationships>
</file>

<file path=ppt/c14/ppt/slides/_rels/slide41.xml.rels><?xml version='1.0' encoding='utf-8'?>
<ns0:Relationships xmlns:ns0="http://schemas.openxmlformats.org/package/2006/relationships"><ns0:Relationship Id="rId8" Type="http://schemas.openxmlformats.org/officeDocument/2006/relationships/image" Target="../media/image275.png" /><ns0:Relationship Id="rId3" Type="http://schemas.openxmlformats.org/officeDocument/2006/relationships/image" Target="../media/image270.png" /><ns0:Relationship Id="rId7" Type="http://schemas.openxmlformats.org/officeDocument/2006/relationships/image" Target="../media/image274.png" /><ns0:Relationship Id="rId2" Type="http://schemas.openxmlformats.org/officeDocument/2006/relationships/image" Target="../media/image269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73.png" /><ns0:Relationship Id="rId11" Type="http://schemas.openxmlformats.org/officeDocument/2006/relationships/image" Target="../media/image278.png" /><ns0:Relationship Id="rId5" Type="http://schemas.openxmlformats.org/officeDocument/2006/relationships/image" Target="../media/image272.png" /><ns0:Relationship Id="rId10" Type="http://schemas.openxmlformats.org/officeDocument/2006/relationships/image" Target="../media/image277.png" /><ns0:Relationship Id="rId4" Type="http://schemas.openxmlformats.org/officeDocument/2006/relationships/image" Target="../media/image271.png" /><ns0:Relationship Id="rId9" Type="http://schemas.openxmlformats.org/officeDocument/2006/relationships/image" Target="../media/image276.png" /></ns0:Relationships>
</file>

<file path=ppt/c14/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More Graph Transformations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62572" y="819326"/>
                <a:ext cx="2181448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572" y="819326"/>
                <a:ext cx="2181448" cy="369332"/>
              </a:xfrm>
              <a:prstGeom prst="rect">
                <a:avLst/>
              </a:prstGeom>
              <a:blipFill>
                <a:blip r:embed="rId2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V="1">
            <a:off x="3475112" y="1602798"/>
            <a:ext cx="0" cy="151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1776512" y="3105920"/>
            <a:ext cx="3383384" cy="9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063852" y="2928535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3852" y="2928535"/>
                <a:ext cx="44894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199842" y="1307712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842" y="1307712"/>
                <a:ext cx="448940" cy="307777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: Shape 9"/>
          <p:cNvSpPr/>
          <p:nvPr/>
        </p:nvSpPr>
        <p:spPr>
          <a:xfrm>
            <a:off x="1839319" y="1625600"/>
            <a:ext cx="2415181" cy="1456308"/>
          </a:xfrm>
          <a:custGeom>
            <a:avLst/>
            <a:gdLst>
              <a:gd name="connsiteX0" fmla="*/ 46641 w 3716941"/>
              <a:gd name="connsiteY0" fmla="*/ 990600 h 1000007"/>
              <a:gd name="connsiteX1" fmla="*/ 97441 w 3716941"/>
              <a:gd name="connsiteY1" fmla="*/ 990600 h 1000007"/>
              <a:gd name="connsiteX2" fmla="*/ 1900841 w 3716941"/>
              <a:gd name="connsiteY2" fmla="*/ 736600 h 1000007"/>
              <a:gd name="connsiteX3" fmla="*/ 3716941 w 3716941"/>
              <a:gd name="connsiteY3" fmla="*/ 0 h 1000007"/>
              <a:gd name="connsiteX0" fmla="*/ 1469650 w 5139950"/>
              <a:gd name="connsiteY0" fmla="*/ 990600 h 1000007"/>
              <a:gd name="connsiteX1" fmla="*/ 0 w 5139950"/>
              <a:gd name="connsiteY1" fmla="*/ 990600 h 1000007"/>
              <a:gd name="connsiteX2" fmla="*/ 3323850 w 5139950"/>
              <a:gd name="connsiteY2" fmla="*/ 736600 h 1000007"/>
              <a:gd name="connsiteX3" fmla="*/ 5139950 w 5139950"/>
              <a:gd name="connsiteY3" fmla="*/ 0 h 1000007"/>
              <a:gd name="connsiteX0" fmla="*/ 32614 w 5983587"/>
              <a:gd name="connsiteY0" fmla="*/ 1023679 h 1035178"/>
              <a:gd name="connsiteX1" fmla="*/ 843637 w 5983587"/>
              <a:gd name="connsiteY1" fmla="*/ 990600 h 1035178"/>
              <a:gd name="connsiteX2" fmla="*/ 4167487 w 5983587"/>
              <a:gd name="connsiteY2" fmla="*/ 736600 h 1035178"/>
              <a:gd name="connsiteX3" fmla="*/ 5983587 w 5983587"/>
              <a:gd name="connsiteY3" fmla="*/ 0 h 1035178"/>
              <a:gd name="connsiteX0" fmla="*/ 5649 w 5956622"/>
              <a:gd name="connsiteY0" fmla="*/ 1023679 h 1026719"/>
              <a:gd name="connsiteX1" fmla="*/ 2685557 w 5956622"/>
              <a:gd name="connsiteY1" fmla="*/ 902390 h 1026719"/>
              <a:gd name="connsiteX2" fmla="*/ 4140522 w 5956622"/>
              <a:gd name="connsiteY2" fmla="*/ 736600 h 1026719"/>
              <a:gd name="connsiteX3" fmla="*/ 5956622 w 5956622"/>
              <a:gd name="connsiteY3" fmla="*/ 0 h 1026719"/>
              <a:gd name="connsiteX0" fmla="*/ 5649 w 6019974"/>
              <a:gd name="connsiteY0" fmla="*/ 1255230 h 1258270"/>
              <a:gd name="connsiteX1" fmla="*/ 2685557 w 6019974"/>
              <a:gd name="connsiteY1" fmla="*/ 1133941 h 1258270"/>
              <a:gd name="connsiteX2" fmla="*/ 4140522 w 6019974"/>
              <a:gd name="connsiteY2" fmla="*/ 968151 h 1258270"/>
              <a:gd name="connsiteX3" fmla="*/ 6019974 w 6019974"/>
              <a:gd name="connsiteY3" fmla="*/ 0 h 1258270"/>
              <a:gd name="connsiteX0" fmla="*/ 5649 w 6019974"/>
              <a:gd name="connsiteY0" fmla="*/ 1255230 h 1258270"/>
              <a:gd name="connsiteX1" fmla="*/ 2685557 w 6019974"/>
              <a:gd name="connsiteY1" fmla="*/ 1133941 h 1258270"/>
              <a:gd name="connsiteX2" fmla="*/ 4140522 w 6019974"/>
              <a:gd name="connsiteY2" fmla="*/ 968151 h 1258270"/>
              <a:gd name="connsiteX3" fmla="*/ 6019974 w 6019974"/>
              <a:gd name="connsiteY3" fmla="*/ 0 h 1258270"/>
              <a:gd name="connsiteX0" fmla="*/ 7290 w 6021615"/>
              <a:gd name="connsiteY0" fmla="*/ 1255230 h 1258006"/>
              <a:gd name="connsiteX1" fmla="*/ 2687198 w 6021615"/>
              <a:gd name="connsiteY1" fmla="*/ 1133941 h 1258006"/>
              <a:gd name="connsiteX2" fmla="*/ 4142163 w 6021615"/>
              <a:gd name="connsiteY2" fmla="*/ 968151 h 1258006"/>
              <a:gd name="connsiteX3" fmla="*/ 6021615 w 6021615"/>
              <a:gd name="connsiteY3" fmla="*/ 0 h 1258006"/>
              <a:gd name="connsiteX0" fmla="*/ 9557 w 6023882"/>
              <a:gd name="connsiteY0" fmla="*/ 1255230 h 1264379"/>
              <a:gd name="connsiteX1" fmla="*/ 2277677 w 6023882"/>
              <a:gd name="connsiteY1" fmla="*/ 1222151 h 1264379"/>
              <a:gd name="connsiteX2" fmla="*/ 4144430 w 6023882"/>
              <a:gd name="connsiteY2" fmla="*/ 968151 h 1264379"/>
              <a:gd name="connsiteX3" fmla="*/ 6023882 w 6023882"/>
              <a:gd name="connsiteY3" fmla="*/ 0 h 1264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23882" h="1264379">
                <a:moveTo>
                  <a:pt x="9557" y="1255230"/>
                </a:moveTo>
                <a:cubicBezTo>
                  <a:pt x="-119560" y="1276396"/>
                  <a:pt x="1081716" y="1258972"/>
                  <a:pt x="2277677" y="1222151"/>
                </a:cubicBezTo>
                <a:cubicBezTo>
                  <a:pt x="2968155" y="1200893"/>
                  <a:pt x="3520062" y="1171843"/>
                  <a:pt x="4144430" y="968151"/>
                </a:cubicBezTo>
                <a:cubicBezTo>
                  <a:pt x="4768798" y="764459"/>
                  <a:pt x="5544162" y="373960"/>
                  <a:pt x="6023882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158232" y="2551973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232" y="2551973"/>
                <a:ext cx="448940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749277" y="1443221"/>
                <a:ext cx="1644577" cy="104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Input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is being replaced with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, so stretch of scale factor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1400" dirty="0"/>
                  <a:t> on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-axis.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277" y="1443221"/>
                <a:ext cx="1644577" cy="1043940"/>
              </a:xfrm>
              <a:prstGeom prst="rect">
                <a:avLst/>
              </a:prstGeom>
              <a:blipFill>
                <a:blip r:embed="rId6"/>
                <a:stretch>
                  <a:fillRect l="-1111" t="-1170" b="-11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995123" y="844453"/>
                <a:ext cx="2181448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=5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5123" y="844453"/>
                <a:ext cx="2181448" cy="369332"/>
              </a:xfrm>
              <a:prstGeom prst="rect">
                <a:avLst/>
              </a:prstGeom>
              <a:blipFill>
                <a:blip r:embed="rId7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778258" y="1348380"/>
                <a:ext cx="1159859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258" y="1348380"/>
                <a:ext cx="1159859" cy="312586"/>
              </a:xfrm>
              <a:prstGeom prst="rect">
                <a:avLst/>
              </a:prstGeom>
              <a:blipFill>
                <a:blip r:embed="rId8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reeform: Shape 17"/>
          <p:cNvSpPr/>
          <p:nvPr/>
        </p:nvSpPr>
        <p:spPr>
          <a:xfrm>
            <a:off x="1905000" y="1778000"/>
            <a:ext cx="3238500" cy="1257300"/>
          </a:xfrm>
          <a:custGeom>
            <a:avLst/>
            <a:gdLst>
              <a:gd name="connsiteX0" fmla="*/ 0 w 3238500"/>
              <a:gd name="connsiteY0" fmla="*/ 1257300 h 1257300"/>
              <a:gd name="connsiteX1" fmla="*/ 50800 w 3238500"/>
              <a:gd name="connsiteY1" fmla="*/ 1257300 h 1257300"/>
              <a:gd name="connsiteX2" fmla="*/ 1562100 w 3238500"/>
              <a:gd name="connsiteY2" fmla="*/ 990600 h 1257300"/>
              <a:gd name="connsiteX3" fmla="*/ 3238500 w 3238500"/>
              <a:gd name="connsiteY3" fmla="*/ 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257300">
                <a:moveTo>
                  <a:pt x="0" y="1257300"/>
                </a:moveTo>
                <a:lnTo>
                  <a:pt x="50800" y="1257300"/>
                </a:lnTo>
                <a:cubicBezTo>
                  <a:pt x="311150" y="1212850"/>
                  <a:pt x="1030817" y="1200150"/>
                  <a:pt x="1562100" y="990600"/>
                </a:cubicBezTo>
                <a:cubicBezTo>
                  <a:pt x="2093383" y="781050"/>
                  <a:pt x="2665941" y="390525"/>
                  <a:pt x="3238500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889948" y="1575890"/>
                <a:ext cx="1159859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948" y="1575890"/>
                <a:ext cx="1159859" cy="3125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/>
          <p:nvPr/>
        </p:nvCxnSpPr>
        <p:spPr>
          <a:xfrm flipV="1">
            <a:off x="7727918" y="1602798"/>
            <a:ext cx="0" cy="151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6029318" y="3105920"/>
            <a:ext cx="3383384" cy="9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9316658" y="2928535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6658" y="2928535"/>
                <a:ext cx="448940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452648" y="1307712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648" y="1307712"/>
                <a:ext cx="448940" cy="307777"/>
              </a:xfrm>
              <a:prstGeom prst="rect">
                <a:avLst/>
              </a:prstGeom>
              <a:blipFill>
                <a:blip r:embed="rId11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420563" y="2799623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0563" y="2799623"/>
                <a:ext cx="448940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249982" y="1300347"/>
                <a:ext cx="2132268" cy="1277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Note: </a:t>
                </a:r>
                <a:r>
                  <a:rPr lang="en-GB" sz="1400" dirty="0"/>
                  <a:t>Recall the shape of a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400" dirty="0"/>
                  <a:t> graph.</a:t>
                </a:r>
              </a:p>
              <a:p>
                <a:endParaRPr lang="en-GB" sz="600" dirty="0"/>
              </a:p>
              <a:p>
                <a:r>
                  <a:rPr lang="en-GB" sz="1400" dirty="0"/>
                  <a:t>5 is ‘outside’ function, so stretch of scale factor 5 on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-axis.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982" y="1300347"/>
                <a:ext cx="2132268" cy="1277273"/>
              </a:xfrm>
              <a:prstGeom prst="rect">
                <a:avLst/>
              </a:prstGeom>
              <a:blipFill>
                <a:blip r:embed="rId13"/>
                <a:stretch>
                  <a:fillRect l="-857" t="-476" r="-2286" b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488014" y="1443630"/>
                <a:ext cx="1159859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014" y="1443630"/>
                <a:ext cx="1159859" cy="31258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Freeform: Shape 27"/>
          <p:cNvSpPr/>
          <p:nvPr/>
        </p:nvSpPr>
        <p:spPr>
          <a:xfrm flipH="1">
            <a:off x="6157806" y="2369558"/>
            <a:ext cx="3238500" cy="665742"/>
          </a:xfrm>
          <a:custGeom>
            <a:avLst/>
            <a:gdLst>
              <a:gd name="connsiteX0" fmla="*/ 0 w 3238500"/>
              <a:gd name="connsiteY0" fmla="*/ 1257300 h 1257300"/>
              <a:gd name="connsiteX1" fmla="*/ 50800 w 3238500"/>
              <a:gd name="connsiteY1" fmla="*/ 1257300 h 1257300"/>
              <a:gd name="connsiteX2" fmla="*/ 1562100 w 3238500"/>
              <a:gd name="connsiteY2" fmla="*/ 990600 h 1257300"/>
              <a:gd name="connsiteX3" fmla="*/ 3238500 w 3238500"/>
              <a:gd name="connsiteY3" fmla="*/ 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257300">
                <a:moveTo>
                  <a:pt x="0" y="1257300"/>
                </a:moveTo>
                <a:lnTo>
                  <a:pt x="50800" y="1257300"/>
                </a:lnTo>
                <a:cubicBezTo>
                  <a:pt x="311150" y="1212850"/>
                  <a:pt x="1030817" y="1200150"/>
                  <a:pt x="1562100" y="990600"/>
                </a:cubicBezTo>
                <a:cubicBezTo>
                  <a:pt x="2093383" y="781050"/>
                  <a:pt x="2665941" y="390525"/>
                  <a:pt x="3238500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123329" y="2195015"/>
                <a:ext cx="1159859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3329" y="2195015"/>
                <a:ext cx="1159859" cy="31258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reeform: Shape 29"/>
          <p:cNvSpPr/>
          <p:nvPr/>
        </p:nvSpPr>
        <p:spPr>
          <a:xfrm flipH="1">
            <a:off x="6296030" y="1339862"/>
            <a:ext cx="3100276" cy="1674614"/>
          </a:xfrm>
          <a:custGeom>
            <a:avLst/>
            <a:gdLst>
              <a:gd name="connsiteX0" fmla="*/ 0 w 3238500"/>
              <a:gd name="connsiteY0" fmla="*/ 1257300 h 1257300"/>
              <a:gd name="connsiteX1" fmla="*/ 50800 w 3238500"/>
              <a:gd name="connsiteY1" fmla="*/ 1257300 h 1257300"/>
              <a:gd name="connsiteX2" fmla="*/ 1562100 w 3238500"/>
              <a:gd name="connsiteY2" fmla="*/ 990600 h 1257300"/>
              <a:gd name="connsiteX3" fmla="*/ 3238500 w 3238500"/>
              <a:gd name="connsiteY3" fmla="*/ 0 h 1257300"/>
              <a:gd name="connsiteX0" fmla="*/ 0 w 3100276"/>
              <a:gd name="connsiteY0" fmla="*/ 1161435 h 1161435"/>
              <a:gd name="connsiteX1" fmla="*/ 50800 w 3100276"/>
              <a:gd name="connsiteY1" fmla="*/ 1161435 h 1161435"/>
              <a:gd name="connsiteX2" fmla="*/ 1562100 w 3100276"/>
              <a:gd name="connsiteY2" fmla="*/ 894735 h 1161435"/>
              <a:gd name="connsiteX3" fmla="*/ 3100276 w 3100276"/>
              <a:gd name="connsiteY3" fmla="*/ 0 h 116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0276" h="1161435">
                <a:moveTo>
                  <a:pt x="0" y="1161435"/>
                </a:moveTo>
                <a:lnTo>
                  <a:pt x="50800" y="1161435"/>
                </a:lnTo>
                <a:cubicBezTo>
                  <a:pt x="311150" y="1116985"/>
                  <a:pt x="1053854" y="1088307"/>
                  <a:pt x="1562100" y="894735"/>
                </a:cubicBezTo>
                <a:cubicBezTo>
                  <a:pt x="2070346" y="701163"/>
                  <a:pt x="2527717" y="390525"/>
                  <a:pt x="3100276" y="0"/>
                </a:cubicBezTo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422877" y="2454112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877" y="2454112"/>
                <a:ext cx="448940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809601" y="3930734"/>
                <a:ext cx="2181448" cy="4716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=2+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601" y="3930734"/>
                <a:ext cx="2181448" cy="471668"/>
              </a:xfrm>
              <a:prstGeom prst="rect">
                <a:avLst/>
              </a:prstGeom>
              <a:blipFill>
                <a:blip r:embed="rId17"/>
                <a:stretch>
                  <a:fillRect b="-396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/>
          <p:cNvCxnSpPr/>
          <p:nvPr/>
        </p:nvCxnSpPr>
        <p:spPr>
          <a:xfrm flipV="1">
            <a:off x="3537918" y="4950214"/>
            <a:ext cx="0" cy="151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1839318" y="6453336"/>
            <a:ext cx="3383384" cy="9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126658" y="6275951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658" y="6275951"/>
                <a:ext cx="448940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262648" y="4655128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648" y="4655128"/>
                <a:ext cx="448940" cy="307777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Freeform: Shape 36"/>
          <p:cNvSpPr/>
          <p:nvPr/>
        </p:nvSpPr>
        <p:spPr>
          <a:xfrm>
            <a:off x="1864025" y="4439616"/>
            <a:ext cx="3593801" cy="1456308"/>
          </a:xfrm>
          <a:custGeom>
            <a:avLst/>
            <a:gdLst>
              <a:gd name="connsiteX0" fmla="*/ 46641 w 3716941"/>
              <a:gd name="connsiteY0" fmla="*/ 990600 h 1000007"/>
              <a:gd name="connsiteX1" fmla="*/ 97441 w 3716941"/>
              <a:gd name="connsiteY1" fmla="*/ 990600 h 1000007"/>
              <a:gd name="connsiteX2" fmla="*/ 1900841 w 3716941"/>
              <a:gd name="connsiteY2" fmla="*/ 736600 h 1000007"/>
              <a:gd name="connsiteX3" fmla="*/ 3716941 w 3716941"/>
              <a:gd name="connsiteY3" fmla="*/ 0 h 1000007"/>
              <a:gd name="connsiteX0" fmla="*/ 1469650 w 5139950"/>
              <a:gd name="connsiteY0" fmla="*/ 990600 h 1000007"/>
              <a:gd name="connsiteX1" fmla="*/ 0 w 5139950"/>
              <a:gd name="connsiteY1" fmla="*/ 990600 h 1000007"/>
              <a:gd name="connsiteX2" fmla="*/ 3323850 w 5139950"/>
              <a:gd name="connsiteY2" fmla="*/ 736600 h 1000007"/>
              <a:gd name="connsiteX3" fmla="*/ 5139950 w 5139950"/>
              <a:gd name="connsiteY3" fmla="*/ 0 h 1000007"/>
              <a:gd name="connsiteX0" fmla="*/ 32614 w 5983587"/>
              <a:gd name="connsiteY0" fmla="*/ 1023679 h 1035178"/>
              <a:gd name="connsiteX1" fmla="*/ 843637 w 5983587"/>
              <a:gd name="connsiteY1" fmla="*/ 990600 h 1035178"/>
              <a:gd name="connsiteX2" fmla="*/ 4167487 w 5983587"/>
              <a:gd name="connsiteY2" fmla="*/ 736600 h 1035178"/>
              <a:gd name="connsiteX3" fmla="*/ 5983587 w 5983587"/>
              <a:gd name="connsiteY3" fmla="*/ 0 h 1035178"/>
              <a:gd name="connsiteX0" fmla="*/ 5649 w 5956622"/>
              <a:gd name="connsiteY0" fmla="*/ 1023679 h 1026719"/>
              <a:gd name="connsiteX1" fmla="*/ 2685557 w 5956622"/>
              <a:gd name="connsiteY1" fmla="*/ 902390 h 1026719"/>
              <a:gd name="connsiteX2" fmla="*/ 4140522 w 5956622"/>
              <a:gd name="connsiteY2" fmla="*/ 736600 h 1026719"/>
              <a:gd name="connsiteX3" fmla="*/ 5956622 w 5956622"/>
              <a:gd name="connsiteY3" fmla="*/ 0 h 1026719"/>
              <a:gd name="connsiteX0" fmla="*/ 5649 w 6019974"/>
              <a:gd name="connsiteY0" fmla="*/ 1255230 h 1258270"/>
              <a:gd name="connsiteX1" fmla="*/ 2685557 w 6019974"/>
              <a:gd name="connsiteY1" fmla="*/ 1133941 h 1258270"/>
              <a:gd name="connsiteX2" fmla="*/ 4140522 w 6019974"/>
              <a:gd name="connsiteY2" fmla="*/ 968151 h 1258270"/>
              <a:gd name="connsiteX3" fmla="*/ 6019974 w 6019974"/>
              <a:gd name="connsiteY3" fmla="*/ 0 h 1258270"/>
              <a:gd name="connsiteX0" fmla="*/ 5649 w 6019974"/>
              <a:gd name="connsiteY0" fmla="*/ 1255230 h 1258270"/>
              <a:gd name="connsiteX1" fmla="*/ 2685557 w 6019974"/>
              <a:gd name="connsiteY1" fmla="*/ 1133941 h 1258270"/>
              <a:gd name="connsiteX2" fmla="*/ 4140522 w 6019974"/>
              <a:gd name="connsiteY2" fmla="*/ 968151 h 1258270"/>
              <a:gd name="connsiteX3" fmla="*/ 6019974 w 6019974"/>
              <a:gd name="connsiteY3" fmla="*/ 0 h 1258270"/>
              <a:gd name="connsiteX0" fmla="*/ 7290 w 6021615"/>
              <a:gd name="connsiteY0" fmla="*/ 1255230 h 1258006"/>
              <a:gd name="connsiteX1" fmla="*/ 2687198 w 6021615"/>
              <a:gd name="connsiteY1" fmla="*/ 1133941 h 1258006"/>
              <a:gd name="connsiteX2" fmla="*/ 4142163 w 6021615"/>
              <a:gd name="connsiteY2" fmla="*/ 968151 h 1258006"/>
              <a:gd name="connsiteX3" fmla="*/ 6021615 w 6021615"/>
              <a:gd name="connsiteY3" fmla="*/ 0 h 1258006"/>
              <a:gd name="connsiteX0" fmla="*/ 9557 w 6023882"/>
              <a:gd name="connsiteY0" fmla="*/ 1255230 h 1264379"/>
              <a:gd name="connsiteX1" fmla="*/ 2277677 w 6023882"/>
              <a:gd name="connsiteY1" fmla="*/ 1222151 h 1264379"/>
              <a:gd name="connsiteX2" fmla="*/ 4144430 w 6023882"/>
              <a:gd name="connsiteY2" fmla="*/ 968151 h 1264379"/>
              <a:gd name="connsiteX3" fmla="*/ 6023882 w 6023882"/>
              <a:gd name="connsiteY3" fmla="*/ 0 h 1264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23882" h="1264379">
                <a:moveTo>
                  <a:pt x="9557" y="1255230"/>
                </a:moveTo>
                <a:cubicBezTo>
                  <a:pt x="-119560" y="1276396"/>
                  <a:pt x="1081716" y="1258972"/>
                  <a:pt x="2277677" y="1222151"/>
                </a:cubicBezTo>
                <a:cubicBezTo>
                  <a:pt x="2968155" y="1200893"/>
                  <a:pt x="3520062" y="1171843"/>
                  <a:pt x="4144430" y="968151"/>
                </a:cubicBezTo>
                <a:cubicBezTo>
                  <a:pt x="4768798" y="764459"/>
                  <a:pt x="5544162" y="373960"/>
                  <a:pt x="6023882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249613" y="6089889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613" y="6089889"/>
                <a:ext cx="448940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124860" y="4588571"/>
                <a:ext cx="291584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We have a stretch on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-axis by scale factor 3, and a translation up by 2.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860" y="4588571"/>
                <a:ext cx="2915849" cy="523220"/>
              </a:xfrm>
              <a:prstGeom prst="rect">
                <a:avLst/>
              </a:prstGeom>
              <a:blipFill>
                <a:blip r:embed="rId20"/>
                <a:stretch>
                  <a:fillRect l="-628" t="-2326" b="-104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4174439" y="4448146"/>
                <a:ext cx="1159859" cy="411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f>
                            <m:fPr>
                              <m:ctrlPr>
                                <a:rPr lang="en-GB" sz="14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sz="14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4439" y="4448146"/>
                <a:ext cx="1159859" cy="411266"/>
              </a:xfrm>
              <a:prstGeom prst="rect">
                <a:avLst/>
              </a:prstGeom>
              <a:blipFill>
                <a:blip r:embed="rId21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Freeform: Shape 40"/>
          <p:cNvSpPr/>
          <p:nvPr/>
        </p:nvSpPr>
        <p:spPr>
          <a:xfrm>
            <a:off x="2596457" y="5134941"/>
            <a:ext cx="1870769" cy="1257300"/>
          </a:xfrm>
          <a:custGeom>
            <a:avLst/>
            <a:gdLst>
              <a:gd name="connsiteX0" fmla="*/ 0 w 3238500"/>
              <a:gd name="connsiteY0" fmla="*/ 1257300 h 1257300"/>
              <a:gd name="connsiteX1" fmla="*/ 50800 w 3238500"/>
              <a:gd name="connsiteY1" fmla="*/ 1257300 h 1257300"/>
              <a:gd name="connsiteX2" fmla="*/ 1562100 w 3238500"/>
              <a:gd name="connsiteY2" fmla="*/ 990600 h 1257300"/>
              <a:gd name="connsiteX3" fmla="*/ 3238500 w 3238500"/>
              <a:gd name="connsiteY3" fmla="*/ 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257300">
                <a:moveTo>
                  <a:pt x="0" y="1257300"/>
                </a:moveTo>
                <a:lnTo>
                  <a:pt x="50800" y="1257300"/>
                </a:lnTo>
                <a:cubicBezTo>
                  <a:pt x="311150" y="1212850"/>
                  <a:pt x="1030817" y="1200150"/>
                  <a:pt x="1562100" y="990600"/>
                </a:cubicBezTo>
                <a:cubicBezTo>
                  <a:pt x="2093383" y="781050"/>
                  <a:pt x="2665941" y="390525"/>
                  <a:pt x="3238500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576971" y="4943698"/>
                <a:ext cx="1159859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6971" y="4943698"/>
                <a:ext cx="1159859" cy="31258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3222664" y="5577418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664" y="5577418"/>
                <a:ext cx="448940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6211532" y="5202150"/>
                <a:ext cx="2286006" cy="116955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1400" b="1" dirty="0"/>
                  <a:t>Important Note</a:t>
                </a:r>
                <a:r>
                  <a:rPr lang="en-GB" sz="1400" dirty="0"/>
                  <a:t>: Because the original </a:t>
                </a:r>
                <a:r>
                  <a:rPr lang="en-GB" sz="1400" b="1" dirty="0"/>
                  <a:t>asymptote</a:t>
                </a:r>
                <a:r>
                  <a:rPr lang="en-GB" sz="1400" dirty="0"/>
                  <a:t> was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 dirty="0"/>
                  <a:t>, it is now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400" dirty="0"/>
                  <a:t> and you must indicate this along with its equation.</a:t>
                </a:r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532" y="5202150"/>
                <a:ext cx="2286006" cy="1169551"/>
              </a:xfrm>
              <a:prstGeom prst="rect">
                <a:avLst/>
              </a:prstGeom>
              <a:blipFill>
                <a:blip r:embed="rId24"/>
                <a:stretch>
                  <a:fillRect l="-264" b="-3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/>
          <p:cNvCxnSpPr/>
          <p:nvPr/>
        </p:nvCxnSpPr>
        <p:spPr>
          <a:xfrm flipV="1">
            <a:off x="1864025" y="5932819"/>
            <a:ext cx="3470273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4297795" y="5628318"/>
                <a:ext cx="115985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795" y="5628318"/>
                <a:ext cx="1159859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1731331" y="1223968"/>
            <a:ext cx="4042636" cy="2147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98280" y="1223968"/>
            <a:ext cx="4383970" cy="2147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00608" y="4411475"/>
            <a:ext cx="7240100" cy="22396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53641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</p:childTnLst>
        </p:cTn>
      </p:par>
    </p:tnLst>
    <p:bldLst>
      <p:bldP spid="14" grpId="0" animBg="1"/>
      <p:bldP spid="48" grpId="0" animBg="1"/>
      <p:bldP spid="49" grpId="0" animBg="1"/>
    </p:bldLst>
  </p:timing>
</p:sld>
</file>

<file path=ppt/c14/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63601" y="1111334"/>
                <a:ext cx="2181448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601" y="1111334"/>
                <a:ext cx="2181448" cy="369332"/>
              </a:xfrm>
              <a:prstGeom prst="rect">
                <a:avLst/>
              </a:prstGeom>
              <a:blipFill>
                <a:blip r:embed="rId2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V="1">
            <a:off x="5835618" y="2237798"/>
            <a:ext cx="0" cy="360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2346318" y="5010920"/>
            <a:ext cx="7200000" cy="9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418258" y="4833535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8258" y="4833535"/>
                <a:ext cx="44894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598448" y="1955412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8448" y="1955412"/>
                <a:ext cx="448940" cy="307777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187242" y="2877859"/>
                <a:ext cx="1512987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r>
                        <a:rPr lang="en-GB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242" y="2877859"/>
                <a:ext cx="1512987" cy="375552"/>
              </a:xfrm>
              <a:prstGeom prst="rect">
                <a:avLst/>
              </a:prstGeom>
              <a:blipFill>
                <a:blip r:embed="rId5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: Shape 14"/>
          <p:cNvSpPr/>
          <p:nvPr/>
        </p:nvSpPr>
        <p:spPr>
          <a:xfrm flipH="1">
            <a:off x="2755901" y="2946401"/>
            <a:ext cx="6483701" cy="2496137"/>
          </a:xfrm>
          <a:custGeom>
            <a:avLst/>
            <a:gdLst>
              <a:gd name="connsiteX0" fmla="*/ 0 w 3238500"/>
              <a:gd name="connsiteY0" fmla="*/ 1257300 h 1257300"/>
              <a:gd name="connsiteX1" fmla="*/ 50800 w 3238500"/>
              <a:gd name="connsiteY1" fmla="*/ 1257300 h 1257300"/>
              <a:gd name="connsiteX2" fmla="*/ 1562100 w 3238500"/>
              <a:gd name="connsiteY2" fmla="*/ 990600 h 1257300"/>
              <a:gd name="connsiteX3" fmla="*/ 3238500 w 3238500"/>
              <a:gd name="connsiteY3" fmla="*/ 0 h 1257300"/>
              <a:gd name="connsiteX0" fmla="*/ 0 w 3100276"/>
              <a:gd name="connsiteY0" fmla="*/ 1161435 h 1161435"/>
              <a:gd name="connsiteX1" fmla="*/ 50800 w 3100276"/>
              <a:gd name="connsiteY1" fmla="*/ 1161435 h 1161435"/>
              <a:gd name="connsiteX2" fmla="*/ 1562100 w 3100276"/>
              <a:gd name="connsiteY2" fmla="*/ 894735 h 1161435"/>
              <a:gd name="connsiteX3" fmla="*/ 3100276 w 3100276"/>
              <a:gd name="connsiteY3" fmla="*/ 0 h 1161435"/>
              <a:gd name="connsiteX0" fmla="*/ 0 w 3739617"/>
              <a:gd name="connsiteY0" fmla="*/ 1167375 h 1182799"/>
              <a:gd name="connsiteX1" fmla="*/ 690141 w 3739617"/>
              <a:gd name="connsiteY1" fmla="*/ 1161435 h 1182799"/>
              <a:gd name="connsiteX2" fmla="*/ 2201441 w 3739617"/>
              <a:gd name="connsiteY2" fmla="*/ 894735 h 1182799"/>
              <a:gd name="connsiteX3" fmla="*/ 3739617 w 3739617"/>
              <a:gd name="connsiteY3" fmla="*/ 0 h 1182799"/>
              <a:gd name="connsiteX0" fmla="*/ 0 w 3739617"/>
              <a:gd name="connsiteY0" fmla="*/ 1167375 h 1177815"/>
              <a:gd name="connsiteX1" fmla="*/ 690141 w 3739617"/>
              <a:gd name="connsiteY1" fmla="*/ 1161435 h 1177815"/>
              <a:gd name="connsiteX2" fmla="*/ 2201441 w 3739617"/>
              <a:gd name="connsiteY2" fmla="*/ 894735 h 1177815"/>
              <a:gd name="connsiteX3" fmla="*/ 3739617 w 3739617"/>
              <a:gd name="connsiteY3" fmla="*/ 0 h 1177815"/>
              <a:gd name="connsiteX0" fmla="*/ 0 w 3739617"/>
              <a:gd name="connsiteY0" fmla="*/ 1167375 h 1167375"/>
              <a:gd name="connsiteX1" fmla="*/ 720655 w 3739617"/>
              <a:gd name="connsiteY1" fmla="*/ 1132922 h 1167375"/>
              <a:gd name="connsiteX2" fmla="*/ 2201441 w 3739617"/>
              <a:gd name="connsiteY2" fmla="*/ 894735 h 1167375"/>
              <a:gd name="connsiteX3" fmla="*/ 3739617 w 3739617"/>
              <a:gd name="connsiteY3" fmla="*/ 0 h 1167375"/>
              <a:gd name="connsiteX0" fmla="*/ 0 w 3739617"/>
              <a:gd name="connsiteY0" fmla="*/ 1167375 h 1167375"/>
              <a:gd name="connsiteX1" fmla="*/ 720655 w 3739617"/>
              <a:gd name="connsiteY1" fmla="*/ 1132922 h 1167375"/>
              <a:gd name="connsiteX2" fmla="*/ 2201441 w 3739617"/>
              <a:gd name="connsiteY2" fmla="*/ 894735 h 1167375"/>
              <a:gd name="connsiteX3" fmla="*/ 3739617 w 3739617"/>
              <a:gd name="connsiteY3" fmla="*/ 0 h 1167375"/>
              <a:gd name="connsiteX0" fmla="*/ 0 w 3739617"/>
              <a:gd name="connsiteY0" fmla="*/ 1167375 h 1167375"/>
              <a:gd name="connsiteX1" fmla="*/ 720655 w 3739617"/>
              <a:gd name="connsiteY1" fmla="*/ 1132922 h 1167375"/>
              <a:gd name="connsiteX2" fmla="*/ 2201441 w 3739617"/>
              <a:gd name="connsiteY2" fmla="*/ 894735 h 1167375"/>
              <a:gd name="connsiteX3" fmla="*/ 3739617 w 3739617"/>
              <a:gd name="connsiteY3" fmla="*/ 0 h 1167375"/>
              <a:gd name="connsiteX0" fmla="*/ 0 w 3709103"/>
              <a:gd name="connsiteY0" fmla="*/ 1167375 h 1167375"/>
              <a:gd name="connsiteX1" fmla="*/ 690141 w 3709103"/>
              <a:gd name="connsiteY1" fmla="*/ 1132922 h 1167375"/>
              <a:gd name="connsiteX2" fmla="*/ 2170927 w 3709103"/>
              <a:gd name="connsiteY2" fmla="*/ 894735 h 1167375"/>
              <a:gd name="connsiteX3" fmla="*/ 3709103 w 3709103"/>
              <a:gd name="connsiteY3" fmla="*/ 0 h 1167375"/>
              <a:gd name="connsiteX0" fmla="*/ 0 w 3709103"/>
              <a:gd name="connsiteY0" fmla="*/ 1167375 h 1170092"/>
              <a:gd name="connsiteX1" fmla="*/ 690141 w 3709103"/>
              <a:gd name="connsiteY1" fmla="*/ 1132922 h 1170092"/>
              <a:gd name="connsiteX2" fmla="*/ 2170927 w 3709103"/>
              <a:gd name="connsiteY2" fmla="*/ 894735 h 1170092"/>
              <a:gd name="connsiteX3" fmla="*/ 3709103 w 3709103"/>
              <a:gd name="connsiteY3" fmla="*/ 0 h 1170092"/>
              <a:gd name="connsiteX0" fmla="*/ 0 w 3709103"/>
              <a:gd name="connsiteY0" fmla="*/ 1167375 h 1167514"/>
              <a:gd name="connsiteX1" fmla="*/ 690141 w 3709103"/>
              <a:gd name="connsiteY1" fmla="*/ 1132922 h 1167514"/>
              <a:gd name="connsiteX2" fmla="*/ 2170927 w 3709103"/>
              <a:gd name="connsiteY2" fmla="*/ 894735 h 1167514"/>
              <a:gd name="connsiteX3" fmla="*/ 3709103 w 3709103"/>
              <a:gd name="connsiteY3" fmla="*/ 0 h 1167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9103" h="1167514">
                <a:moveTo>
                  <a:pt x="0" y="1167375"/>
                </a:moveTo>
                <a:cubicBezTo>
                  <a:pt x="299793" y="1168959"/>
                  <a:pt x="366826" y="1156977"/>
                  <a:pt x="690141" y="1132922"/>
                </a:cubicBezTo>
                <a:cubicBezTo>
                  <a:pt x="1057048" y="1087482"/>
                  <a:pt x="1667767" y="1083555"/>
                  <a:pt x="2170927" y="894735"/>
                </a:cubicBezTo>
                <a:cubicBezTo>
                  <a:pt x="2674087" y="705915"/>
                  <a:pt x="3136544" y="390525"/>
                  <a:pt x="3709103" y="0"/>
                </a:cubicBezTo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Connector 18"/>
          <p:cNvCxnSpPr/>
          <p:nvPr/>
        </p:nvCxnSpPr>
        <p:spPr>
          <a:xfrm>
            <a:off x="2460618" y="5479132"/>
            <a:ext cx="691803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396732" y="3293741"/>
                <a:ext cx="2061468" cy="38792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732" y="3293741"/>
                <a:ext cx="2061468" cy="387927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900041" y="5127347"/>
                <a:ext cx="1512987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041" y="5127347"/>
                <a:ext cx="1512987" cy="375552"/>
              </a:xfrm>
              <a:prstGeom prst="rect">
                <a:avLst/>
              </a:prstGeom>
              <a:blipFill>
                <a:blip r:embed="rId7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>
            <a:stCxn id="20" idx="2"/>
          </p:cNvCxnSpPr>
          <p:nvPr/>
        </p:nvCxnSpPr>
        <p:spPr>
          <a:xfrm flipH="1">
            <a:off x="5946318" y="3681668"/>
            <a:ext cx="1481148" cy="1151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063601" y="1509538"/>
            <a:ext cx="7992839" cy="451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it-IT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121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c14/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14B (Pages 316-317)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EEB1C4B-D14E-C3C2-AE22-03717E66D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27529"/>
            <a:ext cx="7772400" cy="5449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2B4396-D6F4-0CAA-7950-597AC34A7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1273822"/>
            <a:ext cx="8291716" cy="22991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F3BDF6-6634-2946-5617-460F5650E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521" y="3660072"/>
            <a:ext cx="3125681" cy="11521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BEA5C6-F235-0B8A-29B2-854207DB75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856" y="3660073"/>
            <a:ext cx="2710464" cy="12013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637FDE-D8C7-0A02-2E31-66B05B02DB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1686" y="3660072"/>
            <a:ext cx="3032970" cy="115902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F7DE56C-21EC-9F8A-EE3A-0F47B6173166}"/>
              </a:ext>
            </a:extLst>
          </p:cNvPr>
          <p:cNvSpPr/>
          <p:nvPr/>
        </p:nvSpPr>
        <p:spPr>
          <a:xfrm>
            <a:off x="1775520" y="3610859"/>
            <a:ext cx="3032970" cy="1330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A848B8-1576-B82F-CB5B-52AE82913BC6}"/>
              </a:ext>
            </a:extLst>
          </p:cNvPr>
          <p:cNvSpPr/>
          <p:nvPr/>
        </p:nvSpPr>
        <p:spPr>
          <a:xfrm>
            <a:off x="4864858" y="3613452"/>
            <a:ext cx="2609119" cy="1330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352EF8-31C1-8710-5264-8AD0522C88E0}"/>
              </a:ext>
            </a:extLst>
          </p:cNvPr>
          <p:cNvSpPr/>
          <p:nvPr/>
        </p:nvSpPr>
        <p:spPr>
          <a:xfrm>
            <a:off x="7516016" y="3610859"/>
            <a:ext cx="3018640" cy="1330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c?</a:t>
            </a:r>
          </a:p>
        </p:txBody>
      </p:sp>
    </p:spTree>
    <p:extLst>
      <p:ext uri="{BB962C8B-B14F-4D97-AF65-F5344CB8AC3E}">
        <p14:creationId xmlns:p14="http://schemas.microsoft.com/office/powerpoint/2010/main" val="294114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c14/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14B (Pages 316-317)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D999FB83-F0D0-7802-FCC4-CEAB348FF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955" y="621287"/>
            <a:ext cx="8361357" cy="14383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8EC47C5-1BF9-76B1-B69D-9BEBC3F83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2311400"/>
            <a:ext cx="1701800" cy="1117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4F178A0-0FFE-E40C-A77B-63476E0AF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3787" y="2293545"/>
            <a:ext cx="1701800" cy="1117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9DB06D3-76C0-65AE-6571-EB0BF76BA2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4192" y="2212992"/>
            <a:ext cx="2743200" cy="1117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C35A38C-46B8-1628-6A56-6F42313482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9536" y="3441487"/>
            <a:ext cx="2668252" cy="9783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8D3B8A6-CFF6-8CFE-4FC6-AC058332F0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543" y="3495291"/>
            <a:ext cx="2260600" cy="1117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EBAEF3C-973D-690B-C8B1-D5560727972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3603"/>
          <a:stretch/>
        </p:blipFill>
        <p:spPr>
          <a:xfrm>
            <a:off x="7824193" y="3506308"/>
            <a:ext cx="2754533" cy="11176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168C6D8-64E7-769B-2392-B2693EAF2DC2}"/>
              </a:ext>
            </a:extLst>
          </p:cNvPr>
          <p:cNvSpPr/>
          <p:nvPr/>
        </p:nvSpPr>
        <p:spPr>
          <a:xfrm>
            <a:off x="1784206" y="2108585"/>
            <a:ext cx="3032970" cy="1330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DE7BFD-BA71-0ECF-65D6-63A9AA8FB792}"/>
              </a:ext>
            </a:extLst>
          </p:cNvPr>
          <p:cNvSpPr/>
          <p:nvPr/>
        </p:nvSpPr>
        <p:spPr>
          <a:xfrm>
            <a:off x="4873544" y="2111178"/>
            <a:ext cx="2609119" cy="1330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43ED57-72FC-42E5-C649-555F3489C1C6}"/>
              </a:ext>
            </a:extLst>
          </p:cNvPr>
          <p:cNvSpPr/>
          <p:nvPr/>
        </p:nvSpPr>
        <p:spPr>
          <a:xfrm>
            <a:off x="7524702" y="2108585"/>
            <a:ext cx="3018640" cy="1330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c?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51492F-15FF-6DA7-F75F-9C3718C9BBBD}"/>
              </a:ext>
            </a:extLst>
          </p:cNvPr>
          <p:cNvSpPr/>
          <p:nvPr/>
        </p:nvSpPr>
        <p:spPr>
          <a:xfrm>
            <a:off x="1784206" y="3502819"/>
            <a:ext cx="3032970" cy="1330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d?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668D1E-205A-6065-B259-EAF5CB66ADB6}"/>
              </a:ext>
            </a:extLst>
          </p:cNvPr>
          <p:cNvSpPr/>
          <p:nvPr/>
        </p:nvSpPr>
        <p:spPr>
          <a:xfrm>
            <a:off x="4873544" y="3505412"/>
            <a:ext cx="2609119" cy="1330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e?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906872-F0C7-2AEF-48AD-BAD488A22A2C}"/>
              </a:ext>
            </a:extLst>
          </p:cNvPr>
          <p:cNvSpPr/>
          <p:nvPr/>
        </p:nvSpPr>
        <p:spPr>
          <a:xfrm>
            <a:off x="7524702" y="3502819"/>
            <a:ext cx="3018640" cy="1330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f?</a:t>
            </a:r>
          </a:p>
        </p:txBody>
      </p:sp>
    </p:spTree>
    <p:extLst>
      <p:ext uri="{BB962C8B-B14F-4D97-AF65-F5344CB8AC3E}">
        <p14:creationId xmlns:p14="http://schemas.microsoft.com/office/powerpoint/2010/main" val="415837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c14/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14B (Pages 316-317)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EC13E62-430A-D965-CD77-F9001BACB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599128"/>
            <a:ext cx="7772400" cy="8198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9FC23D-5B21-1FAA-446F-DFA85C67D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497" y="3429001"/>
            <a:ext cx="9041207" cy="7386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A8BF15-ECE9-C24D-1D8B-4BE84C6B6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544" y="1430382"/>
            <a:ext cx="2273300" cy="2095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BC4F22-DDD4-890E-A529-450A3590AB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816" y="1516012"/>
            <a:ext cx="2197100" cy="101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C5A91D-E747-2DEB-64E0-334C2E6E49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112" y="1538142"/>
            <a:ext cx="2654300" cy="1016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B34343-78C5-10D8-C32F-DF6CF60567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3009" y="4557831"/>
            <a:ext cx="4483100" cy="1625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F87B969-E4BF-8A1A-E8D0-25385BBD0A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5304" y="4183181"/>
            <a:ext cx="4140200" cy="23749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04BAE9B-3B74-AB8A-5EC4-5902444F98C7}"/>
              </a:ext>
            </a:extLst>
          </p:cNvPr>
          <p:cNvSpPr/>
          <p:nvPr/>
        </p:nvSpPr>
        <p:spPr>
          <a:xfrm>
            <a:off x="1906646" y="1411012"/>
            <a:ext cx="2358198" cy="20063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1A3F3A-3AEF-18F7-E4D0-4A53CA99AC90}"/>
              </a:ext>
            </a:extLst>
          </p:cNvPr>
          <p:cNvSpPr/>
          <p:nvPr/>
        </p:nvSpPr>
        <p:spPr>
          <a:xfrm>
            <a:off x="4345486" y="1408262"/>
            <a:ext cx="2542602" cy="20063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335878-0A22-4EED-1FB6-E9F54CB43EEB}"/>
              </a:ext>
            </a:extLst>
          </p:cNvPr>
          <p:cNvSpPr/>
          <p:nvPr/>
        </p:nvSpPr>
        <p:spPr>
          <a:xfrm>
            <a:off x="6987460" y="1416813"/>
            <a:ext cx="2770952" cy="20063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c?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D9ADBE-0036-0D30-57C5-83B56AA99494}"/>
              </a:ext>
            </a:extLst>
          </p:cNvPr>
          <p:cNvSpPr/>
          <p:nvPr/>
        </p:nvSpPr>
        <p:spPr>
          <a:xfrm>
            <a:off x="1833442" y="4164730"/>
            <a:ext cx="4140198" cy="25141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8D94E23-3CA2-1D81-8AE6-8551F7EF9B96}"/>
              </a:ext>
            </a:extLst>
          </p:cNvPr>
          <p:cNvSpPr/>
          <p:nvPr/>
        </p:nvSpPr>
        <p:spPr>
          <a:xfrm>
            <a:off x="6300708" y="4167593"/>
            <a:ext cx="4140199" cy="253020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89175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c14/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5"/>
          <p:cNvGrpSpPr/>
          <p:nvPr/>
        </p:nvGrpSpPr>
        <p:grpSpPr>
          <a:xfrm>
            <a:off x="1524000" y="1"/>
            <a:ext cx="9156700" cy="6907803"/>
            <a:chOff x="0" y="0"/>
            <a:chExt cx="9156700" cy="6907803"/>
          </a:xfrm>
        </p:grpSpPr>
        <p:grpSp>
          <p:nvGrpSpPr>
            <p:cNvPr id="3" name="Group 25"/>
            <p:cNvGrpSpPr/>
            <p:nvPr/>
          </p:nvGrpSpPr>
          <p:grpSpPr>
            <a:xfrm>
              <a:off x="395536" y="0"/>
              <a:ext cx="8640960" cy="6858000"/>
              <a:chOff x="395536" y="0"/>
              <a:chExt cx="8640960" cy="6858000"/>
            </a:xfrm>
          </p:grpSpPr>
          <p:cxnSp>
            <p:nvCxnSpPr>
              <p:cNvPr id="5" name="Straight Connector 4"/>
              <p:cNvCxnSpPr/>
              <p:nvPr/>
            </p:nvCxnSpPr>
            <p:spPr>
              <a:xfrm>
                <a:off x="39553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/>
              <p:cNvCxnSpPr/>
              <p:nvPr/>
            </p:nvCxnSpPr>
            <p:spPr>
              <a:xfrm>
                <a:off x="82758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25963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169168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212372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255577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298782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341987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385192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428396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471601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514806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558011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601216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644420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687625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730830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774035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817240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860444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903649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/>
            <p:cNvCxnSpPr/>
            <p:nvPr/>
          </p:nvCxnSpPr>
          <p:spPr>
            <a:xfrm rot="5400000">
              <a:off x="4572000" y="-438336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>
              <a:off x="4572000" y="-3951312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4572000" y="-3519264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4572000" y="-3087216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4572000" y="-2655168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4572000" y="-222312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4572000" y="-1791072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4572000" y="-1359024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4572000" y="-926976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4572000" y="-494928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4572000" y="-6288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4572000" y="369168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572000" y="801216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4572000" y="1233264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4572000" y="1665312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4572000" y="209736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V="1">
              <a:off x="2123728" y="0"/>
              <a:ext cx="0" cy="68580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12700" y="4514531"/>
              <a:ext cx="9144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97546" y="4488778"/>
              <a:ext cx="9057086" cy="369332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en-GB" dirty="0"/>
                <a:t> -2              -1                              1               2              3              4               5              6              7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604201" y="13608"/>
              <a:ext cx="504056" cy="68941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8</a:t>
              </a:r>
            </a:p>
            <a:p>
              <a:endParaRPr lang="en-GB" dirty="0"/>
            </a:p>
            <a:p>
              <a:endParaRPr lang="en-GB" dirty="0"/>
            </a:p>
            <a:p>
              <a:pPr algn="r"/>
              <a:r>
                <a:rPr lang="en-GB" dirty="0"/>
                <a:t>4</a:t>
              </a:r>
            </a:p>
            <a:p>
              <a:pPr algn="r"/>
              <a:endParaRPr lang="en-GB" sz="2400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3</a:t>
              </a:r>
            </a:p>
            <a:p>
              <a:pPr algn="r"/>
              <a:endParaRPr lang="en-GB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2</a:t>
              </a:r>
            </a:p>
            <a:p>
              <a:pPr algn="r"/>
              <a:endParaRPr lang="en-GB" dirty="0"/>
            </a:p>
            <a:p>
              <a:pPr algn="r"/>
              <a:endParaRPr lang="en-GB" sz="2200" dirty="0"/>
            </a:p>
            <a:p>
              <a:pPr algn="r"/>
              <a:r>
                <a:rPr lang="en-GB" dirty="0"/>
                <a:t>1</a:t>
              </a:r>
            </a:p>
            <a:p>
              <a:pPr algn="r"/>
              <a:endParaRPr lang="en-GB" sz="2800" dirty="0"/>
            </a:p>
            <a:p>
              <a:pPr algn="r"/>
              <a:endParaRPr lang="en-GB" sz="1100" dirty="0"/>
            </a:p>
            <a:p>
              <a:pPr algn="r"/>
              <a:r>
                <a:rPr lang="en-GB" dirty="0"/>
                <a:t> </a:t>
              </a:r>
            </a:p>
            <a:p>
              <a:pPr algn="r"/>
              <a:endParaRPr lang="en-GB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-1</a:t>
              </a:r>
            </a:p>
            <a:p>
              <a:pPr algn="r"/>
              <a:endParaRPr lang="en-GB" sz="2400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-2</a:t>
              </a:r>
            </a:p>
            <a:p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055517"/>
                  </p:ext>
                </p:extLst>
              </p:nvPr>
            </p:nvGraphicFramePr>
            <p:xfrm>
              <a:off x="1612900" y="129332"/>
              <a:ext cx="3942668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79732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742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9335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dirty="0"/>
                            <a:t>0.25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055517"/>
                  </p:ext>
                </p:extLst>
              </p:nvPr>
            </p:nvGraphicFramePr>
            <p:xfrm>
              <a:off x="1612900" y="129332"/>
              <a:ext cx="3942668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79732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742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9335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" t="-8197" r="-39618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dirty="0"/>
                            <a:t>0.25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" t="-108197" r="-39618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3" name="Rectangle 52"/>
          <p:cNvSpPr/>
          <p:nvPr/>
        </p:nvSpPr>
        <p:spPr>
          <a:xfrm>
            <a:off x="2418863" y="509703"/>
            <a:ext cx="625593" cy="3600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56" name="Oval 55"/>
          <p:cNvSpPr/>
          <p:nvPr/>
        </p:nvSpPr>
        <p:spPr>
          <a:xfrm>
            <a:off x="3790859" y="6131282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/>
          <p:cNvSpPr/>
          <p:nvPr/>
        </p:nvSpPr>
        <p:spPr>
          <a:xfrm>
            <a:off x="3031039" y="509703"/>
            <a:ext cx="544681" cy="3600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0" name="Oval 59"/>
          <p:cNvSpPr/>
          <p:nvPr/>
        </p:nvSpPr>
        <p:spPr>
          <a:xfrm>
            <a:off x="3995069" y="5304942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/>
          <p:cNvSpPr/>
          <p:nvPr/>
        </p:nvSpPr>
        <p:spPr>
          <a:xfrm>
            <a:off x="3583204" y="509704"/>
            <a:ext cx="458416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2" name="Oval 61"/>
          <p:cNvSpPr/>
          <p:nvPr/>
        </p:nvSpPr>
        <p:spPr>
          <a:xfrm>
            <a:off x="4420619" y="4416876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/>
          <p:cNvSpPr/>
          <p:nvPr/>
        </p:nvSpPr>
        <p:spPr>
          <a:xfrm>
            <a:off x="4041619" y="509703"/>
            <a:ext cx="462720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4" name="Oval 63"/>
          <p:cNvSpPr/>
          <p:nvPr/>
        </p:nvSpPr>
        <p:spPr>
          <a:xfrm>
            <a:off x="5280580" y="3553028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/>
          <p:cNvSpPr/>
          <p:nvPr/>
        </p:nvSpPr>
        <p:spPr>
          <a:xfrm>
            <a:off x="4504339" y="509703"/>
            <a:ext cx="464611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6" name="Oval 65"/>
          <p:cNvSpPr/>
          <p:nvPr/>
        </p:nvSpPr>
        <p:spPr>
          <a:xfrm>
            <a:off x="7021767" y="2691248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 67"/>
          <p:cNvSpPr/>
          <p:nvPr/>
        </p:nvSpPr>
        <p:spPr>
          <a:xfrm>
            <a:off x="10471034" y="1842370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176120" y="1"/>
                <a:ext cx="3312368" cy="76944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4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4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120" y="1"/>
                <a:ext cx="3312368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tangle 69"/>
          <p:cNvSpPr/>
          <p:nvPr/>
        </p:nvSpPr>
        <p:spPr>
          <a:xfrm>
            <a:off x="4968950" y="509703"/>
            <a:ext cx="548462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28" name="Freeform: Shape 27"/>
          <p:cNvSpPr/>
          <p:nvPr/>
        </p:nvSpPr>
        <p:spPr>
          <a:xfrm>
            <a:off x="3773714" y="1901371"/>
            <a:ext cx="6807200" cy="4963886"/>
          </a:xfrm>
          <a:custGeom>
            <a:avLst/>
            <a:gdLst>
              <a:gd name="connsiteX0" fmla="*/ 0 w 6807200"/>
              <a:gd name="connsiteY0" fmla="*/ 4963886 h 4963886"/>
              <a:gd name="connsiteX1" fmla="*/ 101600 w 6807200"/>
              <a:gd name="connsiteY1" fmla="*/ 4339772 h 4963886"/>
              <a:gd name="connsiteX2" fmla="*/ 319315 w 6807200"/>
              <a:gd name="connsiteY2" fmla="*/ 3483429 h 4963886"/>
              <a:gd name="connsiteX3" fmla="*/ 740229 w 6807200"/>
              <a:gd name="connsiteY3" fmla="*/ 2612572 h 4963886"/>
              <a:gd name="connsiteX4" fmla="*/ 1582057 w 6807200"/>
              <a:gd name="connsiteY4" fmla="*/ 1741715 h 4963886"/>
              <a:gd name="connsiteX5" fmla="*/ 3338286 w 6807200"/>
              <a:gd name="connsiteY5" fmla="*/ 870858 h 4963886"/>
              <a:gd name="connsiteX6" fmla="*/ 6807200 w 6807200"/>
              <a:gd name="connsiteY6" fmla="*/ 0 h 4963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07200" h="4963886">
                <a:moveTo>
                  <a:pt x="0" y="4963886"/>
                </a:moveTo>
                <a:cubicBezTo>
                  <a:pt x="24190" y="4775200"/>
                  <a:pt x="48381" y="4586515"/>
                  <a:pt x="101600" y="4339772"/>
                </a:cubicBezTo>
                <a:cubicBezTo>
                  <a:pt x="154819" y="4093029"/>
                  <a:pt x="212877" y="3771296"/>
                  <a:pt x="319315" y="3483429"/>
                </a:cubicBezTo>
                <a:cubicBezTo>
                  <a:pt x="425753" y="3195562"/>
                  <a:pt x="529772" y="2902858"/>
                  <a:pt x="740229" y="2612572"/>
                </a:cubicBezTo>
                <a:cubicBezTo>
                  <a:pt x="950686" y="2322286"/>
                  <a:pt x="1149048" y="2032001"/>
                  <a:pt x="1582057" y="1741715"/>
                </a:cubicBezTo>
                <a:cubicBezTo>
                  <a:pt x="2015066" y="1451429"/>
                  <a:pt x="2467429" y="1161144"/>
                  <a:pt x="3338286" y="870858"/>
                </a:cubicBezTo>
                <a:cubicBezTo>
                  <a:pt x="4209143" y="580572"/>
                  <a:pt x="5508171" y="290286"/>
                  <a:pt x="680720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8" name="Group 57"/>
          <p:cNvGrpSpPr/>
          <p:nvPr/>
        </p:nvGrpSpPr>
        <p:grpSpPr>
          <a:xfrm>
            <a:off x="2609851" y="1517154"/>
            <a:ext cx="3503611" cy="1111746"/>
            <a:chOff x="1085850" y="1517154"/>
            <a:chExt cx="3503611" cy="11117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2338636" y="1517154"/>
                  <a:ext cx="2250825" cy="646331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The log graph isn’t defined for </a:t>
                  </a:r>
                  <a14:m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≤0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8636" y="1517154"/>
                  <a:ext cx="2250825" cy="646331"/>
                </a:xfrm>
                <a:prstGeom prst="rect">
                  <a:avLst/>
                </a:prstGeom>
                <a:blipFill>
                  <a:blip r:embed="rId5"/>
                  <a:stretch>
                    <a:fillRect l="-1877" t="-3636" b="-1181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Arrow Connector 56"/>
            <p:cNvCxnSpPr>
              <a:stCxn id="29" idx="1"/>
            </p:cNvCxnSpPr>
            <p:nvPr/>
          </p:nvCxnSpPr>
          <p:spPr>
            <a:xfrm flipH="1">
              <a:off x="1085850" y="1840320"/>
              <a:ext cx="1252786" cy="78858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1" name="Group 70"/>
          <p:cNvGrpSpPr/>
          <p:nvPr/>
        </p:nvGrpSpPr>
        <p:grpSpPr>
          <a:xfrm>
            <a:off x="3933373" y="5304240"/>
            <a:ext cx="3854225" cy="1314275"/>
            <a:chOff x="735236" y="1517154"/>
            <a:chExt cx="3854225" cy="13142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2338636" y="1517154"/>
                  <a:ext cx="2250825" cy="646331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We have a vertical asymptote </a:t>
                  </a:r>
                  <a14:m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8636" y="1517154"/>
                  <a:ext cx="2250825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1609" t="-2727" b="-1181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3" name="Straight Arrow Connector 72"/>
            <p:cNvCxnSpPr>
              <a:stCxn id="72" idx="1"/>
            </p:cNvCxnSpPr>
            <p:nvPr/>
          </p:nvCxnSpPr>
          <p:spPr>
            <a:xfrm flipH="1">
              <a:off x="735236" y="1840320"/>
              <a:ext cx="1603400" cy="99110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4" name="Group 73"/>
          <p:cNvGrpSpPr/>
          <p:nvPr/>
        </p:nvGrpSpPr>
        <p:grpSpPr>
          <a:xfrm>
            <a:off x="4746172" y="3484920"/>
            <a:ext cx="2786743" cy="869367"/>
            <a:chOff x="721118" y="1517154"/>
            <a:chExt cx="2786743" cy="869367"/>
          </a:xfrm>
        </p:grpSpPr>
        <p:sp>
          <p:nvSpPr>
            <p:cNvPr id="75" name="TextBox 74"/>
            <p:cNvSpPr txBox="1"/>
            <p:nvPr/>
          </p:nvSpPr>
          <p:spPr>
            <a:xfrm>
              <a:off x="2338636" y="1517154"/>
              <a:ext cx="1169225" cy="3693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dirty="0"/>
                <a:t>Root is 1.</a:t>
              </a:r>
            </a:p>
          </p:txBody>
        </p:sp>
        <p:cxnSp>
          <p:nvCxnSpPr>
            <p:cNvPr id="76" name="Straight Arrow Connector 75"/>
            <p:cNvCxnSpPr>
              <a:stCxn id="75" idx="1"/>
            </p:cNvCxnSpPr>
            <p:nvPr/>
          </p:nvCxnSpPr>
          <p:spPr>
            <a:xfrm flipH="1">
              <a:off x="721118" y="1701820"/>
              <a:ext cx="1617518" cy="68470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9" name="Group 78"/>
          <p:cNvGrpSpPr/>
          <p:nvPr/>
        </p:nvGrpSpPr>
        <p:grpSpPr>
          <a:xfrm>
            <a:off x="8026400" y="2336800"/>
            <a:ext cx="2365828" cy="1780408"/>
            <a:chOff x="1457916" y="937075"/>
            <a:chExt cx="2365828" cy="1780408"/>
          </a:xfrm>
        </p:grpSpPr>
        <p:sp>
          <p:nvSpPr>
            <p:cNvPr id="80" name="TextBox 79"/>
            <p:cNvSpPr txBox="1"/>
            <p:nvPr/>
          </p:nvSpPr>
          <p:spPr>
            <a:xfrm>
              <a:off x="1457916" y="1517154"/>
              <a:ext cx="2365828" cy="1200329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dirty="0"/>
                <a:t>The gradient gradually decreases but remains positive (log is an “increasing function”)</a:t>
              </a:r>
            </a:p>
          </p:txBody>
        </p:sp>
        <p:cxnSp>
          <p:nvCxnSpPr>
            <p:cNvPr id="81" name="Straight Arrow Connector 80"/>
            <p:cNvCxnSpPr/>
            <p:nvPr/>
          </p:nvCxnSpPr>
          <p:spPr>
            <a:xfrm flipV="1">
              <a:off x="2691630" y="937075"/>
              <a:ext cx="232229" cy="58057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51761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</p:childTnLst>
        </p:cTn>
      </p:par>
    </p:tnLst>
    <p:bldLst>
      <p:bldP spid="53" grpId="0" animBg="1"/>
      <p:bldP spid="56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70" grpId="0" animBg="1"/>
      <p:bldP spid="28" grpId="0" animBg="1"/>
    </p:bldLst>
  </p:timing>
</p:sld>
</file>

<file path=ppt/c14/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Natural Logarithms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51674" y="936624"/>
                <a:ext cx="747289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have previously seen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is the inverse function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We also saw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 is “</a:t>
                </a:r>
                <a:r>
                  <a:rPr lang="en-GB" b="1" dirty="0"/>
                  <a:t>the</a:t>
                </a:r>
                <a:r>
                  <a:rPr lang="en-GB" dirty="0"/>
                  <a:t>” exponential function.</a:t>
                </a:r>
              </a:p>
              <a:p>
                <a:r>
                  <a:rPr lang="en-GB" dirty="0"/>
                  <a:t>The inverse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, but because of its special importance, it has its own function name!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674" y="936624"/>
                <a:ext cx="7472897" cy="1200329"/>
              </a:xfrm>
              <a:prstGeom prst="rect">
                <a:avLst/>
              </a:prstGeom>
              <a:blipFill>
                <a:blip r:embed="rId2"/>
                <a:stretch>
                  <a:fillRect l="-653" t="-3046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51675" y="2290261"/>
                <a:ext cx="4982503" cy="46166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Wingdings" panose="05000000000000000000" pitchFamily="2" charset="2"/>
                  </a:rPr>
                  <a:t>!</a:t>
                </a:r>
                <a:r>
                  <a:rPr lang="en-GB" sz="2400" dirty="0"/>
                  <a:t> The inverse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2400" dirty="0"/>
                  <a:t> is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675" y="2290261"/>
                <a:ext cx="4982503" cy="461665"/>
              </a:xfrm>
              <a:prstGeom prst="rect">
                <a:avLst/>
              </a:prstGeom>
              <a:blipFill>
                <a:blip r:embed="rId3"/>
                <a:stretch>
                  <a:fillRect l="-1582" t="-8861" b="-265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37182" y="3020910"/>
                <a:ext cx="4248472" cy="1099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  <m:r>
                        <a:rPr lang="en-GB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7182" y="3020910"/>
                <a:ext cx="4248472" cy="10992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5428344" y="2900414"/>
            <a:ext cx="1045029" cy="6555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28344" y="3570517"/>
            <a:ext cx="1045029" cy="6555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463026" y="2919311"/>
                <a:ext cx="288566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Since “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dirty="0"/>
                  <a:t> to the power of” and “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𝑙𝑛</m:t>
                    </m:r>
                  </m:oMath>
                </a14:m>
                <a:r>
                  <a:rPr lang="en-GB" dirty="0"/>
                  <a:t> of” are inverse functions, they cancel each other out!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026" y="2919311"/>
                <a:ext cx="2885660" cy="1200329"/>
              </a:xfrm>
              <a:prstGeom prst="rect">
                <a:avLst/>
              </a:prstGeom>
              <a:blipFill>
                <a:blip r:embed="rId5"/>
                <a:stretch>
                  <a:fillRect l="-1688" t="-3046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stCxn id="10" idx="1"/>
          </p:cNvCxnSpPr>
          <p:nvPr/>
        </p:nvCxnSpPr>
        <p:spPr>
          <a:xfrm flipH="1" flipV="1">
            <a:off x="6744072" y="3284985"/>
            <a:ext cx="718954" cy="234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077357" y="4737936"/>
                <a:ext cx="2650492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357" y="4737936"/>
                <a:ext cx="2650492" cy="461665"/>
              </a:xfrm>
              <a:prstGeom prst="rect">
                <a:avLst/>
              </a:prstGeom>
              <a:blipFill>
                <a:blip r:embed="rId6"/>
                <a:stretch>
                  <a:fillRect l="-215"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471817" y="4737682"/>
                <a:ext cx="3728639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2</m:t>
                    </m:r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2400" i="1">
                        <a:latin typeface="Cambria Math" panose="02040503050406030204" pitchFamily="18" charset="0"/>
                      </a:rPr>
                      <m:t>+1=5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817" y="4737682"/>
                <a:ext cx="3728639" cy="461665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932215" y="5431273"/>
                <a:ext cx="221844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215" y="5431273"/>
                <a:ext cx="221844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860371" y="5286695"/>
                <a:ext cx="155345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“ln both sides”. </a:t>
                </a:r>
              </a:p>
              <a:p>
                <a:r>
                  <a:rPr lang="en-GB" sz="1400" dirty="0"/>
                  <a:t>On the LHS it cancels out the “</a:t>
                </a:r>
                <a14:m>
                  <m:oMath xmlns:m="http://schemas.openxmlformats.org/officeDocument/2006/math">
                    <m:r>
                      <a:rPr lang="en-GB" sz="1400" i="1" dirty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sz="1400" dirty="0"/>
                  <a:t> to the power of”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371" y="5286695"/>
                <a:ext cx="1553457" cy="954107"/>
              </a:xfrm>
              <a:prstGeom prst="rect">
                <a:avLst/>
              </a:prstGeom>
              <a:blipFill>
                <a:blip r:embed="rId9"/>
                <a:stretch>
                  <a:fillRect l="-1176" t="-1274" b="-57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744073" y="5370510"/>
                <a:ext cx="221844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28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073" y="5370510"/>
                <a:ext cx="2218443" cy="95410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773672" y="5663856"/>
                <a:ext cx="155345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Do “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sz="1400" dirty="0"/>
                  <a:t> to the power of” each side. On the LHS it cancels out the ln.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3672" y="5663856"/>
                <a:ext cx="1553457" cy="954107"/>
              </a:xfrm>
              <a:prstGeom prst="rect">
                <a:avLst/>
              </a:prstGeom>
              <a:blipFill>
                <a:blip r:embed="rId11"/>
                <a:stretch>
                  <a:fillRect l="-1176" t="-1274" r="-392" b="-57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>
            <a:stCxn id="18" idx="1"/>
          </p:cNvCxnSpPr>
          <p:nvPr/>
        </p:nvCxnSpPr>
        <p:spPr>
          <a:xfrm flipH="1" flipV="1">
            <a:off x="8476343" y="6096001"/>
            <a:ext cx="297328" cy="44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074685" y="5191976"/>
            <a:ext cx="3304774" cy="11326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69674" y="5191974"/>
            <a:ext cx="3730782" cy="14259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002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21" grpId="0" animBg="1"/>
      <p:bldP spid="22" grpId="0" animBg="1"/>
    </p:bldLst>
  </p:timing>
</p:sld>
</file>

<file path=ppt/c14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14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