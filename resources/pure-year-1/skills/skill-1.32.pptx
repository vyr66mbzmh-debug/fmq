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2/ppt/slideMasters/slideMaster1.xml" ContentType="application/vnd.openxmlformats-officedocument.presentationml.slideMaster+xml"/>
  <ns0:Override PartName="/ppt/c12/ppt/slides/slide28.xml" ContentType="application/vnd.openxmlformats-officedocument.presentationml.slide+xml"/>
  <ns0:Override PartName="/ppt/c12/ppt/slides/slide29.xml" ContentType="application/vnd.openxmlformats-officedocument.presentationml.slide+xml"/>
  <ns0:Override PartName="/ppt/c12/ppt/slides/slide30.xml" ContentType="application/vnd.openxmlformats-officedocument.presentationml.slide+xml"/>
  <ns0:Override PartName="/ppt/c12/ppt/slides/slide31.xml" ContentType="application/vnd.openxmlformats-officedocument.presentationml.slide+xml"/>
  <ns0:Override PartName="/ppt/c12/ppt/slides/slide32.xml" ContentType="application/vnd.openxmlformats-officedocument.presentationml.slide+xml"/>
  <ns0:Override PartName="/ppt/c12/ppt/slides/slide33.xml" ContentType="application/vnd.openxmlformats-officedocument.presentationml.slide+xml"/>
  <ns0:Override PartName="/ppt/c12/ppt/slides/slide34.xml" ContentType="application/vnd.openxmlformats-officedocument.presentationml.slide+xml"/>
  <ns0:Override PartName="/ppt/c12/ppt/slides/slide35.xml" ContentType="application/vnd.openxmlformats-officedocument.presentationml.slide+xml"/>
  <ns0:Override PartName="/ppt/c12/ppt/slides/slide36.xml" ContentType="application/vnd.openxmlformats-officedocument.presentationml.slide+xml"/>
  <ns0:Override PartName="/ppt/c12/ppt/notesMasters/notesMaster1.xml" ContentType="application/vnd.openxmlformats-officedocument.presentationml.notesMaster+xml"/>
  <ns0:Override PartName="/ppt/c12/ppt/theme/theme1.xml" ContentType="application/vnd.openxmlformats-officedocument.theme+xml"/>
  <ns0:Override PartName="/ppt/c12/ppt/slideLayouts/slideLayout1.xml" ContentType="application/vnd.openxmlformats-officedocument.presentationml.slideLayout+xml"/>
  <ns0:Override PartName="/ppt/c12/ppt/slideLayouts/slideLayout2.xml" ContentType="application/vnd.openxmlformats-officedocument.presentationml.slideLayout+xml"/>
  <ns0:Override PartName="/ppt/c12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848" r:id="rId1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2/ppt/slides/slide28.xml" /><ns0:Relationship Id="rId2" Type="http://schemas.openxmlformats.org/officeDocument/2006/relationships/slide" Target="c12/ppt/slides/slide29.xml" /><ns0:Relationship Id="rId3" Type="http://schemas.openxmlformats.org/officeDocument/2006/relationships/slide" Target="c12/ppt/slides/slide30.xml" /><ns0:Relationship Id="rId4" Type="http://schemas.openxmlformats.org/officeDocument/2006/relationships/slide" Target="c12/ppt/slides/slide31.xml" /><ns0:Relationship Id="rId5" Type="http://schemas.openxmlformats.org/officeDocument/2006/relationships/slide" Target="c12/ppt/slides/slide32.xml" /><ns0:Relationship Id="rId6" Type="http://schemas.openxmlformats.org/officeDocument/2006/relationships/slide" Target="c12/ppt/slides/slide33.xml" /><ns0:Relationship Id="rId7" Type="http://schemas.openxmlformats.org/officeDocument/2006/relationships/slide" Target="c12/ppt/slides/slide34.xml" /><ns0:Relationship Id="rId8" Type="http://schemas.openxmlformats.org/officeDocument/2006/relationships/slide" Target="c12/ppt/slides/slide35.xml" /><ns0:Relationship Id="rId9" Type="http://schemas.openxmlformats.org/officeDocument/2006/relationships/slide" Target="c12/ppt/slides/slide36.xml" /><ns0:Relationship Id="rId10" Type="http://schemas.openxmlformats.org/officeDocument/2006/relationships/slideMaster" Target="c12/ppt/slideMasters/slideMaster1.xml" /><ns0:Relationship Id="rId11" Type="http://schemas.openxmlformats.org/officeDocument/2006/relationships/notesMaster" Target="c12/ppt/notesMasters/notesMaster1.xml" /></ns0:Relationships>
</file>

<file path=ppt/c1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30/12/2023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839891"/>
      </p:ext>
    </p:extLst>
  </p:cSld>
  <p:clrMapOvr>
    <a:masterClrMapping/>
  </p:clrMapOvr>
</p:sldLayout>
</file>

<file path=ppt/c1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CDDC1-0B0A-6E37-1995-A8CC6B0F35AF}"/>
              </a:ext>
            </a:extLst>
          </p:cNvPr>
          <p:cNvSpPr/>
          <p:nvPr userDrawn="1"/>
        </p:nvSpPr>
        <p:spPr>
          <a:xfrm>
            <a:off x="8458200" y="116632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30973"/>
      </p:ext>
    </p:extLst>
  </p:cSld>
  <p:clrMapOvr>
    <a:masterClrMapping/>
  </p:clrMapOvr>
</p:sldLayout>
</file>

<file path=ppt/c1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E1C5E-5248-9158-42CE-6786A1D8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6619E1-8E5E-BED0-8159-D618D0F5B26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6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2/ppt/slides/_rels/slide28.xml.rels><?xml version='1.0' encoding='utf-8'?>
<ns0:Relationships xmlns:ns0="http://schemas.openxmlformats.org/package/2006/relationships"><ns0:Relationship Id="rId3" Type="http://schemas.openxmlformats.org/officeDocument/2006/relationships/image" Target="../media/image1190.png" /><ns0:Relationship Id="rId2" Type="http://schemas.openxmlformats.org/officeDocument/2006/relationships/image" Target="../media/image1180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210.png" /><ns0:Relationship Id="rId4" Type="http://schemas.openxmlformats.org/officeDocument/2006/relationships/image" Target="../media/image1200.png" /></ns0:Relationships>
</file>

<file path=ppt/c12/ppt/slides/_rels/slide29.xml.rels><?xml version='1.0' encoding='utf-8'?>
<ns0:Relationships xmlns:ns0="http://schemas.openxmlformats.org/package/2006/relationships"><ns0:Relationship Id="rId3" Type="http://schemas.openxmlformats.org/officeDocument/2006/relationships/image" Target="../media/image123.png" /><ns0:Relationship Id="rId2" Type="http://schemas.openxmlformats.org/officeDocument/2006/relationships/image" Target="../media/image122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24.png" /></ns0:Relationships>
</file>

<file path=ppt/c12/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126.png" /><ns0:Relationship Id="rId2" Type="http://schemas.openxmlformats.org/officeDocument/2006/relationships/image" Target="../media/image125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27.png" /></ns0:Relationships>
</file>

<file path=ppt/c12/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image129.png" /><ns0:Relationship Id="rId2" Type="http://schemas.openxmlformats.org/officeDocument/2006/relationships/image" Target="../media/image128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30.png" /></ns0:Relationships>
</file>

<file path=ppt/c12/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132.png" /><ns0:Relationship Id="rId2" Type="http://schemas.openxmlformats.org/officeDocument/2006/relationships/image" Target="../media/image131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33.png" /></ns0:Relationships>
</file>

<file path=ppt/c12/ppt/slides/_rels/slide33.xml.rels><?xml version='1.0' encoding='utf-8'?>
<ns0:Relationships xmlns:ns0="http://schemas.openxmlformats.org/package/2006/relationships"><ns0:Relationship Id="rId3" Type="http://schemas.openxmlformats.org/officeDocument/2006/relationships/image" Target="../media/image135.png" /><ns0:Relationship Id="rId2" Type="http://schemas.openxmlformats.org/officeDocument/2006/relationships/image" Target="../media/image134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36.png" /></ns0:Relationships>
</file>

<file path=ppt/c12/ppt/slides/_rels/slide34.xml.rels><?xml version='1.0' encoding='utf-8'?>
<ns0:Relationships xmlns:ns0="http://schemas.openxmlformats.org/package/2006/relationships"><ns0:Relationship Id="rId3" Type="http://schemas.openxmlformats.org/officeDocument/2006/relationships/image" Target="../media/image138.png" /><ns0:Relationship Id="rId2" Type="http://schemas.openxmlformats.org/officeDocument/2006/relationships/image" Target="../media/image137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39.png" /></ns0:Relationships>
</file>

<file path=ppt/c12/ppt/slides/_rels/slide35.xml.rels><?xml version='1.0' encoding='utf-8'?>
<ns0:Relationships xmlns:ns0="http://schemas.openxmlformats.org/package/2006/relationships"><ns0:Relationship Id="rId3" Type="http://schemas.openxmlformats.org/officeDocument/2006/relationships/image" Target="../media/image1331.png" /><ns0:Relationship Id="rId2" Type="http://schemas.openxmlformats.org/officeDocument/2006/relationships/image" Target="../media/image1321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341.png" /></ns0:Relationships>
</file>

<file path=ppt/c12/ppt/slides/_rels/slide36.xml.rels><?xml version='1.0' encoding='utf-8'?>
<ns0:Relationships xmlns:ns0="http://schemas.openxmlformats.org/package/2006/relationships"><ns0:Relationship Id="rId3" Type="http://schemas.openxmlformats.org/officeDocument/2006/relationships/image" Target="../media/image1320.png" /><ns0:Relationship Id="rId2" Type="http://schemas.openxmlformats.org/officeDocument/2006/relationships/image" Target="../media/image140.png" /><ns0:Relationship Id="rId1" Type="http://schemas.openxmlformats.org/officeDocument/2006/relationships/slideLayout" Target="../slideLayouts/slideLayout1.xml" /></ns0:Relationships>
</file>

<file path=ppt/c12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equations of tangents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467725" y="2812661"/>
            <a:ext cx="3056082" cy="2594264"/>
          </a:xfrm>
          <a:custGeom>
            <a:avLst/>
            <a:gdLst>
              <a:gd name="connsiteX0" fmla="*/ 0 w 3094182"/>
              <a:gd name="connsiteY0" fmla="*/ 2937164 h 2937164"/>
              <a:gd name="connsiteX1" fmla="*/ 655782 w 3094182"/>
              <a:gd name="connsiteY1" fmla="*/ 2835564 h 2937164"/>
              <a:gd name="connsiteX2" fmla="*/ 1246909 w 3094182"/>
              <a:gd name="connsiteY2" fmla="*/ 2669309 h 2937164"/>
              <a:gd name="connsiteX3" fmla="*/ 1764146 w 3094182"/>
              <a:gd name="connsiteY3" fmla="*/ 2401454 h 2937164"/>
              <a:gd name="connsiteX4" fmla="*/ 2235200 w 3094182"/>
              <a:gd name="connsiteY4" fmla="*/ 2013527 h 2937164"/>
              <a:gd name="connsiteX5" fmla="*/ 2715491 w 3094182"/>
              <a:gd name="connsiteY5" fmla="*/ 1339273 h 2937164"/>
              <a:gd name="connsiteX6" fmla="*/ 2983346 w 3094182"/>
              <a:gd name="connsiteY6" fmla="*/ 628073 h 2937164"/>
              <a:gd name="connsiteX7" fmla="*/ 3094182 w 3094182"/>
              <a:gd name="connsiteY7" fmla="*/ 0 h 2937164"/>
              <a:gd name="connsiteX0" fmla="*/ 0 w 3056082"/>
              <a:gd name="connsiteY0" fmla="*/ 2594264 h 2594264"/>
              <a:gd name="connsiteX1" fmla="*/ 655782 w 3056082"/>
              <a:gd name="connsiteY1" fmla="*/ 2492664 h 2594264"/>
              <a:gd name="connsiteX2" fmla="*/ 1246909 w 3056082"/>
              <a:gd name="connsiteY2" fmla="*/ 2326409 h 2594264"/>
              <a:gd name="connsiteX3" fmla="*/ 1764146 w 3056082"/>
              <a:gd name="connsiteY3" fmla="*/ 2058554 h 2594264"/>
              <a:gd name="connsiteX4" fmla="*/ 2235200 w 3056082"/>
              <a:gd name="connsiteY4" fmla="*/ 1670627 h 2594264"/>
              <a:gd name="connsiteX5" fmla="*/ 2715491 w 3056082"/>
              <a:gd name="connsiteY5" fmla="*/ 996373 h 2594264"/>
              <a:gd name="connsiteX6" fmla="*/ 2983346 w 3056082"/>
              <a:gd name="connsiteY6" fmla="*/ 285173 h 2594264"/>
              <a:gd name="connsiteX7" fmla="*/ 3056082 w 3056082"/>
              <a:gd name="connsiteY7" fmla="*/ 0 h 2594264"/>
              <a:gd name="connsiteX0" fmla="*/ 0 w 3056082"/>
              <a:gd name="connsiteY0" fmla="*/ 2594264 h 2594264"/>
              <a:gd name="connsiteX1" fmla="*/ 655782 w 3056082"/>
              <a:gd name="connsiteY1" fmla="*/ 2492664 h 2594264"/>
              <a:gd name="connsiteX2" fmla="*/ 1246909 w 3056082"/>
              <a:gd name="connsiteY2" fmla="*/ 2326409 h 2594264"/>
              <a:gd name="connsiteX3" fmla="*/ 1764146 w 3056082"/>
              <a:gd name="connsiteY3" fmla="*/ 2058554 h 2594264"/>
              <a:gd name="connsiteX4" fmla="*/ 2235200 w 3056082"/>
              <a:gd name="connsiteY4" fmla="*/ 1670627 h 2594264"/>
              <a:gd name="connsiteX5" fmla="*/ 2715491 w 3056082"/>
              <a:gd name="connsiteY5" fmla="*/ 996373 h 2594264"/>
              <a:gd name="connsiteX6" fmla="*/ 2983346 w 3056082"/>
              <a:gd name="connsiteY6" fmla="*/ 285173 h 2594264"/>
              <a:gd name="connsiteX7" fmla="*/ 3056082 w 3056082"/>
              <a:gd name="connsiteY7" fmla="*/ 0 h 2594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56082" h="2594264">
                <a:moveTo>
                  <a:pt x="0" y="2594264"/>
                </a:moveTo>
                <a:cubicBezTo>
                  <a:pt x="223982" y="2565785"/>
                  <a:pt x="447964" y="2537307"/>
                  <a:pt x="655782" y="2492664"/>
                </a:cubicBezTo>
                <a:cubicBezTo>
                  <a:pt x="863600" y="2448021"/>
                  <a:pt x="1062182" y="2398761"/>
                  <a:pt x="1246909" y="2326409"/>
                </a:cubicBezTo>
                <a:cubicBezTo>
                  <a:pt x="1431636" y="2254057"/>
                  <a:pt x="1599431" y="2167851"/>
                  <a:pt x="1764146" y="2058554"/>
                </a:cubicBezTo>
                <a:cubicBezTo>
                  <a:pt x="1928861" y="1949257"/>
                  <a:pt x="2076643" y="1847657"/>
                  <a:pt x="2235200" y="1670627"/>
                </a:cubicBezTo>
                <a:cubicBezTo>
                  <a:pt x="2393757" y="1493597"/>
                  <a:pt x="2590800" y="1227282"/>
                  <a:pt x="2715491" y="996373"/>
                </a:cubicBezTo>
                <a:cubicBezTo>
                  <a:pt x="2840182" y="765464"/>
                  <a:pt x="2920231" y="508385"/>
                  <a:pt x="2983346" y="285173"/>
                </a:cubicBezTo>
                <a:cubicBezTo>
                  <a:pt x="3046461" y="61961"/>
                  <a:pt x="3003646" y="221480"/>
                  <a:pt x="3056082" y="0"/>
                </a:cubicBezTo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2172051" y="4732918"/>
            <a:ext cx="216024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17590" y="4980300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(3,?)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590" y="4980300"/>
                <a:ext cx="792088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0046" y="817503"/>
                <a:ext cx="7854362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</a:t>
                </a:r>
                <a:r>
                  <a:rPr lang="en-GB" sz="2000" b="1" dirty="0"/>
                  <a:t>tangent</a:t>
                </a:r>
                <a:r>
                  <a:rPr lang="en-GB" sz="2000" dirty="0"/>
                  <a:t> to the curve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𝑦</m:t>
                    </m:r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46" y="817503"/>
                <a:ext cx="7854362" cy="400110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 flipV="1">
            <a:off x="837180" y="4002998"/>
            <a:ext cx="3112654" cy="1616363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18837" y="2780253"/>
                <a:ext cx="4105028" cy="26960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Gradient function: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𝒅𝒚</m:t>
                        </m:r>
                      </m:num>
                      <m:den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𝒅𝒙</m:t>
                        </m:r>
                      </m:den>
                    </m:f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</m:oMath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Gradient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: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𝒎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𝟔</m:t>
                    </m:r>
                  </m:oMath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-value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:  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𝟗</m:t>
                    </m:r>
                  </m:oMath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So equation of tangent: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𝟗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𝟔</m:t>
                      </m:r>
                      <m:d>
                        <m:dPr>
                          <m:ctrlP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GB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837" y="2780253"/>
                <a:ext cx="4105028" cy="26960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543744" y="2780253"/>
            <a:ext cx="936104" cy="535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9729" y="3529516"/>
            <a:ext cx="93610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99729" y="4139425"/>
            <a:ext cx="93610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4411" y="5106980"/>
            <a:ext cx="205933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3418" y="1340768"/>
                <a:ext cx="74428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want to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for the tangent (as it is a straight line!). Therefore we need:</a:t>
                </a:r>
              </a:p>
              <a:p>
                <a:pPr marL="342900" indent="-342900">
                  <a:buAutoNum type="alphaLcParenBoth"/>
                </a:pPr>
                <a:r>
                  <a:rPr lang="en-GB" dirty="0"/>
                  <a:t>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pPr marL="342900" indent="-342900">
                  <a:buAutoNum type="alphaLcParenBoth"/>
                </a:pPr>
                <a:r>
                  <a:rPr lang="en-GB" dirty="0"/>
                  <a:t>The gradient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8" y="1340768"/>
                <a:ext cx="7442898" cy="1200329"/>
              </a:xfrm>
              <a:prstGeom prst="rect">
                <a:avLst/>
              </a:prstGeom>
              <a:blipFill>
                <a:blip r:embed="rId5"/>
                <a:stretch>
                  <a:fillRect l="-655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 rot="20026094">
            <a:off x="2817628" y="4356833"/>
            <a:ext cx="95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tangent</a:t>
            </a:r>
          </a:p>
        </p:txBody>
      </p:sp>
    </p:spTree>
    <p:extLst>
      <p:ext uri="{BB962C8B-B14F-4D97-AF65-F5344CB8AC3E}">
        <p14:creationId xmlns:p14="http://schemas.microsoft.com/office/powerpoint/2010/main" val="49378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c12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equations of </a:t>
              </a:r>
              <a:r>
                <a:rPr lang="en-GB" dirty="0" err="1"/>
                <a:t>normals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563418" y="1597891"/>
            <a:ext cx="3094182" cy="2937164"/>
          </a:xfrm>
          <a:custGeom>
            <a:avLst/>
            <a:gdLst>
              <a:gd name="connsiteX0" fmla="*/ 0 w 3094182"/>
              <a:gd name="connsiteY0" fmla="*/ 2937164 h 2937164"/>
              <a:gd name="connsiteX1" fmla="*/ 655782 w 3094182"/>
              <a:gd name="connsiteY1" fmla="*/ 2835564 h 2937164"/>
              <a:gd name="connsiteX2" fmla="*/ 1246909 w 3094182"/>
              <a:gd name="connsiteY2" fmla="*/ 2669309 h 2937164"/>
              <a:gd name="connsiteX3" fmla="*/ 1764146 w 3094182"/>
              <a:gd name="connsiteY3" fmla="*/ 2401454 h 2937164"/>
              <a:gd name="connsiteX4" fmla="*/ 2235200 w 3094182"/>
              <a:gd name="connsiteY4" fmla="*/ 2013527 h 2937164"/>
              <a:gd name="connsiteX5" fmla="*/ 2715491 w 3094182"/>
              <a:gd name="connsiteY5" fmla="*/ 1339273 h 2937164"/>
              <a:gd name="connsiteX6" fmla="*/ 2983346 w 3094182"/>
              <a:gd name="connsiteY6" fmla="*/ 628073 h 2937164"/>
              <a:gd name="connsiteX7" fmla="*/ 3094182 w 3094182"/>
              <a:gd name="connsiteY7" fmla="*/ 0 h 293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94182" h="2937164">
                <a:moveTo>
                  <a:pt x="0" y="2937164"/>
                </a:moveTo>
                <a:cubicBezTo>
                  <a:pt x="223982" y="2908685"/>
                  <a:pt x="447964" y="2880207"/>
                  <a:pt x="655782" y="2835564"/>
                </a:cubicBezTo>
                <a:cubicBezTo>
                  <a:pt x="863600" y="2790921"/>
                  <a:pt x="1062182" y="2741661"/>
                  <a:pt x="1246909" y="2669309"/>
                </a:cubicBezTo>
                <a:cubicBezTo>
                  <a:pt x="1431636" y="2596957"/>
                  <a:pt x="1599431" y="2510751"/>
                  <a:pt x="1764146" y="2401454"/>
                </a:cubicBezTo>
                <a:cubicBezTo>
                  <a:pt x="1928861" y="2292157"/>
                  <a:pt x="2076643" y="2190557"/>
                  <a:pt x="2235200" y="2013527"/>
                </a:cubicBezTo>
                <a:cubicBezTo>
                  <a:pt x="2393757" y="1836497"/>
                  <a:pt x="2590800" y="1570182"/>
                  <a:pt x="2715491" y="1339273"/>
                </a:cubicBezTo>
                <a:cubicBezTo>
                  <a:pt x="2840182" y="1108364"/>
                  <a:pt x="2920231" y="851285"/>
                  <a:pt x="2983346" y="628073"/>
                </a:cubicBezTo>
                <a:cubicBezTo>
                  <a:pt x="3046461" y="404861"/>
                  <a:pt x="3070321" y="202430"/>
                  <a:pt x="3094182" y="0"/>
                </a:cubicBezTo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2267744" y="3861048"/>
            <a:ext cx="216024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3959" y="842504"/>
                <a:ext cx="7992888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</a:t>
                </a:r>
                <a:r>
                  <a:rPr lang="en-GB" sz="2000" b="1" dirty="0"/>
                  <a:t>normal</a:t>
                </a:r>
                <a:r>
                  <a:rPr lang="en-GB" sz="2000" dirty="0"/>
                  <a:t> to the curve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𝑦</m:t>
                    </m:r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9" y="842504"/>
                <a:ext cx="7992888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932873" y="1844824"/>
            <a:ext cx="2198967" cy="3168445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571428" y="2317210"/>
                <a:ext cx="4105028" cy="19016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Equation of tangent (from earlier):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Therefore equation of normal: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𝟗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𝟔</m:t>
                          </m:r>
                        </m:den>
                      </m:f>
                      <m:d>
                        <m:dPr>
                          <m:ctrlP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GB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2317210"/>
                <a:ext cx="4105028" cy="1901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475534" y="3559391"/>
            <a:ext cx="1353037" cy="6594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7406" y="1409083"/>
            <a:ext cx="1681850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The </a:t>
            </a:r>
            <a:r>
              <a:rPr lang="en-GB" sz="1600" b="1" dirty="0"/>
              <a:t>normal</a:t>
            </a:r>
            <a:r>
              <a:rPr lang="en-GB" sz="1600" dirty="0"/>
              <a:t> to a curve is the line perpendicular to the tangent.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010093" y="2551814"/>
            <a:ext cx="3327991" cy="2413591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9435175">
            <a:off x="2934586" y="3282945"/>
            <a:ext cx="95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tangent</a:t>
            </a:r>
          </a:p>
        </p:txBody>
      </p:sp>
      <p:sp>
        <p:nvSpPr>
          <p:cNvPr id="19" name="TextBox 18"/>
          <p:cNvSpPr txBox="1"/>
          <p:nvPr/>
        </p:nvSpPr>
        <p:spPr>
          <a:xfrm rot="3276129">
            <a:off x="1130608" y="3011570"/>
            <a:ext cx="95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900632" y="4204123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(3,9)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632" y="4204123"/>
                <a:ext cx="792088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3670502" y="5370684"/>
            <a:ext cx="4824536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Tip</a:t>
            </a:r>
            <a:r>
              <a:rPr lang="en-GB" sz="1600" dirty="0"/>
              <a:t>: A </a:t>
            </a:r>
            <a:r>
              <a:rPr lang="en-GB" sz="1600" b="1" dirty="0"/>
              <a:t>very common error </a:t>
            </a:r>
            <a:r>
              <a:rPr lang="en-GB" sz="1600" dirty="0"/>
              <a:t>is for students to accidentally forget whether the question is asking for the tangent or for the normal.</a:t>
            </a:r>
          </a:p>
        </p:txBody>
      </p:sp>
    </p:spTree>
    <p:extLst>
      <p:ext uri="{BB962C8B-B14F-4D97-AF65-F5344CB8AC3E}">
        <p14:creationId xmlns:p14="http://schemas.microsoft.com/office/powerpoint/2010/main" val="216911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0" grpId="0" animBg="1"/>
      <p:bldP spid="16" grpId="0" animBg="1"/>
    </p:bldLst>
  </p:timing>
</p:sld>
</file>

<file path=ppt/c12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9" y="842504"/>
                <a:ext cx="7992888" cy="40357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</a:t>
                </a:r>
                <a:r>
                  <a:rPr lang="en-GB" sz="2000" b="1" dirty="0"/>
                  <a:t>normal</a:t>
                </a:r>
                <a:r>
                  <a:rPr lang="en-GB" sz="2000" dirty="0"/>
                  <a:t> to the curve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sz="2000" dirty="0"/>
                  <a:t>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=9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9" y="842504"/>
                <a:ext cx="7992888" cy="40357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5576" y="1484784"/>
                <a:ext cx="5544616" cy="3585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=9+3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b="0" dirty="0"/>
                  <a:t>Equation of normal: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−18=−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484784"/>
                <a:ext cx="5544616" cy="3585405"/>
              </a:xfrm>
              <a:prstGeom prst="rect">
                <a:avLst/>
              </a:prstGeom>
              <a:blipFill>
                <a:blip r:embed="rId3"/>
                <a:stretch>
                  <a:fillRect l="-990" t="-1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49249" y="2988740"/>
                <a:ext cx="3816424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Tip: </a:t>
                </a:r>
                <a:r>
                  <a:rPr lang="en-GB" sz="1600" dirty="0"/>
                  <a:t>I like to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sz="1600" dirty="0"/>
                  <a:t> to make clear to the examiner (and myself) what gradient I’ve found.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249" y="2988740"/>
                <a:ext cx="3816424" cy="830997"/>
              </a:xfrm>
              <a:prstGeom prst="rect">
                <a:avLst/>
              </a:prstGeom>
              <a:blipFill>
                <a:blip r:embed="rId4"/>
                <a:stretch>
                  <a:fillRect l="-330" t="-14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3419872" y="3404239"/>
            <a:ext cx="1029377" cy="96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9916" y="1369085"/>
            <a:ext cx="1594884" cy="6594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5576" y="2028578"/>
            <a:ext cx="2604312" cy="22457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gradient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210" y="4271786"/>
            <a:ext cx="5145933" cy="6594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Final equation</a:t>
            </a:r>
          </a:p>
        </p:txBody>
      </p:sp>
    </p:spTree>
    <p:extLst>
      <p:ext uri="{BB962C8B-B14F-4D97-AF65-F5344CB8AC3E}">
        <p14:creationId xmlns:p14="http://schemas.microsoft.com/office/powerpoint/2010/main" val="253776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c12/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12F – Pearson Pure Y1 page 269-270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9573682-2AC0-A663-8751-9E57E4A9C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59033"/>
            <a:ext cx="7772400" cy="509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577B90-19C3-8833-ED47-D1CB0B556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412776"/>
            <a:ext cx="3913253" cy="4970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40224F-7131-9088-5C71-69AC53F94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412" y="1551568"/>
            <a:ext cx="4065901" cy="359804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75EEFF-3BC3-ECC7-8676-74FF04F7B3AC}"/>
              </a:ext>
            </a:extLst>
          </p:cNvPr>
          <p:cNvCxnSpPr/>
          <p:nvPr/>
        </p:nvCxnSpPr>
        <p:spPr>
          <a:xfrm>
            <a:off x="4380797" y="1628800"/>
            <a:ext cx="0" cy="4570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4FA0662-E137-5F22-5313-A630ED9AC224}"/>
              </a:ext>
            </a:extLst>
          </p:cNvPr>
          <p:cNvSpPr/>
          <p:nvPr/>
        </p:nvSpPr>
        <p:spPr>
          <a:xfrm>
            <a:off x="338475" y="1367478"/>
            <a:ext cx="8328837" cy="5085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2448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c12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12F – Pearson Pure Y1 page 269-270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FD99888-6972-5453-747F-71328976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718513"/>
            <a:ext cx="8568952" cy="509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B65270-7F15-9089-EB21-7E317EED8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628800"/>
            <a:ext cx="3861717" cy="4022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3CCA91-8B87-B3E5-8211-4DE3E0698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994" y="1628800"/>
            <a:ext cx="3499589" cy="302433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FF8536-C805-7FF9-F4A0-C206965A25BC}"/>
              </a:ext>
            </a:extLst>
          </p:cNvPr>
          <p:cNvCxnSpPr/>
          <p:nvPr/>
        </p:nvCxnSpPr>
        <p:spPr>
          <a:xfrm>
            <a:off x="4527866" y="1628800"/>
            <a:ext cx="0" cy="4022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90B927C-C91F-8EE8-06BE-95C4D42F8224}"/>
              </a:ext>
            </a:extLst>
          </p:cNvPr>
          <p:cNvSpPr/>
          <p:nvPr/>
        </p:nvSpPr>
        <p:spPr>
          <a:xfrm>
            <a:off x="338475" y="1367478"/>
            <a:ext cx="8328837" cy="5085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147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c12/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12F – Pearson Pure Y1 page 269-270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3E32AC0-E872-F8E9-1B6D-B9E8E8BD6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764704"/>
            <a:ext cx="8429772" cy="584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7035EB-CCAA-7E6A-AD27-2BA056E2E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547181"/>
            <a:ext cx="3600400" cy="3255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571951-511F-84F8-BF1B-01AA32B18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936" y="4218683"/>
            <a:ext cx="3504308" cy="20515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4B1408-7325-9A87-A9CA-750956F14131}"/>
              </a:ext>
            </a:extLst>
          </p:cNvPr>
          <p:cNvSpPr/>
          <p:nvPr/>
        </p:nvSpPr>
        <p:spPr>
          <a:xfrm>
            <a:off x="338475" y="1367478"/>
            <a:ext cx="8328837" cy="5085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569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c12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12F – Pearson Pure Y1 page 269-270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64FB1F0-7989-FE58-AF80-C8386F9D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692696"/>
            <a:ext cx="4653517" cy="1512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52B162-5F9F-7980-C4B4-8507CB65B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305608"/>
            <a:ext cx="3727370" cy="4365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39BAD5-87E8-591B-6263-8F9AD5157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2485733"/>
            <a:ext cx="3727370" cy="436509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678FA2-56F9-9917-B0EA-A5608AE26076}"/>
              </a:ext>
            </a:extLst>
          </p:cNvPr>
          <p:cNvCxnSpPr/>
          <p:nvPr/>
        </p:nvCxnSpPr>
        <p:spPr>
          <a:xfrm>
            <a:off x="4733064" y="2420888"/>
            <a:ext cx="27956" cy="4249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3110DB1-F06B-60B8-CE98-0BA0CF537BFB}"/>
              </a:ext>
            </a:extLst>
          </p:cNvPr>
          <p:cNvSpPr/>
          <p:nvPr/>
        </p:nvSpPr>
        <p:spPr>
          <a:xfrm>
            <a:off x="467544" y="2420887"/>
            <a:ext cx="8328837" cy="42676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2984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c12/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4305" y="1954324"/>
                <a:ext cx="457228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I 2005 Q2]</a:t>
                </a:r>
              </a:p>
              <a:p>
                <a:r>
                  <a:rPr lang="en-GB" sz="1600" dirty="0"/>
                  <a:t>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GB" sz="1600" dirty="0"/>
                  <a:t> and 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are non-zero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.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is given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 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600" dirty="0"/>
                  <a:t> is the intersection of the tangent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the tangent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.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𝑝𝑞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600" dirty="0"/>
                  <a:t> is the intersection of the normal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the normal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.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are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GB" sz="1600" dirty="0"/>
                  <a:t> lies on the line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𝑃𝑄</m:t>
                    </m:r>
                  </m:oMath>
                </a14:m>
                <a:r>
                  <a:rPr lang="en-GB" sz="1600" dirty="0"/>
                  <a:t>,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600" dirty="0"/>
                  <a:t>, and that the quadrilateral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𝑃𝑆𝑄𝑅</m:t>
                    </m:r>
                  </m:oMath>
                </a14:m>
                <a:r>
                  <a:rPr lang="en-GB" sz="1600" dirty="0"/>
                  <a:t> is a rectangle.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Solutions on next slide.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05" y="1954324"/>
                <a:ext cx="4572289" cy="3785652"/>
              </a:xfrm>
              <a:prstGeom prst="rect">
                <a:avLst/>
              </a:prstGeom>
              <a:blipFill>
                <a:blip r:embed="rId2"/>
                <a:stretch>
                  <a:fillRect l="-554" t="-669" r="-277" b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52979" y="1555250"/>
                <a:ext cx="3384376" cy="4192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I 2012 Q4]</a:t>
                </a:r>
              </a:p>
              <a:p>
                <a:r>
                  <a:rPr lang="en-GB" sz="1600" dirty="0"/>
                  <a:t>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has equation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The tangents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the distinct points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are positive, intersect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 and the normal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these points intersect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600" dirty="0"/>
                  <a:t>.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 is the point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𝑝𝑞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In the case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, find the coordinates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600" dirty="0"/>
                  <a:t>. Show (in this case)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600" dirty="0"/>
                  <a:t> lie on the line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and are such that the product of their distances from the origin is constant.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979" y="1555250"/>
                <a:ext cx="3384376" cy="4192494"/>
              </a:xfrm>
              <a:prstGeom prst="rect">
                <a:avLst/>
              </a:prstGeom>
              <a:blipFill>
                <a:blip r:embed="rId3"/>
                <a:stretch>
                  <a:fillRect l="-1124" t="-604" r="-1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156176" y="692696"/>
                <a:ext cx="2783546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dirty="0"/>
                  <a:t>The ‘difference of two cubes’:   </a:t>
                </a:r>
                <a:endParaRPr lang="en-GB" sz="1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1400" dirty="0"/>
                  <a:t> </a:t>
                </a:r>
              </a:p>
              <a:p>
                <a:r>
                  <a:rPr lang="en-GB" sz="1400" dirty="0"/>
                  <a:t>will help for both of these.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692696"/>
                <a:ext cx="2783546" cy="738664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>
            <a:off x="4803183" y="1062028"/>
            <a:ext cx="1352993" cy="539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804223" y="1417819"/>
            <a:ext cx="42531" cy="255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24387" y="2043224"/>
            <a:ext cx="202136" cy="23970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0843" y="1652167"/>
            <a:ext cx="202136" cy="23970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947972"/>
      </p:ext>
    </p:extLst>
  </p:cSld>
  <p:clrMapOvr>
    <a:masterClrMapping/>
  </p:clrMapOvr>
</p:sld>
</file>

<file path=ppt/c12/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to Extension Question 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76" y="640557"/>
            <a:ext cx="5346003" cy="6223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68544" y="706701"/>
                <a:ext cx="3060785" cy="14998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is using something called ‘implicit differentiation’ (Year 2), but you could easily do: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544" y="706701"/>
                <a:ext cx="3060785" cy="1499898"/>
              </a:xfrm>
              <a:prstGeom prst="rect">
                <a:avLst/>
              </a:prstGeom>
              <a:blipFill>
                <a:blip r:embed="rId3"/>
                <a:stretch>
                  <a:fillRect l="-1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 flipV="1">
            <a:off x="4774019" y="786809"/>
            <a:ext cx="894525" cy="193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845439"/>
      </p:ext>
    </p:extLst>
  </p:cSld>
  <p:clrMapOvr>
    <a:masterClrMapping/>
  </p:clrMapOvr>
</p:sld>
</file>

<file path=ppt/c12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