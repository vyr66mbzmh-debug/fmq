
<file path=[Content_Types].xml><?xml version="1.0" encoding="utf-8"?>
<ns0:Types xmlns:ns0="http://schemas.openxmlformats.org/package/2006/content-types">
  <ns0:Default Extension="emf" ContentType="image/x-emf"/>
  <ns0:Default Extension="png" ContentType="image/png"/>
  <ns0:Default Extension="rels" ContentType="application/vnd.openxmlformats-package.relationships+xml"/>
  <ns0:Default Extension="xml" ContentType="application/xml"/>
  <ns0:Override PartName="/ppt/c4/ppt/slideMasters/slideMaster1.xml" ContentType="application/vnd.openxmlformats-officedocument.presentationml.slideMaster+xml"/>
  <ns0:Override PartName="/ppt/c4/ppt/slides/slide16.xml" ContentType="application/vnd.openxmlformats-officedocument.presentationml.slide+xml"/>
  <ns0:Override PartName="/ppt/c4/ppt/slides/slide17.xml" ContentType="application/vnd.openxmlformats-officedocument.presentationml.slide+xml"/>
  <ns0:Override PartName="/ppt/c4/ppt/slides/slide18.xml" ContentType="application/vnd.openxmlformats-officedocument.presentationml.slide+xml"/>
  <ns0:Override PartName="/ppt/c4/ppt/slides/slide19.xml" ContentType="application/vnd.openxmlformats-officedocument.presentationml.slide+xml"/>
  <ns0:Override PartName="/ppt/c4/ppt/slides/slide20.xml" ContentType="application/vnd.openxmlformats-officedocument.presentationml.slide+xml"/>
  <ns0:Override PartName="/ppt/c4/ppt/notesMasters/notesMaster1.xml" ContentType="application/vnd.openxmlformats-officedocument.presentationml.notesMaster+xml"/>
  <ns0:Override PartName="/ppt/c4/ppt/theme/theme1.xml" ContentType="application/vnd.openxmlformats-officedocument.theme+xml"/>
  <ns0:Override PartName="/ppt/c4/ppt/slideLayouts/slideLayout1.xml" ContentType="application/vnd.openxmlformats-officedocument.presentationml.slideLayout+xml"/>
  <ns0:Override PartName="/ppt/c4/ppt/slideLayouts/slideLayout2.xml" ContentType="application/vnd.openxmlformats-officedocument.presentationml.slideLayout+xml"/>
  <ns0:Override PartName="/ppt/c4/ppt/slideLayouts/slideLayout3.xml" ContentType="application/vnd.openxmlformats-officedocument.presentationml.slideLayout+xml"/>
  <ns0:Override PartName="/ppt/c4/ppt/theme/theme2.xml" ContentType="application/vnd.openxmlformats-officedocument.theme+xml"/>
  <ns0:Override PartName="/ppt/presentation.xml" ContentType="application/vnd.openxmlformats-officedocument.presentationml.presentation.main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/ns0:Relationships>
</file>

<file path=ppt/presentation.xml><?xml version="1.0" encoding="utf-8"?>
<p:presentation xmlns:p="http://schemas.openxmlformats.org/presentationml/2006/main" xmlns:r="http://schemas.openxmlformats.org/officeDocument/2006/relationships" saveSubsetFonts="1">
  <p:sldMasterIdLst>
    <p:sldMasterId id="2147484048" r:id="rId6"/>
  </p:sldMasterIdLst>
  <p:notesMasterIdLst>
    <p:notesMasterId r:id="rId7"/>
  </p:notesMasterIdLst>
  <p:sldIdLst>
    <p:sldId id="256" r:id="rId1"/>
    <p:sldId id="257" r:id="rId2"/>
    <p:sldId id="258" r:id="rId3"/>
    <p:sldId id="259" r:id="rId4"/>
    <p:sldId id="260" r:id="rId5"/>
  </p:sldIdLst>
  <p:sldSz cx="9144000" cy="6858000" type="screen4x3"/>
  <p:notesSz cx="6858000" cy="9144000"/>
</p:presentation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" Target="c4/ppt/slides/slide16.xml" /><ns0:Relationship Id="rId2" Type="http://schemas.openxmlformats.org/officeDocument/2006/relationships/slide" Target="c4/ppt/slides/slide17.xml" /><ns0:Relationship Id="rId3" Type="http://schemas.openxmlformats.org/officeDocument/2006/relationships/slide" Target="c4/ppt/slides/slide18.xml" /><ns0:Relationship Id="rId4" Type="http://schemas.openxmlformats.org/officeDocument/2006/relationships/slide" Target="c4/ppt/slides/slide19.xml" /><ns0:Relationship Id="rId5" Type="http://schemas.openxmlformats.org/officeDocument/2006/relationships/slide" Target="c4/ppt/slides/slide20.xml" /><ns0:Relationship Id="rId6" Type="http://schemas.openxmlformats.org/officeDocument/2006/relationships/slideMaster" Target="c4/ppt/slideMasters/slideMaster1.xml" /><ns0:Relationship Id="rId7" Type="http://schemas.openxmlformats.org/officeDocument/2006/relationships/notesMaster" Target="c4/ppt/notesMasters/notesMaster1.xml" /></ns0:Relationships>
</file>

<file path=ppt/c4/ppt/notesMasters/_rels/notesMaster1.xml.rels><?xml version='1.0' encoding='utf-8'?>
<ns0:Relationships xmlns:ns0="http://schemas.openxmlformats.org/package/2006/relationships"><ns0:Relationship Id="rId1" Type="http://schemas.openxmlformats.org/officeDocument/2006/relationships/theme" Target="../theme/theme2.xml" /></ns0:Relationships>
</file>

<file path=ppt/c4/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13/10/2026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c4/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4/ppt/slideLayouts/_rels/slideLayout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4/ppt/slideLayouts/_rels/slideLayout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4/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rgbClr val="1636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693990"/>
            <a:ext cx="7772400" cy="14700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5539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72F630-5B3C-7CD4-714F-EBE8672B649B}"/>
              </a:ext>
            </a:extLst>
          </p:cNvPr>
          <p:cNvSpPr/>
          <p:nvPr userDrawn="1"/>
        </p:nvSpPr>
        <p:spPr>
          <a:xfrm>
            <a:off x="8428871" y="188640"/>
            <a:ext cx="648072" cy="432048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62"/>
          </a:p>
        </p:txBody>
      </p:sp>
    </p:spTree>
    <p:extLst>
      <p:ext uri="{BB962C8B-B14F-4D97-AF65-F5344CB8AC3E}">
        <p14:creationId xmlns:p14="http://schemas.microsoft.com/office/powerpoint/2010/main" val="2805543805"/>
      </p:ext>
    </p:extLst>
  </p:cSld>
  <p:clrMapOvr>
    <a:masterClrMapping/>
  </p:clrMapOvr>
</p:sldLayout>
</file>

<file path=ppt/c4/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13/10/2026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9236634"/>
      </p:ext>
    </p:extLst>
  </p:cSld>
  <p:clrMapOvr>
    <a:masterClrMapping/>
  </p:clrMapOvr>
</p:sldLayout>
</file>

<file path=ppt/c4/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612116"/>
      </p:ext>
    </p:extLst>
  </p:cSld>
  <p:clrMapOvr>
    <a:masterClrMapping/>
  </p:clrMapOvr>
</p:sldLayout>
</file>

<file path=ppt/c4/ppt/slideMasters/_rels/slideMaster1.xml.rels><?xml version='1.0' encoding='utf-8'?>
<ns0:Relationships xmlns:ns0="http://schemas.openxmlformats.org/package/2006/relationships"><ns0:Relationship Id="rId3" Type="http://schemas.openxmlformats.org/officeDocument/2006/relationships/slideLayout" Target="../slideLayouts/slideLayout3.xml" /><ns0:Relationship Id="rId2" Type="http://schemas.openxmlformats.org/officeDocument/2006/relationships/slideLayout" Target="../slideLayouts/slideLayout2.xml" /><ns0:Relationship Id="rId1" Type="http://schemas.openxmlformats.org/officeDocument/2006/relationships/slideLayout" Target="../slideLayouts/slideLayout1.xml" /><ns0:Relationship Id="rId4" Type="http://schemas.openxmlformats.org/officeDocument/2006/relationships/theme" Target="../theme/theme1.xml" /></ns0:Relationships>
</file>

<file path=ppt/c4/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13/10/2026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92ED294D-B0C8-4542-E684-B53C78608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99126"/>
            <a:ext cx="8229600" cy="8185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75F76BD1-7557-D06F-3AB0-B42B271D5D21}"/>
              </a:ext>
            </a:extLst>
          </p:cNvPr>
          <p:cNvSpPr txBox="1">
            <a:spLocks/>
          </p:cNvSpPr>
          <p:nvPr userDrawn="1"/>
        </p:nvSpPr>
        <p:spPr>
          <a:xfrm>
            <a:off x="0" y="0"/>
            <a:ext cx="9144000" cy="599126"/>
          </a:xfrm>
          <a:prstGeom prst="rect">
            <a:avLst/>
          </a:prstGeom>
          <a:solidFill>
            <a:srgbClr val="17375E"/>
          </a:solidFill>
        </p:spPr>
        <p:txBody>
          <a:bodyPr vert="horz" lIns="0" tIns="0" rIns="132923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rgbClr val="1737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8177B05-5D28-4021-9BD2-A7A72850B659}" type="slidenum">
              <a:rPr lang="en-GB" sz="1477" i="0" smtClean="0">
                <a:solidFill>
                  <a:schemeClr val="bg1"/>
                </a:solidFill>
              </a:rPr>
              <a:pPr algn="r"/>
              <a:t>‹#›</a:t>
            </a:fld>
            <a:endParaRPr lang="en-GB" sz="1477" i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3499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500100" r:id="rId1"/>
    <p:sldLayoutId id="2147500101" r:id="rId2"/>
    <p:sldLayoutId id="2147500102" r:id="rId3"/>
  </p:sldLayoutIdLst>
  <p:txStyles>
    <p:titleStyle>
      <a:lvl1pPr algn="ctr" defTabSz="844083" rtl="0" eaLnBrk="1" latinLnBrk="0" hangingPunct="1">
        <a:spcBef>
          <a:spcPct val="0"/>
        </a:spcBef>
        <a:buNone/>
        <a:defRPr sz="40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6531" indent="-316531" algn="l" defTabSz="844083" rtl="0" eaLnBrk="1" latinLnBrk="0" hangingPunct="1">
        <a:spcBef>
          <a:spcPct val="20000"/>
        </a:spcBef>
        <a:buFont typeface="Arial" pitchFamily="34" charset="0"/>
        <a:buChar char="•"/>
        <a:defRPr sz="2954" kern="1200">
          <a:solidFill>
            <a:schemeClr val="tx1"/>
          </a:solidFill>
          <a:latin typeface="+mn-lt"/>
          <a:ea typeface="+mn-ea"/>
          <a:cs typeface="+mn-cs"/>
        </a:defRPr>
      </a:lvl1pPr>
      <a:lvl2pPr marL="685817" indent="-263776" algn="l" defTabSz="844083" rtl="0" eaLnBrk="1" latinLnBrk="0" hangingPunct="1">
        <a:spcBef>
          <a:spcPct val="20000"/>
        </a:spcBef>
        <a:buFont typeface="Arial" pitchFamily="34" charset="0"/>
        <a:buChar char="–"/>
        <a:defRPr sz="2585" kern="1200">
          <a:solidFill>
            <a:schemeClr val="tx1"/>
          </a:solidFill>
          <a:latin typeface="+mn-lt"/>
          <a:ea typeface="+mn-ea"/>
          <a:cs typeface="+mn-cs"/>
        </a:defRPr>
      </a:lvl2pPr>
      <a:lvl3pPr marL="1055103" indent="-211021" algn="l" defTabSz="844083" rtl="0" eaLnBrk="1" latinLnBrk="0" hangingPunct="1">
        <a:spcBef>
          <a:spcPct val="20000"/>
        </a:spcBef>
        <a:buFont typeface="Arial" pitchFamily="34" charset="0"/>
        <a:buChar char="•"/>
        <a:defRPr sz="2215" kern="1200">
          <a:solidFill>
            <a:schemeClr val="tx1"/>
          </a:solidFill>
          <a:latin typeface="+mn-lt"/>
          <a:ea typeface="+mn-ea"/>
          <a:cs typeface="+mn-cs"/>
        </a:defRPr>
      </a:lvl3pPr>
      <a:lvl4pPr marL="1477145" indent="-211021" algn="l" defTabSz="844083" rtl="0" eaLnBrk="1" latinLnBrk="0" hangingPunct="1">
        <a:spcBef>
          <a:spcPct val="20000"/>
        </a:spcBef>
        <a:buFont typeface="Arial" pitchFamily="34" charset="0"/>
        <a:buChar char="–"/>
        <a:defRPr sz="1846" kern="1200">
          <a:solidFill>
            <a:schemeClr val="tx1"/>
          </a:solidFill>
          <a:latin typeface="+mn-lt"/>
          <a:ea typeface="+mn-ea"/>
          <a:cs typeface="+mn-cs"/>
        </a:defRPr>
      </a:lvl4pPr>
      <a:lvl5pPr marL="1899186" indent="-211021" algn="l" defTabSz="844083" rtl="0" eaLnBrk="1" latinLnBrk="0" hangingPunct="1">
        <a:spcBef>
          <a:spcPct val="20000"/>
        </a:spcBef>
        <a:buFont typeface="Arial" pitchFamily="34" charset="0"/>
        <a:buChar char="»"/>
        <a:defRPr sz="1846" kern="1200">
          <a:solidFill>
            <a:schemeClr val="tx1"/>
          </a:solidFill>
          <a:latin typeface="+mn-lt"/>
          <a:ea typeface="+mn-ea"/>
          <a:cs typeface="+mn-cs"/>
        </a:defRPr>
      </a:lvl5pPr>
      <a:lvl6pPr marL="2321227" indent="-211021" algn="l" defTabSz="844083" rtl="0" eaLnBrk="1" latinLnBrk="0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indent="-211021" algn="l" defTabSz="844083" rtl="0" eaLnBrk="1" latinLnBrk="0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7pPr>
      <a:lvl8pPr marL="3165310" indent="-211021" algn="l" defTabSz="844083" rtl="0" eaLnBrk="1" latinLnBrk="0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8pPr>
      <a:lvl9pPr marL="3587351" indent="-211021" algn="l" defTabSz="844083" rtl="0" eaLnBrk="1" latinLnBrk="0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41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83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24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65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207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48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89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31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c4/ppt/slides/_rels/slide16.xml.rels><?xml version='1.0' encoding='utf-8'?>
<ns0:Relationships xmlns:ns0="http://schemas.openxmlformats.org/package/2006/relationships"><ns0:Relationship Id="rId8" Type="http://schemas.openxmlformats.org/officeDocument/2006/relationships/image" Target="../media/image103.png" /><ns0:Relationship Id="rId3" Type="http://schemas.openxmlformats.org/officeDocument/2006/relationships/image" Target="../media/image100.png" /><ns0:Relationship Id="rId7" Type="http://schemas.openxmlformats.org/officeDocument/2006/relationships/image" Target="../media/image102.png" /><ns0:Relationship Id="rId2" Type="http://schemas.openxmlformats.org/officeDocument/2006/relationships/image" Target="../media/image99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51.png" /><ns0:Relationship Id="rId5" Type="http://schemas.openxmlformats.org/officeDocument/2006/relationships/image" Target="../media/image50.png" /><ns0:Relationship Id="rId10" Type="http://schemas.openxmlformats.org/officeDocument/2006/relationships/image" Target="../media/image105.png" /><ns0:Relationship Id="rId4" Type="http://schemas.openxmlformats.org/officeDocument/2006/relationships/image" Target="../media/image101.png" /><ns0:Relationship Id="rId9" Type="http://schemas.openxmlformats.org/officeDocument/2006/relationships/image" Target="../media/image104.png" /></ns0:Relationships>
</file>

<file path=ppt/c4/ppt/slides/_rels/slide17.xml.rels><?xml version='1.0' encoding='utf-8'?>
<ns0:Relationships xmlns:ns0="http://schemas.openxmlformats.org/package/2006/relationships"><ns0:Relationship Id="rId8" Type="http://schemas.openxmlformats.org/officeDocument/2006/relationships/image" Target="../media/image61.png" /><ns0:Relationship Id="rId3" Type="http://schemas.openxmlformats.org/officeDocument/2006/relationships/image" Target="../media/image107.png" /><ns0:Relationship Id="rId7" Type="http://schemas.openxmlformats.org/officeDocument/2006/relationships/image" Target="../media/image110.png" /><ns0:Relationship Id="rId2" Type="http://schemas.openxmlformats.org/officeDocument/2006/relationships/image" Target="../media/image106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51.png" /><ns0:Relationship Id="rId5" Type="http://schemas.openxmlformats.org/officeDocument/2006/relationships/image" Target="../media/image109.png" /><ns0:Relationship Id="rId4" Type="http://schemas.openxmlformats.org/officeDocument/2006/relationships/image" Target="../media/image108.png" /></ns0:Relationships>
</file>

<file path=ppt/c4/ppt/slides/_rels/slide18.xml.rels><?xml version='1.0' encoding='utf-8'?>
<ns0:Relationships xmlns:ns0="http://schemas.openxmlformats.org/package/2006/relationships"><ns0:Relationship Id="rId3" Type="http://schemas.openxmlformats.org/officeDocument/2006/relationships/image" Target="../media/image112.png" /><ns0:Relationship Id="rId7" Type="http://schemas.openxmlformats.org/officeDocument/2006/relationships/image" Target="../media/image114.png" /><ns0:Relationship Id="rId2" Type="http://schemas.openxmlformats.org/officeDocument/2006/relationships/image" Target="../media/image111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109.png" /><ns0:Relationship Id="rId5" Type="http://schemas.openxmlformats.org/officeDocument/2006/relationships/image" Target="../media/image113.png" /><ns0:Relationship Id="rId4" Type="http://schemas.openxmlformats.org/officeDocument/2006/relationships/image" Target="../media/image45.png" /></ns0:Relationships>
</file>

<file path=ppt/c4/ppt/slides/_rels/slide19.xml.rels><?xml version='1.0' encoding='utf-8'?>
<ns0:Relationships xmlns:ns0="http://schemas.openxmlformats.org/package/2006/relationships"><ns0:Relationship Id="rId3" Type="http://schemas.openxmlformats.org/officeDocument/2006/relationships/image" Target="../media/image116.png" /><ns0:Relationship Id="rId7" Type="http://schemas.openxmlformats.org/officeDocument/2006/relationships/image" Target="../media/image120.png" /><ns0:Relationship Id="rId2" Type="http://schemas.openxmlformats.org/officeDocument/2006/relationships/image" Target="../media/image115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119.png" /><ns0:Relationship Id="rId5" Type="http://schemas.openxmlformats.org/officeDocument/2006/relationships/image" Target="../media/image118.png" /><ns0:Relationship Id="rId4" Type="http://schemas.openxmlformats.org/officeDocument/2006/relationships/image" Target="../media/image117.png" /></ns0:Relationships>
</file>

<file path=ppt/c4/ppt/slides/_rels/slide20.xml.rels><?xml version='1.0' encoding='utf-8'?>
<ns0:Relationships xmlns:ns0="http://schemas.openxmlformats.org/package/2006/relationships"><ns0:Relationship Id="rId3" Type="http://schemas.openxmlformats.org/officeDocument/2006/relationships/image" Target="../media/image122.png" /><ns0:Relationship Id="rId2" Type="http://schemas.openxmlformats.org/officeDocument/2006/relationships/image" Target="../media/image121.png" /><ns0:Relationship Id="rId1" Type="http://schemas.openxmlformats.org/officeDocument/2006/relationships/slideLayout" Target="../slideLayouts/slideLayout2.xml" /><ns0:Relationship Id="rId5" Type="http://schemas.openxmlformats.org/officeDocument/2006/relationships/image" Target="../media/image124.png" /><ns0:Relationship Id="rId4" Type="http://schemas.openxmlformats.org/officeDocument/2006/relationships/image" Target="../media/image123.png" /></ns0:Relationships>
</file>

<file path=ppt/c4/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err="1"/>
                <a:t>Quartics</a:t>
              </a:r>
              <a:endParaRPr lang="en-GB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323528" y="794420"/>
                <a:ext cx="828092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/>
                  <a:t>If you understand the principle of sketching polynomials in general, then sketching </a:t>
                </a:r>
                <a:r>
                  <a:rPr lang="en-GB" err="1"/>
                  <a:t>quartics</a:t>
                </a:r>
                <a:r>
                  <a:rPr lang="en-GB"/>
                  <a:t> shouldn’t feel like anything new.</a:t>
                </a:r>
              </a:p>
              <a:p>
                <a:r>
                  <a:rPr lang="en-GB"/>
                  <a:t>Recall that if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GB"/>
                  <a:t> term is positive, the ‘tails’ both go upwards, otherwise downwards.</a:t>
                </a: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794420"/>
                <a:ext cx="8280920" cy="923330"/>
              </a:xfrm>
              <a:prstGeom prst="rect">
                <a:avLst/>
              </a:prstGeom>
              <a:blipFill>
                <a:blip r:embed="rId2"/>
                <a:stretch>
                  <a:fillRect l="-613" t="-2703" r="-613" b="-94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297260" y="1878019"/>
                <a:ext cx="3274764" cy="646331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/>
                  <a:t>Sketch the curve with equation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+1)(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−2)(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−3)</m:t>
                      </m:r>
                    </m:oMath>
                  </m:oMathPara>
                </a14:m>
                <a:endParaRPr lang="en-GB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260" y="1878019"/>
                <a:ext cx="3274764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302444" y="2645420"/>
                <a:ext cx="339325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/>
                  <a:t>Shape: 		</a:t>
                </a:r>
                <a:r>
                  <a:rPr lang="en-GB" b="1"/>
                  <a:t>Tails upwards</a:t>
                </a:r>
              </a:p>
              <a:p>
                <a:r>
                  <a:rPr lang="en-GB"/>
                  <a:t>Roots: 		</a:t>
                </a:r>
                <a:r>
                  <a:rPr lang="en-GB" b="1"/>
                  <a:t>-1, 0, 2, 3</a:t>
                </a:r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/>
                  <a:t>-intercept: 	</a:t>
                </a:r>
                <a:r>
                  <a:rPr lang="en-GB" b="1"/>
                  <a:t>0</a:t>
                </a: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444" y="2645420"/>
                <a:ext cx="3393256" cy="923330"/>
              </a:xfrm>
              <a:prstGeom prst="rect">
                <a:avLst/>
              </a:prstGeom>
              <a:blipFill>
                <a:blip r:embed="rId4"/>
                <a:stretch>
                  <a:fillRect l="-1873" t="-2740" b="-95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/>
          <p:nvPr/>
        </p:nvCxnSpPr>
        <p:spPr>
          <a:xfrm>
            <a:off x="585013" y="5181453"/>
            <a:ext cx="24094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1277510" y="4154848"/>
            <a:ext cx="0" cy="18722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80068" y="5144291"/>
            <a:ext cx="415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-1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1018974" y="3828022"/>
                <a:ext cx="41547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974" y="3828022"/>
                <a:ext cx="415472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2884229" y="5051958"/>
                <a:ext cx="41547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4229" y="5051958"/>
                <a:ext cx="415472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1906286" y="5130205"/>
            <a:ext cx="415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8326" y="5142905"/>
            <a:ext cx="415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3</a:t>
            </a:r>
          </a:p>
        </p:txBody>
      </p:sp>
      <p:sp>
        <p:nvSpPr>
          <p:cNvPr id="17" name="Freeform: Shape 16"/>
          <p:cNvSpPr/>
          <p:nvPr/>
        </p:nvSpPr>
        <p:spPr>
          <a:xfrm>
            <a:off x="546100" y="4254500"/>
            <a:ext cx="2349500" cy="1231933"/>
          </a:xfrm>
          <a:custGeom>
            <a:avLst/>
            <a:gdLst>
              <a:gd name="connsiteX0" fmla="*/ 0 w 2349500"/>
              <a:gd name="connsiteY0" fmla="*/ 63500 h 1231933"/>
              <a:gd name="connsiteX1" fmla="*/ 304800 w 2349500"/>
              <a:gd name="connsiteY1" fmla="*/ 939800 h 1231933"/>
              <a:gd name="connsiteX2" fmla="*/ 469900 w 2349500"/>
              <a:gd name="connsiteY2" fmla="*/ 1231900 h 1231933"/>
              <a:gd name="connsiteX3" fmla="*/ 749300 w 2349500"/>
              <a:gd name="connsiteY3" fmla="*/ 927100 h 1231933"/>
              <a:gd name="connsiteX4" fmla="*/ 1066800 w 2349500"/>
              <a:gd name="connsiteY4" fmla="*/ 406400 h 1231933"/>
              <a:gd name="connsiteX5" fmla="*/ 1498600 w 2349500"/>
              <a:gd name="connsiteY5" fmla="*/ 965200 h 1231933"/>
              <a:gd name="connsiteX6" fmla="*/ 1701800 w 2349500"/>
              <a:gd name="connsiteY6" fmla="*/ 1168400 h 1231933"/>
              <a:gd name="connsiteX7" fmla="*/ 1943100 w 2349500"/>
              <a:gd name="connsiteY7" fmla="*/ 927100 h 1231933"/>
              <a:gd name="connsiteX8" fmla="*/ 2349500 w 2349500"/>
              <a:gd name="connsiteY8" fmla="*/ 0 h 1231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49500" h="1231933">
                <a:moveTo>
                  <a:pt x="0" y="63500"/>
                </a:moveTo>
                <a:cubicBezTo>
                  <a:pt x="113241" y="404283"/>
                  <a:pt x="226483" y="745067"/>
                  <a:pt x="304800" y="939800"/>
                </a:cubicBezTo>
                <a:cubicBezTo>
                  <a:pt x="383117" y="1134533"/>
                  <a:pt x="395817" y="1234017"/>
                  <a:pt x="469900" y="1231900"/>
                </a:cubicBezTo>
                <a:cubicBezTo>
                  <a:pt x="543983" y="1229783"/>
                  <a:pt x="649817" y="1064683"/>
                  <a:pt x="749300" y="927100"/>
                </a:cubicBezTo>
                <a:cubicBezTo>
                  <a:pt x="848783" y="789517"/>
                  <a:pt x="941917" y="400050"/>
                  <a:pt x="1066800" y="406400"/>
                </a:cubicBezTo>
                <a:cubicBezTo>
                  <a:pt x="1191683" y="412750"/>
                  <a:pt x="1392767" y="838200"/>
                  <a:pt x="1498600" y="965200"/>
                </a:cubicBezTo>
                <a:cubicBezTo>
                  <a:pt x="1604433" y="1092200"/>
                  <a:pt x="1627717" y="1174750"/>
                  <a:pt x="1701800" y="1168400"/>
                </a:cubicBezTo>
                <a:cubicBezTo>
                  <a:pt x="1775883" y="1162050"/>
                  <a:pt x="1835150" y="1121833"/>
                  <a:pt x="1943100" y="927100"/>
                </a:cubicBezTo>
                <a:cubicBezTo>
                  <a:pt x="2051050" y="732367"/>
                  <a:pt x="2200275" y="366183"/>
                  <a:pt x="2349500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4229282" y="1913043"/>
                <a:ext cx="3274764" cy="646331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/>
                  <a:t>Sketch the curve with equation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+1)(3−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/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9282" y="1913043"/>
                <a:ext cx="3274764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4110790" y="2645420"/>
                <a:ext cx="373781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/>
                  <a:t>Shape: 		</a:t>
                </a:r>
                <a:r>
                  <a:rPr lang="en-GB" b="1"/>
                  <a:t>Tails downwards</a:t>
                </a:r>
              </a:p>
              <a:p>
                <a:r>
                  <a:rPr lang="en-GB"/>
                  <a:t>Roots: 		</a:t>
                </a:r>
                <a:r>
                  <a:rPr lang="en-GB" b="1"/>
                  <a:t>-1, 2, 3</a:t>
                </a:r>
                <a:br>
                  <a:rPr lang="en-GB" b="1"/>
                </a:br>
                <a:r>
                  <a:rPr lang="en-GB" b="1"/>
                  <a:t>		2 is repeated.</a:t>
                </a:r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/>
                  <a:t>-intercept: 	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𝟏𝟐</m:t>
                    </m:r>
                  </m:oMath>
                </a14:m>
                <a:endParaRPr lang="en-GB" b="1"/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0790" y="2645420"/>
                <a:ext cx="3737810" cy="1200329"/>
              </a:xfrm>
              <a:prstGeom prst="rect">
                <a:avLst/>
              </a:prstGeom>
              <a:blipFill>
                <a:blip r:embed="rId8"/>
                <a:stretch>
                  <a:fillRect l="-1351" t="-2105" b="-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/>
          <p:cNvCxnSpPr/>
          <p:nvPr/>
        </p:nvCxnSpPr>
        <p:spPr>
          <a:xfrm>
            <a:off x="4998697" y="5362944"/>
            <a:ext cx="24094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V="1">
            <a:off x="5691194" y="4336339"/>
            <a:ext cx="0" cy="18722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093752" y="5325782"/>
            <a:ext cx="415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-1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5432658" y="4009513"/>
                <a:ext cx="41547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/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2658" y="4009513"/>
                <a:ext cx="415472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7297913" y="5233449"/>
                <a:ext cx="41547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/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7913" y="5233449"/>
                <a:ext cx="415472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/>
          <p:cNvSpPr txBox="1"/>
          <p:nvPr/>
        </p:nvSpPr>
        <p:spPr>
          <a:xfrm>
            <a:off x="6319970" y="5311696"/>
            <a:ext cx="415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52010" y="5324396"/>
            <a:ext cx="415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3</a:t>
            </a:r>
          </a:p>
        </p:txBody>
      </p:sp>
      <p:sp>
        <p:nvSpPr>
          <p:cNvPr id="28" name="Freeform: Shape 27"/>
          <p:cNvSpPr/>
          <p:nvPr/>
        </p:nvSpPr>
        <p:spPr>
          <a:xfrm>
            <a:off x="5029200" y="4610100"/>
            <a:ext cx="2044700" cy="1473200"/>
          </a:xfrm>
          <a:custGeom>
            <a:avLst/>
            <a:gdLst>
              <a:gd name="connsiteX0" fmla="*/ 0 w 2044700"/>
              <a:gd name="connsiteY0" fmla="*/ 1473200 h 1473200"/>
              <a:gd name="connsiteX1" fmla="*/ 292100 w 2044700"/>
              <a:gd name="connsiteY1" fmla="*/ 749300 h 1473200"/>
              <a:gd name="connsiteX2" fmla="*/ 774700 w 2044700"/>
              <a:gd name="connsiteY2" fmla="*/ 0 h 1473200"/>
              <a:gd name="connsiteX3" fmla="*/ 1422400 w 2044700"/>
              <a:gd name="connsiteY3" fmla="*/ 749300 h 1473200"/>
              <a:gd name="connsiteX4" fmla="*/ 1676400 w 2044700"/>
              <a:gd name="connsiteY4" fmla="*/ 457200 h 1473200"/>
              <a:gd name="connsiteX5" fmla="*/ 2044700 w 2044700"/>
              <a:gd name="connsiteY5" fmla="*/ 1295400 h 147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44700" h="1473200">
                <a:moveTo>
                  <a:pt x="0" y="1473200"/>
                </a:moveTo>
                <a:cubicBezTo>
                  <a:pt x="81491" y="1234016"/>
                  <a:pt x="162983" y="994833"/>
                  <a:pt x="292100" y="749300"/>
                </a:cubicBezTo>
                <a:cubicBezTo>
                  <a:pt x="421217" y="503767"/>
                  <a:pt x="586317" y="0"/>
                  <a:pt x="774700" y="0"/>
                </a:cubicBezTo>
                <a:cubicBezTo>
                  <a:pt x="963083" y="0"/>
                  <a:pt x="1272117" y="673100"/>
                  <a:pt x="1422400" y="749300"/>
                </a:cubicBezTo>
                <a:cubicBezTo>
                  <a:pt x="1572683" y="825500"/>
                  <a:pt x="1572683" y="366183"/>
                  <a:pt x="1676400" y="457200"/>
                </a:cubicBezTo>
                <a:cubicBezTo>
                  <a:pt x="1780117" y="548217"/>
                  <a:pt x="1912408" y="921808"/>
                  <a:pt x="2044700" y="129540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/>
          <p:cNvSpPr/>
          <p:nvPr/>
        </p:nvSpPr>
        <p:spPr>
          <a:xfrm>
            <a:off x="2073441" y="2665121"/>
            <a:ext cx="1698460" cy="3066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73441" y="2967959"/>
            <a:ext cx="1698460" cy="3066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73441" y="3274973"/>
            <a:ext cx="1698460" cy="3066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3224" y="3847505"/>
            <a:ext cx="3345976" cy="21976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?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74526" y="2651684"/>
            <a:ext cx="1698460" cy="3066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74526" y="2945815"/>
            <a:ext cx="1698460" cy="5466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74526" y="3491356"/>
            <a:ext cx="1698460" cy="3066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?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CB08CC-9482-429A-88E6-DA31835305B1}"/>
              </a:ext>
            </a:extLst>
          </p:cNvPr>
          <p:cNvSpPr txBox="1"/>
          <p:nvPr/>
        </p:nvSpPr>
        <p:spPr>
          <a:xfrm>
            <a:off x="5343658" y="4427973"/>
            <a:ext cx="415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12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87975" y="3896446"/>
            <a:ext cx="3314014" cy="23110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398645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</p:childTnLst>
        </p:cTn>
      </p:par>
    </p:tnLst>
    <p:bldLst>
      <p:bldP spid="14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c4/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err="1"/>
                <a:t>Quartics</a:t>
              </a:r>
              <a:endParaRPr lang="en-GB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395536" y="911091"/>
                <a:ext cx="3274764" cy="646331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/>
                  <a:t>Sketch the curve with equation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GB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911091"/>
                <a:ext cx="3274764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4499992" y="911090"/>
                <a:ext cx="3274764" cy="646331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/>
                  <a:t>Sketch the curve with equation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en-GB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9992" y="911090"/>
                <a:ext cx="3274764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395536" y="1916832"/>
                <a:ext cx="3516064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0" i="0">
                    <a:latin typeface="+mj-lt"/>
                  </a:rPr>
                  <a:t>-1 root </a:t>
                </a:r>
                <a:r>
                  <a:rPr lang="en-GB"/>
                  <a:t>only appears once so line crosses at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endParaRPr lang="en-GB"/>
              </a:p>
              <a:p>
                <a:r>
                  <a:rPr lang="en-GB">
                    <a:latin typeface="+mj-lt"/>
                  </a:rPr>
                  <a:t>+</a:t>
                </a:r>
                <a:r>
                  <a:rPr lang="en-GB" b="0" i="0">
                    <a:latin typeface="+mj-lt"/>
                  </a:rPr>
                  <a:t>1 root triple repeated </a:t>
                </a:r>
                <a:r>
                  <a:rPr lang="en-GB"/>
                  <a:t>so point of inflection at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GB"/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916832"/>
                <a:ext cx="3516064" cy="1200329"/>
              </a:xfrm>
              <a:prstGeom prst="rect">
                <a:avLst/>
              </a:prstGeom>
              <a:blipFill>
                <a:blip r:embed="rId4"/>
                <a:stretch>
                  <a:fillRect l="-1799" t="-2083" b="-72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/>
          <p:nvPr/>
        </p:nvCxnSpPr>
        <p:spPr>
          <a:xfrm>
            <a:off x="585013" y="5181453"/>
            <a:ext cx="24094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1436999" y="4154848"/>
            <a:ext cx="0" cy="18722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80068" y="5144291"/>
            <a:ext cx="415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-1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1210360" y="3838654"/>
                <a:ext cx="41547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0360" y="3838654"/>
                <a:ext cx="415472" cy="276999"/>
              </a:xfrm>
              <a:prstGeom prst="rect">
                <a:avLst/>
              </a:prstGeom>
              <a:blipFill>
                <a:blip r:embed="rId5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2884229" y="5051958"/>
                <a:ext cx="41547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4229" y="5051958"/>
                <a:ext cx="415472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1906286" y="5130205"/>
            <a:ext cx="415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4667" y="5526761"/>
            <a:ext cx="415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-1</a:t>
            </a:r>
          </a:p>
        </p:txBody>
      </p:sp>
      <p:sp>
        <p:nvSpPr>
          <p:cNvPr id="18" name="Freeform: Shape 17"/>
          <p:cNvSpPr/>
          <p:nvPr/>
        </p:nvSpPr>
        <p:spPr>
          <a:xfrm>
            <a:off x="467833" y="4518837"/>
            <a:ext cx="2009553" cy="1222750"/>
          </a:xfrm>
          <a:custGeom>
            <a:avLst/>
            <a:gdLst>
              <a:gd name="connsiteX0" fmla="*/ 0 w 2009553"/>
              <a:gd name="connsiteY0" fmla="*/ 74428 h 1222750"/>
              <a:gd name="connsiteX1" fmla="*/ 393404 w 2009553"/>
              <a:gd name="connsiteY1" fmla="*/ 680484 h 1222750"/>
              <a:gd name="connsiteX2" fmla="*/ 967562 w 2009553"/>
              <a:gd name="connsiteY2" fmla="*/ 1222744 h 1222750"/>
              <a:gd name="connsiteX3" fmla="*/ 1584251 w 2009553"/>
              <a:gd name="connsiteY3" fmla="*/ 669851 h 1222750"/>
              <a:gd name="connsiteX4" fmla="*/ 2009553 w 2009553"/>
              <a:gd name="connsiteY4" fmla="*/ 0 h 1222750"/>
              <a:gd name="connsiteX0" fmla="*/ 0 w 2009553"/>
              <a:gd name="connsiteY0" fmla="*/ 74428 h 1222750"/>
              <a:gd name="connsiteX1" fmla="*/ 393404 w 2009553"/>
              <a:gd name="connsiteY1" fmla="*/ 680484 h 1222750"/>
              <a:gd name="connsiteX2" fmla="*/ 967562 w 2009553"/>
              <a:gd name="connsiteY2" fmla="*/ 1222744 h 1222750"/>
              <a:gd name="connsiteX3" fmla="*/ 1584251 w 2009553"/>
              <a:gd name="connsiteY3" fmla="*/ 669851 h 1222750"/>
              <a:gd name="connsiteX4" fmla="*/ 2009553 w 2009553"/>
              <a:gd name="connsiteY4" fmla="*/ 0 h 1222750"/>
              <a:gd name="connsiteX0" fmla="*/ 0 w 2009553"/>
              <a:gd name="connsiteY0" fmla="*/ 74428 h 1222750"/>
              <a:gd name="connsiteX1" fmla="*/ 393404 w 2009553"/>
              <a:gd name="connsiteY1" fmla="*/ 680484 h 1222750"/>
              <a:gd name="connsiteX2" fmla="*/ 967562 w 2009553"/>
              <a:gd name="connsiteY2" fmla="*/ 1222744 h 1222750"/>
              <a:gd name="connsiteX3" fmla="*/ 1584251 w 2009553"/>
              <a:gd name="connsiteY3" fmla="*/ 669851 h 1222750"/>
              <a:gd name="connsiteX4" fmla="*/ 2009553 w 2009553"/>
              <a:gd name="connsiteY4" fmla="*/ 0 h 1222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09553" h="1222750">
                <a:moveTo>
                  <a:pt x="0" y="74428"/>
                </a:moveTo>
                <a:cubicBezTo>
                  <a:pt x="116072" y="281763"/>
                  <a:pt x="232144" y="489098"/>
                  <a:pt x="393404" y="680484"/>
                </a:cubicBezTo>
                <a:cubicBezTo>
                  <a:pt x="554664" y="871870"/>
                  <a:pt x="769088" y="1224516"/>
                  <a:pt x="967562" y="1222744"/>
                </a:cubicBezTo>
                <a:cubicBezTo>
                  <a:pt x="1166036" y="1220972"/>
                  <a:pt x="1219200" y="682255"/>
                  <a:pt x="1584251" y="669851"/>
                </a:cubicBezTo>
                <a:cubicBezTo>
                  <a:pt x="1949302" y="657447"/>
                  <a:pt x="1947529" y="233030"/>
                  <a:pt x="2009553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5061610" y="4810017"/>
            <a:ext cx="24094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V="1">
            <a:off x="5913596" y="3783412"/>
            <a:ext cx="0" cy="18722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5686957" y="3467218"/>
                <a:ext cx="41547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/>
              </a:p>
            </p:txBody>
          </p:sp>
        </mc:Choice>
        <mc:Fallback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6957" y="3467218"/>
                <a:ext cx="415472" cy="276999"/>
              </a:xfrm>
              <a:prstGeom prst="rect">
                <a:avLst/>
              </a:prstGeom>
              <a:blipFill>
                <a:blip r:embed="rId7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7360826" y="4680522"/>
                <a:ext cx="41547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/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0826" y="4680522"/>
                <a:ext cx="415472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6382883" y="4758769"/>
            <a:ext cx="415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22203" y="1799874"/>
            <a:ext cx="38818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2 is a quadruple repeated root! Because the line effectively crosses the axis 4 times all at -2, it ends up in the opposite direction, and hence looks like a ‘touch’ point.</a:t>
            </a:r>
          </a:p>
        </p:txBody>
      </p:sp>
      <p:sp>
        <p:nvSpPr>
          <p:cNvPr id="28" name="Freeform: Shape 27"/>
          <p:cNvSpPr/>
          <p:nvPr/>
        </p:nvSpPr>
        <p:spPr>
          <a:xfrm>
            <a:off x="5688419" y="3742660"/>
            <a:ext cx="1531088" cy="1084592"/>
          </a:xfrm>
          <a:custGeom>
            <a:avLst/>
            <a:gdLst>
              <a:gd name="connsiteX0" fmla="*/ 0 w 1531088"/>
              <a:gd name="connsiteY0" fmla="*/ 0 h 1084592"/>
              <a:gd name="connsiteX1" fmla="*/ 829339 w 1531088"/>
              <a:gd name="connsiteY1" fmla="*/ 1084521 h 1084592"/>
              <a:gd name="connsiteX2" fmla="*/ 1531088 w 1531088"/>
              <a:gd name="connsiteY2" fmla="*/ 42531 h 1084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31088" h="1084592">
                <a:moveTo>
                  <a:pt x="0" y="0"/>
                </a:moveTo>
                <a:cubicBezTo>
                  <a:pt x="287079" y="538716"/>
                  <a:pt x="574158" y="1077433"/>
                  <a:pt x="829339" y="1084521"/>
                </a:cubicBezTo>
                <a:cubicBezTo>
                  <a:pt x="1084520" y="1091610"/>
                  <a:pt x="1307804" y="567070"/>
                  <a:pt x="1531088" y="4253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TextBox 28"/>
          <p:cNvSpPr txBox="1"/>
          <p:nvPr/>
        </p:nvSpPr>
        <p:spPr>
          <a:xfrm>
            <a:off x="5552557" y="4029357"/>
            <a:ext cx="415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16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80975" y="3528683"/>
            <a:ext cx="3345976" cy="24983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7763" y="3528683"/>
            <a:ext cx="3345976" cy="2510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901264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</p:childTnLst>
        </p:cTn>
      </p:par>
    </p:tnLst>
    <p:bldLst>
      <p:bldP spid="16" grpId="0" animBg="1"/>
      <p:bldP spid="30" grpId="0" animBg="1"/>
    </p:bldLst>
  </p:timing>
</p:sld>
</file>

<file path=ppt/c4/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395536" y="911091"/>
                <a:ext cx="3274764" cy="646331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/>
                  <a:t>Sketch the curve with equation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GB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911091"/>
                <a:ext cx="3274764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4355976" y="893083"/>
                <a:ext cx="3274764" cy="646331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/>
                  <a:t>Sketch the curve with equation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=−(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+1)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GB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5976" y="893083"/>
                <a:ext cx="3274764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/>
          <p:cNvCxnSpPr/>
          <p:nvPr/>
        </p:nvCxnSpPr>
        <p:spPr>
          <a:xfrm>
            <a:off x="828197" y="3314777"/>
            <a:ext cx="24094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2035783" y="2199272"/>
            <a:ext cx="0" cy="18722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121726" y="3264915"/>
            <a:ext cx="415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-1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1796444" y="1857678"/>
                <a:ext cx="41547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6444" y="1857678"/>
                <a:ext cx="415472" cy="276999"/>
              </a:xfrm>
              <a:prstGeom prst="rect">
                <a:avLst/>
              </a:prstGeom>
              <a:blipFill>
                <a:blip r:embed="rId4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3127413" y="3185282"/>
                <a:ext cx="41547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7413" y="3185282"/>
                <a:ext cx="415472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2471400" y="3272094"/>
            <a:ext cx="415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1</a:t>
            </a:r>
          </a:p>
        </p:txBody>
      </p:sp>
      <p:sp>
        <p:nvSpPr>
          <p:cNvPr id="16" name="Freeform: Shape 15"/>
          <p:cNvSpPr/>
          <p:nvPr/>
        </p:nvSpPr>
        <p:spPr>
          <a:xfrm flipV="1">
            <a:off x="1119484" y="2534568"/>
            <a:ext cx="1651000" cy="1389951"/>
          </a:xfrm>
          <a:custGeom>
            <a:avLst/>
            <a:gdLst>
              <a:gd name="connsiteX0" fmla="*/ 0 w 1651000"/>
              <a:gd name="connsiteY0" fmla="*/ 1320805 h 1320805"/>
              <a:gd name="connsiteX1" fmla="*/ 304800 w 1651000"/>
              <a:gd name="connsiteY1" fmla="*/ 596905 h 1320805"/>
              <a:gd name="connsiteX2" fmla="*/ 596900 w 1651000"/>
              <a:gd name="connsiteY2" fmla="*/ 5 h 1320805"/>
              <a:gd name="connsiteX3" fmla="*/ 914400 w 1651000"/>
              <a:gd name="connsiteY3" fmla="*/ 584205 h 1320805"/>
              <a:gd name="connsiteX4" fmla="*/ 1219200 w 1651000"/>
              <a:gd name="connsiteY4" fmla="*/ 38105 h 1320805"/>
              <a:gd name="connsiteX5" fmla="*/ 1460500 w 1651000"/>
              <a:gd name="connsiteY5" fmla="*/ 584205 h 1320805"/>
              <a:gd name="connsiteX6" fmla="*/ 1651000 w 1651000"/>
              <a:gd name="connsiteY6" fmla="*/ 1257305 h 1320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51000" h="1320805">
                <a:moveTo>
                  <a:pt x="0" y="1320805"/>
                </a:moveTo>
                <a:cubicBezTo>
                  <a:pt x="102658" y="1068921"/>
                  <a:pt x="205317" y="817038"/>
                  <a:pt x="304800" y="596905"/>
                </a:cubicBezTo>
                <a:cubicBezTo>
                  <a:pt x="404283" y="376772"/>
                  <a:pt x="495300" y="2122"/>
                  <a:pt x="596900" y="5"/>
                </a:cubicBezTo>
                <a:cubicBezTo>
                  <a:pt x="698500" y="-2112"/>
                  <a:pt x="810683" y="577855"/>
                  <a:pt x="914400" y="584205"/>
                </a:cubicBezTo>
                <a:cubicBezTo>
                  <a:pt x="1018117" y="590555"/>
                  <a:pt x="1128183" y="38105"/>
                  <a:pt x="1219200" y="38105"/>
                </a:cubicBezTo>
                <a:cubicBezTo>
                  <a:pt x="1310217" y="38105"/>
                  <a:pt x="1388533" y="381005"/>
                  <a:pt x="1460500" y="584205"/>
                </a:cubicBezTo>
                <a:cubicBezTo>
                  <a:pt x="1532467" y="787405"/>
                  <a:pt x="1591733" y="1022355"/>
                  <a:pt x="1651000" y="1257305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4508179" y="3314777"/>
            <a:ext cx="24094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V="1">
            <a:off x="5715765" y="2199272"/>
            <a:ext cx="0" cy="18722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003728" y="3275547"/>
            <a:ext cx="415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-1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5476426" y="1857678"/>
                <a:ext cx="41547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/>
              </a:p>
            </p:txBody>
          </p:sp>
        </mc:Choice>
        <mc:Fallback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6426" y="1857678"/>
                <a:ext cx="415472" cy="276999"/>
              </a:xfrm>
              <a:prstGeom prst="rect">
                <a:avLst/>
              </a:prstGeom>
              <a:blipFill>
                <a:blip r:embed="rId6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6807395" y="3185282"/>
                <a:ext cx="41547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/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7395" y="3185282"/>
                <a:ext cx="415472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6395932" y="3261461"/>
            <a:ext cx="415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1819" y="2240673"/>
            <a:ext cx="415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27</a:t>
            </a:r>
          </a:p>
        </p:txBody>
      </p:sp>
      <p:sp>
        <p:nvSpPr>
          <p:cNvPr id="25" name="Freeform: Shape 24"/>
          <p:cNvSpPr/>
          <p:nvPr/>
        </p:nvSpPr>
        <p:spPr>
          <a:xfrm>
            <a:off x="4805916" y="2477382"/>
            <a:ext cx="2317898" cy="1658683"/>
          </a:xfrm>
          <a:custGeom>
            <a:avLst/>
            <a:gdLst>
              <a:gd name="connsiteX0" fmla="*/ 0 w 2317898"/>
              <a:gd name="connsiteY0" fmla="*/ 1658683 h 1658683"/>
              <a:gd name="connsiteX1" fmla="*/ 308344 w 2317898"/>
              <a:gd name="connsiteY1" fmla="*/ 839976 h 1658683"/>
              <a:gd name="connsiteX2" fmla="*/ 914400 w 2317898"/>
              <a:gd name="connsiteY2" fmla="*/ 4 h 1658683"/>
              <a:gd name="connsiteX3" fmla="*/ 1722475 w 2317898"/>
              <a:gd name="connsiteY3" fmla="*/ 850609 h 1658683"/>
              <a:gd name="connsiteX4" fmla="*/ 2317898 w 2317898"/>
              <a:gd name="connsiteY4" fmla="*/ 1541725 h 1658683"/>
              <a:gd name="connsiteX0" fmla="*/ 0 w 2317898"/>
              <a:gd name="connsiteY0" fmla="*/ 1658683 h 1658683"/>
              <a:gd name="connsiteX1" fmla="*/ 308344 w 2317898"/>
              <a:gd name="connsiteY1" fmla="*/ 839976 h 1658683"/>
              <a:gd name="connsiteX2" fmla="*/ 914400 w 2317898"/>
              <a:gd name="connsiteY2" fmla="*/ 4 h 1658683"/>
              <a:gd name="connsiteX3" fmla="*/ 1722475 w 2317898"/>
              <a:gd name="connsiteY3" fmla="*/ 850609 h 1658683"/>
              <a:gd name="connsiteX4" fmla="*/ 2317898 w 2317898"/>
              <a:gd name="connsiteY4" fmla="*/ 1541725 h 1658683"/>
              <a:gd name="connsiteX0" fmla="*/ 0 w 2317898"/>
              <a:gd name="connsiteY0" fmla="*/ 1658683 h 1658683"/>
              <a:gd name="connsiteX1" fmla="*/ 308344 w 2317898"/>
              <a:gd name="connsiteY1" fmla="*/ 839976 h 1658683"/>
              <a:gd name="connsiteX2" fmla="*/ 914400 w 2317898"/>
              <a:gd name="connsiteY2" fmla="*/ 4 h 1658683"/>
              <a:gd name="connsiteX3" fmla="*/ 1722475 w 2317898"/>
              <a:gd name="connsiteY3" fmla="*/ 850609 h 1658683"/>
              <a:gd name="connsiteX4" fmla="*/ 2317898 w 2317898"/>
              <a:gd name="connsiteY4" fmla="*/ 1541725 h 16586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17898" h="1658683">
                <a:moveTo>
                  <a:pt x="0" y="1658683"/>
                </a:moveTo>
                <a:cubicBezTo>
                  <a:pt x="77972" y="1387552"/>
                  <a:pt x="155944" y="1116422"/>
                  <a:pt x="308344" y="839976"/>
                </a:cubicBezTo>
                <a:cubicBezTo>
                  <a:pt x="460744" y="563530"/>
                  <a:pt x="678712" y="-1768"/>
                  <a:pt x="914400" y="4"/>
                </a:cubicBezTo>
                <a:cubicBezTo>
                  <a:pt x="1150088" y="1776"/>
                  <a:pt x="1265276" y="838205"/>
                  <a:pt x="1722475" y="850609"/>
                </a:cubicBezTo>
                <a:cubicBezTo>
                  <a:pt x="2179674" y="863013"/>
                  <a:pt x="2200939" y="1228950"/>
                  <a:pt x="2317898" y="1541725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/>
          <p:cNvSpPr/>
          <p:nvPr/>
        </p:nvSpPr>
        <p:spPr>
          <a:xfrm>
            <a:off x="4355976" y="1833370"/>
            <a:ext cx="3345976" cy="2510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2772" y="1833370"/>
            <a:ext cx="3293038" cy="2510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36863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15" grpId="0" animBg="1"/>
      <p:bldP spid="26" grpId="0" animBg="1"/>
    </p:bldLst>
  </p:timing>
</p:sld>
</file>

<file path=ppt/c4/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/>
                <a:t>Exercise 4B – Pure Y1 Pages 65-66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392F121E-4BD6-F43E-20CA-4726599B23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599127"/>
            <a:ext cx="7772400" cy="14515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9BED105-1335-54D0-18F6-DEFBA310DB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28" y="2047598"/>
            <a:ext cx="3293142" cy="11161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396110-F04A-5170-6047-47B4BB2A3D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4008" y="2050660"/>
            <a:ext cx="3293142" cy="11161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44D1264-0998-F9F6-84C5-229C95856B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520" y="3360756"/>
            <a:ext cx="4255036" cy="29950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A573C24-3B00-4A71-9300-33B555F7F2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388" y="3738269"/>
            <a:ext cx="3415309" cy="27870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DA34E36-8340-56DC-EBFB-7975EB3F7552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4352"/>
          <a:stretch/>
        </p:blipFill>
        <p:spPr>
          <a:xfrm>
            <a:off x="4750868" y="3789039"/>
            <a:ext cx="3937000" cy="2830321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4AF26427-9EBA-7AB4-D797-053E03F8B30E}"/>
              </a:ext>
            </a:extLst>
          </p:cNvPr>
          <p:cNvSpPr/>
          <p:nvPr/>
        </p:nvSpPr>
        <p:spPr>
          <a:xfrm>
            <a:off x="4686468" y="1942015"/>
            <a:ext cx="3293038" cy="122171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b?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CB61020-0481-B99E-1D78-CA9243FB3760}"/>
              </a:ext>
            </a:extLst>
          </p:cNvPr>
          <p:cNvSpPr/>
          <p:nvPr/>
        </p:nvSpPr>
        <p:spPr>
          <a:xfrm>
            <a:off x="446410" y="1942014"/>
            <a:ext cx="3293038" cy="122171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a?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3AE2BFF-ECC4-B554-325D-E8F5774F0AA9}"/>
              </a:ext>
            </a:extLst>
          </p:cNvPr>
          <p:cNvSpPr/>
          <p:nvPr/>
        </p:nvSpPr>
        <p:spPr>
          <a:xfrm>
            <a:off x="374290" y="3738269"/>
            <a:ext cx="8344581" cy="28810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845267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</p:bldLst>
  </p:timing>
</p:sld>
</file>

<file path=ppt/c4/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/>
                <a:t>Exercise 4B Extension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13" name="Rectangle 12"/>
          <p:cNvSpPr/>
          <p:nvPr/>
        </p:nvSpPr>
        <p:spPr>
          <a:xfrm>
            <a:off x="193172" y="1566659"/>
            <a:ext cx="257798" cy="2481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2162" y="1052736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/>
              <a:t>Extension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/>
              <p:cNvSpPr txBox="1"/>
              <p:nvPr/>
            </p:nvSpPr>
            <p:spPr>
              <a:xfrm>
                <a:off x="491840" y="1404545"/>
                <a:ext cx="8136904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i="1"/>
                  <a:t>[STEP I 2012 Q2a]</a:t>
                </a:r>
              </a:p>
              <a:p>
                <a:pPr marL="400050" indent="-400050">
                  <a:buFont typeface="+mj-lt"/>
                  <a:buAutoNum type="alphaLcPeriod"/>
                </a:pPr>
                <a:r>
                  <a:rPr lang="en-GB"/>
                  <a:t>Sketch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𝑦</m:t>
                    </m:r>
                    <m:r>
                      <a:rPr lang="en-GB" b="0" i="1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GB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4</m:t>
                        </m:r>
                      </m:sup>
                    </m:sSup>
                    <m:r>
                      <a:rPr lang="en-GB" b="0" i="1" smtClean="0">
                        <a:latin typeface="Cambria Math"/>
                      </a:rPr>
                      <m:t>−6</m:t>
                    </m:r>
                    <m:sSup>
                      <m:sSupPr>
                        <m:ctrlPr>
                          <a:rPr lang="en-GB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/>
                      </a:rPr>
                      <m:t>+9</m:t>
                    </m:r>
                  </m:oMath>
                </a14:m>
                <a:endParaRPr lang="en-GB"/>
              </a:p>
              <a:p>
                <a:pPr marL="342900" indent="-342900">
                  <a:buAutoNum type="alphaLcPeriod"/>
                </a:pPr>
                <a:r>
                  <a:rPr lang="en-GB"/>
                  <a:t>For what values of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/>
                      </a:rPr>
                      <m:t>𝑏</m:t>
                    </m:r>
                  </m:oMath>
                </a14:m>
                <a:r>
                  <a:rPr lang="en-GB"/>
                  <a:t> does the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b="0" i="0" smtClean="0">
                        <a:latin typeface="Cambria Math"/>
                      </a:rPr>
                      <m:t>y</m:t>
                    </m:r>
                    <m:r>
                      <a:rPr lang="en-GB" b="0" i="0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GB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4</m:t>
                        </m:r>
                      </m:sup>
                    </m:sSup>
                    <m:r>
                      <a:rPr lang="en-GB" b="0" i="1" smtClean="0">
                        <a:latin typeface="Cambria Math"/>
                      </a:rPr>
                      <m:t>−6</m:t>
                    </m:r>
                    <m:sSup>
                      <m:sSupPr>
                        <m:ctrlPr>
                          <a:rPr lang="en-GB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/>
                      </a:rPr>
                      <m:t>+</m:t>
                    </m:r>
                    <m:r>
                      <a:rPr lang="en-GB" b="0" i="1" smtClean="0">
                        <a:latin typeface="Cambria Math"/>
                      </a:rPr>
                      <m:t>𝑏</m:t>
                    </m:r>
                  </m:oMath>
                </a14:m>
                <a:r>
                  <a:rPr lang="en-GB"/>
                  <a:t> have the following number of </a:t>
                </a:r>
                <a:r>
                  <a:rPr lang="en-GB" u="sng"/>
                  <a:t>distinct</a:t>
                </a:r>
                <a:r>
                  <a:rPr lang="en-GB"/>
                  <a:t> roots (i) 0, (ii) 1, (iii) 2, (iv) 3, (v) 4.</a:t>
                </a:r>
              </a:p>
            </p:txBody>
          </p:sp>
        </mc:Choice>
        <mc:Fallback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840" y="1404545"/>
                <a:ext cx="8136904" cy="1200329"/>
              </a:xfrm>
              <a:prstGeom prst="rect">
                <a:avLst/>
              </a:prstGeom>
              <a:blipFill>
                <a:blip r:embed="rId2"/>
                <a:stretch>
                  <a:fillRect l="-623" t="-2105" b="-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/>
              <p:cNvSpPr txBox="1"/>
              <p:nvPr/>
            </p:nvSpPr>
            <p:spPr>
              <a:xfrm>
                <a:off x="653137" y="2677457"/>
                <a:ext cx="4464496" cy="9439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0"/>
                  <a:t>By factorising,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𝑦</m:t>
                    </m:r>
                    <m:r>
                      <a:rPr lang="en-GB" b="0" i="1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GB" b="0" i="1" smtClean="0"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en-GB" b="0" i="1" smtClean="0">
                                    <a:latin typeface="Cambria Math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GB" b="0" i="1" smtClean="0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GB" b="0" i="1" smtClean="0">
                                <a:latin typeface="Cambria Math"/>
                              </a:rPr>
                              <m:t>−3</m:t>
                            </m:r>
                          </m:e>
                        </m:d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/>
                  <a:t>. This is a quartic, where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/>
                      </a:rPr>
                      <m:t>𝑦</m:t>
                    </m:r>
                  </m:oMath>
                </a14:m>
                <a:r>
                  <a:rPr lang="en-GB"/>
                  <a:t> is always positive, and has repeated roots at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𝑥</m:t>
                    </m:r>
                    <m:r>
                      <a:rPr lang="en-GB" b="0" i="1" smtClean="0">
                        <a:latin typeface="Cambria Math"/>
                      </a:rPr>
                      <m:t>=±</m:t>
                    </m:r>
                    <m:rad>
                      <m:radPr>
                        <m:degHide m:val="on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b="0" i="1" smtClean="0">
                            <a:latin typeface="Cambria Math"/>
                          </a:rPr>
                          <m:t>3</m:t>
                        </m:r>
                      </m:e>
                    </m:rad>
                  </m:oMath>
                </a14:m>
                <a:r>
                  <a:rPr lang="en-GB"/>
                  <a:t>:</a:t>
                </a:r>
              </a:p>
            </p:txBody>
          </p:sp>
        </mc:Choice>
        <mc:Fallback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137" y="2677457"/>
                <a:ext cx="4464496" cy="943976"/>
              </a:xfrm>
              <a:prstGeom prst="rect">
                <a:avLst/>
              </a:prstGeom>
              <a:blipFill>
                <a:blip r:embed="rId3"/>
                <a:stretch>
                  <a:fillRect l="-1133" t="-2632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1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0245" y="3784287"/>
            <a:ext cx="2421603" cy="20906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/>
              <p:cNvSpPr txBox="1"/>
              <p:nvPr/>
            </p:nvSpPr>
            <p:spPr>
              <a:xfrm>
                <a:off x="5462765" y="2677457"/>
                <a:ext cx="2952328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/>
                  <a:t>By changing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𝑏</m:t>
                    </m:r>
                  </m:oMath>
                </a14:m>
                <a:r>
                  <a:rPr lang="en-GB"/>
                  <a:t>, we shift the graph up and down. Then we can see that:</a:t>
                </a:r>
              </a:p>
              <a:p>
                <a:endParaRPr lang="en-GB"/>
              </a:p>
              <a:p>
                <a:pPr marL="400050" indent="-400050">
                  <a:buAutoNum type="romanLcParenR"/>
                </a:pPr>
                <a:r>
                  <a:rPr lang="en-GB"/>
                  <a:t>0 roots: When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𝑏</m:t>
                    </m:r>
                    <m:r>
                      <a:rPr lang="en-GB" b="0" i="1" smtClean="0">
                        <a:latin typeface="Cambria Math"/>
                      </a:rPr>
                      <m:t>&gt;9</m:t>
                    </m:r>
                  </m:oMath>
                </a14:m>
                <a:endParaRPr lang="en-GB" b="0"/>
              </a:p>
              <a:p>
                <a:pPr marL="400050" indent="-400050">
                  <a:buAutoNum type="romanLcParenR"/>
                </a:pPr>
                <a:r>
                  <a:rPr lang="en-GB"/>
                  <a:t>1 root: Not possible.</a:t>
                </a:r>
              </a:p>
              <a:p>
                <a:pPr marL="400050" indent="-400050">
                  <a:buAutoNum type="romanLcParenR"/>
                </a:pPr>
                <a:r>
                  <a:rPr lang="en-GB"/>
                  <a:t>2 roots: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b="0" i="0" smtClean="0">
                        <a:latin typeface="Cambria Math"/>
                      </a:rPr>
                      <m:t>b</m:t>
                    </m:r>
                    <m:r>
                      <a:rPr lang="en-GB" b="0" i="0" smtClean="0">
                        <a:latin typeface="Cambria Math"/>
                      </a:rPr>
                      <m:t>=9 </m:t>
                    </m:r>
                    <m:r>
                      <m:rPr>
                        <m:sty m:val="p"/>
                      </m:rPr>
                      <a:rPr lang="en-GB" b="0" i="0" smtClean="0">
                        <a:latin typeface="Cambria Math"/>
                      </a:rPr>
                      <m:t>or</m:t>
                    </m:r>
                    <m:r>
                      <a:rPr lang="en-GB" b="0" i="0" smtClean="0">
                        <a:latin typeface="Cambria Math"/>
                      </a:rPr>
                      <m:t> </m:t>
                    </m:r>
                    <m:r>
                      <a:rPr lang="en-GB" b="0" i="1" smtClean="0">
                        <a:latin typeface="Cambria Math"/>
                      </a:rPr>
                      <m:t>𝑏</m:t>
                    </m:r>
                    <m:r>
                      <a:rPr lang="en-GB" b="0" i="1" smtClean="0">
                        <a:latin typeface="Cambria Math"/>
                      </a:rPr>
                      <m:t>&lt;0</m:t>
                    </m:r>
                  </m:oMath>
                </a14:m>
                <a:endParaRPr lang="en-GB" b="0" i="1">
                  <a:latin typeface="Cambria Math"/>
                </a:endParaRPr>
              </a:p>
              <a:p>
                <a:pPr marL="400050" indent="-400050">
                  <a:buAutoNum type="romanLcParenR"/>
                </a:pPr>
                <a:r>
                  <a:rPr lang="en-GB"/>
                  <a:t>3 roots: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/>
                      </a:rPr>
                      <m:t>𝑏</m:t>
                    </m:r>
                    <m:r>
                      <a:rPr lang="en-GB" i="1" dirty="0" smtClean="0">
                        <a:latin typeface="Cambria Math"/>
                      </a:rPr>
                      <m:t>=0</m:t>
                    </m:r>
                  </m:oMath>
                </a14:m>
                <a:endParaRPr lang="en-GB"/>
              </a:p>
              <a:p>
                <a:pPr marL="400050" indent="-400050">
                  <a:buAutoNum type="romanLcParenR"/>
                </a:pPr>
                <a:r>
                  <a:rPr lang="en-GB"/>
                  <a:t>4 roots: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0&lt;</m:t>
                    </m:r>
                    <m:r>
                      <a:rPr lang="en-GB" b="0" i="1" smtClean="0">
                        <a:latin typeface="Cambria Math"/>
                      </a:rPr>
                      <m:t>𝑏</m:t>
                    </m:r>
                    <m:r>
                      <a:rPr lang="en-GB" b="0" i="1" smtClean="0">
                        <a:latin typeface="Cambria Math"/>
                      </a:rPr>
                      <m:t>&lt;9</m:t>
                    </m:r>
                  </m:oMath>
                </a14:m>
                <a:endParaRPr lang="en-GB"/>
              </a:p>
              <a:p>
                <a:pPr marL="400050" indent="-400050">
                  <a:buAutoNum type="romanLcParenR"/>
                </a:pPr>
                <a:endParaRPr lang="en-GB"/>
              </a:p>
              <a:p>
                <a:pPr marL="400050" indent="-400050">
                  <a:buAutoNum type="romanLcParenR"/>
                </a:pPr>
                <a:endParaRPr lang="en-GB"/>
              </a:p>
            </p:txBody>
          </p:sp>
        </mc:Choice>
        <mc:Fallback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2765" y="2677457"/>
                <a:ext cx="2952328" cy="3416320"/>
              </a:xfrm>
              <a:prstGeom prst="rect">
                <a:avLst/>
              </a:prstGeom>
              <a:blipFill>
                <a:blip r:embed="rId5"/>
                <a:stretch>
                  <a:fillRect l="-1717" t="-738" r="-1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 34"/>
          <p:cNvSpPr/>
          <p:nvPr/>
        </p:nvSpPr>
        <p:spPr>
          <a:xfrm>
            <a:off x="653135" y="2749464"/>
            <a:ext cx="4104456" cy="31432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94814" y="3753029"/>
            <a:ext cx="2520279" cy="3149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894813" y="4070623"/>
            <a:ext cx="2520279" cy="3149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?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94813" y="4385617"/>
            <a:ext cx="2520279" cy="5110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894814" y="4896697"/>
            <a:ext cx="2520279" cy="3149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94812" y="5208777"/>
            <a:ext cx="2520279" cy="3149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5094" y="2678455"/>
            <a:ext cx="384336" cy="382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a)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70539" y="2657189"/>
            <a:ext cx="384336" cy="382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b)</a:t>
            </a:r>
          </a:p>
        </p:txBody>
      </p:sp>
    </p:spTree>
    <p:extLst>
      <p:ext uri="{BB962C8B-B14F-4D97-AF65-F5344CB8AC3E}">
        <p14:creationId xmlns:p14="http://schemas.microsoft.com/office/powerpoint/2010/main" val="1308875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</p:childTnLst>
        </p:cTn>
      </p:par>
    </p:tnLst>
    <p:bldLst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</p:bldLst>
  </p:timing>
</p:sld>
</file>

<file path=ppt/c4/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bg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c4/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